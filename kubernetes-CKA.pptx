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6" r:id="rId3"/>
    <p:sldMasterId id="2147483672" r:id="rId4"/>
    <p:sldMasterId id="2147483678" r:id="rId5"/>
    <p:sldMasterId id="2147483684" r:id="rId6"/>
  </p:sldMasterIdLst>
  <p:sldIdLst>
    <p:sldId id="256" r:id="rId7"/>
    <p:sldId id="257" r:id="rId8"/>
    <p:sldId id="258" r:id="rId9"/>
    <p:sldId id="259" r:id="rId10"/>
    <p:sldId id="260" r:id="rId11"/>
    <p:sldId id="261" r:id="rId12"/>
    <p:sldId id="285" r:id="rId13"/>
    <p:sldId id="262" r:id="rId14"/>
    <p:sldId id="263" r:id="rId15"/>
    <p:sldId id="264" r:id="rId16"/>
    <p:sldId id="291" r:id="rId17"/>
    <p:sldId id="265" r:id="rId18"/>
    <p:sldId id="266" r:id="rId19"/>
    <p:sldId id="370" r:id="rId20"/>
    <p:sldId id="565" r:id="rId21"/>
    <p:sldId id="566" r:id="rId22"/>
    <p:sldId id="270" r:id="rId23"/>
    <p:sldId id="567" r:id="rId24"/>
    <p:sldId id="568" r:id="rId25"/>
    <p:sldId id="569" r:id="rId26"/>
    <p:sldId id="271" r:id="rId27"/>
    <p:sldId id="272" r:id="rId28"/>
    <p:sldId id="273" r:id="rId29"/>
    <p:sldId id="274" r:id="rId30"/>
    <p:sldId id="275" r:id="rId31"/>
    <p:sldId id="390" r:id="rId32"/>
    <p:sldId id="276" r:id="rId33"/>
    <p:sldId id="277" r:id="rId34"/>
    <p:sldId id="278" r:id="rId35"/>
    <p:sldId id="286" r:id="rId36"/>
    <p:sldId id="280" r:id="rId37"/>
    <p:sldId id="281" r:id="rId38"/>
    <p:sldId id="282" r:id="rId39"/>
    <p:sldId id="283" r:id="rId40"/>
    <p:sldId id="284" r:id="rId41"/>
    <p:sldId id="279" r:id="rId42"/>
    <p:sldId id="288" r:id="rId43"/>
    <p:sldId id="289" r:id="rId44"/>
    <p:sldId id="451" r:id="rId45"/>
    <p:sldId id="452" r:id="rId46"/>
    <p:sldId id="453" r:id="rId47"/>
    <p:sldId id="292" r:id="rId48"/>
    <p:sldId id="290" r:id="rId49"/>
    <p:sldId id="297" r:id="rId50"/>
    <p:sldId id="298" r:id="rId51"/>
    <p:sldId id="294" r:id="rId52"/>
    <p:sldId id="293" r:id="rId53"/>
    <p:sldId id="296" r:id="rId54"/>
    <p:sldId id="295" r:id="rId55"/>
    <p:sldId id="454" r:id="rId56"/>
    <p:sldId id="299" r:id="rId57"/>
    <p:sldId id="300" r:id="rId58"/>
    <p:sldId id="369" r:id="rId59"/>
    <p:sldId id="368" r:id="rId60"/>
    <p:sldId id="438" r:id="rId61"/>
    <p:sldId id="439" r:id="rId62"/>
    <p:sldId id="440" r:id="rId63"/>
    <p:sldId id="441" r:id="rId64"/>
    <p:sldId id="442" r:id="rId65"/>
    <p:sldId id="462" r:id="rId66"/>
    <p:sldId id="304" r:id="rId67"/>
    <p:sldId id="302" r:id="rId68"/>
    <p:sldId id="303" r:id="rId69"/>
    <p:sldId id="301" r:id="rId70"/>
    <p:sldId id="305" r:id="rId71"/>
    <p:sldId id="306" r:id="rId72"/>
    <p:sldId id="307" r:id="rId73"/>
    <p:sldId id="308" r:id="rId74"/>
    <p:sldId id="309" r:id="rId75"/>
    <p:sldId id="310" r:id="rId76"/>
    <p:sldId id="313" r:id="rId77"/>
    <p:sldId id="323" r:id="rId78"/>
    <p:sldId id="314" r:id="rId79"/>
    <p:sldId id="315" r:id="rId80"/>
    <p:sldId id="316" r:id="rId81"/>
    <p:sldId id="317" r:id="rId82"/>
    <p:sldId id="318" r:id="rId83"/>
    <p:sldId id="319" r:id="rId84"/>
    <p:sldId id="320" r:id="rId85"/>
    <p:sldId id="321" r:id="rId86"/>
    <p:sldId id="322" r:id="rId87"/>
    <p:sldId id="324" r:id="rId88"/>
    <p:sldId id="325" r:id="rId89"/>
    <p:sldId id="326" r:id="rId90"/>
    <p:sldId id="327" r:id="rId91"/>
    <p:sldId id="328" r:id="rId92"/>
    <p:sldId id="330" r:id="rId93"/>
    <p:sldId id="331" r:id="rId94"/>
    <p:sldId id="332" r:id="rId95"/>
    <p:sldId id="333" r:id="rId96"/>
    <p:sldId id="334" r:id="rId97"/>
    <p:sldId id="335" r:id="rId98"/>
    <p:sldId id="336" r:id="rId99"/>
    <p:sldId id="337" r:id="rId100"/>
    <p:sldId id="338" r:id="rId101"/>
    <p:sldId id="339" r:id="rId102"/>
    <p:sldId id="340" r:id="rId103"/>
    <p:sldId id="341" r:id="rId104"/>
    <p:sldId id="342" r:id="rId105"/>
    <p:sldId id="343" r:id="rId106"/>
    <p:sldId id="344" r:id="rId107"/>
    <p:sldId id="345" r:id="rId108"/>
    <p:sldId id="346" r:id="rId109"/>
    <p:sldId id="347" r:id="rId110"/>
    <p:sldId id="348" r:id="rId111"/>
    <p:sldId id="443" r:id="rId112"/>
    <p:sldId id="444" r:id="rId113"/>
    <p:sldId id="445" r:id="rId114"/>
    <p:sldId id="350" r:id="rId115"/>
    <p:sldId id="455" r:id="rId116"/>
    <p:sldId id="457" r:id="rId117"/>
    <p:sldId id="456" r:id="rId118"/>
    <p:sldId id="351" r:id="rId119"/>
    <p:sldId id="460" r:id="rId120"/>
    <p:sldId id="461" r:id="rId121"/>
    <p:sldId id="357" r:id="rId122"/>
    <p:sldId id="458" r:id="rId123"/>
    <p:sldId id="459" r:id="rId124"/>
    <p:sldId id="353" r:id="rId125"/>
    <p:sldId id="354" r:id="rId126"/>
    <p:sldId id="355" r:id="rId127"/>
    <p:sldId id="356" r:id="rId128"/>
    <p:sldId id="352" r:id="rId129"/>
    <p:sldId id="361" r:id="rId130"/>
    <p:sldId id="375" r:id="rId131"/>
    <p:sldId id="376" r:id="rId132"/>
    <p:sldId id="377" r:id="rId133"/>
    <p:sldId id="378" r:id="rId134"/>
    <p:sldId id="379" r:id="rId135"/>
    <p:sldId id="380" r:id="rId136"/>
    <p:sldId id="381" r:id="rId137"/>
    <p:sldId id="382" r:id="rId138"/>
    <p:sldId id="383" r:id="rId139"/>
    <p:sldId id="384" r:id="rId140"/>
    <p:sldId id="385" r:id="rId141"/>
    <p:sldId id="386" r:id="rId142"/>
    <p:sldId id="371" r:id="rId143"/>
    <p:sldId id="372" r:id="rId144"/>
    <p:sldId id="373" r:id="rId145"/>
    <p:sldId id="374" r:id="rId146"/>
    <p:sldId id="362" r:id="rId147"/>
    <p:sldId id="363" r:id="rId148"/>
    <p:sldId id="364" r:id="rId149"/>
    <p:sldId id="365" r:id="rId150"/>
    <p:sldId id="366" r:id="rId151"/>
    <p:sldId id="367" r:id="rId152"/>
    <p:sldId id="391" r:id="rId153"/>
    <p:sldId id="392" r:id="rId154"/>
    <p:sldId id="393" r:id="rId155"/>
    <p:sldId id="394" r:id="rId156"/>
    <p:sldId id="402" r:id="rId157"/>
    <p:sldId id="399" r:id="rId158"/>
    <p:sldId id="396" r:id="rId159"/>
    <p:sldId id="397" r:id="rId160"/>
    <p:sldId id="398" r:id="rId161"/>
    <p:sldId id="400" r:id="rId162"/>
    <p:sldId id="401" r:id="rId163"/>
    <p:sldId id="403" r:id="rId164"/>
    <p:sldId id="405" r:id="rId165"/>
    <p:sldId id="406" r:id="rId166"/>
    <p:sldId id="407" r:id="rId167"/>
    <p:sldId id="408" r:id="rId168"/>
    <p:sldId id="409" r:id="rId169"/>
    <p:sldId id="410" r:id="rId170"/>
    <p:sldId id="411" r:id="rId171"/>
    <p:sldId id="412" r:id="rId172"/>
    <p:sldId id="413" r:id="rId173"/>
    <p:sldId id="414" r:id="rId174"/>
    <p:sldId id="415" r:id="rId175"/>
    <p:sldId id="430" r:id="rId176"/>
    <p:sldId id="416" r:id="rId177"/>
    <p:sldId id="417" r:id="rId178"/>
    <p:sldId id="418" r:id="rId179"/>
    <p:sldId id="419" r:id="rId180"/>
    <p:sldId id="420" r:id="rId181"/>
    <p:sldId id="421" r:id="rId182"/>
    <p:sldId id="422" r:id="rId183"/>
    <p:sldId id="423" r:id="rId184"/>
    <p:sldId id="424" r:id="rId185"/>
    <p:sldId id="425" r:id="rId186"/>
    <p:sldId id="426" r:id="rId187"/>
    <p:sldId id="427" r:id="rId188"/>
    <p:sldId id="428" r:id="rId189"/>
    <p:sldId id="429" r:id="rId190"/>
    <p:sldId id="446" r:id="rId191"/>
    <p:sldId id="447" r:id="rId192"/>
    <p:sldId id="449" r:id="rId193"/>
    <p:sldId id="450" r:id="rId194"/>
    <p:sldId id="435" r:id="rId195"/>
    <p:sldId id="436" r:id="rId196"/>
    <p:sldId id="437" r:id="rId197"/>
    <p:sldId id="468" r:id="rId198"/>
    <p:sldId id="463" r:id="rId199"/>
    <p:sldId id="464" r:id="rId200"/>
    <p:sldId id="434" r:id="rId201"/>
    <p:sldId id="465" r:id="rId202"/>
    <p:sldId id="466" r:id="rId203"/>
    <p:sldId id="467" r:id="rId204"/>
    <p:sldId id="433" r:id="rId205"/>
    <p:sldId id="432" r:id="rId2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hi" initials="M" lastIdx="1" clrIdx="0">
    <p:extLst>
      <p:ext uri="{19B8F6BF-5375-455C-9EA6-DF929625EA0E}">
        <p15:presenceInfo xmlns:p15="http://schemas.microsoft.com/office/powerpoint/2012/main" userId="Mahi" providerId="None"/>
      </p:ext>
    </p:extLst>
  </p:cmAuthor>
  <p:cmAuthor id="2" name="Mahendra J S" initials="MJS" lastIdx="1" clrIdx="1">
    <p:extLst>
      <p:ext uri="{19B8F6BF-5375-455C-9EA6-DF929625EA0E}">
        <p15:presenceInfo xmlns:p15="http://schemas.microsoft.com/office/powerpoint/2012/main" userId="Mahendra J 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59" Type="http://schemas.openxmlformats.org/officeDocument/2006/relationships/slide" Target="slides/slide153.xml"/><Relationship Id="rId170" Type="http://schemas.openxmlformats.org/officeDocument/2006/relationships/slide" Target="slides/slide164.xml"/><Relationship Id="rId191" Type="http://schemas.openxmlformats.org/officeDocument/2006/relationships/slide" Target="slides/slide185.xml"/><Relationship Id="rId205" Type="http://schemas.openxmlformats.org/officeDocument/2006/relationships/slide" Target="slides/slide199.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slide" Target="slides/slide143.xml"/><Relationship Id="rId5" Type="http://schemas.openxmlformats.org/officeDocument/2006/relationships/slideMaster" Target="slideMasters/slideMaster5.xml"/><Relationship Id="rId95" Type="http://schemas.openxmlformats.org/officeDocument/2006/relationships/slide" Target="slides/slide89.xml"/><Relationship Id="rId160" Type="http://schemas.openxmlformats.org/officeDocument/2006/relationships/slide" Target="slides/slide154.xml"/><Relationship Id="rId181" Type="http://schemas.openxmlformats.org/officeDocument/2006/relationships/slide" Target="slides/slide175.xml"/><Relationship Id="rId22" Type="http://schemas.openxmlformats.org/officeDocument/2006/relationships/slide" Target="slides/slide16.xml"/><Relationship Id="rId43" Type="http://schemas.openxmlformats.org/officeDocument/2006/relationships/slide" Target="slides/slide37.xml"/><Relationship Id="rId64" Type="http://schemas.openxmlformats.org/officeDocument/2006/relationships/slide" Target="slides/slide58.xml"/><Relationship Id="rId118" Type="http://schemas.openxmlformats.org/officeDocument/2006/relationships/slide" Target="slides/slide112.xml"/><Relationship Id="rId139" Type="http://schemas.openxmlformats.org/officeDocument/2006/relationships/slide" Target="slides/slide133.xml"/><Relationship Id="rId85" Type="http://schemas.openxmlformats.org/officeDocument/2006/relationships/slide" Target="slides/slide79.xml"/><Relationship Id="rId150" Type="http://schemas.openxmlformats.org/officeDocument/2006/relationships/slide" Target="slides/slide144.xml"/><Relationship Id="rId171" Type="http://schemas.openxmlformats.org/officeDocument/2006/relationships/slide" Target="slides/slide165.xml"/><Relationship Id="rId192" Type="http://schemas.openxmlformats.org/officeDocument/2006/relationships/slide" Target="slides/slide186.xml"/><Relationship Id="rId206" Type="http://schemas.openxmlformats.org/officeDocument/2006/relationships/slide" Target="slides/slide200.xml"/><Relationship Id="rId12" Type="http://schemas.openxmlformats.org/officeDocument/2006/relationships/slide" Target="slides/slide6.xml"/><Relationship Id="rId33" Type="http://schemas.openxmlformats.org/officeDocument/2006/relationships/slide" Target="slides/slide27.xml"/><Relationship Id="rId108" Type="http://schemas.openxmlformats.org/officeDocument/2006/relationships/slide" Target="slides/slide102.xml"/><Relationship Id="rId129" Type="http://schemas.openxmlformats.org/officeDocument/2006/relationships/slide" Target="slides/slide123.xml"/><Relationship Id="rId54" Type="http://schemas.openxmlformats.org/officeDocument/2006/relationships/slide" Target="slides/slide48.xml"/><Relationship Id="rId75" Type="http://schemas.openxmlformats.org/officeDocument/2006/relationships/slide" Target="slides/slide69.xml"/><Relationship Id="rId96" Type="http://schemas.openxmlformats.org/officeDocument/2006/relationships/slide" Target="slides/slide90.xml"/><Relationship Id="rId140" Type="http://schemas.openxmlformats.org/officeDocument/2006/relationships/slide" Target="slides/slide134.xml"/><Relationship Id="rId161" Type="http://schemas.openxmlformats.org/officeDocument/2006/relationships/slide" Target="slides/slide155.xml"/><Relationship Id="rId182" Type="http://schemas.openxmlformats.org/officeDocument/2006/relationships/slide" Target="slides/slide176.xml"/><Relationship Id="rId6" Type="http://schemas.openxmlformats.org/officeDocument/2006/relationships/slideMaster" Target="slideMasters/slideMaster6.xml"/><Relationship Id="rId23" Type="http://schemas.openxmlformats.org/officeDocument/2006/relationships/slide" Target="slides/slide17.xml"/><Relationship Id="rId119" Type="http://schemas.openxmlformats.org/officeDocument/2006/relationships/slide" Target="slides/slide113.xml"/><Relationship Id="rId44" Type="http://schemas.openxmlformats.org/officeDocument/2006/relationships/slide" Target="slides/slide38.xml"/><Relationship Id="rId65" Type="http://schemas.openxmlformats.org/officeDocument/2006/relationships/slide" Target="slides/slide59.xml"/><Relationship Id="rId86" Type="http://schemas.openxmlformats.org/officeDocument/2006/relationships/slide" Target="slides/slide80.xml"/><Relationship Id="rId130" Type="http://schemas.openxmlformats.org/officeDocument/2006/relationships/slide" Target="slides/slide124.xml"/><Relationship Id="rId151" Type="http://schemas.openxmlformats.org/officeDocument/2006/relationships/slide" Target="slides/slide145.xml"/><Relationship Id="rId172" Type="http://schemas.openxmlformats.org/officeDocument/2006/relationships/slide" Target="slides/slide166.xml"/><Relationship Id="rId193" Type="http://schemas.openxmlformats.org/officeDocument/2006/relationships/slide" Target="slides/slide187.xml"/><Relationship Id="rId207" Type="http://schemas.openxmlformats.org/officeDocument/2006/relationships/commentAuthors" Target="commentAuthors.xml"/><Relationship Id="rId13" Type="http://schemas.openxmlformats.org/officeDocument/2006/relationships/slide" Target="slides/slide7.xml"/><Relationship Id="rId109" Type="http://schemas.openxmlformats.org/officeDocument/2006/relationships/slide" Target="slides/slide103.xml"/><Relationship Id="rId34" Type="http://schemas.openxmlformats.org/officeDocument/2006/relationships/slide" Target="slides/slide28.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20" Type="http://schemas.openxmlformats.org/officeDocument/2006/relationships/slide" Target="slides/slide114.xml"/><Relationship Id="rId141" Type="http://schemas.openxmlformats.org/officeDocument/2006/relationships/slide" Target="slides/slide135.xml"/><Relationship Id="rId7" Type="http://schemas.openxmlformats.org/officeDocument/2006/relationships/slide" Target="slides/slide1.xml"/><Relationship Id="rId162" Type="http://schemas.openxmlformats.org/officeDocument/2006/relationships/slide" Target="slides/slide156.xml"/><Relationship Id="rId183" Type="http://schemas.openxmlformats.org/officeDocument/2006/relationships/slide" Target="slides/slide177.xml"/><Relationship Id="rId24" Type="http://schemas.openxmlformats.org/officeDocument/2006/relationships/slide" Target="slides/slide18.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31" Type="http://schemas.openxmlformats.org/officeDocument/2006/relationships/slide" Target="slides/slide125.xml"/><Relationship Id="rId61" Type="http://schemas.openxmlformats.org/officeDocument/2006/relationships/slide" Target="slides/slide55.xml"/><Relationship Id="rId82" Type="http://schemas.openxmlformats.org/officeDocument/2006/relationships/slide" Target="slides/slide76.xml"/><Relationship Id="rId152" Type="http://schemas.openxmlformats.org/officeDocument/2006/relationships/slide" Target="slides/slide146.xml"/><Relationship Id="rId173" Type="http://schemas.openxmlformats.org/officeDocument/2006/relationships/slide" Target="slides/slide167.xml"/><Relationship Id="rId194" Type="http://schemas.openxmlformats.org/officeDocument/2006/relationships/slide" Target="slides/slide188.xml"/><Relationship Id="rId199" Type="http://schemas.openxmlformats.org/officeDocument/2006/relationships/slide" Target="slides/slide193.xml"/><Relationship Id="rId203" Type="http://schemas.openxmlformats.org/officeDocument/2006/relationships/slide" Target="slides/slide197.xml"/><Relationship Id="rId208" Type="http://schemas.openxmlformats.org/officeDocument/2006/relationships/presProps" Target="presProps.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slide" Target="slides/slide162.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openxmlformats.org/officeDocument/2006/relationships/slide" Target="slides/slide157.xml"/><Relationship Id="rId184" Type="http://schemas.openxmlformats.org/officeDocument/2006/relationships/slide" Target="slides/slide178.xml"/><Relationship Id="rId189" Type="http://schemas.openxmlformats.org/officeDocument/2006/relationships/slide" Target="slides/slide183.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74" Type="http://schemas.openxmlformats.org/officeDocument/2006/relationships/slide" Target="slides/slide168.xml"/><Relationship Id="rId179" Type="http://schemas.openxmlformats.org/officeDocument/2006/relationships/slide" Target="slides/slide173.xml"/><Relationship Id="rId195" Type="http://schemas.openxmlformats.org/officeDocument/2006/relationships/slide" Target="slides/slide189.xml"/><Relationship Id="rId209" Type="http://schemas.openxmlformats.org/officeDocument/2006/relationships/viewProps" Target="viewProps.xml"/><Relationship Id="rId190" Type="http://schemas.openxmlformats.org/officeDocument/2006/relationships/slide" Target="slides/slide184.xml"/><Relationship Id="rId204" Type="http://schemas.openxmlformats.org/officeDocument/2006/relationships/slide" Target="slides/slide198.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slide" Target="slides/slide137.xml"/><Relationship Id="rId148" Type="http://schemas.openxmlformats.org/officeDocument/2006/relationships/slide" Target="slides/slide142.xml"/><Relationship Id="rId164" Type="http://schemas.openxmlformats.org/officeDocument/2006/relationships/slide" Target="slides/slide158.xml"/><Relationship Id="rId169" Type="http://schemas.openxmlformats.org/officeDocument/2006/relationships/slide" Target="slides/slide163.xml"/><Relationship Id="rId185" Type="http://schemas.openxmlformats.org/officeDocument/2006/relationships/slide" Target="slides/slide179.xml"/><Relationship Id="rId4" Type="http://schemas.openxmlformats.org/officeDocument/2006/relationships/slideMaster" Target="slideMasters/slideMaster4.xml"/><Relationship Id="rId9" Type="http://schemas.openxmlformats.org/officeDocument/2006/relationships/slide" Target="slides/slide3.xml"/><Relationship Id="rId180" Type="http://schemas.openxmlformats.org/officeDocument/2006/relationships/slide" Target="slides/slide174.xml"/><Relationship Id="rId210" Type="http://schemas.openxmlformats.org/officeDocument/2006/relationships/theme" Target="theme/theme1.xml"/><Relationship Id="rId26" Type="http://schemas.openxmlformats.org/officeDocument/2006/relationships/slide" Target="slides/slide20.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54" Type="http://schemas.openxmlformats.org/officeDocument/2006/relationships/slide" Target="slides/slide148.xml"/><Relationship Id="rId175" Type="http://schemas.openxmlformats.org/officeDocument/2006/relationships/slide" Target="slides/slide169.xml"/><Relationship Id="rId196" Type="http://schemas.openxmlformats.org/officeDocument/2006/relationships/slide" Target="slides/slide190.xml"/><Relationship Id="rId200" Type="http://schemas.openxmlformats.org/officeDocument/2006/relationships/slide" Target="slides/slide194.xml"/><Relationship Id="rId16" Type="http://schemas.openxmlformats.org/officeDocument/2006/relationships/slide" Target="slides/slide10.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90" Type="http://schemas.openxmlformats.org/officeDocument/2006/relationships/slide" Target="slides/slide84.xml"/><Relationship Id="rId165" Type="http://schemas.openxmlformats.org/officeDocument/2006/relationships/slide" Target="slides/slide159.xml"/><Relationship Id="rId186" Type="http://schemas.openxmlformats.org/officeDocument/2006/relationships/slide" Target="slides/slide180.xml"/><Relationship Id="rId211" Type="http://schemas.openxmlformats.org/officeDocument/2006/relationships/tableStyles" Target="tableStyles.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80" Type="http://schemas.openxmlformats.org/officeDocument/2006/relationships/slide" Target="slides/slide74.xml"/><Relationship Id="rId155" Type="http://schemas.openxmlformats.org/officeDocument/2006/relationships/slide" Target="slides/slide149.xml"/><Relationship Id="rId176" Type="http://schemas.openxmlformats.org/officeDocument/2006/relationships/slide" Target="slides/slide170.xml"/><Relationship Id="rId197" Type="http://schemas.openxmlformats.org/officeDocument/2006/relationships/slide" Target="slides/slide191.xml"/><Relationship Id="rId201" Type="http://schemas.openxmlformats.org/officeDocument/2006/relationships/slide" Target="slides/slide195.xml"/><Relationship Id="rId17" Type="http://schemas.openxmlformats.org/officeDocument/2006/relationships/slide" Target="slides/slide11.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 Id="rId70" Type="http://schemas.openxmlformats.org/officeDocument/2006/relationships/slide" Target="slides/slide64.xml"/><Relationship Id="rId91" Type="http://schemas.openxmlformats.org/officeDocument/2006/relationships/slide" Target="slides/slide85.xml"/><Relationship Id="rId145" Type="http://schemas.openxmlformats.org/officeDocument/2006/relationships/slide" Target="slides/slide139.xml"/><Relationship Id="rId166" Type="http://schemas.openxmlformats.org/officeDocument/2006/relationships/slide" Target="slides/slide160.xml"/><Relationship Id="rId187" Type="http://schemas.openxmlformats.org/officeDocument/2006/relationships/slide" Target="slides/slide181.xml"/><Relationship Id="rId1" Type="http://schemas.openxmlformats.org/officeDocument/2006/relationships/slideMaster" Target="slideMasters/slideMaster1.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60" Type="http://schemas.openxmlformats.org/officeDocument/2006/relationships/slide" Target="slides/slide54.xml"/><Relationship Id="rId81" Type="http://schemas.openxmlformats.org/officeDocument/2006/relationships/slide" Target="slides/slide75.xml"/><Relationship Id="rId135" Type="http://schemas.openxmlformats.org/officeDocument/2006/relationships/slide" Target="slides/slide129.xml"/><Relationship Id="rId156" Type="http://schemas.openxmlformats.org/officeDocument/2006/relationships/slide" Target="slides/slide150.xml"/><Relationship Id="rId177" Type="http://schemas.openxmlformats.org/officeDocument/2006/relationships/slide" Target="slides/slide171.xml"/><Relationship Id="rId198" Type="http://schemas.openxmlformats.org/officeDocument/2006/relationships/slide" Target="slides/slide192.xml"/><Relationship Id="rId202" Type="http://schemas.openxmlformats.org/officeDocument/2006/relationships/slide" Target="slides/slide196.xml"/><Relationship Id="rId18" Type="http://schemas.openxmlformats.org/officeDocument/2006/relationships/slide" Target="slides/slide12.xml"/><Relationship Id="rId39" Type="http://schemas.openxmlformats.org/officeDocument/2006/relationships/slide" Target="slides/slide33.xml"/><Relationship Id="rId50" Type="http://schemas.openxmlformats.org/officeDocument/2006/relationships/slide" Target="slides/slide44.xml"/><Relationship Id="rId104" Type="http://schemas.openxmlformats.org/officeDocument/2006/relationships/slide" Target="slides/slide98.xml"/><Relationship Id="rId125" Type="http://schemas.openxmlformats.org/officeDocument/2006/relationships/slide" Target="slides/slide119.xml"/><Relationship Id="rId146" Type="http://schemas.openxmlformats.org/officeDocument/2006/relationships/slide" Target="slides/slide140.xml"/><Relationship Id="rId167" Type="http://schemas.openxmlformats.org/officeDocument/2006/relationships/slide" Target="slides/slide161.xml"/><Relationship Id="rId188" Type="http://schemas.openxmlformats.org/officeDocument/2006/relationships/slide" Target="slides/slide182.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40" Type="http://schemas.openxmlformats.org/officeDocument/2006/relationships/slide" Target="slides/slide34.xml"/><Relationship Id="rId115" Type="http://schemas.openxmlformats.org/officeDocument/2006/relationships/slide" Target="slides/slide109.xml"/><Relationship Id="rId136" Type="http://schemas.openxmlformats.org/officeDocument/2006/relationships/slide" Target="slides/slide130.xml"/><Relationship Id="rId157" Type="http://schemas.openxmlformats.org/officeDocument/2006/relationships/slide" Target="slides/slide151.xml"/><Relationship Id="rId178" Type="http://schemas.openxmlformats.org/officeDocument/2006/relationships/slide" Target="slides/slide17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D58ED56-603B-47F4-940E-A2AAF68D34A2}"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698340-14BE-4C3A-A11E-B927B0D8464D}" type="slidenum">
              <a:rPr lang="en-US" smtClean="0"/>
              <a:t>‹#›</a:t>
            </a:fld>
            <a:endParaRPr lang="en-US"/>
          </a:p>
        </p:txBody>
      </p:sp>
    </p:spTree>
    <p:extLst>
      <p:ext uri="{BB962C8B-B14F-4D97-AF65-F5344CB8AC3E}">
        <p14:creationId xmlns:p14="http://schemas.microsoft.com/office/powerpoint/2010/main" val="3865188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58ED56-603B-47F4-940E-A2AAF68D34A2}"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698340-14BE-4C3A-A11E-B927B0D8464D}" type="slidenum">
              <a:rPr lang="en-US" smtClean="0"/>
              <a:t>‹#›</a:t>
            </a:fld>
            <a:endParaRPr lang="en-US"/>
          </a:p>
        </p:txBody>
      </p:sp>
    </p:spTree>
    <p:extLst>
      <p:ext uri="{BB962C8B-B14F-4D97-AF65-F5344CB8AC3E}">
        <p14:creationId xmlns:p14="http://schemas.microsoft.com/office/powerpoint/2010/main" val="1199699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D58ED56-603B-47F4-940E-A2AAF68D34A2}"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698340-14BE-4C3A-A11E-B927B0D8464D}" type="slidenum">
              <a:rPr lang="en-US" smtClean="0"/>
              <a:t>‹#›</a:t>
            </a:fld>
            <a:endParaRPr lang="en-US"/>
          </a:p>
        </p:txBody>
      </p:sp>
    </p:spTree>
    <p:extLst>
      <p:ext uri="{BB962C8B-B14F-4D97-AF65-F5344CB8AC3E}">
        <p14:creationId xmlns:p14="http://schemas.microsoft.com/office/powerpoint/2010/main" val="3996067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D58ED56-603B-47F4-940E-A2AAF68D34A2}"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698340-14BE-4C3A-A11E-B927B0D8464D}" type="slidenum">
              <a:rPr lang="en-US" smtClean="0"/>
              <a:t>‹#›</a:t>
            </a:fld>
            <a:endParaRPr lang="en-US"/>
          </a:p>
        </p:txBody>
      </p:sp>
    </p:spTree>
    <p:extLst>
      <p:ext uri="{BB962C8B-B14F-4D97-AF65-F5344CB8AC3E}">
        <p14:creationId xmlns:p14="http://schemas.microsoft.com/office/powerpoint/2010/main" val="4146111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D58ED56-603B-47F4-940E-A2AAF68D34A2}"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698340-14BE-4C3A-A11E-B927B0D8464D}" type="slidenum">
              <a:rPr lang="en-US" smtClean="0"/>
              <a:t>‹#›</a:t>
            </a:fld>
            <a:endParaRPr lang="en-US"/>
          </a:p>
        </p:txBody>
      </p:sp>
    </p:spTree>
    <p:extLst>
      <p:ext uri="{BB962C8B-B14F-4D97-AF65-F5344CB8AC3E}">
        <p14:creationId xmlns:p14="http://schemas.microsoft.com/office/powerpoint/2010/main" val="2474993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D58ED56-603B-47F4-940E-A2AAF68D34A2}"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698340-14BE-4C3A-A11E-B927B0D8464D}" type="slidenum">
              <a:rPr lang="en-US" smtClean="0"/>
              <a:t>‹#›</a:t>
            </a:fld>
            <a:endParaRPr lang="en-US"/>
          </a:p>
        </p:txBody>
      </p:sp>
    </p:spTree>
    <p:extLst>
      <p:ext uri="{BB962C8B-B14F-4D97-AF65-F5344CB8AC3E}">
        <p14:creationId xmlns:p14="http://schemas.microsoft.com/office/powerpoint/2010/main" val="2760813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58ED56-603B-47F4-940E-A2AAF68D34A2}"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698340-14BE-4C3A-A11E-B927B0D8464D}" type="slidenum">
              <a:rPr lang="en-US" smtClean="0"/>
              <a:t>‹#›</a:t>
            </a:fld>
            <a:endParaRPr lang="en-US"/>
          </a:p>
        </p:txBody>
      </p:sp>
    </p:spTree>
    <p:extLst>
      <p:ext uri="{BB962C8B-B14F-4D97-AF65-F5344CB8AC3E}">
        <p14:creationId xmlns:p14="http://schemas.microsoft.com/office/powerpoint/2010/main" val="58845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58ED56-603B-47F4-940E-A2AAF68D34A2}"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698340-14BE-4C3A-A11E-B927B0D8464D}" type="slidenum">
              <a:rPr lang="en-US" smtClean="0"/>
              <a:t>‹#›</a:t>
            </a:fld>
            <a:endParaRPr lang="en-US"/>
          </a:p>
        </p:txBody>
      </p:sp>
    </p:spTree>
    <p:extLst>
      <p:ext uri="{BB962C8B-B14F-4D97-AF65-F5344CB8AC3E}">
        <p14:creationId xmlns:p14="http://schemas.microsoft.com/office/powerpoint/2010/main" val="3263860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58ED56-603B-47F4-940E-A2AAF68D34A2}"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698340-14BE-4C3A-A11E-B927B0D8464D}" type="slidenum">
              <a:rPr lang="en-US" smtClean="0"/>
              <a:t>‹#›</a:t>
            </a:fld>
            <a:endParaRPr lang="en-US"/>
          </a:p>
        </p:txBody>
      </p:sp>
    </p:spTree>
    <p:extLst>
      <p:ext uri="{BB962C8B-B14F-4D97-AF65-F5344CB8AC3E}">
        <p14:creationId xmlns:p14="http://schemas.microsoft.com/office/powerpoint/2010/main" val="3251670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58ED56-603B-47F4-940E-A2AAF68D34A2}"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698340-14BE-4C3A-A11E-B927B0D8464D}" type="slidenum">
              <a:rPr lang="en-US" smtClean="0"/>
              <a:t>‹#›</a:t>
            </a:fld>
            <a:endParaRPr lang="en-US"/>
          </a:p>
        </p:txBody>
      </p:sp>
    </p:spTree>
    <p:extLst>
      <p:ext uri="{BB962C8B-B14F-4D97-AF65-F5344CB8AC3E}">
        <p14:creationId xmlns:p14="http://schemas.microsoft.com/office/powerpoint/2010/main" val="700001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58ED56-603B-47F4-940E-A2AAF68D34A2}"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698340-14BE-4C3A-A11E-B927B0D8464D}" type="slidenum">
              <a:rPr lang="en-US" smtClean="0"/>
              <a:t>‹#›</a:t>
            </a:fld>
            <a:endParaRPr lang="en-US"/>
          </a:p>
        </p:txBody>
      </p:sp>
    </p:spTree>
    <p:extLst>
      <p:ext uri="{BB962C8B-B14F-4D97-AF65-F5344CB8AC3E}">
        <p14:creationId xmlns:p14="http://schemas.microsoft.com/office/powerpoint/2010/main" val="507384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82430" y="326136"/>
            <a:ext cx="10427140" cy="507831"/>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1"/>
            <a:ext cx="8534400" cy="18466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2374536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type="body" idx="1"/>
          </p:nvPr>
        </p:nvSpPr>
        <p:spPr>
          <a:xfrm>
            <a:off x="762000" y="2330704"/>
            <a:ext cx="6336453" cy="246221"/>
          </a:xfrm>
        </p:spPr>
        <p:txBody>
          <a:bodyPr lIns="0" tIns="0" rIns="0" bIns="0"/>
          <a:lstStyle>
            <a:lvl1pPr>
              <a:defRPr sz="1600" b="1" i="0">
                <a:solidFill>
                  <a:srgbClr val="CC7831"/>
                </a:solidFill>
                <a:latin typeface="Courier New"/>
                <a:cs typeface="Courier New"/>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1615822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sz="half" idx="2"/>
          </p:nvPr>
        </p:nvSpPr>
        <p:spPr>
          <a:xfrm>
            <a:off x="875927" y="1087940"/>
            <a:ext cx="3716020" cy="276999"/>
          </a:xfrm>
          <a:prstGeom prst="rect">
            <a:avLst/>
          </a:prstGeom>
        </p:spPr>
        <p:txBody>
          <a:bodyPr wrap="square" lIns="0" tIns="0" rIns="0" bIns="0">
            <a:spAutoFit/>
          </a:bodyPr>
          <a:lstStyle>
            <a:lvl1pPr>
              <a:defRPr sz="1800" b="0" i="0">
                <a:solidFill>
                  <a:schemeClr val="bg1"/>
                </a:solidFill>
                <a:latin typeface="Noto Sans"/>
                <a:cs typeface="Noto Sans"/>
              </a:defRPr>
            </a:lvl1pPr>
          </a:lstStyle>
          <a:p>
            <a:endParaRPr/>
          </a:p>
        </p:txBody>
      </p:sp>
      <p:sp>
        <p:nvSpPr>
          <p:cNvPr id="4" name="Holder 4"/>
          <p:cNvSpPr>
            <a:spLocks noGrp="1"/>
          </p:cNvSpPr>
          <p:nvPr>
            <p:ph sz="half" idx="3"/>
          </p:nvPr>
        </p:nvSpPr>
        <p:spPr>
          <a:xfrm>
            <a:off x="6278880" y="1577340"/>
            <a:ext cx="5303520" cy="18466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30565618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F1792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a:ea typeface="+mn-ea"/>
              <a:cs typeface="+mn-cs"/>
            </a:endParaRPr>
          </a:p>
        </p:txBody>
      </p:sp>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3380090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19798915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82430" y="326136"/>
            <a:ext cx="10427140" cy="507831"/>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1"/>
            <a:ext cx="8534400" cy="18466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30372530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type="body" idx="1"/>
          </p:nvPr>
        </p:nvSpPr>
        <p:spPr>
          <a:xfrm>
            <a:off x="762000" y="2330704"/>
            <a:ext cx="6336453" cy="246221"/>
          </a:xfrm>
        </p:spPr>
        <p:txBody>
          <a:bodyPr lIns="0" tIns="0" rIns="0" bIns="0"/>
          <a:lstStyle>
            <a:lvl1pPr>
              <a:defRPr sz="1600" b="1" i="0">
                <a:solidFill>
                  <a:srgbClr val="CC7831"/>
                </a:solidFill>
                <a:latin typeface="Courier New"/>
                <a:cs typeface="Courier New"/>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7991879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sz="half" idx="2"/>
          </p:nvPr>
        </p:nvSpPr>
        <p:spPr>
          <a:xfrm>
            <a:off x="875927" y="1087940"/>
            <a:ext cx="3716020" cy="276999"/>
          </a:xfrm>
          <a:prstGeom prst="rect">
            <a:avLst/>
          </a:prstGeom>
        </p:spPr>
        <p:txBody>
          <a:bodyPr wrap="square" lIns="0" tIns="0" rIns="0" bIns="0">
            <a:spAutoFit/>
          </a:bodyPr>
          <a:lstStyle>
            <a:lvl1pPr>
              <a:defRPr sz="1800" b="0" i="0">
                <a:solidFill>
                  <a:schemeClr val="bg1"/>
                </a:solidFill>
                <a:latin typeface="Noto Sans"/>
                <a:cs typeface="Noto Sans"/>
              </a:defRPr>
            </a:lvl1pPr>
          </a:lstStyle>
          <a:p>
            <a:endParaRPr/>
          </a:p>
        </p:txBody>
      </p:sp>
      <p:sp>
        <p:nvSpPr>
          <p:cNvPr id="4" name="Holder 4"/>
          <p:cNvSpPr>
            <a:spLocks noGrp="1"/>
          </p:cNvSpPr>
          <p:nvPr>
            <p:ph sz="half" idx="3"/>
          </p:nvPr>
        </p:nvSpPr>
        <p:spPr>
          <a:xfrm>
            <a:off x="6278880" y="1577340"/>
            <a:ext cx="5303520" cy="18466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10324172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F1792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a:ea typeface="+mn-ea"/>
              <a:cs typeface="+mn-cs"/>
            </a:endParaRPr>
          </a:p>
        </p:txBody>
      </p:sp>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19384532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36611579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82430" y="326136"/>
            <a:ext cx="10427140" cy="507831"/>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1"/>
            <a:ext cx="8534400" cy="18466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36286993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type="body" idx="1"/>
          </p:nvPr>
        </p:nvSpPr>
        <p:spPr>
          <a:xfrm>
            <a:off x="762000" y="2330704"/>
            <a:ext cx="6336453" cy="246221"/>
          </a:xfrm>
        </p:spPr>
        <p:txBody>
          <a:bodyPr lIns="0" tIns="0" rIns="0" bIns="0"/>
          <a:lstStyle>
            <a:lvl1pPr>
              <a:defRPr sz="1600" b="1" i="0">
                <a:solidFill>
                  <a:srgbClr val="CC7831"/>
                </a:solidFill>
                <a:latin typeface="Courier New"/>
                <a:cs typeface="Courier New"/>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11433335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sz="half" idx="2"/>
          </p:nvPr>
        </p:nvSpPr>
        <p:spPr>
          <a:xfrm>
            <a:off x="875927" y="1087940"/>
            <a:ext cx="3716020" cy="276999"/>
          </a:xfrm>
          <a:prstGeom prst="rect">
            <a:avLst/>
          </a:prstGeom>
        </p:spPr>
        <p:txBody>
          <a:bodyPr wrap="square" lIns="0" tIns="0" rIns="0" bIns="0">
            <a:spAutoFit/>
          </a:bodyPr>
          <a:lstStyle>
            <a:lvl1pPr>
              <a:defRPr sz="1800" b="0" i="0">
                <a:solidFill>
                  <a:schemeClr val="bg1"/>
                </a:solidFill>
                <a:latin typeface="Noto Sans"/>
                <a:cs typeface="Noto Sans"/>
              </a:defRPr>
            </a:lvl1pPr>
          </a:lstStyle>
          <a:p>
            <a:endParaRPr/>
          </a:p>
        </p:txBody>
      </p:sp>
      <p:sp>
        <p:nvSpPr>
          <p:cNvPr id="4" name="Holder 4"/>
          <p:cNvSpPr>
            <a:spLocks noGrp="1"/>
          </p:cNvSpPr>
          <p:nvPr>
            <p:ph sz="half" idx="3"/>
          </p:nvPr>
        </p:nvSpPr>
        <p:spPr>
          <a:xfrm>
            <a:off x="6278880" y="1577340"/>
            <a:ext cx="5303520" cy="18466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10616614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F1792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a:ea typeface="+mn-ea"/>
              <a:cs typeface="+mn-cs"/>
            </a:endParaRPr>
          </a:p>
        </p:txBody>
      </p:sp>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40578300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15477332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82430" y="326136"/>
            <a:ext cx="10427140" cy="507831"/>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1"/>
            <a:ext cx="8534400" cy="18466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25971994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type="body" idx="1"/>
          </p:nvPr>
        </p:nvSpPr>
        <p:spPr>
          <a:xfrm>
            <a:off x="762000" y="2330704"/>
            <a:ext cx="6336453" cy="246221"/>
          </a:xfrm>
        </p:spPr>
        <p:txBody>
          <a:bodyPr lIns="0" tIns="0" rIns="0" bIns="0"/>
          <a:lstStyle>
            <a:lvl1pPr>
              <a:defRPr sz="1600" b="1" i="0">
                <a:solidFill>
                  <a:srgbClr val="CC7831"/>
                </a:solidFill>
                <a:latin typeface="Courier New"/>
                <a:cs typeface="Courier New"/>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4523210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sz="half" idx="2"/>
          </p:nvPr>
        </p:nvSpPr>
        <p:spPr>
          <a:xfrm>
            <a:off x="875927" y="1087940"/>
            <a:ext cx="3716020" cy="276999"/>
          </a:xfrm>
          <a:prstGeom prst="rect">
            <a:avLst/>
          </a:prstGeom>
        </p:spPr>
        <p:txBody>
          <a:bodyPr wrap="square" lIns="0" tIns="0" rIns="0" bIns="0">
            <a:spAutoFit/>
          </a:bodyPr>
          <a:lstStyle>
            <a:lvl1pPr>
              <a:defRPr sz="1800" b="0" i="0">
                <a:solidFill>
                  <a:schemeClr val="bg1"/>
                </a:solidFill>
                <a:latin typeface="Noto Sans"/>
                <a:cs typeface="Noto Sans"/>
              </a:defRPr>
            </a:lvl1pPr>
          </a:lstStyle>
          <a:p>
            <a:endParaRPr/>
          </a:p>
        </p:txBody>
      </p:sp>
      <p:sp>
        <p:nvSpPr>
          <p:cNvPr id="4" name="Holder 4"/>
          <p:cNvSpPr>
            <a:spLocks noGrp="1"/>
          </p:cNvSpPr>
          <p:nvPr>
            <p:ph sz="half" idx="3"/>
          </p:nvPr>
        </p:nvSpPr>
        <p:spPr>
          <a:xfrm>
            <a:off x="6278880" y="1577340"/>
            <a:ext cx="5303520" cy="18466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161622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F1792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a:ea typeface="+mn-ea"/>
              <a:cs typeface="+mn-cs"/>
            </a:endParaRPr>
          </a:p>
        </p:txBody>
      </p:sp>
      <p:sp>
        <p:nvSpPr>
          <p:cNvPr id="2" name="Holder 2"/>
          <p:cNvSpPr>
            <a:spLocks noGrp="1"/>
          </p:cNvSpPr>
          <p:nvPr>
            <p:ph type="title"/>
          </p:nvPr>
        </p:nvSpPr>
        <p:spPr>
          <a:xfrm>
            <a:off x="882023" y="326812"/>
            <a:ext cx="6417733" cy="677108"/>
          </a:xfrm>
        </p:spPr>
        <p:txBody>
          <a:bodyPr lIns="0" tIns="0" rIns="0" bIns="0"/>
          <a:lstStyle>
            <a:lvl1pPr>
              <a:defRPr sz="4400" b="0" i="0">
                <a:solidFill>
                  <a:srgbClr val="115F92"/>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38383936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Tree>
    <p:extLst>
      <p:ext uri="{BB962C8B-B14F-4D97-AF65-F5344CB8AC3E}">
        <p14:creationId xmlns:p14="http://schemas.microsoft.com/office/powerpoint/2010/main" val="25256634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B9BB27E-F3D7-418F-B27A-ED5F41CC244B}"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6350A-AF67-4123-8C78-15BF38D8BA2A}" type="slidenum">
              <a:rPr lang="en-US" smtClean="0"/>
              <a:t>‹#›</a:t>
            </a:fld>
            <a:endParaRPr lang="en-US"/>
          </a:p>
        </p:txBody>
      </p:sp>
    </p:spTree>
    <p:extLst>
      <p:ext uri="{BB962C8B-B14F-4D97-AF65-F5344CB8AC3E}">
        <p14:creationId xmlns:p14="http://schemas.microsoft.com/office/powerpoint/2010/main" val="10181026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9BB27E-F3D7-418F-B27A-ED5F41CC244B}"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6350A-AF67-4123-8C78-15BF38D8BA2A}" type="slidenum">
              <a:rPr lang="en-US" smtClean="0"/>
              <a:t>‹#›</a:t>
            </a:fld>
            <a:endParaRPr lang="en-US"/>
          </a:p>
        </p:txBody>
      </p:sp>
    </p:spTree>
    <p:extLst>
      <p:ext uri="{BB962C8B-B14F-4D97-AF65-F5344CB8AC3E}">
        <p14:creationId xmlns:p14="http://schemas.microsoft.com/office/powerpoint/2010/main" val="13190948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9BB27E-F3D7-418F-B27A-ED5F41CC244B}"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6350A-AF67-4123-8C78-15BF38D8BA2A}" type="slidenum">
              <a:rPr lang="en-US" smtClean="0"/>
              <a:t>‹#›</a:t>
            </a:fld>
            <a:endParaRPr lang="en-US"/>
          </a:p>
        </p:txBody>
      </p:sp>
    </p:spTree>
    <p:extLst>
      <p:ext uri="{BB962C8B-B14F-4D97-AF65-F5344CB8AC3E}">
        <p14:creationId xmlns:p14="http://schemas.microsoft.com/office/powerpoint/2010/main" val="21461655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9BB27E-F3D7-418F-B27A-ED5F41CC244B}"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6350A-AF67-4123-8C78-15BF38D8BA2A}" type="slidenum">
              <a:rPr lang="en-US" smtClean="0"/>
              <a:t>‹#›</a:t>
            </a:fld>
            <a:endParaRPr lang="en-US"/>
          </a:p>
        </p:txBody>
      </p:sp>
    </p:spTree>
    <p:extLst>
      <p:ext uri="{BB962C8B-B14F-4D97-AF65-F5344CB8AC3E}">
        <p14:creationId xmlns:p14="http://schemas.microsoft.com/office/powerpoint/2010/main" val="10593088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9BB27E-F3D7-418F-B27A-ED5F41CC244B}"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F6350A-AF67-4123-8C78-15BF38D8BA2A}" type="slidenum">
              <a:rPr lang="en-US" smtClean="0"/>
              <a:t>‹#›</a:t>
            </a:fld>
            <a:endParaRPr lang="en-US"/>
          </a:p>
        </p:txBody>
      </p:sp>
    </p:spTree>
    <p:extLst>
      <p:ext uri="{BB962C8B-B14F-4D97-AF65-F5344CB8AC3E}">
        <p14:creationId xmlns:p14="http://schemas.microsoft.com/office/powerpoint/2010/main" val="25039628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9BB27E-F3D7-418F-B27A-ED5F41CC244B}"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F6350A-AF67-4123-8C78-15BF38D8BA2A}" type="slidenum">
              <a:rPr lang="en-US" smtClean="0"/>
              <a:t>‹#›</a:t>
            </a:fld>
            <a:endParaRPr lang="en-US"/>
          </a:p>
        </p:txBody>
      </p:sp>
    </p:spTree>
    <p:extLst>
      <p:ext uri="{BB962C8B-B14F-4D97-AF65-F5344CB8AC3E}">
        <p14:creationId xmlns:p14="http://schemas.microsoft.com/office/powerpoint/2010/main" val="8777376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9BB27E-F3D7-418F-B27A-ED5F41CC244B}"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F6350A-AF67-4123-8C78-15BF38D8BA2A}" type="slidenum">
              <a:rPr lang="en-US" smtClean="0"/>
              <a:t>‹#›</a:t>
            </a:fld>
            <a:endParaRPr lang="en-US"/>
          </a:p>
        </p:txBody>
      </p:sp>
    </p:spTree>
    <p:extLst>
      <p:ext uri="{BB962C8B-B14F-4D97-AF65-F5344CB8AC3E}">
        <p14:creationId xmlns:p14="http://schemas.microsoft.com/office/powerpoint/2010/main" val="6985760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9BB27E-F3D7-418F-B27A-ED5F41CC244B}"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6350A-AF67-4123-8C78-15BF38D8BA2A}" type="slidenum">
              <a:rPr lang="en-US" smtClean="0"/>
              <a:t>‹#›</a:t>
            </a:fld>
            <a:endParaRPr lang="en-US"/>
          </a:p>
        </p:txBody>
      </p:sp>
    </p:spTree>
    <p:extLst>
      <p:ext uri="{BB962C8B-B14F-4D97-AF65-F5344CB8AC3E}">
        <p14:creationId xmlns:p14="http://schemas.microsoft.com/office/powerpoint/2010/main" val="32364255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9BB27E-F3D7-418F-B27A-ED5F41CC244B}"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6350A-AF67-4123-8C78-15BF38D8BA2A}" type="slidenum">
              <a:rPr lang="en-US" smtClean="0"/>
              <a:t>‹#›</a:t>
            </a:fld>
            <a:endParaRPr lang="en-US"/>
          </a:p>
        </p:txBody>
      </p:sp>
    </p:spTree>
    <p:extLst>
      <p:ext uri="{BB962C8B-B14F-4D97-AF65-F5344CB8AC3E}">
        <p14:creationId xmlns:p14="http://schemas.microsoft.com/office/powerpoint/2010/main" val="41394198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9BB27E-F3D7-418F-B27A-ED5F41CC244B}"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6350A-AF67-4123-8C78-15BF38D8BA2A}" type="slidenum">
              <a:rPr lang="en-US" smtClean="0"/>
              <a:t>‹#›</a:t>
            </a:fld>
            <a:endParaRPr lang="en-US"/>
          </a:p>
        </p:txBody>
      </p:sp>
    </p:spTree>
    <p:extLst>
      <p:ext uri="{BB962C8B-B14F-4D97-AF65-F5344CB8AC3E}">
        <p14:creationId xmlns:p14="http://schemas.microsoft.com/office/powerpoint/2010/main" val="35847762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9BB27E-F3D7-418F-B27A-ED5F41CC244B}"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6350A-AF67-4123-8C78-15BF38D8BA2A}" type="slidenum">
              <a:rPr lang="en-US" smtClean="0"/>
              <a:t>‹#›</a:t>
            </a:fld>
            <a:endParaRPr lang="en-US"/>
          </a:p>
        </p:txBody>
      </p:sp>
    </p:spTree>
    <p:extLst>
      <p:ext uri="{BB962C8B-B14F-4D97-AF65-F5344CB8AC3E}">
        <p14:creationId xmlns:p14="http://schemas.microsoft.com/office/powerpoint/2010/main" val="321426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image" Target="../media/image1.pn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3.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4.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image" Target="../media/image1.png"/><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theme" Target="../theme/theme5.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6.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58ED56-603B-47F4-940E-A2AAF68D34A2}" type="datetimeFigureOut">
              <a:rPr lang="en-US" smtClean="0"/>
              <a:t>5/5/2026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698340-14BE-4C3A-A11E-B927B0D8464D}" type="slidenum">
              <a:rPr lang="en-US" smtClean="0"/>
              <a:t>‹#›</a:t>
            </a:fld>
            <a:endParaRPr lang="en-US"/>
          </a:p>
        </p:txBody>
      </p:sp>
      <p:sp>
        <p:nvSpPr>
          <p:cNvPr id="8" name="TextBox 7">
            <a:extLst>
              <a:ext uri="{FF2B5EF4-FFF2-40B4-BE49-F238E27FC236}">
                <a16:creationId xmlns:a16="http://schemas.microsoft.com/office/drawing/2014/main" id="{B918520C-F28F-D8B6-5AE1-B158205894D4}"/>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3033697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997"/>
          </a:xfrm>
          <a:prstGeom prst="rect">
            <a:avLst/>
          </a:prstGeom>
          <a:blipFill>
            <a:blip r:embed="rId7" cstate="print"/>
            <a:stretch>
              <a:fillRect/>
            </a:stretch>
          </a:blip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a:ea typeface="+mn-ea"/>
              <a:cs typeface="+mn-cs"/>
            </a:endParaRPr>
          </a:p>
        </p:txBody>
      </p:sp>
      <p:sp>
        <p:nvSpPr>
          <p:cNvPr id="2" name="Holder 2"/>
          <p:cNvSpPr>
            <a:spLocks noGrp="1"/>
          </p:cNvSpPr>
          <p:nvPr>
            <p:ph type="title"/>
          </p:nvPr>
        </p:nvSpPr>
        <p:spPr>
          <a:xfrm>
            <a:off x="882023" y="326812"/>
            <a:ext cx="6417733" cy="507831"/>
          </a:xfrm>
          <a:prstGeom prst="rect">
            <a:avLst/>
          </a:prstGeom>
        </p:spPr>
        <p:txBody>
          <a:bodyPr wrap="square" lIns="0" tIns="0" rIns="0" bIns="0">
            <a:spAutoFit/>
          </a:bodyPr>
          <a:lstStyle>
            <a:lvl1pPr>
              <a:defRPr sz="3300" b="0" i="0">
                <a:solidFill>
                  <a:srgbClr val="115F92"/>
                </a:solidFill>
                <a:latin typeface="Verdana"/>
                <a:cs typeface="Verdana"/>
              </a:defRPr>
            </a:lvl1pPr>
          </a:lstStyle>
          <a:p>
            <a:endParaRPr/>
          </a:p>
        </p:txBody>
      </p:sp>
      <p:sp>
        <p:nvSpPr>
          <p:cNvPr id="3" name="Holder 3"/>
          <p:cNvSpPr>
            <a:spLocks noGrp="1"/>
          </p:cNvSpPr>
          <p:nvPr>
            <p:ph type="body" idx="1"/>
          </p:nvPr>
        </p:nvSpPr>
        <p:spPr>
          <a:xfrm>
            <a:off x="762000" y="2330704"/>
            <a:ext cx="6336453" cy="184666"/>
          </a:xfrm>
          <a:prstGeom prst="rect">
            <a:avLst/>
          </a:prstGeom>
        </p:spPr>
        <p:txBody>
          <a:bodyPr wrap="square" lIns="0" tIns="0" rIns="0" bIns="0">
            <a:spAutoFit/>
          </a:bodyPr>
          <a:lstStyle>
            <a:lvl1pPr>
              <a:defRPr sz="1200" b="1" i="0">
                <a:solidFill>
                  <a:srgbClr val="CC7831"/>
                </a:solidFill>
                <a:latin typeface="Courier New"/>
                <a:cs typeface="Courier New"/>
              </a:defRPr>
            </a:lvl1pPr>
          </a:lstStyle>
          <a:p>
            <a:endParaRPr/>
          </a:p>
        </p:txBody>
      </p:sp>
      <p:sp>
        <p:nvSpPr>
          <p:cNvPr id="4" name="Holder 4"/>
          <p:cNvSpPr>
            <a:spLocks noGrp="1"/>
          </p:cNvSpPr>
          <p:nvPr>
            <p:ph type="ftr" sz="quarter" idx="5"/>
          </p:nvPr>
        </p:nvSpPr>
        <p:spPr>
          <a:xfrm>
            <a:off x="4145280" y="6377940"/>
            <a:ext cx="3901440" cy="369332"/>
          </a:xfrm>
          <a:prstGeom prst="rect">
            <a:avLst/>
          </a:prstGeom>
        </p:spPr>
        <p:txBody>
          <a:bodyPr wrap="square" lIns="0" tIns="0" rIns="0" bIns="0">
            <a:spAutoFit/>
          </a:bodyPr>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a:xfrm>
            <a:off x="609600" y="6377940"/>
            <a:ext cx="2804160" cy="369332"/>
          </a:xfrm>
          <a:prstGeom prst="rect">
            <a:avLst/>
          </a:prstGeom>
        </p:spPr>
        <p:txBody>
          <a:bodyPr wrap="square" lIns="0" tIns="0" rIns="0" bIns="0">
            <a:spAutoFit/>
          </a:bodyPr>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a:xfrm>
            <a:off x="8778240" y="6377940"/>
            <a:ext cx="2804160" cy="369332"/>
          </a:xfrm>
          <a:prstGeom prst="rect">
            <a:avLst/>
          </a:prstGeom>
        </p:spPr>
        <p:txBody>
          <a:bodyPr wrap="square" lIns="0" tIns="0" rIns="0" bIns="0">
            <a:spAutoFit/>
          </a:bodyPr>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
        <p:nvSpPr>
          <p:cNvPr id="8" name="TextBox 7">
            <a:extLst>
              <a:ext uri="{FF2B5EF4-FFF2-40B4-BE49-F238E27FC236}">
                <a16:creationId xmlns:a16="http://schemas.microsoft.com/office/drawing/2014/main" id="{8533EC01-03C8-BD0D-5FF5-53CE170C50C0}"/>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4653350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bodyStyle>
    <p:other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997"/>
          </a:xfrm>
          <a:prstGeom prst="rect">
            <a:avLst/>
          </a:prstGeom>
          <a:blipFill>
            <a:blip r:embed="rId7" cstate="print"/>
            <a:stretch>
              <a:fillRect/>
            </a:stretch>
          </a:blip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a:ea typeface="+mn-ea"/>
              <a:cs typeface="+mn-cs"/>
            </a:endParaRPr>
          </a:p>
        </p:txBody>
      </p:sp>
      <p:sp>
        <p:nvSpPr>
          <p:cNvPr id="2" name="Holder 2"/>
          <p:cNvSpPr>
            <a:spLocks noGrp="1"/>
          </p:cNvSpPr>
          <p:nvPr>
            <p:ph type="title"/>
          </p:nvPr>
        </p:nvSpPr>
        <p:spPr>
          <a:xfrm>
            <a:off x="882023" y="326812"/>
            <a:ext cx="6417733" cy="507831"/>
          </a:xfrm>
          <a:prstGeom prst="rect">
            <a:avLst/>
          </a:prstGeom>
        </p:spPr>
        <p:txBody>
          <a:bodyPr wrap="square" lIns="0" tIns="0" rIns="0" bIns="0">
            <a:spAutoFit/>
          </a:bodyPr>
          <a:lstStyle>
            <a:lvl1pPr>
              <a:defRPr sz="3300" b="0" i="0">
                <a:solidFill>
                  <a:srgbClr val="115F92"/>
                </a:solidFill>
                <a:latin typeface="Verdana"/>
                <a:cs typeface="Verdana"/>
              </a:defRPr>
            </a:lvl1pPr>
          </a:lstStyle>
          <a:p>
            <a:endParaRPr/>
          </a:p>
        </p:txBody>
      </p:sp>
      <p:sp>
        <p:nvSpPr>
          <p:cNvPr id="3" name="Holder 3"/>
          <p:cNvSpPr>
            <a:spLocks noGrp="1"/>
          </p:cNvSpPr>
          <p:nvPr>
            <p:ph type="body" idx="1"/>
          </p:nvPr>
        </p:nvSpPr>
        <p:spPr>
          <a:xfrm>
            <a:off x="762000" y="2330704"/>
            <a:ext cx="6336453" cy="184666"/>
          </a:xfrm>
          <a:prstGeom prst="rect">
            <a:avLst/>
          </a:prstGeom>
        </p:spPr>
        <p:txBody>
          <a:bodyPr wrap="square" lIns="0" tIns="0" rIns="0" bIns="0">
            <a:spAutoFit/>
          </a:bodyPr>
          <a:lstStyle>
            <a:lvl1pPr>
              <a:defRPr sz="1200" b="1" i="0">
                <a:solidFill>
                  <a:srgbClr val="CC7831"/>
                </a:solidFill>
                <a:latin typeface="Courier New"/>
                <a:cs typeface="Courier New"/>
              </a:defRPr>
            </a:lvl1pPr>
          </a:lstStyle>
          <a:p>
            <a:endParaRPr/>
          </a:p>
        </p:txBody>
      </p:sp>
      <p:sp>
        <p:nvSpPr>
          <p:cNvPr id="4" name="Holder 4"/>
          <p:cNvSpPr>
            <a:spLocks noGrp="1"/>
          </p:cNvSpPr>
          <p:nvPr>
            <p:ph type="ftr" sz="quarter" idx="5"/>
          </p:nvPr>
        </p:nvSpPr>
        <p:spPr>
          <a:xfrm>
            <a:off x="4145280" y="6377940"/>
            <a:ext cx="3901440" cy="369332"/>
          </a:xfrm>
          <a:prstGeom prst="rect">
            <a:avLst/>
          </a:prstGeom>
        </p:spPr>
        <p:txBody>
          <a:bodyPr wrap="square" lIns="0" tIns="0" rIns="0" bIns="0">
            <a:spAutoFit/>
          </a:bodyPr>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a:xfrm>
            <a:off x="609600" y="6377940"/>
            <a:ext cx="2804160" cy="369332"/>
          </a:xfrm>
          <a:prstGeom prst="rect">
            <a:avLst/>
          </a:prstGeom>
        </p:spPr>
        <p:txBody>
          <a:bodyPr wrap="square" lIns="0" tIns="0" rIns="0" bIns="0">
            <a:spAutoFit/>
          </a:bodyPr>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a:xfrm>
            <a:off x="8778240" y="6377940"/>
            <a:ext cx="2804160" cy="369332"/>
          </a:xfrm>
          <a:prstGeom prst="rect">
            <a:avLst/>
          </a:prstGeom>
        </p:spPr>
        <p:txBody>
          <a:bodyPr wrap="square" lIns="0" tIns="0" rIns="0" bIns="0">
            <a:spAutoFit/>
          </a:bodyPr>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
        <p:nvSpPr>
          <p:cNvPr id="8" name="TextBox 7">
            <a:extLst>
              <a:ext uri="{FF2B5EF4-FFF2-40B4-BE49-F238E27FC236}">
                <a16:creationId xmlns:a16="http://schemas.microsoft.com/office/drawing/2014/main" id="{482F47CC-0B08-411E-FEC3-F596FF308945}"/>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359008999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bodyStyle>
    <p:other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997"/>
          </a:xfrm>
          <a:prstGeom prst="rect">
            <a:avLst/>
          </a:prstGeom>
          <a:blipFill>
            <a:blip r:embed="rId7" cstate="print"/>
            <a:stretch>
              <a:fillRect/>
            </a:stretch>
          </a:blip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a:ea typeface="+mn-ea"/>
              <a:cs typeface="+mn-cs"/>
            </a:endParaRPr>
          </a:p>
        </p:txBody>
      </p:sp>
      <p:sp>
        <p:nvSpPr>
          <p:cNvPr id="2" name="Holder 2"/>
          <p:cNvSpPr>
            <a:spLocks noGrp="1"/>
          </p:cNvSpPr>
          <p:nvPr>
            <p:ph type="title"/>
          </p:nvPr>
        </p:nvSpPr>
        <p:spPr>
          <a:xfrm>
            <a:off x="882023" y="326812"/>
            <a:ext cx="6417733" cy="507831"/>
          </a:xfrm>
          <a:prstGeom prst="rect">
            <a:avLst/>
          </a:prstGeom>
        </p:spPr>
        <p:txBody>
          <a:bodyPr wrap="square" lIns="0" tIns="0" rIns="0" bIns="0">
            <a:spAutoFit/>
          </a:bodyPr>
          <a:lstStyle>
            <a:lvl1pPr>
              <a:defRPr sz="3300" b="0" i="0">
                <a:solidFill>
                  <a:srgbClr val="115F92"/>
                </a:solidFill>
                <a:latin typeface="Verdana"/>
                <a:cs typeface="Verdana"/>
              </a:defRPr>
            </a:lvl1pPr>
          </a:lstStyle>
          <a:p>
            <a:endParaRPr/>
          </a:p>
        </p:txBody>
      </p:sp>
      <p:sp>
        <p:nvSpPr>
          <p:cNvPr id="3" name="Holder 3"/>
          <p:cNvSpPr>
            <a:spLocks noGrp="1"/>
          </p:cNvSpPr>
          <p:nvPr>
            <p:ph type="body" idx="1"/>
          </p:nvPr>
        </p:nvSpPr>
        <p:spPr>
          <a:xfrm>
            <a:off x="762000" y="2330704"/>
            <a:ext cx="6336453" cy="184666"/>
          </a:xfrm>
          <a:prstGeom prst="rect">
            <a:avLst/>
          </a:prstGeom>
        </p:spPr>
        <p:txBody>
          <a:bodyPr wrap="square" lIns="0" tIns="0" rIns="0" bIns="0">
            <a:spAutoFit/>
          </a:bodyPr>
          <a:lstStyle>
            <a:lvl1pPr>
              <a:defRPr sz="1200" b="1" i="0">
                <a:solidFill>
                  <a:srgbClr val="CC7831"/>
                </a:solidFill>
                <a:latin typeface="Courier New"/>
                <a:cs typeface="Courier New"/>
              </a:defRPr>
            </a:lvl1pPr>
          </a:lstStyle>
          <a:p>
            <a:endParaRPr/>
          </a:p>
        </p:txBody>
      </p:sp>
      <p:sp>
        <p:nvSpPr>
          <p:cNvPr id="4" name="Holder 4"/>
          <p:cNvSpPr>
            <a:spLocks noGrp="1"/>
          </p:cNvSpPr>
          <p:nvPr>
            <p:ph type="ftr" sz="quarter" idx="5"/>
          </p:nvPr>
        </p:nvSpPr>
        <p:spPr>
          <a:xfrm>
            <a:off x="4145280" y="6377940"/>
            <a:ext cx="3901440" cy="369332"/>
          </a:xfrm>
          <a:prstGeom prst="rect">
            <a:avLst/>
          </a:prstGeom>
        </p:spPr>
        <p:txBody>
          <a:bodyPr wrap="square" lIns="0" tIns="0" rIns="0" bIns="0">
            <a:spAutoFit/>
          </a:bodyPr>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a:xfrm>
            <a:off x="609600" y="6377940"/>
            <a:ext cx="2804160" cy="369332"/>
          </a:xfrm>
          <a:prstGeom prst="rect">
            <a:avLst/>
          </a:prstGeom>
        </p:spPr>
        <p:txBody>
          <a:bodyPr wrap="square" lIns="0" tIns="0" rIns="0" bIns="0">
            <a:spAutoFit/>
          </a:bodyPr>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a:xfrm>
            <a:off x="8778240" y="6377940"/>
            <a:ext cx="2804160" cy="369332"/>
          </a:xfrm>
          <a:prstGeom prst="rect">
            <a:avLst/>
          </a:prstGeom>
        </p:spPr>
        <p:txBody>
          <a:bodyPr wrap="square" lIns="0" tIns="0" rIns="0" bIns="0">
            <a:spAutoFit/>
          </a:bodyPr>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
        <p:nvSpPr>
          <p:cNvPr id="8" name="TextBox 7">
            <a:extLst>
              <a:ext uri="{FF2B5EF4-FFF2-40B4-BE49-F238E27FC236}">
                <a16:creationId xmlns:a16="http://schemas.microsoft.com/office/drawing/2014/main" id="{F9D88504-DFAD-85C4-2FDC-DF797E64E6B3}"/>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22806158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defRPr>
          <a:latin typeface="+mj-lt"/>
          <a:ea typeface="+mj-ea"/>
          <a:cs typeface="+mj-cs"/>
        </a:defRPr>
      </a:lvl1pPr>
    </p:titleStyle>
    <p:body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bodyStyle>
    <p:other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997"/>
          </a:xfrm>
          <a:prstGeom prst="rect">
            <a:avLst/>
          </a:prstGeom>
          <a:blipFill>
            <a:blip r:embed="rId7" cstate="print"/>
            <a:stretch>
              <a:fillRect/>
            </a:stretch>
          </a:blip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a:ea typeface="+mn-ea"/>
              <a:cs typeface="+mn-cs"/>
            </a:endParaRPr>
          </a:p>
        </p:txBody>
      </p:sp>
      <p:sp>
        <p:nvSpPr>
          <p:cNvPr id="2" name="Holder 2"/>
          <p:cNvSpPr>
            <a:spLocks noGrp="1"/>
          </p:cNvSpPr>
          <p:nvPr>
            <p:ph type="title"/>
          </p:nvPr>
        </p:nvSpPr>
        <p:spPr>
          <a:xfrm>
            <a:off x="882023" y="326812"/>
            <a:ext cx="6417733" cy="507831"/>
          </a:xfrm>
          <a:prstGeom prst="rect">
            <a:avLst/>
          </a:prstGeom>
        </p:spPr>
        <p:txBody>
          <a:bodyPr wrap="square" lIns="0" tIns="0" rIns="0" bIns="0">
            <a:spAutoFit/>
          </a:bodyPr>
          <a:lstStyle>
            <a:lvl1pPr>
              <a:defRPr sz="3300" b="0" i="0">
                <a:solidFill>
                  <a:srgbClr val="115F92"/>
                </a:solidFill>
                <a:latin typeface="Verdana"/>
                <a:cs typeface="Verdana"/>
              </a:defRPr>
            </a:lvl1pPr>
          </a:lstStyle>
          <a:p>
            <a:endParaRPr/>
          </a:p>
        </p:txBody>
      </p:sp>
      <p:sp>
        <p:nvSpPr>
          <p:cNvPr id="3" name="Holder 3"/>
          <p:cNvSpPr>
            <a:spLocks noGrp="1"/>
          </p:cNvSpPr>
          <p:nvPr>
            <p:ph type="body" idx="1"/>
          </p:nvPr>
        </p:nvSpPr>
        <p:spPr>
          <a:xfrm>
            <a:off x="762000" y="2330704"/>
            <a:ext cx="6336453" cy="184666"/>
          </a:xfrm>
          <a:prstGeom prst="rect">
            <a:avLst/>
          </a:prstGeom>
        </p:spPr>
        <p:txBody>
          <a:bodyPr wrap="square" lIns="0" tIns="0" rIns="0" bIns="0">
            <a:spAutoFit/>
          </a:bodyPr>
          <a:lstStyle>
            <a:lvl1pPr>
              <a:defRPr sz="1200" b="1" i="0">
                <a:solidFill>
                  <a:srgbClr val="CC7831"/>
                </a:solidFill>
                <a:latin typeface="Courier New"/>
                <a:cs typeface="Courier New"/>
              </a:defRPr>
            </a:lvl1pPr>
          </a:lstStyle>
          <a:p>
            <a:endParaRPr/>
          </a:p>
        </p:txBody>
      </p:sp>
      <p:sp>
        <p:nvSpPr>
          <p:cNvPr id="4" name="Holder 4"/>
          <p:cNvSpPr>
            <a:spLocks noGrp="1"/>
          </p:cNvSpPr>
          <p:nvPr>
            <p:ph type="ftr" sz="quarter" idx="5"/>
          </p:nvPr>
        </p:nvSpPr>
        <p:spPr>
          <a:xfrm>
            <a:off x="4145280" y="6377940"/>
            <a:ext cx="3901440" cy="369332"/>
          </a:xfrm>
          <a:prstGeom prst="rect">
            <a:avLst/>
          </a:prstGeom>
        </p:spPr>
        <p:txBody>
          <a:bodyPr wrap="square" lIns="0" tIns="0" rIns="0" bIns="0">
            <a:spAutoFit/>
          </a:bodyPr>
          <a:lstStyle>
            <a:lvl1pPr algn="ctr">
              <a:defRPr>
                <a:solidFill>
                  <a:schemeClr val="tx1">
                    <a:tint val="75000"/>
                  </a:schemeClr>
                </a:solidFill>
              </a:defRPr>
            </a:lvl1pPr>
          </a:lstStyle>
          <a:p>
            <a:pPr defTabSz="1219170"/>
            <a:endParaRPr lang="en-US" sz="2400">
              <a:solidFill>
                <a:prstClr val="black">
                  <a:tint val="75000"/>
                </a:prstClr>
              </a:solidFill>
            </a:endParaRPr>
          </a:p>
        </p:txBody>
      </p:sp>
      <p:sp>
        <p:nvSpPr>
          <p:cNvPr id="5" name="Holder 5"/>
          <p:cNvSpPr>
            <a:spLocks noGrp="1"/>
          </p:cNvSpPr>
          <p:nvPr>
            <p:ph type="dt" sz="half" idx="6"/>
          </p:nvPr>
        </p:nvSpPr>
        <p:spPr>
          <a:xfrm>
            <a:off x="609600" y="6377940"/>
            <a:ext cx="2804160" cy="369332"/>
          </a:xfrm>
          <a:prstGeom prst="rect">
            <a:avLst/>
          </a:prstGeom>
        </p:spPr>
        <p:txBody>
          <a:bodyPr wrap="square" lIns="0" tIns="0" rIns="0" bIns="0">
            <a:spAutoFit/>
          </a:bodyPr>
          <a:lstStyle>
            <a:lvl1pPr algn="l">
              <a:defRPr>
                <a:solidFill>
                  <a:schemeClr val="tx1">
                    <a:tint val="75000"/>
                  </a:schemeClr>
                </a:solidFill>
              </a:defRPr>
            </a:lvl1pPr>
          </a:lstStyle>
          <a:p>
            <a:pPr defTabSz="1219170"/>
            <a:fld id="{1D8BD707-D9CF-40AE-B4C6-C98DA3205C09}" type="datetimeFigureOut">
              <a:rPr lang="en-US" sz="2400" smtClean="0">
                <a:solidFill>
                  <a:prstClr val="black">
                    <a:tint val="75000"/>
                  </a:prstClr>
                </a:solidFill>
              </a:rPr>
              <a:pPr defTabSz="1219170"/>
              <a:t>5/5/2026</a:t>
            </a:fld>
            <a:endParaRPr lang="en-US" sz="2400">
              <a:solidFill>
                <a:prstClr val="black">
                  <a:tint val="75000"/>
                </a:prstClr>
              </a:solidFill>
            </a:endParaRPr>
          </a:p>
        </p:txBody>
      </p:sp>
      <p:sp>
        <p:nvSpPr>
          <p:cNvPr id="6" name="Holder 6"/>
          <p:cNvSpPr>
            <a:spLocks noGrp="1"/>
          </p:cNvSpPr>
          <p:nvPr>
            <p:ph type="sldNum" sz="quarter" idx="7"/>
          </p:nvPr>
        </p:nvSpPr>
        <p:spPr>
          <a:xfrm>
            <a:off x="8778240" y="6377940"/>
            <a:ext cx="2804160" cy="369332"/>
          </a:xfrm>
          <a:prstGeom prst="rect">
            <a:avLst/>
          </a:prstGeom>
        </p:spPr>
        <p:txBody>
          <a:bodyPr wrap="square" lIns="0" tIns="0" rIns="0" bIns="0">
            <a:spAutoFit/>
          </a:bodyPr>
          <a:lstStyle>
            <a:lvl1pPr algn="r">
              <a:defRPr>
                <a:solidFill>
                  <a:schemeClr val="tx1">
                    <a:tint val="75000"/>
                  </a:schemeClr>
                </a:solidFill>
              </a:defRPr>
            </a:lvl1pPr>
          </a:lstStyle>
          <a:p>
            <a:pPr defTabSz="1219170"/>
            <a:fld id="{B6F15528-21DE-4FAA-801E-634DDDAF4B2B}" type="slidenum">
              <a:rPr lang="en-US" sz="2400" smtClean="0">
                <a:solidFill>
                  <a:prstClr val="black">
                    <a:tint val="75000"/>
                  </a:prstClr>
                </a:solidFill>
              </a:rPr>
              <a:pPr defTabSz="1219170"/>
              <a:t>‹#›</a:t>
            </a:fld>
            <a:endParaRPr lang="en-US" sz="2400">
              <a:solidFill>
                <a:prstClr val="black">
                  <a:tint val="75000"/>
                </a:prstClr>
              </a:solidFill>
            </a:endParaRPr>
          </a:p>
        </p:txBody>
      </p:sp>
      <p:sp>
        <p:nvSpPr>
          <p:cNvPr id="8" name="TextBox 7">
            <a:extLst>
              <a:ext uri="{FF2B5EF4-FFF2-40B4-BE49-F238E27FC236}">
                <a16:creationId xmlns:a16="http://schemas.microsoft.com/office/drawing/2014/main" id="{2C7D3CC4-1C75-FF5F-BBC0-11C8C8204873}"/>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317295251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txStyles>
    <p:titleStyle>
      <a:lvl1pPr>
        <a:defRPr>
          <a:latin typeface="+mj-lt"/>
          <a:ea typeface="+mj-ea"/>
          <a:cs typeface="+mj-cs"/>
        </a:defRPr>
      </a:lvl1pPr>
    </p:titleStyle>
    <p:body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bodyStyle>
    <p:other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9BB27E-F3D7-418F-B27A-ED5F41CC244B}" type="datetimeFigureOut">
              <a:rPr lang="en-US" smtClean="0"/>
              <a:t>5/5/2026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F6350A-AF67-4123-8C78-15BF38D8BA2A}" type="slidenum">
              <a:rPr lang="en-US" smtClean="0"/>
              <a:t>‹#›</a:t>
            </a:fld>
            <a:endParaRPr lang="en-US"/>
          </a:p>
        </p:txBody>
      </p:sp>
      <p:sp>
        <p:nvSpPr>
          <p:cNvPr id="8" name="TextBox 7">
            <a:extLst>
              <a:ext uri="{FF2B5EF4-FFF2-40B4-BE49-F238E27FC236}">
                <a16:creationId xmlns:a16="http://schemas.microsoft.com/office/drawing/2014/main" id="{F64D9771-52F8-1C50-197E-D9E012853FBE}"/>
              </a:ext>
            </a:extLst>
          </p:cNvPr>
          <p:cNvSpPr txBox="1"/>
          <p:nvPr>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5787329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3.xml"/><Relationship Id="rId5" Type="http://schemas.openxmlformats.org/officeDocument/2006/relationships/image" Target="../media/image45.png"/><Relationship Id="rId4" Type="http://schemas.openxmlformats.org/officeDocument/2006/relationships/image" Target="../media/image39.png"/></Relationships>
</file>

<file path=ppt/slides/_rels/slide68.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49.png"/><Relationship Id="rId12" Type="http://schemas.openxmlformats.org/officeDocument/2006/relationships/image" Target="../media/image53.png"/><Relationship Id="rId2" Type="http://schemas.openxmlformats.org/officeDocument/2006/relationships/image" Target="../media/image43.png"/><Relationship Id="rId1" Type="http://schemas.openxmlformats.org/officeDocument/2006/relationships/slideLayout" Target="../slideLayouts/slideLayout23.xml"/><Relationship Id="rId6" Type="http://schemas.openxmlformats.org/officeDocument/2006/relationships/image" Target="../media/image48.png"/><Relationship Id="rId11" Type="http://schemas.openxmlformats.org/officeDocument/2006/relationships/image" Target="../media/image52.png"/><Relationship Id="rId5" Type="http://schemas.openxmlformats.org/officeDocument/2006/relationships/image" Target="../media/image47.png"/><Relationship Id="rId10" Type="http://schemas.openxmlformats.org/officeDocument/2006/relationships/image" Target="../media/image39.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5.png"/></Relationships>
</file>

<file path=ppt/slides/_rels/slide6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9.png"/><Relationship Id="rId1" Type="http://schemas.openxmlformats.org/officeDocument/2006/relationships/slideLayout" Target="../slideLayouts/slideLayout23.xml"/><Relationship Id="rId5" Type="http://schemas.openxmlformats.org/officeDocument/2006/relationships/image" Target="../media/image57.png"/><Relationship Id="rId4" Type="http://schemas.openxmlformats.org/officeDocument/2006/relationships/image" Target="../media/image46.png"/></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43.png"/><Relationship Id="rId1" Type="http://schemas.openxmlformats.org/officeDocument/2006/relationships/slideLayout" Target="../slideLayouts/slideLayout23.xml"/><Relationship Id="rId4" Type="http://schemas.openxmlformats.org/officeDocument/2006/relationships/image" Target="../media/image5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43.png"/><Relationship Id="rId1" Type="http://schemas.openxmlformats.org/officeDocument/2006/relationships/slideLayout" Target="../slideLayouts/slideLayout28.xml"/><Relationship Id="rId5" Type="http://schemas.openxmlformats.org/officeDocument/2006/relationships/image" Target="../media/image45.png"/><Relationship Id="rId4" Type="http://schemas.openxmlformats.org/officeDocument/2006/relationships/image" Target="../media/image39.png"/></Relationships>
</file>

<file path=ppt/slides/_rels/slide74.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7.png"/><Relationship Id="rId3" Type="http://schemas.openxmlformats.org/officeDocument/2006/relationships/image" Target="../media/image60.png"/><Relationship Id="rId7" Type="http://schemas.openxmlformats.org/officeDocument/2006/relationships/image" Target="../media/image49.png"/><Relationship Id="rId12" Type="http://schemas.openxmlformats.org/officeDocument/2006/relationships/image" Target="../media/image66.png"/><Relationship Id="rId2" Type="http://schemas.openxmlformats.org/officeDocument/2006/relationships/image" Target="../media/image43.png"/><Relationship Id="rId1" Type="http://schemas.openxmlformats.org/officeDocument/2006/relationships/slideLayout" Target="../slideLayouts/slideLayout28.xml"/><Relationship Id="rId6" Type="http://schemas.openxmlformats.org/officeDocument/2006/relationships/image" Target="../media/image62.png"/><Relationship Id="rId11" Type="http://schemas.openxmlformats.org/officeDocument/2006/relationships/image" Target="../media/image65.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39.png"/><Relationship Id="rId4" Type="http://schemas.openxmlformats.org/officeDocument/2006/relationships/image" Target="../media/image46.png"/><Relationship Id="rId9" Type="http://schemas.openxmlformats.org/officeDocument/2006/relationships/image" Target="../media/image64.png"/><Relationship Id="rId14" Type="http://schemas.openxmlformats.org/officeDocument/2006/relationships/image" Target="../media/image68.png"/></Relationships>
</file>

<file path=ppt/slides/_rels/slide7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9.png"/><Relationship Id="rId1" Type="http://schemas.openxmlformats.org/officeDocument/2006/relationships/slideLayout" Target="../slideLayouts/slideLayout29.xml"/><Relationship Id="rId5" Type="http://schemas.openxmlformats.org/officeDocument/2006/relationships/image" Target="../media/image70.png"/><Relationship Id="rId4" Type="http://schemas.openxmlformats.org/officeDocument/2006/relationships/image" Target="../media/image39.png"/></Relationships>
</file>

<file path=ppt/slides/_rels/slide7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56.png"/><Relationship Id="rId7" Type="http://schemas.openxmlformats.org/officeDocument/2006/relationships/image" Target="../media/image72.png"/><Relationship Id="rId2" Type="http://schemas.openxmlformats.org/officeDocument/2006/relationships/image" Target="../media/image49.png"/><Relationship Id="rId1" Type="http://schemas.openxmlformats.org/officeDocument/2006/relationships/slideLayout" Target="../slideLayouts/slideLayout29.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39.png"/><Relationship Id="rId9" Type="http://schemas.openxmlformats.org/officeDocument/2006/relationships/image" Target="../media/image74.png"/></Relationships>
</file>

<file path=ppt/slides/_rels/slide7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43.png"/><Relationship Id="rId1" Type="http://schemas.openxmlformats.org/officeDocument/2006/relationships/slideLayout" Target="../slideLayouts/slideLayout28.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78.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56.png"/><Relationship Id="rId7" Type="http://schemas.openxmlformats.org/officeDocument/2006/relationships/image" Target="../media/image37.png"/><Relationship Id="rId2" Type="http://schemas.openxmlformats.org/officeDocument/2006/relationships/image" Target="../media/image49.png"/><Relationship Id="rId1" Type="http://schemas.openxmlformats.org/officeDocument/2006/relationships/slideLayout" Target="../slideLayouts/slideLayout29.xml"/><Relationship Id="rId6" Type="http://schemas.openxmlformats.org/officeDocument/2006/relationships/image" Target="../media/image79.png"/><Relationship Id="rId5" Type="http://schemas.openxmlformats.org/officeDocument/2006/relationships/image" Target="../media/image70.png"/><Relationship Id="rId10" Type="http://schemas.openxmlformats.org/officeDocument/2006/relationships/image" Target="../media/image82.png"/><Relationship Id="rId4" Type="http://schemas.openxmlformats.org/officeDocument/2006/relationships/image" Target="../media/image39.png"/><Relationship Id="rId9" Type="http://schemas.openxmlformats.org/officeDocument/2006/relationships/image" Target="../media/image81.png"/></Relationships>
</file>

<file path=ppt/slides/_rels/slide7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43.png"/><Relationship Id="rId1" Type="http://schemas.openxmlformats.org/officeDocument/2006/relationships/slideLayout" Target="../slideLayouts/slideLayout28.xml"/><Relationship Id="rId4" Type="http://schemas.openxmlformats.org/officeDocument/2006/relationships/image" Target="../media/image8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120.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image" Target="../media/image102.png"/><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s>
</file>

<file path=ppt/slides/_rels/slide12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 Id="rId5" Type="http://schemas.openxmlformats.org/officeDocument/2006/relationships/image" Target="../media/image117.png"/><Relationship Id="rId4" Type="http://schemas.openxmlformats.org/officeDocument/2006/relationships/image" Target="../media/image116.png"/></Relationships>
</file>

<file path=ppt/slides/_rels/slide12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5.png"/><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4.xml"/></Relationships>
</file>

<file path=ppt/slides/_rels/slide153.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4.xml"/></Relationships>
</file>

<file path=ppt/slides/_rels/slide156.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4.xml"/></Relationships>
</file>

<file path=ppt/slides/_rels/slide15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2.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135.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775855"/>
            <a:ext cx="9144000" cy="794327"/>
          </a:xfrm>
        </p:spPr>
        <p:txBody>
          <a:bodyPr>
            <a:normAutofit fontScale="90000"/>
          </a:bodyPr>
          <a:lstStyle/>
          <a:p>
            <a:pPr algn="l"/>
            <a:r>
              <a:rPr lang="en-US" sz="4000" b="1" dirty="0"/>
              <a:t>What is Container </a:t>
            </a:r>
            <a:r>
              <a:rPr lang="en-US" dirty="0"/>
              <a:t>?</a:t>
            </a:r>
          </a:p>
        </p:txBody>
      </p:sp>
      <p:sp>
        <p:nvSpPr>
          <p:cNvPr id="3" name="Subtitle 2"/>
          <p:cNvSpPr>
            <a:spLocks noGrp="1"/>
          </p:cNvSpPr>
          <p:nvPr>
            <p:ph type="subTitle" idx="1"/>
          </p:nvPr>
        </p:nvSpPr>
        <p:spPr>
          <a:xfrm>
            <a:off x="1524000" y="1681018"/>
            <a:ext cx="9144000" cy="3576782"/>
          </a:xfrm>
        </p:spPr>
        <p:txBody>
          <a:bodyPr/>
          <a:lstStyle/>
          <a:p>
            <a:pPr algn="l"/>
            <a:endParaRPr lang="en-US" dirty="0"/>
          </a:p>
          <a:p>
            <a:pPr algn="l"/>
            <a:r>
              <a:rPr lang="en-US" dirty="0"/>
              <a:t>A container is an “instantiation” of an image, or in other words an</a:t>
            </a:r>
          </a:p>
          <a:p>
            <a:pPr algn="l"/>
            <a:r>
              <a:rPr lang="en-US" dirty="0"/>
              <a:t>image that is put into action.</a:t>
            </a:r>
          </a:p>
          <a:p>
            <a:pPr algn="l"/>
            <a:endParaRPr lang="en-US" dirty="0"/>
          </a:p>
          <a:p>
            <a:pPr algn="l"/>
            <a:r>
              <a:rPr lang="en-US" dirty="0"/>
              <a:t>Images are put into action with container engines. Once it is put into</a:t>
            </a:r>
          </a:p>
          <a:p>
            <a:pPr algn="l"/>
            <a:r>
              <a:rPr lang="en-US" dirty="0"/>
              <a:t>action, it can do what it was meant to do</a:t>
            </a:r>
          </a:p>
        </p:txBody>
      </p:sp>
    </p:spTree>
    <p:extLst>
      <p:ext uri="{BB962C8B-B14F-4D97-AF65-F5344CB8AC3E}">
        <p14:creationId xmlns:p14="http://schemas.microsoft.com/office/powerpoint/2010/main" val="1903975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C322C"/>
                </a:solidFill>
                <a:latin typeface="Poppins-Medium"/>
              </a:rPr>
              <a:t>What is container image?</a:t>
            </a:r>
            <a:endParaRPr lang="en-US" b="1" dirty="0"/>
          </a:p>
        </p:txBody>
      </p:sp>
      <p:sp>
        <p:nvSpPr>
          <p:cNvPr id="3" name="Content Placeholder 2"/>
          <p:cNvSpPr>
            <a:spLocks noGrp="1"/>
          </p:cNvSpPr>
          <p:nvPr>
            <p:ph idx="1"/>
          </p:nvPr>
        </p:nvSpPr>
        <p:spPr/>
        <p:txBody>
          <a:bodyPr/>
          <a:lstStyle/>
          <a:p>
            <a:endParaRPr lang="en-US" dirty="0"/>
          </a:p>
          <a:p>
            <a:r>
              <a:rPr lang="en-US" dirty="0"/>
              <a:t>A container image is like the skeleton of an application with just enough of an operating system so that it can work.</a:t>
            </a:r>
          </a:p>
          <a:p>
            <a:endParaRPr lang="en-US" dirty="0"/>
          </a:p>
          <a:p>
            <a:r>
              <a:rPr lang="en-US" dirty="0"/>
              <a:t>It can be thought of as the root </a:t>
            </a:r>
            <a:r>
              <a:rPr lang="en-US" dirty="0" err="1"/>
              <a:t>filesystem</a:t>
            </a:r>
            <a:r>
              <a:rPr lang="en-US" dirty="0"/>
              <a:t> of the application.</a:t>
            </a:r>
          </a:p>
        </p:txBody>
      </p:sp>
    </p:spTree>
    <p:extLst>
      <p:ext uri="{BB962C8B-B14F-4D97-AF65-F5344CB8AC3E}">
        <p14:creationId xmlns:p14="http://schemas.microsoft.com/office/powerpoint/2010/main" val="378166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073" y="365125"/>
            <a:ext cx="10725727" cy="1325563"/>
          </a:xfrm>
        </p:spPr>
        <p:txBody>
          <a:bodyPr/>
          <a:lstStyle/>
          <a:p>
            <a:r>
              <a:rPr lang="en-US" b="1" dirty="0"/>
              <a:t>Container vs Image in Practice</a:t>
            </a:r>
          </a:p>
        </p:txBody>
      </p:sp>
      <p:sp>
        <p:nvSpPr>
          <p:cNvPr id="5" name="Content Placeholder 4"/>
          <p:cNvSpPr>
            <a:spLocks noGrp="1"/>
          </p:cNvSpPr>
          <p:nvPr>
            <p:ph idx="1"/>
          </p:nvPr>
        </p:nvSpPr>
        <p:spPr>
          <a:xfrm>
            <a:off x="838200" y="1825625"/>
            <a:ext cx="10515600" cy="4944630"/>
          </a:xfrm>
        </p:spPr>
        <p:txBody>
          <a:bodyPr/>
          <a:lstStyle/>
          <a:p>
            <a:r>
              <a:rPr lang="en-US" dirty="0"/>
              <a:t>An image is a collection of one or more RO layers</a:t>
            </a:r>
          </a:p>
          <a:p>
            <a:r>
              <a:rPr lang="en-US" dirty="0"/>
              <a:t>A container is an instantiation of an image</a:t>
            </a:r>
          </a:p>
          <a:p>
            <a:r>
              <a:rPr lang="en-US" dirty="0"/>
              <a:t>A container adds a RW layer on top of the RO image layer(s) where all changes are captured</a:t>
            </a:r>
          </a:p>
          <a:p>
            <a:pPr marL="0" indent="0">
              <a:buNone/>
            </a:pPr>
            <a:endParaRPr lang="en-US" dirty="0"/>
          </a:p>
          <a:p>
            <a:pPr marL="0" indent="0">
              <a:buNone/>
            </a:pPr>
            <a:endParaRPr lang="en-US" dirty="0"/>
          </a:p>
        </p:txBody>
      </p:sp>
      <p:pic>
        <p:nvPicPr>
          <p:cNvPr id="6" name="Picture 5"/>
          <p:cNvPicPr>
            <a:picLocks noChangeAspect="1"/>
          </p:cNvPicPr>
          <p:nvPr/>
        </p:nvPicPr>
        <p:blipFill>
          <a:blip r:embed="rId2"/>
          <a:stretch>
            <a:fillRect/>
          </a:stretch>
        </p:blipFill>
        <p:spPr>
          <a:xfrm>
            <a:off x="5490874" y="3722254"/>
            <a:ext cx="4558290" cy="2733963"/>
          </a:xfrm>
          <a:prstGeom prst="rect">
            <a:avLst/>
          </a:prstGeom>
        </p:spPr>
      </p:pic>
    </p:spTree>
    <p:extLst>
      <p:ext uri="{BB962C8B-B14F-4D97-AF65-F5344CB8AC3E}">
        <p14:creationId xmlns:p14="http://schemas.microsoft.com/office/powerpoint/2010/main" val="1978152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 of Disk Space</a:t>
            </a:r>
          </a:p>
        </p:txBody>
      </p:sp>
      <p:sp>
        <p:nvSpPr>
          <p:cNvPr id="3" name="Content Placeholder 2"/>
          <p:cNvSpPr>
            <a:spLocks noGrp="1"/>
          </p:cNvSpPr>
          <p:nvPr>
            <p:ph idx="1"/>
          </p:nvPr>
        </p:nvSpPr>
        <p:spPr>
          <a:xfrm>
            <a:off x="838200" y="1825624"/>
            <a:ext cx="10515600" cy="4879975"/>
          </a:xfrm>
        </p:spPr>
        <p:txBody>
          <a:bodyPr/>
          <a:lstStyle/>
          <a:p>
            <a:pPr marL="0" indent="0">
              <a:buNone/>
            </a:pPr>
            <a:r>
              <a:rPr lang="en-US" dirty="0"/>
              <a:t>A single image can be used by multiple containers simultaneously.</a:t>
            </a:r>
          </a:p>
          <a:p>
            <a:pPr marL="0" indent="0">
              <a:buNone/>
            </a:pPr>
            <a:r>
              <a:rPr lang="en-US" dirty="0"/>
              <a:t>The only additional disk space used is in the RW layers or each of the containers.</a:t>
            </a:r>
          </a:p>
          <a:p>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4608945" y="3278908"/>
            <a:ext cx="5177126" cy="3278909"/>
          </a:xfrm>
          <a:prstGeom prst="rect">
            <a:avLst/>
          </a:prstGeom>
        </p:spPr>
      </p:pic>
    </p:spTree>
    <p:extLst>
      <p:ext uri="{BB962C8B-B14F-4D97-AF65-F5344CB8AC3E}">
        <p14:creationId xmlns:p14="http://schemas.microsoft.com/office/powerpoint/2010/main" val="491939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Image Registries</a:t>
            </a:r>
          </a:p>
        </p:txBody>
      </p:sp>
      <p:sp>
        <p:nvSpPr>
          <p:cNvPr id="3" name="Content Placeholder 2"/>
          <p:cNvSpPr>
            <a:spLocks noGrp="1"/>
          </p:cNvSpPr>
          <p:nvPr>
            <p:ph sz="half" idx="1"/>
          </p:nvPr>
        </p:nvSpPr>
        <p:spPr/>
        <p:txBody>
          <a:bodyPr/>
          <a:lstStyle/>
          <a:p>
            <a:r>
              <a:rPr lang="en-US" dirty="0"/>
              <a:t>Images are stored in repositories called Image Registries. </a:t>
            </a:r>
          </a:p>
          <a:p>
            <a:r>
              <a:rPr lang="en-US" dirty="0"/>
              <a:t>Images can be downloaded (pulled) locally when needed to launch containers.</a:t>
            </a:r>
          </a:p>
        </p:txBody>
      </p:sp>
      <p:pic>
        <p:nvPicPr>
          <p:cNvPr id="4" name="Picture 3"/>
          <p:cNvPicPr>
            <a:picLocks noChangeAspect="1"/>
          </p:cNvPicPr>
          <p:nvPr/>
        </p:nvPicPr>
        <p:blipFill>
          <a:blip r:embed="rId2"/>
          <a:stretch>
            <a:fillRect/>
          </a:stretch>
        </p:blipFill>
        <p:spPr>
          <a:xfrm>
            <a:off x="6362298" y="1501541"/>
            <a:ext cx="5188017" cy="5188016"/>
          </a:xfrm>
          <a:prstGeom prst="rect">
            <a:avLst/>
          </a:prstGeom>
        </p:spPr>
      </p:pic>
    </p:spTree>
    <p:extLst>
      <p:ext uri="{BB962C8B-B14F-4D97-AF65-F5344CB8AC3E}">
        <p14:creationId xmlns:p14="http://schemas.microsoft.com/office/powerpoint/2010/main" val="4056347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Container Engine</a:t>
            </a:r>
          </a:p>
        </p:txBody>
      </p:sp>
      <p:sp>
        <p:nvSpPr>
          <p:cNvPr id="6" name="Content Placeholder 5"/>
          <p:cNvSpPr>
            <a:spLocks noGrp="1"/>
          </p:cNvSpPr>
          <p:nvPr>
            <p:ph idx="1"/>
          </p:nvPr>
        </p:nvSpPr>
        <p:spPr/>
        <p:txBody>
          <a:bodyPr/>
          <a:lstStyle/>
          <a:p>
            <a:r>
              <a:rPr lang="en-US" dirty="0"/>
              <a:t>A Container Engine allows a container to run as an independent application directly in an operating system.</a:t>
            </a:r>
          </a:p>
          <a:p>
            <a:pPr marL="0" indent="0">
              <a:buNone/>
            </a:pPr>
            <a:endParaRPr lang="en-US" dirty="0"/>
          </a:p>
          <a:p>
            <a:pPr marL="0" indent="0">
              <a:buNone/>
            </a:pPr>
            <a:r>
              <a:rPr lang="en-US" dirty="0"/>
              <a:t>Container engines also:</a:t>
            </a:r>
          </a:p>
          <a:p>
            <a:pPr marL="0" indent="0">
              <a:buNone/>
            </a:pPr>
            <a:r>
              <a:rPr lang="en-US" dirty="0"/>
              <a:t>Provide a network interface Separate containers from each other</a:t>
            </a:r>
          </a:p>
          <a:p>
            <a:pPr marL="0" indent="0">
              <a:buNone/>
            </a:pPr>
            <a:r>
              <a:rPr lang="en-US" dirty="0"/>
              <a:t>Provide a way for containers to access external storage</a:t>
            </a:r>
          </a:p>
        </p:txBody>
      </p:sp>
    </p:spTree>
    <p:extLst>
      <p:ext uri="{BB962C8B-B14F-4D97-AF65-F5344CB8AC3E}">
        <p14:creationId xmlns:p14="http://schemas.microsoft.com/office/powerpoint/2010/main" val="1797575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bject 8"/>
          <p:cNvPicPr/>
          <p:nvPr/>
        </p:nvPicPr>
        <p:blipFill>
          <a:blip r:embed="rId2" cstate="print"/>
          <a:stretch>
            <a:fillRect/>
          </a:stretch>
        </p:blipFill>
        <p:spPr>
          <a:xfrm>
            <a:off x="5783796" y="2932436"/>
            <a:ext cx="72220" cy="85453"/>
          </a:xfrm>
          <a:prstGeom prst="rect">
            <a:avLst/>
          </a:prstGeom>
        </p:spPr>
      </p:pic>
      <p:pic>
        <p:nvPicPr>
          <p:cNvPr id="9" name="object 9"/>
          <p:cNvPicPr/>
          <p:nvPr/>
        </p:nvPicPr>
        <p:blipFill>
          <a:blip r:embed="rId3" cstate="print"/>
          <a:stretch>
            <a:fillRect/>
          </a:stretch>
        </p:blipFill>
        <p:spPr>
          <a:xfrm>
            <a:off x="6617443" y="2294288"/>
            <a:ext cx="71438" cy="86388"/>
          </a:xfrm>
          <a:prstGeom prst="rect">
            <a:avLst/>
          </a:prstGeom>
        </p:spPr>
      </p:pic>
      <p:graphicFrame>
        <p:nvGraphicFramePr>
          <p:cNvPr id="10" name="object 10"/>
          <p:cNvGraphicFramePr>
            <a:graphicFrameLocks noGrp="1"/>
          </p:cNvGraphicFramePr>
          <p:nvPr>
            <p:extLst>
              <p:ext uri="{D42A27DB-BD31-4B8C-83A1-F6EECF244321}">
                <p14:modId xmlns:p14="http://schemas.microsoft.com/office/powerpoint/2010/main" val="1538743884"/>
              </p:ext>
            </p:extLst>
          </p:nvPr>
        </p:nvGraphicFramePr>
        <p:xfrm>
          <a:off x="1653307" y="2438398"/>
          <a:ext cx="7546110" cy="2946402"/>
        </p:xfrm>
        <a:graphic>
          <a:graphicData uri="http://schemas.openxmlformats.org/drawingml/2006/table">
            <a:tbl>
              <a:tblPr firstRow="1" bandRow="1">
                <a:tableStyleId>{2D5ABB26-0587-4C30-8999-92F81FD0307C}</a:tableStyleId>
              </a:tblPr>
              <a:tblGrid>
                <a:gridCol w="1756685">
                  <a:extLst>
                    <a:ext uri="{9D8B030D-6E8A-4147-A177-3AD203B41FA5}">
                      <a16:colId xmlns:a16="http://schemas.microsoft.com/office/drawing/2014/main" val="20000"/>
                    </a:ext>
                  </a:extLst>
                </a:gridCol>
                <a:gridCol w="1028657">
                  <a:extLst>
                    <a:ext uri="{9D8B030D-6E8A-4147-A177-3AD203B41FA5}">
                      <a16:colId xmlns:a16="http://schemas.microsoft.com/office/drawing/2014/main" val="20001"/>
                    </a:ext>
                  </a:extLst>
                </a:gridCol>
                <a:gridCol w="496943">
                  <a:extLst>
                    <a:ext uri="{9D8B030D-6E8A-4147-A177-3AD203B41FA5}">
                      <a16:colId xmlns:a16="http://schemas.microsoft.com/office/drawing/2014/main" val="20002"/>
                    </a:ext>
                  </a:extLst>
                </a:gridCol>
                <a:gridCol w="433002">
                  <a:extLst>
                    <a:ext uri="{9D8B030D-6E8A-4147-A177-3AD203B41FA5}">
                      <a16:colId xmlns:a16="http://schemas.microsoft.com/office/drawing/2014/main" val="20003"/>
                    </a:ext>
                  </a:extLst>
                </a:gridCol>
                <a:gridCol w="1945138">
                  <a:extLst>
                    <a:ext uri="{9D8B030D-6E8A-4147-A177-3AD203B41FA5}">
                      <a16:colId xmlns:a16="http://schemas.microsoft.com/office/drawing/2014/main" val="20004"/>
                    </a:ext>
                  </a:extLst>
                </a:gridCol>
                <a:gridCol w="1885685">
                  <a:extLst>
                    <a:ext uri="{9D8B030D-6E8A-4147-A177-3AD203B41FA5}">
                      <a16:colId xmlns:a16="http://schemas.microsoft.com/office/drawing/2014/main" val="20005"/>
                    </a:ext>
                  </a:extLst>
                </a:gridCol>
              </a:tblGrid>
              <a:tr h="335092">
                <a:tc rowSpan="3">
                  <a:txBody>
                    <a:bodyPr/>
                    <a:lstStyle/>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spcBef>
                          <a:spcPts val="35"/>
                        </a:spcBef>
                      </a:pPr>
                      <a:endParaRPr sz="600" dirty="0">
                        <a:latin typeface="Times New Roman"/>
                        <a:cs typeface="Times New Roman"/>
                      </a:endParaRPr>
                    </a:p>
                    <a:p>
                      <a:pPr marR="12700" algn="ctr">
                        <a:lnSpc>
                          <a:spcPct val="100000"/>
                        </a:lnSpc>
                        <a:spcBef>
                          <a:spcPts val="5"/>
                        </a:spcBef>
                      </a:pPr>
                      <a:r>
                        <a:rPr sz="500" spc="10" dirty="0">
                          <a:solidFill>
                            <a:srgbClr val="0D5671"/>
                          </a:solidFill>
                          <a:latin typeface="Calibri"/>
                          <a:cs typeface="Calibri"/>
                        </a:rPr>
                        <a:t>Host</a:t>
                      </a:r>
                      <a:endParaRPr sz="500" dirty="0">
                        <a:latin typeface="Calibri"/>
                        <a:cs typeface="Calibri"/>
                      </a:endParaRPr>
                    </a:p>
                  </a:txBody>
                  <a:tcPr marL="0" marR="0" marT="0" marB="0">
                    <a:lnL w="9525">
                      <a:solidFill>
                        <a:srgbClr val="1CACE3"/>
                      </a:solidFill>
                      <a:prstDash val="solid"/>
                    </a:lnL>
                    <a:lnR w="9525">
                      <a:solidFill>
                        <a:srgbClr val="1CACE3"/>
                      </a:solidFill>
                      <a:prstDash val="solid"/>
                    </a:lnR>
                    <a:lnT w="9525">
                      <a:solidFill>
                        <a:srgbClr val="1CACE3"/>
                      </a:solidFill>
                      <a:prstDash val="solid"/>
                    </a:lnT>
                    <a:lnB w="9525">
                      <a:solidFill>
                        <a:srgbClr val="1CACE3"/>
                      </a:solidFill>
                      <a:prstDash val="solid"/>
                    </a:lnB>
                  </a:tcPr>
                </a:tc>
                <a:tc rowSpan="2">
                  <a:txBody>
                    <a:bodyPr/>
                    <a:lstStyle/>
                    <a:p>
                      <a:pPr>
                        <a:lnSpc>
                          <a:spcPct val="100000"/>
                        </a:lnSpc>
                      </a:pPr>
                      <a:endParaRPr sz="800" dirty="0">
                        <a:latin typeface="Times New Roman"/>
                        <a:cs typeface="Times New Roman"/>
                      </a:endParaRPr>
                    </a:p>
                  </a:txBody>
                  <a:tcPr marL="0" marR="0" marT="0" marB="0">
                    <a:lnL w="9525">
                      <a:solidFill>
                        <a:srgbClr val="1CACE3"/>
                      </a:solidFill>
                      <a:prstDash val="solid"/>
                    </a:lnL>
                    <a:lnT w="9525">
                      <a:solidFill>
                        <a:srgbClr val="1CACE3"/>
                      </a:solidFill>
                      <a:prstDash val="solid"/>
                    </a:lnT>
                  </a:tcPr>
                </a:tc>
                <a:tc gridSpan="2">
                  <a:txBody>
                    <a:bodyPr/>
                    <a:lstStyle/>
                    <a:p>
                      <a:pPr>
                        <a:lnSpc>
                          <a:spcPct val="100000"/>
                        </a:lnSpc>
                      </a:pPr>
                      <a:endParaRPr sz="500">
                        <a:latin typeface="Times New Roman"/>
                        <a:cs typeface="Times New Roman"/>
                      </a:endParaRPr>
                    </a:p>
                  </a:txBody>
                  <a:tcPr marL="0" marR="0" marT="0" marB="0">
                    <a:lnR w="9525">
                      <a:solidFill>
                        <a:srgbClr val="1CACE3"/>
                      </a:solidFill>
                      <a:prstDash val="solid"/>
                    </a:lnR>
                    <a:lnT w="9525">
                      <a:solidFill>
                        <a:srgbClr val="1CACE3"/>
                      </a:solidFill>
                      <a:prstDash val="solid"/>
                    </a:lnT>
                    <a:lnB w="6350">
                      <a:solidFill>
                        <a:srgbClr val="1CACE3"/>
                      </a:solidFill>
                      <a:prstDash val="solid"/>
                    </a:lnB>
                  </a:tcPr>
                </a:tc>
                <a:tc hMerge="1">
                  <a:txBody>
                    <a:bodyPr/>
                    <a:lstStyle/>
                    <a:p>
                      <a:endParaRPr/>
                    </a:p>
                  </a:txBody>
                  <a:tcPr marL="0" marR="0" marT="0" marB="0"/>
                </a:tc>
                <a:tc rowSpan="3">
                  <a:txBody>
                    <a:bodyPr/>
                    <a:lstStyle/>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spcBef>
                          <a:spcPts val="35"/>
                        </a:spcBef>
                      </a:pPr>
                      <a:endParaRPr sz="600" dirty="0">
                        <a:latin typeface="Times New Roman"/>
                        <a:cs typeface="Times New Roman"/>
                      </a:endParaRPr>
                    </a:p>
                    <a:p>
                      <a:pPr marL="1905" algn="ctr">
                        <a:lnSpc>
                          <a:spcPct val="100000"/>
                        </a:lnSpc>
                        <a:spcBef>
                          <a:spcPts val="5"/>
                        </a:spcBef>
                      </a:pPr>
                      <a:r>
                        <a:rPr sz="500" spc="10" dirty="0">
                          <a:solidFill>
                            <a:srgbClr val="0D5671"/>
                          </a:solidFill>
                          <a:latin typeface="Calibri"/>
                          <a:cs typeface="Calibri"/>
                        </a:rPr>
                        <a:t>Host</a:t>
                      </a:r>
                      <a:endParaRPr sz="500" dirty="0">
                        <a:latin typeface="Calibri"/>
                        <a:cs typeface="Calibri"/>
                      </a:endParaRPr>
                    </a:p>
                  </a:txBody>
                  <a:tcPr marL="0" marR="0" marT="0" marB="0">
                    <a:lnL w="9525">
                      <a:solidFill>
                        <a:srgbClr val="1CACE3"/>
                      </a:solidFill>
                      <a:prstDash val="solid"/>
                    </a:lnL>
                    <a:lnR w="9525">
                      <a:solidFill>
                        <a:srgbClr val="1CACE3"/>
                      </a:solidFill>
                      <a:prstDash val="solid"/>
                    </a:lnR>
                    <a:lnT w="9525">
                      <a:solidFill>
                        <a:srgbClr val="1CACE3"/>
                      </a:solidFill>
                      <a:prstDash val="solid"/>
                    </a:lnT>
                    <a:lnB w="9525">
                      <a:solidFill>
                        <a:srgbClr val="1CACE3"/>
                      </a:solidFill>
                      <a:prstDash val="solid"/>
                    </a:lnB>
                  </a:tcPr>
                </a:tc>
                <a:tc rowSpan="3">
                  <a:txBody>
                    <a:bodyPr/>
                    <a:lstStyle/>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pPr>
                      <a:endParaRPr sz="500">
                        <a:latin typeface="Times New Roman"/>
                        <a:cs typeface="Times New Roman"/>
                      </a:endParaRPr>
                    </a:p>
                    <a:p>
                      <a:pPr>
                        <a:lnSpc>
                          <a:spcPct val="100000"/>
                        </a:lnSpc>
                        <a:spcBef>
                          <a:spcPts val="35"/>
                        </a:spcBef>
                      </a:pPr>
                      <a:endParaRPr sz="600">
                        <a:latin typeface="Times New Roman"/>
                        <a:cs typeface="Times New Roman"/>
                      </a:endParaRPr>
                    </a:p>
                    <a:p>
                      <a:pPr marL="10795" algn="ctr">
                        <a:lnSpc>
                          <a:spcPct val="100000"/>
                        </a:lnSpc>
                        <a:spcBef>
                          <a:spcPts val="5"/>
                        </a:spcBef>
                      </a:pPr>
                      <a:r>
                        <a:rPr sz="500" spc="10" dirty="0">
                          <a:solidFill>
                            <a:srgbClr val="0D5671"/>
                          </a:solidFill>
                          <a:latin typeface="Calibri"/>
                          <a:cs typeface="Calibri"/>
                        </a:rPr>
                        <a:t>Host</a:t>
                      </a:r>
                      <a:endParaRPr sz="500">
                        <a:latin typeface="Calibri"/>
                        <a:cs typeface="Calibri"/>
                      </a:endParaRPr>
                    </a:p>
                  </a:txBody>
                  <a:tcPr marL="0" marR="0" marT="0" marB="0">
                    <a:lnL w="9525">
                      <a:solidFill>
                        <a:srgbClr val="1CACE3"/>
                      </a:solidFill>
                      <a:prstDash val="solid"/>
                    </a:lnL>
                    <a:lnR w="9525">
                      <a:solidFill>
                        <a:srgbClr val="1CACE3"/>
                      </a:solidFill>
                      <a:prstDash val="solid"/>
                    </a:lnR>
                    <a:lnT w="9525">
                      <a:solidFill>
                        <a:srgbClr val="1CACE3"/>
                      </a:solidFill>
                      <a:prstDash val="solid"/>
                    </a:lnT>
                    <a:lnB w="9525">
                      <a:solidFill>
                        <a:srgbClr val="1CACE3"/>
                      </a:solidFill>
                      <a:prstDash val="solid"/>
                    </a:lnB>
                  </a:tcPr>
                </a:tc>
                <a:extLst>
                  <a:ext uri="{0D108BD9-81ED-4DB2-BD59-A6C34878D82A}">
                    <a16:rowId xmlns:a16="http://schemas.microsoft.com/office/drawing/2014/main" val="10000"/>
                  </a:ext>
                </a:extLst>
              </a:tr>
              <a:tr h="1022785">
                <a:tc vMerge="1">
                  <a:txBody>
                    <a:bodyPr/>
                    <a:lstStyle/>
                    <a:p>
                      <a:endParaRPr/>
                    </a:p>
                  </a:txBody>
                  <a:tcPr marL="0" marR="0" marT="0" marB="0">
                    <a:lnL w="9525">
                      <a:solidFill>
                        <a:srgbClr val="1CACE3"/>
                      </a:solidFill>
                      <a:prstDash val="solid"/>
                    </a:lnL>
                    <a:lnR w="9525">
                      <a:solidFill>
                        <a:srgbClr val="1CACE3"/>
                      </a:solidFill>
                      <a:prstDash val="solid"/>
                    </a:lnR>
                    <a:lnT w="9525">
                      <a:solidFill>
                        <a:srgbClr val="1CACE3"/>
                      </a:solidFill>
                      <a:prstDash val="solid"/>
                    </a:lnT>
                    <a:lnB w="9525">
                      <a:solidFill>
                        <a:srgbClr val="1CACE3"/>
                      </a:solidFill>
                      <a:prstDash val="solid"/>
                    </a:lnB>
                  </a:tcPr>
                </a:tc>
                <a:tc vMerge="1">
                  <a:txBody>
                    <a:bodyPr/>
                    <a:lstStyle/>
                    <a:p>
                      <a:endParaRPr/>
                    </a:p>
                  </a:txBody>
                  <a:tcPr marL="0" marR="0" marT="0" marB="0">
                    <a:lnL w="9525">
                      <a:solidFill>
                        <a:srgbClr val="1CACE3"/>
                      </a:solidFill>
                      <a:prstDash val="solid"/>
                    </a:lnL>
                    <a:lnT w="9525">
                      <a:solidFill>
                        <a:srgbClr val="1CACE3"/>
                      </a:solidFill>
                      <a:prstDash val="solid"/>
                    </a:lnT>
                  </a:tcPr>
                </a:tc>
                <a:tc>
                  <a:txBody>
                    <a:bodyPr/>
                    <a:lstStyle/>
                    <a:p>
                      <a:pPr>
                        <a:lnSpc>
                          <a:spcPct val="100000"/>
                        </a:lnSpc>
                      </a:pPr>
                      <a:endParaRPr sz="800" dirty="0">
                        <a:latin typeface="Times New Roman"/>
                        <a:cs typeface="Times New Roman"/>
                      </a:endParaRPr>
                    </a:p>
                  </a:txBody>
                  <a:tcPr marL="0" marR="0" marT="0" marB="0">
                    <a:lnR w="6350">
                      <a:solidFill>
                        <a:srgbClr val="1CACE3"/>
                      </a:solidFill>
                      <a:prstDash val="solid"/>
                    </a:lnR>
                    <a:lnT w="6350">
                      <a:solidFill>
                        <a:srgbClr val="1CACE3"/>
                      </a:solidFill>
                      <a:prstDash val="solid"/>
                    </a:lnT>
                    <a:lnB w="6350">
                      <a:solidFill>
                        <a:srgbClr val="1CACE3"/>
                      </a:solidFill>
                      <a:prstDash val="solid"/>
                    </a:lnB>
                  </a:tcPr>
                </a:tc>
                <a:tc>
                  <a:txBody>
                    <a:bodyPr/>
                    <a:lstStyle/>
                    <a:p>
                      <a:pPr>
                        <a:lnSpc>
                          <a:spcPct val="100000"/>
                        </a:lnSpc>
                      </a:pPr>
                      <a:endParaRPr sz="800" dirty="0">
                        <a:latin typeface="Times New Roman"/>
                        <a:cs typeface="Times New Roman"/>
                      </a:endParaRPr>
                    </a:p>
                  </a:txBody>
                  <a:tcPr marL="0" marR="0" marT="0" marB="0">
                    <a:lnL w="6350">
                      <a:solidFill>
                        <a:srgbClr val="1CACE3"/>
                      </a:solidFill>
                      <a:prstDash val="solid"/>
                    </a:lnL>
                    <a:lnR w="9525">
                      <a:solidFill>
                        <a:srgbClr val="1CACE3"/>
                      </a:solidFill>
                      <a:prstDash val="solid"/>
                    </a:lnR>
                    <a:lnT w="6350">
                      <a:solidFill>
                        <a:srgbClr val="1CACE3"/>
                      </a:solidFill>
                      <a:prstDash val="solid"/>
                    </a:lnT>
                  </a:tcPr>
                </a:tc>
                <a:tc vMerge="1">
                  <a:txBody>
                    <a:bodyPr/>
                    <a:lstStyle/>
                    <a:p>
                      <a:endParaRPr/>
                    </a:p>
                  </a:txBody>
                  <a:tcPr marL="0" marR="0" marT="0" marB="0">
                    <a:lnL w="9525">
                      <a:solidFill>
                        <a:srgbClr val="1CACE3"/>
                      </a:solidFill>
                      <a:prstDash val="solid"/>
                    </a:lnL>
                    <a:lnR w="9525">
                      <a:solidFill>
                        <a:srgbClr val="1CACE3"/>
                      </a:solidFill>
                      <a:prstDash val="solid"/>
                    </a:lnR>
                    <a:lnT w="9525">
                      <a:solidFill>
                        <a:srgbClr val="1CACE3"/>
                      </a:solidFill>
                      <a:prstDash val="solid"/>
                    </a:lnT>
                    <a:lnB w="9525">
                      <a:solidFill>
                        <a:srgbClr val="1CACE3"/>
                      </a:solidFill>
                      <a:prstDash val="solid"/>
                    </a:lnB>
                  </a:tcPr>
                </a:tc>
                <a:tc vMerge="1">
                  <a:txBody>
                    <a:bodyPr/>
                    <a:lstStyle/>
                    <a:p>
                      <a:endParaRPr/>
                    </a:p>
                  </a:txBody>
                  <a:tcPr marL="0" marR="0" marT="0" marB="0">
                    <a:lnL w="9525">
                      <a:solidFill>
                        <a:srgbClr val="1CACE3"/>
                      </a:solidFill>
                      <a:prstDash val="solid"/>
                    </a:lnL>
                    <a:lnR w="9525">
                      <a:solidFill>
                        <a:srgbClr val="1CACE3"/>
                      </a:solidFill>
                      <a:prstDash val="solid"/>
                    </a:lnR>
                    <a:lnT w="9525">
                      <a:solidFill>
                        <a:srgbClr val="1CACE3"/>
                      </a:solidFill>
                      <a:prstDash val="solid"/>
                    </a:lnT>
                    <a:lnB w="9525">
                      <a:solidFill>
                        <a:srgbClr val="1CACE3"/>
                      </a:solidFill>
                      <a:prstDash val="solid"/>
                    </a:lnB>
                  </a:tcPr>
                </a:tc>
                <a:extLst>
                  <a:ext uri="{0D108BD9-81ED-4DB2-BD59-A6C34878D82A}">
                    <a16:rowId xmlns:a16="http://schemas.microsoft.com/office/drawing/2014/main" val="10001"/>
                  </a:ext>
                </a:extLst>
              </a:tr>
              <a:tr h="1588525">
                <a:tc vMerge="1">
                  <a:txBody>
                    <a:bodyPr/>
                    <a:lstStyle/>
                    <a:p>
                      <a:endParaRPr/>
                    </a:p>
                  </a:txBody>
                  <a:tcPr marL="0" marR="0" marT="0" marB="0">
                    <a:lnL w="9525">
                      <a:solidFill>
                        <a:srgbClr val="1CACE3"/>
                      </a:solidFill>
                      <a:prstDash val="solid"/>
                    </a:lnL>
                    <a:lnR w="9525">
                      <a:solidFill>
                        <a:srgbClr val="1CACE3"/>
                      </a:solidFill>
                      <a:prstDash val="solid"/>
                    </a:lnR>
                    <a:lnT w="9525">
                      <a:solidFill>
                        <a:srgbClr val="1CACE3"/>
                      </a:solidFill>
                      <a:prstDash val="solid"/>
                    </a:lnT>
                    <a:lnB w="9525">
                      <a:solidFill>
                        <a:srgbClr val="1CACE3"/>
                      </a:solidFill>
                      <a:prstDash val="solid"/>
                    </a:lnB>
                  </a:tcPr>
                </a:tc>
                <a:tc gridSpan="3">
                  <a:txBody>
                    <a:bodyPr/>
                    <a:lstStyle/>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pPr>
                      <a:endParaRPr sz="500" dirty="0">
                        <a:latin typeface="Times New Roman"/>
                        <a:cs typeface="Times New Roman"/>
                      </a:endParaRPr>
                    </a:p>
                    <a:p>
                      <a:pPr>
                        <a:lnSpc>
                          <a:spcPct val="100000"/>
                        </a:lnSpc>
                        <a:spcBef>
                          <a:spcPts val="25"/>
                        </a:spcBef>
                      </a:pPr>
                      <a:endParaRPr sz="400" dirty="0">
                        <a:latin typeface="Times New Roman"/>
                        <a:cs typeface="Times New Roman"/>
                      </a:endParaRPr>
                    </a:p>
                    <a:p>
                      <a:pPr marL="1270" algn="ctr">
                        <a:lnSpc>
                          <a:spcPct val="100000"/>
                        </a:lnSpc>
                      </a:pPr>
                      <a:r>
                        <a:rPr sz="500" spc="10" dirty="0">
                          <a:solidFill>
                            <a:srgbClr val="0D5671"/>
                          </a:solidFill>
                          <a:latin typeface="Calibri"/>
                          <a:cs typeface="Calibri"/>
                        </a:rPr>
                        <a:t>Host</a:t>
                      </a:r>
                      <a:endParaRPr sz="500" dirty="0">
                        <a:latin typeface="Calibri"/>
                        <a:cs typeface="Calibri"/>
                      </a:endParaRPr>
                    </a:p>
                  </a:txBody>
                  <a:tcPr marL="0" marR="0" marT="0" marB="0">
                    <a:lnL w="9525">
                      <a:solidFill>
                        <a:srgbClr val="1CACE3"/>
                      </a:solidFill>
                      <a:prstDash val="solid"/>
                    </a:lnL>
                    <a:lnR w="9525">
                      <a:solidFill>
                        <a:srgbClr val="1CACE3"/>
                      </a:solidFill>
                      <a:prstDash val="solid"/>
                    </a:lnR>
                    <a:lnB w="9525">
                      <a:solidFill>
                        <a:srgbClr val="1CACE3"/>
                      </a:solidFill>
                      <a:prstDash val="solid"/>
                    </a:lnB>
                  </a:tcPr>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L w="9525">
                      <a:solidFill>
                        <a:srgbClr val="1CACE3"/>
                      </a:solidFill>
                      <a:prstDash val="solid"/>
                    </a:lnL>
                    <a:lnR w="9525">
                      <a:solidFill>
                        <a:srgbClr val="1CACE3"/>
                      </a:solidFill>
                      <a:prstDash val="solid"/>
                    </a:lnR>
                    <a:lnT w="9525">
                      <a:solidFill>
                        <a:srgbClr val="1CACE3"/>
                      </a:solidFill>
                      <a:prstDash val="solid"/>
                    </a:lnT>
                    <a:lnB w="9525">
                      <a:solidFill>
                        <a:srgbClr val="1CACE3"/>
                      </a:solidFill>
                      <a:prstDash val="solid"/>
                    </a:lnB>
                  </a:tcPr>
                </a:tc>
                <a:tc vMerge="1">
                  <a:txBody>
                    <a:bodyPr/>
                    <a:lstStyle/>
                    <a:p>
                      <a:endParaRPr/>
                    </a:p>
                  </a:txBody>
                  <a:tcPr marL="0" marR="0" marT="0" marB="0">
                    <a:lnL w="9525">
                      <a:solidFill>
                        <a:srgbClr val="1CACE3"/>
                      </a:solidFill>
                      <a:prstDash val="solid"/>
                    </a:lnL>
                    <a:lnR w="9525">
                      <a:solidFill>
                        <a:srgbClr val="1CACE3"/>
                      </a:solidFill>
                      <a:prstDash val="solid"/>
                    </a:lnR>
                    <a:lnT w="9525">
                      <a:solidFill>
                        <a:srgbClr val="1CACE3"/>
                      </a:solidFill>
                      <a:prstDash val="solid"/>
                    </a:lnT>
                    <a:lnB w="9525">
                      <a:solidFill>
                        <a:srgbClr val="1CACE3"/>
                      </a:solidFill>
                      <a:prstDash val="solid"/>
                    </a:lnB>
                  </a:tcPr>
                </a:tc>
                <a:extLst>
                  <a:ext uri="{0D108BD9-81ED-4DB2-BD59-A6C34878D82A}">
                    <a16:rowId xmlns:a16="http://schemas.microsoft.com/office/drawing/2014/main" val="10002"/>
                  </a:ext>
                </a:extLst>
              </a:tr>
            </a:tbl>
          </a:graphicData>
        </a:graphic>
      </p:graphicFrame>
      <p:pic>
        <p:nvPicPr>
          <p:cNvPr id="11" name="object 11"/>
          <p:cNvPicPr/>
          <p:nvPr/>
        </p:nvPicPr>
        <p:blipFill>
          <a:blip r:embed="rId4" cstate="print"/>
          <a:stretch>
            <a:fillRect/>
          </a:stretch>
        </p:blipFill>
        <p:spPr>
          <a:xfrm>
            <a:off x="8888007" y="2550317"/>
            <a:ext cx="154393" cy="322192"/>
          </a:xfrm>
          <a:prstGeom prst="rect">
            <a:avLst/>
          </a:prstGeom>
        </p:spPr>
      </p:pic>
      <p:pic>
        <p:nvPicPr>
          <p:cNvPr id="12" name="object 12"/>
          <p:cNvPicPr/>
          <p:nvPr/>
        </p:nvPicPr>
        <p:blipFill>
          <a:blip r:embed="rId3" cstate="print"/>
          <a:stretch>
            <a:fillRect/>
          </a:stretch>
        </p:blipFill>
        <p:spPr>
          <a:xfrm>
            <a:off x="2928508" y="2529665"/>
            <a:ext cx="221092" cy="222771"/>
          </a:xfrm>
          <a:prstGeom prst="rect">
            <a:avLst/>
          </a:prstGeom>
        </p:spPr>
      </p:pic>
      <p:pic>
        <p:nvPicPr>
          <p:cNvPr id="13" name="object 13"/>
          <p:cNvPicPr/>
          <p:nvPr/>
        </p:nvPicPr>
        <p:blipFill>
          <a:blip r:embed="rId3" cstate="print"/>
          <a:stretch>
            <a:fillRect/>
          </a:stretch>
        </p:blipFill>
        <p:spPr>
          <a:xfrm>
            <a:off x="7472218" y="2567709"/>
            <a:ext cx="184727" cy="166255"/>
          </a:xfrm>
          <a:prstGeom prst="rect">
            <a:avLst/>
          </a:prstGeom>
        </p:spPr>
      </p:pic>
      <p:pic>
        <p:nvPicPr>
          <p:cNvPr id="14" name="object 14"/>
          <p:cNvPicPr/>
          <p:nvPr/>
        </p:nvPicPr>
        <p:blipFill>
          <a:blip r:embed="rId3" cstate="print"/>
          <a:stretch>
            <a:fillRect/>
          </a:stretch>
        </p:blipFill>
        <p:spPr>
          <a:xfrm>
            <a:off x="4009581" y="2520428"/>
            <a:ext cx="183728" cy="232007"/>
          </a:xfrm>
          <a:prstGeom prst="rect">
            <a:avLst/>
          </a:prstGeom>
        </p:spPr>
      </p:pic>
      <p:pic>
        <p:nvPicPr>
          <p:cNvPr id="15" name="object 15"/>
          <p:cNvPicPr/>
          <p:nvPr/>
        </p:nvPicPr>
        <p:blipFill>
          <a:blip r:embed="rId4" cstate="print"/>
          <a:stretch>
            <a:fillRect/>
          </a:stretch>
        </p:blipFill>
        <p:spPr>
          <a:xfrm>
            <a:off x="8002504" y="2626492"/>
            <a:ext cx="217859" cy="144416"/>
          </a:xfrm>
          <a:prstGeom prst="rect">
            <a:avLst/>
          </a:prstGeom>
        </p:spPr>
      </p:pic>
      <p:pic>
        <p:nvPicPr>
          <p:cNvPr id="16" name="object 16"/>
          <p:cNvPicPr/>
          <p:nvPr/>
        </p:nvPicPr>
        <p:blipFill>
          <a:blip r:embed="rId3" cstate="print"/>
          <a:stretch>
            <a:fillRect/>
          </a:stretch>
        </p:blipFill>
        <p:spPr>
          <a:xfrm>
            <a:off x="3685309" y="2549236"/>
            <a:ext cx="120074" cy="240146"/>
          </a:xfrm>
          <a:prstGeom prst="rect">
            <a:avLst/>
          </a:prstGeom>
        </p:spPr>
      </p:pic>
      <p:pic>
        <p:nvPicPr>
          <p:cNvPr id="17" name="object 17"/>
          <p:cNvPicPr/>
          <p:nvPr/>
        </p:nvPicPr>
        <p:blipFill>
          <a:blip r:embed="rId3" cstate="print"/>
          <a:stretch>
            <a:fillRect/>
          </a:stretch>
        </p:blipFill>
        <p:spPr>
          <a:xfrm flipH="1" flipV="1">
            <a:off x="8525162" y="2604655"/>
            <a:ext cx="147319" cy="156554"/>
          </a:xfrm>
          <a:prstGeom prst="rect">
            <a:avLst/>
          </a:prstGeom>
        </p:spPr>
      </p:pic>
      <p:pic>
        <p:nvPicPr>
          <p:cNvPr id="18" name="object 18"/>
          <p:cNvPicPr/>
          <p:nvPr/>
        </p:nvPicPr>
        <p:blipFill>
          <a:blip r:embed="rId3" cstate="print"/>
          <a:stretch>
            <a:fillRect/>
          </a:stretch>
        </p:blipFill>
        <p:spPr>
          <a:xfrm flipV="1">
            <a:off x="2392218" y="2558467"/>
            <a:ext cx="212437" cy="203206"/>
          </a:xfrm>
          <a:prstGeom prst="rect">
            <a:avLst/>
          </a:prstGeom>
        </p:spPr>
      </p:pic>
      <p:pic>
        <p:nvPicPr>
          <p:cNvPr id="19" name="object 19"/>
          <p:cNvPicPr/>
          <p:nvPr/>
        </p:nvPicPr>
        <p:blipFill>
          <a:blip r:embed="rId4" cstate="print"/>
          <a:stretch>
            <a:fillRect/>
          </a:stretch>
        </p:blipFill>
        <p:spPr>
          <a:xfrm>
            <a:off x="6614280" y="3208385"/>
            <a:ext cx="71438" cy="85453"/>
          </a:xfrm>
          <a:prstGeom prst="rect">
            <a:avLst/>
          </a:prstGeom>
        </p:spPr>
      </p:pic>
      <p:pic>
        <p:nvPicPr>
          <p:cNvPr id="20" name="object 20"/>
          <p:cNvPicPr/>
          <p:nvPr/>
        </p:nvPicPr>
        <p:blipFill>
          <a:blip r:embed="rId4" cstate="print"/>
          <a:stretch>
            <a:fillRect/>
          </a:stretch>
        </p:blipFill>
        <p:spPr>
          <a:xfrm>
            <a:off x="1902690" y="2543366"/>
            <a:ext cx="184727" cy="246016"/>
          </a:xfrm>
          <a:prstGeom prst="rect">
            <a:avLst/>
          </a:prstGeom>
        </p:spPr>
      </p:pic>
      <p:pic>
        <p:nvPicPr>
          <p:cNvPr id="21" name="object 21"/>
          <p:cNvPicPr/>
          <p:nvPr/>
        </p:nvPicPr>
        <p:blipFill>
          <a:blip r:embed="rId3" cstate="print"/>
          <a:stretch>
            <a:fillRect/>
          </a:stretch>
        </p:blipFill>
        <p:spPr>
          <a:xfrm>
            <a:off x="6685641" y="2538902"/>
            <a:ext cx="149267" cy="148880"/>
          </a:xfrm>
          <a:prstGeom prst="rect">
            <a:avLst/>
          </a:prstGeom>
        </p:spPr>
      </p:pic>
      <p:grpSp>
        <p:nvGrpSpPr>
          <p:cNvPr id="22" name="object 22"/>
          <p:cNvGrpSpPr/>
          <p:nvPr/>
        </p:nvGrpSpPr>
        <p:grpSpPr>
          <a:xfrm>
            <a:off x="3971491" y="1791853"/>
            <a:ext cx="2715065" cy="1985046"/>
            <a:chOff x="2505168" y="2059111"/>
            <a:chExt cx="1847460" cy="1471049"/>
          </a:xfrm>
        </p:grpSpPr>
        <p:pic>
          <p:nvPicPr>
            <p:cNvPr id="23" name="object 23"/>
            <p:cNvPicPr/>
            <p:nvPr/>
          </p:nvPicPr>
          <p:blipFill>
            <a:blip r:embed="rId5" cstate="print"/>
            <a:stretch>
              <a:fillRect/>
            </a:stretch>
          </p:blipFill>
          <p:spPr>
            <a:xfrm>
              <a:off x="3362927" y="2059111"/>
              <a:ext cx="131948" cy="141534"/>
            </a:xfrm>
            <a:prstGeom prst="rect">
              <a:avLst/>
            </a:prstGeom>
          </p:spPr>
        </p:pic>
        <p:pic>
          <p:nvPicPr>
            <p:cNvPr id="24" name="object 24"/>
            <p:cNvPicPr/>
            <p:nvPr/>
          </p:nvPicPr>
          <p:blipFill>
            <a:blip r:embed="rId6" cstate="print"/>
            <a:stretch>
              <a:fillRect/>
            </a:stretch>
          </p:blipFill>
          <p:spPr>
            <a:xfrm>
              <a:off x="3386328" y="2235708"/>
              <a:ext cx="85343" cy="202691"/>
            </a:xfrm>
            <a:prstGeom prst="rect">
              <a:avLst/>
            </a:prstGeom>
          </p:spPr>
        </p:pic>
        <p:pic>
          <p:nvPicPr>
            <p:cNvPr id="25" name="object 25"/>
            <p:cNvPicPr/>
            <p:nvPr/>
          </p:nvPicPr>
          <p:blipFill>
            <a:blip r:embed="rId5" cstate="print"/>
            <a:stretch>
              <a:fillRect/>
            </a:stretch>
          </p:blipFill>
          <p:spPr>
            <a:xfrm>
              <a:off x="3148296" y="2059111"/>
              <a:ext cx="132960" cy="141534"/>
            </a:xfrm>
            <a:prstGeom prst="rect">
              <a:avLst/>
            </a:prstGeom>
          </p:spPr>
        </p:pic>
        <p:pic>
          <p:nvPicPr>
            <p:cNvPr id="26" name="object 26"/>
            <p:cNvPicPr/>
            <p:nvPr/>
          </p:nvPicPr>
          <p:blipFill>
            <a:blip r:embed="rId7" cstate="print"/>
            <a:stretch>
              <a:fillRect/>
            </a:stretch>
          </p:blipFill>
          <p:spPr>
            <a:xfrm>
              <a:off x="3171444" y="2237232"/>
              <a:ext cx="86867" cy="202691"/>
            </a:xfrm>
            <a:prstGeom prst="rect">
              <a:avLst/>
            </a:prstGeom>
          </p:spPr>
        </p:pic>
        <p:pic>
          <p:nvPicPr>
            <p:cNvPr id="27" name="object 27"/>
            <p:cNvPicPr/>
            <p:nvPr/>
          </p:nvPicPr>
          <p:blipFill>
            <a:blip r:embed="rId5" cstate="print"/>
            <a:stretch>
              <a:fillRect/>
            </a:stretch>
          </p:blipFill>
          <p:spPr>
            <a:xfrm>
              <a:off x="3576540" y="2059111"/>
              <a:ext cx="132960" cy="141534"/>
            </a:xfrm>
            <a:prstGeom prst="rect">
              <a:avLst/>
            </a:prstGeom>
          </p:spPr>
        </p:pic>
        <p:pic>
          <p:nvPicPr>
            <p:cNvPr id="28" name="object 28"/>
            <p:cNvPicPr/>
            <p:nvPr/>
          </p:nvPicPr>
          <p:blipFill>
            <a:blip r:embed="rId8" cstate="print"/>
            <a:stretch>
              <a:fillRect/>
            </a:stretch>
          </p:blipFill>
          <p:spPr>
            <a:xfrm>
              <a:off x="3596640" y="2238756"/>
              <a:ext cx="86867" cy="202691"/>
            </a:xfrm>
            <a:prstGeom prst="rect">
              <a:avLst/>
            </a:prstGeom>
          </p:spPr>
        </p:pic>
        <p:pic>
          <p:nvPicPr>
            <p:cNvPr id="29" name="object 29"/>
            <p:cNvPicPr/>
            <p:nvPr/>
          </p:nvPicPr>
          <p:blipFill>
            <a:blip r:embed="rId5" cstate="print"/>
            <a:stretch>
              <a:fillRect/>
            </a:stretch>
          </p:blipFill>
          <p:spPr>
            <a:xfrm>
              <a:off x="2933412" y="2059111"/>
              <a:ext cx="132960" cy="141534"/>
            </a:xfrm>
            <a:prstGeom prst="rect">
              <a:avLst/>
            </a:prstGeom>
          </p:spPr>
        </p:pic>
        <p:pic>
          <p:nvPicPr>
            <p:cNvPr id="30" name="object 30"/>
            <p:cNvPicPr/>
            <p:nvPr/>
          </p:nvPicPr>
          <p:blipFill>
            <a:blip r:embed="rId7" cstate="print"/>
            <a:stretch>
              <a:fillRect/>
            </a:stretch>
          </p:blipFill>
          <p:spPr>
            <a:xfrm>
              <a:off x="2956560" y="2237232"/>
              <a:ext cx="86867" cy="202691"/>
            </a:xfrm>
            <a:prstGeom prst="rect">
              <a:avLst/>
            </a:prstGeom>
          </p:spPr>
        </p:pic>
        <p:pic>
          <p:nvPicPr>
            <p:cNvPr id="31" name="object 31"/>
            <p:cNvPicPr/>
            <p:nvPr/>
          </p:nvPicPr>
          <p:blipFill>
            <a:blip r:embed="rId5" cstate="print"/>
            <a:stretch>
              <a:fillRect/>
            </a:stretch>
          </p:blipFill>
          <p:spPr>
            <a:xfrm>
              <a:off x="3791424" y="2059111"/>
              <a:ext cx="132960" cy="141534"/>
            </a:xfrm>
            <a:prstGeom prst="rect">
              <a:avLst/>
            </a:prstGeom>
          </p:spPr>
        </p:pic>
        <p:pic>
          <p:nvPicPr>
            <p:cNvPr id="32" name="object 32"/>
            <p:cNvPicPr/>
            <p:nvPr/>
          </p:nvPicPr>
          <p:blipFill>
            <a:blip r:embed="rId6" cstate="print"/>
            <a:stretch>
              <a:fillRect/>
            </a:stretch>
          </p:blipFill>
          <p:spPr>
            <a:xfrm>
              <a:off x="3816096" y="2235708"/>
              <a:ext cx="85343" cy="202691"/>
            </a:xfrm>
            <a:prstGeom prst="rect">
              <a:avLst/>
            </a:prstGeom>
          </p:spPr>
        </p:pic>
        <p:pic>
          <p:nvPicPr>
            <p:cNvPr id="33" name="object 33"/>
            <p:cNvPicPr/>
            <p:nvPr/>
          </p:nvPicPr>
          <p:blipFill>
            <a:blip r:embed="rId5" cstate="print"/>
            <a:stretch>
              <a:fillRect/>
            </a:stretch>
          </p:blipFill>
          <p:spPr>
            <a:xfrm>
              <a:off x="2719799" y="2059111"/>
              <a:ext cx="131948" cy="141534"/>
            </a:xfrm>
            <a:prstGeom prst="rect">
              <a:avLst/>
            </a:prstGeom>
          </p:spPr>
        </p:pic>
        <p:pic>
          <p:nvPicPr>
            <p:cNvPr id="34" name="object 34"/>
            <p:cNvPicPr/>
            <p:nvPr/>
          </p:nvPicPr>
          <p:blipFill>
            <a:blip r:embed="rId7" cstate="print"/>
            <a:stretch>
              <a:fillRect/>
            </a:stretch>
          </p:blipFill>
          <p:spPr>
            <a:xfrm>
              <a:off x="2738628" y="2241804"/>
              <a:ext cx="86867" cy="202691"/>
            </a:xfrm>
            <a:prstGeom prst="rect">
              <a:avLst/>
            </a:prstGeom>
          </p:spPr>
        </p:pic>
        <p:pic>
          <p:nvPicPr>
            <p:cNvPr id="35" name="object 35"/>
            <p:cNvPicPr/>
            <p:nvPr/>
          </p:nvPicPr>
          <p:blipFill>
            <a:blip r:embed="rId5" cstate="print"/>
            <a:stretch>
              <a:fillRect/>
            </a:stretch>
          </p:blipFill>
          <p:spPr>
            <a:xfrm>
              <a:off x="4006055" y="2059111"/>
              <a:ext cx="131948" cy="141534"/>
            </a:xfrm>
            <a:prstGeom prst="rect">
              <a:avLst/>
            </a:prstGeom>
          </p:spPr>
        </p:pic>
        <p:pic>
          <p:nvPicPr>
            <p:cNvPr id="36" name="object 36"/>
            <p:cNvPicPr/>
            <p:nvPr/>
          </p:nvPicPr>
          <p:blipFill>
            <a:blip r:embed="rId6" cstate="print"/>
            <a:stretch>
              <a:fillRect/>
            </a:stretch>
          </p:blipFill>
          <p:spPr>
            <a:xfrm>
              <a:off x="4029456" y="2234184"/>
              <a:ext cx="85343" cy="202691"/>
            </a:xfrm>
            <a:prstGeom prst="rect">
              <a:avLst/>
            </a:prstGeom>
          </p:spPr>
        </p:pic>
        <p:pic>
          <p:nvPicPr>
            <p:cNvPr id="37" name="object 37"/>
            <p:cNvPicPr/>
            <p:nvPr/>
          </p:nvPicPr>
          <p:blipFill>
            <a:blip r:embed="rId5" cstate="print"/>
            <a:stretch>
              <a:fillRect/>
            </a:stretch>
          </p:blipFill>
          <p:spPr>
            <a:xfrm>
              <a:off x="2505168" y="2059111"/>
              <a:ext cx="132960" cy="141534"/>
            </a:xfrm>
            <a:prstGeom prst="rect">
              <a:avLst/>
            </a:prstGeom>
          </p:spPr>
        </p:pic>
        <p:pic>
          <p:nvPicPr>
            <p:cNvPr id="38" name="object 38"/>
            <p:cNvPicPr/>
            <p:nvPr/>
          </p:nvPicPr>
          <p:blipFill>
            <a:blip r:embed="rId7" cstate="print"/>
            <a:stretch>
              <a:fillRect/>
            </a:stretch>
          </p:blipFill>
          <p:spPr>
            <a:xfrm>
              <a:off x="2531364" y="2241804"/>
              <a:ext cx="86867" cy="202691"/>
            </a:xfrm>
            <a:prstGeom prst="rect">
              <a:avLst/>
            </a:prstGeom>
          </p:spPr>
        </p:pic>
        <p:pic>
          <p:nvPicPr>
            <p:cNvPr id="39" name="object 39"/>
            <p:cNvPicPr/>
            <p:nvPr/>
          </p:nvPicPr>
          <p:blipFill>
            <a:blip r:embed="rId5" cstate="print"/>
            <a:stretch>
              <a:fillRect/>
            </a:stretch>
          </p:blipFill>
          <p:spPr>
            <a:xfrm>
              <a:off x="4219668" y="2059111"/>
              <a:ext cx="132960" cy="141534"/>
            </a:xfrm>
            <a:prstGeom prst="rect">
              <a:avLst/>
            </a:prstGeom>
          </p:spPr>
        </p:pic>
        <p:pic>
          <p:nvPicPr>
            <p:cNvPr id="40" name="object 40"/>
            <p:cNvPicPr/>
            <p:nvPr/>
          </p:nvPicPr>
          <p:blipFill>
            <a:blip r:embed="rId7" cstate="print"/>
            <a:stretch>
              <a:fillRect/>
            </a:stretch>
          </p:blipFill>
          <p:spPr>
            <a:xfrm>
              <a:off x="4245864" y="2241804"/>
              <a:ext cx="86867" cy="202691"/>
            </a:xfrm>
            <a:prstGeom prst="rect">
              <a:avLst/>
            </a:prstGeom>
          </p:spPr>
        </p:pic>
        <p:pic>
          <p:nvPicPr>
            <p:cNvPr id="41" name="object 41"/>
            <p:cNvPicPr/>
            <p:nvPr/>
          </p:nvPicPr>
          <p:blipFill>
            <a:blip r:embed="rId3" cstate="print"/>
            <a:stretch>
              <a:fillRect/>
            </a:stretch>
          </p:blipFill>
          <p:spPr>
            <a:xfrm>
              <a:off x="2517243" y="3414976"/>
              <a:ext cx="95251" cy="115184"/>
            </a:xfrm>
            <a:prstGeom prst="rect">
              <a:avLst/>
            </a:prstGeom>
          </p:spPr>
        </p:pic>
        <p:sp>
          <p:nvSpPr>
            <p:cNvPr id="42" name="object 42"/>
            <p:cNvSpPr/>
            <p:nvPr/>
          </p:nvSpPr>
          <p:spPr>
            <a:xfrm>
              <a:off x="3512819" y="2686812"/>
              <a:ext cx="589915" cy="430530"/>
            </a:xfrm>
            <a:custGeom>
              <a:avLst/>
              <a:gdLst/>
              <a:ahLst/>
              <a:cxnLst/>
              <a:rect l="l" t="t" r="r" b="b"/>
              <a:pathLst>
                <a:path w="589914" h="430530">
                  <a:moveTo>
                    <a:pt x="0" y="0"/>
                  </a:moveTo>
                  <a:lnTo>
                    <a:pt x="295020" y="0"/>
                  </a:lnTo>
                  <a:lnTo>
                    <a:pt x="295020" y="430275"/>
                  </a:lnTo>
                  <a:lnTo>
                    <a:pt x="589914" y="430275"/>
                  </a:lnTo>
                </a:path>
              </a:pathLst>
            </a:custGeom>
            <a:ln w="6096">
              <a:solidFill>
                <a:srgbClr val="1CACE3"/>
              </a:solidFill>
              <a:prstDash val="sysDot"/>
            </a:ln>
          </p:spPr>
          <p:txBody>
            <a:bodyPr wrap="square" lIns="0" tIns="0" rIns="0" bIns="0" rtlCol="0"/>
            <a:lstStyle/>
            <a:p>
              <a:endParaRPr sz="1350"/>
            </a:p>
          </p:txBody>
        </p:sp>
        <p:pic>
          <p:nvPicPr>
            <p:cNvPr id="43" name="object 43"/>
            <p:cNvPicPr/>
            <p:nvPr/>
          </p:nvPicPr>
          <p:blipFill>
            <a:blip r:embed="rId4" cstate="print"/>
            <a:stretch>
              <a:fillRect/>
            </a:stretch>
          </p:blipFill>
          <p:spPr>
            <a:xfrm>
              <a:off x="3565184" y="2629140"/>
              <a:ext cx="96293" cy="113937"/>
            </a:xfrm>
            <a:prstGeom prst="rect">
              <a:avLst/>
            </a:prstGeom>
          </p:spPr>
        </p:pic>
        <p:pic>
          <p:nvPicPr>
            <p:cNvPr id="44" name="object 44"/>
            <p:cNvPicPr/>
            <p:nvPr/>
          </p:nvPicPr>
          <p:blipFill>
            <a:blip r:embed="rId4" cstate="print"/>
            <a:stretch>
              <a:fillRect/>
            </a:stretch>
          </p:blipFill>
          <p:spPr>
            <a:xfrm>
              <a:off x="3748064" y="2624568"/>
              <a:ext cx="96293" cy="113937"/>
            </a:xfrm>
            <a:prstGeom prst="rect">
              <a:avLst/>
            </a:prstGeom>
          </p:spPr>
        </p:pic>
        <p:pic>
          <p:nvPicPr>
            <p:cNvPr id="45" name="object 45"/>
            <p:cNvPicPr/>
            <p:nvPr/>
          </p:nvPicPr>
          <p:blipFill>
            <a:blip r:embed="rId9" cstate="print"/>
            <a:stretch>
              <a:fillRect/>
            </a:stretch>
          </p:blipFill>
          <p:spPr>
            <a:xfrm>
              <a:off x="3930944" y="2627616"/>
              <a:ext cx="96293" cy="113937"/>
            </a:xfrm>
            <a:prstGeom prst="rect">
              <a:avLst/>
            </a:prstGeom>
          </p:spPr>
        </p:pic>
        <p:pic>
          <p:nvPicPr>
            <p:cNvPr id="46" name="object 46"/>
            <p:cNvPicPr/>
            <p:nvPr/>
          </p:nvPicPr>
          <p:blipFill>
            <a:blip r:embed="rId3" cstate="print"/>
            <a:stretch>
              <a:fillRect/>
            </a:stretch>
          </p:blipFill>
          <p:spPr>
            <a:xfrm>
              <a:off x="4115111" y="2621662"/>
              <a:ext cx="95251" cy="115184"/>
            </a:xfrm>
            <a:prstGeom prst="rect">
              <a:avLst/>
            </a:prstGeom>
          </p:spPr>
        </p:pic>
        <p:pic>
          <p:nvPicPr>
            <p:cNvPr id="47" name="object 47"/>
            <p:cNvPicPr/>
            <p:nvPr/>
          </p:nvPicPr>
          <p:blipFill>
            <a:blip r:embed="rId9" cstate="print"/>
            <a:stretch>
              <a:fillRect/>
            </a:stretch>
          </p:blipFill>
          <p:spPr>
            <a:xfrm>
              <a:off x="3211616" y="2629140"/>
              <a:ext cx="96293" cy="113937"/>
            </a:xfrm>
            <a:prstGeom prst="rect">
              <a:avLst/>
            </a:prstGeom>
          </p:spPr>
        </p:pic>
        <p:pic>
          <p:nvPicPr>
            <p:cNvPr id="48" name="object 48"/>
            <p:cNvPicPr/>
            <p:nvPr/>
          </p:nvPicPr>
          <p:blipFill>
            <a:blip r:embed="rId4" cstate="print"/>
            <a:stretch>
              <a:fillRect/>
            </a:stretch>
          </p:blipFill>
          <p:spPr>
            <a:xfrm>
              <a:off x="3026975" y="2629140"/>
              <a:ext cx="95251" cy="113937"/>
            </a:xfrm>
            <a:prstGeom prst="rect">
              <a:avLst/>
            </a:prstGeom>
          </p:spPr>
        </p:pic>
        <p:pic>
          <p:nvPicPr>
            <p:cNvPr id="49" name="object 49"/>
            <p:cNvPicPr/>
            <p:nvPr/>
          </p:nvPicPr>
          <p:blipFill>
            <a:blip r:embed="rId4" cstate="print"/>
            <a:stretch>
              <a:fillRect/>
            </a:stretch>
          </p:blipFill>
          <p:spPr>
            <a:xfrm>
              <a:off x="2844095" y="2629140"/>
              <a:ext cx="95251" cy="113937"/>
            </a:xfrm>
            <a:prstGeom prst="rect">
              <a:avLst/>
            </a:prstGeom>
          </p:spPr>
        </p:pic>
      </p:grpSp>
      <p:sp>
        <p:nvSpPr>
          <p:cNvPr id="50" name="object 50"/>
          <p:cNvSpPr txBox="1"/>
          <p:nvPr/>
        </p:nvSpPr>
        <p:spPr>
          <a:xfrm>
            <a:off x="1477818" y="6132945"/>
            <a:ext cx="7610764" cy="92333"/>
          </a:xfrm>
          <a:prstGeom prst="rect">
            <a:avLst/>
          </a:prstGeom>
          <a:solidFill>
            <a:srgbClr val="2583C5"/>
          </a:solidFill>
        </p:spPr>
        <p:txBody>
          <a:bodyPr vert="horz" wrap="square" lIns="0" tIns="11430" rIns="0" bIns="0" rtlCol="0">
            <a:spAutoFit/>
          </a:bodyPr>
          <a:lstStyle/>
          <a:p>
            <a:pPr algn="ctr">
              <a:spcBef>
                <a:spcPts val="90"/>
              </a:spcBef>
            </a:pPr>
            <a:r>
              <a:rPr sz="525" dirty="0">
                <a:solidFill>
                  <a:srgbClr val="D9F0EA"/>
                </a:solidFill>
                <a:latin typeface="Calibri"/>
                <a:cs typeface="Calibri"/>
              </a:rPr>
              <a:t>Orchestration</a:t>
            </a:r>
            <a:endParaRPr sz="525" dirty="0">
              <a:latin typeface="Calibri"/>
              <a:cs typeface="Calibri"/>
            </a:endParaRPr>
          </a:p>
        </p:txBody>
      </p:sp>
      <p:sp>
        <p:nvSpPr>
          <p:cNvPr id="51" name="object 51"/>
          <p:cNvSpPr/>
          <p:nvPr/>
        </p:nvSpPr>
        <p:spPr>
          <a:xfrm>
            <a:off x="665018" y="1570182"/>
            <a:ext cx="10049163" cy="4904508"/>
          </a:xfrm>
          <a:custGeom>
            <a:avLst/>
            <a:gdLst/>
            <a:ahLst/>
            <a:cxnLst/>
            <a:rect l="l" t="t" r="r" b="b"/>
            <a:pathLst>
              <a:path w="5486400" h="3086100">
                <a:moveTo>
                  <a:pt x="0" y="3086100"/>
                </a:moveTo>
                <a:lnTo>
                  <a:pt x="5486400" y="3086100"/>
                </a:lnTo>
                <a:lnTo>
                  <a:pt x="5486400" y="0"/>
                </a:lnTo>
                <a:lnTo>
                  <a:pt x="0" y="0"/>
                </a:lnTo>
                <a:lnTo>
                  <a:pt x="0" y="3086100"/>
                </a:lnTo>
                <a:close/>
              </a:path>
            </a:pathLst>
          </a:custGeom>
          <a:ln w="12192">
            <a:solidFill>
              <a:srgbClr val="000000"/>
            </a:solidFill>
          </a:ln>
        </p:spPr>
        <p:txBody>
          <a:bodyPr wrap="square" lIns="0" tIns="0" rIns="0" bIns="0" rtlCol="0"/>
          <a:lstStyle/>
          <a:p>
            <a:endParaRPr sz="1350"/>
          </a:p>
        </p:txBody>
      </p:sp>
      <p:sp>
        <p:nvSpPr>
          <p:cNvPr id="54" name="Title 53"/>
          <p:cNvSpPr>
            <a:spLocks noGrp="1"/>
          </p:cNvSpPr>
          <p:nvPr>
            <p:ph type="title"/>
          </p:nvPr>
        </p:nvSpPr>
        <p:spPr/>
        <p:txBody>
          <a:bodyPr/>
          <a:lstStyle/>
          <a:p>
            <a:r>
              <a:rPr lang="en-US" dirty="0"/>
              <a:t>Orchestration</a:t>
            </a:r>
          </a:p>
        </p:txBody>
      </p:sp>
      <p:sp>
        <p:nvSpPr>
          <p:cNvPr id="53" name="object 53"/>
          <p:cNvSpPr txBox="1">
            <a:spLocks noGrp="1"/>
          </p:cNvSpPr>
          <p:nvPr>
            <p:ph type="sldNum" sz="quarter" idx="12"/>
          </p:nvPr>
        </p:nvSpPr>
        <p:spPr>
          <a:prstGeom prst="rect">
            <a:avLst/>
          </a:prstGeom>
        </p:spPr>
        <p:txBody>
          <a:bodyPr vert="horz" wrap="square" lIns="0" tIns="0" rIns="0" bIns="0" rtlCol="0">
            <a:spAutoFit/>
          </a:bodyPr>
          <a:lstStyle/>
          <a:p>
            <a:pPr marL="28575">
              <a:lnSpc>
                <a:spcPts val="930"/>
              </a:lnSpc>
            </a:pPr>
            <a:fld id="{81D60167-4931-47E6-BA6A-407CBD079E47}" type="slidenum">
              <a:rPr dirty="0"/>
              <a:pPr marL="28575">
                <a:lnSpc>
                  <a:spcPts val="930"/>
                </a:lnSpc>
              </a:pPr>
              <a:t>7</a:t>
            </a:fld>
            <a:endParaRPr dirty="0"/>
          </a:p>
        </p:txBody>
      </p:sp>
    </p:spTree>
    <p:extLst>
      <p:ext uri="{BB962C8B-B14F-4D97-AF65-F5344CB8AC3E}">
        <p14:creationId xmlns:p14="http://schemas.microsoft.com/office/powerpoint/2010/main" val="2269443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9674" y="365125"/>
            <a:ext cx="10624126" cy="1325563"/>
          </a:xfrm>
        </p:spPr>
        <p:txBody>
          <a:bodyPr/>
          <a:lstStyle/>
          <a:p>
            <a:r>
              <a:rPr lang="en-US" b="1" dirty="0"/>
              <a:t>What is Kubernetes?</a:t>
            </a:r>
          </a:p>
        </p:txBody>
      </p:sp>
      <p:sp>
        <p:nvSpPr>
          <p:cNvPr id="3" name="Content Placeholder 2"/>
          <p:cNvSpPr>
            <a:spLocks noGrp="1"/>
          </p:cNvSpPr>
          <p:nvPr>
            <p:ph idx="1"/>
          </p:nvPr>
        </p:nvSpPr>
        <p:spPr/>
        <p:txBody>
          <a:bodyPr/>
          <a:lstStyle/>
          <a:p>
            <a:endParaRPr lang="en-US" dirty="0"/>
          </a:p>
          <a:p>
            <a:pPr marL="0" indent="0">
              <a:buNone/>
            </a:pPr>
            <a:r>
              <a:rPr lang="en-US" dirty="0"/>
              <a:t>It is a container orchestration technology used to orchestrate the deployment and management of hundreds and thousands of containers in a clustered environment.</a:t>
            </a:r>
          </a:p>
          <a:p>
            <a:endParaRPr lang="en-US" dirty="0"/>
          </a:p>
        </p:txBody>
      </p:sp>
      <p:pic>
        <p:nvPicPr>
          <p:cNvPr id="5" name="Picture 4"/>
          <p:cNvPicPr>
            <a:picLocks noChangeAspect="1"/>
          </p:cNvPicPr>
          <p:nvPr/>
        </p:nvPicPr>
        <p:blipFill>
          <a:blip r:embed="rId2"/>
          <a:stretch>
            <a:fillRect/>
          </a:stretch>
        </p:blipFill>
        <p:spPr>
          <a:xfrm>
            <a:off x="3643656" y="3888509"/>
            <a:ext cx="2433871" cy="2068945"/>
          </a:xfrm>
          <a:prstGeom prst="rect">
            <a:avLst/>
          </a:prstGeom>
        </p:spPr>
      </p:pic>
    </p:spTree>
    <p:extLst>
      <p:ext uri="{BB962C8B-B14F-4D97-AF65-F5344CB8AC3E}">
        <p14:creationId xmlns:p14="http://schemas.microsoft.com/office/powerpoint/2010/main" val="3560436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Does Kubernetes Provide?</a:t>
            </a:r>
          </a:p>
        </p:txBody>
      </p:sp>
      <p:sp>
        <p:nvSpPr>
          <p:cNvPr id="3" name="Content Placeholder 2"/>
          <p:cNvSpPr>
            <a:spLocks noGrp="1"/>
          </p:cNvSpPr>
          <p:nvPr>
            <p:ph idx="1"/>
          </p:nvPr>
        </p:nvSpPr>
        <p:spPr/>
        <p:txBody>
          <a:bodyPr/>
          <a:lstStyle/>
          <a:p>
            <a:r>
              <a:rPr lang="en-US" dirty="0"/>
              <a:t>Provides a complete orchestration solution for container based applications</a:t>
            </a:r>
          </a:p>
          <a:p>
            <a:pPr marL="0" indent="0">
              <a:buNone/>
            </a:pPr>
            <a:r>
              <a:rPr lang="en-US" dirty="0"/>
              <a:t>– Deploy Applications</a:t>
            </a:r>
          </a:p>
          <a:p>
            <a:pPr marL="0" indent="0">
              <a:buNone/>
            </a:pPr>
            <a:r>
              <a:rPr lang="en-US" dirty="0"/>
              <a:t>– Manage Applications</a:t>
            </a:r>
          </a:p>
          <a:p>
            <a:pPr marL="0" indent="0">
              <a:buNone/>
            </a:pPr>
            <a:r>
              <a:rPr lang="en-US" dirty="0"/>
              <a:t>– Access Applications</a:t>
            </a:r>
          </a:p>
          <a:p>
            <a:pPr marL="0" indent="0">
              <a:buNone/>
            </a:pPr>
            <a:r>
              <a:rPr lang="en-US" dirty="0"/>
              <a:t>– Scale Applications</a:t>
            </a:r>
          </a:p>
          <a:p>
            <a:pPr marL="0" indent="0">
              <a:buNone/>
            </a:pPr>
            <a:endParaRPr lang="en-US" dirty="0"/>
          </a:p>
          <a:p>
            <a:r>
              <a:rPr lang="en-US" dirty="0"/>
              <a:t> Provides for scheduling of containers</a:t>
            </a:r>
          </a:p>
        </p:txBody>
      </p:sp>
    </p:spTree>
    <p:extLst>
      <p:ext uri="{BB962C8B-B14F-4D97-AF65-F5344CB8AC3E}">
        <p14:creationId xmlns:p14="http://schemas.microsoft.com/office/powerpoint/2010/main" val="1802839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nsu | How Kubernetes work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9673" y="378690"/>
            <a:ext cx="9014691" cy="6114473"/>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45"/>
          <p:cNvSpPr txBox="1"/>
          <p:nvPr/>
        </p:nvSpPr>
        <p:spPr>
          <a:xfrm>
            <a:off x="9606540" y="5445524"/>
            <a:ext cx="1620520" cy="492507"/>
          </a:xfrm>
          <a:prstGeom prst="rect">
            <a:avLst/>
          </a:prstGeom>
        </p:spPr>
        <p:txBody>
          <a:bodyPr vert="horz" wrap="square" lIns="0" tIns="17780" rIns="0" bIns="0" rtlCol="0">
            <a:spAutoFit/>
          </a:bodyPr>
          <a:lstStyle/>
          <a:p>
            <a:pPr marL="16933">
              <a:spcBef>
                <a:spcPts val="140"/>
              </a:spcBef>
            </a:pPr>
            <a:r>
              <a:rPr sz="1067" b="1" spc="7" dirty="0">
                <a:solidFill>
                  <a:srgbClr val="039BC5"/>
                </a:solidFill>
                <a:latin typeface="Lato"/>
                <a:cs typeface="Lato"/>
              </a:rPr>
              <a:t>Container</a:t>
            </a:r>
            <a:r>
              <a:rPr sz="1067" b="1" spc="-127" dirty="0">
                <a:solidFill>
                  <a:srgbClr val="039BC5"/>
                </a:solidFill>
                <a:latin typeface="Lato"/>
                <a:cs typeface="Lato"/>
              </a:rPr>
              <a:t> </a:t>
            </a:r>
            <a:r>
              <a:rPr sz="1067" b="1" spc="7" dirty="0">
                <a:solidFill>
                  <a:srgbClr val="039BC5"/>
                </a:solidFill>
                <a:latin typeface="Lato"/>
                <a:cs typeface="Lato"/>
              </a:rPr>
              <a:t>Runtime</a:t>
            </a:r>
            <a:r>
              <a:rPr sz="1067" b="1" spc="-107" dirty="0">
                <a:solidFill>
                  <a:srgbClr val="039BC5"/>
                </a:solidFill>
                <a:latin typeface="Lato"/>
                <a:cs typeface="Lato"/>
              </a:rPr>
              <a:t> </a:t>
            </a:r>
            <a:r>
              <a:rPr sz="1067" b="1" dirty="0">
                <a:solidFill>
                  <a:srgbClr val="039BC5"/>
                </a:solidFill>
                <a:latin typeface="Lato"/>
                <a:cs typeface="Lato"/>
              </a:rPr>
              <a:t>Engine</a:t>
            </a:r>
            <a:r>
              <a:rPr lang="en-US" sz="1067" b="1" dirty="0">
                <a:solidFill>
                  <a:srgbClr val="039BC5"/>
                </a:solidFill>
                <a:latin typeface="Lato"/>
                <a:cs typeface="Lato"/>
              </a:rPr>
              <a:t> </a:t>
            </a:r>
            <a:endParaRPr sz="1067" dirty="0">
              <a:latin typeface="Lato"/>
              <a:cs typeface="Lato"/>
            </a:endParaRPr>
          </a:p>
          <a:p>
            <a:pPr marL="34711">
              <a:spcBef>
                <a:spcPts val="473"/>
              </a:spcBef>
            </a:pPr>
            <a:r>
              <a:rPr sz="533" spc="-7" dirty="0">
                <a:solidFill>
                  <a:srgbClr val="039BC5"/>
                </a:solidFill>
                <a:latin typeface="Lato"/>
                <a:cs typeface="Lato"/>
              </a:rPr>
              <a:t>Run containers</a:t>
            </a:r>
            <a:endParaRPr sz="533" dirty="0">
              <a:latin typeface="Lato"/>
              <a:cs typeface="Lato"/>
            </a:endParaRPr>
          </a:p>
        </p:txBody>
      </p:sp>
      <p:sp>
        <p:nvSpPr>
          <p:cNvPr id="6" name="object 48"/>
          <p:cNvSpPr/>
          <p:nvPr/>
        </p:nvSpPr>
        <p:spPr>
          <a:xfrm>
            <a:off x="10243865" y="5652286"/>
            <a:ext cx="335280" cy="278382"/>
          </a:xfrm>
          <a:prstGeom prst="rect">
            <a:avLst/>
          </a:prstGeom>
          <a:blipFill>
            <a:blip r:embed="rId3" cstate="print"/>
            <a:stretch>
              <a:fillRect/>
            </a:stretch>
          </a:blipFill>
        </p:spPr>
        <p:txBody>
          <a:bodyPr wrap="square" lIns="0" tIns="0" rIns="0" bIns="0" rtlCol="0"/>
          <a:lstStyle/>
          <a:p>
            <a:endParaRPr sz="2400"/>
          </a:p>
        </p:txBody>
      </p:sp>
      <p:sp>
        <p:nvSpPr>
          <p:cNvPr id="7" name="object 47"/>
          <p:cNvSpPr/>
          <p:nvPr/>
        </p:nvSpPr>
        <p:spPr>
          <a:xfrm>
            <a:off x="10675019" y="5675561"/>
            <a:ext cx="445008" cy="186942"/>
          </a:xfrm>
          <a:prstGeom prst="rect">
            <a:avLst/>
          </a:prstGeom>
          <a:blipFill>
            <a:blip r:embed="rId4" cstate="print"/>
            <a:stretch>
              <a:fillRect/>
            </a:stretch>
          </a:blipFill>
        </p:spPr>
        <p:txBody>
          <a:bodyPr wrap="square" lIns="0" tIns="0" rIns="0" bIns="0" rtlCol="0"/>
          <a:lstStyle/>
          <a:p>
            <a:endParaRPr sz="2400"/>
          </a:p>
        </p:txBody>
      </p:sp>
      <p:sp>
        <p:nvSpPr>
          <p:cNvPr id="8" name="object 45"/>
          <p:cNvSpPr txBox="1"/>
          <p:nvPr/>
        </p:nvSpPr>
        <p:spPr>
          <a:xfrm>
            <a:off x="9417195" y="2743887"/>
            <a:ext cx="1620520" cy="492507"/>
          </a:xfrm>
          <a:prstGeom prst="rect">
            <a:avLst/>
          </a:prstGeom>
        </p:spPr>
        <p:txBody>
          <a:bodyPr vert="horz" wrap="square" lIns="0" tIns="17780" rIns="0" bIns="0" rtlCol="0">
            <a:spAutoFit/>
          </a:bodyPr>
          <a:lstStyle/>
          <a:p>
            <a:pPr marL="16933">
              <a:spcBef>
                <a:spcPts val="140"/>
              </a:spcBef>
            </a:pPr>
            <a:r>
              <a:rPr sz="1067" b="1" spc="7" dirty="0">
                <a:solidFill>
                  <a:srgbClr val="039BC5"/>
                </a:solidFill>
                <a:latin typeface="Lato"/>
                <a:cs typeface="Lato"/>
              </a:rPr>
              <a:t>Container</a:t>
            </a:r>
            <a:r>
              <a:rPr sz="1067" b="1" spc="-127" dirty="0">
                <a:solidFill>
                  <a:srgbClr val="039BC5"/>
                </a:solidFill>
                <a:latin typeface="Lato"/>
                <a:cs typeface="Lato"/>
              </a:rPr>
              <a:t> </a:t>
            </a:r>
            <a:r>
              <a:rPr sz="1067" b="1" spc="7" dirty="0">
                <a:solidFill>
                  <a:srgbClr val="039BC5"/>
                </a:solidFill>
                <a:latin typeface="Lato"/>
                <a:cs typeface="Lato"/>
              </a:rPr>
              <a:t>Runtime</a:t>
            </a:r>
            <a:r>
              <a:rPr sz="1067" b="1" spc="-107" dirty="0">
                <a:solidFill>
                  <a:srgbClr val="039BC5"/>
                </a:solidFill>
                <a:latin typeface="Lato"/>
                <a:cs typeface="Lato"/>
              </a:rPr>
              <a:t> </a:t>
            </a:r>
            <a:r>
              <a:rPr sz="1067" b="1" dirty="0">
                <a:solidFill>
                  <a:srgbClr val="039BC5"/>
                </a:solidFill>
                <a:latin typeface="Lato"/>
                <a:cs typeface="Lato"/>
              </a:rPr>
              <a:t>Engine</a:t>
            </a:r>
            <a:r>
              <a:rPr lang="en-US" sz="1067" b="1" dirty="0">
                <a:solidFill>
                  <a:srgbClr val="039BC5"/>
                </a:solidFill>
                <a:latin typeface="Lato"/>
                <a:cs typeface="Lato"/>
              </a:rPr>
              <a:t> </a:t>
            </a:r>
            <a:endParaRPr sz="1067" dirty="0">
              <a:latin typeface="Lato"/>
              <a:cs typeface="Lato"/>
            </a:endParaRPr>
          </a:p>
          <a:p>
            <a:pPr marL="34711">
              <a:spcBef>
                <a:spcPts val="473"/>
              </a:spcBef>
            </a:pPr>
            <a:r>
              <a:rPr sz="533" spc="-7" dirty="0">
                <a:solidFill>
                  <a:srgbClr val="039BC5"/>
                </a:solidFill>
                <a:latin typeface="Lato"/>
                <a:cs typeface="Lato"/>
              </a:rPr>
              <a:t>Run containers</a:t>
            </a:r>
            <a:endParaRPr sz="533" dirty="0">
              <a:latin typeface="Lato"/>
              <a:cs typeface="Lato"/>
            </a:endParaRPr>
          </a:p>
        </p:txBody>
      </p:sp>
      <p:sp>
        <p:nvSpPr>
          <p:cNvPr id="9" name="object 48"/>
          <p:cNvSpPr/>
          <p:nvPr/>
        </p:nvSpPr>
        <p:spPr>
          <a:xfrm>
            <a:off x="9989865" y="2969122"/>
            <a:ext cx="335280" cy="278382"/>
          </a:xfrm>
          <a:prstGeom prst="rect">
            <a:avLst/>
          </a:prstGeom>
          <a:blipFill>
            <a:blip r:embed="rId3" cstate="print"/>
            <a:stretch>
              <a:fillRect/>
            </a:stretch>
          </a:blipFill>
        </p:spPr>
        <p:txBody>
          <a:bodyPr wrap="square" lIns="0" tIns="0" rIns="0" bIns="0" rtlCol="0"/>
          <a:lstStyle/>
          <a:p>
            <a:endParaRPr sz="2400"/>
          </a:p>
        </p:txBody>
      </p:sp>
      <p:sp>
        <p:nvSpPr>
          <p:cNvPr id="10" name="object 47"/>
          <p:cNvSpPr/>
          <p:nvPr/>
        </p:nvSpPr>
        <p:spPr>
          <a:xfrm>
            <a:off x="10393310" y="2937164"/>
            <a:ext cx="445008" cy="267208"/>
          </a:xfrm>
          <a:prstGeom prst="rect">
            <a:avLst/>
          </a:prstGeom>
          <a:blipFill>
            <a:blip r:embed="rId4"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1193091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1"/>
          <p:cNvPicPr>
            <a:picLocks noGrp="1"/>
          </p:cNvPicPr>
          <p:nvPr>
            <p:ph idx="1"/>
          </p:nvPr>
        </p:nvPicPr>
        <p:blipFill>
          <a:blip r:embed="rId2" cstate="print"/>
          <a:stretch>
            <a:fillRect/>
          </a:stretch>
        </p:blipFill>
        <p:spPr>
          <a:xfrm>
            <a:off x="480291" y="323273"/>
            <a:ext cx="10594109" cy="6400799"/>
          </a:xfrm>
          <a:prstGeom prst="rect">
            <a:avLst/>
          </a:prstGeom>
        </p:spPr>
      </p:pic>
    </p:spTree>
    <p:extLst>
      <p:ext uri="{BB962C8B-B14F-4D97-AF65-F5344CB8AC3E}">
        <p14:creationId xmlns:p14="http://schemas.microsoft.com/office/powerpoint/2010/main" val="4213508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Kubernetes commands</a:t>
            </a:r>
          </a:p>
        </p:txBody>
      </p:sp>
      <p:sp>
        <p:nvSpPr>
          <p:cNvPr id="3" name="Content Placeholder 2"/>
          <p:cNvSpPr>
            <a:spLocks noGrp="1"/>
          </p:cNvSpPr>
          <p:nvPr>
            <p:ph idx="1"/>
          </p:nvPr>
        </p:nvSpPr>
        <p:spPr>
          <a:xfrm>
            <a:off x="782782" y="1844097"/>
            <a:ext cx="10515600" cy="4351338"/>
          </a:xfrm>
        </p:spPr>
        <p:txBody>
          <a:bodyPr>
            <a:normAutofit/>
          </a:bodyPr>
          <a:lstStyle/>
          <a:p>
            <a:r>
              <a:rPr lang="en-US" sz="1600" dirty="0">
                <a:solidFill>
                  <a:srgbClr val="2453FF"/>
                </a:solidFill>
                <a:latin typeface="RobotoMono-Regular"/>
              </a:rPr>
              <a:t>kubectl --help </a:t>
            </a:r>
            <a:r>
              <a:rPr lang="en-US" sz="1600" dirty="0">
                <a:solidFill>
                  <a:srgbClr val="000000"/>
                </a:solidFill>
                <a:latin typeface="Poppins-Light"/>
              </a:rPr>
              <a:t>-help with the </a:t>
            </a:r>
            <a:r>
              <a:rPr lang="en-US" sz="1600" dirty="0" err="1">
                <a:solidFill>
                  <a:srgbClr val="000000"/>
                </a:solidFill>
                <a:latin typeface="Poppins-Light"/>
              </a:rPr>
              <a:t>kubeclt</a:t>
            </a:r>
            <a:r>
              <a:rPr lang="en-US" sz="1600" dirty="0">
                <a:solidFill>
                  <a:srgbClr val="000000"/>
                </a:solidFill>
                <a:latin typeface="Poppins-Light"/>
              </a:rPr>
              <a:t> command and verbs</a:t>
            </a:r>
          </a:p>
          <a:p>
            <a:r>
              <a:rPr lang="en-US" sz="1600" dirty="0">
                <a:solidFill>
                  <a:srgbClr val="2453FF"/>
                </a:solidFill>
                <a:latin typeface="RobotoMono-Regular"/>
              </a:rPr>
              <a:t>kubectl </a:t>
            </a:r>
            <a:r>
              <a:rPr lang="en-US" sz="1600" dirty="0" err="1">
                <a:solidFill>
                  <a:srgbClr val="2453FF"/>
                </a:solidFill>
                <a:latin typeface="RobotoMono-Regular"/>
              </a:rPr>
              <a:t>api</a:t>
            </a:r>
            <a:r>
              <a:rPr lang="en-US" sz="1600" dirty="0">
                <a:solidFill>
                  <a:srgbClr val="2453FF"/>
                </a:solidFill>
                <a:latin typeface="RobotoMono-Regular"/>
              </a:rPr>
              <a:t>-resources </a:t>
            </a:r>
            <a:r>
              <a:rPr lang="en-US" sz="1600" dirty="0">
                <a:solidFill>
                  <a:srgbClr val="000000"/>
                </a:solidFill>
                <a:latin typeface="Poppins-Light"/>
              </a:rPr>
              <a:t>-list all API resources with their related verbs</a:t>
            </a:r>
          </a:p>
          <a:p>
            <a:r>
              <a:rPr lang="en-US" sz="1600" dirty="0">
                <a:solidFill>
                  <a:srgbClr val="2453FF"/>
                </a:solidFill>
                <a:latin typeface="RobotoMono-Regular"/>
              </a:rPr>
              <a:t>kubectl explain </a:t>
            </a:r>
            <a:r>
              <a:rPr lang="en-US" sz="1600" dirty="0">
                <a:solidFill>
                  <a:srgbClr val="2453FF"/>
                </a:solidFill>
                <a:latin typeface="RobotoMono-Medium"/>
              </a:rPr>
              <a:t>RESOURCE </a:t>
            </a:r>
            <a:r>
              <a:rPr lang="en-US" sz="1600" dirty="0">
                <a:solidFill>
                  <a:srgbClr val="000000"/>
                </a:solidFill>
                <a:latin typeface="Poppins-Light"/>
              </a:rPr>
              <a:t>-provides more details about the resource</a:t>
            </a:r>
          </a:p>
          <a:p>
            <a:r>
              <a:rPr lang="en-US" sz="1600" dirty="0">
                <a:solidFill>
                  <a:srgbClr val="2453FF"/>
                </a:solidFill>
                <a:latin typeface="RobotoMono-Regular"/>
              </a:rPr>
              <a:t>kubectl get nodes </a:t>
            </a:r>
            <a:r>
              <a:rPr lang="en-US" sz="1600" dirty="0">
                <a:solidFill>
                  <a:srgbClr val="000000"/>
                </a:solidFill>
                <a:latin typeface="Poppins-Light"/>
              </a:rPr>
              <a:t>-list all nodes in the cluster</a:t>
            </a:r>
          </a:p>
          <a:p>
            <a:r>
              <a:rPr lang="en-US" sz="1600" dirty="0">
                <a:solidFill>
                  <a:srgbClr val="2453FF"/>
                </a:solidFill>
                <a:latin typeface="RobotoMono-Regular"/>
              </a:rPr>
              <a:t>kubectl get pods </a:t>
            </a:r>
            <a:r>
              <a:rPr lang="en-US" sz="1600" dirty="0">
                <a:solidFill>
                  <a:srgbClr val="000000"/>
                </a:solidFill>
                <a:latin typeface="Poppins-Light"/>
              </a:rPr>
              <a:t>-list all pods in your current namespace</a:t>
            </a:r>
          </a:p>
          <a:p>
            <a:r>
              <a:rPr lang="en-US" sz="1600" dirty="0">
                <a:solidFill>
                  <a:srgbClr val="2453FF"/>
                </a:solidFill>
                <a:latin typeface="RobotoMono-Regular"/>
              </a:rPr>
              <a:t>kubectl get deployments </a:t>
            </a:r>
            <a:r>
              <a:rPr lang="en-US" sz="1600" dirty="0">
                <a:solidFill>
                  <a:srgbClr val="000000"/>
                </a:solidFill>
                <a:latin typeface="Poppins-Light"/>
              </a:rPr>
              <a:t>-list all deployments in your current namespace</a:t>
            </a:r>
          </a:p>
          <a:p>
            <a:r>
              <a:rPr lang="en-US" sz="1600" dirty="0">
                <a:solidFill>
                  <a:srgbClr val="2453FF"/>
                </a:solidFill>
                <a:latin typeface="RobotoMono-Regular"/>
              </a:rPr>
              <a:t>-n | --namespace </a:t>
            </a:r>
            <a:r>
              <a:rPr lang="en-US" sz="1600" dirty="0">
                <a:solidFill>
                  <a:srgbClr val="000000"/>
                </a:solidFill>
                <a:latin typeface="Poppins-Light"/>
              </a:rPr>
              <a:t>-specify a namespace</a:t>
            </a:r>
          </a:p>
          <a:p>
            <a:r>
              <a:rPr lang="en-US" sz="1600" dirty="0">
                <a:solidFill>
                  <a:srgbClr val="2453FF"/>
                </a:solidFill>
                <a:latin typeface="RobotoMono-Regular"/>
              </a:rPr>
              <a:t>-o wide </a:t>
            </a:r>
            <a:r>
              <a:rPr lang="en-US" sz="1600" dirty="0">
                <a:solidFill>
                  <a:srgbClr val="000000"/>
                </a:solidFill>
                <a:latin typeface="Poppins-Light"/>
              </a:rPr>
              <a:t>-display extra details</a:t>
            </a:r>
          </a:p>
          <a:p>
            <a:r>
              <a:rPr lang="en-US" sz="1600" b="0" i="0" u="none" strike="noStrike" baseline="0" dirty="0">
                <a:solidFill>
                  <a:srgbClr val="2453FF"/>
                </a:solidFill>
                <a:latin typeface="RobotoMono-Regular"/>
              </a:rPr>
              <a:t>kubectl describe node </a:t>
            </a:r>
            <a:r>
              <a:rPr lang="en-US" sz="1600" b="0" i="0" u="none" strike="noStrike" baseline="0" dirty="0">
                <a:solidFill>
                  <a:srgbClr val="000000"/>
                </a:solidFill>
                <a:latin typeface="Poppins-Light"/>
              </a:rPr>
              <a:t>-provide detailed info for a node</a:t>
            </a:r>
          </a:p>
          <a:p>
            <a:r>
              <a:rPr lang="en-US" sz="1600" b="0" i="0" u="none" strike="noStrike" baseline="0" dirty="0">
                <a:solidFill>
                  <a:srgbClr val="2453FF"/>
                </a:solidFill>
                <a:latin typeface="RobotoMono-Regular"/>
              </a:rPr>
              <a:t>kubectl describe pod </a:t>
            </a:r>
            <a:r>
              <a:rPr lang="en-US" sz="1600" b="0" i="0" u="none" strike="noStrike" baseline="0" dirty="0">
                <a:solidFill>
                  <a:srgbClr val="000000"/>
                </a:solidFill>
                <a:latin typeface="Poppins-Light"/>
              </a:rPr>
              <a:t>-provide detailed info for a pod</a:t>
            </a:r>
          </a:p>
          <a:p>
            <a:r>
              <a:rPr lang="en-US" sz="1600" b="0" i="0" u="none" strike="noStrike" baseline="0" dirty="0">
                <a:solidFill>
                  <a:srgbClr val="2453FF"/>
                </a:solidFill>
                <a:latin typeface="RobotoMono-Regular"/>
              </a:rPr>
              <a:t>kubectl describe deployment </a:t>
            </a:r>
            <a:r>
              <a:rPr lang="en-US" sz="1600" b="0" i="0" u="none" strike="noStrike" baseline="0" dirty="0">
                <a:solidFill>
                  <a:srgbClr val="000000"/>
                </a:solidFill>
                <a:latin typeface="Poppins-Light"/>
              </a:rPr>
              <a:t>-provide detailed info for a </a:t>
            </a:r>
            <a:r>
              <a:rPr lang="en-US" sz="1600" b="0" i="0" u="none" strike="noStrike" baseline="0" dirty="0" err="1">
                <a:solidFill>
                  <a:srgbClr val="000000"/>
                </a:solidFill>
                <a:latin typeface="Poppins-Light"/>
              </a:rPr>
              <a:t>deploymen</a:t>
            </a:r>
            <a:endParaRPr lang="en-US" sz="1600" dirty="0"/>
          </a:p>
        </p:txBody>
      </p:sp>
    </p:spTree>
    <p:extLst>
      <p:ext uri="{BB962C8B-B14F-4D97-AF65-F5344CB8AC3E}">
        <p14:creationId xmlns:p14="http://schemas.microsoft.com/office/powerpoint/2010/main" val="4085450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Command help </a:t>
            </a:r>
          </a:p>
        </p:txBody>
      </p:sp>
      <p:sp>
        <p:nvSpPr>
          <p:cNvPr id="3" name="Content Placeholder 2"/>
          <p:cNvSpPr>
            <a:spLocks noGrp="1"/>
          </p:cNvSpPr>
          <p:nvPr>
            <p:ph idx="1"/>
          </p:nvPr>
        </p:nvSpPr>
        <p:spPr/>
        <p:txBody>
          <a:bodyPr>
            <a:normAutofit lnSpcReduction="10000"/>
          </a:bodyPr>
          <a:lstStyle/>
          <a:p>
            <a:r>
              <a:rPr lang="en-US" sz="1400" dirty="0">
                <a:solidFill>
                  <a:srgbClr val="2453FF"/>
                </a:solidFill>
                <a:latin typeface="RobotoMono-Regular"/>
              </a:rPr>
              <a:t>kubectl create namespace </a:t>
            </a:r>
            <a:r>
              <a:rPr lang="en-US" sz="1400" dirty="0">
                <a:solidFill>
                  <a:srgbClr val="000000"/>
                </a:solidFill>
                <a:latin typeface="Poppins-Light"/>
              </a:rPr>
              <a:t>-create a new namespace</a:t>
            </a:r>
          </a:p>
          <a:p>
            <a:r>
              <a:rPr lang="en-US" sz="1400" dirty="0">
                <a:solidFill>
                  <a:srgbClr val="2453FF"/>
                </a:solidFill>
                <a:latin typeface="RobotoMono-Regular"/>
              </a:rPr>
              <a:t>kubectl create -f </a:t>
            </a:r>
            <a:r>
              <a:rPr lang="en-US" sz="1400" dirty="0" err="1">
                <a:solidFill>
                  <a:srgbClr val="2453FF"/>
                </a:solidFill>
                <a:latin typeface="RobotoMono-Regular"/>
              </a:rPr>
              <a:t>pod.yaml</a:t>
            </a:r>
            <a:r>
              <a:rPr lang="en-US" sz="1400" dirty="0">
                <a:solidFill>
                  <a:srgbClr val="2453FF"/>
                </a:solidFill>
                <a:latin typeface="RobotoMono-Regular"/>
              </a:rPr>
              <a:t> </a:t>
            </a:r>
            <a:r>
              <a:rPr lang="en-US" sz="1400" dirty="0">
                <a:solidFill>
                  <a:srgbClr val="000000"/>
                </a:solidFill>
                <a:latin typeface="Poppins-Light"/>
              </a:rPr>
              <a:t>-create a pod from a manifest</a:t>
            </a:r>
          </a:p>
          <a:p>
            <a:r>
              <a:rPr lang="en-US" sz="1400" dirty="0">
                <a:solidFill>
                  <a:srgbClr val="2453FF"/>
                </a:solidFill>
                <a:latin typeface="RobotoMono-Regular"/>
              </a:rPr>
              <a:t>kubectl apply -f </a:t>
            </a:r>
            <a:r>
              <a:rPr lang="en-US" sz="1400" dirty="0" err="1">
                <a:solidFill>
                  <a:srgbClr val="2453FF"/>
                </a:solidFill>
                <a:latin typeface="RobotoMono-Regular"/>
              </a:rPr>
              <a:t>pod.yaml</a:t>
            </a:r>
            <a:r>
              <a:rPr lang="en-US" sz="1400" dirty="0">
                <a:solidFill>
                  <a:srgbClr val="2453FF"/>
                </a:solidFill>
                <a:latin typeface="RobotoMono-Regular"/>
              </a:rPr>
              <a:t> </a:t>
            </a:r>
            <a:r>
              <a:rPr lang="en-US" sz="1400" dirty="0">
                <a:solidFill>
                  <a:srgbClr val="000000"/>
                </a:solidFill>
                <a:latin typeface="Poppins-Light"/>
              </a:rPr>
              <a:t>-create/update a pod from a manifest</a:t>
            </a:r>
          </a:p>
          <a:p>
            <a:r>
              <a:rPr lang="en-US" sz="1400" dirty="0">
                <a:solidFill>
                  <a:srgbClr val="2453FF"/>
                </a:solidFill>
                <a:latin typeface="RobotoMono-Regular"/>
              </a:rPr>
              <a:t>kubectl delete namespace </a:t>
            </a:r>
            <a:r>
              <a:rPr lang="en-US" sz="1400" dirty="0">
                <a:solidFill>
                  <a:srgbClr val="000000"/>
                </a:solidFill>
                <a:latin typeface="Poppins-Light"/>
              </a:rPr>
              <a:t>-delete a namespace</a:t>
            </a:r>
          </a:p>
          <a:p>
            <a:r>
              <a:rPr lang="en-US" sz="1400" dirty="0">
                <a:solidFill>
                  <a:srgbClr val="2453FF"/>
                </a:solidFill>
                <a:latin typeface="RobotoMono-Regular"/>
              </a:rPr>
              <a:t>kubectl delete pod </a:t>
            </a:r>
            <a:r>
              <a:rPr lang="en-US" sz="1400" dirty="0">
                <a:solidFill>
                  <a:srgbClr val="000000"/>
                </a:solidFill>
                <a:latin typeface="Poppins-Light"/>
              </a:rPr>
              <a:t>-delete a pod</a:t>
            </a:r>
          </a:p>
          <a:p>
            <a:r>
              <a:rPr lang="en-US" sz="1400" dirty="0">
                <a:solidFill>
                  <a:srgbClr val="2453FF"/>
                </a:solidFill>
                <a:latin typeface="RobotoMono-Regular"/>
              </a:rPr>
              <a:t>kubectl delete deployment </a:t>
            </a:r>
            <a:r>
              <a:rPr lang="en-US" sz="1400" dirty="0">
                <a:solidFill>
                  <a:srgbClr val="000000"/>
                </a:solidFill>
                <a:latin typeface="Poppins-Light"/>
              </a:rPr>
              <a:t>-delete a deployment</a:t>
            </a:r>
          </a:p>
          <a:p>
            <a:r>
              <a:rPr lang="en-US" sz="1400" dirty="0">
                <a:solidFill>
                  <a:srgbClr val="2453FF"/>
                </a:solidFill>
                <a:latin typeface="RobotoMono-Regular"/>
              </a:rPr>
              <a:t>-f </a:t>
            </a:r>
            <a:r>
              <a:rPr lang="en-US" sz="1400" dirty="0">
                <a:solidFill>
                  <a:srgbClr val="000000"/>
                </a:solidFill>
                <a:latin typeface="Poppins-Light"/>
              </a:rPr>
              <a:t>-specify a </a:t>
            </a:r>
            <a:r>
              <a:rPr lang="en-US" sz="1400" dirty="0" err="1">
                <a:solidFill>
                  <a:srgbClr val="000000"/>
                </a:solidFill>
                <a:latin typeface="Poppins-Light"/>
              </a:rPr>
              <a:t>yaml</a:t>
            </a:r>
            <a:r>
              <a:rPr lang="en-US" sz="1400" dirty="0">
                <a:solidFill>
                  <a:srgbClr val="000000"/>
                </a:solidFill>
                <a:latin typeface="Poppins-Light"/>
              </a:rPr>
              <a:t> file describing objects to delete</a:t>
            </a:r>
          </a:p>
          <a:p>
            <a:r>
              <a:rPr lang="en-US" sz="1400" dirty="0">
                <a:solidFill>
                  <a:srgbClr val="2453FF"/>
                </a:solidFill>
                <a:latin typeface="RobotoMono-Regular"/>
              </a:rPr>
              <a:t>-n | --namespace </a:t>
            </a:r>
            <a:r>
              <a:rPr lang="en-US" sz="1400" dirty="0">
                <a:solidFill>
                  <a:srgbClr val="000000"/>
                </a:solidFill>
                <a:latin typeface="Poppins-Light"/>
              </a:rPr>
              <a:t>-specify a namespace</a:t>
            </a:r>
          </a:p>
          <a:p>
            <a:r>
              <a:rPr lang="en-US" sz="1400" dirty="0" err="1">
                <a:solidFill>
                  <a:srgbClr val="000000"/>
                </a:solidFill>
                <a:latin typeface="Poppins-Light"/>
              </a:rPr>
              <a:t>Troublshooting</a:t>
            </a:r>
            <a:r>
              <a:rPr lang="en-US" sz="1400" dirty="0">
                <a:solidFill>
                  <a:srgbClr val="000000"/>
                </a:solidFill>
                <a:latin typeface="Poppins-Light"/>
              </a:rPr>
              <a:t> Commands</a:t>
            </a:r>
          </a:p>
          <a:p>
            <a:r>
              <a:rPr lang="en-US" sz="1400" b="0" i="0" u="none" strike="noStrike" baseline="0" dirty="0">
                <a:solidFill>
                  <a:srgbClr val="2453FF"/>
                </a:solidFill>
                <a:latin typeface="RobotoMono-Regular"/>
              </a:rPr>
              <a:t>kubectl logs </a:t>
            </a:r>
            <a:r>
              <a:rPr lang="en-US" sz="1400" b="0" i="0" u="none" strike="noStrike" baseline="0" dirty="0" err="1">
                <a:solidFill>
                  <a:srgbClr val="2453FF"/>
                </a:solidFill>
                <a:latin typeface="RobotoMono-Regular"/>
              </a:rPr>
              <a:t>myapp</a:t>
            </a:r>
            <a:r>
              <a:rPr lang="en-US" sz="1400" b="0" i="0" u="none" strike="noStrike" baseline="0" dirty="0">
                <a:solidFill>
                  <a:srgbClr val="2453FF"/>
                </a:solidFill>
                <a:latin typeface="RobotoMono-Regular"/>
              </a:rPr>
              <a:t> </a:t>
            </a:r>
            <a:r>
              <a:rPr lang="en-US" sz="1400" b="0" i="0" u="none" strike="noStrike" baseline="0" dirty="0">
                <a:solidFill>
                  <a:srgbClr val="000000"/>
                </a:solidFill>
                <a:latin typeface="Poppins-Light"/>
              </a:rPr>
              <a:t>-receive app logs from a pod</a:t>
            </a:r>
          </a:p>
          <a:p>
            <a:r>
              <a:rPr lang="en-US" sz="1400" b="0" i="0" u="none" strike="noStrike" baseline="0" dirty="0">
                <a:solidFill>
                  <a:srgbClr val="2453FF"/>
                </a:solidFill>
                <a:latin typeface="RobotoMono-Regular"/>
              </a:rPr>
              <a:t>kubectl exec -it </a:t>
            </a:r>
            <a:r>
              <a:rPr lang="en-US" sz="1400" b="0" i="0" u="none" strike="noStrike" baseline="0" dirty="0" err="1">
                <a:solidFill>
                  <a:srgbClr val="2453FF"/>
                </a:solidFill>
                <a:latin typeface="RobotoMono-Regular"/>
              </a:rPr>
              <a:t>myapp</a:t>
            </a:r>
            <a:r>
              <a:rPr lang="en-US" sz="1400" b="0" i="0" u="none" strike="noStrike" baseline="0" dirty="0">
                <a:solidFill>
                  <a:srgbClr val="2453FF"/>
                </a:solidFill>
                <a:latin typeface="RobotoMono-Regular"/>
              </a:rPr>
              <a:t> -- bash </a:t>
            </a:r>
            <a:r>
              <a:rPr lang="en-US" sz="1400" b="0" i="0" u="none" strike="noStrike" baseline="0" dirty="0">
                <a:solidFill>
                  <a:srgbClr val="000000"/>
                </a:solidFill>
                <a:latin typeface="Poppins-Light"/>
              </a:rPr>
              <a:t>-launch a shell in a pod and connect to it</a:t>
            </a:r>
          </a:p>
          <a:p>
            <a:r>
              <a:rPr lang="en-US" sz="1400" b="0" i="0" u="none" strike="noStrike" baseline="0" dirty="0">
                <a:solidFill>
                  <a:srgbClr val="2453FF"/>
                </a:solidFill>
                <a:latin typeface="RobotoMono-Regular"/>
              </a:rPr>
              <a:t>kubectl cp </a:t>
            </a:r>
            <a:r>
              <a:rPr lang="en-US" sz="1400" b="0" i="0" u="none" strike="noStrike" baseline="0" dirty="0" err="1">
                <a:solidFill>
                  <a:srgbClr val="2453FF"/>
                </a:solidFill>
                <a:latin typeface="RobotoMono-Regular"/>
              </a:rPr>
              <a:t>myapp</a:t>
            </a:r>
            <a:r>
              <a:rPr lang="en-US" sz="1400" b="0" i="0" u="none" strike="noStrike" baseline="0" dirty="0">
                <a:solidFill>
                  <a:srgbClr val="2453FF"/>
                </a:solidFill>
                <a:latin typeface="RobotoMono-Regular"/>
              </a:rPr>
              <a:t>:/var/log/message /home/tux</a:t>
            </a:r>
            <a:r>
              <a:rPr lang="en-US" sz="1400" b="0" i="0" u="none" strike="noStrike" dirty="0">
                <a:solidFill>
                  <a:srgbClr val="2453FF"/>
                </a:solidFill>
                <a:latin typeface="RobotoMono-Regular"/>
              </a:rPr>
              <a:t> </a:t>
            </a:r>
            <a:r>
              <a:rPr lang="en-US" sz="1400" b="0" i="0" u="none" strike="noStrike" baseline="0" dirty="0">
                <a:solidFill>
                  <a:srgbClr val="000000"/>
                </a:solidFill>
                <a:latin typeface="Poppins-Light"/>
              </a:rPr>
              <a:t>-copy a file (/var/log/messages) from a</a:t>
            </a:r>
            <a:r>
              <a:rPr lang="en-US" sz="1400" b="0" i="0" u="none" strike="noStrike" dirty="0">
                <a:solidFill>
                  <a:srgbClr val="000000"/>
                </a:solidFill>
                <a:latin typeface="Poppins-Light"/>
              </a:rPr>
              <a:t> </a:t>
            </a:r>
            <a:r>
              <a:rPr lang="en-US" sz="1400" b="0" i="0" u="none" strike="noStrike" baseline="0" dirty="0">
                <a:solidFill>
                  <a:srgbClr val="000000"/>
                </a:solidFill>
                <a:latin typeface="Poppins-Light"/>
              </a:rPr>
              <a:t>pod to the local filesystem</a:t>
            </a:r>
          </a:p>
          <a:p>
            <a:r>
              <a:rPr lang="en-US" sz="1400" b="0" i="0" u="none" strike="noStrike" baseline="0" dirty="0">
                <a:solidFill>
                  <a:srgbClr val="2453FF"/>
                </a:solidFill>
                <a:latin typeface="RobotoMono-Regular"/>
              </a:rPr>
              <a:t>kubectl cp testscript.sh </a:t>
            </a:r>
            <a:r>
              <a:rPr lang="en-US" sz="1400" b="0" i="0" u="none" strike="noStrike" baseline="0" dirty="0" err="1">
                <a:solidFill>
                  <a:srgbClr val="2453FF"/>
                </a:solidFill>
                <a:latin typeface="RobotoMono-Regular"/>
              </a:rPr>
              <a:t>myapp</a:t>
            </a:r>
            <a:r>
              <a:rPr lang="en-US" sz="1400" b="0" i="0" u="none" strike="noStrike" baseline="0" dirty="0">
                <a:solidFill>
                  <a:srgbClr val="2453FF"/>
                </a:solidFill>
                <a:latin typeface="RobotoMono-Regular"/>
              </a:rPr>
              <a:t>:/</a:t>
            </a:r>
            <a:r>
              <a:rPr lang="en-US" sz="1400" b="0" i="0" u="none" strike="noStrike" baseline="0" dirty="0" err="1">
                <a:solidFill>
                  <a:srgbClr val="2453FF"/>
                </a:solidFill>
                <a:latin typeface="RobotoMono-Regular"/>
              </a:rPr>
              <a:t>usr</a:t>
            </a:r>
            <a:r>
              <a:rPr lang="en-US" sz="1400" b="0" i="0" u="none" strike="noStrike" baseline="0" dirty="0">
                <a:solidFill>
                  <a:srgbClr val="2453FF"/>
                </a:solidFill>
                <a:latin typeface="RobotoMono-Regular"/>
              </a:rPr>
              <a:t>/local/bin</a:t>
            </a:r>
            <a:r>
              <a:rPr lang="en-US" sz="1400" b="0" i="0" u="none" strike="noStrike" dirty="0">
                <a:solidFill>
                  <a:srgbClr val="2453FF"/>
                </a:solidFill>
                <a:latin typeface="RobotoMono-Regular"/>
              </a:rPr>
              <a:t> </a:t>
            </a:r>
            <a:r>
              <a:rPr lang="en-US" sz="1400" b="0" i="0" u="none" strike="noStrike" baseline="0" dirty="0">
                <a:solidFill>
                  <a:srgbClr val="000000"/>
                </a:solidFill>
                <a:latin typeface="Poppins-Light"/>
              </a:rPr>
              <a:t>-copy a file (testscript.sh) into a pod</a:t>
            </a:r>
          </a:p>
          <a:p>
            <a:r>
              <a:rPr lang="en-US" sz="1400" b="0" i="0" u="none" strike="noStrike" baseline="0" dirty="0">
                <a:solidFill>
                  <a:srgbClr val="2453FF"/>
                </a:solidFill>
                <a:latin typeface="RobotoMono-Regular"/>
              </a:rPr>
              <a:t>kubectl edit service </a:t>
            </a:r>
            <a:r>
              <a:rPr lang="en-US" sz="1400" b="0" i="0" u="none" strike="noStrike" baseline="0" dirty="0" err="1">
                <a:solidFill>
                  <a:srgbClr val="2453FF"/>
                </a:solidFill>
                <a:latin typeface="RobotoMono-Regular"/>
              </a:rPr>
              <a:t>myservice</a:t>
            </a:r>
            <a:r>
              <a:rPr lang="en-US" sz="1400" b="0" i="0" u="none" strike="noStrike" baseline="0" dirty="0">
                <a:solidFill>
                  <a:srgbClr val="2453FF"/>
                </a:solidFill>
                <a:latin typeface="RobotoMono-Regular"/>
              </a:rPr>
              <a:t> </a:t>
            </a:r>
            <a:r>
              <a:rPr lang="en-US" sz="1400" b="0" i="0" u="none" strike="noStrike" baseline="0" dirty="0">
                <a:solidFill>
                  <a:srgbClr val="000000"/>
                </a:solidFill>
                <a:latin typeface="Poppins-Light"/>
              </a:rPr>
              <a:t>-opens the default editor and edits the raw </a:t>
            </a:r>
            <a:r>
              <a:rPr lang="en-US" sz="1400" b="0" i="0" u="none" strike="noStrike" baseline="0" dirty="0" err="1">
                <a:solidFill>
                  <a:srgbClr val="000000"/>
                </a:solidFill>
                <a:latin typeface="Poppins-Light"/>
              </a:rPr>
              <a:t>yaml</a:t>
            </a:r>
            <a:r>
              <a:rPr lang="en-US" sz="1400" b="0" i="0" u="none" strike="noStrike" baseline="0" dirty="0">
                <a:solidFill>
                  <a:srgbClr val="000000"/>
                </a:solidFill>
                <a:latin typeface="Poppins-Light"/>
              </a:rPr>
              <a:t> for a service </a:t>
            </a:r>
            <a:endParaRPr lang="en-US" sz="1400" dirty="0">
              <a:solidFill>
                <a:srgbClr val="000000"/>
              </a:solidFill>
              <a:latin typeface="Poppins-Light"/>
            </a:endParaRPr>
          </a:p>
        </p:txBody>
      </p:sp>
    </p:spTree>
    <p:extLst>
      <p:ext uri="{BB962C8B-B14F-4D97-AF65-F5344CB8AC3E}">
        <p14:creationId xmlns:p14="http://schemas.microsoft.com/office/powerpoint/2010/main" val="2962317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a:t>
            </a:r>
          </a:p>
        </p:txBody>
      </p:sp>
      <p:sp>
        <p:nvSpPr>
          <p:cNvPr id="8" name="Content Placeholder 7"/>
          <p:cNvSpPr>
            <a:spLocks noGrp="1"/>
          </p:cNvSpPr>
          <p:nvPr>
            <p:ph idx="1"/>
          </p:nvPr>
        </p:nvSpPr>
        <p:spPr/>
        <p:txBody>
          <a:bodyPr/>
          <a:lstStyle/>
          <a:p>
            <a:r>
              <a:rPr lang="en-US" u="sng" dirty="0"/>
              <a:t>https://phoenixnap.com/blog/kubernetes-vs-mesos</a:t>
            </a:r>
          </a:p>
        </p:txBody>
      </p:sp>
    </p:spTree>
    <p:extLst>
      <p:ext uri="{BB962C8B-B14F-4D97-AF65-F5344CB8AC3E}">
        <p14:creationId xmlns:p14="http://schemas.microsoft.com/office/powerpoint/2010/main" val="1113513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Namespaces </a:t>
            </a:r>
          </a:p>
        </p:txBody>
      </p:sp>
      <p:sp>
        <p:nvSpPr>
          <p:cNvPr id="3" name="Content Placeholder 2"/>
          <p:cNvSpPr>
            <a:spLocks noGrp="1"/>
          </p:cNvSpPr>
          <p:nvPr>
            <p:ph idx="1"/>
          </p:nvPr>
        </p:nvSpPr>
        <p:spPr>
          <a:xfrm>
            <a:off x="838200" y="2368550"/>
            <a:ext cx="10515600" cy="4351338"/>
          </a:xfrm>
        </p:spPr>
        <p:txBody>
          <a:bodyPr>
            <a:normAutofit/>
          </a:bodyPr>
          <a:lstStyle/>
          <a:p>
            <a:r>
              <a:rPr lang="en-US" sz="2400" dirty="0"/>
              <a:t>An abstraction used by Kubernetes to support multiple virtual clusters on the same physical cluster.</a:t>
            </a:r>
          </a:p>
          <a:p>
            <a:endParaRPr lang="en-US" sz="2400" dirty="0"/>
          </a:p>
          <a:p>
            <a:r>
              <a:rPr lang="en-US" sz="2400" dirty="0"/>
              <a:t> Organize objects in a cluster and provide a way to divide cluster resources.</a:t>
            </a:r>
          </a:p>
          <a:p>
            <a:endParaRPr lang="en-US" sz="2400" dirty="0"/>
          </a:p>
          <a:p>
            <a:r>
              <a:rPr lang="en-US" sz="2400" dirty="0"/>
              <a:t>Resources names must be unique within a namespace, but not necessarily across namespaces</a:t>
            </a:r>
            <a:r>
              <a:rPr lang="en-US" dirty="0"/>
              <a:t>.</a:t>
            </a:r>
          </a:p>
        </p:txBody>
      </p:sp>
    </p:spTree>
    <p:extLst>
      <p:ext uri="{BB962C8B-B14F-4D97-AF65-F5344CB8AC3E}">
        <p14:creationId xmlns:p14="http://schemas.microsoft.com/office/powerpoint/2010/main" val="1436072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Namespaces</a:t>
            </a:r>
          </a:p>
        </p:txBody>
      </p:sp>
      <p:sp>
        <p:nvSpPr>
          <p:cNvPr id="5" name="Content Placeholder 4"/>
          <p:cNvSpPr>
            <a:spLocks noGrp="1"/>
          </p:cNvSpPr>
          <p:nvPr>
            <p:ph sz="half" idx="1"/>
          </p:nvPr>
        </p:nvSpPr>
        <p:spPr>
          <a:xfrm>
            <a:off x="838200" y="1825625"/>
            <a:ext cx="5181600" cy="4602884"/>
          </a:xfrm>
        </p:spPr>
        <p:txBody>
          <a:bodyPr>
            <a:normAutofit fontScale="92500" lnSpcReduction="10000"/>
          </a:bodyPr>
          <a:lstStyle/>
          <a:p>
            <a:pPr marL="0" indent="0">
              <a:buNone/>
            </a:pPr>
            <a:r>
              <a:rPr lang="en-US" sz="1800" b="1" dirty="0"/>
              <a:t>Default </a:t>
            </a:r>
          </a:p>
          <a:p>
            <a:pPr marL="0" indent="0">
              <a:buNone/>
            </a:pPr>
            <a:r>
              <a:rPr lang="en-US" sz="1800" dirty="0"/>
              <a:t>The default namespace for objects with no other namespace</a:t>
            </a:r>
          </a:p>
          <a:p>
            <a:pPr marL="0" indent="0">
              <a:buNone/>
            </a:pPr>
            <a:endParaRPr lang="en-US" sz="1800" dirty="0"/>
          </a:p>
          <a:p>
            <a:pPr marL="0" indent="0">
              <a:buNone/>
            </a:pPr>
            <a:r>
              <a:rPr lang="en-US" sz="1800" b="1" dirty="0"/>
              <a:t>kube-system</a:t>
            </a:r>
          </a:p>
          <a:p>
            <a:pPr marL="0" indent="0">
              <a:buNone/>
            </a:pPr>
            <a:r>
              <a:rPr lang="en-US" sz="1800" dirty="0"/>
              <a:t>The namespace for objects created by the Kubernetes system</a:t>
            </a:r>
          </a:p>
          <a:p>
            <a:pPr marL="0" indent="0">
              <a:buNone/>
            </a:pPr>
            <a:endParaRPr lang="en-US" sz="1800" dirty="0"/>
          </a:p>
          <a:p>
            <a:pPr marL="0" indent="0">
              <a:buNone/>
            </a:pPr>
            <a:r>
              <a:rPr lang="en-US" sz="1800" b="1" dirty="0"/>
              <a:t>kube-public</a:t>
            </a:r>
          </a:p>
          <a:p>
            <a:pPr marL="0" indent="0">
              <a:buNone/>
            </a:pPr>
            <a:r>
              <a:rPr lang="en-US" sz="1800" dirty="0"/>
              <a:t>This namespace is created automatically and is readable by all users (including those not authenticated).</a:t>
            </a:r>
          </a:p>
          <a:p>
            <a:pPr marL="0" indent="0">
              <a:buNone/>
            </a:pPr>
            <a:endParaRPr lang="en-US" sz="1800" dirty="0"/>
          </a:p>
          <a:p>
            <a:pPr marL="0" indent="0">
              <a:buNone/>
            </a:pPr>
            <a:r>
              <a:rPr lang="en-US" sz="1800" b="1" dirty="0"/>
              <a:t>kube-node-lease</a:t>
            </a:r>
          </a:p>
          <a:p>
            <a:pPr marL="0" indent="0">
              <a:buNone/>
            </a:pPr>
            <a:r>
              <a:rPr lang="en-US" sz="1800" dirty="0"/>
              <a:t>This is a placeholder for future functionality.</a:t>
            </a:r>
          </a:p>
        </p:txBody>
      </p:sp>
      <p:pic>
        <p:nvPicPr>
          <p:cNvPr id="3074" name="Picture 2" descr="Kubernetes - Namespaces - The IT Hollow"/>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6301455" y="1825625"/>
            <a:ext cx="492309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2451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Kube-system Namespace</a:t>
            </a:r>
          </a:p>
        </p:txBody>
      </p:sp>
      <p:sp>
        <p:nvSpPr>
          <p:cNvPr id="3" name="Content Placeholder 2"/>
          <p:cNvSpPr>
            <a:spLocks noGrp="1"/>
          </p:cNvSpPr>
          <p:nvPr>
            <p:ph sz="half" idx="1"/>
          </p:nvPr>
        </p:nvSpPr>
        <p:spPr>
          <a:xfrm>
            <a:off x="875145" y="1825625"/>
            <a:ext cx="8832273" cy="4351338"/>
          </a:xfrm>
        </p:spPr>
        <p:txBody>
          <a:bodyPr>
            <a:normAutofit/>
          </a:bodyPr>
          <a:lstStyle/>
          <a:p>
            <a:r>
              <a:rPr lang="en-US" sz="2000" dirty="0"/>
              <a:t>The namespace for objects created by the Kubernetes system</a:t>
            </a:r>
          </a:p>
          <a:p>
            <a:pPr marL="0" indent="0">
              <a:buNone/>
            </a:pPr>
            <a:endParaRPr lang="en-US" sz="2000" dirty="0"/>
          </a:p>
          <a:p>
            <a:r>
              <a:rPr lang="en-US" sz="2000" dirty="0"/>
              <a:t>Created when the Kubernetes cluster is first created</a:t>
            </a:r>
          </a:p>
          <a:p>
            <a:pPr marL="0" indent="0">
              <a:buNone/>
            </a:pPr>
            <a:endParaRPr lang="en-US" sz="2000" dirty="0"/>
          </a:p>
          <a:p>
            <a:r>
              <a:rPr lang="en-US" sz="2000" dirty="0"/>
              <a:t>All system pods, services, and other resources will be created in this namespace</a:t>
            </a:r>
          </a:p>
        </p:txBody>
      </p:sp>
    </p:spTree>
    <p:extLst>
      <p:ext uri="{BB962C8B-B14F-4D97-AF65-F5344CB8AC3E}">
        <p14:creationId xmlns:p14="http://schemas.microsoft.com/office/powerpoint/2010/main" val="1821721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Resource Quota</a:t>
            </a:r>
          </a:p>
        </p:txBody>
      </p:sp>
      <p:sp>
        <p:nvSpPr>
          <p:cNvPr id="3" name="Content Placeholder 2"/>
          <p:cNvSpPr>
            <a:spLocks noGrp="1"/>
          </p:cNvSpPr>
          <p:nvPr>
            <p:ph sz="half" idx="1"/>
          </p:nvPr>
        </p:nvSpPr>
        <p:spPr>
          <a:xfrm>
            <a:off x="838200" y="2041450"/>
            <a:ext cx="9931400" cy="4359349"/>
          </a:xfrm>
        </p:spPr>
        <p:txBody>
          <a:bodyPr>
            <a:normAutofit/>
          </a:bodyPr>
          <a:lstStyle/>
          <a:p>
            <a:r>
              <a:rPr lang="en-US" sz="2400" dirty="0"/>
              <a:t>A resource quota in k8s is a mechanism that limits the total amount of compute, storage, and object resources that can be consumed within a project.</a:t>
            </a:r>
          </a:p>
          <a:p>
            <a:endParaRPr lang="en-US" sz="2400" dirty="0"/>
          </a:p>
          <a:p>
            <a:r>
              <a:rPr lang="en-US" sz="2400" dirty="0"/>
              <a:t>You can restrict aggregate resource consumption for CPU, memory, storage, object counts, and more at the namespace level.​</a:t>
            </a:r>
          </a:p>
          <a:p>
            <a:endParaRPr lang="en-US" sz="2400" dirty="0"/>
          </a:p>
          <a:p>
            <a:r>
              <a:rPr lang="en-US" sz="2400" dirty="0"/>
              <a:t>Resource quotas cover both resource "requests" (minimum resources reserved for a container) and "limits" (maximum allowed resources).</a:t>
            </a:r>
          </a:p>
          <a:p>
            <a:endParaRPr lang="en-US" sz="2400" dirty="0"/>
          </a:p>
          <a:p>
            <a:endParaRPr lang="en-US" dirty="0"/>
          </a:p>
          <a:p>
            <a:endParaRPr lang="en-US" sz="2400" dirty="0"/>
          </a:p>
        </p:txBody>
      </p:sp>
    </p:spTree>
    <p:extLst>
      <p:ext uri="{BB962C8B-B14F-4D97-AF65-F5344CB8AC3E}">
        <p14:creationId xmlns:p14="http://schemas.microsoft.com/office/powerpoint/2010/main" val="382077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Limit vs Requests</a:t>
            </a:r>
          </a:p>
        </p:txBody>
      </p:sp>
      <p:sp>
        <p:nvSpPr>
          <p:cNvPr id="3" name="Content Placeholder 2"/>
          <p:cNvSpPr>
            <a:spLocks noGrp="1"/>
          </p:cNvSpPr>
          <p:nvPr>
            <p:ph idx="1"/>
          </p:nvPr>
        </p:nvSpPr>
        <p:spPr>
          <a:xfrm>
            <a:off x="838200" y="1825625"/>
            <a:ext cx="10515600" cy="4667250"/>
          </a:xfrm>
        </p:spPr>
        <p:txBody>
          <a:bodyPr>
            <a:normAutofit fontScale="92500" lnSpcReduction="20000"/>
          </a:bodyPr>
          <a:lstStyle/>
          <a:p>
            <a:pPr marL="0" indent="0">
              <a:buNone/>
            </a:pPr>
            <a:r>
              <a:rPr lang="en-US" sz="2200" dirty="0"/>
              <a:t>Resource requests and limits in  Kubernetes are mechanisms to control the amount of CPU and memory a container can use.</a:t>
            </a:r>
          </a:p>
          <a:p>
            <a:pPr marL="0" indent="0">
              <a:buNone/>
            </a:pPr>
            <a:endParaRPr lang="en-US" sz="1800" dirty="0"/>
          </a:p>
          <a:p>
            <a:pPr marL="0" indent="0">
              <a:buNone/>
            </a:pPr>
            <a:r>
              <a:rPr lang="en-US" sz="1800" b="1" dirty="0"/>
              <a:t>Resource Requests</a:t>
            </a:r>
          </a:p>
          <a:p>
            <a:r>
              <a:rPr lang="en-US" sz="1900" dirty="0"/>
              <a:t>A request is the minimum amount of CPU or memory that is guaranteed to be allocated to a container.​</a:t>
            </a:r>
          </a:p>
          <a:p>
            <a:r>
              <a:rPr lang="en-US" sz="1900" dirty="0"/>
              <a:t>When scheduling a pod, Kubernetes ensures there are enough resources available on a node to satisfy all the resource requests of the containers within the pod.​</a:t>
            </a:r>
          </a:p>
          <a:p>
            <a:r>
              <a:rPr lang="en-US" sz="1900" dirty="0"/>
              <a:t>If a node cannot accommodate the requests, the pod will not be scheduled and remains in a pending state.</a:t>
            </a:r>
          </a:p>
          <a:p>
            <a:endParaRPr lang="en-US" sz="1800" dirty="0"/>
          </a:p>
          <a:p>
            <a:pPr marL="0" indent="0">
              <a:buNone/>
            </a:pPr>
            <a:r>
              <a:rPr lang="en-US" sz="2100" b="1" dirty="0"/>
              <a:t>Resource Limits</a:t>
            </a:r>
          </a:p>
          <a:p>
            <a:r>
              <a:rPr lang="en-US" sz="2100" dirty="0"/>
              <a:t>A limit is the maximum amount of CPU or memory that a container is allowed to use.​</a:t>
            </a:r>
          </a:p>
          <a:p>
            <a:r>
              <a:rPr lang="en-US" sz="2100" dirty="0"/>
              <a:t>If a container tries to exceed the memory limit, it will be terminated (</a:t>
            </a:r>
            <a:r>
              <a:rPr lang="en-US" sz="2100" dirty="0" err="1"/>
              <a:t>OOMKilled</a:t>
            </a:r>
            <a:r>
              <a:rPr lang="en-US" sz="2100" dirty="0"/>
              <a:t>); if it exceeds the CPU limit, it will be throttled.​</a:t>
            </a:r>
          </a:p>
          <a:p>
            <a:r>
              <a:rPr lang="en-US" sz="2100" dirty="0"/>
              <a:t>This prevents any single container from consuming excessive resources and impacting other workloads on the same node.</a:t>
            </a:r>
          </a:p>
          <a:p>
            <a:endParaRPr lang="en-US" sz="1800" dirty="0"/>
          </a:p>
          <a:p>
            <a:endParaRPr lang="en-US" sz="2400" dirty="0"/>
          </a:p>
        </p:txBody>
      </p:sp>
    </p:spTree>
    <p:extLst>
      <p:ext uri="{BB962C8B-B14F-4D97-AF65-F5344CB8AC3E}">
        <p14:creationId xmlns:p14="http://schemas.microsoft.com/office/powerpoint/2010/main" val="1080034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D4B2-5449-6401-EDD0-68E9478FC910}"/>
              </a:ext>
            </a:extLst>
          </p:cNvPr>
          <p:cNvSpPr>
            <a:spLocks noGrp="1"/>
          </p:cNvSpPr>
          <p:nvPr>
            <p:ph type="title"/>
          </p:nvPr>
        </p:nvSpPr>
        <p:spPr/>
        <p:txBody>
          <a:bodyPr>
            <a:normAutofit/>
          </a:bodyPr>
          <a:lstStyle/>
          <a:p>
            <a:r>
              <a:rPr lang="en-US" sz="3600" b="1" dirty="0"/>
              <a:t>Limit Range</a:t>
            </a:r>
          </a:p>
        </p:txBody>
      </p:sp>
      <p:sp>
        <p:nvSpPr>
          <p:cNvPr id="3" name="Content Placeholder 2">
            <a:extLst>
              <a:ext uri="{FF2B5EF4-FFF2-40B4-BE49-F238E27FC236}">
                <a16:creationId xmlns:a16="http://schemas.microsoft.com/office/drawing/2014/main" id="{797603C5-2950-3CB2-4333-F392A59FC9A9}"/>
              </a:ext>
            </a:extLst>
          </p:cNvPr>
          <p:cNvSpPr>
            <a:spLocks noGrp="1"/>
          </p:cNvSpPr>
          <p:nvPr>
            <p:ph idx="1"/>
          </p:nvPr>
        </p:nvSpPr>
        <p:spPr/>
        <p:txBody>
          <a:bodyPr>
            <a:normAutofit/>
          </a:bodyPr>
          <a:lstStyle/>
          <a:p>
            <a:pPr marL="0" indent="0">
              <a:buNone/>
            </a:pPr>
            <a:endParaRPr lang="en-US" dirty="0"/>
          </a:p>
          <a:p>
            <a:r>
              <a:rPr lang="en-US" sz="2200" dirty="0"/>
              <a:t>The administrator can set default values for resource requests/limits, so if users do not specify them, they are automatically injected.​</a:t>
            </a:r>
          </a:p>
          <a:p>
            <a:endParaRPr lang="en-US" sz="2200" dirty="0"/>
          </a:p>
          <a:p>
            <a:r>
              <a:rPr lang="en-US" sz="2200" dirty="0"/>
              <a:t>It enforces resource boundaries for all new pods and containers created in a project, ensuring no container can request or use less than the minimum or more than the maximum specified for CPU or memory.​</a:t>
            </a:r>
          </a:p>
          <a:p>
            <a:pPr marL="0" indent="0">
              <a:buNone/>
            </a:pPr>
            <a:endParaRPr lang="en-US" sz="2200" dirty="0"/>
          </a:p>
          <a:p>
            <a:r>
              <a:rPr lang="en-US" sz="2200" dirty="0"/>
              <a:t>Limit ranges help prevent individual pods or containers from monopolizing resources or running without specified limits, strengthening multi-tenancy and cluster stability.</a:t>
            </a:r>
          </a:p>
          <a:p>
            <a:endParaRPr lang="en-US" dirty="0"/>
          </a:p>
        </p:txBody>
      </p:sp>
    </p:spTree>
    <p:extLst>
      <p:ext uri="{BB962C8B-B14F-4D97-AF65-F5344CB8AC3E}">
        <p14:creationId xmlns:p14="http://schemas.microsoft.com/office/powerpoint/2010/main" val="1483850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Kubernetes Manifests</a:t>
            </a:r>
          </a:p>
        </p:txBody>
      </p:sp>
    </p:spTree>
    <p:extLst>
      <p:ext uri="{BB962C8B-B14F-4D97-AF65-F5344CB8AC3E}">
        <p14:creationId xmlns:p14="http://schemas.microsoft.com/office/powerpoint/2010/main" val="2165956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Purpose of Manifests </a:t>
            </a:r>
          </a:p>
        </p:txBody>
      </p:sp>
      <p:sp>
        <p:nvSpPr>
          <p:cNvPr id="3" name="Content Placeholder 2"/>
          <p:cNvSpPr>
            <a:spLocks noGrp="1"/>
          </p:cNvSpPr>
          <p:nvPr>
            <p:ph sz="half" idx="1"/>
          </p:nvPr>
        </p:nvSpPr>
        <p:spPr>
          <a:xfrm>
            <a:off x="838199" y="1825625"/>
            <a:ext cx="9663545" cy="4351338"/>
          </a:xfrm>
        </p:spPr>
        <p:txBody>
          <a:bodyPr>
            <a:normAutofit/>
          </a:bodyPr>
          <a:lstStyle/>
          <a:p>
            <a:r>
              <a:rPr lang="en-US" dirty="0"/>
              <a:t>Files that describe how Kubernetes should configure objects or even the cluster itself</a:t>
            </a:r>
          </a:p>
          <a:p>
            <a:r>
              <a:rPr lang="en-US" dirty="0"/>
              <a:t>Simpler than providing each instruction manually via the API or kubectl</a:t>
            </a:r>
          </a:p>
          <a:p>
            <a:r>
              <a:rPr lang="en-US" dirty="0"/>
              <a:t>Created/stored in YAML format</a:t>
            </a:r>
          </a:p>
          <a:p>
            <a:r>
              <a:rPr lang="en-US" dirty="0"/>
              <a:t>Designed for developers</a:t>
            </a:r>
          </a:p>
          <a:p>
            <a:r>
              <a:rPr lang="en-US" dirty="0"/>
              <a:t>Easy to integrate into source control</a:t>
            </a:r>
          </a:p>
        </p:txBody>
      </p:sp>
    </p:spTree>
    <p:extLst>
      <p:ext uri="{BB962C8B-B14F-4D97-AF65-F5344CB8AC3E}">
        <p14:creationId xmlns:p14="http://schemas.microsoft.com/office/powerpoint/2010/main" val="3795241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Best Practices for Manifests</a:t>
            </a:r>
            <a:br>
              <a:rPr lang="en-US" dirty="0"/>
            </a:br>
            <a:endParaRPr lang="en-US" dirty="0"/>
          </a:p>
        </p:txBody>
      </p:sp>
      <p:sp>
        <p:nvSpPr>
          <p:cNvPr id="3" name="Content Placeholder 2"/>
          <p:cNvSpPr>
            <a:spLocks noGrp="1"/>
          </p:cNvSpPr>
          <p:nvPr>
            <p:ph idx="1"/>
          </p:nvPr>
        </p:nvSpPr>
        <p:spPr/>
        <p:txBody>
          <a:bodyPr/>
          <a:lstStyle/>
          <a:p>
            <a:r>
              <a:rPr lang="en-US" dirty="0"/>
              <a:t>One manifest deploys one component</a:t>
            </a:r>
          </a:p>
          <a:p>
            <a:r>
              <a:rPr lang="en-US" dirty="0"/>
              <a:t>Use versioned images for pods</a:t>
            </a:r>
          </a:p>
          <a:p>
            <a:r>
              <a:rPr lang="en-US" dirty="0"/>
              <a:t>Always use a Deployment (even for 1 pod)</a:t>
            </a:r>
          </a:p>
          <a:p>
            <a:r>
              <a:rPr lang="en-US" dirty="0"/>
              <a:t> Define/use environment variables</a:t>
            </a:r>
          </a:p>
        </p:txBody>
      </p:sp>
    </p:spTree>
    <p:extLst>
      <p:ext uri="{BB962C8B-B14F-4D97-AF65-F5344CB8AC3E}">
        <p14:creationId xmlns:p14="http://schemas.microsoft.com/office/powerpoint/2010/main" val="3492563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ReplicaSet</a:t>
            </a:r>
            <a:r>
              <a:rPr lang="en-US" dirty="0"/>
              <a:t> </a:t>
            </a:r>
          </a:p>
        </p:txBody>
      </p:sp>
      <p:sp>
        <p:nvSpPr>
          <p:cNvPr id="3" name="Content Placeholder 2"/>
          <p:cNvSpPr>
            <a:spLocks noGrp="1"/>
          </p:cNvSpPr>
          <p:nvPr>
            <p:ph idx="1"/>
          </p:nvPr>
        </p:nvSpPr>
        <p:spPr/>
        <p:txBody>
          <a:bodyPr/>
          <a:lstStyle/>
          <a:p>
            <a:r>
              <a:rPr lang="en-US" dirty="0"/>
              <a:t>A </a:t>
            </a:r>
            <a:r>
              <a:rPr lang="en-US" dirty="0" err="1"/>
              <a:t>ReplicaSet’s</a:t>
            </a:r>
            <a:r>
              <a:rPr lang="en-US" dirty="0"/>
              <a:t> purpose is to maintain a stable set of replica Pods running at any given time.</a:t>
            </a:r>
          </a:p>
          <a:p>
            <a:endParaRPr lang="en-US" dirty="0"/>
          </a:p>
          <a:p>
            <a:r>
              <a:rPr lang="en-US" dirty="0"/>
              <a:t>Often used to guarantee the availability of a specified number of identical Pods.</a:t>
            </a:r>
          </a:p>
        </p:txBody>
      </p:sp>
      <p:pic>
        <p:nvPicPr>
          <p:cNvPr id="5" name="Content Placeholder 4"/>
          <p:cNvPicPr>
            <a:picLocks noGrp="1" noChangeAspect="1"/>
          </p:cNvPicPr>
          <p:nvPr>
            <p:ph sz="half" idx="4294967295"/>
          </p:nvPr>
        </p:nvPicPr>
        <p:blipFill>
          <a:blip r:embed="rId2"/>
          <a:stretch>
            <a:fillRect/>
          </a:stretch>
        </p:blipFill>
        <p:spPr>
          <a:xfrm>
            <a:off x="8315325" y="1543050"/>
            <a:ext cx="3876675" cy="4356100"/>
          </a:xfrm>
          <a:prstGeom prst="rect">
            <a:avLst/>
          </a:prstGeom>
        </p:spPr>
      </p:pic>
    </p:spTree>
    <p:extLst>
      <p:ext uri="{BB962C8B-B14F-4D97-AF65-F5344CB8AC3E}">
        <p14:creationId xmlns:p14="http://schemas.microsoft.com/office/powerpoint/2010/main" val="2193409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When </a:t>
            </a:r>
            <a:r>
              <a:rPr lang="en-US" b="1" dirty="0" err="1"/>
              <a:t>Replicaset</a:t>
            </a:r>
            <a:r>
              <a:rPr lang="en-US" b="1" dirty="0"/>
              <a:t> Be Used </a:t>
            </a:r>
          </a:p>
        </p:txBody>
      </p:sp>
      <p:sp>
        <p:nvSpPr>
          <p:cNvPr id="3" name="Content Placeholder 2"/>
          <p:cNvSpPr>
            <a:spLocks noGrp="1"/>
          </p:cNvSpPr>
          <p:nvPr>
            <p:ph idx="1"/>
          </p:nvPr>
        </p:nvSpPr>
        <p:spPr/>
        <p:txBody>
          <a:bodyPr/>
          <a:lstStyle/>
          <a:p>
            <a:pPr marL="0" indent="0">
              <a:buNone/>
            </a:pPr>
            <a:r>
              <a:rPr lang="en-US" dirty="0"/>
              <a:t>When you need to ensure that a specified number of pod replicas are running at a given time</a:t>
            </a:r>
          </a:p>
          <a:p>
            <a:pPr marL="0" indent="0">
              <a:buNone/>
            </a:pPr>
            <a:endParaRPr lang="en-US" dirty="0"/>
          </a:p>
          <a:p>
            <a:pPr marL="0" indent="0">
              <a:buNone/>
            </a:pPr>
            <a:endParaRPr lang="en-US" dirty="0"/>
          </a:p>
          <a:p>
            <a:pPr marL="0" indent="0">
              <a:buNone/>
            </a:pPr>
            <a:r>
              <a:rPr lang="en-US" dirty="0"/>
              <a:t>When you need the ability to scale a certain set of pods</a:t>
            </a:r>
          </a:p>
        </p:txBody>
      </p:sp>
    </p:spTree>
    <p:extLst>
      <p:ext uri="{BB962C8B-B14F-4D97-AF65-F5344CB8AC3E}">
        <p14:creationId xmlns:p14="http://schemas.microsoft.com/office/powerpoint/2010/main" val="1469611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Stateful</a:t>
            </a:r>
            <a:r>
              <a:rPr lang="en-US" b="1" dirty="0"/>
              <a:t> vs Stateless Deployments</a:t>
            </a:r>
          </a:p>
        </p:txBody>
      </p:sp>
      <p:sp>
        <p:nvSpPr>
          <p:cNvPr id="3" name="Content Placeholder 2"/>
          <p:cNvSpPr>
            <a:spLocks noGrp="1"/>
          </p:cNvSpPr>
          <p:nvPr>
            <p:ph sz="half" idx="1"/>
          </p:nvPr>
        </p:nvSpPr>
        <p:spPr/>
        <p:txBody>
          <a:bodyPr/>
          <a:lstStyle/>
          <a:p>
            <a:r>
              <a:rPr lang="en-US" dirty="0" err="1"/>
              <a:t>Stateful</a:t>
            </a:r>
            <a:endParaRPr lang="en-US" dirty="0"/>
          </a:p>
          <a:p>
            <a:endParaRPr lang="en-US" dirty="0"/>
          </a:p>
          <a:p>
            <a:r>
              <a:rPr lang="en-US" dirty="0"/>
              <a:t>A </a:t>
            </a:r>
            <a:r>
              <a:rPr lang="en-US" dirty="0" err="1"/>
              <a:t>stateful</a:t>
            </a:r>
            <a:r>
              <a:rPr lang="en-US" dirty="0"/>
              <a:t> application requires permanent storage.</a:t>
            </a:r>
          </a:p>
          <a:p>
            <a:r>
              <a:rPr lang="en-US" dirty="0"/>
              <a:t>This storage is usually a </a:t>
            </a:r>
            <a:r>
              <a:rPr lang="en-US" dirty="0" err="1"/>
              <a:t>networkbased</a:t>
            </a:r>
            <a:r>
              <a:rPr lang="en-US" dirty="0"/>
              <a:t> solution.</a:t>
            </a:r>
          </a:p>
        </p:txBody>
      </p:sp>
      <p:sp>
        <p:nvSpPr>
          <p:cNvPr id="4" name="Content Placeholder 3"/>
          <p:cNvSpPr>
            <a:spLocks noGrp="1"/>
          </p:cNvSpPr>
          <p:nvPr>
            <p:ph sz="half" idx="2"/>
          </p:nvPr>
        </p:nvSpPr>
        <p:spPr/>
        <p:txBody>
          <a:bodyPr/>
          <a:lstStyle/>
          <a:p>
            <a:r>
              <a:rPr lang="en-US" dirty="0"/>
              <a:t>Stateless</a:t>
            </a:r>
          </a:p>
          <a:p>
            <a:endParaRPr lang="en-US" dirty="0"/>
          </a:p>
          <a:p>
            <a:r>
              <a:rPr lang="en-US" dirty="0"/>
              <a:t>A stateless application does not need a permanent storage solution.</a:t>
            </a:r>
          </a:p>
          <a:p>
            <a:r>
              <a:rPr lang="en-US" dirty="0"/>
              <a:t>Any temporary storage is within the pod itself.</a:t>
            </a:r>
          </a:p>
        </p:txBody>
      </p:sp>
    </p:spTree>
    <p:extLst>
      <p:ext uri="{BB962C8B-B14F-4D97-AF65-F5344CB8AC3E}">
        <p14:creationId xmlns:p14="http://schemas.microsoft.com/office/powerpoint/2010/main" val="31301126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StatefulSet</a:t>
            </a:r>
            <a:endParaRPr lang="en-US" b="1" dirty="0"/>
          </a:p>
        </p:txBody>
      </p:sp>
      <p:sp>
        <p:nvSpPr>
          <p:cNvPr id="3" name="Content Placeholder 2"/>
          <p:cNvSpPr>
            <a:spLocks noGrp="1"/>
          </p:cNvSpPr>
          <p:nvPr>
            <p:ph sz="half" idx="1"/>
          </p:nvPr>
        </p:nvSpPr>
        <p:spPr/>
        <p:txBody>
          <a:bodyPr>
            <a:normAutofit/>
          </a:bodyPr>
          <a:lstStyle/>
          <a:p>
            <a:r>
              <a:rPr lang="en-US" sz="2000" dirty="0"/>
              <a:t>Manages Pods that are based on an identical container spec.</a:t>
            </a:r>
          </a:p>
          <a:p>
            <a:pPr marL="0" indent="0">
              <a:buNone/>
            </a:pPr>
            <a:endParaRPr lang="en-US" sz="2000" dirty="0"/>
          </a:p>
          <a:p>
            <a:r>
              <a:rPr lang="en-US" sz="2000" dirty="0"/>
              <a:t>Maintains a sticky identity for each of their Pods.</a:t>
            </a:r>
          </a:p>
          <a:p>
            <a:pPr marL="0" indent="0">
              <a:buNone/>
            </a:pPr>
            <a:endParaRPr lang="en-US" sz="2000" dirty="0"/>
          </a:p>
          <a:p>
            <a:r>
              <a:rPr lang="en-US" sz="2000" dirty="0"/>
              <a:t>Pods are created from the same spec, but are not interchangeable.</a:t>
            </a:r>
          </a:p>
          <a:p>
            <a:pPr marL="0" indent="0">
              <a:buNone/>
            </a:pPr>
            <a:endParaRPr lang="en-US" sz="2000" dirty="0"/>
          </a:p>
          <a:p>
            <a:r>
              <a:rPr lang="en-US" sz="2000" dirty="0"/>
              <a:t>(Each has a persistent identifier that it maintains across any rescheduling)</a:t>
            </a:r>
          </a:p>
        </p:txBody>
      </p:sp>
      <p:pic>
        <p:nvPicPr>
          <p:cNvPr id="4098" name="Picture 2" descr="What Is Kubernetes Storage? | How Persistent Storage Work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705600" y="1976583"/>
            <a:ext cx="4904508" cy="4350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460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When </a:t>
            </a:r>
            <a:r>
              <a:rPr lang="en-US" b="1" dirty="0" err="1"/>
              <a:t>StatefulSet</a:t>
            </a:r>
            <a:r>
              <a:rPr lang="en-US" b="1" dirty="0"/>
              <a:t> Be Used</a:t>
            </a:r>
          </a:p>
        </p:txBody>
      </p:sp>
      <p:sp>
        <p:nvSpPr>
          <p:cNvPr id="5" name="Content Placeholder 4"/>
          <p:cNvSpPr>
            <a:spLocks noGrp="1"/>
          </p:cNvSpPr>
          <p:nvPr>
            <p:ph idx="1"/>
          </p:nvPr>
        </p:nvSpPr>
        <p:spPr/>
        <p:txBody>
          <a:bodyPr>
            <a:normAutofit/>
          </a:bodyPr>
          <a:lstStyle/>
          <a:p>
            <a:r>
              <a:rPr lang="en-US" sz="2400" dirty="0" err="1"/>
              <a:t>StatefulSets</a:t>
            </a:r>
            <a:r>
              <a:rPr lang="en-US" sz="2400" dirty="0"/>
              <a:t> are valuable for applications that require one or more of</a:t>
            </a:r>
          </a:p>
          <a:p>
            <a:pPr marL="0" indent="0">
              <a:buNone/>
            </a:pPr>
            <a:r>
              <a:rPr lang="en-US" sz="2400" dirty="0"/>
              <a:t>the following:</a:t>
            </a:r>
          </a:p>
          <a:p>
            <a:r>
              <a:rPr lang="en-US" sz="2400" dirty="0"/>
              <a:t>Stable, unique network identifiers</a:t>
            </a:r>
          </a:p>
          <a:p>
            <a:r>
              <a:rPr lang="en-US" sz="2400" dirty="0"/>
              <a:t>Stable, persistent storage</a:t>
            </a:r>
          </a:p>
          <a:p>
            <a:r>
              <a:rPr lang="en-US" sz="2400" dirty="0"/>
              <a:t>Ordered, graceful deployment and scaling</a:t>
            </a:r>
          </a:p>
          <a:p>
            <a:r>
              <a:rPr lang="en-US" sz="2400" dirty="0"/>
              <a:t>Ordered, automated rolling updates</a:t>
            </a:r>
          </a:p>
        </p:txBody>
      </p:sp>
    </p:spTree>
    <p:extLst>
      <p:ext uri="{BB962C8B-B14F-4D97-AF65-F5344CB8AC3E}">
        <p14:creationId xmlns:p14="http://schemas.microsoft.com/office/powerpoint/2010/main" val="4182463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DaemonSet </a:t>
            </a:r>
          </a:p>
        </p:txBody>
      </p:sp>
      <p:sp>
        <p:nvSpPr>
          <p:cNvPr id="3" name="Content Placeholder 2"/>
          <p:cNvSpPr>
            <a:spLocks noGrp="1"/>
          </p:cNvSpPr>
          <p:nvPr>
            <p:ph idx="1"/>
          </p:nvPr>
        </p:nvSpPr>
        <p:spPr/>
        <p:txBody>
          <a:bodyPr>
            <a:normAutofit/>
          </a:bodyPr>
          <a:lstStyle/>
          <a:p>
            <a:r>
              <a:rPr lang="en-US" sz="2400" dirty="0"/>
              <a:t>Ensures that all (or some) Nodes run a copy of a Pod.</a:t>
            </a:r>
          </a:p>
          <a:p>
            <a:pPr marL="0" indent="0">
              <a:buNone/>
            </a:pPr>
            <a:endParaRPr lang="en-US" sz="2400" dirty="0"/>
          </a:p>
          <a:p>
            <a:r>
              <a:rPr lang="en-US" sz="2400" dirty="0"/>
              <a:t>As nodes are added to the cluster, Pods are added to them.</a:t>
            </a:r>
          </a:p>
          <a:p>
            <a:pPr marL="0" indent="0">
              <a:buNone/>
            </a:pPr>
            <a:endParaRPr lang="en-US" sz="2400" dirty="0"/>
          </a:p>
          <a:p>
            <a:r>
              <a:rPr lang="en-US" sz="2400" dirty="0"/>
              <a:t>As nodes are removed from the cluster, those Pods are garbage collected.</a:t>
            </a:r>
          </a:p>
          <a:p>
            <a:pPr marL="0" indent="0">
              <a:buNone/>
            </a:pPr>
            <a:endParaRPr lang="en-US" sz="2400" dirty="0"/>
          </a:p>
          <a:p>
            <a:r>
              <a:rPr lang="en-US" sz="2400" dirty="0"/>
              <a:t>Deleting a DaemonSet will clean up the Pods it created.</a:t>
            </a:r>
          </a:p>
        </p:txBody>
      </p:sp>
    </p:spTree>
    <p:extLst>
      <p:ext uri="{BB962C8B-B14F-4D97-AF65-F5344CB8AC3E}">
        <p14:creationId xmlns:p14="http://schemas.microsoft.com/office/powerpoint/2010/main" val="7918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When DaemonSet be used</a:t>
            </a:r>
          </a:p>
        </p:txBody>
      </p:sp>
      <p:sp>
        <p:nvSpPr>
          <p:cNvPr id="3" name="Content Placeholder 2"/>
          <p:cNvSpPr>
            <a:spLocks noGrp="1"/>
          </p:cNvSpPr>
          <p:nvPr>
            <p:ph idx="1"/>
          </p:nvPr>
        </p:nvSpPr>
        <p:spPr/>
        <p:txBody>
          <a:bodyPr>
            <a:normAutofit/>
          </a:bodyPr>
          <a:lstStyle/>
          <a:p>
            <a:endParaRPr lang="en-US" sz="2400" dirty="0"/>
          </a:p>
          <a:p>
            <a:r>
              <a:rPr lang="en-US" sz="2400" dirty="0" err="1"/>
              <a:t>DaemonSets</a:t>
            </a:r>
            <a:r>
              <a:rPr lang="en-US" sz="2400" dirty="0"/>
              <a:t> are valuable for cluster services that need to be running</a:t>
            </a:r>
          </a:p>
          <a:p>
            <a:pPr marL="0" indent="0">
              <a:buNone/>
            </a:pPr>
            <a:r>
              <a:rPr lang="en-US" sz="2400" dirty="0"/>
              <a:t>on every node or a specific subset of nodes</a:t>
            </a:r>
          </a:p>
        </p:txBody>
      </p:sp>
    </p:spTree>
    <p:extLst>
      <p:ext uri="{BB962C8B-B14F-4D97-AF65-F5344CB8AC3E}">
        <p14:creationId xmlns:p14="http://schemas.microsoft.com/office/powerpoint/2010/main" val="2237620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29" y="331247"/>
            <a:ext cx="6832600" cy="694207"/>
          </a:xfrm>
          <a:prstGeom prst="rect">
            <a:avLst/>
          </a:prstGeom>
        </p:spPr>
        <p:txBody>
          <a:bodyPr vert="horz" wrap="square" lIns="0" tIns="16933" rIns="0" bIns="0" rtlCol="0" anchor="ctr">
            <a:spAutoFit/>
          </a:bodyPr>
          <a:lstStyle/>
          <a:p>
            <a:pPr marL="16933">
              <a:lnSpc>
                <a:spcPct val="100000"/>
              </a:lnSpc>
              <a:spcBef>
                <a:spcPts val="133"/>
              </a:spcBef>
            </a:pPr>
            <a:r>
              <a:rPr b="1" spc="87" dirty="0"/>
              <a:t>Daemon </a:t>
            </a:r>
            <a:r>
              <a:rPr b="1" spc="-27" dirty="0"/>
              <a:t>Sets</a:t>
            </a:r>
            <a:r>
              <a:rPr b="1" spc="-820" dirty="0"/>
              <a:t> </a:t>
            </a:r>
            <a:r>
              <a:rPr b="1" spc="-433" dirty="0"/>
              <a:t>– </a:t>
            </a:r>
            <a:r>
              <a:rPr b="1" spc="47" dirty="0"/>
              <a:t>UseCase</a:t>
            </a:r>
            <a:endParaRPr b="1" dirty="0"/>
          </a:p>
        </p:txBody>
      </p:sp>
      <p:grpSp>
        <p:nvGrpSpPr>
          <p:cNvPr id="4" name="object 4"/>
          <p:cNvGrpSpPr/>
          <p:nvPr/>
        </p:nvGrpSpPr>
        <p:grpSpPr>
          <a:xfrm>
            <a:off x="209295" y="3035808"/>
            <a:ext cx="8429413" cy="1741593"/>
            <a:chOff x="156971" y="2276855"/>
            <a:chExt cx="6322060" cy="1306195"/>
          </a:xfrm>
        </p:grpSpPr>
        <p:sp>
          <p:nvSpPr>
            <p:cNvPr id="5" name="object 5"/>
            <p:cNvSpPr/>
            <p:nvPr/>
          </p:nvSpPr>
          <p:spPr>
            <a:xfrm>
              <a:off x="156971" y="2276855"/>
              <a:ext cx="6321551" cy="1306068"/>
            </a:xfrm>
            <a:prstGeom prst="rect">
              <a:avLst/>
            </a:prstGeom>
            <a:blipFill>
              <a:blip r:embed="rId2" cstate="print"/>
              <a:stretch>
                <a:fillRect/>
              </a:stretch>
            </a:blipFill>
          </p:spPr>
          <p:txBody>
            <a:bodyPr wrap="square" lIns="0" tIns="0" rIns="0" bIns="0" rtlCol="0"/>
            <a:lstStyle/>
            <a:p>
              <a:endParaRPr sz="2400"/>
            </a:p>
          </p:txBody>
        </p:sp>
        <p:sp>
          <p:nvSpPr>
            <p:cNvPr id="6" name="object 6"/>
            <p:cNvSpPr/>
            <p:nvPr/>
          </p:nvSpPr>
          <p:spPr>
            <a:xfrm>
              <a:off x="166115" y="2325623"/>
              <a:ext cx="1094994" cy="345186"/>
            </a:xfrm>
            <a:prstGeom prst="rect">
              <a:avLst/>
            </a:prstGeom>
            <a:blipFill>
              <a:blip r:embed="rId3" cstate="print"/>
              <a:stretch>
                <a:fillRect/>
              </a:stretch>
            </a:blipFill>
          </p:spPr>
          <p:txBody>
            <a:bodyPr wrap="square" lIns="0" tIns="0" rIns="0" bIns="0" rtlCol="0"/>
            <a:lstStyle/>
            <a:p>
              <a:endParaRPr sz="2400"/>
            </a:p>
          </p:txBody>
        </p:sp>
      </p:grpSp>
      <p:sp>
        <p:nvSpPr>
          <p:cNvPr id="7" name="object 7"/>
          <p:cNvSpPr txBox="1"/>
          <p:nvPr/>
        </p:nvSpPr>
        <p:spPr>
          <a:xfrm>
            <a:off x="241518" y="3152581"/>
            <a:ext cx="9640993" cy="263320"/>
          </a:xfrm>
          <a:prstGeom prst="rect">
            <a:avLst/>
          </a:prstGeom>
        </p:spPr>
        <p:txBody>
          <a:bodyPr vert="horz" wrap="square" lIns="0" tIns="16933" rIns="0" bIns="0" rtlCol="0">
            <a:spAutoFit/>
          </a:bodyPr>
          <a:lstStyle/>
          <a:p>
            <a:pPr marL="115144">
              <a:spcBef>
                <a:spcPts val="133"/>
              </a:spcBef>
            </a:pPr>
            <a:r>
              <a:rPr sz="1600" spc="-20" dirty="0">
                <a:latin typeface="Arial"/>
                <a:cs typeface="Arial"/>
              </a:rPr>
              <a:t>Daemon</a:t>
            </a:r>
            <a:r>
              <a:rPr sz="1600" spc="-33" dirty="0">
                <a:latin typeface="Arial"/>
                <a:cs typeface="Arial"/>
              </a:rPr>
              <a:t> </a:t>
            </a:r>
            <a:r>
              <a:rPr sz="1600" spc="-80" dirty="0">
                <a:latin typeface="Arial"/>
                <a:cs typeface="Arial"/>
              </a:rPr>
              <a:t>Sets</a:t>
            </a:r>
            <a:endParaRPr sz="1600">
              <a:latin typeface="Arial"/>
              <a:cs typeface="Arial"/>
            </a:endParaRPr>
          </a:p>
        </p:txBody>
      </p:sp>
      <p:grpSp>
        <p:nvGrpSpPr>
          <p:cNvPr id="8" name="object 8"/>
          <p:cNvGrpSpPr/>
          <p:nvPr/>
        </p:nvGrpSpPr>
        <p:grpSpPr>
          <a:xfrm>
            <a:off x="219202" y="1468796"/>
            <a:ext cx="9815407" cy="3308773"/>
            <a:chOff x="164401" y="1101597"/>
            <a:chExt cx="7361555" cy="2481580"/>
          </a:xfrm>
        </p:grpSpPr>
        <p:sp>
          <p:nvSpPr>
            <p:cNvPr id="9" name="object 9"/>
            <p:cNvSpPr/>
            <p:nvPr/>
          </p:nvSpPr>
          <p:spPr>
            <a:xfrm>
              <a:off x="6750557" y="2286761"/>
              <a:ext cx="765175" cy="1286510"/>
            </a:xfrm>
            <a:custGeom>
              <a:avLst/>
              <a:gdLst/>
              <a:ahLst/>
              <a:cxnLst/>
              <a:rect l="l" t="t" r="r" b="b"/>
              <a:pathLst>
                <a:path w="765175" h="1286510">
                  <a:moveTo>
                    <a:pt x="0" y="127507"/>
                  </a:moveTo>
                  <a:lnTo>
                    <a:pt x="10029" y="77902"/>
                  </a:lnTo>
                  <a:lnTo>
                    <a:pt x="37369" y="37369"/>
                  </a:lnTo>
                  <a:lnTo>
                    <a:pt x="77902" y="10029"/>
                  </a:lnTo>
                  <a:lnTo>
                    <a:pt x="127508" y="0"/>
                  </a:lnTo>
                  <a:lnTo>
                    <a:pt x="637540" y="0"/>
                  </a:lnTo>
                  <a:lnTo>
                    <a:pt x="687145" y="10029"/>
                  </a:lnTo>
                  <a:lnTo>
                    <a:pt x="727678" y="37369"/>
                  </a:lnTo>
                  <a:lnTo>
                    <a:pt x="755018" y="77902"/>
                  </a:lnTo>
                  <a:lnTo>
                    <a:pt x="765048" y="127507"/>
                  </a:lnTo>
                  <a:lnTo>
                    <a:pt x="765048" y="1158748"/>
                  </a:lnTo>
                  <a:lnTo>
                    <a:pt x="755018" y="1208353"/>
                  </a:lnTo>
                  <a:lnTo>
                    <a:pt x="727678" y="1248886"/>
                  </a:lnTo>
                  <a:lnTo>
                    <a:pt x="687145" y="1276226"/>
                  </a:lnTo>
                  <a:lnTo>
                    <a:pt x="637540" y="1286256"/>
                  </a:lnTo>
                  <a:lnTo>
                    <a:pt x="127508" y="1286256"/>
                  </a:lnTo>
                  <a:lnTo>
                    <a:pt x="77902" y="1276226"/>
                  </a:lnTo>
                  <a:lnTo>
                    <a:pt x="37369" y="1248886"/>
                  </a:lnTo>
                  <a:lnTo>
                    <a:pt x="10029" y="1208353"/>
                  </a:lnTo>
                  <a:lnTo>
                    <a:pt x="0" y="1158748"/>
                  </a:lnTo>
                  <a:lnTo>
                    <a:pt x="0" y="127507"/>
                  </a:lnTo>
                  <a:close/>
                </a:path>
              </a:pathLst>
            </a:custGeom>
            <a:ln w="19812">
              <a:solidFill>
                <a:srgbClr val="1780C3"/>
              </a:solidFill>
            </a:ln>
          </p:spPr>
          <p:txBody>
            <a:bodyPr wrap="square" lIns="0" tIns="0" rIns="0" bIns="0" rtlCol="0"/>
            <a:lstStyle/>
            <a:p>
              <a:endParaRPr sz="2400"/>
            </a:p>
          </p:txBody>
        </p:sp>
        <p:sp>
          <p:nvSpPr>
            <p:cNvPr id="10" name="object 10"/>
            <p:cNvSpPr/>
            <p:nvPr/>
          </p:nvSpPr>
          <p:spPr>
            <a:xfrm>
              <a:off x="7046975" y="3247643"/>
              <a:ext cx="172211" cy="172212"/>
            </a:xfrm>
            <a:prstGeom prst="rect">
              <a:avLst/>
            </a:prstGeom>
            <a:blipFill>
              <a:blip r:embed="rId4" cstate="print"/>
              <a:stretch>
                <a:fillRect/>
              </a:stretch>
            </a:blipFill>
          </p:spPr>
          <p:txBody>
            <a:bodyPr wrap="square" lIns="0" tIns="0" rIns="0" bIns="0" rtlCol="0"/>
            <a:lstStyle/>
            <a:p>
              <a:endParaRPr sz="2400"/>
            </a:p>
          </p:txBody>
        </p:sp>
        <p:sp>
          <p:nvSpPr>
            <p:cNvPr id="11" name="object 11"/>
            <p:cNvSpPr/>
            <p:nvPr/>
          </p:nvSpPr>
          <p:spPr>
            <a:xfrm>
              <a:off x="7037832" y="2380487"/>
              <a:ext cx="173736" cy="173735"/>
            </a:xfrm>
            <a:prstGeom prst="rect">
              <a:avLst/>
            </a:prstGeom>
            <a:blipFill>
              <a:blip r:embed="rId5" cstate="print"/>
              <a:stretch>
                <a:fillRect/>
              </a:stretch>
            </a:blipFill>
          </p:spPr>
          <p:txBody>
            <a:bodyPr wrap="square" lIns="0" tIns="0" rIns="0" bIns="0" rtlCol="0"/>
            <a:lstStyle/>
            <a:p>
              <a:endParaRPr sz="2400"/>
            </a:p>
          </p:txBody>
        </p:sp>
        <p:sp>
          <p:nvSpPr>
            <p:cNvPr id="12" name="object 12"/>
            <p:cNvSpPr/>
            <p:nvPr/>
          </p:nvSpPr>
          <p:spPr>
            <a:xfrm>
              <a:off x="169163" y="2321051"/>
              <a:ext cx="7254240" cy="303530"/>
            </a:xfrm>
            <a:custGeom>
              <a:avLst/>
              <a:gdLst/>
              <a:ahLst/>
              <a:cxnLst/>
              <a:rect l="l" t="t" r="r" b="b"/>
              <a:pathLst>
                <a:path w="7254240" h="303530">
                  <a:moveTo>
                    <a:pt x="0" y="50546"/>
                  </a:moveTo>
                  <a:lnTo>
                    <a:pt x="3972" y="30861"/>
                  </a:lnTo>
                  <a:lnTo>
                    <a:pt x="14805" y="14795"/>
                  </a:lnTo>
                  <a:lnTo>
                    <a:pt x="30871" y="3968"/>
                  </a:lnTo>
                  <a:lnTo>
                    <a:pt x="50546" y="0"/>
                  </a:lnTo>
                  <a:lnTo>
                    <a:pt x="7203693" y="0"/>
                  </a:lnTo>
                  <a:lnTo>
                    <a:pt x="7223379" y="3968"/>
                  </a:lnTo>
                  <a:lnTo>
                    <a:pt x="7239444" y="14795"/>
                  </a:lnTo>
                  <a:lnTo>
                    <a:pt x="7250271" y="30861"/>
                  </a:lnTo>
                  <a:lnTo>
                    <a:pt x="7254239" y="50546"/>
                  </a:lnTo>
                  <a:lnTo>
                    <a:pt x="7254239" y="252730"/>
                  </a:lnTo>
                  <a:lnTo>
                    <a:pt x="7250271" y="272415"/>
                  </a:lnTo>
                  <a:lnTo>
                    <a:pt x="7239444" y="288480"/>
                  </a:lnTo>
                  <a:lnTo>
                    <a:pt x="7223379" y="299307"/>
                  </a:lnTo>
                  <a:lnTo>
                    <a:pt x="7203693" y="303275"/>
                  </a:lnTo>
                  <a:lnTo>
                    <a:pt x="50546" y="303275"/>
                  </a:lnTo>
                  <a:lnTo>
                    <a:pt x="30871" y="299307"/>
                  </a:lnTo>
                  <a:lnTo>
                    <a:pt x="14805" y="288480"/>
                  </a:lnTo>
                  <a:lnTo>
                    <a:pt x="3972" y="272415"/>
                  </a:lnTo>
                  <a:lnTo>
                    <a:pt x="0" y="252730"/>
                  </a:lnTo>
                  <a:lnTo>
                    <a:pt x="0" y="50546"/>
                  </a:lnTo>
                  <a:close/>
                </a:path>
              </a:pathLst>
            </a:custGeom>
            <a:ln w="9144">
              <a:solidFill>
                <a:srgbClr val="000000"/>
              </a:solidFill>
              <a:prstDash val="sysDashDot"/>
            </a:ln>
          </p:spPr>
          <p:txBody>
            <a:bodyPr wrap="square" lIns="0" tIns="0" rIns="0" bIns="0" rtlCol="0"/>
            <a:lstStyle/>
            <a:p>
              <a:endParaRPr sz="2400"/>
            </a:p>
          </p:txBody>
        </p:sp>
        <p:sp>
          <p:nvSpPr>
            <p:cNvPr id="13" name="object 13"/>
            <p:cNvSpPr/>
            <p:nvPr/>
          </p:nvSpPr>
          <p:spPr>
            <a:xfrm>
              <a:off x="1795018" y="1569719"/>
              <a:ext cx="1137920" cy="716280"/>
            </a:xfrm>
            <a:custGeom>
              <a:avLst/>
              <a:gdLst/>
              <a:ahLst/>
              <a:cxnLst/>
              <a:rect l="l" t="t" r="r" b="b"/>
              <a:pathLst>
                <a:path w="1137920" h="716280">
                  <a:moveTo>
                    <a:pt x="12700" y="665225"/>
                  </a:moveTo>
                  <a:lnTo>
                    <a:pt x="0" y="665225"/>
                  </a:lnTo>
                  <a:lnTo>
                    <a:pt x="0" y="716025"/>
                  </a:lnTo>
                  <a:lnTo>
                    <a:pt x="12700" y="716025"/>
                  </a:lnTo>
                  <a:lnTo>
                    <a:pt x="12700" y="665225"/>
                  </a:lnTo>
                  <a:close/>
                </a:path>
                <a:path w="1137920" h="716280">
                  <a:moveTo>
                    <a:pt x="12700" y="614425"/>
                  </a:moveTo>
                  <a:lnTo>
                    <a:pt x="0" y="614425"/>
                  </a:lnTo>
                  <a:lnTo>
                    <a:pt x="0" y="627125"/>
                  </a:lnTo>
                  <a:lnTo>
                    <a:pt x="12700" y="627125"/>
                  </a:lnTo>
                  <a:lnTo>
                    <a:pt x="12700" y="614425"/>
                  </a:lnTo>
                  <a:close/>
                </a:path>
                <a:path w="1137920" h="716280">
                  <a:moveTo>
                    <a:pt x="12700" y="525525"/>
                  </a:moveTo>
                  <a:lnTo>
                    <a:pt x="0" y="525525"/>
                  </a:lnTo>
                  <a:lnTo>
                    <a:pt x="0" y="576325"/>
                  </a:lnTo>
                  <a:lnTo>
                    <a:pt x="12700" y="576325"/>
                  </a:lnTo>
                  <a:lnTo>
                    <a:pt x="12700" y="525525"/>
                  </a:lnTo>
                  <a:close/>
                </a:path>
                <a:path w="1137920" h="716280">
                  <a:moveTo>
                    <a:pt x="12700" y="474725"/>
                  </a:moveTo>
                  <a:lnTo>
                    <a:pt x="0" y="474725"/>
                  </a:lnTo>
                  <a:lnTo>
                    <a:pt x="0" y="487425"/>
                  </a:lnTo>
                  <a:lnTo>
                    <a:pt x="12700" y="487425"/>
                  </a:lnTo>
                  <a:lnTo>
                    <a:pt x="12700" y="474725"/>
                  </a:lnTo>
                  <a:close/>
                </a:path>
                <a:path w="1137920" h="716280">
                  <a:moveTo>
                    <a:pt x="12700" y="385825"/>
                  </a:moveTo>
                  <a:lnTo>
                    <a:pt x="0" y="385825"/>
                  </a:lnTo>
                  <a:lnTo>
                    <a:pt x="0" y="436625"/>
                  </a:lnTo>
                  <a:lnTo>
                    <a:pt x="12700" y="436625"/>
                  </a:lnTo>
                  <a:lnTo>
                    <a:pt x="12700" y="385825"/>
                  </a:lnTo>
                  <a:close/>
                </a:path>
                <a:path w="1137920" h="716280">
                  <a:moveTo>
                    <a:pt x="29337" y="351662"/>
                  </a:moveTo>
                  <a:lnTo>
                    <a:pt x="16637" y="351662"/>
                  </a:lnTo>
                  <a:lnTo>
                    <a:pt x="16637" y="364362"/>
                  </a:lnTo>
                  <a:lnTo>
                    <a:pt x="29337" y="364362"/>
                  </a:lnTo>
                  <a:lnTo>
                    <a:pt x="29337" y="351662"/>
                  </a:lnTo>
                  <a:close/>
                </a:path>
                <a:path w="1137920" h="716280">
                  <a:moveTo>
                    <a:pt x="118237" y="351662"/>
                  </a:moveTo>
                  <a:lnTo>
                    <a:pt x="67437" y="351662"/>
                  </a:lnTo>
                  <a:lnTo>
                    <a:pt x="67437" y="364362"/>
                  </a:lnTo>
                  <a:lnTo>
                    <a:pt x="118237" y="364362"/>
                  </a:lnTo>
                  <a:lnTo>
                    <a:pt x="118237" y="351662"/>
                  </a:lnTo>
                  <a:close/>
                </a:path>
                <a:path w="1137920" h="716280">
                  <a:moveTo>
                    <a:pt x="169037" y="351662"/>
                  </a:moveTo>
                  <a:lnTo>
                    <a:pt x="156337" y="351662"/>
                  </a:lnTo>
                  <a:lnTo>
                    <a:pt x="156337" y="364362"/>
                  </a:lnTo>
                  <a:lnTo>
                    <a:pt x="169037" y="364362"/>
                  </a:lnTo>
                  <a:lnTo>
                    <a:pt x="169037" y="351662"/>
                  </a:lnTo>
                  <a:close/>
                </a:path>
                <a:path w="1137920" h="716280">
                  <a:moveTo>
                    <a:pt x="257937" y="351662"/>
                  </a:moveTo>
                  <a:lnTo>
                    <a:pt x="207137" y="351662"/>
                  </a:lnTo>
                  <a:lnTo>
                    <a:pt x="207137" y="364362"/>
                  </a:lnTo>
                  <a:lnTo>
                    <a:pt x="257937" y="364362"/>
                  </a:lnTo>
                  <a:lnTo>
                    <a:pt x="257937" y="351662"/>
                  </a:lnTo>
                  <a:close/>
                </a:path>
                <a:path w="1137920" h="716280">
                  <a:moveTo>
                    <a:pt x="308737" y="351662"/>
                  </a:moveTo>
                  <a:lnTo>
                    <a:pt x="296037" y="351662"/>
                  </a:lnTo>
                  <a:lnTo>
                    <a:pt x="296037" y="364362"/>
                  </a:lnTo>
                  <a:lnTo>
                    <a:pt x="308737" y="364362"/>
                  </a:lnTo>
                  <a:lnTo>
                    <a:pt x="308737" y="351662"/>
                  </a:lnTo>
                  <a:close/>
                </a:path>
                <a:path w="1137920" h="716280">
                  <a:moveTo>
                    <a:pt x="397637" y="351662"/>
                  </a:moveTo>
                  <a:lnTo>
                    <a:pt x="346837" y="351662"/>
                  </a:lnTo>
                  <a:lnTo>
                    <a:pt x="346837" y="364362"/>
                  </a:lnTo>
                  <a:lnTo>
                    <a:pt x="397637" y="364362"/>
                  </a:lnTo>
                  <a:lnTo>
                    <a:pt x="397637" y="351662"/>
                  </a:lnTo>
                  <a:close/>
                </a:path>
                <a:path w="1137920" h="716280">
                  <a:moveTo>
                    <a:pt x="448437" y="351662"/>
                  </a:moveTo>
                  <a:lnTo>
                    <a:pt x="435737" y="351662"/>
                  </a:lnTo>
                  <a:lnTo>
                    <a:pt x="435737" y="364362"/>
                  </a:lnTo>
                  <a:lnTo>
                    <a:pt x="448437" y="364362"/>
                  </a:lnTo>
                  <a:lnTo>
                    <a:pt x="448437" y="351662"/>
                  </a:lnTo>
                  <a:close/>
                </a:path>
                <a:path w="1137920" h="716280">
                  <a:moveTo>
                    <a:pt x="537337" y="351662"/>
                  </a:moveTo>
                  <a:lnTo>
                    <a:pt x="486537" y="351662"/>
                  </a:lnTo>
                  <a:lnTo>
                    <a:pt x="486537" y="364362"/>
                  </a:lnTo>
                  <a:lnTo>
                    <a:pt x="537337" y="364362"/>
                  </a:lnTo>
                  <a:lnTo>
                    <a:pt x="537337" y="351662"/>
                  </a:lnTo>
                  <a:close/>
                </a:path>
                <a:path w="1137920" h="716280">
                  <a:moveTo>
                    <a:pt x="588137" y="351662"/>
                  </a:moveTo>
                  <a:lnTo>
                    <a:pt x="575437" y="351662"/>
                  </a:lnTo>
                  <a:lnTo>
                    <a:pt x="575437" y="364362"/>
                  </a:lnTo>
                  <a:lnTo>
                    <a:pt x="588137" y="364362"/>
                  </a:lnTo>
                  <a:lnTo>
                    <a:pt x="588137" y="351662"/>
                  </a:lnTo>
                  <a:close/>
                </a:path>
                <a:path w="1137920" h="716280">
                  <a:moveTo>
                    <a:pt x="677037" y="351662"/>
                  </a:moveTo>
                  <a:lnTo>
                    <a:pt x="626237" y="351662"/>
                  </a:lnTo>
                  <a:lnTo>
                    <a:pt x="626237" y="364362"/>
                  </a:lnTo>
                  <a:lnTo>
                    <a:pt x="677037" y="364362"/>
                  </a:lnTo>
                  <a:lnTo>
                    <a:pt x="677037" y="351662"/>
                  </a:lnTo>
                  <a:close/>
                </a:path>
                <a:path w="1137920" h="716280">
                  <a:moveTo>
                    <a:pt x="727837" y="351662"/>
                  </a:moveTo>
                  <a:lnTo>
                    <a:pt x="715137" y="351662"/>
                  </a:lnTo>
                  <a:lnTo>
                    <a:pt x="715137" y="364362"/>
                  </a:lnTo>
                  <a:lnTo>
                    <a:pt x="727837" y="364362"/>
                  </a:lnTo>
                  <a:lnTo>
                    <a:pt x="727837" y="351662"/>
                  </a:lnTo>
                  <a:close/>
                </a:path>
                <a:path w="1137920" h="716280">
                  <a:moveTo>
                    <a:pt x="816737" y="351662"/>
                  </a:moveTo>
                  <a:lnTo>
                    <a:pt x="765937" y="351662"/>
                  </a:lnTo>
                  <a:lnTo>
                    <a:pt x="765937" y="364362"/>
                  </a:lnTo>
                  <a:lnTo>
                    <a:pt x="816737" y="364362"/>
                  </a:lnTo>
                  <a:lnTo>
                    <a:pt x="816737" y="351662"/>
                  </a:lnTo>
                  <a:close/>
                </a:path>
                <a:path w="1137920" h="716280">
                  <a:moveTo>
                    <a:pt x="867537" y="351662"/>
                  </a:moveTo>
                  <a:lnTo>
                    <a:pt x="854837" y="351662"/>
                  </a:lnTo>
                  <a:lnTo>
                    <a:pt x="854837" y="364362"/>
                  </a:lnTo>
                  <a:lnTo>
                    <a:pt x="867537" y="364362"/>
                  </a:lnTo>
                  <a:lnTo>
                    <a:pt x="867537" y="351662"/>
                  </a:lnTo>
                  <a:close/>
                </a:path>
                <a:path w="1137920" h="716280">
                  <a:moveTo>
                    <a:pt x="956437" y="351662"/>
                  </a:moveTo>
                  <a:lnTo>
                    <a:pt x="905637" y="351662"/>
                  </a:lnTo>
                  <a:lnTo>
                    <a:pt x="905637" y="364362"/>
                  </a:lnTo>
                  <a:lnTo>
                    <a:pt x="956437" y="364362"/>
                  </a:lnTo>
                  <a:lnTo>
                    <a:pt x="956437" y="351662"/>
                  </a:lnTo>
                  <a:close/>
                </a:path>
                <a:path w="1137920" h="716280">
                  <a:moveTo>
                    <a:pt x="1007237" y="351662"/>
                  </a:moveTo>
                  <a:lnTo>
                    <a:pt x="994537" y="351662"/>
                  </a:lnTo>
                  <a:lnTo>
                    <a:pt x="994537" y="364362"/>
                  </a:lnTo>
                  <a:lnTo>
                    <a:pt x="1007237" y="364362"/>
                  </a:lnTo>
                  <a:lnTo>
                    <a:pt x="1007237" y="351662"/>
                  </a:lnTo>
                  <a:close/>
                </a:path>
                <a:path w="1137920" h="716280">
                  <a:moveTo>
                    <a:pt x="1096137" y="351662"/>
                  </a:moveTo>
                  <a:lnTo>
                    <a:pt x="1045337" y="351662"/>
                  </a:lnTo>
                  <a:lnTo>
                    <a:pt x="1045337" y="364362"/>
                  </a:lnTo>
                  <a:lnTo>
                    <a:pt x="1096137" y="364362"/>
                  </a:lnTo>
                  <a:lnTo>
                    <a:pt x="1096137" y="351662"/>
                  </a:lnTo>
                  <a:close/>
                </a:path>
                <a:path w="1137920" h="716280">
                  <a:moveTo>
                    <a:pt x="1105662" y="310388"/>
                  </a:moveTo>
                  <a:lnTo>
                    <a:pt x="1092962" y="310388"/>
                  </a:lnTo>
                  <a:lnTo>
                    <a:pt x="1092962" y="323087"/>
                  </a:lnTo>
                  <a:lnTo>
                    <a:pt x="1105662" y="323087"/>
                  </a:lnTo>
                  <a:lnTo>
                    <a:pt x="1105662" y="310388"/>
                  </a:lnTo>
                  <a:close/>
                </a:path>
                <a:path w="1137920" h="716280">
                  <a:moveTo>
                    <a:pt x="1105662" y="221487"/>
                  </a:moveTo>
                  <a:lnTo>
                    <a:pt x="1092962" y="221487"/>
                  </a:lnTo>
                  <a:lnTo>
                    <a:pt x="1092962" y="272288"/>
                  </a:lnTo>
                  <a:lnTo>
                    <a:pt x="1105662" y="272288"/>
                  </a:lnTo>
                  <a:lnTo>
                    <a:pt x="1105662" y="221487"/>
                  </a:lnTo>
                  <a:close/>
                </a:path>
                <a:path w="1137920" h="716280">
                  <a:moveTo>
                    <a:pt x="1105662" y="170687"/>
                  </a:moveTo>
                  <a:lnTo>
                    <a:pt x="1092962" y="170687"/>
                  </a:lnTo>
                  <a:lnTo>
                    <a:pt x="1092962" y="183387"/>
                  </a:lnTo>
                  <a:lnTo>
                    <a:pt x="1105662" y="183387"/>
                  </a:lnTo>
                  <a:lnTo>
                    <a:pt x="1105662" y="170687"/>
                  </a:lnTo>
                  <a:close/>
                </a:path>
                <a:path w="1137920" h="716280">
                  <a:moveTo>
                    <a:pt x="1105662" y="81787"/>
                  </a:moveTo>
                  <a:lnTo>
                    <a:pt x="1092962" y="81787"/>
                  </a:lnTo>
                  <a:lnTo>
                    <a:pt x="1092962" y="132587"/>
                  </a:lnTo>
                  <a:lnTo>
                    <a:pt x="1105662" y="132587"/>
                  </a:lnTo>
                  <a:lnTo>
                    <a:pt x="1105662" y="81787"/>
                  </a:lnTo>
                  <a:close/>
                </a:path>
                <a:path w="1137920" h="716280">
                  <a:moveTo>
                    <a:pt x="1099312" y="0"/>
                  </a:moveTo>
                  <a:lnTo>
                    <a:pt x="1061212" y="76200"/>
                  </a:lnTo>
                  <a:lnTo>
                    <a:pt x="1137412" y="76200"/>
                  </a:lnTo>
                  <a:lnTo>
                    <a:pt x="1099312" y="0"/>
                  </a:lnTo>
                  <a:close/>
                </a:path>
              </a:pathLst>
            </a:custGeom>
            <a:solidFill>
              <a:srgbClr val="000000"/>
            </a:solidFill>
          </p:spPr>
          <p:txBody>
            <a:bodyPr wrap="square" lIns="0" tIns="0" rIns="0" bIns="0" rtlCol="0"/>
            <a:lstStyle/>
            <a:p>
              <a:endParaRPr sz="2400"/>
            </a:p>
          </p:txBody>
        </p:sp>
        <p:sp>
          <p:nvSpPr>
            <p:cNvPr id="14" name="object 14"/>
            <p:cNvSpPr/>
            <p:nvPr/>
          </p:nvSpPr>
          <p:spPr>
            <a:xfrm>
              <a:off x="1780031" y="1107947"/>
              <a:ext cx="2230120" cy="462280"/>
            </a:xfrm>
            <a:custGeom>
              <a:avLst/>
              <a:gdLst/>
              <a:ahLst/>
              <a:cxnLst/>
              <a:rect l="l" t="t" r="r" b="b"/>
              <a:pathLst>
                <a:path w="2230120" h="462280">
                  <a:moveTo>
                    <a:pt x="2152650" y="0"/>
                  </a:moveTo>
                  <a:lnTo>
                    <a:pt x="76962" y="0"/>
                  </a:lnTo>
                  <a:lnTo>
                    <a:pt x="46988" y="6042"/>
                  </a:lnTo>
                  <a:lnTo>
                    <a:pt x="22526" y="22526"/>
                  </a:lnTo>
                  <a:lnTo>
                    <a:pt x="6042" y="46988"/>
                  </a:lnTo>
                  <a:lnTo>
                    <a:pt x="0" y="76962"/>
                  </a:lnTo>
                  <a:lnTo>
                    <a:pt x="0" y="384810"/>
                  </a:lnTo>
                  <a:lnTo>
                    <a:pt x="6042" y="414783"/>
                  </a:lnTo>
                  <a:lnTo>
                    <a:pt x="22526" y="439245"/>
                  </a:lnTo>
                  <a:lnTo>
                    <a:pt x="46988" y="455729"/>
                  </a:lnTo>
                  <a:lnTo>
                    <a:pt x="76962" y="461772"/>
                  </a:lnTo>
                  <a:lnTo>
                    <a:pt x="2152650" y="461772"/>
                  </a:lnTo>
                  <a:lnTo>
                    <a:pt x="2182623" y="455729"/>
                  </a:lnTo>
                  <a:lnTo>
                    <a:pt x="2207085" y="439245"/>
                  </a:lnTo>
                  <a:lnTo>
                    <a:pt x="2223569" y="414783"/>
                  </a:lnTo>
                  <a:lnTo>
                    <a:pt x="2229612" y="384810"/>
                  </a:lnTo>
                  <a:lnTo>
                    <a:pt x="2229612" y="76962"/>
                  </a:lnTo>
                  <a:lnTo>
                    <a:pt x="2223569" y="46988"/>
                  </a:lnTo>
                  <a:lnTo>
                    <a:pt x="2207085" y="22526"/>
                  </a:lnTo>
                  <a:lnTo>
                    <a:pt x="2182623" y="6042"/>
                  </a:lnTo>
                  <a:lnTo>
                    <a:pt x="2152650" y="0"/>
                  </a:lnTo>
                  <a:close/>
                </a:path>
              </a:pathLst>
            </a:custGeom>
            <a:solidFill>
              <a:srgbClr val="483390"/>
            </a:solidFill>
          </p:spPr>
          <p:txBody>
            <a:bodyPr wrap="square" lIns="0" tIns="0" rIns="0" bIns="0" rtlCol="0"/>
            <a:lstStyle/>
            <a:p>
              <a:endParaRPr sz="2400"/>
            </a:p>
          </p:txBody>
        </p:sp>
        <p:sp>
          <p:nvSpPr>
            <p:cNvPr id="15" name="object 15"/>
            <p:cNvSpPr/>
            <p:nvPr/>
          </p:nvSpPr>
          <p:spPr>
            <a:xfrm>
              <a:off x="1780031" y="1107947"/>
              <a:ext cx="2230120" cy="462280"/>
            </a:xfrm>
            <a:custGeom>
              <a:avLst/>
              <a:gdLst/>
              <a:ahLst/>
              <a:cxnLst/>
              <a:rect l="l" t="t" r="r" b="b"/>
              <a:pathLst>
                <a:path w="2230120" h="462280">
                  <a:moveTo>
                    <a:pt x="0" y="76962"/>
                  </a:moveTo>
                  <a:lnTo>
                    <a:pt x="6042" y="46988"/>
                  </a:lnTo>
                  <a:lnTo>
                    <a:pt x="22526" y="22526"/>
                  </a:lnTo>
                  <a:lnTo>
                    <a:pt x="46988" y="6042"/>
                  </a:lnTo>
                  <a:lnTo>
                    <a:pt x="76962" y="0"/>
                  </a:lnTo>
                  <a:lnTo>
                    <a:pt x="2152650" y="0"/>
                  </a:lnTo>
                  <a:lnTo>
                    <a:pt x="2182623" y="6042"/>
                  </a:lnTo>
                  <a:lnTo>
                    <a:pt x="2207085" y="22526"/>
                  </a:lnTo>
                  <a:lnTo>
                    <a:pt x="2223569" y="46988"/>
                  </a:lnTo>
                  <a:lnTo>
                    <a:pt x="2229612" y="76962"/>
                  </a:lnTo>
                  <a:lnTo>
                    <a:pt x="2229612" y="384810"/>
                  </a:lnTo>
                  <a:lnTo>
                    <a:pt x="2223569" y="414783"/>
                  </a:lnTo>
                  <a:lnTo>
                    <a:pt x="2207085" y="439245"/>
                  </a:lnTo>
                  <a:lnTo>
                    <a:pt x="2182623" y="455729"/>
                  </a:lnTo>
                  <a:lnTo>
                    <a:pt x="2152650" y="461772"/>
                  </a:lnTo>
                  <a:lnTo>
                    <a:pt x="76962" y="461772"/>
                  </a:lnTo>
                  <a:lnTo>
                    <a:pt x="46988" y="455729"/>
                  </a:lnTo>
                  <a:lnTo>
                    <a:pt x="22526" y="439245"/>
                  </a:lnTo>
                  <a:lnTo>
                    <a:pt x="6042" y="414783"/>
                  </a:lnTo>
                  <a:lnTo>
                    <a:pt x="0" y="384810"/>
                  </a:lnTo>
                  <a:lnTo>
                    <a:pt x="0" y="76962"/>
                  </a:lnTo>
                  <a:close/>
                </a:path>
              </a:pathLst>
            </a:custGeom>
            <a:ln w="12191">
              <a:solidFill>
                <a:srgbClr val="332268"/>
              </a:solidFill>
            </a:ln>
          </p:spPr>
          <p:txBody>
            <a:bodyPr wrap="square" lIns="0" tIns="0" rIns="0" bIns="0" rtlCol="0"/>
            <a:lstStyle/>
            <a:p>
              <a:endParaRPr sz="2400"/>
            </a:p>
          </p:txBody>
        </p:sp>
      </p:grpSp>
      <p:sp>
        <p:nvSpPr>
          <p:cNvPr id="16" name="object 16"/>
          <p:cNvSpPr txBox="1"/>
          <p:nvPr/>
        </p:nvSpPr>
        <p:spPr>
          <a:xfrm>
            <a:off x="2826681" y="1626108"/>
            <a:ext cx="2068407" cy="294953"/>
          </a:xfrm>
          <a:prstGeom prst="rect">
            <a:avLst/>
          </a:prstGeom>
        </p:spPr>
        <p:txBody>
          <a:bodyPr vert="horz" wrap="square" lIns="0" tIns="17780" rIns="0" bIns="0" rtlCol="0">
            <a:spAutoFit/>
          </a:bodyPr>
          <a:lstStyle/>
          <a:p>
            <a:pPr marL="16933">
              <a:spcBef>
                <a:spcPts val="140"/>
              </a:spcBef>
            </a:pPr>
            <a:r>
              <a:rPr spc="47" dirty="0">
                <a:solidFill>
                  <a:srgbClr val="FFFFFF"/>
                </a:solidFill>
                <a:latin typeface="Arial"/>
                <a:cs typeface="Arial"/>
              </a:rPr>
              <a:t>Monitoring</a:t>
            </a:r>
            <a:r>
              <a:rPr spc="-73" dirty="0">
                <a:solidFill>
                  <a:srgbClr val="FFFFFF"/>
                </a:solidFill>
                <a:latin typeface="Arial"/>
                <a:cs typeface="Arial"/>
              </a:rPr>
              <a:t> </a:t>
            </a:r>
            <a:r>
              <a:rPr spc="7" dirty="0">
                <a:solidFill>
                  <a:srgbClr val="FFFFFF"/>
                </a:solidFill>
                <a:latin typeface="Arial"/>
                <a:cs typeface="Arial"/>
              </a:rPr>
              <a:t>Solution</a:t>
            </a:r>
            <a:endParaRPr>
              <a:latin typeface="Arial"/>
              <a:cs typeface="Arial"/>
            </a:endParaRPr>
          </a:p>
        </p:txBody>
      </p:sp>
      <p:grpSp>
        <p:nvGrpSpPr>
          <p:cNvPr id="17" name="object 17"/>
          <p:cNvGrpSpPr/>
          <p:nvPr/>
        </p:nvGrpSpPr>
        <p:grpSpPr>
          <a:xfrm>
            <a:off x="5713646" y="1478956"/>
            <a:ext cx="2987887" cy="633307"/>
            <a:chOff x="4285234" y="1109217"/>
            <a:chExt cx="2240915" cy="474980"/>
          </a:xfrm>
        </p:grpSpPr>
        <p:sp>
          <p:nvSpPr>
            <p:cNvPr id="18" name="object 18"/>
            <p:cNvSpPr/>
            <p:nvPr/>
          </p:nvSpPr>
          <p:spPr>
            <a:xfrm>
              <a:off x="4291584" y="1115567"/>
              <a:ext cx="2228215" cy="462280"/>
            </a:xfrm>
            <a:custGeom>
              <a:avLst/>
              <a:gdLst/>
              <a:ahLst/>
              <a:cxnLst/>
              <a:rect l="l" t="t" r="r" b="b"/>
              <a:pathLst>
                <a:path w="2228215" h="462280">
                  <a:moveTo>
                    <a:pt x="2151126" y="0"/>
                  </a:moveTo>
                  <a:lnTo>
                    <a:pt x="76962" y="0"/>
                  </a:lnTo>
                  <a:lnTo>
                    <a:pt x="46988" y="6042"/>
                  </a:lnTo>
                  <a:lnTo>
                    <a:pt x="22526" y="22526"/>
                  </a:lnTo>
                  <a:lnTo>
                    <a:pt x="6042" y="46988"/>
                  </a:lnTo>
                  <a:lnTo>
                    <a:pt x="0" y="76962"/>
                  </a:lnTo>
                  <a:lnTo>
                    <a:pt x="0" y="384810"/>
                  </a:lnTo>
                  <a:lnTo>
                    <a:pt x="6042" y="414783"/>
                  </a:lnTo>
                  <a:lnTo>
                    <a:pt x="22526" y="439245"/>
                  </a:lnTo>
                  <a:lnTo>
                    <a:pt x="46988" y="455729"/>
                  </a:lnTo>
                  <a:lnTo>
                    <a:pt x="76962" y="461772"/>
                  </a:lnTo>
                  <a:lnTo>
                    <a:pt x="2151126" y="461772"/>
                  </a:lnTo>
                  <a:lnTo>
                    <a:pt x="2181099" y="455729"/>
                  </a:lnTo>
                  <a:lnTo>
                    <a:pt x="2205561" y="439245"/>
                  </a:lnTo>
                  <a:lnTo>
                    <a:pt x="2222045" y="414783"/>
                  </a:lnTo>
                  <a:lnTo>
                    <a:pt x="2228088" y="384810"/>
                  </a:lnTo>
                  <a:lnTo>
                    <a:pt x="2228088" y="76962"/>
                  </a:lnTo>
                  <a:lnTo>
                    <a:pt x="2222045" y="46988"/>
                  </a:lnTo>
                  <a:lnTo>
                    <a:pt x="2205561" y="22526"/>
                  </a:lnTo>
                  <a:lnTo>
                    <a:pt x="2181099" y="6042"/>
                  </a:lnTo>
                  <a:lnTo>
                    <a:pt x="2151126" y="0"/>
                  </a:lnTo>
                  <a:close/>
                </a:path>
              </a:pathLst>
            </a:custGeom>
            <a:solidFill>
              <a:srgbClr val="E10A87"/>
            </a:solidFill>
          </p:spPr>
          <p:txBody>
            <a:bodyPr wrap="square" lIns="0" tIns="0" rIns="0" bIns="0" rtlCol="0"/>
            <a:lstStyle/>
            <a:p>
              <a:endParaRPr sz="2400"/>
            </a:p>
          </p:txBody>
        </p:sp>
        <p:sp>
          <p:nvSpPr>
            <p:cNvPr id="19" name="object 19"/>
            <p:cNvSpPr/>
            <p:nvPr/>
          </p:nvSpPr>
          <p:spPr>
            <a:xfrm>
              <a:off x="4291584" y="1115567"/>
              <a:ext cx="2228215" cy="462280"/>
            </a:xfrm>
            <a:custGeom>
              <a:avLst/>
              <a:gdLst/>
              <a:ahLst/>
              <a:cxnLst/>
              <a:rect l="l" t="t" r="r" b="b"/>
              <a:pathLst>
                <a:path w="2228215" h="462280">
                  <a:moveTo>
                    <a:pt x="0" y="76962"/>
                  </a:moveTo>
                  <a:lnTo>
                    <a:pt x="6042" y="46988"/>
                  </a:lnTo>
                  <a:lnTo>
                    <a:pt x="22526" y="22526"/>
                  </a:lnTo>
                  <a:lnTo>
                    <a:pt x="46988" y="6042"/>
                  </a:lnTo>
                  <a:lnTo>
                    <a:pt x="76962" y="0"/>
                  </a:lnTo>
                  <a:lnTo>
                    <a:pt x="2151126" y="0"/>
                  </a:lnTo>
                  <a:lnTo>
                    <a:pt x="2181099" y="6042"/>
                  </a:lnTo>
                  <a:lnTo>
                    <a:pt x="2205561" y="22526"/>
                  </a:lnTo>
                  <a:lnTo>
                    <a:pt x="2222045" y="46988"/>
                  </a:lnTo>
                  <a:lnTo>
                    <a:pt x="2228088" y="76962"/>
                  </a:lnTo>
                  <a:lnTo>
                    <a:pt x="2228088" y="384810"/>
                  </a:lnTo>
                  <a:lnTo>
                    <a:pt x="2222045" y="414783"/>
                  </a:lnTo>
                  <a:lnTo>
                    <a:pt x="2205561" y="439245"/>
                  </a:lnTo>
                  <a:lnTo>
                    <a:pt x="2181099" y="455729"/>
                  </a:lnTo>
                  <a:lnTo>
                    <a:pt x="2151126" y="461772"/>
                  </a:lnTo>
                  <a:lnTo>
                    <a:pt x="76962" y="461772"/>
                  </a:lnTo>
                  <a:lnTo>
                    <a:pt x="46988" y="455729"/>
                  </a:lnTo>
                  <a:lnTo>
                    <a:pt x="22526" y="439245"/>
                  </a:lnTo>
                  <a:lnTo>
                    <a:pt x="6042" y="414783"/>
                  </a:lnTo>
                  <a:lnTo>
                    <a:pt x="0" y="384810"/>
                  </a:lnTo>
                  <a:lnTo>
                    <a:pt x="0" y="76962"/>
                  </a:lnTo>
                  <a:close/>
                </a:path>
              </a:pathLst>
            </a:custGeom>
            <a:ln w="12191">
              <a:solidFill>
                <a:srgbClr val="A60561"/>
              </a:solidFill>
            </a:ln>
          </p:spPr>
          <p:txBody>
            <a:bodyPr wrap="square" lIns="0" tIns="0" rIns="0" bIns="0" rtlCol="0"/>
            <a:lstStyle/>
            <a:p>
              <a:endParaRPr sz="2400"/>
            </a:p>
          </p:txBody>
        </p:sp>
      </p:grpSp>
      <p:sp>
        <p:nvSpPr>
          <p:cNvPr id="20" name="object 20"/>
          <p:cNvSpPr txBox="1"/>
          <p:nvPr/>
        </p:nvSpPr>
        <p:spPr>
          <a:xfrm>
            <a:off x="6581310" y="1635524"/>
            <a:ext cx="1254759" cy="294953"/>
          </a:xfrm>
          <a:prstGeom prst="rect">
            <a:avLst/>
          </a:prstGeom>
        </p:spPr>
        <p:txBody>
          <a:bodyPr vert="horz" wrap="square" lIns="0" tIns="17780" rIns="0" bIns="0" rtlCol="0">
            <a:spAutoFit/>
          </a:bodyPr>
          <a:lstStyle/>
          <a:p>
            <a:pPr marL="16933">
              <a:spcBef>
                <a:spcPts val="140"/>
              </a:spcBef>
            </a:pPr>
            <a:r>
              <a:rPr spc="-47" dirty="0">
                <a:solidFill>
                  <a:srgbClr val="FFFFFF"/>
                </a:solidFill>
                <a:latin typeface="Arial"/>
                <a:cs typeface="Arial"/>
              </a:rPr>
              <a:t>Logs</a:t>
            </a:r>
            <a:r>
              <a:rPr spc="-80" dirty="0">
                <a:solidFill>
                  <a:srgbClr val="FFFFFF"/>
                </a:solidFill>
                <a:latin typeface="Arial"/>
                <a:cs typeface="Arial"/>
              </a:rPr>
              <a:t> </a:t>
            </a:r>
            <a:r>
              <a:rPr spc="-27" dirty="0">
                <a:solidFill>
                  <a:srgbClr val="FFFFFF"/>
                </a:solidFill>
                <a:latin typeface="Arial"/>
                <a:cs typeface="Arial"/>
              </a:rPr>
              <a:t>Viewer</a:t>
            </a:r>
            <a:endParaRPr>
              <a:latin typeface="Arial"/>
              <a:cs typeface="Arial"/>
            </a:endParaRPr>
          </a:p>
        </p:txBody>
      </p:sp>
      <p:sp>
        <p:nvSpPr>
          <p:cNvPr id="21" name="object 21"/>
          <p:cNvSpPr/>
          <p:nvPr/>
        </p:nvSpPr>
        <p:spPr>
          <a:xfrm>
            <a:off x="3793406" y="2092959"/>
            <a:ext cx="5724313" cy="1024467"/>
          </a:xfrm>
          <a:custGeom>
            <a:avLst/>
            <a:gdLst/>
            <a:ahLst/>
            <a:cxnLst/>
            <a:rect l="l" t="t" r="r" b="b"/>
            <a:pathLst>
              <a:path w="4293234" h="768350">
                <a:moveTo>
                  <a:pt x="12700" y="717550"/>
                </a:moveTo>
                <a:lnTo>
                  <a:pt x="0" y="717550"/>
                </a:lnTo>
                <a:lnTo>
                  <a:pt x="0" y="768350"/>
                </a:lnTo>
                <a:lnTo>
                  <a:pt x="12700" y="768350"/>
                </a:lnTo>
                <a:lnTo>
                  <a:pt x="12700" y="717550"/>
                </a:lnTo>
                <a:close/>
              </a:path>
              <a:path w="4293234" h="768350">
                <a:moveTo>
                  <a:pt x="12700" y="666750"/>
                </a:moveTo>
                <a:lnTo>
                  <a:pt x="0" y="666750"/>
                </a:lnTo>
                <a:lnTo>
                  <a:pt x="0" y="679450"/>
                </a:lnTo>
                <a:lnTo>
                  <a:pt x="12700" y="679450"/>
                </a:lnTo>
                <a:lnTo>
                  <a:pt x="12700" y="666750"/>
                </a:lnTo>
                <a:close/>
              </a:path>
              <a:path w="4293234" h="768350">
                <a:moveTo>
                  <a:pt x="12700" y="577850"/>
                </a:moveTo>
                <a:lnTo>
                  <a:pt x="0" y="577850"/>
                </a:lnTo>
                <a:lnTo>
                  <a:pt x="0" y="628650"/>
                </a:lnTo>
                <a:lnTo>
                  <a:pt x="12700" y="628650"/>
                </a:lnTo>
                <a:lnTo>
                  <a:pt x="12700" y="577850"/>
                </a:lnTo>
                <a:close/>
              </a:path>
              <a:path w="4293234" h="768350">
                <a:moveTo>
                  <a:pt x="12700" y="527050"/>
                </a:moveTo>
                <a:lnTo>
                  <a:pt x="0" y="527050"/>
                </a:lnTo>
                <a:lnTo>
                  <a:pt x="0" y="539750"/>
                </a:lnTo>
                <a:lnTo>
                  <a:pt x="12700" y="539750"/>
                </a:lnTo>
                <a:lnTo>
                  <a:pt x="12700" y="527050"/>
                </a:lnTo>
                <a:close/>
              </a:path>
              <a:path w="4293234" h="768350">
                <a:moveTo>
                  <a:pt x="12700" y="438150"/>
                </a:moveTo>
                <a:lnTo>
                  <a:pt x="0" y="438150"/>
                </a:lnTo>
                <a:lnTo>
                  <a:pt x="0" y="488950"/>
                </a:lnTo>
                <a:lnTo>
                  <a:pt x="12700" y="488950"/>
                </a:lnTo>
                <a:lnTo>
                  <a:pt x="12700" y="438150"/>
                </a:lnTo>
                <a:close/>
              </a:path>
              <a:path w="4293234" h="768350">
                <a:moveTo>
                  <a:pt x="12700" y="387350"/>
                </a:moveTo>
                <a:lnTo>
                  <a:pt x="0" y="387350"/>
                </a:lnTo>
                <a:lnTo>
                  <a:pt x="0" y="400050"/>
                </a:lnTo>
                <a:lnTo>
                  <a:pt x="12700" y="400050"/>
                </a:lnTo>
                <a:lnTo>
                  <a:pt x="12700" y="387350"/>
                </a:lnTo>
                <a:close/>
              </a:path>
              <a:path w="4293234" h="768350">
                <a:moveTo>
                  <a:pt x="1104646" y="665226"/>
                </a:moveTo>
                <a:lnTo>
                  <a:pt x="1091946" y="665226"/>
                </a:lnTo>
                <a:lnTo>
                  <a:pt x="1091946" y="716026"/>
                </a:lnTo>
                <a:lnTo>
                  <a:pt x="1104646" y="716026"/>
                </a:lnTo>
                <a:lnTo>
                  <a:pt x="1104646" y="665226"/>
                </a:lnTo>
                <a:close/>
              </a:path>
              <a:path w="4293234" h="768350">
                <a:moveTo>
                  <a:pt x="1104646" y="614426"/>
                </a:moveTo>
                <a:lnTo>
                  <a:pt x="1091946" y="614426"/>
                </a:lnTo>
                <a:lnTo>
                  <a:pt x="1091946" y="627126"/>
                </a:lnTo>
                <a:lnTo>
                  <a:pt x="1104646" y="627126"/>
                </a:lnTo>
                <a:lnTo>
                  <a:pt x="1104646" y="614426"/>
                </a:lnTo>
                <a:close/>
              </a:path>
              <a:path w="4293234" h="768350">
                <a:moveTo>
                  <a:pt x="1104646" y="525526"/>
                </a:moveTo>
                <a:lnTo>
                  <a:pt x="1091946" y="525526"/>
                </a:lnTo>
                <a:lnTo>
                  <a:pt x="1091946" y="576326"/>
                </a:lnTo>
                <a:lnTo>
                  <a:pt x="1104646" y="576326"/>
                </a:lnTo>
                <a:lnTo>
                  <a:pt x="1104646" y="525526"/>
                </a:lnTo>
                <a:close/>
              </a:path>
              <a:path w="4293234" h="768350">
                <a:moveTo>
                  <a:pt x="1104646" y="474726"/>
                </a:moveTo>
                <a:lnTo>
                  <a:pt x="1091946" y="474726"/>
                </a:lnTo>
                <a:lnTo>
                  <a:pt x="1091946" y="487426"/>
                </a:lnTo>
                <a:lnTo>
                  <a:pt x="1104646" y="487426"/>
                </a:lnTo>
                <a:lnTo>
                  <a:pt x="1104646" y="474726"/>
                </a:lnTo>
                <a:close/>
              </a:path>
              <a:path w="4293234" h="768350">
                <a:moveTo>
                  <a:pt x="1104646" y="385826"/>
                </a:moveTo>
                <a:lnTo>
                  <a:pt x="1091946" y="385826"/>
                </a:lnTo>
                <a:lnTo>
                  <a:pt x="1091946" y="436626"/>
                </a:lnTo>
                <a:lnTo>
                  <a:pt x="1104646" y="436626"/>
                </a:lnTo>
                <a:lnTo>
                  <a:pt x="1104646" y="385826"/>
                </a:lnTo>
                <a:close/>
              </a:path>
              <a:path w="4293234" h="768350">
                <a:moveTo>
                  <a:pt x="1152398" y="351663"/>
                </a:moveTo>
                <a:lnTo>
                  <a:pt x="1152398" y="351663"/>
                </a:lnTo>
                <a:lnTo>
                  <a:pt x="56515" y="351663"/>
                </a:lnTo>
                <a:lnTo>
                  <a:pt x="56515" y="342265"/>
                </a:lnTo>
                <a:lnTo>
                  <a:pt x="55372" y="342265"/>
                </a:lnTo>
                <a:lnTo>
                  <a:pt x="55372" y="326009"/>
                </a:lnTo>
                <a:lnTo>
                  <a:pt x="55372" y="321691"/>
                </a:lnTo>
                <a:lnTo>
                  <a:pt x="55372" y="317373"/>
                </a:lnTo>
                <a:lnTo>
                  <a:pt x="55372" y="313309"/>
                </a:lnTo>
                <a:lnTo>
                  <a:pt x="55372" y="304165"/>
                </a:lnTo>
                <a:lnTo>
                  <a:pt x="56515" y="304165"/>
                </a:lnTo>
                <a:lnTo>
                  <a:pt x="56515" y="291465"/>
                </a:lnTo>
                <a:lnTo>
                  <a:pt x="55372" y="291465"/>
                </a:lnTo>
                <a:lnTo>
                  <a:pt x="55372" y="279273"/>
                </a:lnTo>
                <a:lnTo>
                  <a:pt x="55372" y="253365"/>
                </a:lnTo>
                <a:lnTo>
                  <a:pt x="56515" y="253365"/>
                </a:lnTo>
                <a:lnTo>
                  <a:pt x="56515" y="202565"/>
                </a:lnTo>
                <a:lnTo>
                  <a:pt x="55372" y="202565"/>
                </a:lnTo>
                <a:lnTo>
                  <a:pt x="55372" y="186309"/>
                </a:lnTo>
                <a:lnTo>
                  <a:pt x="55372" y="181991"/>
                </a:lnTo>
                <a:lnTo>
                  <a:pt x="55372" y="177673"/>
                </a:lnTo>
                <a:lnTo>
                  <a:pt x="55372" y="173609"/>
                </a:lnTo>
                <a:lnTo>
                  <a:pt x="55372" y="164465"/>
                </a:lnTo>
                <a:lnTo>
                  <a:pt x="56515" y="164465"/>
                </a:lnTo>
                <a:lnTo>
                  <a:pt x="56515" y="151765"/>
                </a:lnTo>
                <a:lnTo>
                  <a:pt x="55372" y="151765"/>
                </a:lnTo>
                <a:lnTo>
                  <a:pt x="55372" y="139573"/>
                </a:lnTo>
                <a:lnTo>
                  <a:pt x="55372" y="113665"/>
                </a:lnTo>
                <a:lnTo>
                  <a:pt x="56515" y="113665"/>
                </a:lnTo>
                <a:lnTo>
                  <a:pt x="56515" y="76200"/>
                </a:lnTo>
                <a:lnTo>
                  <a:pt x="87122" y="76200"/>
                </a:lnTo>
                <a:lnTo>
                  <a:pt x="88265" y="76200"/>
                </a:lnTo>
                <a:lnTo>
                  <a:pt x="81915" y="63500"/>
                </a:lnTo>
                <a:lnTo>
                  <a:pt x="50165" y="0"/>
                </a:lnTo>
                <a:lnTo>
                  <a:pt x="49593" y="1143"/>
                </a:lnTo>
                <a:lnTo>
                  <a:pt x="49022" y="0"/>
                </a:lnTo>
                <a:lnTo>
                  <a:pt x="10922" y="76200"/>
                </a:lnTo>
                <a:lnTo>
                  <a:pt x="12065" y="76200"/>
                </a:lnTo>
                <a:lnTo>
                  <a:pt x="42672" y="76200"/>
                </a:lnTo>
                <a:lnTo>
                  <a:pt x="42672" y="364363"/>
                </a:lnTo>
                <a:lnTo>
                  <a:pt x="43815" y="364363"/>
                </a:lnTo>
                <a:lnTo>
                  <a:pt x="43815" y="377825"/>
                </a:lnTo>
                <a:lnTo>
                  <a:pt x="41275" y="377825"/>
                </a:lnTo>
                <a:lnTo>
                  <a:pt x="41275" y="390525"/>
                </a:lnTo>
                <a:lnTo>
                  <a:pt x="56515" y="390525"/>
                </a:lnTo>
                <a:lnTo>
                  <a:pt x="56515" y="384175"/>
                </a:lnTo>
                <a:lnTo>
                  <a:pt x="56515" y="377825"/>
                </a:lnTo>
                <a:lnTo>
                  <a:pt x="56515" y="364363"/>
                </a:lnTo>
                <a:lnTo>
                  <a:pt x="59182" y="364363"/>
                </a:lnTo>
                <a:lnTo>
                  <a:pt x="63500" y="364363"/>
                </a:lnTo>
                <a:lnTo>
                  <a:pt x="1152398" y="364363"/>
                </a:lnTo>
                <a:lnTo>
                  <a:pt x="1152398" y="351663"/>
                </a:lnTo>
                <a:close/>
              </a:path>
              <a:path w="4293234" h="768350">
                <a:moveTo>
                  <a:pt x="1292098" y="351663"/>
                </a:moveTo>
                <a:lnTo>
                  <a:pt x="1292098" y="351663"/>
                </a:lnTo>
                <a:lnTo>
                  <a:pt x="1168400" y="351663"/>
                </a:lnTo>
                <a:lnTo>
                  <a:pt x="1168400" y="364363"/>
                </a:lnTo>
                <a:lnTo>
                  <a:pt x="1292098" y="364363"/>
                </a:lnTo>
                <a:lnTo>
                  <a:pt x="1292098" y="351663"/>
                </a:lnTo>
                <a:close/>
              </a:path>
              <a:path w="4293234" h="768350">
                <a:moveTo>
                  <a:pt x="1431798" y="351663"/>
                </a:moveTo>
                <a:lnTo>
                  <a:pt x="1431798" y="351663"/>
                </a:lnTo>
                <a:lnTo>
                  <a:pt x="1308100" y="351663"/>
                </a:lnTo>
                <a:lnTo>
                  <a:pt x="1308100" y="364363"/>
                </a:lnTo>
                <a:lnTo>
                  <a:pt x="1431798" y="364363"/>
                </a:lnTo>
                <a:lnTo>
                  <a:pt x="1431798" y="351663"/>
                </a:lnTo>
                <a:close/>
              </a:path>
              <a:path w="4293234" h="768350">
                <a:moveTo>
                  <a:pt x="1571498" y="351663"/>
                </a:moveTo>
                <a:lnTo>
                  <a:pt x="1571498" y="351663"/>
                </a:lnTo>
                <a:lnTo>
                  <a:pt x="1447800" y="351663"/>
                </a:lnTo>
                <a:lnTo>
                  <a:pt x="1447800" y="364363"/>
                </a:lnTo>
                <a:lnTo>
                  <a:pt x="1571498" y="364363"/>
                </a:lnTo>
                <a:lnTo>
                  <a:pt x="1571498" y="351663"/>
                </a:lnTo>
                <a:close/>
              </a:path>
              <a:path w="4293234" h="768350">
                <a:moveTo>
                  <a:pt x="1711198" y="351663"/>
                </a:moveTo>
                <a:lnTo>
                  <a:pt x="1711198" y="351663"/>
                </a:lnTo>
                <a:lnTo>
                  <a:pt x="1587500" y="351663"/>
                </a:lnTo>
                <a:lnTo>
                  <a:pt x="1587500" y="364363"/>
                </a:lnTo>
                <a:lnTo>
                  <a:pt x="1711198" y="364363"/>
                </a:lnTo>
                <a:lnTo>
                  <a:pt x="1711198" y="351663"/>
                </a:lnTo>
                <a:close/>
              </a:path>
              <a:path w="4293234" h="768350">
                <a:moveTo>
                  <a:pt x="1850898" y="351663"/>
                </a:moveTo>
                <a:lnTo>
                  <a:pt x="1850898" y="351663"/>
                </a:lnTo>
                <a:lnTo>
                  <a:pt x="1727200" y="351663"/>
                </a:lnTo>
                <a:lnTo>
                  <a:pt x="1727200" y="364363"/>
                </a:lnTo>
                <a:lnTo>
                  <a:pt x="1850898" y="364363"/>
                </a:lnTo>
                <a:lnTo>
                  <a:pt x="1850898" y="351663"/>
                </a:lnTo>
                <a:close/>
              </a:path>
              <a:path w="4293234" h="768350">
                <a:moveTo>
                  <a:pt x="1990598" y="351663"/>
                </a:moveTo>
                <a:lnTo>
                  <a:pt x="1990598" y="351663"/>
                </a:lnTo>
                <a:lnTo>
                  <a:pt x="1866900" y="351663"/>
                </a:lnTo>
                <a:lnTo>
                  <a:pt x="1866900" y="364363"/>
                </a:lnTo>
                <a:lnTo>
                  <a:pt x="1990598" y="364363"/>
                </a:lnTo>
                <a:lnTo>
                  <a:pt x="1990598" y="351663"/>
                </a:lnTo>
                <a:close/>
              </a:path>
              <a:path w="4293234" h="768350">
                <a:moveTo>
                  <a:pt x="2130298" y="351663"/>
                </a:moveTo>
                <a:lnTo>
                  <a:pt x="2130298" y="351663"/>
                </a:lnTo>
                <a:lnTo>
                  <a:pt x="2006600" y="351663"/>
                </a:lnTo>
                <a:lnTo>
                  <a:pt x="2006600" y="364363"/>
                </a:lnTo>
                <a:lnTo>
                  <a:pt x="2130298" y="364363"/>
                </a:lnTo>
                <a:lnTo>
                  <a:pt x="2130298" y="351663"/>
                </a:lnTo>
                <a:close/>
              </a:path>
              <a:path w="4293234" h="768350">
                <a:moveTo>
                  <a:pt x="2175764" y="665226"/>
                </a:moveTo>
                <a:lnTo>
                  <a:pt x="2163064" y="665226"/>
                </a:lnTo>
                <a:lnTo>
                  <a:pt x="2163064" y="716026"/>
                </a:lnTo>
                <a:lnTo>
                  <a:pt x="2175764" y="716026"/>
                </a:lnTo>
                <a:lnTo>
                  <a:pt x="2175764" y="665226"/>
                </a:lnTo>
                <a:close/>
              </a:path>
              <a:path w="4293234" h="768350">
                <a:moveTo>
                  <a:pt x="2175764" y="614426"/>
                </a:moveTo>
                <a:lnTo>
                  <a:pt x="2163064" y="614426"/>
                </a:lnTo>
                <a:lnTo>
                  <a:pt x="2163064" y="627126"/>
                </a:lnTo>
                <a:lnTo>
                  <a:pt x="2175764" y="627126"/>
                </a:lnTo>
                <a:lnTo>
                  <a:pt x="2175764" y="614426"/>
                </a:lnTo>
                <a:close/>
              </a:path>
              <a:path w="4293234" h="768350">
                <a:moveTo>
                  <a:pt x="2175764" y="525526"/>
                </a:moveTo>
                <a:lnTo>
                  <a:pt x="2163064" y="525526"/>
                </a:lnTo>
                <a:lnTo>
                  <a:pt x="2163064" y="576326"/>
                </a:lnTo>
                <a:lnTo>
                  <a:pt x="2175764" y="576326"/>
                </a:lnTo>
                <a:lnTo>
                  <a:pt x="2175764" y="525526"/>
                </a:lnTo>
                <a:close/>
              </a:path>
              <a:path w="4293234" h="768350">
                <a:moveTo>
                  <a:pt x="2175764" y="474726"/>
                </a:moveTo>
                <a:lnTo>
                  <a:pt x="2163064" y="474726"/>
                </a:lnTo>
                <a:lnTo>
                  <a:pt x="2163064" y="487426"/>
                </a:lnTo>
                <a:lnTo>
                  <a:pt x="2175764" y="487426"/>
                </a:lnTo>
                <a:lnTo>
                  <a:pt x="2175764" y="474726"/>
                </a:lnTo>
                <a:close/>
              </a:path>
              <a:path w="4293234" h="768350">
                <a:moveTo>
                  <a:pt x="2175764" y="385826"/>
                </a:moveTo>
                <a:lnTo>
                  <a:pt x="2163064" y="385826"/>
                </a:lnTo>
                <a:lnTo>
                  <a:pt x="2163064" y="436626"/>
                </a:lnTo>
                <a:lnTo>
                  <a:pt x="2175764" y="436626"/>
                </a:lnTo>
                <a:lnTo>
                  <a:pt x="2175764" y="385826"/>
                </a:lnTo>
                <a:close/>
              </a:path>
              <a:path w="4293234" h="768350">
                <a:moveTo>
                  <a:pt x="2201418" y="351663"/>
                </a:moveTo>
                <a:lnTo>
                  <a:pt x="2201418" y="351663"/>
                </a:lnTo>
                <a:lnTo>
                  <a:pt x="2146300" y="351663"/>
                </a:lnTo>
                <a:lnTo>
                  <a:pt x="2146300" y="364363"/>
                </a:lnTo>
                <a:lnTo>
                  <a:pt x="2201418" y="364363"/>
                </a:lnTo>
                <a:lnTo>
                  <a:pt x="2201418" y="351663"/>
                </a:lnTo>
                <a:close/>
              </a:path>
              <a:path w="4293234" h="768350">
                <a:moveTo>
                  <a:pt x="2269998" y="351663"/>
                </a:moveTo>
                <a:lnTo>
                  <a:pt x="2252218" y="351663"/>
                </a:lnTo>
                <a:lnTo>
                  <a:pt x="2239518" y="351663"/>
                </a:lnTo>
                <a:lnTo>
                  <a:pt x="2219198" y="351663"/>
                </a:lnTo>
                <a:lnTo>
                  <a:pt x="2219198" y="364363"/>
                </a:lnTo>
                <a:lnTo>
                  <a:pt x="2239518" y="364363"/>
                </a:lnTo>
                <a:lnTo>
                  <a:pt x="2252218" y="364363"/>
                </a:lnTo>
                <a:lnTo>
                  <a:pt x="2269998" y="364363"/>
                </a:lnTo>
                <a:lnTo>
                  <a:pt x="2269998" y="351663"/>
                </a:lnTo>
                <a:close/>
              </a:path>
              <a:path w="4293234" h="768350">
                <a:moveTo>
                  <a:pt x="2341118" y="351663"/>
                </a:moveTo>
                <a:lnTo>
                  <a:pt x="2320798" y="351663"/>
                </a:lnTo>
                <a:lnTo>
                  <a:pt x="2308098" y="351663"/>
                </a:lnTo>
                <a:lnTo>
                  <a:pt x="2290318" y="351663"/>
                </a:lnTo>
                <a:lnTo>
                  <a:pt x="2290318" y="364363"/>
                </a:lnTo>
                <a:lnTo>
                  <a:pt x="2308098" y="364363"/>
                </a:lnTo>
                <a:lnTo>
                  <a:pt x="2320798" y="364363"/>
                </a:lnTo>
                <a:lnTo>
                  <a:pt x="2341118" y="364363"/>
                </a:lnTo>
                <a:lnTo>
                  <a:pt x="2341118" y="351663"/>
                </a:lnTo>
                <a:close/>
              </a:path>
              <a:path w="4293234" h="768350">
                <a:moveTo>
                  <a:pt x="2409698" y="351663"/>
                </a:moveTo>
                <a:lnTo>
                  <a:pt x="2391918" y="351663"/>
                </a:lnTo>
                <a:lnTo>
                  <a:pt x="2379218" y="351663"/>
                </a:lnTo>
                <a:lnTo>
                  <a:pt x="2358898" y="351663"/>
                </a:lnTo>
                <a:lnTo>
                  <a:pt x="2358898" y="364363"/>
                </a:lnTo>
                <a:lnTo>
                  <a:pt x="2379218" y="364363"/>
                </a:lnTo>
                <a:lnTo>
                  <a:pt x="2391918" y="364363"/>
                </a:lnTo>
                <a:lnTo>
                  <a:pt x="2409698" y="364363"/>
                </a:lnTo>
                <a:lnTo>
                  <a:pt x="2409698" y="351663"/>
                </a:lnTo>
                <a:close/>
              </a:path>
              <a:path w="4293234" h="768350">
                <a:moveTo>
                  <a:pt x="2480818" y="351663"/>
                </a:moveTo>
                <a:lnTo>
                  <a:pt x="2460498" y="351663"/>
                </a:lnTo>
                <a:lnTo>
                  <a:pt x="2447798" y="351663"/>
                </a:lnTo>
                <a:lnTo>
                  <a:pt x="2430018" y="351663"/>
                </a:lnTo>
                <a:lnTo>
                  <a:pt x="2430018" y="364363"/>
                </a:lnTo>
                <a:lnTo>
                  <a:pt x="2447798" y="364363"/>
                </a:lnTo>
                <a:lnTo>
                  <a:pt x="2460498" y="364363"/>
                </a:lnTo>
                <a:lnTo>
                  <a:pt x="2480818" y="364363"/>
                </a:lnTo>
                <a:lnTo>
                  <a:pt x="2480818" y="351663"/>
                </a:lnTo>
                <a:close/>
              </a:path>
              <a:path w="4293234" h="768350">
                <a:moveTo>
                  <a:pt x="2549398" y="351663"/>
                </a:moveTo>
                <a:lnTo>
                  <a:pt x="2531618" y="351663"/>
                </a:lnTo>
                <a:lnTo>
                  <a:pt x="2518918" y="351663"/>
                </a:lnTo>
                <a:lnTo>
                  <a:pt x="2498598" y="351663"/>
                </a:lnTo>
                <a:lnTo>
                  <a:pt x="2498598" y="364363"/>
                </a:lnTo>
                <a:lnTo>
                  <a:pt x="2518918" y="364363"/>
                </a:lnTo>
                <a:lnTo>
                  <a:pt x="2531618" y="364363"/>
                </a:lnTo>
                <a:lnTo>
                  <a:pt x="2549398" y="364363"/>
                </a:lnTo>
                <a:lnTo>
                  <a:pt x="2549398" y="351663"/>
                </a:lnTo>
                <a:close/>
              </a:path>
              <a:path w="4293234" h="768350">
                <a:moveTo>
                  <a:pt x="2620518" y="351663"/>
                </a:moveTo>
                <a:lnTo>
                  <a:pt x="2600198" y="351663"/>
                </a:lnTo>
                <a:lnTo>
                  <a:pt x="2587498" y="351663"/>
                </a:lnTo>
                <a:lnTo>
                  <a:pt x="2569718" y="351663"/>
                </a:lnTo>
                <a:lnTo>
                  <a:pt x="2569718" y="364363"/>
                </a:lnTo>
                <a:lnTo>
                  <a:pt x="2587498" y="364363"/>
                </a:lnTo>
                <a:lnTo>
                  <a:pt x="2600198" y="364363"/>
                </a:lnTo>
                <a:lnTo>
                  <a:pt x="2620518" y="364363"/>
                </a:lnTo>
                <a:lnTo>
                  <a:pt x="2620518" y="351663"/>
                </a:lnTo>
                <a:close/>
              </a:path>
              <a:path w="4293234" h="768350">
                <a:moveTo>
                  <a:pt x="2723642" y="76200"/>
                </a:moveTo>
                <a:lnTo>
                  <a:pt x="2717292" y="63500"/>
                </a:lnTo>
                <a:lnTo>
                  <a:pt x="2685542" y="0"/>
                </a:lnTo>
                <a:lnTo>
                  <a:pt x="2647442" y="76200"/>
                </a:lnTo>
                <a:lnTo>
                  <a:pt x="2679192" y="76200"/>
                </a:lnTo>
                <a:lnTo>
                  <a:pt x="2679192" y="351663"/>
                </a:lnTo>
                <a:lnTo>
                  <a:pt x="2671318" y="351663"/>
                </a:lnTo>
                <a:lnTo>
                  <a:pt x="2658618" y="351663"/>
                </a:lnTo>
                <a:lnTo>
                  <a:pt x="2638298" y="351663"/>
                </a:lnTo>
                <a:lnTo>
                  <a:pt x="2638298" y="364363"/>
                </a:lnTo>
                <a:lnTo>
                  <a:pt x="2658618" y="364363"/>
                </a:lnTo>
                <a:lnTo>
                  <a:pt x="2671318" y="364363"/>
                </a:lnTo>
                <a:lnTo>
                  <a:pt x="2689098" y="364363"/>
                </a:lnTo>
                <a:lnTo>
                  <a:pt x="2689098" y="356362"/>
                </a:lnTo>
                <a:lnTo>
                  <a:pt x="2691892" y="356362"/>
                </a:lnTo>
                <a:lnTo>
                  <a:pt x="2691892" y="76200"/>
                </a:lnTo>
                <a:lnTo>
                  <a:pt x="2723642" y="76200"/>
                </a:lnTo>
                <a:close/>
              </a:path>
              <a:path w="4293234" h="768350">
                <a:moveTo>
                  <a:pt x="2760218" y="351663"/>
                </a:moveTo>
                <a:lnTo>
                  <a:pt x="2739898" y="351663"/>
                </a:lnTo>
                <a:lnTo>
                  <a:pt x="2727198" y="351663"/>
                </a:lnTo>
                <a:lnTo>
                  <a:pt x="2709418" y="351663"/>
                </a:lnTo>
                <a:lnTo>
                  <a:pt x="2709418" y="364363"/>
                </a:lnTo>
                <a:lnTo>
                  <a:pt x="2727198" y="364363"/>
                </a:lnTo>
                <a:lnTo>
                  <a:pt x="2739898" y="364363"/>
                </a:lnTo>
                <a:lnTo>
                  <a:pt x="2760218" y="364363"/>
                </a:lnTo>
                <a:lnTo>
                  <a:pt x="2760218" y="351663"/>
                </a:lnTo>
                <a:close/>
              </a:path>
              <a:path w="4293234" h="768350">
                <a:moveTo>
                  <a:pt x="2828798" y="351663"/>
                </a:moveTo>
                <a:lnTo>
                  <a:pt x="2811018" y="351663"/>
                </a:lnTo>
                <a:lnTo>
                  <a:pt x="2798318" y="351663"/>
                </a:lnTo>
                <a:lnTo>
                  <a:pt x="2777998" y="351663"/>
                </a:lnTo>
                <a:lnTo>
                  <a:pt x="2777998" y="364363"/>
                </a:lnTo>
                <a:lnTo>
                  <a:pt x="2798318" y="364363"/>
                </a:lnTo>
                <a:lnTo>
                  <a:pt x="2811018" y="364363"/>
                </a:lnTo>
                <a:lnTo>
                  <a:pt x="2828798" y="364363"/>
                </a:lnTo>
                <a:lnTo>
                  <a:pt x="2828798" y="351663"/>
                </a:lnTo>
                <a:close/>
              </a:path>
              <a:path w="4293234" h="768350">
                <a:moveTo>
                  <a:pt x="2899918" y="351663"/>
                </a:moveTo>
                <a:lnTo>
                  <a:pt x="2879598" y="351663"/>
                </a:lnTo>
                <a:lnTo>
                  <a:pt x="2866898" y="351663"/>
                </a:lnTo>
                <a:lnTo>
                  <a:pt x="2849118" y="351663"/>
                </a:lnTo>
                <a:lnTo>
                  <a:pt x="2849118" y="364363"/>
                </a:lnTo>
                <a:lnTo>
                  <a:pt x="2866898" y="364363"/>
                </a:lnTo>
                <a:lnTo>
                  <a:pt x="2879598" y="364363"/>
                </a:lnTo>
                <a:lnTo>
                  <a:pt x="2899918" y="364363"/>
                </a:lnTo>
                <a:lnTo>
                  <a:pt x="2899918" y="351663"/>
                </a:lnTo>
                <a:close/>
              </a:path>
              <a:path w="4293234" h="768350">
                <a:moveTo>
                  <a:pt x="2968498" y="351663"/>
                </a:moveTo>
                <a:lnTo>
                  <a:pt x="2950718" y="351663"/>
                </a:lnTo>
                <a:lnTo>
                  <a:pt x="2938018" y="351663"/>
                </a:lnTo>
                <a:lnTo>
                  <a:pt x="2917698" y="351663"/>
                </a:lnTo>
                <a:lnTo>
                  <a:pt x="2917698" y="364363"/>
                </a:lnTo>
                <a:lnTo>
                  <a:pt x="2938018" y="364363"/>
                </a:lnTo>
                <a:lnTo>
                  <a:pt x="2950718" y="364363"/>
                </a:lnTo>
                <a:lnTo>
                  <a:pt x="2968498" y="364363"/>
                </a:lnTo>
                <a:lnTo>
                  <a:pt x="2968498" y="351663"/>
                </a:lnTo>
                <a:close/>
              </a:path>
              <a:path w="4293234" h="768350">
                <a:moveTo>
                  <a:pt x="3039618" y="351663"/>
                </a:moveTo>
                <a:lnTo>
                  <a:pt x="3019298" y="351663"/>
                </a:lnTo>
                <a:lnTo>
                  <a:pt x="3006598" y="351663"/>
                </a:lnTo>
                <a:lnTo>
                  <a:pt x="2988818" y="351663"/>
                </a:lnTo>
                <a:lnTo>
                  <a:pt x="2988818" y="364363"/>
                </a:lnTo>
                <a:lnTo>
                  <a:pt x="3006598" y="364363"/>
                </a:lnTo>
                <a:lnTo>
                  <a:pt x="3019298" y="364363"/>
                </a:lnTo>
                <a:lnTo>
                  <a:pt x="3039618" y="364363"/>
                </a:lnTo>
                <a:lnTo>
                  <a:pt x="3039618" y="351663"/>
                </a:lnTo>
                <a:close/>
              </a:path>
              <a:path w="4293234" h="768350">
                <a:moveTo>
                  <a:pt x="3108198" y="351663"/>
                </a:moveTo>
                <a:lnTo>
                  <a:pt x="3090418" y="351663"/>
                </a:lnTo>
                <a:lnTo>
                  <a:pt x="3077718" y="351663"/>
                </a:lnTo>
                <a:lnTo>
                  <a:pt x="3057398" y="351663"/>
                </a:lnTo>
                <a:lnTo>
                  <a:pt x="3057398" y="364363"/>
                </a:lnTo>
                <a:lnTo>
                  <a:pt x="3077718" y="364363"/>
                </a:lnTo>
                <a:lnTo>
                  <a:pt x="3090418" y="364363"/>
                </a:lnTo>
                <a:lnTo>
                  <a:pt x="3108198" y="364363"/>
                </a:lnTo>
                <a:lnTo>
                  <a:pt x="3108198" y="351663"/>
                </a:lnTo>
                <a:close/>
              </a:path>
              <a:path w="4293234" h="768350">
                <a:moveTo>
                  <a:pt x="3179318" y="351663"/>
                </a:moveTo>
                <a:lnTo>
                  <a:pt x="3158998" y="351663"/>
                </a:lnTo>
                <a:lnTo>
                  <a:pt x="3146298" y="351663"/>
                </a:lnTo>
                <a:lnTo>
                  <a:pt x="3128518" y="351663"/>
                </a:lnTo>
                <a:lnTo>
                  <a:pt x="3128518" y="364363"/>
                </a:lnTo>
                <a:lnTo>
                  <a:pt x="3146298" y="364363"/>
                </a:lnTo>
                <a:lnTo>
                  <a:pt x="3158998" y="364363"/>
                </a:lnTo>
                <a:lnTo>
                  <a:pt x="3179318" y="364363"/>
                </a:lnTo>
                <a:lnTo>
                  <a:pt x="3179318" y="351663"/>
                </a:lnTo>
                <a:close/>
              </a:path>
              <a:path w="4293234" h="768350">
                <a:moveTo>
                  <a:pt x="3246882" y="665226"/>
                </a:moveTo>
                <a:lnTo>
                  <a:pt x="3234182" y="665226"/>
                </a:lnTo>
                <a:lnTo>
                  <a:pt x="3234182" y="716026"/>
                </a:lnTo>
                <a:lnTo>
                  <a:pt x="3246882" y="716026"/>
                </a:lnTo>
                <a:lnTo>
                  <a:pt x="3246882" y="665226"/>
                </a:lnTo>
                <a:close/>
              </a:path>
              <a:path w="4293234" h="768350">
                <a:moveTo>
                  <a:pt x="3246882" y="614426"/>
                </a:moveTo>
                <a:lnTo>
                  <a:pt x="3234182" y="614426"/>
                </a:lnTo>
                <a:lnTo>
                  <a:pt x="3234182" y="627126"/>
                </a:lnTo>
                <a:lnTo>
                  <a:pt x="3246882" y="627126"/>
                </a:lnTo>
                <a:lnTo>
                  <a:pt x="3246882" y="614426"/>
                </a:lnTo>
                <a:close/>
              </a:path>
              <a:path w="4293234" h="768350">
                <a:moveTo>
                  <a:pt x="3246882" y="525526"/>
                </a:moveTo>
                <a:lnTo>
                  <a:pt x="3234182" y="525526"/>
                </a:lnTo>
                <a:lnTo>
                  <a:pt x="3234182" y="576326"/>
                </a:lnTo>
                <a:lnTo>
                  <a:pt x="3246882" y="576326"/>
                </a:lnTo>
                <a:lnTo>
                  <a:pt x="3246882" y="525526"/>
                </a:lnTo>
                <a:close/>
              </a:path>
              <a:path w="4293234" h="768350">
                <a:moveTo>
                  <a:pt x="3246882" y="474726"/>
                </a:moveTo>
                <a:lnTo>
                  <a:pt x="3234182" y="474726"/>
                </a:lnTo>
                <a:lnTo>
                  <a:pt x="3234182" y="487426"/>
                </a:lnTo>
                <a:lnTo>
                  <a:pt x="3246882" y="487426"/>
                </a:lnTo>
                <a:lnTo>
                  <a:pt x="3246882" y="474726"/>
                </a:lnTo>
                <a:close/>
              </a:path>
              <a:path w="4293234" h="768350">
                <a:moveTo>
                  <a:pt x="3246882" y="385826"/>
                </a:moveTo>
                <a:lnTo>
                  <a:pt x="3234182" y="385826"/>
                </a:lnTo>
                <a:lnTo>
                  <a:pt x="3234182" y="436626"/>
                </a:lnTo>
                <a:lnTo>
                  <a:pt x="3246882" y="436626"/>
                </a:lnTo>
                <a:lnTo>
                  <a:pt x="3246882" y="385826"/>
                </a:lnTo>
                <a:close/>
              </a:path>
              <a:path w="4293234" h="768350">
                <a:moveTo>
                  <a:pt x="3247898" y="351663"/>
                </a:moveTo>
                <a:lnTo>
                  <a:pt x="3230118" y="351663"/>
                </a:lnTo>
                <a:lnTo>
                  <a:pt x="3217418" y="351663"/>
                </a:lnTo>
                <a:lnTo>
                  <a:pt x="3197098" y="351663"/>
                </a:lnTo>
                <a:lnTo>
                  <a:pt x="3197098" y="364363"/>
                </a:lnTo>
                <a:lnTo>
                  <a:pt x="3217418" y="364363"/>
                </a:lnTo>
                <a:lnTo>
                  <a:pt x="3230118" y="364363"/>
                </a:lnTo>
                <a:lnTo>
                  <a:pt x="3247898" y="364363"/>
                </a:lnTo>
                <a:lnTo>
                  <a:pt x="3247898" y="351663"/>
                </a:lnTo>
                <a:close/>
              </a:path>
              <a:path w="4293234" h="768350">
                <a:moveTo>
                  <a:pt x="3298698" y="351663"/>
                </a:moveTo>
                <a:lnTo>
                  <a:pt x="3285998" y="351663"/>
                </a:lnTo>
                <a:lnTo>
                  <a:pt x="3285998" y="364363"/>
                </a:lnTo>
                <a:lnTo>
                  <a:pt x="3298698" y="364363"/>
                </a:lnTo>
                <a:lnTo>
                  <a:pt x="3298698" y="351663"/>
                </a:lnTo>
                <a:close/>
              </a:path>
              <a:path w="4293234" h="768350">
                <a:moveTo>
                  <a:pt x="3387598" y="351663"/>
                </a:moveTo>
                <a:lnTo>
                  <a:pt x="3336798" y="351663"/>
                </a:lnTo>
                <a:lnTo>
                  <a:pt x="3336798" y="364363"/>
                </a:lnTo>
                <a:lnTo>
                  <a:pt x="3387598" y="364363"/>
                </a:lnTo>
                <a:lnTo>
                  <a:pt x="3387598" y="351663"/>
                </a:lnTo>
                <a:close/>
              </a:path>
              <a:path w="4293234" h="768350">
                <a:moveTo>
                  <a:pt x="3438398" y="351663"/>
                </a:moveTo>
                <a:lnTo>
                  <a:pt x="3425698" y="351663"/>
                </a:lnTo>
                <a:lnTo>
                  <a:pt x="3425698" y="364363"/>
                </a:lnTo>
                <a:lnTo>
                  <a:pt x="3438398" y="364363"/>
                </a:lnTo>
                <a:lnTo>
                  <a:pt x="3438398" y="351663"/>
                </a:lnTo>
                <a:close/>
              </a:path>
              <a:path w="4293234" h="768350">
                <a:moveTo>
                  <a:pt x="3527298" y="351663"/>
                </a:moveTo>
                <a:lnTo>
                  <a:pt x="3476498" y="351663"/>
                </a:lnTo>
                <a:lnTo>
                  <a:pt x="3476498" y="364363"/>
                </a:lnTo>
                <a:lnTo>
                  <a:pt x="3527298" y="364363"/>
                </a:lnTo>
                <a:lnTo>
                  <a:pt x="3527298" y="351663"/>
                </a:lnTo>
                <a:close/>
              </a:path>
              <a:path w="4293234" h="768350">
                <a:moveTo>
                  <a:pt x="3578098" y="351663"/>
                </a:moveTo>
                <a:lnTo>
                  <a:pt x="3565398" y="351663"/>
                </a:lnTo>
                <a:lnTo>
                  <a:pt x="3565398" y="364363"/>
                </a:lnTo>
                <a:lnTo>
                  <a:pt x="3578098" y="364363"/>
                </a:lnTo>
                <a:lnTo>
                  <a:pt x="3578098" y="351663"/>
                </a:lnTo>
                <a:close/>
              </a:path>
              <a:path w="4293234" h="768350">
                <a:moveTo>
                  <a:pt x="3666998" y="351663"/>
                </a:moveTo>
                <a:lnTo>
                  <a:pt x="3616198" y="351663"/>
                </a:lnTo>
                <a:lnTo>
                  <a:pt x="3616198" y="364363"/>
                </a:lnTo>
                <a:lnTo>
                  <a:pt x="3666998" y="364363"/>
                </a:lnTo>
                <a:lnTo>
                  <a:pt x="3666998" y="351663"/>
                </a:lnTo>
                <a:close/>
              </a:path>
              <a:path w="4293234" h="768350">
                <a:moveTo>
                  <a:pt x="3717798" y="351663"/>
                </a:moveTo>
                <a:lnTo>
                  <a:pt x="3705098" y="351663"/>
                </a:lnTo>
                <a:lnTo>
                  <a:pt x="3705098" y="364363"/>
                </a:lnTo>
                <a:lnTo>
                  <a:pt x="3717798" y="364363"/>
                </a:lnTo>
                <a:lnTo>
                  <a:pt x="3717798" y="351663"/>
                </a:lnTo>
                <a:close/>
              </a:path>
              <a:path w="4293234" h="768350">
                <a:moveTo>
                  <a:pt x="3806698" y="351663"/>
                </a:moveTo>
                <a:lnTo>
                  <a:pt x="3755898" y="351663"/>
                </a:lnTo>
                <a:lnTo>
                  <a:pt x="3755898" y="364363"/>
                </a:lnTo>
                <a:lnTo>
                  <a:pt x="3806698" y="364363"/>
                </a:lnTo>
                <a:lnTo>
                  <a:pt x="3806698" y="351663"/>
                </a:lnTo>
                <a:close/>
              </a:path>
              <a:path w="4293234" h="768350">
                <a:moveTo>
                  <a:pt x="3857498" y="351663"/>
                </a:moveTo>
                <a:lnTo>
                  <a:pt x="3844798" y="351663"/>
                </a:lnTo>
                <a:lnTo>
                  <a:pt x="3844798" y="364363"/>
                </a:lnTo>
                <a:lnTo>
                  <a:pt x="3857498" y="364363"/>
                </a:lnTo>
                <a:lnTo>
                  <a:pt x="3857498" y="351663"/>
                </a:lnTo>
                <a:close/>
              </a:path>
              <a:path w="4293234" h="768350">
                <a:moveTo>
                  <a:pt x="3946398" y="351663"/>
                </a:moveTo>
                <a:lnTo>
                  <a:pt x="3895598" y="351663"/>
                </a:lnTo>
                <a:lnTo>
                  <a:pt x="3895598" y="364363"/>
                </a:lnTo>
                <a:lnTo>
                  <a:pt x="3946398" y="364363"/>
                </a:lnTo>
                <a:lnTo>
                  <a:pt x="3946398" y="351663"/>
                </a:lnTo>
                <a:close/>
              </a:path>
              <a:path w="4293234" h="768350">
                <a:moveTo>
                  <a:pt x="3997198" y="351663"/>
                </a:moveTo>
                <a:lnTo>
                  <a:pt x="3984498" y="351663"/>
                </a:lnTo>
                <a:lnTo>
                  <a:pt x="3984498" y="364363"/>
                </a:lnTo>
                <a:lnTo>
                  <a:pt x="3997198" y="364363"/>
                </a:lnTo>
                <a:lnTo>
                  <a:pt x="3997198" y="351663"/>
                </a:lnTo>
                <a:close/>
              </a:path>
              <a:path w="4293234" h="768350">
                <a:moveTo>
                  <a:pt x="4086098" y="351663"/>
                </a:moveTo>
                <a:lnTo>
                  <a:pt x="4035298" y="351663"/>
                </a:lnTo>
                <a:lnTo>
                  <a:pt x="4035298" y="364363"/>
                </a:lnTo>
                <a:lnTo>
                  <a:pt x="4086098" y="364363"/>
                </a:lnTo>
                <a:lnTo>
                  <a:pt x="4086098" y="351663"/>
                </a:lnTo>
                <a:close/>
              </a:path>
              <a:path w="4293234" h="768350">
                <a:moveTo>
                  <a:pt x="4136898" y="351663"/>
                </a:moveTo>
                <a:lnTo>
                  <a:pt x="4124198" y="351663"/>
                </a:lnTo>
                <a:lnTo>
                  <a:pt x="4124198" y="364363"/>
                </a:lnTo>
                <a:lnTo>
                  <a:pt x="4136898" y="364363"/>
                </a:lnTo>
                <a:lnTo>
                  <a:pt x="4136898" y="351663"/>
                </a:lnTo>
                <a:close/>
              </a:path>
              <a:path w="4293234" h="768350">
                <a:moveTo>
                  <a:pt x="4225798" y="351663"/>
                </a:moveTo>
                <a:lnTo>
                  <a:pt x="4174998" y="351663"/>
                </a:lnTo>
                <a:lnTo>
                  <a:pt x="4174998" y="364363"/>
                </a:lnTo>
                <a:lnTo>
                  <a:pt x="4225798" y="364363"/>
                </a:lnTo>
                <a:lnTo>
                  <a:pt x="4225798" y="351663"/>
                </a:lnTo>
                <a:close/>
              </a:path>
              <a:path w="4293234" h="768350">
                <a:moveTo>
                  <a:pt x="4276598" y="351663"/>
                </a:moveTo>
                <a:lnTo>
                  <a:pt x="4263898" y="351663"/>
                </a:lnTo>
                <a:lnTo>
                  <a:pt x="4263898" y="364363"/>
                </a:lnTo>
                <a:lnTo>
                  <a:pt x="4276598" y="364363"/>
                </a:lnTo>
                <a:lnTo>
                  <a:pt x="4276598" y="351663"/>
                </a:lnTo>
                <a:close/>
              </a:path>
              <a:path w="4293234" h="768350">
                <a:moveTo>
                  <a:pt x="4293235" y="665226"/>
                </a:moveTo>
                <a:lnTo>
                  <a:pt x="4280535" y="665226"/>
                </a:lnTo>
                <a:lnTo>
                  <a:pt x="4280535" y="716026"/>
                </a:lnTo>
                <a:lnTo>
                  <a:pt x="4293235" y="716026"/>
                </a:lnTo>
                <a:lnTo>
                  <a:pt x="4293235" y="665226"/>
                </a:lnTo>
                <a:close/>
              </a:path>
              <a:path w="4293234" h="768350">
                <a:moveTo>
                  <a:pt x="4293235" y="614426"/>
                </a:moveTo>
                <a:lnTo>
                  <a:pt x="4280535" y="614426"/>
                </a:lnTo>
                <a:lnTo>
                  <a:pt x="4280535" y="627126"/>
                </a:lnTo>
                <a:lnTo>
                  <a:pt x="4293235" y="627126"/>
                </a:lnTo>
                <a:lnTo>
                  <a:pt x="4293235" y="614426"/>
                </a:lnTo>
                <a:close/>
              </a:path>
              <a:path w="4293234" h="768350">
                <a:moveTo>
                  <a:pt x="4293235" y="525526"/>
                </a:moveTo>
                <a:lnTo>
                  <a:pt x="4280535" y="525526"/>
                </a:lnTo>
                <a:lnTo>
                  <a:pt x="4280535" y="576326"/>
                </a:lnTo>
                <a:lnTo>
                  <a:pt x="4293235" y="576326"/>
                </a:lnTo>
                <a:lnTo>
                  <a:pt x="4293235" y="525526"/>
                </a:lnTo>
                <a:close/>
              </a:path>
              <a:path w="4293234" h="768350">
                <a:moveTo>
                  <a:pt x="4293235" y="474726"/>
                </a:moveTo>
                <a:lnTo>
                  <a:pt x="4280535" y="474726"/>
                </a:lnTo>
                <a:lnTo>
                  <a:pt x="4280535" y="487426"/>
                </a:lnTo>
                <a:lnTo>
                  <a:pt x="4293235" y="487426"/>
                </a:lnTo>
                <a:lnTo>
                  <a:pt x="4293235" y="474726"/>
                </a:lnTo>
                <a:close/>
              </a:path>
              <a:path w="4293234" h="768350">
                <a:moveTo>
                  <a:pt x="4293235" y="385826"/>
                </a:moveTo>
                <a:lnTo>
                  <a:pt x="4280535" y="385826"/>
                </a:lnTo>
                <a:lnTo>
                  <a:pt x="4280535" y="436626"/>
                </a:lnTo>
                <a:lnTo>
                  <a:pt x="4293235" y="436626"/>
                </a:lnTo>
                <a:lnTo>
                  <a:pt x="4293235" y="385826"/>
                </a:lnTo>
                <a:close/>
              </a:path>
            </a:pathLst>
          </a:custGeom>
          <a:solidFill>
            <a:srgbClr val="000000"/>
          </a:solidFill>
        </p:spPr>
        <p:txBody>
          <a:bodyPr wrap="square" lIns="0" tIns="0" rIns="0" bIns="0" rtlCol="0"/>
          <a:lstStyle/>
          <a:p>
            <a:endParaRPr sz="2400"/>
          </a:p>
        </p:txBody>
      </p:sp>
    </p:spTree>
    <p:extLst>
      <p:ext uri="{BB962C8B-B14F-4D97-AF65-F5344CB8AC3E}">
        <p14:creationId xmlns:p14="http://schemas.microsoft.com/office/powerpoint/2010/main" val="18344428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36495"/>
            <a:ext cx="9734973" cy="694207"/>
          </a:xfrm>
          <a:prstGeom prst="rect">
            <a:avLst/>
          </a:prstGeom>
        </p:spPr>
        <p:txBody>
          <a:bodyPr vert="horz" wrap="square" lIns="0" tIns="16933" rIns="0" bIns="0" rtlCol="0" anchor="ctr">
            <a:spAutoFit/>
          </a:bodyPr>
          <a:lstStyle/>
          <a:p>
            <a:pPr marL="16933">
              <a:lnSpc>
                <a:spcPct val="100000"/>
              </a:lnSpc>
              <a:spcBef>
                <a:spcPts val="133"/>
              </a:spcBef>
            </a:pPr>
            <a:r>
              <a:rPr b="1" spc="80" dirty="0"/>
              <a:t>Daemon </a:t>
            </a:r>
            <a:r>
              <a:rPr b="1" spc="-27" dirty="0"/>
              <a:t>Sets </a:t>
            </a:r>
            <a:r>
              <a:rPr b="1" spc="-393" dirty="0"/>
              <a:t>– </a:t>
            </a:r>
            <a:r>
              <a:rPr b="1" spc="40" dirty="0"/>
              <a:t>UseCase</a:t>
            </a:r>
            <a:r>
              <a:rPr b="1" spc="-947" dirty="0"/>
              <a:t> </a:t>
            </a:r>
            <a:r>
              <a:rPr b="1" spc="-393" dirty="0"/>
              <a:t>– </a:t>
            </a:r>
            <a:r>
              <a:rPr b="1" spc="40" dirty="0"/>
              <a:t>kube-proxy</a:t>
            </a:r>
          </a:p>
        </p:txBody>
      </p:sp>
      <p:grpSp>
        <p:nvGrpSpPr>
          <p:cNvPr id="4" name="object 4"/>
          <p:cNvGrpSpPr/>
          <p:nvPr/>
        </p:nvGrpSpPr>
        <p:grpSpPr>
          <a:xfrm>
            <a:off x="209295" y="3035808"/>
            <a:ext cx="8429413" cy="1741593"/>
            <a:chOff x="156971" y="2276855"/>
            <a:chExt cx="6322060" cy="1306195"/>
          </a:xfrm>
        </p:grpSpPr>
        <p:sp>
          <p:nvSpPr>
            <p:cNvPr id="5" name="object 5"/>
            <p:cNvSpPr/>
            <p:nvPr/>
          </p:nvSpPr>
          <p:spPr>
            <a:xfrm>
              <a:off x="156971" y="2276855"/>
              <a:ext cx="6321551" cy="1306068"/>
            </a:xfrm>
            <a:prstGeom prst="rect">
              <a:avLst/>
            </a:prstGeom>
            <a:blipFill>
              <a:blip r:embed="rId2" cstate="print"/>
              <a:stretch>
                <a:fillRect/>
              </a:stretch>
            </a:blipFill>
          </p:spPr>
          <p:txBody>
            <a:bodyPr wrap="square" lIns="0" tIns="0" rIns="0" bIns="0" rtlCol="0"/>
            <a:lstStyle/>
            <a:p>
              <a:endParaRPr sz="2400"/>
            </a:p>
          </p:txBody>
        </p:sp>
        <p:sp>
          <p:nvSpPr>
            <p:cNvPr id="6" name="object 6"/>
            <p:cNvSpPr/>
            <p:nvPr/>
          </p:nvSpPr>
          <p:spPr>
            <a:xfrm>
              <a:off x="166115" y="2325623"/>
              <a:ext cx="1094994" cy="345186"/>
            </a:xfrm>
            <a:prstGeom prst="rect">
              <a:avLst/>
            </a:prstGeom>
            <a:blipFill>
              <a:blip r:embed="rId3" cstate="print"/>
              <a:stretch>
                <a:fillRect/>
              </a:stretch>
            </a:blipFill>
          </p:spPr>
          <p:txBody>
            <a:bodyPr wrap="square" lIns="0" tIns="0" rIns="0" bIns="0" rtlCol="0"/>
            <a:lstStyle/>
            <a:p>
              <a:endParaRPr sz="2400"/>
            </a:p>
          </p:txBody>
        </p:sp>
      </p:grpSp>
      <p:sp>
        <p:nvSpPr>
          <p:cNvPr id="7" name="object 7"/>
          <p:cNvSpPr txBox="1"/>
          <p:nvPr/>
        </p:nvSpPr>
        <p:spPr>
          <a:xfrm>
            <a:off x="241518" y="3152581"/>
            <a:ext cx="9640993" cy="263320"/>
          </a:xfrm>
          <a:prstGeom prst="rect">
            <a:avLst/>
          </a:prstGeom>
        </p:spPr>
        <p:txBody>
          <a:bodyPr vert="horz" wrap="square" lIns="0" tIns="16933" rIns="0" bIns="0" rtlCol="0">
            <a:spAutoFit/>
          </a:bodyPr>
          <a:lstStyle/>
          <a:p>
            <a:pPr marL="115144">
              <a:spcBef>
                <a:spcPts val="133"/>
              </a:spcBef>
            </a:pPr>
            <a:r>
              <a:rPr sz="1600" spc="-20" dirty="0">
                <a:latin typeface="Arial"/>
                <a:cs typeface="Arial"/>
              </a:rPr>
              <a:t>Daemon</a:t>
            </a:r>
            <a:r>
              <a:rPr sz="1600" spc="-33" dirty="0">
                <a:latin typeface="Arial"/>
                <a:cs typeface="Arial"/>
              </a:rPr>
              <a:t> </a:t>
            </a:r>
            <a:r>
              <a:rPr sz="1600" spc="-80" dirty="0">
                <a:latin typeface="Arial"/>
                <a:cs typeface="Arial"/>
              </a:rPr>
              <a:t>Sets</a:t>
            </a:r>
            <a:endParaRPr sz="1600">
              <a:latin typeface="Arial"/>
              <a:cs typeface="Arial"/>
            </a:endParaRPr>
          </a:p>
        </p:txBody>
      </p:sp>
      <p:grpSp>
        <p:nvGrpSpPr>
          <p:cNvPr id="8" name="object 8"/>
          <p:cNvGrpSpPr/>
          <p:nvPr/>
        </p:nvGrpSpPr>
        <p:grpSpPr>
          <a:xfrm>
            <a:off x="219202" y="2562014"/>
            <a:ext cx="9815407" cy="2215727"/>
            <a:chOff x="164401" y="1921510"/>
            <a:chExt cx="7361555" cy="1661795"/>
          </a:xfrm>
        </p:grpSpPr>
        <p:sp>
          <p:nvSpPr>
            <p:cNvPr id="9" name="object 9"/>
            <p:cNvSpPr/>
            <p:nvPr/>
          </p:nvSpPr>
          <p:spPr>
            <a:xfrm>
              <a:off x="6750557" y="2286762"/>
              <a:ext cx="765175" cy="1286510"/>
            </a:xfrm>
            <a:custGeom>
              <a:avLst/>
              <a:gdLst/>
              <a:ahLst/>
              <a:cxnLst/>
              <a:rect l="l" t="t" r="r" b="b"/>
              <a:pathLst>
                <a:path w="765175" h="1286510">
                  <a:moveTo>
                    <a:pt x="0" y="127507"/>
                  </a:moveTo>
                  <a:lnTo>
                    <a:pt x="10029" y="77902"/>
                  </a:lnTo>
                  <a:lnTo>
                    <a:pt x="37369" y="37369"/>
                  </a:lnTo>
                  <a:lnTo>
                    <a:pt x="77902" y="10029"/>
                  </a:lnTo>
                  <a:lnTo>
                    <a:pt x="127508" y="0"/>
                  </a:lnTo>
                  <a:lnTo>
                    <a:pt x="637540" y="0"/>
                  </a:lnTo>
                  <a:lnTo>
                    <a:pt x="687145" y="10029"/>
                  </a:lnTo>
                  <a:lnTo>
                    <a:pt x="727678" y="37369"/>
                  </a:lnTo>
                  <a:lnTo>
                    <a:pt x="755018" y="77902"/>
                  </a:lnTo>
                  <a:lnTo>
                    <a:pt x="765048" y="127507"/>
                  </a:lnTo>
                  <a:lnTo>
                    <a:pt x="765048" y="1158748"/>
                  </a:lnTo>
                  <a:lnTo>
                    <a:pt x="755018" y="1208353"/>
                  </a:lnTo>
                  <a:lnTo>
                    <a:pt x="727678" y="1248886"/>
                  </a:lnTo>
                  <a:lnTo>
                    <a:pt x="687145" y="1276226"/>
                  </a:lnTo>
                  <a:lnTo>
                    <a:pt x="637540" y="1286256"/>
                  </a:lnTo>
                  <a:lnTo>
                    <a:pt x="127508" y="1286256"/>
                  </a:lnTo>
                  <a:lnTo>
                    <a:pt x="77902" y="1276226"/>
                  </a:lnTo>
                  <a:lnTo>
                    <a:pt x="37369" y="1248886"/>
                  </a:lnTo>
                  <a:lnTo>
                    <a:pt x="10029" y="1208353"/>
                  </a:lnTo>
                  <a:lnTo>
                    <a:pt x="0" y="1158748"/>
                  </a:lnTo>
                  <a:lnTo>
                    <a:pt x="0" y="127507"/>
                  </a:lnTo>
                  <a:close/>
                </a:path>
              </a:pathLst>
            </a:custGeom>
            <a:ln w="19812">
              <a:solidFill>
                <a:srgbClr val="1780C3"/>
              </a:solidFill>
            </a:ln>
          </p:spPr>
          <p:txBody>
            <a:bodyPr wrap="square" lIns="0" tIns="0" rIns="0" bIns="0" rtlCol="0"/>
            <a:lstStyle/>
            <a:p>
              <a:endParaRPr sz="2400"/>
            </a:p>
          </p:txBody>
        </p:sp>
        <p:sp>
          <p:nvSpPr>
            <p:cNvPr id="10" name="object 10"/>
            <p:cNvSpPr/>
            <p:nvPr/>
          </p:nvSpPr>
          <p:spPr>
            <a:xfrm>
              <a:off x="7046975" y="3247644"/>
              <a:ext cx="172211" cy="172212"/>
            </a:xfrm>
            <a:prstGeom prst="rect">
              <a:avLst/>
            </a:prstGeom>
            <a:blipFill>
              <a:blip r:embed="rId4" cstate="print"/>
              <a:stretch>
                <a:fillRect/>
              </a:stretch>
            </a:blipFill>
          </p:spPr>
          <p:txBody>
            <a:bodyPr wrap="square" lIns="0" tIns="0" rIns="0" bIns="0" rtlCol="0"/>
            <a:lstStyle/>
            <a:p>
              <a:endParaRPr sz="2400"/>
            </a:p>
          </p:txBody>
        </p:sp>
        <p:sp>
          <p:nvSpPr>
            <p:cNvPr id="11" name="object 11"/>
            <p:cNvSpPr/>
            <p:nvPr/>
          </p:nvSpPr>
          <p:spPr>
            <a:xfrm>
              <a:off x="7037832" y="2380488"/>
              <a:ext cx="173736" cy="173735"/>
            </a:xfrm>
            <a:prstGeom prst="rect">
              <a:avLst/>
            </a:prstGeom>
            <a:blipFill>
              <a:blip r:embed="rId5" cstate="print"/>
              <a:stretch>
                <a:fillRect/>
              </a:stretch>
            </a:blipFill>
          </p:spPr>
          <p:txBody>
            <a:bodyPr wrap="square" lIns="0" tIns="0" rIns="0" bIns="0" rtlCol="0"/>
            <a:lstStyle/>
            <a:p>
              <a:endParaRPr sz="2400"/>
            </a:p>
          </p:txBody>
        </p:sp>
        <p:sp>
          <p:nvSpPr>
            <p:cNvPr id="12" name="object 12"/>
            <p:cNvSpPr/>
            <p:nvPr/>
          </p:nvSpPr>
          <p:spPr>
            <a:xfrm>
              <a:off x="169163" y="2321052"/>
              <a:ext cx="7254240" cy="303530"/>
            </a:xfrm>
            <a:custGeom>
              <a:avLst/>
              <a:gdLst/>
              <a:ahLst/>
              <a:cxnLst/>
              <a:rect l="l" t="t" r="r" b="b"/>
              <a:pathLst>
                <a:path w="7254240" h="303530">
                  <a:moveTo>
                    <a:pt x="0" y="50546"/>
                  </a:moveTo>
                  <a:lnTo>
                    <a:pt x="3972" y="30861"/>
                  </a:lnTo>
                  <a:lnTo>
                    <a:pt x="14805" y="14795"/>
                  </a:lnTo>
                  <a:lnTo>
                    <a:pt x="30871" y="3968"/>
                  </a:lnTo>
                  <a:lnTo>
                    <a:pt x="50546" y="0"/>
                  </a:lnTo>
                  <a:lnTo>
                    <a:pt x="7203693" y="0"/>
                  </a:lnTo>
                  <a:lnTo>
                    <a:pt x="7223379" y="3968"/>
                  </a:lnTo>
                  <a:lnTo>
                    <a:pt x="7239444" y="14795"/>
                  </a:lnTo>
                  <a:lnTo>
                    <a:pt x="7250271" y="30861"/>
                  </a:lnTo>
                  <a:lnTo>
                    <a:pt x="7254239" y="50546"/>
                  </a:lnTo>
                  <a:lnTo>
                    <a:pt x="7254239" y="252730"/>
                  </a:lnTo>
                  <a:lnTo>
                    <a:pt x="7250271" y="272415"/>
                  </a:lnTo>
                  <a:lnTo>
                    <a:pt x="7239444" y="288480"/>
                  </a:lnTo>
                  <a:lnTo>
                    <a:pt x="7223379" y="299307"/>
                  </a:lnTo>
                  <a:lnTo>
                    <a:pt x="7203693" y="303275"/>
                  </a:lnTo>
                  <a:lnTo>
                    <a:pt x="50546" y="303275"/>
                  </a:lnTo>
                  <a:lnTo>
                    <a:pt x="30871" y="299307"/>
                  </a:lnTo>
                  <a:lnTo>
                    <a:pt x="14805" y="288480"/>
                  </a:lnTo>
                  <a:lnTo>
                    <a:pt x="3972" y="272415"/>
                  </a:lnTo>
                  <a:lnTo>
                    <a:pt x="0" y="252730"/>
                  </a:lnTo>
                  <a:lnTo>
                    <a:pt x="0" y="50546"/>
                  </a:lnTo>
                  <a:close/>
                </a:path>
              </a:pathLst>
            </a:custGeom>
            <a:ln w="9144">
              <a:solidFill>
                <a:srgbClr val="000000"/>
              </a:solidFill>
              <a:prstDash val="sysDashDot"/>
            </a:ln>
          </p:spPr>
          <p:txBody>
            <a:bodyPr wrap="square" lIns="0" tIns="0" rIns="0" bIns="0" rtlCol="0"/>
            <a:lstStyle/>
            <a:p>
              <a:endParaRPr sz="2400"/>
            </a:p>
          </p:txBody>
        </p:sp>
        <p:sp>
          <p:nvSpPr>
            <p:cNvPr id="13" name="object 13"/>
            <p:cNvSpPr/>
            <p:nvPr/>
          </p:nvSpPr>
          <p:spPr>
            <a:xfrm>
              <a:off x="1496567" y="1927860"/>
              <a:ext cx="624840" cy="196850"/>
            </a:xfrm>
            <a:custGeom>
              <a:avLst/>
              <a:gdLst/>
              <a:ahLst/>
              <a:cxnLst/>
              <a:rect l="l" t="t" r="r" b="b"/>
              <a:pathLst>
                <a:path w="624839" h="196850">
                  <a:moveTo>
                    <a:pt x="592074" y="0"/>
                  </a:moveTo>
                  <a:lnTo>
                    <a:pt x="32765" y="0"/>
                  </a:lnTo>
                  <a:lnTo>
                    <a:pt x="20038" y="2583"/>
                  </a:lnTo>
                  <a:lnTo>
                    <a:pt x="9620" y="9620"/>
                  </a:lnTo>
                  <a:lnTo>
                    <a:pt x="2583" y="20038"/>
                  </a:lnTo>
                  <a:lnTo>
                    <a:pt x="0" y="32765"/>
                  </a:lnTo>
                  <a:lnTo>
                    <a:pt x="0" y="163829"/>
                  </a:lnTo>
                  <a:lnTo>
                    <a:pt x="2583" y="176557"/>
                  </a:lnTo>
                  <a:lnTo>
                    <a:pt x="9620" y="186975"/>
                  </a:lnTo>
                  <a:lnTo>
                    <a:pt x="20038" y="194012"/>
                  </a:lnTo>
                  <a:lnTo>
                    <a:pt x="32765" y="196595"/>
                  </a:lnTo>
                  <a:lnTo>
                    <a:pt x="592074" y="196595"/>
                  </a:lnTo>
                  <a:lnTo>
                    <a:pt x="604801" y="194012"/>
                  </a:lnTo>
                  <a:lnTo>
                    <a:pt x="615219" y="186975"/>
                  </a:lnTo>
                  <a:lnTo>
                    <a:pt x="622256" y="176557"/>
                  </a:lnTo>
                  <a:lnTo>
                    <a:pt x="624839" y="163829"/>
                  </a:lnTo>
                  <a:lnTo>
                    <a:pt x="624839" y="32765"/>
                  </a:lnTo>
                  <a:lnTo>
                    <a:pt x="622256" y="20038"/>
                  </a:lnTo>
                  <a:lnTo>
                    <a:pt x="615219" y="9620"/>
                  </a:lnTo>
                  <a:lnTo>
                    <a:pt x="604801" y="2583"/>
                  </a:lnTo>
                  <a:lnTo>
                    <a:pt x="592074" y="0"/>
                  </a:lnTo>
                  <a:close/>
                </a:path>
              </a:pathLst>
            </a:custGeom>
            <a:solidFill>
              <a:srgbClr val="FFFFFF"/>
            </a:solidFill>
          </p:spPr>
          <p:txBody>
            <a:bodyPr wrap="square" lIns="0" tIns="0" rIns="0" bIns="0" rtlCol="0"/>
            <a:lstStyle/>
            <a:p>
              <a:endParaRPr sz="2400"/>
            </a:p>
          </p:txBody>
        </p:sp>
        <p:sp>
          <p:nvSpPr>
            <p:cNvPr id="14" name="object 14"/>
            <p:cNvSpPr/>
            <p:nvPr/>
          </p:nvSpPr>
          <p:spPr>
            <a:xfrm>
              <a:off x="1496567" y="1927860"/>
              <a:ext cx="624840" cy="196850"/>
            </a:xfrm>
            <a:custGeom>
              <a:avLst/>
              <a:gdLst/>
              <a:ahLst/>
              <a:cxnLst/>
              <a:rect l="l" t="t" r="r" b="b"/>
              <a:pathLst>
                <a:path w="624839" h="196850">
                  <a:moveTo>
                    <a:pt x="0" y="32765"/>
                  </a:moveTo>
                  <a:lnTo>
                    <a:pt x="2583" y="20038"/>
                  </a:lnTo>
                  <a:lnTo>
                    <a:pt x="9620" y="9620"/>
                  </a:lnTo>
                  <a:lnTo>
                    <a:pt x="20038" y="2583"/>
                  </a:lnTo>
                  <a:lnTo>
                    <a:pt x="32765" y="0"/>
                  </a:lnTo>
                  <a:lnTo>
                    <a:pt x="592074" y="0"/>
                  </a:lnTo>
                  <a:lnTo>
                    <a:pt x="604801" y="2583"/>
                  </a:lnTo>
                  <a:lnTo>
                    <a:pt x="615219" y="9620"/>
                  </a:lnTo>
                  <a:lnTo>
                    <a:pt x="622256" y="20038"/>
                  </a:lnTo>
                  <a:lnTo>
                    <a:pt x="624839" y="32765"/>
                  </a:lnTo>
                  <a:lnTo>
                    <a:pt x="624839" y="163829"/>
                  </a:lnTo>
                  <a:lnTo>
                    <a:pt x="622256" y="176557"/>
                  </a:lnTo>
                  <a:lnTo>
                    <a:pt x="615219" y="186975"/>
                  </a:lnTo>
                  <a:lnTo>
                    <a:pt x="604801" y="194012"/>
                  </a:lnTo>
                  <a:lnTo>
                    <a:pt x="592074" y="196595"/>
                  </a:lnTo>
                  <a:lnTo>
                    <a:pt x="32765"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15" name="object 15"/>
          <p:cNvSpPr txBox="1"/>
          <p:nvPr/>
        </p:nvSpPr>
        <p:spPr>
          <a:xfrm>
            <a:off x="2136648" y="2621789"/>
            <a:ext cx="550333" cy="140209"/>
          </a:xfrm>
          <a:prstGeom prst="rect">
            <a:avLst/>
          </a:prstGeom>
        </p:spPr>
        <p:txBody>
          <a:bodyPr vert="horz" wrap="square" lIns="0" tIns="16933" rIns="0" bIns="0" rtlCol="0">
            <a:spAutoFit/>
          </a:bodyPr>
          <a:lstStyle/>
          <a:p>
            <a:pPr marL="16933">
              <a:spcBef>
                <a:spcPts val="133"/>
              </a:spcBef>
            </a:pPr>
            <a:r>
              <a:rPr sz="800" spc="-40" dirty="0">
                <a:latin typeface="Arial"/>
                <a:cs typeface="Arial"/>
              </a:rPr>
              <a:t>Ku</a:t>
            </a:r>
            <a:r>
              <a:rPr sz="800" spc="13" dirty="0">
                <a:latin typeface="Arial"/>
                <a:cs typeface="Arial"/>
              </a:rPr>
              <a:t>b</a:t>
            </a:r>
            <a:r>
              <a:rPr sz="800" spc="-33" dirty="0">
                <a:latin typeface="Arial"/>
                <a:cs typeface="Arial"/>
              </a:rPr>
              <a:t>e</a:t>
            </a:r>
            <a:r>
              <a:rPr sz="800" spc="53" dirty="0">
                <a:latin typeface="Arial"/>
                <a:cs typeface="Arial"/>
              </a:rPr>
              <a:t>-</a:t>
            </a:r>
            <a:r>
              <a:rPr sz="800" spc="13" dirty="0">
                <a:latin typeface="Arial"/>
                <a:cs typeface="Arial"/>
              </a:rPr>
              <a:t>p</a:t>
            </a:r>
            <a:r>
              <a:rPr sz="800" dirty="0">
                <a:latin typeface="Arial"/>
                <a:cs typeface="Arial"/>
              </a:rPr>
              <a:t>r</a:t>
            </a:r>
            <a:r>
              <a:rPr sz="800" spc="13" dirty="0">
                <a:latin typeface="Arial"/>
                <a:cs typeface="Arial"/>
              </a:rPr>
              <a:t>o</a:t>
            </a:r>
            <a:r>
              <a:rPr sz="800" spc="-27" dirty="0">
                <a:latin typeface="Arial"/>
                <a:cs typeface="Arial"/>
              </a:rPr>
              <a:t>xy</a:t>
            </a:r>
            <a:endParaRPr sz="800">
              <a:latin typeface="Arial"/>
              <a:cs typeface="Arial"/>
            </a:endParaRPr>
          </a:p>
        </p:txBody>
      </p:sp>
      <p:grpSp>
        <p:nvGrpSpPr>
          <p:cNvPr id="16" name="object 16"/>
          <p:cNvGrpSpPr/>
          <p:nvPr/>
        </p:nvGrpSpPr>
        <p:grpSpPr>
          <a:xfrm>
            <a:off x="3387006" y="2562013"/>
            <a:ext cx="852593" cy="279400"/>
            <a:chOff x="2540254" y="1921510"/>
            <a:chExt cx="639445" cy="209550"/>
          </a:xfrm>
        </p:grpSpPr>
        <p:sp>
          <p:nvSpPr>
            <p:cNvPr id="17" name="object 17"/>
            <p:cNvSpPr/>
            <p:nvPr/>
          </p:nvSpPr>
          <p:spPr>
            <a:xfrm>
              <a:off x="2546604" y="1927860"/>
              <a:ext cx="626745" cy="196850"/>
            </a:xfrm>
            <a:custGeom>
              <a:avLst/>
              <a:gdLst/>
              <a:ahLst/>
              <a:cxnLst/>
              <a:rect l="l" t="t" r="r" b="b"/>
              <a:pathLst>
                <a:path w="626744" h="196850">
                  <a:moveTo>
                    <a:pt x="593597" y="0"/>
                  </a:moveTo>
                  <a:lnTo>
                    <a:pt x="32765" y="0"/>
                  </a:lnTo>
                  <a:lnTo>
                    <a:pt x="20038" y="2583"/>
                  </a:lnTo>
                  <a:lnTo>
                    <a:pt x="9620" y="9620"/>
                  </a:lnTo>
                  <a:lnTo>
                    <a:pt x="2583" y="20038"/>
                  </a:lnTo>
                  <a:lnTo>
                    <a:pt x="0" y="32765"/>
                  </a:lnTo>
                  <a:lnTo>
                    <a:pt x="0" y="163829"/>
                  </a:lnTo>
                  <a:lnTo>
                    <a:pt x="2583" y="176557"/>
                  </a:lnTo>
                  <a:lnTo>
                    <a:pt x="9620" y="186975"/>
                  </a:lnTo>
                  <a:lnTo>
                    <a:pt x="20038" y="194012"/>
                  </a:lnTo>
                  <a:lnTo>
                    <a:pt x="32765" y="196595"/>
                  </a:lnTo>
                  <a:lnTo>
                    <a:pt x="593597" y="196595"/>
                  </a:lnTo>
                  <a:lnTo>
                    <a:pt x="606325" y="194012"/>
                  </a:lnTo>
                  <a:lnTo>
                    <a:pt x="616743" y="186975"/>
                  </a:lnTo>
                  <a:lnTo>
                    <a:pt x="623780" y="176557"/>
                  </a:lnTo>
                  <a:lnTo>
                    <a:pt x="626363" y="163829"/>
                  </a:lnTo>
                  <a:lnTo>
                    <a:pt x="626363" y="32765"/>
                  </a:lnTo>
                  <a:lnTo>
                    <a:pt x="623780" y="20038"/>
                  </a:lnTo>
                  <a:lnTo>
                    <a:pt x="616743" y="9620"/>
                  </a:lnTo>
                  <a:lnTo>
                    <a:pt x="606325" y="2583"/>
                  </a:lnTo>
                  <a:lnTo>
                    <a:pt x="593597" y="0"/>
                  </a:lnTo>
                  <a:close/>
                </a:path>
              </a:pathLst>
            </a:custGeom>
            <a:solidFill>
              <a:srgbClr val="FFFFFF"/>
            </a:solidFill>
          </p:spPr>
          <p:txBody>
            <a:bodyPr wrap="square" lIns="0" tIns="0" rIns="0" bIns="0" rtlCol="0"/>
            <a:lstStyle/>
            <a:p>
              <a:endParaRPr sz="2400"/>
            </a:p>
          </p:txBody>
        </p:sp>
        <p:sp>
          <p:nvSpPr>
            <p:cNvPr id="18" name="object 18"/>
            <p:cNvSpPr/>
            <p:nvPr/>
          </p:nvSpPr>
          <p:spPr>
            <a:xfrm>
              <a:off x="2546604" y="1927860"/>
              <a:ext cx="626745" cy="196850"/>
            </a:xfrm>
            <a:custGeom>
              <a:avLst/>
              <a:gdLst/>
              <a:ahLst/>
              <a:cxnLst/>
              <a:rect l="l" t="t" r="r" b="b"/>
              <a:pathLst>
                <a:path w="626744" h="196850">
                  <a:moveTo>
                    <a:pt x="0" y="32765"/>
                  </a:moveTo>
                  <a:lnTo>
                    <a:pt x="2583" y="20038"/>
                  </a:lnTo>
                  <a:lnTo>
                    <a:pt x="9620" y="9620"/>
                  </a:lnTo>
                  <a:lnTo>
                    <a:pt x="20038" y="2583"/>
                  </a:lnTo>
                  <a:lnTo>
                    <a:pt x="32765" y="0"/>
                  </a:lnTo>
                  <a:lnTo>
                    <a:pt x="593597" y="0"/>
                  </a:lnTo>
                  <a:lnTo>
                    <a:pt x="606325" y="2583"/>
                  </a:lnTo>
                  <a:lnTo>
                    <a:pt x="616743" y="9620"/>
                  </a:lnTo>
                  <a:lnTo>
                    <a:pt x="623780" y="20038"/>
                  </a:lnTo>
                  <a:lnTo>
                    <a:pt x="626363" y="32765"/>
                  </a:lnTo>
                  <a:lnTo>
                    <a:pt x="626363" y="163829"/>
                  </a:lnTo>
                  <a:lnTo>
                    <a:pt x="623780" y="176557"/>
                  </a:lnTo>
                  <a:lnTo>
                    <a:pt x="616743" y="186975"/>
                  </a:lnTo>
                  <a:lnTo>
                    <a:pt x="606325" y="194012"/>
                  </a:lnTo>
                  <a:lnTo>
                    <a:pt x="593597" y="196595"/>
                  </a:lnTo>
                  <a:lnTo>
                    <a:pt x="32765"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19" name="object 19"/>
          <p:cNvSpPr txBox="1"/>
          <p:nvPr/>
        </p:nvSpPr>
        <p:spPr>
          <a:xfrm>
            <a:off x="3537880" y="2621789"/>
            <a:ext cx="550333" cy="140209"/>
          </a:xfrm>
          <a:prstGeom prst="rect">
            <a:avLst/>
          </a:prstGeom>
        </p:spPr>
        <p:txBody>
          <a:bodyPr vert="horz" wrap="square" lIns="0" tIns="16933" rIns="0" bIns="0" rtlCol="0">
            <a:spAutoFit/>
          </a:bodyPr>
          <a:lstStyle/>
          <a:p>
            <a:pPr marL="16933">
              <a:spcBef>
                <a:spcPts val="133"/>
              </a:spcBef>
            </a:pPr>
            <a:r>
              <a:rPr sz="800" spc="-40" dirty="0">
                <a:latin typeface="Arial"/>
                <a:cs typeface="Arial"/>
              </a:rPr>
              <a:t>Ku</a:t>
            </a:r>
            <a:r>
              <a:rPr sz="800" spc="13" dirty="0">
                <a:latin typeface="Arial"/>
                <a:cs typeface="Arial"/>
              </a:rPr>
              <a:t>b</a:t>
            </a:r>
            <a:r>
              <a:rPr sz="800" spc="-33" dirty="0">
                <a:latin typeface="Arial"/>
                <a:cs typeface="Arial"/>
              </a:rPr>
              <a:t>e</a:t>
            </a:r>
            <a:r>
              <a:rPr sz="800" spc="53" dirty="0">
                <a:latin typeface="Arial"/>
                <a:cs typeface="Arial"/>
              </a:rPr>
              <a:t>-</a:t>
            </a:r>
            <a:r>
              <a:rPr sz="800" spc="13" dirty="0">
                <a:latin typeface="Arial"/>
                <a:cs typeface="Arial"/>
              </a:rPr>
              <a:t>p</a:t>
            </a:r>
            <a:r>
              <a:rPr sz="800" dirty="0">
                <a:latin typeface="Arial"/>
                <a:cs typeface="Arial"/>
              </a:rPr>
              <a:t>r</a:t>
            </a:r>
            <a:r>
              <a:rPr sz="800" spc="13" dirty="0">
                <a:latin typeface="Arial"/>
                <a:cs typeface="Arial"/>
              </a:rPr>
              <a:t>o</a:t>
            </a:r>
            <a:r>
              <a:rPr sz="800" spc="-27" dirty="0">
                <a:latin typeface="Arial"/>
                <a:cs typeface="Arial"/>
              </a:rPr>
              <a:t>xy</a:t>
            </a:r>
            <a:endParaRPr sz="800">
              <a:latin typeface="Arial"/>
              <a:cs typeface="Arial"/>
            </a:endParaRPr>
          </a:p>
        </p:txBody>
      </p:sp>
      <p:grpSp>
        <p:nvGrpSpPr>
          <p:cNvPr id="20" name="object 20"/>
          <p:cNvGrpSpPr/>
          <p:nvPr/>
        </p:nvGrpSpPr>
        <p:grpSpPr>
          <a:xfrm>
            <a:off x="4813470" y="2562013"/>
            <a:ext cx="850053" cy="279400"/>
            <a:chOff x="3610102" y="1921510"/>
            <a:chExt cx="637540" cy="209550"/>
          </a:xfrm>
        </p:grpSpPr>
        <p:sp>
          <p:nvSpPr>
            <p:cNvPr id="21" name="object 21"/>
            <p:cNvSpPr/>
            <p:nvPr/>
          </p:nvSpPr>
          <p:spPr>
            <a:xfrm>
              <a:off x="3616452" y="1927860"/>
              <a:ext cx="624840" cy="196850"/>
            </a:xfrm>
            <a:custGeom>
              <a:avLst/>
              <a:gdLst/>
              <a:ahLst/>
              <a:cxnLst/>
              <a:rect l="l" t="t" r="r" b="b"/>
              <a:pathLst>
                <a:path w="624839" h="196850">
                  <a:moveTo>
                    <a:pt x="592074" y="0"/>
                  </a:moveTo>
                  <a:lnTo>
                    <a:pt x="32765" y="0"/>
                  </a:lnTo>
                  <a:lnTo>
                    <a:pt x="20038" y="2583"/>
                  </a:lnTo>
                  <a:lnTo>
                    <a:pt x="9620" y="9620"/>
                  </a:lnTo>
                  <a:lnTo>
                    <a:pt x="2583" y="20038"/>
                  </a:lnTo>
                  <a:lnTo>
                    <a:pt x="0" y="32765"/>
                  </a:lnTo>
                  <a:lnTo>
                    <a:pt x="0" y="163829"/>
                  </a:lnTo>
                  <a:lnTo>
                    <a:pt x="2583" y="176557"/>
                  </a:lnTo>
                  <a:lnTo>
                    <a:pt x="9620" y="186975"/>
                  </a:lnTo>
                  <a:lnTo>
                    <a:pt x="20038" y="194012"/>
                  </a:lnTo>
                  <a:lnTo>
                    <a:pt x="32765" y="196595"/>
                  </a:lnTo>
                  <a:lnTo>
                    <a:pt x="592074" y="196595"/>
                  </a:lnTo>
                  <a:lnTo>
                    <a:pt x="604801" y="194012"/>
                  </a:lnTo>
                  <a:lnTo>
                    <a:pt x="615219" y="186975"/>
                  </a:lnTo>
                  <a:lnTo>
                    <a:pt x="622256" y="176557"/>
                  </a:lnTo>
                  <a:lnTo>
                    <a:pt x="624839" y="163829"/>
                  </a:lnTo>
                  <a:lnTo>
                    <a:pt x="624839" y="32765"/>
                  </a:lnTo>
                  <a:lnTo>
                    <a:pt x="622256" y="20038"/>
                  </a:lnTo>
                  <a:lnTo>
                    <a:pt x="615219" y="9620"/>
                  </a:lnTo>
                  <a:lnTo>
                    <a:pt x="604801" y="2583"/>
                  </a:lnTo>
                  <a:lnTo>
                    <a:pt x="592074" y="0"/>
                  </a:lnTo>
                  <a:close/>
                </a:path>
              </a:pathLst>
            </a:custGeom>
            <a:solidFill>
              <a:srgbClr val="FFFFFF"/>
            </a:solidFill>
          </p:spPr>
          <p:txBody>
            <a:bodyPr wrap="square" lIns="0" tIns="0" rIns="0" bIns="0" rtlCol="0"/>
            <a:lstStyle/>
            <a:p>
              <a:endParaRPr sz="2400"/>
            </a:p>
          </p:txBody>
        </p:sp>
        <p:sp>
          <p:nvSpPr>
            <p:cNvPr id="22" name="object 22"/>
            <p:cNvSpPr/>
            <p:nvPr/>
          </p:nvSpPr>
          <p:spPr>
            <a:xfrm>
              <a:off x="3616452" y="1927860"/>
              <a:ext cx="624840" cy="196850"/>
            </a:xfrm>
            <a:custGeom>
              <a:avLst/>
              <a:gdLst/>
              <a:ahLst/>
              <a:cxnLst/>
              <a:rect l="l" t="t" r="r" b="b"/>
              <a:pathLst>
                <a:path w="624839" h="196850">
                  <a:moveTo>
                    <a:pt x="0" y="32765"/>
                  </a:moveTo>
                  <a:lnTo>
                    <a:pt x="2583" y="20038"/>
                  </a:lnTo>
                  <a:lnTo>
                    <a:pt x="9620" y="9620"/>
                  </a:lnTo>
                  <a:lnTo>
                    <a:pt x="20038" y="2583"/>
                  </a:lnTo>
                  <a:lnTo>
                    <a:pt x="32765" y="0"/>
                  </a:lnTo>
                  <a:lnTo>
                    <a:pt x="592074" y="0"/>
                  </a:lnTo>
                  <a:lnTo>
                    <a:pt x="604801" y="2583"/>
                  </a:lnTo>
                  <a:lnTo>
                    <a:pt x="615219" y="9620"/>
                  </a:lnTo>
                  <a:lnTo>
                    <a:pt x="622256" y="20038"/>
                  </a:lnTo>
                  <a:lnTo>
                    <a:pt x="624839" y="32765"/>
                  </a:lnTo>
                  <a:lnTo>
                    <a:pt x="624839" y="163829"/>
                  </a:lnTo>
                  <a:lnTo>
                    <a:pt x="622256" y="176557"/>
                  </a:lnTo>
                  <a:lnTo>
                    <a:pt x="615219" y="186975"/>
                  </a:lnTo>
                  <a:lnTo>
                    <a:pt x="604801" y="194012"/>
                  </a:lnTo>
                  <a:lnTo>
                    <a:pt x="592074" y="196595"/>
                  </a:lnTo>
                  <a:lnTo>
                    <a:pt x="32765"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23" name="object 23"/>
          <p:cNvSpPr txBox="1"/>
          <p:nvPr/>
        </p:nvSpPr>
        <p:spPr>
          <a:xfrm>
            <a:off x="4962652" y="2621789"/>
            <a:ext cx="550333" cy="140209"/>
          </a:xfrm>
          <a:prstGeom prst="rect">
            <a:avLst/>
          </a:prstGeom>
        </p:spPr>
        <p:txBody>
          <a:bodyPr vert="horz" wrap="square" lIns="0" tIns="16933" rIns="0" bIns="0" rtlCol="0">
            <a:spAutoFit/>
          </a:bodyPr>
          <a:lstStyle/>
          <a:p>
            <a:pPr marL="16933">
              <a:spcBef>
                <a:spcPts val="133"/>
              </a:spcBef>
            </a:pPr>
            <a:r>
              <a:rPr sz="800" spc="-40" dirty="0">
                <a:latin typeface="Arial"/>
                <a:cs typeface="Arial"/>
              </a:rPr>
              <a:t>Ku</a:t>
            </a:r>
            <a:r>
              <a:rPr sz="800" spc="13" dirty="0">
                <a:latin typeface="Arial"/>
                <a:cs typeface="Arial"/>
              </a:rPr>
              <a:t>b</a:t>
            </a:r>
            <a:r>
              <a:rPr sz="800" spc="-33" dirty="0">
                <a:latin typeface="Arial"/>
                <a:cs typeface="Arial"/>
              </a:rPr>
              <a:t>e</a:t>
            </a:r>
            <a:r>
              <a:rPr sz="800" spc="53" dirty="0">
                <a:latin typeface="Arial"/>
                <a:cs typeface="Arial"/>
              </a:rPr>
              <a:t>-</a:t>
            </a:r>
            <a:r>
              <a:rPr sz="800" spc="13" dirty="0">
                <a:latin typeface="Arial"/>
                <a:cs typeface="Arial"/>
              </a:rPr>
              <a:t>p</a:t>
            </a:r>
            <a:r>
              <a:rPr sz="800" dirty="0">
                <a:latin typeface="Arial"/>
                <a:cs typeface="Arial"/>
              </a:rPr>
              <a:t>r</a:t>
            </a:r>
            <a:r>
              <a:rPr sz="800" spc="13" dirty="0">
                <a:latin typeface="Arial"/>
                <a:cs typeface="Arial"/>
              </a:rPr>
              <a:t>o</a:t>
            </a:r>
            <a:r>
              <a:rPr sz="800" spc="-27" dirty="0">
                <a:latin typeface="Arial"/>
                <a:cs typeface="Arial"/>
              </a:rPr>
              <a:t>xy</a:t>
            </a:r>
            <a:endParaRPr sz="800">
              <a:latin typeface="Arial"/>
              <a:cs typeface="Arial"/>
            </a:endParaRPr>
          </a:p>
        </p:txBody>
      </p:sp>
      <p:grpSp>
        <p:nvGrpSpPr>
          <p:cNvPr id="24" name="object 24"/>
          <p:cNvGrpSpPr/>
          <p:nvPr/>
        </p:nvGrpSpPr>
        <p:grpSpPr>
          <a:xfrm>
            <a:off x="6213518" y="2562013"/>
            <a:ext cx="850053" cy="279400"/>
            <a:chOff x="4660138" y="1921510"/>
            <a:chExt cx="637540" cy="209550"/>
          </a:xfrm>
        </p:grpSpPr>
        <p:sp>
          <p:nvSpPr>
            <p:cNvPr id="25" name="object 25"/>
            <p:cNvSpPr/>
            <p:nvPr/>
          </p:nvSpPr>
          <p:spPr>
            <a:xfrm>
              <a:off x="4666488" y="1927860"/>
              <a:ext cx="624840" cy="196850"/>
            </a:xfrm>
            <a:custGeom>
              <a:avLst/>
              <a:gdLst/>
              <a:ahLst/>
              <a:cxnLst/>
              <a:rect l="l" t="t" r="r" b="b"/>
              <a:pathLst>
                <a:path w="624839" h="196850">
                  <a:moveTo>
                    <a:pt x="592074" y="0"/>
                  </a:moveTo>
                  <a:lnTo>
                    <a:pt x="32765" y="0"/>
                  </a:lnTo>
                  <a:lnTo>
                    <a:pt x="20038" y="2583"/>
                  </a:lnTo>
                  <a:lnTo>
                    <a:pt x="9620" y="9620"/>
                  </a:lnTo>
                  <a:lnTo>
                    <a:pt x="2583" y="20038"/>
                  </a:lnTo>
                  <a:lnTo>
                    <a:pt x="0" y="32765"/>
                  </a:lnTo>
                  <a:lnTo>
                    <a:pt x="0" y="163829"/>
                  </a:lnTo>
                  <a:lnTo>
                    <a:pt x="2583" y="176557"/>
                  </a:lnTo>
                  <a:lnTo>
                    <a:pt x="9620" y="186975"/>
                  </a:lnTo>
                  <a:lnTo>
                    <a:pt x="20038" y="194012"/>
                  </a:lnTo>
                  <a:lnTo>
                    <a:pt x="32765" y="196595"/>
                  </a:lnTo>
                  <a:lnTo>
                    <a:pt x="592074" y="196595"/>
                  </a:lnTo>
                  <a:lnTo>
                    <a:pt x="604801" y="194012"/>
                  </a:lnTo>
                  <a:lnTo>
                    <a:pt x="615219" y="186975"/>
                  </a:lnTo>
                  <a:lnTo>
                    <a:pt x="622256" y="176557"/>
                  </a:lnTo>
                  <a:lnTo>
                    <a:pt x="624839" y="163829"/>
                  </a:lnTo>
                  <a:lnTo>
                    <a:pt x="624839" y="32765"/>
                  </a:lnTo>
                  <a:lnTo>
                    <a:pt x="622256" y="20038"/>
                  </a:lnTo>
                  <a:lnTo>
                    <a:pt x="615219" y="9620"/>
                  </a:lnTo>
                  <a:lnTo>
                    <a:pt x="604801" y="2583"/>
                  </a:lnTo>
                  <a:lnTo>
                    <a:pt x="592074" y="0"/>
                  </a:lnTo>
                  <a:close/>
                </a:path>
              </a:pathLst>
            </a:custGeom>
            <a:solidFill>
              <a:srgbClr val="FFFFFF"/>
            </a:solidFill>
          </p:spPr>
          <p:txBody>
            <a:bodyPr wrap="square" lIns="0" tIns="0" rIns="0" bIns="0" rtlCol="0"/>
            <a:lstStyle/>
            <a:p>
              <a:endParaRPr sz="2400"/>
            </a:p>
          </p:txBody>
        </p:sp>
        <p:sp>
          <p:nvSpPr>
            <p:cNvPr id="26" name="object 26"/>
            <p:cNvSpPr/>
            <p:nvPr/>
          </p:nvSpPr>
          <p:spPr>
            <a:xfrm>
              <a:off x="4666488" y="1927860"/>
              <a:ext cx="624840" cy="196850"/>
            </a:xfrm>
            <a:custGeom>
              <a:avLst/>
              <a:gdLst/>
              <a:ahLst/>
              <a:cxnLst/>
              <a:rect l="l" t="t" r="r" b="b"/>
              <a:pathLst>
                <a:path w="624839" h="196850">
                  <a:moveTo>
                    <a:pt x="0" y="32765"/>
                  </a:moveTo>
                  <a:lnTo>
                    <a:pt x="2583" y="20038"/>
                  </a:lnTo>
                  <a:lnTo>
                    <a:pt x="9620" y="9620"/>
                  </a:lnTo>
                  <a:lnTo>
                    <a:pt x="20038" y="2583"/>
                  </a:lnTo>
                  <a:lnTo>
                    <a:pt x="32765" y="0"/>
                  </a:lnTo>
                  <a:lnTo>
                    <a:pt x="592074" y="0"/>
                  </a:lnTo>
                  <a:lnTo>
                    <a:pt x="604801" y="2583"/>
                  </a:lnTo>
                  <a:lnTo>
                    <a:pt x="615219" y="9620"/>
                  </a:lnTo>
                  <a:lnTo>
                    <a:pt x="622256" y="20038"/>
                  </a:lnTo>
                  <a:lnTo>
                    <a:pt x="624839" y="32765"/>
                  </a:lnTo>
                  <a:lnTo>
                    <a:pt x="624839" y="163829"/>
                  </a:lnTo>
                  <a:lnTo>
                    <a:pt x="622256" y="176557"/>
                  </a:lnTo>
                  <a:lnTo>
                    <a:pt x="615219" y="186975"/>
                  </a:lnTo>
                  <a:lnTo>
                    <a:pt x="604801" y="194012"/>
                  </a:lnTo>
                  <a:lnTo>
                    <a:pt x="592074" y="196595"/>
                  </a:lnTo>
                  <a:lnTo>
                    <a:pt x="32765"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27" name="object 27"/>
          <p:cNvSpPr txBox="1"/>
          <p:nvPr/>
        </p:nvSpPr>
        <p:spPr>
          <a:xfrm>
            <a:off x="6363545" y="2621789"/>
            <a:ext cx="551179" cy="140209"/>
          </a:xfrm>
          <a:prstGeom prst="rect">
            <a:avLst/>
          </a:prstGeom>
        </p:spPr>
        <p:txBody>
          <a:bodyPr vert="horz" wrap="square" lIns="0" tIns="16933" rIns="0" bIns="0" rtlCol="0">
            <a:spAutoFit/>
          </a:bodyPr>
          <a:lstStyle/>
          <a:p>
            <a:pPr marL="16933">
              <a:spcBef>
                <a:spcPts val="133"/>
              </a:spcBef>
            </a:pPr>
            <a:r>
              <a:rPr sz="800" spc="-7" dirty="0">
                <a:latin typeface="Arial"/>
                <a:cs typeface="Arial"/>
              </a:rPr>
              <a:t>Kube-proxy</a:t>
            </a:r>
            <a:endParaRPr sz="800">
              <a:latin typeface="Arial"/>
              <a:cs typeface="Arial"/>
            </a:endParaRPr>
          </a:p>
        </p:txBody>
      </p:sp>
      <p:grpSp>
        <p:nvGrpSpPr>
          <p:cNvPr id="28" name="object 28"/>
          <p:cNvGrpSpPr/>
          <p:nvPr/>
        </p:nvGrpSpPr>
        <p:grpSpPr>
          <a:xfrm>
            <a:off x="7654205" y="2562013"/>
            <a:ext cx="852593" cy="279400"/>
            <a:chOff x="5740653" y="1921510"/>
            <a:chExt cx="639445" cy="209550"/>
          </a:xfrm>
        </p:grpSpPr>
        <p:sp>
          <p:nvSpPr>
            <p:cNvPr id="29" name="object 29"/>
            <p:cNvSpPr/>
            <p:nvPr/>
          </p:nvSpPr>
          <p:spPr>
            <a:xfrm>
              <a:off x="5747003" y="1927860"/>
              <a:ext cx="626745" cy="196850"/>
            </a:xfrm>
            <a:custGeom>
              <a:avLst/>
              <a:gdLst/>
              <a:ahLst/>
              <a:cxnLst/>
              <a:rect l="l" t="t" r="r" b="b"/>
              <a:pathLst>
                <a:path w="626745" h="196850">
                  <a:moveTo>
                    <a:pt x="593598" y="0"/>
                  </a:moveTo>
                  <a:lnTo>
                    <a:pt x="32766" y="0"/>
                  </a:lnTo>
                  <a:lnTo>
                    <a:pt x="20038" y="2583"/>
                  </a:lnTo>
                  <a:lnTo>
                    <a:pt x="9620" y="9620"/>
                  </a:lnTo>
                  <a:lnTo>
                    <a:pt x="2583" y="20038"/>
                  </a:lnTo>
                  <a:lnTo>
                    <a:pt x="0" y="32765"/>
                  </a:lnTo>
                  <a:lnTo>
                    <a:pt x="0" y="163829"/>
                  </a:lnTo>
                  <a:lnTo>
                    <a:pt x="2583" y="176557"/>
                  </a:lnTo>
                  <a:lnTo>
                    <a:pt x="9620" y="186975"/>
                  </a:lnTo>
                  <a:lnTo>
                    <a:pt x="20038" y="194012"/>
                  </a:lnTo>
                  <a:lnTo>
                    <a:pt x="32766" y="196595"/>
                  </a:lnTo>
                  <a:lnTo>
                    <a:pt x="593598" y="196595"/>
                  </a:lnTo>
                  <a:lnTo>
                    <a:pt x="606325" y="194012"/>
                  </a:lnTo>
                  <a:lnTo>
                    <a:pt x="616743" y="186975"/>
                  </a:lnTo>
                  <a:lnTo>
                    <a:pt x="623780" y="176557"/>
                  </a:lnTo>
                  <a:lnTo>
                    <a:pt x="626363" y="163829"/>
                  </a:lnTo>
                  <a:lnTo>
                    <a:pt x="626363" y="32765"/>
                  </a:lnTo>
                  <a:lnTo>
                    <a:pt x="623780" y="20038"/>
                  </a:lnTo>
                  <a:lnTo>
                    <a:pt x="616743" y="9620"/>
                  </a:lnTo>
                  <a:lnTo>
                    <a:pt x="606325" y="2583"/>
                  </a:lnTo>
                  <a:lnTo>
                    <a:pt x="593598" y="0"/>
                  </a:lnTo>
                  <a:close/>
                </a:path>
              </a:pathLst>
            </a:custGeom>
            <a:solidFill>
              <a:srgbClr val="FFFFFF"/>
            </a:solidFill>
          </p:spPr>
          <p:txBody>
            <a:bodyPr wrap="square" lIns="0" tIns="0" rIns="0" bIns="0" rtlCol="0"/>
            <a:lstStyle/>
            <a:p>
              <a:endParaRPr sz="2400"/>
            </a:p>
          </p:txBody>
        </p:sp>
        <p:sp>
          <p:nvSpPr>
            <p:cNvPr id="30" name="object 30"/>
            <p:cNvSpPr/>
            <p:nvPr/>
          </p:nvSpPr>
          <p:spPr>
            <a:xfrm>
              <a:off x="5747003" y="1927860"/>
              <a:ext cx="626745" cy="196850"/>
            </a:xfrm>
            <a:custGeom>
              <a:avLst/>
              <a:gdLst/>
              <a:ahLst/>
              <a:cxnLst/>
              <a:rect l="l" t="t" r="r" b="b"/>
              <a:pathLst>
                <a:path w="626745" h="196850">
                  <a:moveTo>
                    <a:pt x="0" y="32765"/>
                  </a:moveTo>
                  <a:lnTo>
                    <a:pt x="2583" y="20038"/>
                  </a:lnTo>
                  <a:lnTo>
                    <a:pt x="9620" y="9620"/>
                  </a:lnTo>
                  <a:lnTo>
                    <a:pt x="20038" y="2583"/>
                  </a:lnTo>
                  <a:lnTo>
                    <a:pt x="32766" y="0"/>
                  </a:lnTo>
                  <a:lnTo>
                    <a:pt x="593598" y="0"/>
                  </a:lnTo>
                  <a:lnTo>
                    <a:pt x="606325" y="2583"/>
                  </a:lnTo>
                  <a:lnTo>
                    <a:pt x="616743" y="9620"/>
                  </a:lnTo>
                  <a:lnTo>
                    <a:pt x="623780" y="20038"/>
                  </a:lnTo>
                  <a:lnTo>
                    <a:pt x="626363" y="32765"/>
                  </a:lnTo>
                  <a:lnTo>
                    <a:pt x="626363" y="163829"/>
                  </a:lnTo>
                  <a:lnTo>
                    <a:pt x="623780" y="176557"/>
                  </a:lnTo>
                  <a:lnTo>
                    <a:pt x="616743" y="186975"/>
                  </a:lnTo>
                  <a:lnTo>
                    <a:pt x="606325" y="194012"/>
                  </a:lnTo>
                  <a:lnTo>
                    <a:pt x="593598" y="196595"/>
                  </a:lnTo>
                  <a:lnTo>
                    <a:pt x="32766"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31" name="object 31"/>
          <p:cNvSpPr txBox="1"/>
          <p:nvPr/>
        </p:nvSpPr>
        <p:spPr>
          <a:xfrm>
            <a:off x="7805080" y="2621789"/>
            <a:ext cx="550333" cy="140209"/>
          </a:xfrm>
          <a:prstGeom prst="rect">
            <a:avLst/>
          </a:prstGeom>
        </p:spPr>
        <p:txBody>
          <a:bodyPr vert="horz" wrap="square" lIns="0" tIns="16933" rIns="0" bIns="0" rtlCol="0">
            <a:spAutoFit/>
          </a:bodyPr>
          <a:lstStyle/>
          <a:p>
            <a:pPr marL="16933">
              <a:spcBef>
                <a:spcPts val="133"/>
              </a:spcBef>
            </a:pPr>
            <a:r>
              <a:rPr sz="800" spc="-40" dirty="0">
                <a:latin typeface="Arial"/>
                <a:cs typeface="Arial"/>
              </a:rPr>
              <a:t>Ku</a:t>
            </a:r>
            <a:r>
              <a:rPr sz="800" spc="13" dirty="0">
                <a:latin typeface="Arial"/>
                <a:cs typeface="Arial"/>
              </a:rPr>
              <a:t>b</a:t>
            </a:r>
            <a:r>
              <a:rPr sz="800" spc="-33" dirty="0">
                <a:latin typeface="Arial"/>
                <a:cs typeface="Arial"/>
              </a:rPr>
              <a:t>e</a:t>
            </a:r>
            <a:r>
              <a:rPr sz="800" spc="53" dirty="0">
                <a:latin typeface="Arial"/>
                <a:cs typeface="Arial"/>
              </a:rPr>
              <a:t>-</a:t>
            </a:r>
            <a:r>
              <a:rPr sz="800" spc="13" dirty="0">
                <a:latin typeface="Arial"/>
                <a:cs typeface="Arial"/>
              </a:rPr>
              <a:t>p</a:t>
            </a:r>
            <a:r>
              <a:rPr sz="800" dirty="0">
                <a:latin typeface="Arial"/>
                <a:cs typeface="Arial"/>
              </a:rPr>
              <a:t>r</a:t>
            </a:r>
            <a:r>
              <a:rPr sz="800" spc="13" dirty="0">
                <a:latin typeface="Arial"/>
                <a:cs typeface="Arial"/>
              </a:rPr>
              <a:t>o</a:t>
            </a:r>
            <a:r>
              <a:rPr sz="800" spc="-27" dirty="0">
                <a:latin typeface="Arial"/>
                <a:cs typeface="Arial"/>
              </a:rPr>
              <a:t>xy</a:t>
            </a:r>
            <a:endParaRPr sz="800">
              <a:latin typeface="Arial"/>
              <a:cs typeface="Arial"/>
            </a:endParaRPr>
          </a:p>
        </p:txBody>
      </p:sp>
      <p:grpSp>
        <p:nvGrpSpPr>
          <p:cNvPr id="32" name="object 32"/>
          <p:cNvGrpSpPr/>
          <p:nvPr/>
        </p:nvGrpSpPr>
        <p:grpSpPr>
          <a:xfrm>
            <a:off x="9056624" y="2562353"/>
            <a:ext cx="850053" cy="278553"/>
            <a:chOff x="6792468" y="1921764"/>
            <a:chExt cx="637540" cy="208915"/>
          </a:xfrm>
        </p:grpSpPr>
        <p:sp>
          <p:nvSpPr>
            <p:cNvPr id="33" name="object 33"/>
            <p:cNvSpPr/>
            <p:nvPr/>
          </p:nvSpPr>
          <p:spPr>
            <a:xfrm>
              <a:off x="6798564" y="1927860"/>
              <a:ext cx="624840" cy="196850"/>
            </a:xfrm>
            <a:custGeom>
              <a:avLst/>
              <a:gdLst/>
              <a:ahLst/>
              <a:cxnLst/>
              <a:rect l="l" t="t" r="r" b="b"/>
              <a:pathLst>
                <a:path w="624840" h="196850">
                  <a:moveTo>
                    <a:pt x="592074" y="0"/>
                  </a:moveTo>
                  <a:lnTo>
                    <a:pt x="32765" y="0"/>
                  </a:lnTo>
                  <a:lnTo>
                    <a:pt x="20038" y="2583"/>
                  </a:lnTo>
                  <a:lnTo>
                    <a:pt x="9620" y="9620"/>
                  </a:lnTo>
                  <a:lnTo>
                    <a:pt x="2583" y="20038"/>
                  </a:lnTo>
                  <a:lnTo>
                    <a:pt x="0" y="32765"/>
                  </a:lnTo>
                  <a:lnTo>
                    <a:pt x="0" y="163829"/>
                  </a:lnTo>
                  <a:lnTo>
                    <a:pt x="2583" y="176557"/>
                  </a:lnTo>
                  <a:lnTo>
                    <a:pt x="9620" y="186975"/>
                  </a:lnTo>
                  <a:lnTo>
                    <a:pt x="20038" y="194012"/>
                  </a:lnTo>
                  <a:lnTo>
                    <a:pt x="32765" y="196595"/>
                  </a:lnTo>
                  <a:lnTo>
                    <a:pt x="592074" y="196595"/>
                  </a:lnTo>
                  <a:lnTo>
                    <a:pt x="604801" y="194012"/>
                  </a:lnTo>
                  <a:lnTo>
                    <a:pt x="615219" y="186975"/>
                  </a:lnTo>
                  <a:lnTo>
                    <a:pt x="622256" y="176557"/>
                  </a:lnTo>
                  <a:lnTo>
                    <a:pt x="624839" y="163829"/>
                  </a:lnTo>
                  <a:lnTo>
                    <a:pt x="624839" y="32765"/>
                  </a:lnTo>
                  <a:lnTo>
                    <a:pt x="622256" y="20038"/>
                  </a:lnTo>
                  <a:lnTo>
                    <a:pt x="615219" y="9620"/>
                  </a:lnTo>
                  <a:lnTo>
                    <a:pt x="604801" y="2583"/>
                  </a:lnTo>
                  <a:lnTo>
                    <a:pt x="592074" y="0"/>
                  </a:lnTo>
                  <a:close/>
                </a:path>
              </a:pathLst>
            </a:custGeom>
            <a:solidFill>
              <a:srgbClr val="FFFFFF"/>
            </a:solidFill>
          </p:spPr>
          <p:txBody>
            <a:bodyPr wrap="square" lIns="0" tIns="0" rIns="0" bIns="0" rtlCol="0"/>
            <a:lstStyle/>
            <a:p>
              <a:endParaRPr sz="2400"/>
            </a:p>
          </p:txBody>
        </p:sp>
        <p:sp>
          <p:nvSpPr>
            <p:cNvPr id="34" name="object 34"/>
            <p:cNvSpPr/>
            <p:nvPr/>
          </p:nvSpPr>
          <p:spPr>
            <a:xfrm>
              <a:off x="6798564" y="1927860"/>
              <a:ext cx="624840" cy="196850"/>
            </a:xfrm>
            <a:custGeom>
              <a:avLst/>
              <a:gdLst/>
              <a:ahLst/>
              <a:cxnLst/>
              <a:rect l="l" t="t" r="r" b="b"/>
              <a:pathLst>
                <a:path w="624840" h="196850">
                  <a:moveTo>
                    <a:pt x="0" y="32765"/>
                  </a:moveTo>
                  <a:lnTo>
                    <a:pt x="2583" y="20038"/>
                  </a:lnTo>
                  <a:lnTo>
                    <a:pt x="9620" y="9620"/>
                  </a:lnTo>
                  <a:lnTo>
                    <a:pt x="20038" y="2583"/>
                  </a:lnTo>
                  <a:lnTo>
                    <a:pt x="32765" y="0"/>
                  </a:lnTo>
                  <a:lnTo>
                    <a:pt x="592074" y="0"/>
                  </a:lnTo>
                  <a:lnTo>
                    <a:pt x="604801" y="2583"/>
                  </a:lnTo>
                  <a:lnTo>
                    <a:pt x="615219" y="9620"/>
                  </a:lnTo>
                  <a:lnTo>
                    <a:pt x="622256" y="20038"/>
                  </a:lnTo>
                  <a:lnTo>
                    <a:pt x="624839" y="32765"/>
                  </a:lnTo>
                  <a:lnTo>
                    <a:pt x="624839" y="163829"/>
                  </a:lnTo>
                  <a:lnTo>
                    <a:pt x="622256" y="176557"/>
                  </a:lnTo>
                  <a:lnTo>
                    <a:pt x="615219" y="186975"/>
                  </a:lnTo>
                  <a:lnTo>
                    <a:pt x="604801" y="194012"/>
                  </a:lnTo>
                  <a:lnTo>
                    <a:pt x="592074" y="196595"/>
                  </a:lnTo>
                  <a:lnTo>
                    <a:pt x="32765"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35" name="object 35"/>
          <p:cNvSpPr txBox="1"/>
          <p:nvPr/>
        </p:nvSpPr>
        <p:spPr>
          <a:xfrm>
            <a:off x="9206314" y="2621789"/>
            <a:ext cx="550333" cy="140209"/>
          </a:xfrm>
          <a:prstGeom prst="rect">
            <a:avLst/>
          </a:prstGeom>
        </p:spPr>
        <p:txBody>
          <a:bodyPr vert="horz" wrap="square" lIns="0" tIns="16933" rIns="0" bIns="0" rtlCol="0">
            <a:spAutoFit/>
          </a:bodyPr>
          <a:lstStyle/>
          <a:p>
            <a:pPr marL="16933">
              <a:spcBef>
                <a:spcPts val="133"/>
              </a:spcBef>
            </a:pPr>
            <a:r>
              <a:rPr sz="800" spc="-40" dirty="0">
                <a:latin typeface="Arial"/>
                <a:cs typeface="Arial"/>
              </a:rPr>
              <a:t>Ku</a:t>
            </a:r>
            <a:r>
              <a:rPr sz="800" spc="13" dirty="0">
                <a:latin typeface="Arial"/>
                <a:cs typeface="Arial"/>
              </a:rPr>
              <a:t>b</a:t>
            </a:r>
            <a:r>
              <a:rPr sz="800" spc="-33" dirty="0">
                <a:latin typeface="Arial"/>
                <a:cs typeface="Arial"/>
              </a:rPr>
              <a:t>e</a:t>
            </a:r>
            <a:r>
              <a:rPr sz="800" spc="53" dirty="0">
                <a:latin typeface="Arial"/>
                <a:cs typeface="Arial"/>
              </a:rPr>
              <a:t>-</a:t>
            </a:r>
            <a:r>
              <a:rPr sz="800" spc="13" dirty="0">
                <a:latin typeface="Arial"/>
                <a:cs typeface="Arial"/>
              </a:rPr>
              <a:t>p</a:t>
            </a:r>
            <a:r>
              <a:rPr sz="800" dirty="0">
                <a:latin typeface="Arial"/>
                <a:cs typeface="Arial"/>
              </a:rPr>
              <a:t>r</a:t>
            </a:r>
            <a:r>
              <a:rPr sz="800" spc="13" dirty="0">
                <a:latin typeface="Arial"/>
                <a:cs typeface="Arial"/>
              </a:rPr>
              <a:t>o</a:t>
            </a:r>
            <a:r>
              <a:rPr sz="800" spc="-27" dirty="0">
                <a:latin typeface="Arial"/>
                <a:cs typeface="Arial"/>
              </a:rPr>
              <a:t>xy</a:t>
            </a:r>
            <a:endParaRPr sz="800">
              <a:latin typeface="Arial"/>
              <a:cs typeface="Arial"/>
            </a:endParaRPr>
          </a:p>
        </p:txBody>
      </p:sp>
    </p:spTree>
    <p:extLst>
      <p:ext uri="{BB962C8B-B14F-4D97-AF65-F5344CB8AC3E}">
        <p14:creationId xmlns:p14="http://schemas.microsoft.com/office/powerpoint/2010/main" val="14751783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36495"/>
            <a:ext cx="9806093" cy="694207"/>
          </a:xfrm>
          <a:prstGeom prst="rect">
            <a:avLst/>
          </a:prstGeom>
        </p:spPr>
        <p:txBody>
          <a:bodyPr vert="horz" wrap="square" lIns="0" tIns="16933" rIns="0" bIns="0" rtlCol="0" anchor="ctr">
            <a:spAutoFit/>
          </a:bodyPr>
          <a:lstStyle/>
          <a:p>
            <a:pPr marL="16933">
              <a:lnSpc>
                <a:spcPct val="100000"/>
              </a:lnSpc>
              <a:spcBef>
                <a:spcPts val="133"/>
              </a:spcBef>
            </a:pPr>
            <a:r>
              <a:rPr spc="80" dirty="0"/>
              <a:t>Daemon </a:t>
            </a:r>
            <a:r>
              <a:rPr spc="-27" dirty="0"/>
              <a:t>Sets </a:t>
            </a:r>
            <a:r>
              <a:rPr spc="-393" dirty="0"/>
              <a:t>– </a:t>
            </a:r>
            <a:r>
              <a:rPr spc="40" dirty="0"/>
              <a:t>UseCase</a:t>
            </a:r>
            <a:r>
              <a:rPr spc="-953" dirty="0"/>
              <a:t> </a:t>
            </a:r>
            <a:r>
              <a:rPr spc="-393" dirty="0"/>
              <a:t>– </a:t>
            </a:r>
            <a:r>
              <a:rPr spc="107" dirty="0"/>
              <a:t>Networking</a:t>
            </a:r>
          </a:p>
        </p:txBody>
      </p:sp>
      <p:grpSp>
        <p:nvGrpSpPr>
          <p:cNvPr id="4" name="object 4"/>
          <p:cNvGrpSpPr/>
          <p:nvPr/>
        </p:nvGrpSpPr>
        <p:grpSpPr>
          <a:xfrm>
            <a:off x="209295" y="3035808"/>
            <a:ext cx="8429413" cy="1741593"/>
            <a:chOff x="156971" y="2276855"/>
            <a:chExt cx="6322060" cy="1306195"/>
          </a:xfrm>
        </p:grpSpPr>
        <p:sp>
          <p:nvSpPr>
            <p:cNvPr id="5" name="object 5"/>
            <p:cNvSpPr/>
            <p:nvPr/>
          </p:nvSpPr>
          <p:spPr>
            <a:xfrm>
              <a:off x="156971" y="2276855"/>
              <a:ext cx="6321551" cy="1306068"/>
            </a:xfrm>
            <a:prstGeom prst="rect">
              <a:avLst/>
            </a:prstGeom>
            <a:blipFill>
              <a:blip r:embed="rId2" cstate="print"/>
              <a:stretch>
                <a:fillRect/>
              </a:stretch>
            </a:blipFill>
          </p:spPr>
          <p:txBody>
            <a:bodyPr wrap="square" lIns="0" tIns="0" rIns="0" bIns="0" rtlCol="0"/>
            <a:lstStyle/>
            <a:p>
              <a:endParaRPr sz="2400"/>
            </a:p>
          </p:txBody>
        </p:sp>
        <p:sp>
          <p:nvSpPr>
            <p:cNvPr id="6" name="object 6"/>
            <p:cNvSpPr/>
            <p:nvPr/>
          </p:nvSpPr>
          <p:spPr>
            <a:xfrm>
              <a:off x="166115" y="2325623"/>
              <a:ext cx="1094994" cy="345186"/>
            </a:xfrm>
            <a:prstGeom prst="rect">
              <a:avLst/>
            </a:prstGeom>
            <a:blipFill>
              <a:blip r:embed="rId3" cstate="print"/>
              <a:stretch>
                <a:fillRect/>
              </a:stretch>
            </a:blipFill>
          </p:spPr>
          <p:txBody>
            <a:bodyPr wrap="square" lIns="0" tIns="0" rIns="0" bIns="0" rtlCol="0"/>
            <a:lstStyle/>
            <a:p>
              <a:endParaRPr sz="2400"/>
            </a:p>
          </p:txBody>
        </p:sp>
      </p:grpSp>
      <p:sp>
        <p:nvSpPr>
          <p:cNvPr id="7" name="object 7"/>
          <p:cNvSpPr txBox="1"/>
          <p:nvPr/>
        </p:nvSpPr>
        <p:spPr>
          <a:xfrm>
            <a:off x="241518" y="3152581"/>
            <a:ext cx="9640993" cy="263320"/>
          </a:xfrm>
          <a:prstGeom prst="rect">
            <a:avLst/>
          </a:prstGeom>
        </p:spPr>
        <p:txBody>
          <a:bodyPr vert="horz" wrap="square" lIns="0" tIns="16933" rIns="0" bIns="0" rtlCol="0">
            <a:spAutoFit/>
          </a:bodyPr>
          <a:lstStyle/>
          <a:p>
            <a:pPr marL="115144">
              <a:spcBef>
                <a:spcPts val="133"/>
              </a:spcBef>
            </a:pPr>
            <a:r>
              <a:rPr sz="1600" spc="-20" dirty="0">
                <a:latin typeface="Arial"/>
                <a:cs typeface="Arial"/>
              </a:rPr>
              <a:t>Daemon</a:t>
            </a:r>
            <a:r>
              <a:rPr sz="1600" spc="-33" dirty="0">
                <a:latin typeface="Arial"/>
                <a:cs typeface="Arial"/>
              </a:rPr>
              <a:t> </a:t>
            </a:r>
            <a:r>
              <a:rPr sz="1600" spc="-80" dirty="0">
                <a:latin typeface="Arial"/>
                <a:cs typeface="Arial"/>
              </a:rPr>
              <a:t>Sets</a:t>
            </a:r>
            <a:endParaRPr sz="1600">
              <a:latin typeface="Arial"/>
              <a:cs typeface="Arial"/>
            </a:endParaRPr>
          </a:p>
        </p:txBody>
      </p:sp>
      <p:grpSp>
        <p:nvGrpSpPr>
          <p:cNvPr id="8" name="object 8"/>
          <p:cNvGrpSpPr/>
          <p:nvPr/>
        </p:nvGrpSpPr>
        <p:grpSpPr>
          <a:xfrm>
            <a:off x="219202" y="2562014"/>
            <a:ext cx="9815407" cy="2215727"/>
            <a:chOff x="164401" y="1921510"/>
            <a:chExt cx="7361555" cy="1661795"/>
          </a:xfrm>
        </p:grpSpPr>
        <p:sp>
          <p:nvSpPr>
            <p:cNvPr id="9" name="object 9"/>
            <p:cNvSpPr/>
            <p:nvPr/>
          </p:nvSpPr>
          <p:spPr>
            <a:xfrm>
              <a:off x="6750557" y="2286762"/>
              <a:ext cx="765175" cy="1286510"/>
            </a:xfrm>
            <a:custGeom>
              <a:avLst/>
              <a:gdLst/>
              <a:ahLst/>
              <a:cxnLst/>
              <a:rect l="l" t="t" r="r" b="b"/>
              <a:pathLst>
                <a:path w="765175" h="1286510">
                  <a:moveTo>
                    <a:pt x="0" y="127507"/>
                  </a:moveTo>
                  <a:lnTo>
                    <a:pt x="10029" y="77902"/>
                  </a:lnTo>
                  <a:lnTo>
                    <a:pt x="37369" y="37369"/>
                  </a:lnTo>
                  <a:lnTo>
                    <a:pt x="77902" y="10029"/>
                  </a:lnTo>
                  <a:lnTo>
                    <a:pt x="127508" y="0"/>
                  </a:lnTo>
                  <a:lnTo>
                    <a:pt x="637540" y="0"/>
                  </a:lnTo>
                  <a:lnTo>
                    <a:pt x="687145" y="10029"/>
                  </a:lnTo>
                  <a:lnTo>
                    <a:pt x="727678" y="37369"/>
                  </a:lnTo>
                  <a:lnTo>
                    <a:pt x="755018" y="77902"/>
                  </a:lnTo>
                  <a:lnTo>
                    <a:pt x="765048" y="127507"/>
                  </a:lnTo>
                  <a:lnTo>
                    <a:pt x="765048" y="1158748"/>
                  </a:lnTo>
                  <a:lnTo>
                    <a:pt x="755018" y="1208353"/>
                  </a:lnTo>
                  <a:lnTo>
                    <a:pt x="727678" y="1248886"/>
                  </a:lnTo>
                  <a:lnTo>
                    <a:pt x="687145" y="1276226"/>
                  </a:lnTo>
                  <a:lnTo>
                    <a:pt x="637540" y="1286256"/>
                  </a:lnTo>
                  <a:lnTo>
                    <a:pt x="127508" y="1286256"/>
                  </a:lnTo>
                  <a:lnTo>
                    <a:pt x="77902" y="1276226"/>
                  </a:lnTo>
                  <a:lnTo>
                    <a:pt x="37369" y="1248886"/>
                  </a:lnTo>
                  <a:lnTo>
                    <a:pt x="10029" y="1208353"/>
                  </a:lnTo>
                  <a:lnTo>
                    <a:pt x="0" y="1158748"/>
                  </a:lnTo>
                  <a:lnTo>
                    <a:pt x="0" y="127507"/>
                  </a:lnTo>
                  <a:close/>
                </a:path>
              </a:pathLst>
            </a:custGeom>
            <a:ln w="19812">
              <a:solidFill>
                <a:srgbClr val="1780C3"/>
              </a:solidFill>
            </a:ln>
          </p:spPr>
          <p:txBody>
            <a:bodyPr wrap="square" lIns="0" tIns="0" rIns="0" bIns="0" rtlCol="0"/>
            <a:lstStyle/>
            <a:p>
              <a:endParaRPr sz="2400"/>
            </a:p>
          </p:txBody>
        </p:sp>
        <p:sp>
          <p:nvSpPr>
            <p:cNvPr id="10" name="object 10"/>
            <p:cNvSpPr/>
            <p:nvPr/>
          </p:nvSpPr>
          <p:spPr>
            <a:xfrm>
              <a:off x="7046975" y="3247644"/>
              <a:ext cx="172211" cy="172212"/>
            </a:xfrm>
            <a:prstGeom prst="rect">
              <a:avLst/>
            </a:prstGeom>
            <a:blipFill>
              <a:blip r:embed="rId4" cstate="print"/>
              <a:stretch>
                <a:fillRect/>
              </a:stretch>
            </a:blipFill>
          </p:spPr>
          <p:txBody>
            <a:bodyPr wrap="square" lIns="0" tIns="0" rIns="0" bIns="0" rtlCol="0"/>
            <a:lstStyle/>
            <a:p>
              <a:endParaRPr sz="2400"/>
            </a:p>
          </p:txBody>
        </p:sp>
        <p:sp>
          <p:nvSpPr>
            <p:cNvPr id="11" name="object 11"/>
            <p:cNvSpPr/>
            <p:nvPr/>
          </p:nvSpPr>
          <p:spPr>
            <a:xfrm>
              <a:off x="7037832" y="2380488"/>
              <a:ext cx="173736" cy="173735"/>
            </a:xfrm>
            <a:prstGeom prst="rect">
              <a:avLst/>
            </a:prstGeom>
            <a:blipFill>
              <a:blip r:embed="rId5" cstate="print"/>
              <a:stretch>
                <a:fillRect/>
              </a:stretch>
            </a:blipFill>
          </p:spPr>
          <p:txBody>
            <a:bodyPr wrap="square" lIns="0" tIns="0" rIns="0" bIns="0" rtlCol="0"/>
            <a:lstStyle/>
            <a:p>
              <a:endParaRPr sz="2400"/>
            </a:p>
          </p:txBody>
        </p:sp>
        <p:sp>
          <p:nvSpPr>
            <p:cNvPr id="12" name="object 12"/>
            <p:cNvSpPr/>
            <p:nvPr/>
          </p:nvSpPr>
          <p:spPr>
            <a:xfrm>
              <a:off x="169163" y="2321052"/>
              <a:ext cx="7254240" cy="303530"/>
            </a:xfrm>
            <a:custGeom>
              <a:avLst/>
              <a:gdLst/>
              <a:ahLst/>
              <a:cxnLst/>
              <a:rect l="l" t="t" r="r" b="b"/>
              <a:pathLst>
                <a:path w="7254240" h="303530">
                  <a:moveTo>
                    <a:pt x="0" y="50546"/>
                  </a:moveTo>
                  <a:lnTo>
                    <a:pt x="3972" y="30861"/>
                  </a:lnTo>
                  <a:lnTo>
                    <a:pt x="14805" y="14795"/>
                  </a:lnTo>
                  <a:lnTo>
                    <a:pt x="30871" y="3968"/>
                  </a:lnTo>
                  <a:lnTo>
                    <a:pt x="50546" y="0"/>
                  </a:lnTo>
                  <a:lnTo>
                    <a:pt x="7203693" y="0"/>
                  </a:lnTo>
                  <a:lnTo>
                    <a:pt x="7223379" y="3968"/>
                  </a:lnTo>
                  <a:lnTo>
                    <a:pt x="7239444" y="14795"/>
                  </a:lnTo>
                  <a:lnTo>
                    <a:pt x="7250271" y="30861"/>
                  </a:lnTo>
                  <a:lnTo>
                    <a:pt x="7254239" y="50546"/>
                  </a:lnTo>
                  <a:lnTo>
                    <a:pt x="7254239" y="252730"/>
                  </a:lnTo>
                  <a:lnTo>
                    <a:pt x="7250271" y="272415"/>
                  </a:lnTo>
                  <a:lnTo>
                    <a:pt x="7239444" y="288480"/>
                  </a:lnTo>
                  <a:lnTo>
                    <a:pt x="7223379" y="299307"/>
                  </a:lnTo>
                  <a:lnTo>
                    <a:pt x="7203693" y="303275"/>
                  </a:lnTo>
                  <a:lnTo>
                    <a:pt x="50546" y="303275"/>
                  </a:lnTo>
                  <a:lnTo>
                    <a:pt x="30871" y="299307"/>
                  </a:lnTo>
                  <a:lnTo>
                    <a:pt x="14805" y="288480"/>
                  </a:lnTo>
                  <a:lnTo>
                    <a:pt x="3972" y="272415"/>
                  </a:lnTo>
                  <a:lnTo>
                    <a:pt x="0" y="252730"/>
                  </a:lnTo>
                  <a:lnTo>
                    <a:pt x="0" y="50546"/>
                  </a:lnTo>
                  <a:close/>
                </a:path>
              </a:pathLst>
            </a:custGeom>
            <a:ln w="9144">
              <a:solidFill>
                <a:srgbClr val="000000"/>
              </a:solidFill>
              <a:prstDash val="sysDashDot"/>
            </a:ln>
          </p:spPr>
          <p:txBody>
            <a:bodyPr wrap="square" lIns="0" tIns="0" rIns="0" bIns="0" rtlCol="0"/>
            <a:lstStyle/>
            <a:p>
              <a:endParaRPr sz="2400"/>
            </a:p>
          </p:txBody>
        </p:sp>
        <p:sp>
          <p:nvSpPr>
            <p:cNvPr id="13" name="object 13"/>
            <p:cNvSpPr/>
            <p:nvPr/>
          </p:nvSpPr>
          <p:spPr>
            <a:xfrm>
              <a:off x="1496567" y="1927860"/>
              <a:ext cx="624840" cy="196850"/>
            </a:xfrm>
            <a:custGeom>
              <a:avLst/>
              <a:gdLst/>
              <a:ahLst/>
              <a:cxnLst/>
              <a:rect l="l" t="t" r="r" b="b"/>
              <a:pathLst>
                <a:path w="624839" h="196850">
                  <a:moveTo>
                    <a:pt x="592074" y="0"/>
                  </a:moveTo>
                  <a:lnTo>
                    <a:pt x="32765" y="0"/>
                  </a:lnTo>
                  <a:lnTo>
                    <a:pt x="20038" y="2583"/>
                  </a:lnTo>
                  <a:lnTo>
                    <a:pt x="9620" y="9620"/>
                  </a:lnTo>
                  <a:lnTo>
                    <a:pt x="2583" y="20038"/>
                  </a:lnTo>
                  <a:lnTo>
                    <a:pt x="0" y="32765"/>
                  </a:lnTo>
                  <a:lnTo>
                    <a:pt x="0" y="163829"/>
                  </a:lnTo>
                  <a:lnTo>
                    <a:pt x="2583" y="176557"/>
                  </a:lnTo>
                  <a:lnTo>
                    <a:pt x="9620" y="186975"/>
                  </a:lnTo>
                  <a:lnTo>
                    <a:pt x="20038" y="194012"/>
                  </a:lnTo>
                  <a:lnTo>
                    <a:pt x="32765" y="196595"/>
                  </a:lnTo>
                  <a:lnTo>
                    <a:pt x="592074" y="196595"/>
                  </a:lnTo>
                  <a:lnTo>
                    <a:pt x="604801" y="194012"/>
                  </a:lnTo>
                  <a:lnTo>
                    <a:pt x="615219" y="186975"/>
                  </a:lnTo>
                  <a:lnTo>
                    <a:pt x="622256" y="176557"/>
                  </a:lnTo>
                  <a:lnTo>
                    <a:pt x="624839" y="163829"/>
                  </a:lnTo>
                  <a:lnTo>
                    <a:pt x="624839" y="32765"/>
                  </a:lnTo>
                  <a:lnTo>
                    <a:pt x="622256" y="20038"/>
                  </a:lnTo>
                  <a:lnTo>
                    <a:pt x="615219" y="9620"/>
                  </a:lnTo>
                  <a:lnTo>
                    <a:pt x="604801" y="2583"/>
                  </a:lnTo>
                  <a:lnTo>
                    <a:pt x="592074" y="0"/>
                  </a:lnTo>
                  <a:close/>
                </a:path>
              </a:pathLst>
            </a:custGeom>
            <a:solidFill>
              <a:srgbClr val="FFFFFF"/>
            </a:solidFill>
          </p:spPr>
          <p:txBody>
            <a:bodyPr wrap="square" lIns="0" tIns="0" rIns="0" bIns="0" rtlCol="0"/>
            <a:lstStyle/>
            <a:p>
              <a:endParaRPr sz="2400"/>
            </a:p>
          </p:txBody>
        </p:sp>
        <p:sp>
          <p:nvSpPr>
            <p:cNvPr id="14" name="object 14"/>
            <p:cNvSpPr/>
            <p:nvPr/>
          </p:nvSpPr>
          <p:spPr>
            <a:xfrm>
              <a:off x="1496567" y="1927860"/>
              <a:ext cx="624840" cy="196850"/>
            </a:xfrm>
            <a:custGeom>
              <a:avLst/>
              <a:gdLst/>
              <a:ahLst/>
              <a:cxnLst/>
              <a:rect l="l" t="t" r="r" b="b"/>
              <a:pathLst>
                <a:path w="624839" h="196850">
                  <a:moveTo>
                    <a:pt x="0" y="32765"/>
                  </a:moveTo>
                  <a:lnTo>
                    <a:pt x="2583" y="20038"/>
                  </a:lnTo>
                  <a:lnTo>
                    <a:pt x="9620" y="9620"/>
                  </a:lnTo>
                  <a:lnTo>
                    <a:pt x="20038" y="2583"/>
                  </a:lnTo>
                  <a:lnTo>
                    <a:pt x="32765" y="0"/>
                  </a:lnTo>
                  <a:lnTo>
                    <a:pt x="592074" y="0"/>
                  </a:lnTo>
                  <a:lnTo>
                    <a:pt x="604801" y="2583"/>
                  </a:lnTo>
                  <a:lnTo>
                    <a:pt x="615219" y="9620"/>
                  </a:lnTo>
                  <a:lnTo>
                    <a:pt x="622256" y="20038"/>
                  </a:lnTo>
                  <a:lnTo>
                    <a:pt x="624839" y="32765"/>
                  </a:lnTo>
                  <a:lnTo>
                    <a:pt x="624839" y="163829"/>
                  </a:lnTo>
                  <a:lnTo>
                    <a:pt x="622256" y="176557"/>
                  </a:lnTo>
                  <a:lnTo>
                    <a:pt x="615219" y="186975"/>
                  </a:lnTo>
                  <a:lnTo>
                    <a:pt x="604801" y="194012"/>
                  </a:lnTo>
                  <a:lnTo>
                    <a:pt x="592074" y="196595"/>
                  </a:lnTo>
                  <a:lnTo>
                    <a:pt x="32765"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15" name="object 15"/>
          <p:cNvSpPr txBox="1"/>
          <p:nvPr/>
        </p:nvSpPr>
        <p:spPr>
          <a:xfrm>
            <a:off x="2152903" y="2621789"/>
            <a:ext cx="519853" cy="140209"/>
          </a:xfrm>
          <a:prstGeom prst="rect">
            <a:avLst/>
          </a:prstGeom>
        </p:spPr>
        <p:txBody>
          <a:bodyPr vert="horz" wrap="square" lIns="0" tIns="16933" rIns="0" bIns="0" rtlCol="0">
            <a:spAutoFit/>
          </a:bodyPr>
          <a:lstStyle/>
          <a:p>
            <a:pPr marL="16933">
              <a:spcBef>
                <a:spcPts val="133"/>
              </a:spcBef>
            </a:pPr>
            <a:r>
              <a:rPr sz="800" spc="-13" dirty="0">
                <a:latin typeface="Arial"/>
                <a:cs typeface="Arial"/>
              </a:rPr>
              <a:t>Weave-net</a:t>
            </a:r>
            <a:endParaRPr sz="800">
              <a:latin typeface="Arial"/>
              <a:cs typeface="Arial"/>
            </a:endParaRPr>
          </a:p>
        </p:txBody>
      </p:sp>
      <p:grpSp>
        <p:nvGrpSpPr>
          <p:cNvPr id="16" name="object 16"/>
          <p:cNvGrpSpPr/>
          <p:nvPr/>
        </p:nvGrpSpPr>
        <p:grpSpPr>
          <a:xfrm>
            <a:off x="3387006" y="2562013"/>
            <a:ext cx="852593" cy="279400"/>
            <a:chOff x="2540254" y="1921510"/>
            <a:chExt cx="639445" cy="209550"/>
          </a:xfrm>
        </p:grpSpPr>
        <p:sp>
          <p:nvSpPr>
            <p:cNvPr id="17" name="object 17"/>
            <p:cNvSpPr/>
            <p:nvPr/>
          </p:nvSpPr>
          <p:spPr>
            <a:xfrm>
              <a:off x="2546604" y="1927860"/>
              <a:ext cx="626745" cy="196850"/>
            </a:xfrm>
            <a:custGeom>
              <a:avLst/>
              <a:gdLst/>
              <a:ahLst/>
              <a:cxnLst/>
              <a:rect l="l" t="t" r="r" b="b"/>
              <a:pathLst>
                <a:path w="626744" h="196850">
                  <a:moveTo>
                    <a:pt x="593597" y="0"/>
                  </a:moveTo>
                  <a:lnTo>
                    <a:pt x="32765" y="0"/>
                  </a:lnTo>
                  <a:lnTo>
                    <a:pt x="20038" y="2583"/>
                  </a:lnTo>
                  <a:lnTo>
                    <a:pt x="9620" y="9620"/>
                  </a:lnTo>
                  <a:lnTo>
                    <a:pt x="2583" y="20038"/>
                  </a:lnTo>
                  <a:lnTo>
                    <a:pt x="0" y="32765"/>
                  </a:lnTo>
                  <a:lnTo>
                    <a:pt x="0" y="163829"/>
                  </a:lnTo>
                  <a:lnTo>
                    <a:pt x="2583" y="176557"/>
                  </a:lnTo>
                  <a:lnTo>
                    <a:pt x="9620" y="186975"/>
                  </a:lnTo>
                  <a:lnTo>
                    <a:pt x="20038" y="194012"/>
                  </a:lnTo>
                  <a:lnTo>
                    <a:pt x="32765" y="196595"/>
                  </a:lnTo>
                  <a:lnTo>
                    <a:pt x="593597" y="196595"/>
                  </a:lnTo>
                  <a:lnTo>
                    <a:pt x="606325" y="194012"/>
                  </a:lnTo>
                  <a:lnTo>
                    <a:pt x="616743" y="186975"/>
                  </a:lnTo>
                  <a:lnTo>
                    <a:pt x="623780" y="176557"/>
                  </a:lnTo>
                  <a:lnTo>
                    <a:pt x="626363" y="163829"/>
                  </a:lnTo>
                  <a:lnTo>
                    <a:pt x="626363" y="32765"/>
                  </a:lnTo>
                  <a:lnTo>
                    <a:pt x="623780" y="20038"/>
                  </a:lnTo>
                  <a:lnTo>
                    <a:pt x="616743" y="9620"/>
                  </a:lnTo>
                  <a:lnTo>
                    <a:pt x="606325" y="2583"/>
                  </a:lnTo>
                  <a:lnTo>
                    <a:pt x="593597" y="0"/>
                  </a:lnTo>
                  <a:close/>
                </a:path>
              </a:pathLst>
            </a:custGeom>
            <a:solidFill>
              <a:srgbClr val="FFFFFF"/>
            </a:solidFill>
          </p:spPr>
          <p:txBody>
            <a:bodyPr wrap="square" lIns="0" tIns="0" rIns="0" bIns="0" rtlCol="0"/>
            <a:lstStyle/>
            <a:p>
              <a:endParaRPr sz="2400"/>
            </a:p>
          </p:txBody>
        </p:sp>
        <p:sp>
          <p:nvSpPr>
            <p:cNvPr id="18" name="object 18"/>
            <p:cNvSpPr/>
            <p:nvPr/>
          </p:nvSpPr>
          <p:spPr>
            <a:xfrm>
              <a:off x="2546604" y="1927860"/>
              <a:ext cx="626745" cy="196850"/>
            </a:xfrm>
            <a:custGeom>
              <a:avLst/>
              <a:gdLst/>
              <a:ahLst/>
              <a:cxnLst/>
              <a:rect l="l" t="t" r="r" b="b"/>
              <a:pathLst>
                <a:path w="626744" h="196850">
                  <a:moveTo>
                    <a:pt x="0" y="32765"/>
                  </a:moveTo>
                  <a:lnTo>
                    <a:pt x="2583" y="20038"/>
                  </a:lnTo>
                  <a:lnTo>
                    <a:pt x="9620" y="9620"/>
                  </a:lnTo>
                  <a:lnTo>
                    <a:pt x="20038" y="2583"/>
                  </a:lnTo>
                  <a:lnTo>
                    <a:pt x="32765" y="0"/>
                  </a:lnTo>
                  <a:lnTo>
                    <a:pt x="593597" y="0"/>
                  </a:lnTo>
                  <a:lnTo>
                    <a:pt x="606325" y="2583"/>
                  </a:lnTo>
                  <a:lnTo>
                    <a:pt x="616743" y="9620"/>
                  </a:lnTo>
                  <a:lnTo>
                    <a:pt x="623780" y="20038"/>
                  </a:lnTo>
                  <a:lnTo>
                    <a:pt x="626363" y="32765"/>
                  </a:lnTo>
                  <a:lnTo>
                    <a:pt x="626363" y="163829"/>
                  </a:lnTo>
                  <a:lnTo>
                    <a:pt x="623780" y="176557"/>
                  </a:lnTo>
                  <a:lnTo>
                    <a:pt x="616743" y="186975"/>
                  </a:lnTo>
                  <a:lnTo>
                    <a:pt x="606325" y="194012"/>
                  </a:lnTo>
                  <a:lnTo>
                    <a:pt x="593597" y="196595"/>
                  </a:lnTo>
                  <a:lnTo>
                    <a:pt x="32765"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19" name="object 19"/>
          <p:cNvSpPr txBox="1"/>
          <p:nvPr/>
        </p:nvSpPr>
        <p:spPr>
          <a:xfrm>
            <a:off x="3564297" y="2621789"/>
            <a:ext cx="497840" cy="140209"/>
          </a:xfrm>
          <a:prstGeom prst="rect">
            <a:avLst/>
          </a:prstGeom>
        </p:spPr>
        <p:txBody>
          <a:bodyPr vert="horz" wrap="square" lIns="0" tIns="16933" rIns="0" bIns="0" rtlCol="0">
            <a:spAutoFit/>
          </a:bodyPr>
          <a:lstStyle/>
          <a:p>
            <a:pPr marL="16933">
              <a:spcBef>
                <a:spcPts val="133"/>
              </a:spcBef>
            </a:pPr>
            <a:r>
              <a:rPr sz="800" spc="-13" dirty="0">
                <a:latin typeface="Arial"/>
                <a:cs typeface="Arial"/>
              </a:rPr>
              <a:t>weave-net</a:t>
            </a:r>
            <a:endParaRPr sz="800">
              <a:latin typeface="Arial"/>
              <a:cs typeface="Arial"/>
            </a:endParaRPr>
          </a:p>
        </p:txBody>
      </p:sp>
      <p:grpSp>
        <p:nvGrpSpPr>
          <p:cNvPr id="20" name="object 20"/>
          <p:cNvGrpSpPr/>
          <p:nvPr/>
        </p:nvGrpSpPr>
        <p:grpSpPr>
          <a:xfrm>
            <a:off x="4813470" y="2562013"/>
            <a:ext cx="850053" cy="279400"/>
            <a:chOff x="3610102" y="1921510"/>
            <a:chExt cx="637540" cy="209550"/>
          </a:xfrm>
        </p:grpSpPr>
        <p:sp>
          <p:nvSpPr>
            <p:cNvPr id="21" name="object 21"/>
            <p:cNvSpPr/>
            <p:nvPr/>
          </p:nvSpPr>
          <p:spPr>
            <a:xfrm>
              <a:off x="3616452" y="1927860"/>
              <a:ext cx="624840" cy="196850"/>
            </a:xfrm>
            <a:custGeom>
              <a:avLst/>
              <a:gdLst/>
              <a:ahLst/>
              <a:cxnLst/>
              <a:rect l="l" t="t" r="r" b="b"/>
              <a:pathLst>
                <a:path w="624839" h="196850">
                  <a:moveTo>
                    <a:pt x="592074" y="0"/>
                  </a:moveTo>
                  <a:lnTo>
                    <a:pt x="32765" y="0"/>
                  </a:lnTo>
                  <a:lnTo>
                    <a:pt x="20038" y="2583"/>
                  </a:lnTo>
                  <a:lnTo>
                    <a:pt x="9620" y="9620"/>
                  </a:lnTo>
                  <a:lnTo>
                    <a:pt x="2583" y="20038"/>
                  </a:lnTo>
                  <a:lnTo>
                    <a:pt x="0" y="32765"/>
                  </a:lnTo>
                  <a:lnTo>
                    <a:pt x="0" y="163829"/>
                  </a:lnTo>
                  <a:lnTo>
                    <a:pt x="2583" y="176557"/>
                  </a:lnTo>
                  <a:lnTo>
                    <a:pt x="9620" y="186975"/>
                  </a:lnTo>
                  <a:lnTo>
                    <a:pt x="20038" y="194012"/>
                  </a:lnTo>
                  <a:lnTo>
                    <a:pt x="32765" y="196595"/>
                  </a:lnTo>
                  <a:lnTo>
                    <a:pt x="592074" y="196595"/>
                  </a:lnTo>
                  <a:lnTo>
                    <a:pt x="604801" y="194012"/>
                  </a:lnTo>
                  <a:lnTo>
                    <a:pt x="615219" y="186975"/>
                  </a:lnTo>
                  <a:lnTo>
                    <a:pt x="622256" y="176557"/>
                  </a:lnTo>
                  <a:lnTo>
                    <a:pt x="624839" y="163829"/>
                  </a:lnTo>
                  <a:lnTo>
                    <a:pt x="624839" y="32765"/>
                  </a:lnTo>
                  <a:lnTo>
                    <a:pt x="622256" y="20038"/>
                  </a:lnTo>
                  <a:lnTo>
                    <a:pt x="615219" y="9620"/>
                  </a:lnTo>
                  <a:lnTo>
                    <a:pt x="604801" y="2583"/>
                  </a:lnTo>
                  <a:lnTo>
                    <a:pt x="592074" y="0"/>
                  </a:lnTo>
                  <a:close/>
                </a:path>
              </a:pathLst>
            </a:custGeom>
            <a:solidFill>
              <a:srgbClr val="FFFFFF"/>
            </a:solidFill>
          </p:spPr>
          <p:txBody>
            <a:bodyPr wrap="square" lIns="0" tIns="0" rIns="0" bIns="0" rtlCol="0"/>
            <a:lstStyle/>
            <a:p>
              <a:endParaRPr sz="2400"/>
            </a:p>
          </p:txBody>
        </p:sp>
        <p:sp>
          <p:nvSpPr>
            <p:cNvPr id="22" name="object 22"/>
            <p:cNvSpPr/>
            <p:nvPr/>
          </p:nvSpPr>
          <p:spPr>
            <a:xfrm>
              <a:off x="3616452" y="1927860"/>
              <a:ext cx="624840" cy="196850"/>
            </a:xfrm>
            <a:custGeom>
              <a:avLst/>
              <a:gdLst/>
              <a:ahLst/>
              <a:cxnLst/>
              <a:rect l="l" t="t" r="r" b="b"/>
              <a:pathLst>
                <a:path w="624839" h="196850">
                  <a:moveTo>
                    <a:pt x="0" y="32765"/>
                  </a:moveTo>
                  <a:lnTo>
                    <a:pt x="2583" y="20038"/>
                  </a:lnTo>
                  <a:lnTo>
                    <a:pt x="9620" y="9620"/>
                  </a:lnTo>
                  <a:lnTo>
                    <a:pt x="20038" y="2583"/>
                  </a:lnTo>
                  <a:lnTo>
                    <a:pt x="32765" y="0"/>
                  </a:lnTo>
                  <a:lnTo>
                    <a:pt x="592074" y="0"/>
                  </a:lnTo>
                  <a:lnTo>
                    <a:pt x="604801" y="2583"/>
                  </a:lnTo>
                  <a:lnTo>
                    <a:pt x="615219" y="9620"/>
                  </a:lnTo>
                  <a:lnTo>
                    <a:pt x="622256" y="20038"/>
                  </a:lnTo>
                  <a:lnTo>
                    <a:pt x="624839" y="32765"/>
                  </a:lnTo>
                  <a:lnTo>
                    <a:pt x="624839" y="163829"/>
                  </a:lnTo>
                  <a:lnTo>
                    <a:pt x="622256" y="176557"/>
                  </a:lnTo>
                  <a:lnTo>
                    <a:pt x="615219" y="186975"/>
                  </a:lnTo>
                  <a:lnTo>
                    <a:pt x="604801" y="194012"/>
                  </a:lnTo>
                  <a:lnTo>
                    <a:pt x="592074" y="196595"/>
                  </a:lnTo>
                  <a:lnTo>
                    <a:pt x="32765"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23" name="object 23"/>
          <p:cNvSpPr txBox="1"/>
          <p:nvPr/>
        </p:nvSpPr>
        <p:spPr>
          <a:xfrm>
            <a:off x="4989068" y="2621789"/>
            <a:ext cx="497840" cy="140209"/>
          </a:xfrm>
          <a:prstGeom prst="rect">
            <a:avLst/>
          </a:prstGeom>
        </p:spPr>
        <p:txBody>
          <a:bodyPr vert="horz" wrap="square" lIns="0" tIns="16933" rIns="0" bIns="0" rtlCol="0">
            <a:spAutoFit/>
          </a:bodyPr>
          <a:lstStyle/>
          <a:p>
            <a:pPr marL="16933">
              <a:spcBef>
                <a:spcPts val="133"/>
              </a:spcBef>
            </a:pPr>
            <a:r>
              <a:rPr sz="800" spc="-13" dirty="0">
                <a:latin typeface="Arial"/>
                <a:cs typeface="Arial"/>
              </a:rPr>
              <a:t>weave-net</a:t>
            </a:r>
            <a:endParaRPr sz="800">
              <a:latin typeface="Arial"/>
              <a:cs typeface="Arial"/>
            </a:endParaRPr>
          </a:p>
        </p:txBody>
      </p:sp>
      <p:grpSp>
        <p:nvGrpSpPr>
          <p:cNvPr id="24" name="object 24"/>
          <p:cNvGrpSpPr/>
          <p:nvPr/>
        </p:nvGrpSpPr>
        <p:grpSpPr>
          <a:xfrm>
            <a:off x="6213518" y="2562013"/>
            <a:ext cx="850053" cy="279400"/>
            <a:chOff x="4660138" y="1921510"/>
            <a:chExt cx="637540" cy="209550"/>
          </a:xfrm>
        </p:grpSpPr>
        <p:sp>
          <p:nvSpPr>
            <p:cNvPr id="25" name="object 25"/>
            <p:cNvSpPr/>
            <p:nvPr/>
          </p:nvSpPr>
          <p:spPr>
            <a:xfrm>
              <a:off x="4666488" y="1927860"/>
              <a:ext cx="624840" cy="196850"/>
            </a:xfrm>
            <a:custGeom>
              <a:avLst/>
              <a:gdLst/>
              <a:ahLst/>
              <a:cxnLst/>
              <a:rect l="l" t="t" r="r" b="b"/>
              <a:pathLst>
                <a:path w="624839" h="196850">
                  <a:moveTo>
                    <a:pt x="592074" y="0"/>
                  </a:moveTo>
                  <a:lnTo>
                    <a:pt x="32765" y="0"/>
                  </a:lnTo>
                  <a:lnTo>
                    <a:pt x="20038" y="2583"/>
                  </a:lnTo>
                  <a:lnTo>
                    <a:pt x="9620" y="9620"/>
                  </a:lnTo>
                  <a:lnTo>
                    <a:pt x="2583" y="20038"/>
                  </a:lnTo>
                  <a:lnTo>
                    <a:pt x="0" y="32765"/>
                  </a:lnTo>
                  <a:lnTo>
                    <a:pt x="0" y="163829"/>
                  </a:lnTo>
                  <a:lnTo>
                    <a:pt x="2583" y="176557"/>
                  </a:lnTo>
                  <a:lnTo>
                    <a:pt x="9620" y="186975"/>
                  </a:lnTo>
                  <a:lnTo>
                    <a:pt x="20038" y="194012"/>
                  </a:lnTo>
                  <a:lnTo>
                    <a:pt x="32765" y="196595"/>
                  </a:lnTo>
                  <a:lnTo>
                    <a:pt x="592074" y="196595"/>
                  </a:lnTo>
                  <a:lnTo>
                    <a:pt x="604801" y="194012"/>
                  </a:lnTo>
                  <a:lnTo>
                    <a:pt x="615219" y="186975"/>
                  </a:lnTo>
                  <a:lnTo>
                    <a:pt x="622256" y="176557"/>
                  </a:lnTo>
                  <a:lnTo>
                    <a:pt x="624839" y="163829"/>
                  </a:lnTo>
                  <a:lnTo>
                    <a:pt x="624839" y="32765"/>
                  </a:lnTo>
                  <a:lnTo>
                    <a:pt x="622256" y="20038"/>
                  </a:lnTo>
                  <a:lnTo>
                    <a:pt x="615219" y="9620"/>
                  </a:lnTo>
                  <a:lnTo>
                    <a:pt x="604801" y="2583"/>
                  </a:lnTo>
                  <a:lnTo>
                    <a:pt x="592074" y="0"/>
                  </a:lnTo>
                  <a:close/>
                </a:path>
              </a:pathLst>
            </a:custGeom>
            <a:solidFill>
              <a:srgbClr val="FFFFFF"/>
            </a:solidFill>
          </p:spPr>
          <p:txBody>
            <a:bodyPr wrap="square" lIns="0" tIns="0" rIns="0" bIns="0" rtlCol="0"/>
            <a:lstStyle/>
            <a:p>
              <a:endParaRPr sz="2400"/>
            </a:p>
          </p:txBody>
        </p:sp>
        <p:sp>
          <p:nvSpPr>
            <p:cNvPr id="26" name="object 26"/>
            <p:cNvSpPr/>
            <p:nvPr/>
          </p:nvSpPr>
          <p:spPr>
            <a:xfrm>
              <a:off x="4666488" y="1927860"/>
              <a:ext cx="624840" cy="196850"/>
            </a:xfrm>
            <a:custGeom>
              <a:avLst/>
              <a:gdLst/>
              <a:ahLst/>
              <a:cxnLst/>
              <a:rect l="l" t="t" r="r" b="b"/>
              <a:pathLst>
                <a:path w="624839" h="196850">
                  <a:moveTo>
                    <a:pt x="0" y="32765"/>
                  </a:moveTo>
                  <a:lnTo>
                    <a:pt x="2583" y="20038"/>
                  </a:lnTo>
                  <a:lnTo>
                    <a:pt x="9620" y="9620"/>
                  </a:lnTo>
                  <a:lnTo>
                    <a:pt x="20038" y="2583"/>
                  </a:lnTo>
                  <a:lnTo>
                    <a:pt x="32765" y="0"/>
                  </a:lnTo>
                  <a:lnTo>
                    <a:pt x="592074" y="0"/>
                  </a:lnTo>
                  <a:lnTo>
                    <a:pt x="604801" y="2583"/>
                  </a:lnTo>
                  <a:lnTo>
                    <a:pt x="615219" y="9620"/>
                  </a:lnTo>
                  <a:lnTo>
                    <a:pt x="622256" y="20038"/>
                  </a:lnTo>
                  <a:lnTo>
                    <a:pt x="624839" y="32765"/>
                  </a:lnTo>
                  <a:lnTo>
                    <a:pt x="624839" y="163829"/>
                  </a:lnTo>
                  <a:lnTo>
                    <a:pt x="622256" y="176557"/>
                  </a:lnTo>
                  <a:lnTo>
                    <a:pt x="615219" y="186975"/>
                  </a:lnTo>
                  <a:lnTo>
                    <a:pt x="604801" y="194012"/>
                  </a:lnTo>
                  <a:lnTo>
                    <a:pt x="592074" y="196595"/>
                  </a:lnTo>
                  <a:lnTo>
                    <a:pt x="32765"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27" name="object 27"/>
          <p:cNvSpPr txBox="1"/>
          <p:nvPr/>
        </p:nvSpPr>
        <p:spPr>
          <a:xfrm>
            <a:off x="6389961" y="2621789"/>
            <a:ext cx="497840" cy="140209"/>
          </a:xfrm>
          <a:prstGeom prst="rect">
            <a:avLst/>
          </a:prstGeom>
        </p:spPr>
        <p:txBody>
          <a:bodyPr vert="horz" wrap="square" lIns="0" tIns="16933" rIns="0" bIns="0" rtlCol="0">
            <a:spAutoFit/>
          </a:bodyPr>
          <a:lstStyle/>
          <a:p>
            <a:pPr marL="16933">
              <a:spcBef>
                <a:spcPts val="133"/>
              </a:spcBef>
            </a:pPr>
            <a:r>
              <a:rPr sz="800" spc="-13" dirty="0">
                <a:latin typeface="Arial"/>
                <a:cs typeface="Arial"/>
              </a:rPr>
              <a:t>weave-net</a:t>
            </a:r>
            <a:endParaRPr sz="800">
              <a:latin typeface="Arial"/>
              <a:cs typeface="Arial"/>
            </a:endParaRPr>
          </a:p>
        </p:txBody>
      </p:sp>
      <p:grpSp>
        <p:nvGrpSpPr>
          <p:cNvPr id="28" name="object 28"/>
          <p:cNvGrpSpPr/>
          <p:nvPr/>
        </p:nvGrpSpPr>
        <p:grpSpPr>
          <a:xfrm>
            <a:off x="7654205" y="2562013"/>
            <a:ext cx="852593" cy="279400"/>
            <a:chOff x="5740653" y="1921510"/>
            <a:chExt cx="639445" cy="209550"/>
          </a:xfrm>
        </p:grpSpPr>
        <p:sp>
          <p:nvSpPr>
            <p:cNvPr id="29" name="object 29"/>
            <p:cNvSpPr/>
            <p:nvPr/>
          </p:nvSpPr>
          <p:spPr>
            <a:xfrm>
              <a:off x="5747003" y="1927860"/>
              <a:ext cx="626745" cy="196850"/>
            </a:xfrm>
            <a:custGeom>
              <a:avLst/>
              <a:gdLst/>
              <a:ahLst/>
              <a:cxnLst/>
              <a:rect l="l" t="t" r="r" b="b"/>
              <a:pathLst>
                <a:path w="626745" h="196850">
                  <a:moveTo>
                    <a:pt x="593598" y="0"/>
                  </a:moveTo>
                  <a:lnTo>
                    <a:pt x="32766" y="0"/>
                  </a:lnTo>
                  <a:lnTo>
                    <a:pt x="20038" y="2583"/>
                  </a:lnTo>
                  <a:lnTo>
                    <a:pt x="9620" y="9620"/>
                  </a:lnTo>
                  <a:lnTo>
                    <a:pt x="2583" y="20038"/>
                  </a:lnTo>
                  <a:lnTo>
                    <a:pt x="0" y="32765"/>
                  </a:lnTo>
                  <a:lnTo>
                    <a:pt x="0" y="163829"/>
                  </a:lnTo>
                  <a:lnTo>
                    <a:pt x="2583" y="176557"/>
                  </a:lnTo>
                  <a:lnTo>
                    <a:pt x="9620" y="186975"/>
                  </a:lnTo>
                  <a:lnTo>
                    <a:pt x="20038" y="194012"/>
                  </a:lnTo>
                  <a:lnTo>
                    <a:pt x="32766" y="196595"/>
                  </a:lnTo>
                  <a:lnTo>
                    <a:pt x="593598" y="196595"/>
                  </a:lnTo>
                  <a:lnTo>
                    <a:pt x="606325" y="194012"/>
                  </a:lnTo>
                  <a:lnTo>
                    <a:pt x="616743" y="186975"/>
                  </a:lnTo>
                  <a:lnTo>
                    <a:pt x="623780" y="176557"/>
                  </a:lnTo>
                  <a:lnTo>
                    <a:pt x="626363" y="163829"/>
                  </a:lnTo>
                  <a:lnTo>
                    <a:pt x="626363" y="32765"/>
                  </a:lnTo>
                  <a:lnTo>
                    <a:pt x="623780" y="20038"/>
                  </a:lnTo>
                  <a:lnTo>
                    <a:pt x="616743" y="9620"/>
                  </a:lnTo>
                  <a:lnTo>
                    <a:pt x="606325" y="2583"/>
                  </a:lnTo>
                  <a:lnTo>
                    <a:pt x="593598" y="0"/>
                  </a:lnTo>
                  <a:close/>
                </a:path>
              </a:pathLst>
            </a:custGeom>
            <a:solidFill>
              <a:srgbClr val="FFFFFF"/>
            </a:solidFill>
          </p:spPr>
          <p:txBody>
            <a:bodyPr wrap="square" lIns="0" tIns="0" rIns="0" bIns="0" rtlCol="0"/>
            <a:lstStyle/>
            <a:p>
              <a:endParaRPr sz="2400"/>
            </a:p>
          </p:txBody>
        </p:sp>
        <p:sp>
          <p:nvSpPr>
            <p:cNvPr id="30" name="object 30"/>
            <p:cNvSpPr/>
            <p:nvPr/>
          </p:nvSpPr>
          <p:spPr>
            <a:xfrm>
              <a:off x="5747003" y="1927860"/>
              <a:ext cx="626745" cy="196850"/>
            </a:xfrm>
            <a:custGeom>
              <a:avLst/>
              <a:gdLst/>
              <a:ahLst/>
              <a:cxnLst/>
              <a:rect l="l" t="t" r="r" b="b"/>
              <a:pathLst>
                <a:path w="626745" h="196850">
                  <a:moveTo>
                    <a:pt x="0" y="32765"/>
                  </a:moveTo>
                  <a:lnTo>
                    <a:pt x="2583" y="20038"/>
                  </a:lnTo>
                  <a:lnTo>
                    <a:pt x="9620" y="9620"/>
                  </a:lnTo>
                  <a:lnTo>
                    <a:pt x="20038" y="2583"/>
                  </a:lnTo>
                  <a:lnTo>
                    <a:pt x="32766" y="0"/>
                  </a:lnTo>
                  <a:lnTo>
                    <a:pt x="593598" y="0"/>
                  </a:lnTo>
                  <a:lnTo>
                    <a:pt x="606325" y="2583"/>
                  </a:lnTo>
                  <a:lnTo>
                    <a:pt x="616743" y="9620"/>
                  </a:lnTo>
                  <a:lnTo>
                    <a:pt x="623780" y="20038"/>
                  </a:lnTo>
                  <a:lnTo>
                    <a:pt x="626363" y="32765"/>
                  </a:lnTo>
                  <a:lnTo>
                    <a:pt x="626363" y="163829"/>
                  </a:lnTo>
                  <a:lnTo>
                    <a:pt x="623780" y="176557"/>
                  </a:lnTo>
                  <a:lnTo>
                    <a:pt x="616743" y="186975"/>
                  </a:lnTo>
                  <a:lnTo>
                    <a:pt x="606325" y="194012"/>
                  </a:lnTo>
                  <a:lnTo>
                    <a:pt x="593598" y="196595"/>
                  </a:lnTo>
                  <a:lnTo>
                    <a:pt x="32766"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31" name="object 31"/>
          <p:cNvSpPr txBox="1"/>
          <p:nvPr/>
        </p:nvSpPr>
        <p:spPr>
          <a:xfrm>
            <a:off x="7831496" y="2621789"/>
            <a:ext cx="497840" cy="140209"/>
          </a:xfrm>
          <a:prstGeom prst="rect">
            <a:avLst/>
          </a:prstGeom>
        </p:spPr>
        <p:txBody>
          <a:bodyPr vert="horz" wrap="square" lIns="0" tIns="16933" rIns="0" bIns="0" rtlCol="0">
            <a:spAutoFit/>
          </a:bodyPr>
          <a:lstStyle/>
          <a:p>
            <a:pPr marL="16933">
              <a:spcBef>
                <a:spcPts val="133"/>
              </a:spcBef>
            </a:pPr>
            <a:r>
              <a:rPr sz="800" spc="-13" dirty="0">
                <a:latin typeface="Arial"/>
                <a:cs typeface="Arial"/>
              </a:rPr>
              <a:t>weave-net</a:t>
            </a:r>
            <a:endParaRPr sz="800">
              <a:latin typeface="Arial"/>
              <a:cs typeface="Arial"/>
            </a:endParaRPr>
          </a:p>
        </p:txBody>
      </p:sp>
      <p:grpSp>
        <p:nvGrpSpPr>
          <p:cNvPr id="32" name="object 32"/>
          <p:cNvGrpSpPr/>
          <p:nvPr/>
        </p:nvGrpSpPr>
        <p:grpSpPr>
          <a:xfrm>
            <a:off x="9056624" y="2562353"/>
            <a:ext cx="850053" cy="278553"/>
            <a:chOff x="6792468" y="1921764"/>
            <a:chExt cx="637540" cy="208915"/>
          </a:xfrm>
        </p:grpSpPr>
        <p:sp>
          <p:nvSpPr>
            <p:cNvPr id="33" name="object 33"/>
            <p:cNvSpPr/>
            <p:nvPr/>
          </p:nvSpPr>
          <p:spPr>
            <a:xfrm>
              <a:off x="6798564" y="1927860"/>
              <a:ext cx="624840" cy="196850"/>
            </a:xfrm>
            <a:custGeom>
              <a:avLst/>
              <a:gdLst/>
              <a:ahLst/>
              <a:cxnLst/>
              <a:rect l="l" t="t" r="r" b="b"/>
              <a:pathLst>
                <a:path w="624840" h="196850">
                  <a:moveTo>
                    <a:pt x="592074" y="0"/>
                  </a:moveTo>
                  <a:lnTo>
                    <a:pt x="32765" y="0"/>
                  </a:lnTo>
                  <a:lnTo>
                    <a:pt x="20038" y="2583"/>
                  </a:lnTo>
                  <a:lnTo>
                    <a:pt x="9620" y="9620"/>
                  </a:lnTo>
                  <a:lnTo>
                    <a:pt x="2583" y="20038"/>
                  </a:lnTo>
                  <a:lnTo>
                    <a:pt x="0" y="32765"/>
                  </a:lnTo>
                  <a:lnTo>
                    <a:pt x="0" y="163829"/>
                  </a:lnTo>
                  <a:lnTo>
                    <a:pt x="2583" y="176557"/>
                  </a:lnTo>
                  <a:lnTo>
                    <a:pt x="9620" y="186975"/>
                  </a:lnTo>
                  <a:lnTo>
                    <a:pt x="20038" y="194012"/>
                  </a:lnTo>
                  <a:lnTo>
                    <a:pt x="32765" y="196595"/>
                  </a:lnTo>
                  <a:lnTo>
                    <a:pt x="592074" y="196595"/>
                  </a:lnTo>
                  <a:lnTo>
                    <a:pt x="604801" y="194012"/>
                  </a:lnTo>
                  <a:lnTo>
                    <a:pt x="615219" y="186975"/>
                  </a:lnTo>
                  <a:lnTo>
                    <a:pt x="622256" y="176557"/>
                  </a:lnTo>
                  <a:lnTo>
                    <a:pt x="624839" y="163829"/>
                  </a:lnTo>
                  <a:lnTo>
                    <a:pt x="624839" y="32765"/>
                  </a:lnTo>
                  <a:lnTo>
                    <a:pt x="622256" y="20038"/>
                  </a:lnTo>
                  <a:lnTo>
                    <a:pt x="615219" y="9620"/>
                  </a:lnTo>
                  <a:lnTo>
                    <a:pt x="604801" y="2583"/>
                  </a:lnTo>
                  <a:lnTo>
                    <a:pt x="592074" y="0"/>
                  </a:lnTo>
                  <a:close/>
                </a:path>
              </a:pathLst>
            </a:custGeom>
            <a:solidFill>
              <a:srgbClr val="FFFFFF"/>
            </a:solidFill>
          </p:spPr>
          <p:txBody>
            <a:bodyPr wrap="square" lIns="0" tIns="0" rIns="0" bIns="0" rtlCol="0"/>
            <a:lstStyle/>
            <a:p>
              <a:endParaRPr sz="2400"/>
            </a:p>
          </p:txBody>
        </p:sp>
        <p:sp>
          <p:nvSpPr>
            <p:cNvPr id="34" name="object 34"/>
            <p:cNvSpPr/>
            <p:nvPr/>
          </p:nvSpPr>
          <p:spPr>
            <a:xfrm>
              <a:off x="6798564" y="1927860"/>
              <a:ext cx="624840" cy="196850"/>
            </a:xfrm>
            <a:custGeom>
              <a:avLst/>
              <a:gdLst/>
              <a:ahLst/>
              <a:cxnLst/>
              <a:rect l="l" t="t" r="r" b="b"/>
              <a:pathLst>
                <a:path w="624840" h="196850">
                  <a:moveTo>
                    <a:pt x="0" y="32765"/>
                  </a:moveTo>
                  <a:lnTo>
                    <a:pt x="2583" y="20038"/>
                  </a:lnTo>
                  <a:lnTo>
                    <a:pt x="9620" y="9620"/>
                  </a:lnTo>
                  <a:lnTo>
                    <a:pt x="20038" y="2583"/>
                  </a:lnTo>
                  <a:lnTo>
                    <a:pt x="32765" y="0"/>
                  </a:lnTo>
                  <a:lnTo>
                    <a:pt x="592074" y="0"/>
                  </a:lnTo>
                  <a:lnTo>
                    <a:pt x="604801" y="2583"/>
                  </a:lnTo>
                  <a:lnTo>
                    <a:pt x="615219" y="9620"/>
                  </a:lnTo>
                  <a:lnTo>
                    <a:pt x="622256" y="20038"/>
                  </a:lnTo>
                  <a:lnTo>
                    <a:pt x="624839" y="32765"/>
                  </a:lnTo>
                  <a:lnTo>
                    <a:pt x="624839" y="163829"/>
                  </a:lnTo>
                  <a:lnTo>
                    <a:pt x="622256" y="176557"/>
                  </a:lnTo>
                  <a:lnTo>
                    <a:pt x="615219" y="186975"/>
                  </a:lnTo>
                  <a:lnTo>
                    <a:pt x="604801" y="194012"/>
                  </a:lnTo>
                  <a:lnTo>
                    <a:pt x="592074" y="196595"/>
                  </a:lnTo>
                  <a:lnTo>
                    <a:pt x="32765" y="196595"/>
                  </a:lnTo>
                  <a:lnTo>
                    <a:pt x="20038" y="194012"/>
                  </a:lnTo>
                  <a:lnTo>
                    <a:pt x="9620" y="186975"/>
                  </a:lnTo>
                  <a:lnTo>
                    <a:pt x="2583" y="176557"/>
                  </a:lnTo>
                  <a:lnTo>
                    <a:pt x="0" y="163829"/>
                  </a:lnTo>
                  <a:lnTo>
                    <a:pt x="0" y="32765"/>
                  </a:lnTo>
                  <a:close/>
                </a:path>
              </a:pathLst>
            </a:custGeom>
            <a:ln w="12192">
              <a:solidFill>
                <a:srgbClr val="000000"/>
              </a:solidFill>
            </a:ln>
          </p:spPr>
          <p:txBody>
            <a:bodyPr wrap="square" lIns="0" tIns="0" rIns="0" bIns="0" rtlCol="0"/>
            <a:lstStyle/>
            <a:p>
              <a:endParaRPr sz="2400"/>
            </a:p>
          </p:txBody>
        </p:sp>
      </p:grpSp>
      <p:sp>
        <p:nvSpPr>
          <p:cNvPr id="35" name="object 35"/>
          <p:cNvSpPr txBox="1"/>
          <p:nvPr/>
        </p:nvSpPr>
        <p:spPr>
          <a:xfrm>
            <a:off x="9232729" y="2621789"/>
            <a:ext cx="497840" cy="140209"/>
          </a:xfrm>
          <a:prstGeom prst="rect">
            <a:avLst/>
          </a:prstGeom>
        </p:spPr>
        <p:txBody>
          <a:bodyPr vert="horz" wrap="square" lIns="0" tIns="16933" rIns="0" bIns="0" rtlCol="0">
            <a:spAutoFit/>
          </a:bodyPr>
          <a:lstStyle/>
          <a:p>
            <a:pPr marL="16933">
              <a:spcBef>
                <a:spcPts val="133"/>
              </a:spcBef>
            </a:pPr>
            <a:r>
              <a:rPr sz="800" spc="-13" dirty="0">
                <a:latin typeface="Arial"/>
                <a:cs typeface="Arial"/>
              </a:rPr>
              <a:t>weave-net</a:t>
            </a:r>
            <a:endParaRPr sz="800">
              <a:latin typeface="Arial"/>
              <a:cs typeface="Arial"/>
            </a:endParaRPr>
          </a:p>
        </p:txBody>
      </p:sp>
    </p:spTree>
    <p:extLst>
      <p:ext uri="{BB962C8B-B14F-4D97-AF65-F5344CB8AC3E}">
        <p14:creationId xmlns:p14="http://schemas.microsoft.com/office/powerpoint/2010/main" val="13888869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31247"/>
            <a:ext cx="6294967" cy="694207"/>
          </a:xfrm>
          <a:prstGeom prst="rect">
            <a:avLst/>
          </a:prstGeom>
        </p:spPr>
        <p:txBody>
          <a:bodyPr vert="horz" wrap="square" lIns="0" tIns="16933" rIns="0" bIns="0" rtlCol="0" anchor="ctr">
            <a:spAutoFit/>
          </a:bodyPr>
          <a:lstStyle/>
          <a:p>
            <a:pPr marL="16933">
              <a:lnSpc>
                <a:spcPct val="100000"/>
              </a:lnSpc>
              <a:spcBef>
                <a:spcPts val="133"/>
              </a:spcBef>
            </a:pPr>
            <a:r>
              <a:rPr spc="53" dirty="0"/>
              <a:t>DaemonSet</a:t>
            </a:r>
            <a:r>
              <a:rPr spc="-440" dirty="0"/>
              <a:t> </a:t>
            </a:r>
            <a:r>
              <a:rPr spc="67" dirty="0"/>
              <a:t>Definition</a:t>
            </a:r>
            <a:endParaRPr/>
          </a:p>
        </p:txBody>
      </p:sp>
      <p:sp>
        <p:nvSpPr>
          <p:cNvPr id="4" name="object 4"/>
          <p:cNvSpPr txBox="1"/>
          <p:nvPr/>
        </p:nvSpPr>
        <p:spPr>
          <a:xfrm>
            <a:off x="6319520" y="1706881"/>
            <a:ext cx="5598160" cy="3666132"/>
          </a:xfrm>
          <a:prstGeom prst="rect">
            <a:avLst/>
          </a:prstGeom>
          <a:solidFill>
            <a:srgbClr val="2B2B2B"/>
          </a:solidFill>
        </p:spPr>
        <p:txBody>
          <a:bodyPr vert="horz" wrap="square" lIns="0" tIns="53340" rIns="0" bIns="0" rtlCol="0">
            <a:spAutoFit/>
          </a:bodyPr>
          <a:lstStyle/>
          <a:p>
            <a:pPr marL="123610" marR="3331550">
              <a:spcBef>
                <a:spcPts val="420"/>
              </a:spcBef>
            </a:pPr>
            <a:r>
              <a:rPr sz="1467" b="1" spc="-7" dirty="0">
                <a:solidFill>
                  <a:srgbClr val="CC7831"/>
                </a:solidFill>
                <a:latin typeface="Courier New"/>
                <a:cs typeface="Courier New"/>
              </a:rPr>
              <a:t>apiVersion: </a:t>
            </a:r>
            <a:r>
              <a:rPr sz="1467" dirty="0">
                <a:solidFill>
                  <a:srgbClr val="A9B7C5"/>
                </a:solidFill>
                <a:latin typeface="Courier New"/>
                <a:cs typeface="Courier New"/>
              </a:rPr>
              <a:t>apps/v1  </a:t>
            </a:r>
            <a:r>
              <a:rPr sz="1467" b="1" spc="-7" dirty="0">
                <a:solidFill>
                  <a:srgbClr val="CC7831"/>
                </a:solidFill>
                <a:latin typeface="Courier New"/>
                <a:cs typeface="Courier New"/>
              </a:rPr>
              <a:t>kind: </a:t>
            </a:r>
            <a:r>
              <a:rPr sz="1467" spc="-7" dirty="0">
                <a:solidFill>
                  <a:srgbClr val="A9B7C5"/>
                </a:solidFill>
                <a:latin typeface="Courier New"/>
                <a:cs typeface="Courier New"/>
              </a:rPr>
              <a:t>ReplicaSet  </a:t>
            </a:r>
            <a:r>
              <a:rPr sz="1467" b="1" spc="-7" dirty="0">
                <a:solidFill>
                  <a:srgbClr val="CC7831"/>
                </a:solidFill>
                <a:latin typeface="Courier New"/>
                <a:cs typeface="Courier New"/>
              </a:rPr>
              <a:t>metadata:</a:t>
            </a:r>
            <a:endParaRPr sz="1467">
              <a:latin typeface="Courier New"/>
              <a:cs typeface="Courier New"/>
            </a:endParaRPr>
          </a:p>
          <a:p>
            <a:pPr marL="347125"/>
            <a:r>
              <a:rPr sz="1467" b="1" spc="-7" dirty="0">
                <a:solidFill>
                  <a:srgbClr val="CC7831"/>
                </a:solidFill>
                <a:latin typeface="Courier New"/>
                <a:cs typeface="Courier New"/>
              </a:rPr>
              <a:t>name:</a:t>
            </a:r>
            <a:r>
              <a:rPr sz="1467" b="1" spc="7" dirty="0">
                <a:solidFill>
                  <a:srgbClr val="CC7831"/>
                </a:solidFill>
                <a:latin typeface="Courier New"/>
                <a:cs typeface="Courier New"/>
              </a:rPr>
              <a:t> </a:t>
            </a:r>
            <a:r>
              <a:rPr sz="1467" spc="-7" dirty="0">
                <a:solidFill>
                  <a:srgbClr val="A9B7C5"/>
                </a:solidFill>
                <a:latin typeface="Courier New"/>
                <a:cs typeface="Courier New"/>
              </a:rPr>
              <a:t>monitoring-daemon</a:t>
            </a:r>
            <a:endParaRPr sz="1467">
              <a:latin typeface="Courier New"/>
              <a:cs typeface="Courier New"/>
            </a:endParaRPr>
          </a:p>
          <a:p>
            <a:pPr marL="123610"/>
            <a:r>
              <a:rPr sz="1467" b="1" spc="-7" dirty="0">
                <a:solidFill>
                  <a:srgbClr val="CC7831"/>
                </a:solidFill>
                <a:latin typeface="Courier New"/>
                <a:cs typeface="Courier New"/>
              </a:rPr>
              <a:t>spec:</a:t>
            </a:r>
            <a:endParaRPr sz="1467">
              <a:latin typeface="Courier New"/>
              <a:cs typeface="Courier New"/>
            </a:endParaRPr>
          </a:p>
          <a:p>
            <a:pPr marL="347125"/>
            <a:r>
              <a:rPr sz="1467" b="1" dirty="0">
                <a:solidFill>
                  <a:srgbClr val="CC7831"/>
                </a:solidFill>
                <a:latin typeface="Courier New"/>
                <a:cs typeface="Courier New"/>
              </a:rPr>
              <a:t>selector:</a:t>
            </a:r>
            <a:endParaRPr sz="1467">
              <a:latin typeface="Courier New"/>
              <a:cs typeface="Courier New"/>
            </a:endParaRPr>
          </a:p>
          <a:p>
            <a:pPr marL="570639"/>
            <a:r>
              <a:rPr sz="1467" b="1" spc="-7" dirty="0">
                <a:solidFill>
                  <a:srgbClr val="CC7831"/>
                </a:solidFill>
                <a:latin typeface="Courier New"/>
                <a:cs typeface="Courier New"/>
              </a:rPr>
              <a:t>matchLabels:</a:t>
            </a:r>
            <a:endParaRPr sz="1467">
              <a:latin typeface="Courier New"/>
              <a:cs typeface="Courier New"/>
            </a:endParaRPr>
          </a:p>
          <a:p>
            <a:pPr marL="794153"/>
            <a:r>
              <a:rPr sz="1467" b="1" dirty="0">
                <a:solidFill>
                  <a:srgbClr val="CC7831"/>
                </a:solidFill>
                <a:latin typeface="Courier New"/>
                <a:cs typeface="Courier New"/>
              </a:rPr>
              <a:t>app:</a:t>
            </a:r>
            <a:r>
              <a:rPr sz="1467" b="1" spc="-13" dirty="0">
                <a:solidFill>
                  <a:srgbClr val="CC7831"/>
                </a:solidFill>
                <a:latin typeface="Courier New"/>
                <a:cs typeface="Courier New"/>
              </a:rPr>
              <a:t> </a:t>
            </a:r>
            <a:r>
              <a:rPr sz="1467" spc="-7" dirty="0">
                <a:solidFill>
                  <a:srgbClr val="A9B7C5"/>
                </a:solidFill>
                <a:latin typeface="Courier New"/>
                <a:cs typeface="Courier New"/>
              </a:rPr>
              <a:t>monitoring-agent</a:t>
            </a:r>
            <a:endParaRPr sz="1467">
              <a:latin typeface="Courier New"/>
              <a:cs typeface="Courier New"/>
            </a:endParaRPr>
          </a:p>
          <a:p>
            <a:pPr marL="570639" marR="4006327" indent="-224361"/>
            <a:r>
              <a:rPr sz="1467" b="1" spc="-7" dirty="0">
                <a:solidFill>
                  <a:srgbClr val="CC7831"/>
                </a:solidFill>
                <a:latin typeface="Courier New"/>
                <a:cs typeface="Courier New"/>
              </a:rPr>
              <a:t>template:  me</a:t>
            </a:r>
            <a:r>
              <a:rPr sz="1467" b="1" spc="7" dirty="0">
                <a:solidFill>
                  <a:srgbClr val="CC7831"/>
                </a:solidFill>
                <a:latin typeface="Courier New"/>
                <a:cs typeface="Courier New"/>
              </a:rPr>
              <a:t>t</a:t>
            </a:r>
            <a:r>
              <a:rPr sz="1467" b="1" spc="-7" dirty="0">
                <a:solidFill>
                  <a:srgbClr val="CC7831"/>
                </a:solidFill>
                <a:latin typeface="Courier New"/>
                <a:cs typeface="Courier New"/>
              </a:rPr>
              <a:t>adat</a:t>
            </a:r>
            <a:r>
              <a:rPr sz="1467" b="1" spc="7" dirty="0">
                <a:solidFill>
                  <a:srgbClr val="CC7831"/>
                </a:solidFill>
                <a:latin typeface="Courier New"/>
                <a:cs typeface="Courier New"/>
              </a:rPr>
              <a:t>a</a:t>
            </a:r>
            <a:r>
              <a:rPr sz="1467" b="1" dirty="0">
                <a:solidFill>
                  <a:srgbClr val="CC7831"/>
                </a:solidFill>
                <a:latin typeface="Courier New"/>
                <a:cs typeface="Courier New"/>
              </a:rPr>
              <a:t>:</a:t>
            </a:r>
            <a:endParaRPr sz="1467">
              <a:latin typeface="Courier New"/>
              <a:cs typeface="Courier New"/>
            </a:endParaRPr>
          </a:p>
          <a:p>
            <a:pPr marL="794153"/>
            <a:r>
              <a:rPr sz="1467" b="1" dirty="0">
                <a:solidFill>
                  <a:srgbClr val="CC7831"/>
                </a:solidFill>
                <a:latin typeface="Courier New"/>
                <a:cs typeface="Courier New"/>
              </a:rPr>
              <a:t>labels:</a:t>
            </a:r>
            <a:endParaRPr sz="1467">
              <a:latin typeface="Courier New"/>
              <a:cs typeface="Courier New"/>
            </a:endParaRPr>
          </a:p>
          <a:p>
            <a:pPr marL="1019361"/>
            <a:r>
              <a:rPr sz="1467" b="1" spc="-7" dirty="0">
                <a:solidFill>
                  <a:srgbClr val="CC7831"/>
                </a:solidFill>
                <a:latin typeface="Courier New"/>
                <a:cs typeface="Courier New"/>
              </a:rPr>
              <a:t>app:</a:t>
            </a:r>
            <a:r>
              <a:rPr sz="1467" b="1" dirty="0">
                <a:solidFill>
                  <a:srgbClr val="CC7831"/>
                </a:solidFill>
                <a:latin typeface="Courier New"/>
                <a:cs typeface="Courier New"/>
              </a:rPr>
              <a:t> </a:t>
            </a:r>
            <a:r>
              <a:rPr sz="1467" spc="-7" dirty="0">
                <a:solidFill>
                  <a:srgbClr val="A9B7C5"/>
                </a:solidFill>
                <a:latin typeface="Courier New"/>
                <a:cs typeface="Courier New"/>
              </a:rPr>
              <a:t>monitoring-agent</a:t>
            </a:r>
            <a:endParaRPr sz="1467">
              <a:latin typeface="Courier New"/>
              <a:cs typeface="Courier New"/>
            </a:endParaRPr>
          </a:p>
          <a:p>
            <a:pPr marL="570639"/>
            <a:r>
              <a:rPr sz="1467" b="1" spc="-7" dirty="0">
                <a:solidFill>
                  <a:srgbClr val="CC7831"/>
                </a:solidFill>
                <a:latin typeface="Courier New"/>
                <a:cs typeface="Courier New"/>
              </a:rPr>
              <a:t>spec:</a:t>
            </a:r>
            <a:endParaRPr sz="1467">
              <a:latin typeface="Courier New"/>
              <a:cs typeface="Courier New"/>
            </a:endParaRPr>
          </a:p>
          <a:p>
            <a:pPr marL="794153"/>
            <a:r>
              <a:rPr sz="1467" b="1" dirty="0">
                <a:solidFill>
                  <a:srgbClr val="CC7831"/>
                </a:solidFill>
                <a:latin typeface="Courier New"/>
                <a:cs typeface="Courier New"/>
              </a:rPr>
              <a:t>containers:</a:t>
            </a:r>
            <a:endParaRPr sz="1467">
              <a:latin typeface="Courier New"/>
              <a:cs typeface="Courier New"/>
            </a:endParaRPr>
          </a:p>
          <a:p>
            <a:pPr marL="794153"/>
            <a:r>
              <a:rPr sz="1467" dirty="0">
                <a:solidFill>
                  <a:srgbClr val="A9B7C5"/>
                </a:solidFill>
                <a:latin typeface="Courier New"/>
                <a:cs typeface="Courier New"/>
              </a:rPr>
              <a:t>- </a:t>
            </a:r>
            <a:r>
              <a:rPr sz="1467" b="1" dirty="0">
                <a:solidFill>
                  <a:srgbClr val="CC7831"/>
                </a:solidFill>
                <a:latin typeface="Courier New"/>
                <a:cs typeface="Courier New"/>
              </a:rPr>
              <a:t>name:</a:t>
            </a:r>
            <a:r>
              <a:rPr sz="1467" b="1" spc="-7" dirty="0">
                <a:solidFill>
                  <a:srgbClr val="CC7831"/>
                </a:solidFill>
                <a:latin typeface="Courier New"/>
                <a:cs typeface="Courier New"/>
              </a:rPr>
              <a:t> </a:t>
            </a:r>
            <a:r>
              <a:rPr sz="1467" spc="-7" dirty="0">
                <a:solidFill>
                  <a:srgbClr val="A9B7C5"/>
                </a:solidFill>
                <a:latin typeface="Courier New"/>
                <a:cs typeface="Courier New"/>
              </a:rPr>
              <a:t>monitoring-agent</a:t>
            </a:r>
            <a:endParaRPr sz="1467">
              <a:latin typeface="Courier New"/>
              <a:cs typeface="Courier New"/>
            </a:endParaRPr>
          </a:p>
          <a:p>
            <a:pPr marL="1019361"/>
            <a:r>
              <a:rPr sz="1467" b="1" spc="-7" dirty="0">
                <a:solidFill>
                  <a:srgbClr val="CC7831"/>
                </a:solidFill>
                <a:latin typeface="Courier New"/>
                <a:cs typeface="Courier New"/>
              </a:rPr>
              <a:t>image:</a:t>
            </a:r>
            <a:r>
              <a:rPr sz="1467" b="1" spc="-13" dirty="0">
                <a:solidFill>
                  <a:srgbClr val="CC7831"/>
                </a:solidFill>
                <a:latin typeface="Courier New"/>
                <a:cs typeface="Courier New"/>
              </a:rPr>
              <a:t> </a:t>
            </a:r>
            <a:r>
              <a:rPr sz="1467" dirty="0">
                <a:solidFill>
                  <a:srgbClr val="A9B7C5"/>
                </a:solidFill>
                <a:latin typeface="Courier New"/>
                <a:cs typeface="Courier New"/>
              </a:rPr>
              <a:t>monitoring-agent</a:t>
            </a:r>
            <a:endParaRPr sz="1467">
              <a:latin typeface="Courier New"/>
              <a:cs typeface="Courier New"/>
            </a:endParaRPr>
          </a:p>
        </p:txBody>
      </p:sp>
      <p:sp>
        <p:nvSpPr>
          <p:cNvPr id="5" name="object 5"/>
          <p:cNvSpPr txBox="1"/>
          <p:nvPr/>
        </p:nvSpPr>
        <p:spPr>
          <a:xfrm>
            <a:off x="6319521" y="1306577"/>
            <a:ext cx="2806700" cy="333425"/>
          </a:xfrm>
          <a:prstGeom prst="rect">
            <a:avLst/>
          </a:prstGeom>
          <a:solidFill>
            <a:srgbClr val="000000">
              <a:alpha val="50195"/>
            </a:srgbClr>
          </a:solidFill>
        </p:spPr>
        <p:txBody>
          <a:bodyPr vert="horz" wrap="square" lIns="0" tIns="55880" rIns="0" bIns="0" rtlCol="0">
            <a:spAutoFit/>
          </a:bodyPr>
          <a:lstStyle/>
          <a:p>
            <a:pPr marL="123610">
              <a:spcBef>
                <a:spcPts val="440"/>
              </a:spcBef>
            </a:pPr>
            <a:r>
              <a:rPr dirty="0">
                <a:solidFill>
                  <a:srgbClr val="FFFFFF"/>
                </a:solidFill>
                <a:latin typeface="Arial"/>
                <a:cs typeface="Arial"/>
              </a:rPr>
              <a:t>replicaset-definition.yaml</a:t>
            </a:r>
            <a:endParaRPr>
              <a:latin typeface="Arial"/>
              <a:cs typeface="Arial"/>
            </a:endParaRPr>
          </a:p>
        </p:txBody>
      </p:sp>
      <p:sp>
        <p:nvSpPr>
          <p:cNvPr id="6" name="object 6"/>
          <p:cNvSpPr txBox="1"/>
          <p:nvPr/>
        </p:nvSpPr>
        <p:spPr>
          <a:xfrm>
            <a:off x="497840" y="1306577"/>
            <a:ext cx="3214793" cy="333425"/>
          </a:xfrm>
          <a:prstGeom prst="rect">
            <a:avLst/>
          </a:prstGeom>
          <a:solidFill>
            <a:srgbClr val="000000">
              <a:alpha val="50195"/>
            </a:srgbClr>
          </a:solidFill>
        </p:spPr>
        <p:txBody>
          <a:bodyPr vert="horz" wrap="square" lIns="0" tIns="55880" rIns="0" bIns="0" rtlCol="0">
            <a:spAutoFit/>
          </a:bodyPr>
          <a:lstStyle/>
          <a:p>
            <a:pPr marL="121917">
              <a:spcBef>
                <a:spcPts val="440"/>
              </a:spcBef>
            </a:pPr>
            <a:r>
              <a:rPr spc="13" dirty="0">
                <a:solidFill>
                  <a:srgbClr val="FFFFFF"/>
                </a:solidFill>
                <a:latin typeface="Arial"/>
                <a:cs typeface="Arial"/>
              </a:rPr>
              <a:t>daemon-set-definition.yaml</a:t>
            </a:r>
            <a:endParaRPr>
              <a:latin typeface="Arial"/>
              <a:cs typeface="Arial"/>
            </a:endParaRPr>
          </a:p>
        </p:txBody>
      </p:sp>
      <p:sp>
        <p:nvSpPr>
          <p:cNvPr id="7" name="object 7"/>
          <p:cNvSpPr txBox="1"/>
          <p:nvPr/>
        </p:nvSpPr>
        <p:spPr>
          <a:xfrm>
            <a:off x="497839" y="1706880"/>
            <a:ext cx="5598160" cy="3685475"/>
          </a:xfrm>
          <a:prstGeom prst="rect">
            <a:avLst/>
          </a:prstGeom>
          <a:solidFill>
            <a:srgbClr val="2B2B2B"/>
          </a:solidFill>
        </p:spPr>
        <p:txBody>
          <a:bodyPr vert="horz" wrap="square" lIns="0" tIns="60113" rIns="0" bIns="0" rtlCol="0">
            <a:spAutoFit/>
          </a:bodyPr>
          <a:lstStyle/>
          <a:p>
            <a:pPr marL="121917" marR="3273132">
              <a:lnSpc>
                <a:spcPts val="1760"/>
              </a:lnSpc>
              <a:spcBef>
                <a:spcPts val="473"/>
              </a:spcBef>
            </a:pPr>
            <a:r>
              <a:rPr sz="1467" b="1" spc="-7" dirty="0">
                <a:solidFill>
                  <a:srgbClr val="CC7831"/>
                </a:solidFill>
                <a:latin typeface="Courier New"/>
                <a:cs typeface="Courier New"/>
              </a:rPr>
              <a:t>apiVersion:</a:t>
            </a:r>
            <a:r>
              <a:rPr sz="1467" b="1" spc="-147" dirty="0">
                <a:solidFill>
                  <a:srgbClr val="CC7831"/>
                </a:solidFill>
                <a:latin typeface="Courier New"/>
                <a:cs typeface="Courier New"/>
              </a:rPr>
              <a:t> </a:t>
            </a:r>
            <a:r>
              <a:rPr sz="2400" baseline="4629" dirty="0">
                <a:solidFill>
                  <a:srgbClr val="A9B7C5"/>
                </a:solidFill>
                <a:latin typeface="Courier New"/>
                <a:cs typeface="Courier New"/>
              </a:rPr>
              <a:t>apps/v1  </a:t>
            </a:r>
            <a:r>
              <a:rPr sz="1467" b="1" spc="-7" dirty="0">
                <a:solidFill>
                  <a:srgbClr val="CC7831"/>
                </a:solidFill>
                <a:latin typeface="Courier New"/>
                <a:cs typeface="Courier New"/>
              </a:rPr>
              <a:t>kind: </a:t>
            </a:r>
            <a:r>
              <a:rPr sz="1600" dirty="0">
                <a:solidFill>
                  <a:srgbClr val="A9B7C5"/>
                </a:solidFill>
                <a:latin typeface="Courier New"/>
                <a:cs typeface="Courier New"/>
              </a:rPr>
              <a:t>DaemonSet  </a:t>
            </a:r>
            <a:r>
              <a:rPr sz="1467" b="1" spc="-7" dirty="0">
                <a:solidFill>
                  <a:srgbClr val="CC7831"/>
                </a:solidFill>
                <a:latin typeface="Courier New"/>
                <a:cs typeface="Courier New"/>
              </a:rPr>
              <a:t>metadata:</a:t>
            </a:r>
            <a:endParaRPr sz="1467">
              <a:latin typeface="Courier New"/>
              <a:cs typeface="Courier New"/>
            </a:endParaRPr>
          </a:p>
          <a:p>
            <a:pPr marL="345430">
              <a:lnSpc>
                <a:spcPts val="1740"/>
              </a:lnSpc>
            </a:pPr>
            <a:r>
              <a:rPr sz="2200" b="1" spc="-9" baseline="2525" dirty="0">
                <a:solidFill>
                  <a:srgbClr val="CC7831"/>
                </a:solidFill>
                <a:latin typeface="Courier New"/>
                <a:cs typeface="Courier New"/>
              </a:rPr>
              <a:t>name:</a:t>
            </a:r>
            <a:r>
              <a:rPr sz="2200" b="1" spc="-69" baseline="2525" dirty="0">
                <a:solidFill>
                  <a:srgbClr val="CC7831"/>
                </a:solidFill>
                <a:latin typeface="Courier New"/>
                <a:cs typeface="Courier New"/>
              </a:rPr>
              <a:t> </a:t>
            </a:r>
            <a:r>
              <a:rPr sz="1600" dirty="0">
                <a:solidFill>
                  <a:srgbClr val="A9B7C5"/>
                </a:solidFill>
                <a:latin typeface="Courier New"/>
                <a:cs typeface="Courier New"/>
              </a:rPr>
              <a:t>monitoring-daemon</a:t>
            </a:r>
            <a:endParaRPr sz="1600">
              <a:latin typeface="Courier New"/>
              <a:cs typeface="Courier New"/>
            </a:endParaRPr>
          </a:p>
          <a:p>
            <a:pPr marL="121917">
              <a:lnSpc>
                <a:spcPts val="1720"/>
              </a:lnSpc>
            </a:pPr>
            <a:r>
              <a:rPr sz="1467" b="1" spc="-7" dirty="0">
                <a:solidFill>
                  <a:srgbClr val="CC7831"/>
                </a:solidFill>
                <a:latin typeface="Courier New"/>
                <a:cs typeface="Courier New"/>
              </a:rPr>
              <a:t>spec:</a:t>
            </a:r>
            <a:endParaRPr sz="1467">
              <a:latin typeface="Courier New"/>
              <a:cs typeface="Courier New"/>
            </a:endParaRPr>
          </a:p>
          <a:p>
            <a:pPr marL="321725">
              <a:spcBef>
                <a:spcPts val="127"/>
              </a:spcBef>
            </a:pPr>
            <a:r>
              <a:rPr sz="1467" b="1" spc="-7" dirty="0">
                <a:solidFill>
                  <a:srgbClr val="CC7831"/>
                </a:solidFill>
                <a:latin typeface="Courier New"/>
                <a:cs typeface="Courier New"/>
              </a:rPr>
              <a:t>selector:</a:t>
            </a:r>
            <a:endParaRPr sz="1467">
              <a:latin typeface="Courier New"/>
              <a:cs typeface="Courier New"/>
            </a:endParaRPr>
          </a:p>
          <a:p>
            <a:pPr marL="656996"/>
            <a:r>
              <a:rPr sz="1467" b="1" spc="-7" dirty="0">
                <a:solidFill>
                  <a:srgbClr val="CC7831"/>
                </a:solidFill>
                <a:latin typeface="Courier New"/>
                <a:cs typeface="Courier New"/>
              </a:rPr>
              <a:t>matchLabels:</a:t>
            </a:r>
            <a:endParaRPr sz="1467">
              <a:latin typeface="Courier New"/>
              <a:cs typeface="Courier New"/>
            </a:endParaRPr>
          </a:p>
          <a:p>
            <a:pPr marL="880511"/>
            <a:r>
              <a:rPr sz="1467" b="1" dirty="0">
                <a:solidFill>
                  <a:srgbClr val="CC7831"/>
                </a:solidFill>
                <a:latin typeface="Courier New"/>
                <a:cs typeface="Courier New"/>
              </a:rPr>
              <a:t>app:</a:t>
            </a:r>
            <a:r>
              <a:rPr sz="1467" b="1" spc="-13" dirty="0">
                <a:solidFill>
                  <a:srgbClr val="CC7831"/>
                </a:solidFill>
                <a:latin typeface="Courier New"/>
                <a:cs typeface="Courier New"/>
              </a:rPr>
              <a:t> </a:t>
            </a:r>
            <a:r>
              <a:rPr sz="1467" dirty="0">
                <a:solidFill>
                  <a:srgbClr val="A9B7C5"/>
                </a:solidFill>
                <a:latin typeface="Courier New"/>
                <a:cs typeface="Courier New"/>
              </a:rPr>
              <a:t>monitoring-agent</a:t>
            </a:r>
            <a:endParaRPr sz="1467">
              <a:latin typeface="Courier New"/>
              <a:cs typeface="Courier New"/>
            </a:endParaRPr>
          </a:p>
          <a:p>
            <a:pPr marL="433482"/>
            <a:r>
              <a:rPr sz="1467" b="1" dirty="0">
                <a:solidFill>
                  <a:srgbClr val="CC7831"/>
                </a:solidFill>
                <a:latin typeface="Courier New"/>
                <a:cs typeface="Courier New"/>
              </a:rPr>
              <a:t>template:</a:t>
            </a:r>
            <a:endParaRPr sz="1467">
              <a:latin typeface="Courier New"/>
              <a:cs typeface="Courier New"/>
            </a:endParaRPr>
          </a:p>
          <a:p>
            <a:pPr marL="880511" marR="3919969" indent="-223514"/>
            <a:r>
              <a:rPr sz="1467" b="1" spc="-7" dirty="0">
                <a:solidFill>
                  <a:srgbClr val="CC7831"/>
                </a:solidFill>
                <a:latin typeface="Courier New"/>
                <a:cs typeface="Courier New"/>
              </a:rPr>
              <a:t>me</a:t>
            </a:r>
            <a:r>
              <a:rPr sz="1467" b="1" spc="7" dirty="0">
                <a:solidFill>
                  <a:srgbClr val="CC7831"/>
                </a:solidFill>
                <a:latin typeface="Courier New"/>
                <a:cs typeface="Courier New"/>
              </a:rPr>
              <a:t>t</a:t>
            </a:r>
            <a:r>
              <a:rPr sz="1467" b="1" spc="-7" dirty="0">
                <a:solidFill>
                  <a:srgbClr val="CC7831"/>
                </a:solidFill>
                <a:latin typeface="Courier New"/>
                <a:cs typeface="Courier New"/>
              </a:rPr>
              <a:t>adat</a:t>
            </a:r>
            <a:r>
              <a:rPr sz="1467" b="1" spc="7" dirty="0">
                <a:solidFill>
                  <a:srgbClr val="CC7831"/>
                </a:solidFill>
                <a:latin typeface="Courier New"/>
                <a:cs typeface="Courier New"/>
              </a:rPr>
              <a:t>a</a:t>
            </a:r>
            <a:r>
              <a:rPr sz="1467" b="1" dirty="0">
                <a:solidFill>
                  <a:srgbClr val="CC7831"/>
                </a:solidFill>
                <a:latin typeface="Courier New"/>
                <a:cs typeface="Courier New"/>
              </a:rPr>
              <a:t>:  </a:t>
            </a:r>
            <a:r>
              <a:rPr sz="1467" b="1" spc="7" dirty="0">
                <a:solidFill>
                  <a:srgbClr val="CC7831"/>
                </a:solidFill>
                <a:latin typeface="Courier New"/>
                <a:cs typeface="Courier New"/>
              </a:rPr>
              <a:t>l</a:t>
            </a:r>
            <a:r>
              <a:rPr sz="1467" b="1" spc="-7" dirty="0">
                <a:solidFill>
                  <a:srgbClr val="CC7831"/>
                </a:solidFill>
                <a:latin typeface="Courier New"/>
                <a:cs typeface="Courier New"/>
              </a:rPr>
              <a:t>abel</a:t>
            </a:r>
            <a:r>
              <a:rPr sz="1467" b="1" spc="7" dirty="0">
                <a:solidFill>
                  <a:srgbClr val="CC7831"/>
                </a:solidFill>
                <a:latin typeface="Courier New"/>
                <a:cs typeface="Courier New"/>
              </a:rPr>
              <a:t>s</a:t>
            </a:r>
            <a:r>
              <a:rPr sz="1467" b="1" dirty="0">
                <a:solidFill>
                  <a:srgbClr val="CC7831"/>
                </a:solidFill>
                <a:latin typeface="Courier New"/>
                <a:cs typeface="Courier New"/>
              </a:rPr>
              <a:t>:</a:t>
            </a:r>
            <a:endParaRPr sz="1467">
              <a:latin typeface="Courier New"/>
              <a:cs typeface="Courier New"/>
            </a:endParaRPr>
          </a:p>
          <a:p>
            <a:pPr marL="1105719"/>
            <a:r>
              <a:rPr sz="1467" b="1" spc="-7" dirty="0">
                <a:solidFill>
                  <a:srgbClr val="CC7831"/>
                </a:solidFill>
                <a:latin typeface="Courier New"/>
                <a:cs typeface="Courier New"/>
              </a:rPr>
              <a:t>app:</a:t>
            </a:r>
            <a:r>
              <a:rPr sz="1467" b="1" dirty="0">
                <a:solidFill>
                  <a:srgbClr val="CC7831"/>
                </a:solidFill>
                <a:latin typeface="Courier New"/>
                <a:cs typeface="Courier New"/>
              </a:rPr>
              <a:t> </a:t>
            </a:r>
            <a:r>
              <a:rPr sz="1467" spc="-7" dirty="0">
                <a:solidFill>
                  <a:srgbClr val="A9B7C5"/>
                </a:solidFill>
                <a:latin typeface="Courier New"/>
                <a:cs typeface="Courier New"/>
              </a:rPr>
              <a:t>monitoring-agent</a:t>
            </a:r>
            <a:endParaRPr sz="1467">
              <a:latin typeface="Courier New"/>
              <a:cs typeface="Courier New"/>
            </a:endParaRPr>
          </a:p>
          <a:p>
            <a:pPr marL="656996"/>
            <a:r>
              <a:rPr sz="1467" b="1" spc="-7" dirty="0">
                <a:solidFill>
                  <a:srgbClr val="CC7831"/>
                </a:solidFill>
                <a:latin typeface="Courier New"/>
                <a:cs typeface="Courier New"/>
              </a:rPr>
              <a:t>spec:</a:t>
            </a:r>
            <a:endParaRPr sz="1467">
              <a:latin typeface="Courier New"/>
              <a:cs typeface="Courier New"/>
            </a:endParaRPr>
          </a:p>
          <a:p>
            <a:pPr marL="880511"/>
            <a:r>
              <a:rPr sz="1467" b="1" dirty="0">
                <a:solidFill>
                  <a:srgbClr val="CC7831"/>
                </a:solidFill>
                <a:latin typeface="Courier New"/>
                <a:cs typeface="Courier New"/>
              </a:rPr>
              <a:t>containers:</a:t>
            </a:r>
            <a:endParaRPr sz="1467">
              <a:latin typeface="Courier New"/>
              <a:cs typeface="Courier New"/>
            </a:endParaRPr>
          </a:p>
          <a:p>
            <a:pPr marL="880511"/>
            <a:r>
              <a:rPr sz="1467" dirty="0">
                <a:solidFill>
                  <a:srgbClr val="A9B7C5"/>
                </a:solidFill>
                <a:latin typeface="Courier New"/>
                <a:cs typeface="Courier New"/>
              </a:rPr>
              <a:t>- </a:t>
            </a:r>
            <a:r>
              <a:rPr sz="1467" b="1" dirty="0">
                <a:solidFill>
                  <a:srgbClr val="CC7831"/>
                </a:solidFill>
                <a:latin typeface="Courier New"/>
                <a:cs typeface="Courier New"/>
              </a:rPr>
              <a:t>name:</a:t>
            </a:r>
            <a:r>
              <a:rPr sz="1467" b="1" spc="-13" dirty="0">
                <a:solidFill>
                  <a:srgbClr val="CC7831"/>
                </a:solidFill>
                <a:latin typeface="Courier New"/>
                <a:cs typeface="Courier New"/>
              </a:rPr>
              <a:t> </a:t>
            </a:r>
            <a:r>
              <a:rPr sz="1467" dirty="0">
                <a:solidFill>
                  <a:srgbClr val="A9B7C5"/>
                </a:solidFill>
                <a:latin typeface="Courier New"/>
                <a:cs typeface="Courier New"/>
              </a:rPr>
              <a:t>monitoring-agent</a:t>
            </a:r>
            <a:endParaRPr sz="1467">
              <a:latin typeface="Courier New"/>
              <a:cs typeface="Courier New"/>
            </a:endParaRPr>
          </a:p>
          <a:p>
            <a:pPr marL="1105719">
              <a:spcBef>
                <a:spcPts val="33"/>
              </a:spcBef>
            </a:pPr>
            <a:r>
              <a:rPr sz="1467" b="1" spc="-7" dirty="0">
                <a:solidFill>
                  <a:srgbClr val="CC7831"/>
                </a:solidFill>
                <a:latin typeface="Courier New"/>
                <a:cs typeface="Courier New"/>
              </a:rPr>
              <a:t>image:</a:t>
            </a:r>
            <a:r>
              <a:rPr sz="1467" b="1" spc="-13" dirty="0">
                <a:solidFill>
                  <a:srgbClr val="CC7831"/>
                </a:solidFill>
                <a:latin typeface="Courier New"/>
                <a:cs typeface="Courier New"/>
              </a:rPr>
              <a:t> </a:t>
            </a:r>
            <a:r>
              <a:rPr sz="1467" dirty="0">
                <a:solidFill>
                  <a:srgbClr val="A9B7C5"/>
                </a:solidFill>
                <a:latin typeface="Courier New"/>
                <a:cs typeface="Courier New"/>
              </a:rPr>
              <a:t>monitoring-agent</a:t>
            </a:r>
            <a:endParaRPr sz="1467">
              <a:latin typeface="Courier New"/>
              <a:cs typeface="Courier New"/>
            </a:endParaRPr>
          </a:p>
        </p:txBody>
      </p:sp>
      <p:grpSp>
        <p:nvGrpSpPr>
          <p:cNvPr id="8" name="object 8"/>
          <p:cNvGrpSpPr/>
          <p:nvPr/>
        </p:nvGrpSpPr>
        <p:grpSpPr>
          <a:xfrm>
            <a:off x="400303" y="5799328"/>
            <a:ext cx="5834380" cy="579120"/>
            <a:chOff x="300227" y="4349496"/>
            <a:chExt cx="4375785" cy="434340"/>
          </a:xfrm>
        </p:grpSpPr>
        <p:sp>
          <p:nvSpPr>
            <p:cNvPr id="9" name="object 9"/>
            <p:cNvSpPr/>
            <p:nvPr/>
          </p:nvSpPr>
          <p:spPr>
            <a:xfrm>
              <a:off x="300227" y="4349496"/>
              <a:ext cx="4375404" cy="388620"/>
            </a:xfrm>
            <a:prstGeom prst="rect">
              <a:avLst/>
            </a:prstGeom>
            <a:blipFill>
              <a:blip r:embed="rId2" cstate="print"/>
              <a:stretch>
                <a:fillRect/>
              </a:stretch>
            </a:blipFill>
          </p:spPr>
          <p:txBody>
            <a:bodyPr wrap="square" lIns="0" tIns="0" rIns="0" bIns="0" rtlCol="0"/>
            <a:lstStyle/>
            <a:p>
              <a:endParaRPr sz="2400"/>
            </a:p>
          </p:txBody>
        </p:sp>
        <p:sp>
          <p:nvSpPr>
            <p:cNvPr id="10" name="object 10"/>
            <p:cNvSpPr/>
            <p:nvPr/>
          </p:nvSpPr>
          <p:spPr>
            <a:xfrm>
              <a:off x="467867" y="4349496"/>
              <a:ext cx="4000500" cy="434340"/>
            </a:xfrm>
            <a:prstGeom prst="rect">
              <a:avLst/>
            </a:prstGeom>
            <a:blipFill>
              <a:blip r:embed="rId3" cstate="print"/>
              <a:stretch>
                <a:fillRect/>
              </a:stretch>
            </a:blipFill>
          </p:spPr>
          <p:txBody>
            <a:bodyPr wrap="square" lIns="0" tIns="0" rIns="0" bIns="0" rtlCol="0"/>
            <a:lstStyle/>
            <a:p>
              <a:endParaRPr sz="2400"/>
            </a:p>
          </p:txBody>
        </p:sp>
        <p:sp>
          <p:nvSpPr>
            <p:cNvPr id="11" name="object 11"/>
            <p:cNvSpPr/>
            <p:nvPr/>
          </p:nvSpPr>
          <p:spPr>
            <a:xfrm>
              <a:off x="359663" y="4389120"/>
              <a:ext cx="4261485" cy="276225"/>
            </a:xfrm>
            <a:custGeom>
              <a:avLst/>
              <a:gdLst/>
              <a:ahLst/>
              <a:cxnLst/>
              <a:rect l="l" t="t" r="r" b="b"/>
              <a:pathLst>
                <a:path w="4261485" h="276225">
                  <a:moveTo>
                    <a:pt x="4261104" y="0"/>
                  </a:moveTo>
                  <a:lnTo>
                    <a:pt x="0" y="0"/>
                  </a:lnTo>
                  <a:lnTo>
                    <a:pt x="0" y="275843"/>
                  </a:lnTo>
                  <a:lnTo>
                    <a:pt x="4261104" y="275843"/>
                  </a:lnTo>
                  <a:lnTo>
                    <a:pt x="4261104" y="0"/>
                  </a:lnTo>
                  <a:close/>
                </a:path>
              </a:pathLst>
            </a:custGeom>
            <a:solidFill>
              <a:srgbClr val="404040"/>
            </a:solidFill>
          </p:spPr>
          <p:txBody>
            <a:bodyPr wrap="square" lIns="0" tIns="0" rIns="0" bIns="0" rtlCol="0"/>
            <a:lstStyle/>
            <a:p>
              <a:endParaRPr sz="2400"/>
            </a:p>
          </p:txBody>
        </p:sp>
      </p:grpSp>
      <p:sp>
        <p:nvSpPr>
          <p:cNvPr id="12" name="object 12"/>
          <p:cNvSpPr txBox="1"/>
          <p:nvPr/>
        </p:nvSpPr>
        <p:spPr>
          <a:xfrm>
            <a:off x="479551" y="5852160"/>
            <a:ext cx="5681980" cy="298373"/>
          </a:xfrm>
          <a:prstGeom prst="rect">
            <a:avLst/>
          </a:prstGeom>
        </p:spPr>
        <p:txBody>
          <a:bodyPr vert="horz" wrap="square" lIns="0" tIns="51647" rIns="0" bIns="0" rtlCol="0">
            <a:spAutoFit/>
          </a:bodyPr>
          <a:lstStyle/>
          <a:p>
            <a:pPr marL="345430">
              <a:spcBef>
                <a:spcPts val="407"/>
              </a:spcBef>
            </a:pPr>
            <a:r>
              <a:rPr sz="1600" spc="152" dirty="0">
                <a:solidFill>
                  <a:srgbClr val="D9D9D9"/>
                </a:solidFill>
                <a:latin typeface="Arial"/>
                <a:cs typeface="Arial"/>
              </a:rPr>
              <a:t>kubectl </a:t>
            </a:r>
            <a:r>
              <a:rPr sz="1600" spc="140" dirty="0">
                <a:solidFill>
                  <a:srgbClr val="D9D9D9"/>
                </a:solidFill>
                <a:latin typeface="Arial"/>
                <a:cs typeface="Arial"/>
              </a:rPr>
              <a:t>create </a:t>
            </a:r>
            <a:r>
              <a:rPr sz="1600" spc="213" dirty="0">
                <a:solidFill>
                  <a:srgbClr val="D9D9D9"/>
                </a:solidFill>
                <a:latin typeface="Arial"/>
                <a:cs typeface="Arial"/>
              </a:rPr>
              <a:t>–f</a:t>
            </a:r>
            <a:r>
              <a:rPr sz="1600" spc="-167" dirty="0">
                <a:solidFill>
                  <a:srgbClr val="D9D9D9"/>
                </a:solidFill>
                <a:latin typeface="Arial"/>
                <a:cs typeface="Arial"/>
              </a:rPr>
              <a:t> </a:t>
            </a:r>
            <a:r>
              <a:rPr sz="1600" spc="140" dirty="0">
                <a:solidFill>
                  <a:srgbClr val="D9D9D9"/>
                </a:solidFill>
                <a:latin typeface="Arial"/>
                <a:cs typeface="Arial"/>
              </a:rPr>
              <a:t>daemon-set-definition.yaml</a:t>
            </a:r>
            <a:endParaRPr sz="1600" dirty="0">
              <a:latin typeface="Arial"/>
              <a:cs typeface="Arial"/>
            </a:endParaRPr>
          </a:p>
        </p:txBody>
      </p:sp>
      <p:grpSp>
        <p:nvGrpSpPr>
          <p:cNvPr id="13" name="object 13"/>
          <p:cNvGrpSpPr/>
          <p:nvPr/>
        </p:nvGrpSpPr>
        <p:grpSpPr>
          <a:xfrm>
            <a:off x="479553" y="6219942"/>
            <a:ext cx="8278706" cy="329353"/>
            <a:chOff x="359664" y="4664963"/>
            <a:chExt cx="6209030" cy="247015"/>
          </a:xfrm>
        </p:grpSpPr>
        <p:sp>
          <p:nvSpPr>
            <p:cNvPr id="15" name="object 15"/>
            <p:cNvSpPr/>
            <p:nvPr/>
          </p:nvSpPr>
          <p:spPr>
            <a:xfrm>
              <a:off x="359664" y="4664963"/>
              <a:ext cx="6209030" cy="247015"/>
            </a:xfrm>
            <a:custGeom>
              <a:avLst/>
              <a:gdLst/>
              <a:ahLst/>
              <a:cxnLst/>
              <a:rect l="l" t="t" r="r" b="b"/>
              <a:pathLst>
                <a:path w="6209030" h="247014">
                  <a:moveTo>
                    <a:pt x="6208776" y="0"/>
                  </a:moveTo>
                  <a:lnTo>
                    <a:pt x="0" y="0"/>
                  </a:lnTo>
                  <a:lnTo>
                    <a:pt x="0" y="246888"/>
                  </a:lnTo>
                  <a:lnTo>
                    <a:pt x="6208776" y="246888"/>
                  </a:lnTo>
                  <a:lnTo>
                    <a:pt x="6208776" y="0"/>
                  </a:lnTo>
                  <a:close/>
                </a:path>
              </a:pathLst>
            </a:custGeom>
            <a:solidFill>
              <a:srgbClr val="000000"/>
            </a:solidFill>
          </p:spPr>
          <p:txBody>
            <a:bodyPr wrap="square" lIns="0" tIns="0" rIns="0" bIns="0" rtlCol="0"/>
            <a:lstStyle/>
            <a:p>
              <a:endParaRPr sz="2400"/>
            </a:p>
          </p:txBody>
        </p:sp>
        <p:sp>
          <p:nvSpPr>
            <p:cNvPr id="16" name="object 16"/>
            <p:cNvSpPr/>
            <p:nvPr/>
          </p:nvSpPr>
          <p:spPr>
            <a:xfrm>
              <a:off x="359664" y="4664963"/>
              <a:ext cx="6209030" cy="247015"/>
            </a:xfrm>
            <a:custGeom>
              <a:avLst/>
              <a:gdLst/>
              <a:ahLst/>
              <a:cxnLst/>
              <a:rect l="l" t="t" r="r" b="b"/>
              <a:pathLst>
                <a:path w="6209030" h="247014">
                  <a:moveTo>
                    <a:pt x="0" y="246888"/>
                  </a:moveTo>
                  <a:lnTo>
                    <a:pt x="6208776" y="246888"/>
                  </a:lnTo>
                  <a:lnTo>
                    <a:pt x="6208776" y="0"/>
                  </a:lnTo>
                  <a:lnTo>
                    <a:pt x="0" y="0"/>
                  </a:lnTo>
                  <a:lnTo>
                    <a:pt x="0" y="246888"/>
                  </a:lnTo>
                  <a:close/>
                </a:path>
              </a:pathLst>
            </a:custGeom>
            <a:ln w="12192">
              <a:solidFill>
                <a:srgbClr val="000000"/>
              </a:solidFill>
            </a:ln>
          </p:spPr>
          <p:txBody>
            <a:bodyPr wrap="square" lIns="0" tIns="0" rIns="0" bIns="0" rtlCol="0"/>
            <a:lstStyle/>
            <a:p>
              <a:endParaRPr sz="2400"/>
            </a:p>
          </p:txBody>
        </p:sp>
      </p:grpSp>
      <p:sp>
        <p:nvSpPr>
          <p:cNvPr id="17" name="object 17"/>
          <p:cNvSpPr txBox="1"/>
          <p:nvPr/>
        </p:nvSpPr>
        <p:spPr>
          <a:xfrm>
            <a:off x="479551" y="6219953"/>
            <a:ext cx="8287173" cy="259837"/>
          </a:xfrm>
          <a:prstGeom prst="rect">
            <a:avLst/>
          </a:prstGeom>
        </p:spPr>
        <p:txBody>
          <a:bodyPr vert="horz" wrap="square" lIns="0" tIns="54187" rIns="0" bIns="0" rtlCol="0">
            <a:spAutoFit/>
          </a:bodyPr>
          <a:lstStyle/>
          <a:p>
            <a:pPr marL="121917">
              <a:spcBef>
                <a:spcPts val="427"/>
              </a:spcBef>
            </a:pPr>
            <a:r>
              <a:rPr sz="1333" spc="20" dirty="0">
                <a:solidFill>
                  <a:srgbClr val="FFFFFF"/>
                </a:solidFill>
                <a:latin typeface="Arial"/>
                <a:cs typeface="Arial"/>
              </a:rPr>
              <a:t>daemon-set</a:t>
            </a:r>
            <a:r>
              <a:rPr sz="1333" spc="360" dirty="0">
                <a:solidFill>
                  <a:srgbClr val="FFFFFF"/>
                </a:solidFill>
                <a:latin typeface="Arial"/>
                <a:cs typeface="Arial"/>
              </a:rPr>
              <a:t> </a:t>
            </a:r>
            <a:r>
              <a:rPr sz="1333" spc="47" dirty="0">
                <a:solidFill>
                  <a:srgbClr val="FFFFFF"/>
                </a:solidFill>
                <a:latin typeface="Arial"/>
                <a:cs typeface="Arial"/>
              </a:rPr>
              <a:t>Created</a:t>
            </a:r>
            <a:endParaRPr sz="1333">
              <a:latin typeface="Arial"/>
              <a:cs typeface="Arial"/>
            </a:endParaRPr>
          </a:p>
        </p:txBody>
      </p:sp>
    </p:spTree>
    <p:extLst>
      <p:ext uri="{BB962C8B-B14F-4D97-AF65-F5344CB8AC3E}">
        <p14:creationId xmlns:p14="http://schemas.microsoft.com/office/powerpoint/2010/main" val="1714440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31247"/>
            <a:ext cx="5204460" cy="694207"/>
          </a:xfrm>
          <a:prstGeom prst="rect">
            <a:avLst/>
          </a:prstGeom>
        </p:spPr>
        <p:txBody>
          <a:bodyPr vert="horz" wrap="square" lIns="0" tIns="16933" rIns="0" bIns="0" rtlCol="0" anchor="ctr">
            <a:spAutoFit/>
          </a:bodyPr>
          <a:lstStyle/>
          <a:p>
            <a:pPr marL="16933">
              <a:lnSpc>
                <a:spcPct val="100000"/>
              </a:lnSpc>
              <a:spcBef>
                <a:spcPts val="133"/>
              </a:spcBef>
            </a:pPr>
            <a:r>
              <a:rPr spc="140" dirty="0"/>
              <a:t>View</a:t>
            </a:r>
            <a:r>
              <a:rPr spc="-420" dirty="0"/>
              <a:t> </a:t>
            </a:r>
            <a:r>
              <a:rPr spc="40" dirty="0"/>
              <a:t>DaemonSets</a:t>
            </a:r>
            <a:endParaRPr/>
          </a:p>
        </p:txBody>
      </p:sp>
      <p:grpSp>
        <p:nvGrpSpPr>
          <p:cNvPr id="4" name="object 4"/>
          <p:cNvGrpSpPr/>
          <p:nvPr/>
        </p:nvGrpSpPr>
        <p:grpSpPr>
          <a:xfrm>
            <a:off x="745745" y="1373632"/>
            <a:ext cx="5834380" cy="579120"/>
            <a:chOff x="559308" y="1030224"/>
            <a:chExt cx="4375785" cy="434340"/>
          </a:xfrm>
        </p:grpSpPr>
        <p:sp>
          <p:nvSpPr>
            <p:cNvPr id="5" name="object 5"/>
            <p:cNvSpPr/>
            <p:nvPr/>
          </p:nvSpPr>
          <p:spPr>
            <a:xfrm>
              <a:off x="559308" y="1030224"/>
              <a:ext cx="4375404" cy="388620"/>
            </a:xfrm>
            <a:prstGeom prst="rect">
              <a:avLst/>
            </a:prstGeom>
            <a:blipFill>
              <a:blip r:embed="rId2" cstate="print"/>
              <a:stretch>
                <a:fillRect/>
              </a:stretch>
            </a:blipFill>
          </p:spPr>
          <p:txBody>
            <a:bodyPr wrap="square" lIns="0" tIns="0" rIns="0" bIns="0" rtlCol="0"/>
            <a:lstStyle/>
            <a:p>
              <a:endParaRPr sz="2400"/>
            </a:p>
          </p:txBody>
        </p:sp>
        <p:sp>
          <p:nvSpPr>
            <p:cNvPr id="6" name="object 6"/>
            <p:cNvSpPr/>
            <p:nvPr/>
          </p:nvSpPr>
          <p:spPr>
            <a:xfrm>
              <a:off x="726948" y="1030224"/>
              <a:ext cx="2148840" cy="434339"/>
            </a:xfrm>
            <a:prstGeom prst="rect">
              <a:avLst/>
            </a:prstGeom>
            <a:blipFill>
              <a:blip r:embed="rId3" cstate="print"/>
              <a:stretch>
                <a:fillRect/>
              </a:stretch>
            </a:blipFill>
          </p:spPr>
          <p:txBody>
            <a:bodyPr wrap="square" lIns="0" tIns="0" rIns="0" bIns="0" rtlCol="0"/>
            <a:lstStyle/>
            <a:p>
              <a:endParaRPr sz="2400"/>
            </a:p>
          </p:txBody>
        </p:sp>
        <p:sp>
          <p:nvSpPr>
            <p:cNvPr id="7" name="object 7"/>
            <p:cNvSpPr/>
            <p:nvPr/>
          </p:nvSpPr>
          <p:spPr>
            <a:xfrm>
              <a:off x="618744" y="1069848"/>
              <a:ext cx="4261485" cy="276225"/>
            </a:xfrm>
            <a:custGeom>
              <a:avLst/>
              <a:gdLst/>
              <a:ahLst/>
              <a:cxnLst/>
              <a:rect l="l" t="t" r="r" b="b"/>
              <a:pathLst>
                <a:path w="4261485" h="276225">
                  <a:moveTo>
                    <a:pt x="4261104" y="0"/>
                  </a:moveTo>
                  <a:lnTo>
                    <a:pt x="0" y="0"/>
                  </a:lnTo>
                  <a:lnTo>
                    <a:pt x="0" y="275843"/>
                  </a:lnTo>
                  <a:lnTo>
                    <a:pt x="4261104" y="275843"/>
                  </a:lnTo>
                  <a:lnTo>
                    <a:pt x="4261104" y="0"/>
                  </a:lnTo>
                  <a:close/>
                </a:path>
              </a:pathLst>
            </a:custGeom>
            <a:solidFill>
              <a:srgbClr val="404040"/>
            </a:solidFill>
          </p:spPr>
          <p:txBody>
            <a:bodyPr wrap="square" lIns="0" tIns="0" rIns="0" bIns="0" rtlCol="0"/>
            <a:lstStyle/>
            <a:p>
              <a:endParaRPr sz="2400"/>
            </a:p>
          </p:txBody>
        </p:sp>
      </p:grpSp>
      <p:sp>
        <p:nvSpPr>
          <p:cNvPr id="8" name="object 8"/>
          <p:cNvSpPr txBox="1"/>
          <p:nvPr/>
        </p:nvSpPr>
        <p:spPr>
          <a:xfrm>
            <a:off x="1153093" y="1459993"/>
            <a:ext cx="2501052" cy="263320"/>
          </a:xfrm>
          <a:prstGeom prst="rect">
            <a:avLst/>
          </a:prstGeom>
        </p:spPr>
        <p:txBody>
          <a:bodyPr vert="horz" wrap="square" lIns="0" tIns="16933" rIns="0" bIns="0" rtlCol="0">
            <a:spAutoFit/>
          </a:bodyPr>
          <a:lstStyle/>
          <a:p>
            <a:pPr marL="16933">
              <a:spcBef>
                <a:spcPts val="133"/>
              </a:spcBef>
            </a:pPr>
            <a:r>
              <a:rPr sz="1600" spc="152" dirty="0">
                <a:solidFill>
                  <a:srgbClr val="D9D9D9"/>
                </a:solidFill>
                <a:latin typeface="Arial"/>
                <a:cs typeface="Arial"/>
              </a:rPr>
              <a:t>kubectl </a:t>
            </a:r>
            <a:r>
              <a:rPr sz="1600" spc="140" dirty="0">
                <a:solidFill>
                  <a:srgbClr val="D9D9D9"/>
                </a:solidFill>
                <a:latin typeface="Arial"/>
                <a:cs typeface="Arial"/>
              </a:rPr>
              <a:t>get</a:t>
            </a:r>
            <a:r>
              <a:rPr sz="1600" spc="60" dirty="0">
                <a:solidFill>
                  <a:srgbClr val="D9D9D9"/>
                </a:solidFill>
                <a:latin typeface="Arial"/>
                <a:cs typeface="Arial"/>
              </a:rPr>
              <a:t> </a:t>
            </a:r>
            <a:r>
              <a:rPr sz="1600" spc="7" dirty="0">
                <a:solidFill>
                  <a:srgbClr val="D9D9D9"/>
                </a:solidFill>
                <a:latin typeface="Arial"/>
                <a:cs typeface="Arial"/>
              </a:rPr>
              <a:t>daemonsets</a:t>
            </a:r>
            <a:endParaRPr sz="1600" dirty="0">
              <a:latin typeface="Arial"/>
              <a:cs typeface="Arial"/>
            </a:endParaRPr>
          </a:p>
        </p:txBody>
      </p:sp>
      <p:grpSp>
        <p:nvGrpSpPr>
          <p:cNvPr id="9" name="object 9"/>
          <p:cNvGrpSpPr/>
          <p:nvPr/>
        </p:nvGrpSpPr>
        <p:grpSpPr>
          <a:xfrm>
            <a:off x="824992" y="1794257"/>
            <a:ext cx="8278707" cy="535094"/>
            <a:chOff x="618744" y="1345691"/>
            <a:chExt cx="6209030" cy="401320"/>
          </a:xfrm>
        </p:grpSpPr>
        <p:sp>
          <p:nvSpPr>
            <p:cNvPr id="11" name="object 11"/>
            <p:cNvSpPr/>
            <p:nvPr/>
          </p:nvSpPr>
          <p:spPr>
            <a:xfrm>
              <a:off x="618744" y="1345691"/>
              <a:ext cx="6209030" cy="401320"/>
            </a:xfrm>
            <a:custGeom>
              <a:avLst/>
              <a:gdLst/>
              <a:ahLst/>
              <a:cxnLst/>
              <a:rect l="l" t="t" r="r" b="b"/>
              <a:pathLst>
                <a:path w="6209030" h="401319">
                  <a:moveTo>
                    <a:pt x="6208776" y="0"/>
                  </a:moveTo>
                  <a:lnTo>
                    <a:pt x="0" y="0"/>
                  </a:lnTo>
                  <a:lnTo>
                    <a:pt x="0" y="400812"/>
                  </a:lnTo>
                  <a:lnTo>
                    <a:pt x="6208776" y="400812"/>
                  </a:lnTo>
                  <a:lnTo>
                    <a:pt x="6208776" y="0"/>
                  </a:lnTo>
                  <a:close/>
                </a:path>
              </a:pathLst>
            </a:custGeom>
            <a:solidFill>
              <a:srgbClr val="000000"/>
            </a:solidFill>
          </p:spPr>
          <p:txBody>
            <a:bodyPr wrap="square" lIns="0" tIns="0" rIns="0" bIns="0" rtlCol="0"/>
            <a:lstStyle/>
            <a:p>
              <a:endParaRPr sz="2400"/>
            </a:p>
          </p:txBody>
        </p:sp>
        <p:sp>
          <p:nvSpPr>
            <p:cNvPr id="12" name="object 12"/>
            <p:cNvSpPr/>
            <p:nvPr/>
          </p:nvSpPr>
          <p:spPr>
            <a:xfrm>
              <a:off x="618744" y="1345691"/>
              <a:ext cx="6209030" cy="401320"/>
            </a:xfrm>
            <a:custGeom>
              <a:avLst/>
              <a:gdLst/>
              <a:ahLst/>
              <a:cxnLst/>
              <a:rect l="l" t="t" r="r" b="b"/>
              <a:pathLst>
                <a:path w="6209030" h="401319">
                  <a:moveTo>
                    <a:pt x="0" y="400812"/>
                  </a:moveTo>
                  <a:lnTo>
                    <a:pt x="6208776" y="400812"/>
                  </a:lnTo>
                  <a:lnTo>
                    <a:pt x="6208776" y="0"/>
                  </a:lnTo>
                  <a:lnTo>
                    <a:pt x="0" y="0"/>
                  </a:lnTo>
                  <a:lnTo>
                    <a:pt x="0" y="400812"/>
                  </a:lnTo>
                  <a:close/>
                </a:path>
              </a:pathLst>
            </a:custGeom>
            <a:ln w="12192">
              <a:solidFill>
                <a:srgbClr val="000000"/>
              </a:solidFill>
            </a:ln>
          </p:spPr>
          <p:txBody>
            <a:bodyPr wrap="square" lIns="0" tIns="0" rIns="0" bIns="0" rtlCol="0"/>
            <a:lstStyle/>
            <a:p>
              <a:endParaRPr sz="2400"/>
            </a:p>
          </p:txBody>
        </p:sp>
      </p:grpSp>
      <p:graphicFrame>
        <p:nvGraphicFramePr>
          <p:cNvPr id="13" name="object 13"/>
          <p:cNvGraphicFramePr>
            <a:graphicFrameLocks noGrp="1"/>
          </p:cNvGraphicFramePr>
          <p:nvPr/>
        </p:nvGraphicFramePr>
        <p:xfrm>
          <a:off x="904172" y="1891673"/>
          <a:ext cx="7344829" cy="445127"/>
        </p:xfrm>
        <a:graphic>
          <a:graphicData uri="http://schemas.openxmlformats.org/drawingml/2006/table">
            <a:tbl>
              <a:tblPr firstRow="1" bandRow="1">
                <a:tableStyleId>{2D5ABB26-0587-4C30-8999-92F81FD0307C}</a:tableStyleId>
              </a:tblPr>
              <a:tblGrid>
                <a:gridCol w="1765300">
                  <a:extLst>
                    <a:ext uri="{9D8B030D-6E8A-4147-A177-3AD203B41FA5}">
                      <a16:colId xmlns:a16="http://schemas.microsoft.com/office/drawing/2014/main" val="20000"/>
                    </a:ext>
                  </a:extLst>
                </a:gridCol>
                <a:gridCol w="928792">
                  <a:extLst>
                    <a:ext uri="{9D8B030D-6E8A-4147-A177-3AD203B41FA5}">
                      <a16:colId xmlns:a16="http://schemas.microsoft.com/office/drawing/2014/main" val="20001"/>
                    </a:ext>
                  </a:extLst>
                </a:gridCol>
                <a:gridCol w="929640">
                  <a:extLst>
                    <a:ext uri="{9D8B030D-6E8A-4147-A177-3AD203B41FA5}">
                      <a16:colId xmlns:a16="http://schemas.microsoft.com/office/drawing/2014/main" val="20002"/>
                    </a:ext>
                  </a:extLst>
                </a:gridCol>
                <a:gridCol w="835660">
                  <a:extLst>
                    <a:ext uri="{9D8B030D-6E8A-4147-A177-3AD203B41FA5}">
                      <a16:colId xmlns:a16="http://schemas.microsoft.com/office/drawing/2014/main" val="20003"/>
                    </a:ext>
                  </a:extLst>
                </a:gridCol>
                <a:gridCol w="1306405">
                  <a:extLst>
                    <a:ext uri="{9D8B030D-6E8A-4147-A177-3AD203B41FA5}">
                      <a16:colId xmlns:a16="http://schemas.microsoft.com/office/drawing/2014/main" val="20004"/>
                    </a:ext>
                  </a:extLst>
                </a:gridCol>
                <a:gridCol w="1114213">
                  <a:extLst>
                    <a:ext uri="{9D8B030D-6E8A-4147-A177-3AD203B41FA5}">
                      <a16:colId xmlns:a16="http://schemas.microsoft.com/office/drawing/2014/main" val="20005"/>
                    </a:ext>
                  </a:extLst>
                </a:gridCol>
                <a:gridCol w="464819">
                  <a:extLst>
                    <a:ext uri="{9D8B030D-6E8A-4147-A177-3AD203B41FA5}">
                      <a16:colId xmlns:a16="http://schemas.microsoft.com/office/drawing/2014/main" val="20006"/>
                    </a:ext>
                  </a:extLst>
                </a:gridCol>
              </a:tblGrid>
              <a:tr h="185928">
                <a:tc>
                  <a:txBody>
                    <a:bodyPr/>
                    <a:lstStyle/>
                    <a:p>
                      <a:pPr algn="ctr">
                        <a:lnSpc>
                          <a:spcPts val="940"/>
                        </a:lnSpc>
                      </a:pPr>
                      <a:r>
                        <a:rPr sz="1300" spc="-180" dirty="0">
                          <a:solidFill>
                            <a:srgbClr val="FFFFFF"/>
                          </a:solidFill>
                          <a:latin typeface="Arial"/>
                          <a:cs typeface="Arial"/>
                        </a:rPr>
                        <a:t>NAME</a:t>
                      </a:r>
                      <a:endParaRPr sz="1300">
                        <a:latin typeface="Arial"/>
                        <a:cs typeface="Arial"/>
                      </a:endParaRPr>
                    </a:p>
                  </a:txBody>
                  <a:tcPr marL="0" marR="0" marT="0" marB="0">
                    <a:solidFill>
                      <a:srgbClr val="000000"/>
                    </a:solidFill>
                  </a:tcPr>
                </a:tc>
                <a:tc>
                  <a:txBody>
                    <a:bodyPr/>
                    <a:lstStyle/>
                    <a:p>
                      <a:pPr marL="104139">
                        <a:lnSpc>
                          <a:spcPts val="940"/>
                        </a:lnSpc>
                      </a:pPr>
                      <a:r>
                        <a:rPr sz="1300" spc="-90" dirty="0">
                          <a:solidFill>
                            <a:srgbClr val="FFFFFF"/>
                          </a:solidFill>
                          <a:latin typeface="Arial"/>
                          <a:cs typeface="Arial"/>
                        </a:rPr>
                        <a:t>DESIRED</a:t>
                      </a:r>
                      <a:endParaRPr sz="1300">
                        <a:latin typeface="Arial"/>
                        <a:cs typeface="Arial"/>
                      </a:endParaRPr>
                    </a:p>
                  </a:txBody>
                  <a:tcPr marL="0" marR="0" marT="0" marB="0">
                    <a:solidFill>
                      <a:srgbClr val="000000"/>
                    </a:solidFill>
                  </a:tcPr>
                </a:tc>
                <a:tc>
                  <a:txBody>
                    <a:bodyPr/>
                    <a:lstStyle/>
                    <a:p>
                      <a:pPr marL="104139">
                        <a:lnSpc>
                          <a:spcPts val="940"/>
                        </a:lnSpc>
                      </a:pPr>
                      <a:r>
                        <a:rPr sz="1300" spc="-155" dirty="0">
                          <a:solidFill>
                            <a:srgbClr val="FFFFFF"/>
                          </a:solidFill>
                          <a:latin typeface="Arial"/>
                          <a:cs typeface="Arial"/>
                        </a:rPr>
                        <a:t>CURRENT</a:t>
                      </a:r>
                      <a:endParaRPr sz="1300">
                        <a:latin typeface="Arial"/>
                        <a:cs typeface="Arial"/>
                      </a:endParaRPr>
                    </a:p>
                  </a:txBody>
                  <a:tcPr marL="0" marR="0" marT="0" marB="0">
                    <a:solidFill>
                      <a:srgbClr val="000000"/>
                    </a:solidFill>
                  </a:tcPr>
                </a:tc>
                <a:tc>
                  <a:txBody>
                    <a:bodyPr/>
                    <a:lstStyle/>
                    <a:p>
                      <a:pPr marL="104775">
                        <a:lnSpc>
                          <a:spcPts val="940"/>
                        </a:lnSpc>
                      </a:pPr>
                      <a:r>
                        <a:rPr sz="1300" spc="-150" dirty="0">
                          <a:solidFill>
                            <a:srgbClr val="FFFFFF"/>
                          </a:solidFill>
                          <a:latin typeface="Arial"/>
                          <a:cs typeface="Arial"/>
                        </a:rPr>
                        <a:t>READY</a:t>
                      </a:r>
                      <a:endParaRPr sz="1300">
                        <a:latin typeface="Arial"/>
                        <a:cs typeface="Arial"/>
                      </a:endParaRPr>
                    </a:p>
                  </a:txBody>
                  <a:tcPr marL="0" marR="0" marT="0" marB="0">
                    <a:solidFill>
                      <a:srgbClr val="000000"/>
                    </a:solidFill>
                  </a:tcPr>
                </a:tc>
                <a:tc>
                  <a:txBody>
                    <a:bodyPr/>
                    <a:lstStyle/>
                    <a:p>
                      <a:pPr marL="174625">
                        <a:lnSpc>
                          <a:spcPts val="940"/>
                        </a:lnSpc>
                      </a:pPr>
                      <a:r>
                        <a:rPr sz="1300" spc="-65" dirty="0">
                          <a:solidFill>
                            <a:srgbClr val="FFFFFF"/>
                          </a:solidFill>
                          <a:latin typeface="Arial"/>
                          <a:cs typeface="Arial"/>
                        </a:rPr>
                        <a:t>UP-TO-DATE</a:t>
                      </a:r>
                      <a:endParaRPr sz="1300">
                        <a:latin typeface="Arial"/>
                        <a:cs typeface="Arial"/>
                      </a:endParaRPr>
                    </a:p>
                  </a:txBody>
                  <a:tcPr marL="0" marR="0" marT="0" marB="0">
                    <a:solidFill>
                      <a:srgbClr val="000000"/>
                    </a:solidFill>
                  </a:tcPr>
                </a:tc>
                <a:tc>
                  <a:txBody>
                    <a:bodyPr/>
                    <a:lstStyle/>
                    <a:p>
                      <a:pPr marL="107950">
                        <a:lnSpc>
                          <a:spcPts val="940"/>
                        </a:lnSpc>
                      </a:pPr>
                      <a:r>
                        <a:rPr sz="1300" spc="-55" dirty="0">
                          <a:solidFill>
                            <a:srgbClr val="FFFFFF"/>
                          </a:solidFill>
                          <a:latin typeface="Arial"/>
                          <a:cs typeface="Arial"/>
                        </a:rPr>
                        <a:t>AVAILABLE</a:t>
                      </a:r>
                      <a:endParaRPr sz="1300">
                        <a:latin typeface="Arial"/>
                        <a:cs typeface="Arial"/>
                      </a:endParaRPr>
                    </a:p>
                  </a:txBody>
                  <a:tcPr marL="0" marR="0" marT="0" marB="0">
                    <a:solidFill>
                      <a:srgbClr val="000000"/>
                    </a:solidFill>
                  </a:tcPr>
                </a:tc>
                <a:tc>
                  <a:txBody>
                    <a:bodyPr/>
                    <a:lstStyle/>
                    <a:p>
                      <a:pPr marL="107314">
                        <a:lnSpc>
                          <a:spcPts val="940"/>
                        </a:lnSpc>
                      </a:pPr>
                      <a:r>
                        <a:rPr sz="1300" spc="-160" dirty="0">
                          <a:solidFill>
                            <a:srgbClr val="FFFFFF"/>
                          </a:solidFill>
                          <a:latin typeface="Arial"/>
                          <a:cs typeface="Arial"/>
                        </a:rPr>
                        <a:t>AGE</a:t>
                      </a:r>
                      <a:endParaRPr sz="1300">
                        <a:latin typeface="Arial"/>
                        <a:cs typeface="Arial"/>
                      </a:endParaRPr>
                    </a:p>
                  </a:txBody>
                  <a:tcPr marL="0" marR="0" marT="0" marB="0">
                    <a:solidFill>
                      <a:srgbClr val="000000"/>
                    </a:solidFill>
                  </a:tcPr>
                </a:tc>
                <a:extLst>
                  <a:ext uri="{0D108BD9-81ED-4DB2-BD59-A6C34878D82A}">
                    <a16:rowId xmlns:a16="http://schemas.microsoft.com/office/drawing/2014/main" val="10000"/>
                  </a:ext>
                </a:extLst>
              </a:tr>
              <a:tr h="259199">
                <a:tc>
                  <a:txBody>
                    <a:bodyPr/>
                    <a:lstStyle/>
                    <a:p>
                      <a:pPr marR="64769" algn="ctr">
                        <a:lnSpc>
                          <a:spcPts val="1040"/>
                        </a:lnSpc>
                      </a:pPr>
                      <a:r>
                        <a:rPr sz="1300" spc="35" dirty="0">
                          <a:solidFill>
                            <a:srgbClr val="FFFFFF"/>
                          </a:solidFill>
                          <a:latin typeface="Arial"/>
                          <a:cs typeface="Arial"/>
                        </a:rPr>
                        <a:t>monitoring-daemon</a:t>
                      </a:r>
                      <a:endParaRPr sz="1300">
                        <a:latin typeface="Arial"/>
                        <a:cs typeface="Arial"/>
                      </a:endParaRPr>
                    </a:p>
                  </a:txBody>
                  <a:tcPr marL="0" marR="0" marT="0" marB="0">
                    <a:solidFill>
                      <a:srgbClr val="000000"/>
                    </a:solidFill>
                  </a:tcPr>
                </a:tc>
                <a:tc>
                  <a:txBody>
                    <a:bodyPr/>
                    <a:lstStyle/>
                    <a:p>
                      <a:pPr marL="104139">
                        <a:lnSpc>
                          <a:spcPts val="1040"/>
                        </a:lnSpc>
                      </a:pPr>
                      <a:r>
                        <a:rPr sz="1300" dirty="0">
                          <a:solidFill>
                            <a:srgbClr val="FFFFFF"/>
                          </a:solidFill>
                          <a:latin typeface="Arial"/>
                          <a:cs typeface="Arial"/>
                        </a:rPr>
                        <a:t>1</a:t>
                      </a:r>
                      <a:endParaRPr sz="1300">
                        <a:latin typeface="Arial"/>
                        <a:cs typeface="Arial"/>
                      </a:endParaRPr>
                    </a:p>
                  </a:txBody>
                  <a:tcPr marL="0" marR="0" marT="0" marB="0">
                    <a:solidFill>
                      <a:srgbClr val="000000"/>
                    </a:solidFill>
                  </a:tcPr>
                </a:tc>
                <a:tc>
                  <a:txBody>
                    <a:bodyPr/>
                    <a:lstStyle/>
                    <a:p>
                      <a:pPr marL="104775">
                        <a:lnSpc>
                          <a:spcPts val="1040"/>
                        </a:lnSpc>
                      </a:pPr>
                      <a:r>
                        <a:rPr sz="1300" dirty="0">
                          <a:solidFill>
                            <a:srgbClr val="FFFFFF"/>
                          </a:solidFill>
                          <a:latin typeface="Arial"/>
                          <a:cs typeface="Arial"/>
                        </a:rPr>
                        <a:t>1</a:t>
                      </a:r>
                      <a:endParaRPr sz="1300">
                        <a:latin typeface="Arial"/>
                        <a:cs typeface="Arial"/>
                      </a:endParaRPr>
                    </a:p>
                  </a:txBody>
                  <a:tcPr marL="0" marR="0" marT="0" marB="0">
                    <a:solidFill>
                      <a:srgbClr val="000000"/>
                    </a:solidFill>
                  </a:tcPr>
                </a:tc>
                <a:tc>
                  <a:txBody>
                    <a:bodyPr/>
                    <a:lstStyle/>
                    <a:p>
                      <a:pPr marL="105410">
                        <a:lnSpc>
                          <a:spcPts val="1040"/>
                        </a:lnSpc>
                      </a:pPr>
                      <a:r>
                        <a:rPr sz="1300" dirty="0">
                          <a:solidFill>
                            <a:srgbClr val="FFFFFF"/>
                          </a:solidFill>
                          <a:latin typeface="Arial"/>
                          <a:cs typeface="Arial"/>
                        </a:rPr>
                        <a:t>1</a:t>
                      </a:r>
                      <a:endParaRPr sz="1300">
                        <a:latin typeface="Arial"/>
                        <a:cs typeface="Arial"/>
                      </a:endParaRPr>
                    </a:p>
                  </a:txBody>
                  <a:tcPr marL="0" marR="0" marT="0" marB="0">
                    <a:solidFill>
                      <a:srgbClr val="000000"/>
                    </a:solidFill>
                  </a:tcPr>
                </a:tc>
                <a:tc>
                  <a:txBody>
                    <a:bodyPr/>
                    <a:lstStyle/>
                    <a:p>
                      <a:pPr marL="175260">
                        <a:lnSpc>
                          <a:spcPts val="1040"/>
                        </a:lnSpc>
                      </a:pPr>
                      <a:r>
                        <a:rPr sz="1300" dirty="0">
                          <a:solidFill>
                            <a:srgbClr val="FFFFFF"/>
                          </a:solidFill>
                          <a:latin typeface="Arial"/>
                          <a:cs typeface="Arial"/>
                        </a:rPr>
                        <a:t>1</a:t>
                      </a:r>
                      <a:endParaRPr sz="1300">
                        <a:latin typeface="Arial"/>
                        <a:cs typeface="Arial"/>
                      </a:endParaRPr>
                    </a:p>
                  </a:txBody>
                  <a:tcPr marL="0" marR="0" marT="0" marB="0">
                    <a:solidFill>
                      <a:srgbClr val="000000"/>
                    </a:solidFill>
                  </a:tcPr>
                </a:tc>
                <a:tc>
                  <a:txBody>
                    <a:bodyPr/>
                    <a:lstStyle/>
                    <a:p>
                      <a:pPr marL="101600">
                        <a:lnSpc>
                          <a:spcPts val="1040"/>
                        </a:lnSpc>
                      </a:pPr>
                      <a:r>
                        <a:rPr sz="1300" dirty="0">
                          <a:solidFill>
                            <a:srgbClr val="FFFFFF"/>
                          </a:solidFill>
                          <a:latin typeface="Arial"/>
                          <a:cs typeface="Arial"/>
                        </a:rPr>
                        <a:t>1</a:t>
                      </a:r>
                      <a:endParaRPr sz="1300">
                        <a:latin typeface="Arial"/>
                        <a:cs typeface="Arial"/>
                      </a:endParaRPr>
                    </a:p>
                  </a:txBody>
                  <a:tcPr marL="0" marR="0" marT="0" marB="0">
                    <a:solidFill>
                      <a:srgbClr val="000000"/>
                    </a:solidFill>
                  </a:tcPr>
                </a:tc>
                <a:tc>
                  <a:txBody>
                    <a:bodyPr/>
                    <a:lstStyle/>
                    <a:p>
                      <a:pPr marL="100965">
                        <a:lnSpc>
                          <a:spcPts val="1040"/>
                        </a:lnSpc>
                      </a:pPr>
                      <a:r>
                        <a:rPr sz="1300" spc="-10" dirty="0">
                          <a:solidFill>
                            <a:srgbClr val="FFFFFF"/>
                          </a:solidFill>
                          <a:latin typeface="Arial"/>
                          <a:cs typeface="Arial"/>
                        </a:rPr>
                        <a:t>41</a:t>
                      </a:r>
                      <a:endParaRPr sz="1300">
                        <a:latin typeface="Arial"/>
                        <a:cs typeface="Arial"/>
                      </a:endParaRPr>
                    </a:p>
                  </a:txBody>
                  <a:tcPr marL="0" marR="0" marT="0" marB="0">
                    <a:solidFill>
                      <a:srgbClr val="000000"/>
                    </a:solidFill>
                  </a:tcPr>
                </a:tc>
                <a:extLst>
                  <a:ext uri="{0D108BD9-81ED-4DB2-BD59-A6C34878D82A}">
                    <a16:rowId xmlns:a16="http://schemas.microsoft.com/office/drawing/2014/main" val="10001"/>
                  </a:ext>
                </a:extLst>
              </a:tr>
            </a:tbl>
          </a:graphicData>
        </a:graphic>
      </p:graphicFrame>
      <p:grpSp>
        <p:nvGrpSpPr>
          <p:cNvPr id="14" name="object 14"/>
          <p:cNvGrpSpPr/>
          <p:nvPr/>
        </p:nvGrpSpPr>
        <p:grpSpPr>
          <a:xfrm>
            <a:off x="745745" y="2590800"/>
            <a:ext cx="5834380" cy="579120"/>
            <a:chOff x="559308" y="1943100"/>
            <a:chExt cx="4375785" cy="434340"/>
          </a:xfrm>
        </p:grpSpPr>
        <p:sp>
          <p:nvSpPr>
            <p:cNvPr id="15" name="object 15"/>
            <p:cNvSpPr/>
            <p:nvPr/>
          </p:nvSpPr>
          <p:spPr>
            <a:xfrm>
              <a:off x="559308" y="1943100"/>
              <a:ext cx="4375404" cy="388619"/>
            </a:xfrm>
            <a:prstGeom prst="rect">
              <a:avLst/>
            </a:prstGeom>
            <a:blipFill>
              <a:blip r:embed="rId2" cstate="print"/>
              <a:stretch>
                <a:fillRect/>
              </a:stretch>
            </a:blipFill>
          </p:spPr>
          <p:txBody>
            <a:bodyPr wrap="square" lIns="0" tIns="0" rIns="0" bIns="0" rtlCol="0"/>
            <a:lstStyle/>
            <a:p>
              <a:endParaRPr sz="2400"/>
            </a:p>
          </p:txBody>
        </p:sp>
        <p:sp>
          <p:nvSpPr>
            <p:cNvPr id="16" name="object 16"/>
            <p:cNvSpPr/>
            <p:nvPr/>
          </p:nvSpPr>
          <p:spPr>
            <a:xfrm>
              <a:off x="726948" y="1943100"/>
              <a:ext cx="4084320" cy="434339"/>
            </a:xfrm>
            <a:prstGeom prst="rect">
              <a:avLst/>
            </a:prstGeom>
            <a:blipFill>
              <a:blip r:embed="rId4" cstate="print"/>
              <a:stretch>
                <a:fillRect/>
              </a:stretch>
            </a:blipFill>
          </p:spPr>
          <p:txBody>
            <a:bodyPr wrap="square" lIns="0" tIns="0" rIns="0" bIns="0" rtlCol="0"/>
            <a:lstStyle/>
            <a:p>
              <a:endParaRPr sz="2400"/>
            </a:p>
          </p:txBody>
        </p:sp>
        <p:sp>
          <p:nvSpPr>
            <p:cNvPr id="17" name="object 17"/>
            <p:cNvSpPr/>
            <p:nvPr/>
          </p:nvSpPr>
          <p:spPr>
            <a:xfrm>
              <a:off x="618744" y="1982723"/>
              <a:ext cx="4261485" cy="276225"/>
            </a:xfrm>
            <a:custGeom>
              <a:avLst/>
              <a:gdLst/>
              <a:ahLst/>
              <a:cxnLst/>
              <a:rect l="l" t="t" r="r" b="b"/>
              <a:pathLst>
                <a:path w="4261485" h="276225">
                  <a:moveTo>
                    <a:pt x="4261104" y="0"/>
                  </a:moveTo>
                  <a:lnTo>
                    <a:pt x="0" y="0"/>
                  </a:lnTo>
                  <a:lnTo>
                    <a:pt x="0" y="275844"/>
                  </a:lnTo>
                  <a:lnTo>
                    <a:pt x="4261104" y="275844"/>
                  </a:lnTo>
                  <a:lnTo>
                    <a:pt x="4261104" y="0"/>
                  </a:lnTo>
                  <a:close/>
                </a:path>
              </a:pathLst>
            </a:custGeom>
            <a:solidFill>
              <a:srgbClr val="404040"/>
            </a:solidFill>
          </p:spPr>
          <p:txBody>
            <a:bodyPr wrap="square" lIns="0" tIns="0" rIns="0" bIns="0" rtlCol="0"/>
            <a:lstStyle/>
            <a:p>
              <a:endParaRPr sz="2400"/>
            </a:p>
          </p:txBody>
        </p:sp>
      </p:grpSp>
      <p:sp>
        <p:nvSpPr>
          <p:cNvPr id="18" name="object 18"/>
          <p:cNvSpPr txBox="1"/>
          <p:nvPr/>
        </p:nvSpPr>
        <p:spPr>
          <a:xfrm>
            <a:off x="1153092" y="2677093"/>
            <a:ext cx="5082539" cy="263320"/>
          </a:xfrm>
          <a:prstGeom prst="rect">
            <a:avLst/>
          </a:prstGeom>
        </p:spPr>
        <p:txBody>
          <a:bodyPr vert="horz" wrap="square" lIns="0" tIns="16933" rIns="0" bIns="0" rtlCol="0">
            <a:spAutoFit/>
          </a:bodyPr>
          <a:lstStyle/>
          <a:p>
            <a:pPr marL="16933">
              <a:spcBef>
                <a:spcPts val="133"/>
              </a:spcBef>
            </a:pPr>
            <a:r>
              <a:rPr sz="1600" spc="152" dirty="0">
                <a:solidFill>
                  <a:srgbClr val="D9D9D9"/>
                </a:solidFill>
                <a:latin typeface="Arial"/>
                <a:cs typeface="Arial"/>
              </a:rPr>
              <a:t>kubectl </a:t>
            </a:r>
            <a:r>
              <a:rPr sz="1600" spc="120" dirty="0">
                <a:solidFill>
                  <a:srgbClr val="D9D9D9"/>
                </a:solidFill>
                <a:latin typeface="Arial"/>
                <a:cs typeface="Arial"/>
              </a:rPr>
              <a:t>describe </a:t>
            </a:r>
            <a:r>
              <a:rPr sz="1600" spc="7" dirty="0">
                <a:solidFill>
                  <a:srgbClr val="D9D9D9"/>
                </a:solidFill>
                <a:latin typeface="Arial"/>
                <a:cs typeface="Arial"/>
              </a:rPr>
              <a:t>daemonsets</a:t>
            </a:r>
            <a:r>
              <a:rPr sz="1600" spc="-87" dirty="0">
                <a:solidFill>
                  <a:srgbClr val="D9D9D9"/>
                </a:solidFill>
                <a:latin typeface="Arial"/>
                <a:cs typeface="Arial"/>
              </a:rPr>
              <a:t> </a:t>
            </a:r>
            <a:r>
              <a:rPr sz="1600" spc="67" dirty="0">
                <a:solidFill>
                  <a:srgbClr val="D9D9D9"/>
                </a:solidFill>
                <a:latin typeface="Arial"/>
                <a:cs typeface="Arial"/>
              </a:rPr>
              <a:t>monitoring-daemon</a:t>
            </a:r>
            <a:endParaRPr sz="1600" dirty="0">
              <a:latin typeface="Arial"/>
              <a:cs typeface="Arial"/>
            </a:endParaRPr>
          </a:p>
        </p:txBody>
      </p:sp>
      <p:grpSp>
        <p:nvGrpSpPr>
          <p:cNvPr id="19" name="object 19"/>
          <p:cNvGrpSpPr/>
          <p:nvPr/>
        </p:nvGrpSpPr>
        <p:grpSpPr>
          <a:xfrm>
            <a:off x="824993" y="3011425"/>
            <a:ext cx="8278706" cy="2792307"/>
            <a:chOff x="618744" y="2258568"/>
            <a:chExt cx="6209030" cy="2094230"/>
          </a:xfrm>
        </p:grpSpPr>
        <p:sp>
          <p:nvSpPr>
            <p:cNvPr id="21" name="object 21"/>
            <p:cNvSpPr/>
            <p:nvPr/>
          </p:nvSpPr>
          <p:spPr>
            <a:xfrm>
              <a:off x="618744" y="2258568"/>
              <a:ext cx="6209030" cy="2094230"/>
            </a:xfrm>
            <a:custGeom>
              <a:avLst/>
              <a:gdLst/>
              <a:ahLst/>
              <a:cxnLst/>
              <a:rect l="l" t="t" r="r" b="b"/>
              <a:pathLst>
                <a:path w="6209030" h="2094229">
                  <a:moveTo>
                    <a:pt x="6208776" y="0"/>
                  </a:moveTo>
                  <a:lnTo>
                    <a:pt x="0" y="0"/>
                  </a:lnTo>
                  <a:lnTo>
                    <a:pt x="0" y="2093976"/>
                  </a:lnTo>
                  <a:lnTo>
                    <a:pt x="6208776" y="2093976"/>
                  </a:lnTo>
                  <a:lnTo>
                    <a:pt x="6208776" y="0"/>
                  </a:lnTo>
                  <a:close/>
                </a:path>
              </a:pathLst>
            </a:custGeom>
            <a:solidFill>
              <a:srgbClr val="000000"/>
            </a:solidFill>
          </p:spPr>
          <p:txBody>
            <a:bodyPr wrap="square" lIns="0" tIns="0" rIns="0" bIns="0" rtlCol="0"/>
            <a:lstStyle/>
            <a:p>
              <a:endParaRPr sz="2400"/>
            </a:p>
          </p:txBody>
        </p:sp>
        <p:sp>
          <p:nvSpPr>
            <p:cNvPr id="22" name="object 22"/>
            <p:cNvSpPr/>
            <p:nvPr/>
          </p:nvSpPr>
          <p:spPr>
            <a:xfrm>
              <a:off x="618744" y="2258568"/>
              <a:ext cx="6209030" cy="2094230"/>
            </a:xfrm>
            <a:custGeom>
              <a:avLst/>
              <a:gdLst/>
              <a:ahLst/>
              <a:cxnLst/>
              <a:rect l="l" t="t" r="r" b="b"/>
              <a:pathLst>
                <a:path w="6209030" h="2094229">
                  <a:moveTo>
                    <a:pt x="0" y="2093976"/>
                  </a:moveTo>
                  <a:lnTo>
                    <a:pt x="6208776" y="2093976"/>
                  </a:lnTo>
                  <a:lnTo>
                    <a:pt x="6208776" y="0"/>
                  </a:lnTo>
                  <a:lnTo>
                    <a:pt x="0" y="0"/>
                  </a:lnTo>
                  <a:lnTo>
                    <a:pt x="0" y="2093976"/>
                  </a:lnTo>
                  <a:close/>
                </a:path>
              </a:pathLst>
            </a:custGeom>
            <a:ln w="12192">
              <a:solidFill>
                <a:srgbClr val="000000"/>
              </a:solidFill>
            </a:ln>
          </p:spPr>
          <p:txBody>
            <a:bodyPr wrap="square" lIns="0" tIns="0" rIns="0" bIns="0" rtlCol="0"/>
            <a:lstStyle/>
            <a:p>
              <a:endParaRPr sz="2400"/>
            </a:p>
          </p:txBody>
        </p:sp>
      </p:grpSp>
      <p:sp>
        <p:nvSpPr>
          <p:cNvPr id="23" name="object 23"/>
          <p:cNvSpPr txBox="1"/>
          <p:nvPr/>
        </p:nvSpPr>
        <p:spPr>
          <a:xfrm>
            <a:off x="929573" y="3048610"/>
            <a:ext cx="1339425" cy="836725"/>
          </a:xfrm>
          <a:prstGeom prst="rect">
            <a:avLst/>
          </a:prstGeom>
        </p:spPr>
        <p:txBody>
          <a:bodyPr vert="horz" wrap="square" lIns="0" tIns="16087" rIns="0" bIns="0" rtlCol="0">
            <a:spAutoFit/>
          </a:bodyPr>
          <a:lstStyle/>
          <a:p>
            <a:pPr marL="16933" marR="6773">
              <a:spcBef>
                <a:spcPts val="127"/>
              </a:spcBef>
            </a:pPr>
            <a:r>
              <a:rPr sz="1333" spc="-60" dirty="0">
                <a:solidFill>
                  <a:srgbClr val="FFFFFF"/>
                </a:solidFill>
                <a:latin typeface="Arial"/>
                <a:cs typeface="Arial"/>
              </a:rPr>
              <a:t>Name:  </a:t>
            </a:r>
            <a:r>
              <a:rPr sz="1333" spc="140" dirty="0">
                <a:solidFill>
                  <a:srgbClr val="FFFFFF"/>
                </a:solidFill>
                <a:latin typeface="Arial"/>
                <a:cs typeface="Arial"/>
              </a:rPr>
              <a:t>Selector:  </a:t>
            </a:r>
            <a:r>
              <a:rPr sz="1333" spc="-73" dirty="0">
                <a:solidFill>
                  <a:srgbClr val="FFFFFF"/>
                </a:solidFill>
                <a:latin typeface="Arial"/>
                <a:cs typeface="Arial"/>
              </a:rPr>
              <a:t>Nod</a:t>
            </a:r>
            <a:r>
              <a:rPr sz="1333" spc="-60" dirty="0">
                <a:solidFill>
                  <a:srgbClr val="FFFFFF"/>
                </a:solidFill>
                <a:latin typeface="Arial"/>
                <a:cs typeface="Arial"/>
              </a:rPr>
              <a:t>e</a:t>
            </a:r>
            <a:r>
              <a:rPr sz="1333" spc="280" dirty="0">
                <a:solidFill>
                  <a:srgbClr val="FFFFFF"/>
                </a:solidFill>
                <a:latin typeface="Arial"/>
                <a:cs typeface="Arial"/>
              </a:rPr>
              <a:t>-</a:t>
            </a:r>
            <a:r>
              <a:rPr sz="1333" spc="-160" dirty="0">
                <a:solidFill>
                  <a:srgbClr val="FFFFFF"/>
                </a:solidFill>
                <a:latin typeface="Arial"/>
                <a:cs typeface="Arial"/>
              </a:rPr>
              <a:t>S</a:t>
            </a:r>
            <a:r>
              <a:rPr sz="1333" spc="-13" dirty="0">
                <a:solidFill>
                  <a:srgbClr val="FFFFFF"/>
                </a:solidFill>
                <a:latin typeface="Arial"/>
                <a:cs typeface="Arial"/>
              </a:rPr>
              <a:t>e</a:t>
            </a:r>
            <a:r>
              <a:rPr sz="1333" spc="420" dirty="0">
                <a:solidFill>
                  <a:srgbClr val="FFFFFF"/>
                </a:solidFill>
                <a:latin typeface="Arial"/>
                <a:cs typeface="Arial"/>
              </a:rPr>
              <a:t>l</a:t>
            </a:r>
            <a:r>
              <a:rPr sz="1333" spc="-13" dirty="0">
                <a:solidFill>
                  <a:srgbClr val="FFFFFF"/>
                </a:solidFill>
                <a:latin typeface="Arial"/>
                <a:cs typeface="Arial"/>
              </a:rPr>
              <a:t>e</a:t>
            </a:r>
            <a:r>
              <a:rPr sz="1333" spc="60" dirty="0">
                <a:solidFill>
                  <a:srgbClr val="FFFFFF"/>
                </a:solidFill>
                <a:latin typeface="Arial"/>
                <a:cs typeface="Arial"/>
              </a:rPr>
              <a:t>c</a:t>
            </a:r>
            <a:r>
              <a:rPr sz="1333" spc="353" dirty="0">
                <a:solidFill>
                  <a:srgbClr val="FFFFFF"/>
                </a:solidFill>
                <a:latin typeface="Arial"/>
                <a:cs typeface="Arial"/>
              </a:rPr>
              <a:t>t</a:t>
            </a:r>
            <a:r>
              <a:rPr sz="1333" spc="-13" dirty="0">
                <a:solidFill>
                  <a:srgbClr val="FFFFFF"/>
                </a:solidFill>
                <a:latin typeface="Arial"/>
                <a:cs typeface="Arial"/>
              </a:rPr>
              <a:t>o</a:t>
            </a:r>
            <a:r>
              <a:rPr sz="1333" spc="280" dirty="0">
                <a:solidFill>
                  <a:srgbClr val="FFFFFF"/>
                </a:solidFill>
                <a:latin typeface="Arial"/>
                <a:cs typeface="Arial"/>
              </a:rPr>
              <a:t>r</a:t>
            </a:r>
            <a:r>
              <a:rPr sz="1333" spc="353" dirty="0">
                <a:solidFill>
                  <a:srgbClr val="FFFFFF"/>
                </a:solidFill>
                <a:latin typeface="Arial"/>
                <a:cs typeface="Arial"/>
              </a:rPr>
              <a:t>:  </a:t>
            </a:r>
            <a:r>
              <a:rPr sz="1333" spc="113" dirty="0">
                <a:solidFill>
                  <a:srgbClr val="FFFFFF"/>
                </a:solidFill>
                <a:latin typeface="Arial"/>
                <a:cs typeface="Arial"/>
              </a:rPr>
              <a:t>Labels:</a:t>
            </a:r>
            <a:endParaRPr sz="1333">
              <a:latin typeface="Arial"/>
              <a:cs typeface="Arial"/>
            </a:endParaRPr>
          </a:p>
        </p:txBody>
      </p:sp>
      <p:sp>
        <p:nvSpPr>
          <p:cNvPr id="24" name="object 24"/>
          <p:cNvSpPr txBox="1"/>
          <p:nvPr/>
        </p:nvSpPr>
        <p:spPr>
          <a:xfrm>
            <a:off x="2419561" y="3048610"/>
            <a:ext cx="2082800" cy="836725"/>
          </a:xfrm>
          <a:prstGeom prst="rect">
            <a:avLst/>
          </a:prstGeom>
        </p:spPr>
        <p:txBody>
          <a:bodyPr vert="horz" wrap="square" lIns="0" tIns="16087" rIns="0" bIns="0" rtlCol="0">
            <a:spAutoFit/>
          </a:bodyPr>
          <a:lstStyle/>
          <a:p>
            <a:pPr marL="17780">
              <a:spcBef>
                <a:spcPts val="127"/>
              </a:spcBef>
            </a:pPr>
            <a:r>
              <a:rPr sz="1333" spc="53" dirty="0">
                <a:solidFill>
                  <a:srgbClr val="FFFFFF"/>
                </a:solidFill>
                <a:latin typeface="Arial"/>
                <a:cs typeface="Arial"/>
              </a:rPr>
              <a:t>monitoring-daemon</a:t>
            </a:r>
            <a:endParaRPr sz="1333">
              <a:latin typeface="Arial"/>
              <a:cs typeface="Arial"/>
            </a:endParaRPr>
          </a:p>
          <a:p>
            <a:pPr marL="17780">
              <a:spcBef>
                <a:spcPts val="7"/>
              </a:spcBef>
            </a:pPr>
            <a:r>
              <a:rPr sz="1333" spc="13" dirty="0">
                <a:solidFill>
                  <a:srgbClr val="FFFFFF"/>
                </a:solidFill>
                <a:latin typeface="Arial"/>
                <a:cs typeface="Arial"/>
              </a:rPr>
              <a:t>name=monitoring-daemon</a:t>
            </a:r>
            <a:endParaRPr sz="1333">
              <a:latin typeface="Arial"/>
              <a:cs typeface="Arial"/>
            </a:endParaRPr>
          </a:p>
          <a:p>
            <a:pPr marL="16933"/>
            <a:r>
              <a:rPr sz="1333" spc="-27" dirty="0">
                <a:solidFill>
                  <a:srgbClr val="FFFFFF"/>
                </a:solidFill>
                <a:latin typeface="Arial"/>
                <a:cs typeface="Arial"/>
              </a:rPr>
              <a:t>&lt;none&gt;</a:t>
            </a:r>
            <a:endParaRPr sz="1333">
              <a:latin typeface="Arial"/>
              <a:cs typeface="Arial"/>
            </a:endParaRPr>
          </a:p>
          <a:p>
            <a:pPr marL="18626"/>
            <a:r>
              <a:rPr sz="1333" spc="13" dirty="0">
                <a:solidFill>
                  <a:srgbClr val="FFFFFF"/>
                </a:solidFill>
                <a:latin typeface="Arial"/>
                <a:cs typeface="Arial"/>
              </a:rPr>
              <a:t>name=monitoring-daemon</a:t>
            </a:r>
            <a:endParaRPr sz="1333">
              <a:latin typeface="Arial"/>
              <a:cs typeface="Arial"/>
            </a:endParaRPr>
          </a:p>
        </p:txBody>
      </p:sp>
      <p:sp>
        <p:nvSpPr>
          <p:cNvPr id="25" name="object 25"/>
          <p:cNvSpPr txBox="1"/>
          <p:nvPr/>
        </p:nvSpPr>
        <p:spPr>
          <a:xfrm>
            <a:off x="929572" y="3862153"/>
            <a:ext cx="5623560" cy="1862327"/>
          </a:xfrm>
          <a:prstGeom prst="rect">
            <a:avLst/>
          </a:prstGeom>
        </p:spPr>
        <p:txBody>
          <a:bodyPr vert="horz" wrap="square" lIns="0" tIns="16087" rIns="0" bIns="0" rtlCol="0">
            <a:spAutoFit/>
          </a:bodyPr>
          <a:lstStyle/>
          <a:p>
            <a:pPr marL="16933" marR="2241917">
              <a:spcBef>
                <a:spcPts val="127"/>
              </a:spcBef>
            </a:pPr>
            <a:r>
              <a:rPr sz="1333" spc="73" dirty="0">
                <a:solidFill>
                  <a:srgbClr val="FFFFFF"/>
                </a:solidFill>
                <a:latin typeface="Arial"/>
                <a:cs typeface="Arial"/>
              </a:rPr>
              <a:t>Desired </a:t>
            </a:r>
            <a:r>
              <a:rPr sz="1333" spc="-67" dirty="0">
                <a:solidFill>
                  <a:srgbClr val="FFFFFF"/>
                </a:solidFill>
                <a:latin typeface="Arial"/>
                <a:cs typeface="Arial"/>
              </a:rPr>
              <a:t>Number </a:t>
            </a:r>
            <a:r>
              <a:rPr sz="1333" spc="173" dirty="0">
                <a:solidFill>
                  <a:srgbClr val="FFFFFF"/>
                </a:solidFill>
                <a:latin typeface="Arial"/>
                <a:cs typeface="Arial"/>
              </a:rPr>
              <a:t>of </a:t>
            </a:r>
            <a:r>
              <a:rPr sz="1333" spc="-47" dirty="0">
                <a:solidFill>
                  <a:srgbClr val="FFFFFF"/>
                </a:solidFill>
                <a:latin typeface="Arial"/>
                <a:cs typeface="Arial"/>
              </a:rPr>
              <a:t>Nodes </a:t>
            </a:r>
            <a:r>
              <a:rPr sz="1333" spc="60" dirty="0">
                <a:solidFill>
                  <a:srgbClr val="FFFFFF"/>
                </a:solidFill>
                <a:latin typeface="Arial"/>
                <a:cs typeface="Arial"/>
              </a:rPr>
              <a:t>Scheduled: </a:t>
            </a:r>
            <a:r>
              <a:rPr sz="1333" spc="-13" dirty="0">
                <a:solidFill>
                  <a:srgbClr val="FFFFFF"/>
                </a:solidFill>
                <a:latin typeface="Arial"/>
                <a:cs typeface="Arial"/>
              </a:rPr>
              <a:t>2  </a:t>
            </a:r>
            <a:r>
              <a:rPr sz="1333" spc="93" dirty="0">
                <a:solidFill>
                  <a:srgbClr val="FFFFFF"/>
                </a:solidFill>
                <a:latin typeface="Arial"/>
                <a:cs typeface="Arial"/>
              </a:rPr>
              <a:t>Current </a:t>
            </a:r>
            <a:r>
              <a:rPr sz="1333" spc="-67" dirty="0">
                <a:solidFill>
                  <a:srgbClr val="FFFFFF"/>
                </a:solidFill>
                <a:latin typeface="Arial"/>
                <a:cs typeface="Arial"/>
              </a:rPr>
              <a:t>Number </a:t>
            </a:r>
            <a:r>
              <a:rPr sz="1333" spc="173" dirty="0">
                <a:solidFill>
                  <a:srgbClr val="FFFFFF"/>
                </a:solidFill>
                <a:latin typeface="Arial"/>
                <a:cs typeface="Arial"/>
              </a:rPr>
              <a:t>of </a:t>
            </a:r>
            <a:r>
              <a:rPr sz="1333" spc="-47" dirty="0">
                <a:solidFill>
                  <a:srgbClr val="FFFFFF"/>
                </a:solidFill>
                <a:latin typeface="Arial"/>
                <a:cs typeface="Arial"/>
              </a:rPr>
              <a:t>Nodes </a:t>
            </a:r>
            <a:r>
              <a:rPr sz="1333" spc="60" dirty="0">
                <a:solidFill>
                  <a:srgbClr val="FFFFFF"/>
                </a:solidFill>
                <a:latin typeface="Arial"/>
                <a:cs typeface="Arial"/>
              </a:rPr>
              <a:t>Scheduled:</a:t>
            </a:r>
            <a:r>
              <a:rPr sz="1333" spc="73" dirty="0">
                <a:solidFill>
                  <a:srgbClr val="FFFFFF"/>
                </a:solidFill>
                <a:latin typeface="Arial"/>
                <a:cs typeface="Arial"/>
              </a:rPr>
              <a:t> </a:t>
            </a:r>
            <a:r>
              <a:rPr sz="1333" spc="-13" dirty="0">
                <a:solidFill>
                  <a:srgbClr val="FFFFFF"/>
                </a:solidFill>
                <a:latin typeface="Arial"/>
                <a:cs typeface="Arial"/>
              </a:rPr>
              <a:t>2</a:t>
            </a:r>
            <a:endParaRPr sz="1333">
              <a:latin typeface="Arial"/>
              <a:cs typeface="Arial"/>
            </a:endParaRPr>
          </a:p>
          <a:p>
            <a:pPr marL="16933" marR="1032908"/>
            <a:r>
              <a:rPr sz="1333" spc="-67" dirty="0">
                <a:solidFill>
                  <a:srgbClr val="FFFFFF"/>
                </a:solidFill>
                <a:latin typeface="Arial"/>
                <a:cs typeface="Arial"/>
              </a:rPr>
              <a:t>Number </a:t>
            </a:r>
            <a:r>
              <a:rPr sz="1333" spc="167" dirty="0">
                <a:solidFill>
                  <a:srgbClr val="FFFFFF"/>
                </a:solidFill>
                <a:latin typeface="Arial"/>
                <a:cs typeface="Arial"/>
              </a:rPr>
              <a:t>of </a:t>
            </a:r>
            <a:r>
              <a:rPr sz="1333" spc="-47" dirty="0">
                <a:solidFill>
                  <a:srgbClr val="FFFFFF"/>
                </a:solidFill>
                <a:latin typeface="Arial"/>
                <a:cs typeface="Arial"/>
              </a:rPr>
              <a:t>Nodes </a:t>
            </a:r>
            <a:r>
              <a:rPr sz="1333" spc="27" dirty="0">
                <a:solidFill>
                  <a:srgbClr val="FFFFFF"/>
                </a:solidFill>
                <a:latin typeface="Arial"/>
                <a:cs typeface="Arial"/>
              </a:rPr>
              <a:t>Scheduled </a:t>
            </a:r>
            <a:r>
              <a:rPr sz="1333" spc="133" dirty="0">
                <a:solidFill>
                  <a:srgbClr val="FFFFFF"/>
                </a:solidFill>
                <a:latin typeface="Arial"/>
                <a:cs typeface="Arial"/>
              </a:rPr>
              <a:t>with </a:t>
            </a:r>
            <a:r>
              <a:rPr sz="1333" spc="93" dirty="0">
                <a:solidFill>
                  <a:srgbClr val="FFFFFF"/>
                </a:solidFill>
                <a:latin typeface="Arial"/>
                <a:cs typeface="Arial"/>
              </a:rPr>
              <a:t>Up-to-date </a:t>
            </a:r>
            <a:r>
              <a:rPr sz="1333" spc="40" dirty="0">
                <a:solidFill>
                  <a:srgbClr val="FFFFFF"/>
                </a:solidFill>
                <a:latin typeface="Arial"/>
                <a:cs typeface="Arial"/>
              </a:rPr>
              <a:t>Pods: </a:t>
            </a:r>
            <a:r>
              <a:rPr sz="1333" spc="-13" dirty="0">
                <a:solidFill>
                  <a:srgbClr val="FFFFFF"/>
                </a:solidFill>
                <a:latin typeface="Arial"/>
                <a:cs typeface="Arial"/>
              </a:rPr>
              <a:t>2  </a:t>
            </a:r>
            <a:r>
              <a:rPr sz="1333" spc="-60" dirty="0">
                <a:solidFill>
                  <a:srgbClr val="FFFFFF"/>
                </a:solidFill>
                <a:latin typeface="Arial"/>
                <a:cs typeface="Arial"/>
              </a:rPr>
              <a:t>Number </a:t>
            </a:r>
            <a:r>
              <a:rPr sz="1333" spc="167" dirty="0">
                <a:solidFill>
                  <a:srgbClr val="FFFFFF"/>
                </a:solidFill>
                <a:latin typeface="Arial"/>
                <a:cs typeface="Arial"/>
              </a:rPr>
              <a:t>of </a:t>
            </a:r>
            <a:r>
              <a:rPr sz="1333" spc="-47" dirty="0">
                <a:solidFill>
                  <a:srgbClr val="FFFFFF"/>
                </a:solidFill>
                <a:latin typeface="Arial"/>
                <a:cs typeface="Arial"/>
              </a:rPr>
              <a:t>Nodes </a:t>
            </a:r>
            <a:r>
              <a:rPr sz="1333" spc="27" dirty="0">
                <a:solidFill>
                  <a:srgbClr val="FFFFFF"/>
                </a:solidFill>
                <a:latin typeface="Arial"/>
                <a:cs typeface="Arial"/>
              </a:rPr>
              <a:t>Scheduled </a:t>
            </a:r>
            <a:r>
              <a:rPr sz="1333" spc="133" dirty="0">
                <a:solidFill>
                  <a:srgbClr val="FFFFFF"/>
                </a:solidFill>
                <a:latin typeface="Arial"/>
                <a:cs typeface="Arial"/>
              </a:rPr>
              <a:t>with </a:t>
            </a:r>
            <a:r>
              <a:rPr sz="1333" spc="127" dirty="0">
                <a:solidFill>
                  <a:srgbClr val="FFFFFF"/>
                </a:solidFill>
                <a:latin typeface="Arial"/>
                <a:cs typeface="Arial"/>
              </a:rPr>
              <a:t>Available </a:t>
            </a:r>
            <a:r>
              <a:rPr sz="1333" spc="40" dirty="0">
                <a:solidFill>
                  <a:srgbClr val="FFFFFF"/>
                </a:solidFill>
                <a:latin typeface="Arial"/>
                <a:cs typeface="Arial"/>
              </a:rPr>
              <a:t>Pods: </a:t>
            </a:r>
            <a:r>
              <a:rPr sz="1333" spc="-13" dirty="0">
                <a:solidFill>
                  <a:srgbClr val="FFFFFF"/>
                </a:solidFill>
                <a:latin typeface="Arial"/>
                <a:cs typeface="Arial"/>
              </a:rPr>
              <a:t>1  </a:t>
            </a:r>
            <a:r>
              <a:rPr sz="1333" spc="-67" dirty="0">
                <a:solidFill>
                  <a:srgbClr val="FFFFFF"/>
                </a:solidFill>
                <a:latin typeface="Arial"/>
                <a:cs typeface="Arial"/>
              </a:rPr>
              <a:t>Number </a:t>
            </a:r>
            <a:r>
              <a:rPr sz="1333" spc="167" dirty="0">
                <a:solidFill>
                  <a:srgbClr val="FFFFFF"/>
                </a:solidFill>
                <a:latin typeface="Arial"/>
                <a:cs typeface="Arial"/>
              </a:rPr>
              <a:t>of </a:t>
            </a:r>
            <a:r>
              <a:rPr sz="1333" spc="-47" dirty="0">
                <a:solidFill>
                  <a:srgbClr val="FFFFFF"/>
                </a:solidFill>
                <a:latin typeface="Arial"/>
                <a:cs typeface="Arial"/>
              </a:rPr>
              <a:t>Nodes </a:t>
            </a:r>
            <a:r>
              <a:rPr sz="1333" spc="73" dirty="0">
                <a:solidFill>
                  <a:srgbClr val="FFFFFF"/>
                </a:solidFill>
                <a:latin typeface="Arial"/>
                <a:cs typeface="Arial"/>
              </a:rPr>
              <a:t>Misscheduled:</a:t>
            </a:r>
            <a:r>
              <a:rPr sz="1333" spc="-73" dirty="0">
                <a:solidFill>
                  <a:srgbClr val="FFFFFF"/>
                </a:solidFill>
                <a:latin typeface="Arial"/>
                <a:cs typeface="Arial"/>
              </a:rPr>
              <a:t> </a:t>
            </a:r>
            <a:r>
              <a:rPr sz="1333" spc="-13" dirty="0">
                <a:solidFill>
                  <a:srgbClr val="FFFFFF"/>
                </a:solidFill>
                <a:latin typeface="Arial"/>
                <a:cs typeface="Arial"/>
              </a:rPr>
              <a:t>0</a:t>
            </a:r>
            <a:endParaRPr sz="1333">
              <a:latin typeface="Arial"/>
              <a:cs typeface="Arial"/>
            </a:endParaRPr>
          </a:p>
          <a:p>
            <a:pPr marL="16933" marR="6773">
              <a:tabLst>
                <a:tab pos="1321614" algn="l"/>
              </a:tabLst>
            </a:pPr>
            <a:r>
              <a:rPr sz="1333" spc="-33" dirty="0">
                <a:solidFill>
                  <a:srgbClr val="FFFFFF"/>
                </a:solidFill>
                <a:latin typeface="Arial"/>
                <a:cs typeface="Arial"/>
              </a:rPr>
              <a:t>Pods </a:t>
            </a:r>
            <a:r>
              <a:rPr sz="1333" spc="47" dirty="0">
                <a:solidFill>
                  <a:srgbClr val="FFFFFF"/>
                </a:solidFill>
                <a:latin typeface="Arial"/>
                <a:cs typeface="Arial"/>
              </a:rPr>
              <a:t> </a:t>
            </a:r>
            <a:r>
              <a:rPr sz="1333" spc="133" dirty="0">
                <a:solidFill>
                  <a:srgbClr val="FFFFFF"/>
                </a:solidFill>
                <a:latin typeface="Arial"/>
                <a:cs typeface="Arial"/>
              </a:rPr>
              <a:t>Status:	</a:t>
            </a:r>
            <a:r>
              <a:rPr sz="1333" spc="-13" dirty="0">
                <a:solidFill>
                  <a:srgbClr val="FFFFFF"/>
                </a:solidFill>
                <a:latin typeface="Arial"/>
                <a:cs typeface="Arial"/>
              </a:rPr>
              <a:t>2 </a:t>
            </a:r>
            <a:r>
              <a:rPr sz="1333" spc="13" dirty="0">
                <a:solidFill>
                  <a:srgbClr val="FFFFFF"/>
                </a:solidFill>
                <a:latin typeface="Arial"/>
                <a:cs typeface="Arial"/>
              </a:rPr>
              <a:t>Running </a:t>
            </a:r>
            <a:r>
              <a:rPr sz="1333" spc="353" dirty="0">
                <a:solidFill>
                  <a:srgbClr val="FFFFFF"/>
                </a:solidFill>
                <a:latin typeface="Arial"/>
                <a:cs typeface="Arial"/>
              </a:rPr>
              <a:t>/ </a:t>
            </a:r>
            <a:r>
              <a:rPr sz="1333" spc="-13" dirty="0">
                <a:solidFill>
                  <a:srgbClr val="FFFFFF"/>
                </a:solidFill>
                <a:latin typeface="Arial"/>
                <a:cs typeface="Arial"/>
              </a:rPr>
              <a:t>0 </a:t>
            </a:r>
            <a:r>
              <a:rPr sz="1333" spc="87" dirty="0">
                <a:solidFill>
                  <a:srgbClr val="FFFFFF"/>
                </a:solidFill>
                <a:latin typeface="Arial"/>
                <a:cs typeface="Arial"/>
              </a:rPr>
              <a:t>Waiting </a:t>
            </a:r>
            <a:r>
              <a:rPr sz="1333" spc="353" dirty="0">
                <a:solidFill>
                  <a:srgbClr val="FFFFFF"/>
                </a:solidFill>
                <a:latin typeface="Arial"/>
                <a:cs typeface="Arial"/>
              </a:rPr>
              <a:t>/ </a:t>
            </a:r>
            <a:r>
              <a:rPr sz="1333" spc="-13" dirty="0">
                <a:solidFill>
                  <a:srgbClr val="FFFFFF"/>
                </a:solidFill>
                <a:latin typeface="Arial"/>
                <a:cs typeface="Arial"/>
              </a:rPr>
              <a:t>0 </a:t>
            </a:r>
            <a:r>
              <a:rPr sz="1333" spc="-20" dirty="0">
                <a:solidFill>
                  <a:srgbClr val="FFFFFF"/>
                </a:solidFill>
                <a:latin typeface="Arial"/>
                <a:cs typeface="Arial"/>
              </a:rPr>
              <a:t>Succeeded </a:t>
            </a:r>
            <a:r>
              <a:rPr sz="1333" spc="353" dirty="0">
                <a:solidFill>
                  <a:srgbClr val="FFFFFF"/>
                </a:solidFill>
                <a:latin typeface="Arial"/>
                <a:cs typeface="Arial"/>
              </a:rPr>
              <a:t>/ </a:t>
            </a:r>
            <a:r>
              <a:rPr sz="1333" spc="-13" dirty="0">
                <a:solidFill>
                  <a:srgbClr val="FFFFFF"/>
                </a:solidFill>
                <a:latin typeface="Arial"/>
                <a:cs typeface="Arial"/>
              </a:rPr>
              <a:t>0 </a:t>
            </a:r>
            <a:r>
              <a:rPr sz="1333" spc="120" dirty="0">
                <a:solidFill>
                  <a:srgbClr val="FFFFFF"/>
                </a:solidFill>
                <a:latin typeface="Arial"/>
                <a:cs typeface="Arial"/>
              </a:rPr>
              <a:t>Failed  </a:t>
            </a:r>
            <a:r>
              <a:rPr sz="1333" spc="-67" dirty="0">
                <a:solidFill>
                  <a:srgbClr val="FFFFFF"/>
                </a:solidFill>
                <a:latin typeface="Arial"/>
                <a:cs typeface="Arial"/>
              </a:rPr>
              <a:t>Pod</a:t>
            </a:r>
            <a:r>
              <a:rPr sz="1333" spc="60" dirty="0">
                <a:solidFill>
                  <a:srgbClr val="FFFFFF"/>
                </a:solidFill>
                <a:latin typeface="Arial"/>
                <a:cs typeface="Arial"/>
              </a:rPr>
              <a:t> </a:t>
            </a:r>
            <a:r>
              <a:rPr sz="1333" spc="67" dirty="0">
                <a:solidFill>
                  <a:srgbClr val="FFFFFF"/>
                </a:solidFill>
                <a:latin typeface="Arial"/>
                <a:cs typeface="Arial"/>
              </a:rPr>
              <a:t>Template:</a:t>
            </a:r>
            <a:endParaRPr sz="1333">
              <a:latin typeface="Arial"/>
              <a:cs typeface="Arial"/>
            </a:endParaRPr>
          </a:p>
          <a:p>
            <a:pPr marL="203195" marR="1869393">
              <a:tabLst>
                <a:tab pos="1876166" algn="l"/>
              </a:tabLst>
            </a:pPr>
            <a:r>
              <a:rPr sz="1333" spc="-13" dirty="0">
                <a:solidFill>
                  <a:srgbClr val="FFFFFF"/>
                </a:solidFill>
                <a:latin typeface="Arial"/>
                <a:cs typeface="Arial"/>
              </a:rPr>
              <a:t>Labe</a:t>
            </a:r>
            <a:r>
              <a:rPr sz="1333" spc="433" dirty="0">
                <a:solidFill>
                  <a:srgbClr val="FFFFFF"/>
                </a:solidFill>
                <a:latin typeface="Arial"/>
                <a:cs typeface="Arial"/>
              </a:rPr>
              <a:t>l</a:t>
            </a:r>
            <a:r>
              <a:rPr sz="1333" spc="47" dirty="0">
                <a:solidFill>
                  <a:srgbClr val="FFFFFF"/>
                </a:solidFill>
                <a:latin typeface="Arial"/>
                <a:cs typeface="Arial"/>
              </a:rPr>
              <a:t>s</a:t>
            </a:r>
            <a:r>
              <a:rPr sz="1333" spc="353" dirty="0">
                <a:solidFill>
                  <a:srgbClr val="FFFFFF"/>
                </a:solidFill>
                <a:latin typeface="Arial"/>
                <a:cs typeface="Arial"/>
              </a:rPr>
              <a:t>:</a:t>
            </a:r>
            <a:r>
              <a:rPr sz="1333" dirty="0">
                <a:solidFill>
                  <a:srgbClr val="FFFFFF"/>
                </a:solidFill>
                <a:latin typeface="Arial"/>
                <a:cs typeface="Arial"/>
              </a:rPr>
              <a:t>	</a:t>
            </a:r>
            <a:r>
              <a:rPr sz="1333" spc="-13" dirty="0">
                <a:solidFill>
                  <a:srgbClr val="FFFFFF"/>
                </a:solidFill>
                <a:latin typeface="Arial"/>
                <a:cs typeface="Arial"/>
              </a:rPr>
              <a:t>a</a:t>
            </a:r>
            <a:r>
              <a:rPr sz="1333" spc="-27" dirty="0">
                <a:solidFill>
                  <a:srgbClr val="FFFFFF"/>
                </a:solidFill>
                <a:latin typeface="Arial"/>
                <a:cs typeface="Arial"/>
              </a:rPr>
              <a:t>p</a:t>
            </a:r>
            <a:r>
              <a:rPr sz="1333" spc="-13" dirty="0">
                <a:solidFill>
                  <a:srgbClr val="FFFFFF"/>
                </a:solidFill>
                <a:latin typeface="Arial"/>
                <a:cs typeface="Arial"/>
              </a:rPr>
              <a:t>p</a:t>
            </a:r>
            <a:r>
              <a:rPr sz="1333" spc="-53" dirty="0">
                <a:solidFill>
                  <a:srgbClr val="FFFFFF"/>
                </a:solidFill>
                <a:latin typeface="Arial"/>
                <a:cs typeface="Arial"/>
              </a:rPr>
              <a:t>=</a:t>
            </a:r>
            <a:r>
              <a:rPr sz="1333" spc="-387" dirty="0">
                <a:solidFill>
                  <a:srgbClr val="FFFFFF"/>
                </a:solidFill>
                <a:latin typeface="Arial"/>
                <a:cs typeface="Arial"/>
              </a:rPr>
              <a:t>m</a:t>
            </a:r>
            <a:r>
              <a:rPr sz="1333" spc="-13" dirty="0">
                <a:solidFill>
                  <a:srgbClr val="FFFFFF"/>
                </a:solidFill>
                <a:latin typeface="Arial"/>
                <a:cs typeface="Arial"/>
              </a:rPr>
              <a:t>on</a:t>
            </a:r>
            <a:r>
              <a:rPr sz="1333" spc="433" dirty="0">
                <a:solidFill>
                  <a:srgbClr val="FFFFFF"/>
                </a:solidFill>
                <a:latin typeface="Arial"/>
                <a:cs typeface="Arial"/>
              </a:rPr>
              <a:t>i</a:t>
            </a:r>
            <a:r>
              <a:rPr sz="1333" spc="353" dirty="0">
                <a:solidFill>
                  <a:srgbClr val="FFFFFF"/>
                </a:solidFill>
                <a:latin typeface="Arial"/>
                <a:cs typeface="Arial"/>
              </a:rPr>
              <a:t>t</a:t>
            </a:r>
            <a:r>
              <a:rPr sz="1333" spc="-27" dirty="0">
                <a:solidFill>
                  <a:srgbClr val="FFFFFF"/>
                </a:solidFill>
                <a:latin typeface="Arial"/>
                <a:cs typeface="Arial"/>
              </a:rPr>
              <a:t>o</a:t>
            </a:r>
            <a:r>
              <a:rPr sz="1333" spc="280" dirty="0">
                <a:solidFill>
                  <a:srgbClr val="FFFFFF"/>
                </a:solidFill>
                <a:latin typeface="Arial"/>
                <a:cs typeface="Arial"/>
              </a:rPr>
              <a:t>r</a:t>
            </a:r>
            <a:r>
              <a:rPr sz="1333" spc="433" dirty="0">
                <a:solidFill>
                  <a:srgbClr val="FFFFFF"/>
                </a:solidFill>
                <a:latin typeface="Arial"/>
                <a:cs typeface="Arial"/>
              </a:rPr>
              <a:t>i</a:t>
            </a:r>
            <a:r>
              <a:rPr sz="1333" spc="-13" dirty="0">
                <a:solidFill>
                  <a:srgbClr val="FFFFFF"/>
                </a:solidFill>
                <a:latin typeface="Arial"/>
                <a:cs typeface="Arial"/>
              </a:rPr>
              <a:t>n</a:t>
            </a:r>
            <a:r>
              <a:rPr sz="1333" spc="40" dirty="0">
                <a:solidFill>
                  <a:srgbClr val="FFFFFF"/>
                </a:solidFill>
                <a:latin typeface="Arial"/>
                <a:cs typeface="Arial"/>
              </a:rPr>
              <a:t>g</a:t>
            </a:r>
            <a:r>
              <a:rPr sz="1333" spc="280" dirty="0">
                <a:solidFill>
                  <a:srgbClr val="FFFFFF"/>
                </a:solidFill>
                <a:latin typeface="Arial"/>
                <a:cs typeface="Arial"/>
              </a:rPr>
              <a:t>-</a:t>
            </a:r>
            <a:r>
              <a:rPr sz="1333" spc="-27" dirty="0">
                <a:solidFill>
                  <a:srgbClr val="FFFFFF"/>
                </a:solidFill>
                <a:latin typeface="Arial"/>
                <a:cs typeface="Arial"/>
              </a:rPr>
              <a:t>a</a:t>
            </a:r>
            <a:r>
              <a:rPr sz="1333" spc="-13" dirty="0">
                <a:solidFill>
                  <a:srgbClr val="FFFFFF"/>
                </a:solidFill>
                <a:latin typeface="Arial"/>
                <a:cs typeface="Arial"/>
              </a:rPr>
              <a:t>gen</a:t>
            </a:r>
            <a:r>
              <a:rPr sz="1333" spc="353" dirty="0">
                <a:solidFill>
                  <a:srgbClr val="FFFFFF"/>
                </a:solidFill>
                <a:latin typeface="Arial"/>
                <a:cs typeface="Arial"/>
              </a:rPr>
              <a:t>t  </a:t>
            </a:r>
            <a:r>
              <a:rPr sz="1333" spc="107" dirty="0">
                <a:solidFill>
                  <a:srgbClr val="FFFFFF"/>
                </a:solidFill>
                <a:latin typeface="Arial"/>
                <a:cs typeface="Arial"/>
              </a:rPr>
              <a:t>Containers:</a:t>
            </a:r>
            <a:endParaRPr sz="1333">
              <a:latin typeface="Arial"/>
              <a:cs typeface="Arial"/>
            </a:endParaRPr>
          </a:p>
        </p:txBody>
      </p:sp>
    </p:spTree>
    <p:extLst>
      <p:ext uri="{BB962C8B-B14F-4D97-AF65-F5344CB8AC3E}">
        <p14:creationId xmlns:p14="http://schemas.microsoft.com/office/powerpoint/2010/main" val="14185539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Deployment</a:t>
            </a:r>
          </a:p>
        </p:txBody>
      </p:sp>
      <p:sp>
        <p:nvSpPr>
          <p:cNvPr id="3" name="Content Placeholder 2"/>
          <p:cNvSpPr>
            <a:spLocks noGrp="1"/>
          </p:cNvSpPr>
          <p:nvPr>
            <p:ph sz="half" idx="1"/>
          </p:nvPr>
        </p:nvSpPr>
        <p:spPr/>
        <p:txBody>
          <a:bodyPr>
            <a:normAutofit/>
          </a:bodyPr>
          <a:lstStyle/>
          <a:p>
            <a:r>
              <a:rPr lang="en-US" sz="2400" dirty="0"/>
              <a:t>A Deployment provides declarative updates for Pods and</a:t>
            </a:r>
          </a:p>
          <a:p>
            <a:r>
              <a:rPr lang="en-US" sz="2400" dirty="0" err="1"/>
              <a:t>ReplicaSets</a:t>
            </a:r>
            <a:endParaRPr lang="en-US" sz="2400" dirty="0"/>
          </a:p>
          <a:p>
            <a:r>
              <a:rPr lang="en-US" sz="2400" dirty="0"/>
              <a:t>The use of plain </a:t>
            </a:r>
            <a:r>
              <a:rPr lang="en-US" sz="2400" dirty="0" err="1"/>
              <a:t>ReplicaSets</a:t>
            </a:r>
            <a:r>
              <a:rPr lang="en-US" sz="2400" dirty="0"/>
              <a:t> are being phased out in favor of</a:t>
            </a:r>
          </a:p>
          <a:p>
            <a:r>
              <a:rPr lang="en-US" sz="2400" dirty="0"/>
              <a:t>Deployments as they create </a:t>
            </a:r>
            <a:r>
              <a:rPr lang="en-US" sz="2400" dirty="0" err="1"/>
              <a:t>ReplicaSets</a:t>
            </a:r>
            <a:r>
              <a:rPr lang="en-US" sz="2400" dirty="0"/>
              <a:t> automatically</a:t>
            </a:r>
          </a:p>
          <a:p>
            <a:r>
              <a:rPr lang="en-US" sz="2400" dirty="0"/>
              <a:t>Have the ability to use simple and rolling updates</a:t>
            </a:r>
          </a:p>
          <a:p>
            <a:r>
              <a:rPr lang="en-US" sz="2400" dirty="0"/>
              <a:t>They can either be </a:t>
            </a:r>
            <a:r>
              <a:rPr lang="en-US" sz="2400" dirty="0" err="1"/>
              <a:t>Stateful</a:t>
            </a:r>
            <a:r>
              <a:rPr lang="en-US" sz="2400" dirty="0"/>
              <a:t> or Stateless</a:t>
            </a:r>
          </a:p>
        </p:txBody>
      </p:sp>
      <p:pic>
        <p:nvPicPr>
          <p:cNvPr id="5122" name="Picture 2" descr="How Kubernetes Deployments Work – The New Stack"/>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825124" y="1487055"/>
            <a:ext cx="3875752" cy="468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91518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Deployment use Case</a:t>
            </a:r>
          </a:p>
        </p:txBody>
      </p:sp>
      <p:sp>
        <p:nvSpPr>
          <p:cNvPr id="5" name="Content Placeholder 4"/>
          <p:cNvSpPr>
            <a:spLocks noGrp="1"/>
          </p:cNvSpPr>
          <p:nvPr>
            <p:ph idx="1"/>
          </p:nvPr>
        </p:nvSpPr>
        <p:spPr/>
        <p:txBody>
          <a:bodyPr>
            <a:normAutofit fontScale="92500" lnSpcReduction="10000"/>
          </a:bodyPr>
          <a:lstStyle/>
          <a:p>
            <a:pPr marL="0" indent="0">
              <a:buNone/>
            </a:pPr>
            <a:endParaRPr lang="en-US" dirty="0"/>
          </a:p>
          <a:p>
            <a:r>
              <a:rPr lang="en-US" dirty="0"/>
              <a:t>Create a Deployment to rollout a </a:t>
            </a:r>
            <a:r>
              <a:rPr lang="en-US" dirty="0" err="1"/>
              <a:t>ReplicaSet</a:t>
            </a:r>
            <a:endParaRPr lang="en-US" dirty="0"/>
          </a:p>
          <a:p>
            <a:r>
              <a:rPr lang="en-US" dirty="0"/>
              <a:t>Declare the new state of the Pods by updating the </a:t>
            </a:r>
            <a:r>
              <a:rPr lang="en-US" dirty="0" err="1"/>
              <a:t>PodTemplateSpec</a:t>
            </a:r>
            <a:r>
              <a:rPr lang="en-US" dirty="0"/>
              <a:t> of the Deployment</a:t>
            </a:r>
          </a:p>
          <a:p>
            <a:r>
              <a:rPr lang="en-US" dirty="0"/>
              <a:t>Rollback to an earlier Deployment revision if the current state of the Deployment is not stable</a:t>
            </a:r>
          </a:p>
          <a:p>
            <a:r>
              <a:rPr lang="en-US" dirty="0"/>
              <a:t>Scale up the Deployment to facilitate more load</a:t>
            </a:r>
          </a:p>
          <a:p>
            <a:r>
              <a:rPr lang="en-US" dirty="0"/>
              <a:t>Pause the Deployment to apply multiple fixes to its </a:t>
            </a:r>
            <a:r>
              <a:rPr lang="en-US" dirty="0" err="1"/>
              <a:t>PodTemplateSpec</a:t>
            </a:r>
            <a:r>
              <a:rPr lang="en-US" dirty="0"/>
              <a:t> and then resume it to start a new rollout</a:t>
            </a:r>
          </a:p>
          <a:p>
            <a:r>
              <a:rPr lang="en-US" dirty="0"/>
              <a:t>Use the status of the Deployment as an indicator that a rollout is</a:t>
            </a:r>
          </a:p>
        </p:txBody>
      </p:sp>
    </p:spTree>
    <p:extLst>
      <p:ext uri="{BB962C8B-B14F-4D97-AF65-F5344CB8AC3E}">
        <p14:creationId xmlns:p14="http://schemas.microsoft.com/office/powerpoint/2010/main" val="12936802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US" sz="4000" b="1" dirty="0"/>
              <a:t>Services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1115568" y="2481943"/>
            <a:ext cx="10168128" cy="3695020"/>
          </a:xfrm>
        </p:spPr>
        <p:txBody>
          <a:bodyPr>
            <a:normAutofit/>
          </a:bodyPr>
          <a:lstStyle/>
          <a:p>
            <a:r>
              <a:rPr lang="en-US" sz="2200" dirty="0"/>
              <a:t>A Service in Kubernetes is an API object that exposes a set of Pods as a network service, providing a stable endpoint (IP address and DNS name) to access the application running in those Pods.</a:t>
            </a:r>
          </a:p>
          <a:p>
            <a:pPr marL="0" indent="0">
              <a:buNone/>
            </a:pPr>
            <a:endParaRPr lang="en-US" sz="2200" dirty="0"/>
          </a:p>
          <a:p>
            <a:r>
              <a:rPr lang="en-US" sz="2200" dirty="0"/>
              <a:t>Services enable communication between microservices and make it easy to route external and internal traffic to Pods in a reliable way.</a:t>
            </a:r>
          </a:p>
          <a:p>
            <a:pPr marL="0" indent="0">
              <a:buNone/>
            </a:pPr>
            <a:endParaRPr lang="en-US" sz="2200" dirty="0"/>
          </a:p>
          <a:p>
            <a:r>
              <a:rPr lang="en-US" sz="2200" dirty="0"/>
              <a:t>Services enable applications to be accessed via the network both from inside and outside of the cluster, Enable apps to be accessed by users, the web, or even from other apps.</a:t>
            </a:r>
          </a:p>
          <a:p>
            <a:endParaRPr lang="en-US" sz="2200" dirty="0"/>
          </a:p>
        </p:txBody>
      </p:sp>
    </p:spTree>
    <p:extLst>
      <p:ext uri="{BB962C8B-B14F-4D97-AF65-F5344CB8AC3E}">
        <p14:creationId xmlns:p14="http://schemas.microsoft.com/office/powerpoint/2010/main" val="2397219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CFFCB-692B-724B-3AC7-B07D9A056744}"/>
              </a:ext>
            </a:extLst>
          </p:cNvPr>
          <p:cNvSpPr>
            <a:spLocks noGrp="1"/>
          </p:cNvSpPr>
          <p:nvPr>
            <p:ph type="title"/>
          </p:nvPr>
        </p:nvSpPr>
        <p:spPr/>
        <p:txBody>
          <a:bodyPr/>
          <a:lstStyle/>
          <a:p>
            <a:r>
              <a:rPr lang="en-US" b="1" dirty="0"/>
              <a:t>Why services are needed</a:t>
            </a:r>
          </a:p>
        </p:txBody>
      </p:sp>
      <p:sp>
        <p:nvSpPr>
          <p:cNvPr id="3" name="Content Placeholder 2">
            <a:extLst>
              <a:ext uri="{FF2B5EF4-FFF2-40B4-BE49-F238E27FC236}">
                <a16:creationId xmlns:a16="http://schemas.microsoft.com/office/drawing/2014/main" id="{337B97A7-B66D-BE99-924D-1E3B28DAA448}"/>
              </a:ext>
            </a:extLst>
          </p:cNvPr>
          <p:cNvSpPr>
            <a:spLocks noGrp="1"/>
          </p:cNvSpPr>
          <p:nvPr>
            <p:ph idx="1"/>
          </p:nvPr>
        </p:nvSpPr>
        <p:spPr/>
        <p:txBody>
          <a:bodyPr>
            <a:normAutofit/>
          </a:bodyPr>
          <a:lstStyle/>
          <a:p>
            <a:endParaRPr lang="en-US" sz="2400" dirty="0"/>
          </a:p>
          <a:p>
            <a:r>
              <a:rPr lang="en-US" sz="2400" dirty="0"/>
              <a:t>Pods in Kubernetes are ephemeral, and their IP addresses change when recreated, making direct access unreliable.</a:t>
            </a:r>
          </a:p>
          <a:p>
            <a:endParaRPr lang="en-US" sz="2400" dirty="0"/>
          </a:p>
          <a:p>
            <a:r>
              <a:rPr lang="en-US" sz="2400" dirty="0"/>
              <a:t>A Service provides a permanent, stable IP address and DNS name to a set of Pods, decoupling clients and backends and enabling seamless pod replacement and scaling.</a:t>
            </a:r>
          </a:p>
          <a:p>
            <a:endParaRPr lang="en-US" sz="2400" dirty="0"/>
          </a:p>
          <a:p>
            <a:r>
              <a:rPr lang="en-US" sz="2400" dirty="0"/>
              <a:t>Services also handle load balancing between Pod replicas and facilitate service discovery for other components within the cluster.</a:t>
            </a:r>
          </a:p>
        </p:txBody>
      </p:sp>
    </p:spTree>
    <p:extLst>
      <p:ext uri="{BB962C8B-B14F-4D97-AF65-F5344CB8AC3E}">
        <p14:creationId xmlns:p14="http://schemas.microsoft.com/office/powerpoint/2010/main" val="20419093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973D6-F06E-ACBF-55E9-56350EB409CB}"/>
              </a:ext>
            </a:extLst>
          </p:cNvPr>
          <p:cNvSpPr>
            <a:spLocks noGrp="1"/>
          </p:cNvSpPr>
          <p:nvPr>
            <p:ph type="title"/>
          </p:nvPr>
        </p:nvSpPr>
        <p:spPr/>
        <p:txBody>
          <a:bodyPr/>
          <a:lstStyle/>
          <a:p>
            <a:r>
              <a:rPr lang="en-US" b="1" dirty="0"/>
              <a:t>How Services Work</a:t>
            </a:r>
          </a:p>
        </p:txBody>
      </p:sp>
      <p:sp>
        <p:nvSpPr>
          <p:cNvPr id="3" name="Content Placeholder 2">
            <a:extLst>
              <a:ext uri="{FF2B5EF4-FFF2-40B4-BE49-F238E27FC236}">
                <a16:creationId xmlns:a16="http://schemas.microsoft.com/office/drawing/2014/main" id="{B5272159-AA8A-AE95-D3F9-3C99D26045BC}"/>
              </a:ext>
            </a:extLst>
          </p:cNvPr>
          <p:cNvSpPr>
            <a:spLocks noGrp="1"/>
          </p:cNvSpPr>
          <p:nvPr>
            <p:ph idx="1"/>
          </p:nvPr>
        </p:nvSpPr>
        <p:spPr/>
        <p:txBody>
          <a:bodyPr/>
          <a:lstStyle/>
          <a:p>
            <a:endParaRPr lang="en-US" dirty="0"/>
          </a:p>
          <a:p>
            <a:r>
              <a:rPr lang="en-US" sz="2400" dirty="0"/>
              <a:t>Services select target Pods using label selectors. Any Pod that matches the selector is added as a backend endpoint for the Service.</a:t>
            </a:r>
          </a:p>
          <a:p>
            <a:endParaRPr lang="en-US" sz="2400" dirty="0"/>
          </a:p>
          <a:p>
            <a:r>
              <a:rPr lang="en-US" sz="2400" dirty="0"/>
              <a:t>When network traffic is sent to the Service’s IP, it is routed automatically to one of the matching Pods.</a:t>
            </a:r>
          </a:p>
          <a:p>
            <a:endParaRPr lang="en-US" sz="2400" dirty="0"/>
          </a:p>
          <a:p>
            <a:r>
              <a:rPr lang="en-US" sz="2400" dirty="0"/>
              <a:t>Each Service has a DNS name, making it easy to reference in applications and scripts.</a:t>
            </a:r>
          </a:p>
        </p:txBody>
      </p:sp>
    </p:spTree>
    <p:extLst>
      <p:ext uri="{BB962C8B-B14F-4D97-AF65-F5344CB8AC3E}">
        <p14:creationId xmlns:p14="http://schemas.microsoft.com/office/powerpoint/2010/main" val="37200135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6B229-4595-B875-7DEE-678425775EE5}"/>
              </a:ext>
            </a:extLst>
          </p:cNvPr>
          <p:cNvSpPr>
            <a:spLocks noGrp="1"/>
          </p:cNvSpPr>
          <p:nvPr>
            <p:ph type="title"/>
          </p:nvPr>
        </p:nvSpPr>
        <p:spPr/>
        <p:txBody>
          <a:bodyPr/>
          <a:lstStyle/>
          <a:p>
            <a:r>
              <a:rPr lang="en-US" b="1" dirty="0"/>
              <a:t>Types of Services</a:t>
            </a:r>
          </a:p>
        </p:txBody>
      </p:sp>
      <p:sp>
        <p:nvSpPr>
          <p:cNvPr id="3" name="Content Placeholder 2">
            <a:extLst>
              <a:ext uri="{FF2B5EF4-FFF2-40B4-BE49-F238E27FC236}">
                <a16:creationId xmlns:a16="http://schemas.microsoft.com/office/drawing/2014/main" id="{9AFD55B6-49C9-A828-8AE8-57D84CF8E8AF}"/>
              </a:ext>
            </a:extLst>
          </p:cNvPr>
          <p:cNvSpPr>
            <a:spLocks noGrp="1"/>
          </p:cNvSpPr>
          <p:nvPr>
            <p:ph idx="1"/>
          </p:nvPr>
        </p:nvSpPr>
        <p:spPr/>
        <p:txBody>
          <a:bodyPr>
            <a:normAutofit fontScale="92500" lnSpcReduction="20000"/>
          </a:bodyPr>
          <a:lstStyle/>
          <a:p>
            <a:endParaRPr lang="en-US" sz="2400" b="1" dirty="0"/>
          </a:p>
          <a:p>
            <a:r>
              <a:rPr lang="en-US" sz="2400" b="1" dirty="0"/>
              <a:t>Cluster IP: </a:t>
            </a:r>
            <a:r>
              <a:rPr lang="en-US" sz="2400" dirty="0"/>
              <a:t>(default) Accessible only within the cluster.</a:t>
            </a:r>
          </a:p>
          <a:p>
            <a:endParaRPr lang="en-US" sz="2400" dirty="0"/>
          </a:p>
          <a:p>
            <a:r>
              <a:rPr lang="en-US" sz="2400" b="1" dirty="0"/>
              <a:t>Node Port: </a:t>
            </a:r>
            <a:r>
              <a:rPr lang="en-US" sz="2400" dirty="0"/>
              <a:t>Exposes the Service on a static port on each node, accessible externally via &lt;Node IP&gt;:&lt;Port&gt;.</a:t>
            </a:r>
          </a:p>
          <a:p>
            <a:endParaRPr lang="en-US" sz="2400" dirty="0"/>
          </a:p>
          <a:p>
            <a:r>
              <a:rPr lang="en-US" sz="2400" b="1" dirty="0"/>
              <a:t>Load Balancer: </a:t>
            </a:r>
            <a:r>
              <a:rPr lang="en-US" sz="2400" dirty="0"/>
              <a:t>Provisions an external IP using a cloud load balancer for public access (in supported environments).</a:t>
            </a:r>
          </a:p>
          <a:p>
            <a:endParaRPr lang="en-US" sz="2400" dirty="0"/>
          </a:p>
          <a:p>
            <a:r>
              <a:rPr lang="en-US" sz="2400" b="1" dirty="0"/>
              <a:t>External Name: </a:t>
            </a:r>
            <a:r>
              <a:rPr lang="en-US" sz="2400" dirty="0"/>
              <a:t>Maps the Service to an external DNS name without proxying.</a:t>
            </a:r>
          </a:p>
          <a:p>
            <a:endParaRPr lang="en-US" sz="2400" dirty="0"/>
          </a:p>
          <a:p>
            <a:r>
              <a:rPr lang="en-US" sz="2400" b="1" dirty="0"/>
              <a:t>Headless: </a:t>
            </a:r>
            <a:r>
              <a:rPr lang="en-US" sz="2400" dirty="0"/>
              <a:t>No cluster IP, provides direct access to individual Pods (usually for advanced DNS-based service discovery)</a:t>
            </a:r>
          </a:p>
        </p:txBody>
      </p:sp>
    </p:spTree>
    <p:extLst>
      <p:ext uri="{BB962C8B-B14F-4D97-AF65-F5344CB8AC3E}">
        <p14:creationId xmlns:p14="http://schemas.microsoft.com/office/powerpoint/2010/main" val="679389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Service Types</a:t>
            </a:r>
          </a:p>
        </p:txBody>
      </p:sp>
      <p:pic>
        <p:nvPicPr>
          <p:cNvPr id="4" name="Content Placeholder 3"/>
          <p:cNvPicPr>
            <a:picLocks noGrp="1" noChangeAspect="1"/>
          </p:cNvPicPr>
          <p:nvPr>
            <p:ph idx="1"/>
          </p:nvPr>
        </p:nvPicPr>
        <p:blipFill>
          <a:blip r:embed="rId2"/>
          <a:stretch>
            <a:fillRect/>
          </a:stretch>
        </p:blipFill>
        <p:spPr>
          <a:xfrm>
            <a:off x="1385455" y="2170545"/>
            <a:ext cx="8405090" cy="3417455"/>
          </a:xfrm>
          <a:prstGeom prst="rect">
            <a:avLst/>
          </a:prstGeom>
        </p:spPr>
      </p:pic>
      <p:sp>
        <p:nvSpPr>
          <p:cNvPr id="5" name="TextBox 4"/>
          <p:cNvSpPr txBox="1"/>
          <p:nvPr/>
        </p:nvSpPr>
        <p:spPr>
          <a:xfrm>
            <a:off x="1699491" y="5098473"/>
            <a:ext cx="1085746" cy="369332"/>
          </a:xfrm>
          <a:prstGeom prst="rect">
            <a:avLst/>
          </a:prstGeom>
          <a:noFill/>
        </p:spPr>
        <p:txBody>
          <a:bodyPr wrap="none" rtlCol="0">
            <a:spAutoFit/>
          </a:bodyPr>
          <a:lstStyle/>
          <a:p>
            <a:r>
              <a:rPr lang="en-US" dirty="0"/>
              <a:t>NodePort</a:t>
            </a:r>
          </a:p>
        </p:txBody>
      </p:sp>
      <p:sp>
        <p:nvSpPr>
          <p:cNvPr id="6" name="TextBox 5"/>
          <p:cNvSpPr txBox="1"/>
          <p:nvPr/>
        </p:nvSpPr>
        <p:spPr>
          <a:xfrm>
            <a:off x="4978400" y="5070763"/>
            <a:ext cx="1080659" cy="369332"/>
          </a:xfrm>
          <a:prstGeom prst="rect">
            <a:avLst/>
          </a:prstGeom>
          <a:noFill/>
        </p:spPr>
        <p:txBody>
          <a:bodyPr wrap="square" rtlCol="0">
            <a:spAutoFit/>
          </a:bodyPr>
          <a:lstStyle/>
          <a:p>
            <a:r>
              <a:rPr lang="en-US" dirty="0"/>
              <a:t>ClusterIP</a:t>
            </a:r>
          </a:p>
        </p:txBody>
      </p:sp>
      <p:sp>
        <p:nvSpPr>
          <p:cNvPr id="7" name="TextBox 6"/>
          <p:cNvSpPr txBox="1"/>
          <p:nvPr/>
        </p:nvSpPr>
        <p:spPr>
          <a:xfrm>
            <a:off x="8192655" y="5043054"/>
            <a:ext cx="1447832" cy="369332"/>
          </a:xfrm>
          <a:prstGeom prst="rect">
            <a:avLst/>
          </a:prstGeom>
          <a:noFill/>
        </p:spPr>
        <p:txBody>
          <a:bodyPr wrap="none" rtlCol="0">
            <a:spAutoFit/>
          </a:bodyPr>
          <a:lstStyle/>
          <a:p>
            <a:r>
              <a:rPr lang="en-US" dirty="0" err="1"/>
              <a:t>Loadbalancer</a:t>
            </a:r>
            <a:endParaRPr lang="en-US" dirty="0"/>
          </a:p>
        </p:txBody>
      </p:sp>
    </p:spTree>
    <p:extLst>
      <p:ext uri="{BB962C8B-B14F-4D97-AF65-F5344CB8AC3E}">
        <p14:creationId xmlns:p14="http://schemas.microsoft.com/office/powerpoint/2010/main" val="39617641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US" sz="4000" b="1" dirty="0" err="1"/>
              <a:t>ClusterIP</a:t>
            </a:r>
            <a:endParaRPr lang="en-US" sz="4000" b="1"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1115568" y="2481943"/>
            <a:ext cx="10168128" cy="3695020"/>
          </a:xfrm>
        </p:spPr>
        <p:txBody>
          <a:bodyPr>
            <a:normAutofit/>
          </a:bodyPr>
          <a:lstStyle/>
          <a:p>
            <a:endParaRPr lang="en-US" sz="2200" dirty="0"/>
          </a:p>
          <a:p>
            <a:endParaRPr lang="en-US" sz="2200" dirty="0"/>
          </a:p>
          <a:p>
            <a:r>
              <a:rPr lang="en-US" sz="2200" b="1" dirty="0"/>
              <a:t>Description: </a:t>
            </a:r>
            <a:r>
              <a:rPr lang="en-US" sz="2200" dirty="0"/>
              <a:t>The default type, exposes the Service on a cluster-internal IP.</a:t>
            </a:r>
          </a:p>
          <a:p>
            <a:r>
              <a:rPr lang="en-US" sz="2200" b="1" dirty="0"/>
              <a:t>Accessibility: </a:t>
            </a:r>
            <a:r>
              <a:rPr lang="en-US" sz="2200" dirty="0"/>
              <a:t>Only reachable from within the cluster (no external access).</a:t>
            </a:r>
          </a:p>
          <a:p>
            <a:r>
              <a:rPr lang="en-US" sz="2200" b="1" dirty="0"/>
              <a:t>Use Case: </a:t>
            </a:r>
            <a:r>
              <a:rPr lang="en-US" sz="2200" dirty="0"/>
              <a:t>Internal communications between microservices, backend APIs, and intra-cluster workloads where no outside access is required.</a:t>
            </a:r>
          </a:p>
          <a:p>
            <a:r>
              <a:rPr lang="en-US" sz="2200" b="1" dirty="0"/>
              <a:t>Example: </a:t>
            </a:r>
            <a:r>
              <a:rPr lang="en-US" sz="2200" dirty="0"/>
              <a:t>Connecting a frontend deployment to an internal backend service over HTTP.</a:t>
            </a:r>
          </a:p>
        </p:txBody>
      </p:sp>
    </p:spTree>
    <p:extLst>
      <p:ext uri="{BB962C8B-B14F-4D97-AF65-F5344CB8AC3E}">
        <p14:creationId xmlns:p14="http://schemas.microsoft.com/office/powerpoint/2010/main" val="10346638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9672" y="443347"/>
            <a:ext cx="9310255" cy="5587998"/>
          </a:xfrm>
        </p:spPr>
      </p:pic>
    </p:spTree>
    <p:extLst>
      <p:ext uri="{BB962C8B-B14F-4D97-AF65-F5344CB8AC3E}">
        <p14:creationId xmlns:p14="http://schemas.microsoft.com/office/powerpoint/2010/main" val="30779563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ClusterIP</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7552" y="1440874"/>
            <a:ext cx="10006630" cy="4701308"/>
          </a:xfrm>
        </p:spPr>
      </p:pic>
    </p:spTree>
    <p:extLst>
      <p:ext uri="{BB962C8B-B14F-4D97-AF65-F5344CB8AC3E}">
        <p14:creationId xmlns:p14="http://schemas.microsoft.com/office/powerpoint/2010/main" val="5592958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US" sz="4000"/>
              <a:t>NodePort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1115568" y="2481943"/>
            <a:ext cx="10168128" cy="3695020"/>
          </a:xfrm>
        </p:spPr>
        <p:txBody>
          <a:bodyPr>
            <a:normAutofit/>
          </a:bodyPr>
          <a:lstStyle/>
          <a:p>
            <a:pPr marL="0" indent="0">
              <a:buNone/>
            </a:pPr>
            <a:endParaRPr lang="en-US" sz="2200" dirty="0"/>
          </a:p>
          <a:p>
            <a:pPr marL="0" indent="0">
              <a:buNone/>
            </a:pPr>
            <a:r>
              <a:rPr lang="en-US" sz="2200" b="1" dirty="0"/>
              <a:t>Description: </a:t>
            </a:r>
            <a:r>
              <a:rPr lang="en-US" sz="2200" dirty="0"/>
              <a:t>Exposes the Service on each node's IP at a static port within a range (default: 30000-32767).</a:t>
            </a:r>
          </a:p>
          <a:p>
            <a:pPr marL="0" indent="0">
              <a:buNone/>
            </a:pPr>
            <a:r>
              <a:rPr lang="en-US" sz="2200" b="1" dirty="0"/>
              <a:t>Accessibility: </a:t>
            </a:r>
            <a:r>
              <a:rPr lang="en-US" sz="2200" dirty="0"/>
              <a:t>Accessible outside the cluster using &lt;</a:t>
            </a:r>
            <a:r>
              <a:rPr lang="en-US" sz="2200" dirty="0" err="1"/>
              <a:t>NodeIP</a:t>
            </a:r>
            <a:r>
              <a:rPr lang="en-US" sz="2200" dirty="0"/>
              <a:t>&gt;:&lt;</a:t>
            </a:r>
            <a:r>
              <a:rPr lang="en-US" sz="2200" dirty="0" err="1"/>
              <a:t>NodePort</a:t>
            </a:r>
            <a:r>
              <a:rPr lang="en-US" sz="2200" dirty="0"/>
              <a:t>&gt;.</a:t>
            </a:r>
          </a:p>
          <a:p>
            <a:pPr marL="0" indent="0">
              <a:buNone/>
            </a:pPr>
            <a:r>
              <a:rPr lang="en-US" sz="2200" b="1" dirty="0"/>
              <a:t>Use Case: </a:t>
            </a:r>
            <a:r>
              <a:rPr lang="en-US" sz="2200" dirty="0"/>
              <a:t>Development, demos, or where basic external access is needed without a managed load balancer.</a:t>
            </a:r>
          </a:p>
          <a:p>
            <a:pPr marL="0" indent="0">
              <a:buNone/>
            </a:pPr>
            <a:r>
              <a:rPr lang="en-US" sz="2200" b="1" dirty="0"/>
              <a:t>Example: </a:t>
            </a:r>
            <a:r>
              <a:rPr lang="en-US" sz="2200" dirty="0"/>
              <a:t>Accessing a demo web app from a developer’s laptop via the node’s external IP address.</a:t>
            </a:r>
          </a:p>
          <a:p>
            <a:pPr marL="0" indent="0">
              <a:buNone/>
            </a:pPr>
            <a:r>
              <a:rPr lang="en-US" sz="2200" dirty="0"/>
              <a:t>Example: http://worker1.example.com:31008</a:t>
            </a:r>
          </a:p>
        </p:txBody>
      </p:sp>
    </p:spTree>
    <p:extLst>
      <p:ext uri="{BB962C8B-B14F-4D97-AF65-F5344CB8AC3E}">
        <p14:creationId xmlns:p14="http://schemas.microsoft.com/office/powerpoint/2010/main" val="1717440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1680" y="249501"/>
            <a:ext cx="9617555" cy="5477044"/>
          </a:xfrm>
        </p:spPr>
      </p:pic>
    </p:spTree>
    <p:extLst>
      <p:ext uri="{BB962C8B-B14F-4D97-AF65-F5344CB8AC3E}">
        <p14:creationId xmlns:p14="http://schemas.microsoft.com/office/powerpoint/2010/main" val="34826250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889" y="0"/>
            <a:ext cx="11148291" cy="6049818"/>
          </a:xfrm>
        </p:spPr>
      </p:pic>
    </p:spTree>
    <p:extLst>
      <p:ext uri="{BB962C8B-B14F-4D97-AF65-F5344CB8AC3E}">
        <p14:creationId xmlns:p14="http://schemas.microsoft.com/office/powerpoint/2010/main" val="40643411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US" sz="4000"/>
              <a:t>LoadBalancer</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1115568" y="2481943"/>
            <a:ext cx="10168128" cy="3695020"/>
          </a:xfrm>
        </p:spPr>
        <p:txBody>
          <a:bodyPr>
            <a:normAutofit/>
          </a:bodyPr>
          <a:lstStyle/>
          <a:p>
            <a:r>
              <a:rPr lang="en-US" sz="2200" dirty="0"/>
              <a:t>Provides unique IP addresses per app.</a:t>
            </a:r>
          </a:p>
          <a:p>
            <a:pPr marL="0" indent="0">
              <a:buNone/>
            </a:pPr>
            <a:endParaRPr lang="en-US" sz="2200" dirty="0"/>
          </a:p>
          <a:p>
            <a:r>
              <a:rPr lang="en-US" sz="2200" dirty="0"/>
              <a:t>IPs come from a pool of available addresses that you allocate.</a:t>
            </a:r>
          </a:p>
          <a:p>
            <a:pPr marL="0" indent="0">
              <a:buNone/>
            </a:pPr>
            <a:endParaRPr lang="en-US" sz="2200" dirty="0"/>
          </a:p>
          <a:p>
            <a:r>
              <a:rPr lang="en-US" sz="2200" dirty="0"/>
              <a:t>Public cloud providers have their own </a:t>
            </a:r>
            <a:r>
              <a:rPr lang="en-US" sz="2200" dirty="0" err="1"/>
              <a:t>LoadBalancers</a:t>
            </a:r>
            <a:r>
              <a:rPr lang="en-US" sz="2200" dirty="0"/>
              <a:t> that can be used. Some providers like AWS provide full FQDN instead of IPs for Kubernetes.</a:t>
            </a:r>
          </a:p>
          <a:p>
            <a:pPr marL="0" indent="0">
              <a:buNone/>
            </a:pPr>
            <a:endParaRPr lang="en-US" sz="2200" dirty="0"/>
          </a:p>
          <a:p>
            <a:r>
              <a:rPr lang="en-US" sz="2200" dirty="0"/>
              <a:t>The </a:t>
            </a:r>
            <a:r>
              <a:rPr lang="en-US" sz="2200" dirty="0" err="1"/>
              <a:t>LoadBalancer</a:t>
            </a:r>
            <a:r>
              <a:rPr lang="en-US" sz="2200" dirty="0"/>
              <a:t> service type is not built into the Kubernetes cluster at the current time. This must be installed with an application like </a:t>
            </a:r>
            <a:r>
              <a:rPr lang="en-US" sz="2200" dirty="0" err="1"/>
              <a:t>Metallb</a:t>
            </a:r>
            <a:r>
              <a:rPr lang="en-US" sz="2200" dirty="0"/>
              <a:t>.</a:t>
            </a:r>
          </a:p>
        </p:txBody>
      </p:sp>
    </p:spTree>
    <p:extLst>
      <p:ext uri="{BB962C8B-B14F-4D97-AF65-F5344CB8AC3E}">
        <p14:creationId xmlns:p14="http://schemas.microsoft.com/office/powerpoint/2010/main" val="31406752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A39EE-2D76-80DA-1B0C-ED2887C1F055}"/>
              </a:ext>
            </a:extLst>
          </p:cNvPr>
          <p:cNvSpPr>
            <a:spLocks noGrp="1"/>
          </p:cNvSpPr>
          <p:nvPr>
            <p:ph type="title"/>
          </p:nvPr>
        </p:nvSpPr>
        <p:spPr/>
        <p:txBody>
          <a:bodyPr>
            <a:normAutofit/>
          </a:bodyPr>
          <a:lstStyle/>
          <a:p>
            <a:r>
              <a:rPr lang="en-US" sz="3600" b="1" dirty="0"/>
              <a:t>Load Balancer Service</a:t>
            </a:r>
          </a:p>
        </p:txBody>
      </p:sp>
      <p:sp>
        <p:nvSpPr>
          <p:cNvPr id="3" name="Content Placeholder 2">
            <a:extLst>
              <a:ext uri="{FF2B5EF4-FFF2-40B4-BE49-F238E27FC236}">
                <a16:creationId xmlns:a16="http://schemas.microsoft.com/office/drawing/2014/main" id="{89FB39D9-7BA5-5BFF-FE10-B41E50639874}"/>
              </a:ext>
            </a:extLst>
          </p:cNvPr>
          <p:cNvSpPr>
            <a:spLocks noGrp="1"/>
          </p:cNvSpPr>
          <p:nvPr>
            <p:ph idx="1"/>
          </p:nvPr>
        </p:nvSpPr>
        <p:spPr/>
        <p:txBody>
          <a:bodyPr>
            <a:normAutofit/>
          </a:bodyPr>
          <a:lstStyle/>
          <a:p>
            <a:endParaRPr lang="en-US" sz="2400" dirty="0"/>
          </a:p>
          <a:p>
            <a:r>
              <a:rPr lang="en-US" sz="2400" b="1" dirty="0"/>
              <a:t>Description: </a:t>
            </a:r>
            <a:r>
              <a:rPr lang="en-US" sz="2400" dirty="0"/>
              <a:t>Integrates with cloud platforms to provision an external load balancer providing a fixed public IP.</a:t>
            </a:r>
          </a:p>
          <a:p>
            <a:r>
              <a:rPr lang="en-US" sz="2400" b="1" dirty="0"/>
              <a:t>Accessibility: </a:t>
            </a:r>
            <a:r>
              <a:rPr lang="en-US" sz="2400" dirty="0"/>
              <a:t>Exposed to external traffic via a cloud-managed load balancer.</a:t>
            </a:r>
          </a:p>
          <a:p>
            <a:r>
              <a:rPr lang="en-US" sz="2400" b="1" dirty="0"/>
              <a:t>Use Case: </a:t>
            </a:r>
            <a:r>
              <a:rPr lang="en-US" sz="2400" dirty="0"/>
              <a:t>Production deployments where external consumers or clients require highly available access (common in public cloud environments).</a:t>
            </a:r>
          </a:p>
          <a:p>
            <a:r>
              <a:rPr lang="en-US" sz="2400" b="1" dirty="0"/>
              <a:t>Example: </a:t>
            </a:r>
            <a:r>
              <a:rPr lang="en-US" sz="2400" dirty="0"/>
              <a:t>Running a SaaS web application with high traffic that must be accessible over the internet.</a:t>
            </a:r>
          </a:p>
        </p:txBody>
      </p:sp>
    </p:spTree>
    <p:extLst>
      <p:ext uri="{BB962C8B-B14F-4D97-AF65-F5344CB8AC3E}">
        <p14:creationId xmlns:p14="http://schemas.microsoft.com/office/powerpoint/2010/main" val="39891862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5515" y="408539"/>
            <a:ext cx="9711648" cy="5475025"/>
          </a:xfrm>
        </p:spPr>
      </p:pic>
    </p:spTree>
    <p:extLst>
      <p:ext uri="{BB962C8B-B14F-4D97-AF65-F5344CB8AC3E}">
        <p14:creationId xmlns:p14="http://schemas.microsoft.com/office/powerpoint/2010/main" val="42100376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901690" y="405575"/>
            <a:ext cx="6430414" cy="1371600"/>
          </a:xfrm>
        </p:spPr>
        <p:txBody>
          <a:bodyPr vert="horz" lIns="91440" tIns="45720" rIns="91440" bIns="45720" rtlCol="0" anchor="ctr">
            <a:normAutofit/>
          </a:bodyPr>
          <a:lstStyle/>
          <a:p>
            <a:r>
              <a:rPr lang="en-US" sz="4000" kern="1200">
                <a:solidFill>
                  <a:schemeClr val="tx1"/>
                </a:solidFill>
                <a:latin typeface="+mj-lt"/>
                <a:ea typeface="+mj-ea"/>
                <a:cs typeface="+mj-cs"/>
              </a:rPr>
              <a:t>LoadBalancer</a:t>
            </a:r>
          </a:p>
        </p:txBody>
      </p:sp>
      <p:sp>
        <p:nvSpPr>
          <p:cNvPr id="13" name="Rectangle 1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8020" y="2091095"/>
            <a:ext cx="9399424" cy="4206240"/>
          </a:xfrm>
          <a:prstGeom prst="rect">
            <a:avLst/>
          </a:prstGeom>
        </p:spPr>
      </p:pic>
    </p:spTree>
    <p:extLst>
      <p:ext uri="{BB962C8B-B14F-4D97-AF65-F5344CB8AC3E}">
        <p14:creationId xmlns:p14="http://schemas.microsoft.com/office/powerpoint/2010/main" val="16815505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US" sz="4000" b="1"/>
              <a:t>Ingress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1115568" y="2481943"/>
            <a:ext cx="10168128" cy="3695020"/>
          </a:xfrm>
        </p:spPr>
        <p:txBody>
          <a:bodyPr>
            <a:normAutofit/>
          </a:bodyPr>
          <a:lstStyle/>
          <a:p>
            <a:pPr marL="0" indent="0">
              <a:buNone/>
            </a:pPr>
            <a:r>
              <a:rPr lang="en-US" sz="2200"/>
              <a:t>An Ingress is a Kubernetes API object that manages external HTTP and HTTPS access to Services inside a cluster.</a:t>
            </a:r>
          </a:p>
          <a:p>
            <a:pPr marL="0" indent="0">
              <a:buNone/>
            </a:pPr>
            <a:r>
              <a:rPr lang="en-US" sz="2200"/>
              <a:t>It acts as an intelligent router or reverse proxy, routing external traffic to the correct internal Services based on rules like:</a:t>
            </a:r>
          </a:p>
          <a:p>
            <a:pPr marL="0" indent="0">
              <a:buNone/>
            </a:pPr>
            <a:endParaRPr lang="en-US" sz="2200"/>
          </a:p>
          <a:p>
            <a:pPr marL="0" indent="0">
              <a:buNone/>
            </a:pPr>
            <a:r>
              <a:rPr lang="en-US" sz="2200"/>
              <a:t>. Path-based routing (/app, /api)</a:t>
            </a:r>
          </a:p>
          <a:p>
            <a:pPr marL="0" indent="0">
              <a:buNone/>
            </a:pPr>
            <a:r>
              <a:rPr lang="en-US" sz="2200"/>
              <a:t>. Host-based routing (app.example.com)</a:t>
            </a:r>
          </a:p>
          <a:p>
            <a:pPr marL="0" indent="0">
              <a:buNone/>
            </a:pPr>
            <a:r>
              <a:rPr lang="en-US" sz="2200"/>
              <a:t>. TLS termination (HTTPS)</a:t>
            </a:r>
          </a:p>
          <a:p>
            <a:pPr marL="0" indent="0">
              <a:buNone/>
            </a:pPr>
            <a:r>
              <a:rPr lang="en-US" sz="2200"/>
              <a:t>. Load balancing for HTTP traffic</a:t>
            </a:r>
          </a:p>
        </p:txBody>
      </p:sp>
    </p:spTree>
    <p:extLst>
      <p:ext uri="{BB962C8B-B14F-4D97-AF65-F5344CB8AC3E}">
        <p14:creationId xmlns:p14="http://schemas.microsoft.com/office/powerpoint/2010/main" val="38196890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US" sz="4000" b="1"/>
              <a:t>How Ingress Works</a:t>
            </a:r>
          </a:p>
        </p:txBody>
      </p:sp>
      <p:sp>
        <p:nvSpPr>
          <p:cNvPr id="16" name="Rectangle 1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36282FE5-083C-8B7C-52DE-AC1F8913CF75}"/>
              </a:ext>
            </a:extLst>
          </p:cNvPr>
          <p:cNvSpPr>
            <a:spLocks noGrp="1"/>
          </p:cNvSpPr>
          <p:nvPr>
            <p:ph idx="1"/>
          </p:nvPr>
        </p:nvSpPr>
        <p:spPr>
          <a:xfrm>
            <a:off x="1115568" y="2481943"/>
            <a:ext cx="10168128" cy="3695020"/>
          </a:xfrm>
        </p:spPr>
        <p:txBody>
          <a:bodyPr>
            <a:normAutofit/>
          </a:bodyPr>
          <a:lstStyle/>
          <a:p>
            <a:r>
              <a:rPr lang="en-US" sz="2200"/>
              <a:t>Ingress Resource: Defines routing rules (what host/path goes to which service).</a:t>
            </a:r>
          </a:p>
          <a:p>
            <a:pPr marL="0" indent="0">
              <a:buNone/>
            </a:pPr>
            <a:endParaRPr lang="en-US" sz="2200"/>
          </a:p>
          <a:p>
            <a:r>
              <a:rPr lang="en-US" sz="2200"/>
              <a:t>Ingress Controller: A pod or set of pods (like NGINX, Traefik, HAProxy) that implements those rules.</a:t>
            </a:r>
          </a:p>
          <a:p>
            <a:endParaRPr lang="en-US" sz="2200"/>
          </a:p>
          <a:p>
            <a:r>
              <a:rPr lang="en-US" sz="2200"/>
              <a:t>External traffic hits the Ingress Controller.</a:t>
            </a:r>
          </a:p>
          <a:p>
            <a:endParaRPr lang="en-US" sz="2200"/>
          </a:p>
          <a:p>
            <a:r>
              <a:rPr lang="en-US" sz="2200"/>
              <a:t>The controller reads Ingress rules and forwards requests to the right Service, which then routes to a Pod.</a:t>
            </a:r>
          </a:p>
        </p:txBody>
      </p:sp>
    </p:spTree>
    <p:extLst>
      <p:ext uri="{BB962C8B-B14F-4D97-AF65-F5344CB8AC3E}">
        <p14:creationId xmlns:p14="http://schemas.microsoft.com/office/powerpoint/2010/main" val="11636107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ABA6878-3565-1880-6AC9-276C595C3327}"/>
              </a:ext>
            </a:extLst>
          </p:cNvPr>
          <p:cNvSpPr>
            <a:spLocks noGrp="1"/>
          </p:cNvSpPr>
          <p:nvPr>
            <p:ph type="title"/>
          </p:nvPr>
        </p:nvSpPr>
        <p:spPr>
          <a:xfrm>
            <a:off x="1115568" y="548640"/>
            <a:ext cx="10168128" cy="1179576"/>
          </a:xfrm>
        </p:spPr>
        <p:txBody>
          <a:bodyPr>
            <a:normAutofit/>
          </a:bodyPr>
          <a:lstStyle/>
          <a:p>
            <a:r>
              <a:rPr lang="en-US" sz="4000" b="1"/>
              <a:t>Ingress Traffic Flow</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38B716E-C674-C7B8-D738-C6F9184CEC87}"/>
              </a:ext>
            </a:extLst>
          </p:cNvPr>
          <p:cNvSpPr>
            <a:spLocks noGrp="1"/>
          </p:cNvSpPr>
          <p:nvPr>
            <p:ph idx="1"/>
          </p:nvPr>
        </p:nvSpPr>
        <p:spPr>
          <a:xfrm>
            <a:off x="1115568" y="2481943"/>
            <a:ext cx="10168128" cy="3695020"/>
          </a:xfrm>
        </p:spPr>
        <p:txBody>
          <a:bodyPr>
            <a:normAutofit/>
          </a:bodyPr>
          <a:lstStyle/>
          <a:p>
            <a:pPr marL="0" indent="0">
              <a:buNone/>
            </a:pPr>
            <a:r>
              <a:rPr lang="en-US" sz="2000" dirty="0"/>
              <a:t>User (Internet)</a:t>
            </a:r>
          </a:p>
          <a:p>
            <a:pPr marL="0" indent="0">
              <a:buNone/>
            </a:pPr>
            <a:r>
              <a:rPr lang="en-US" sz="2000" dirty="0"/>
              <a:t>  ↓</a:t>
            </a:r>
          </a:p>
          <a:p>
            <a:pPr marL="0" indent="0">
              <a:buNone/>
            </a:pPr>
            <a:r>
              <a:rPr lang="en-US" sz="2000" dirty="0"/>
              <a:t>[Ingress Controller] (e.g., NGINX)</a:t>
            </a:r>
          </a:p>
          <a:p>
            <a:pPr marL="0" indent="0">
              <a:buNone/>
            </a:pPr>
            <a:r>
              <a:rPr lang="en-US" sz="2000" dirty="0"/>
              <a:t>   ↓</a:t>
            </a:r>
          </a:p>
          <a:p>
            <a:pPr marL="0" indent="0">
              <a:buNone/>
            </a:pPr>
            <a:r>
              <a:rPr lang="en-US" sz="2000" dirty="0"/>
              <a:t>Ingress Resource Rules</a:t>
            </a:r>
          </a:p>
          <a:p>
            <a:pPr marL="0" indent="0">
              <a:buNone/>
            </a:pPr>
            <a:r>
              <a:rPr lang="en-US" sz="2000" dirty="0"/>
              <a:t>   ↓</a:t>
            </a:r>
          </a:p>
          <a:p>
            <a:pPr marL="0" indent="0">
              <a:buNone/>
            </a:pPr>
            <a:r>
              <a:rPr lang="en-US" sz="2000" dirty="0"/>
              <a:t>Kubernetes Service</a:t>
            </a:r>
          </a:p>
          <a:p>
            <a:pPr marL="0" indent="0">
              <a:buNone/>
            </a:pPr>
            <a:r>
              <a:rPr lang="en-US" sz="2000" dirty="0"/>
              <a:t>   ↓</a:t>
            </a:r>
          </a:p>
          <a:p>
            <a:pPr marL="0" indent="0">
              <a:buNone/>
            </a:pPr>
            <a:r>
              <a:rPr lang="en-US" sz="2000" dirty="0"/>
              <a:t>Pod</a:t>
            </a:r>
          </a:p>
        </p:txBody>
      </p:sp>
    </p:spTree>
    <p:extLst>
      <p:ext uri="{BB962C8B-B14F-4D97-AF65-F5344CB8AC3E}">
        <p14:creationId xmlns:p14="http://schemas.microsoft.com/office/powerpoint/2010/main" val="44501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139BB9-F45B-2785-9760-573491D77C38}"/>
              </a:ext>
            </a:extLst>
          </p:cNvPr>
          <p:cNvSpPr>
            <a:spLocks noGrp="1"/>
          </p:cNvSpPr>
          <p:nvPr>
            <p:ph type="title"/>
          </p:nvPr>
        </p:nvSpPr>
        <p:spPr>
          <a:xfrm>
            <a:off x="841248" y="334644"/>
            <a:ext cx="10509504" cy="1076914"/>
          </a:xfrm>
        </p:spPr>
        <p:txBody>
          <a:bodyPr anchor="ctr">
            <a:normAutofit/>
          </a:bodyPr>
          <a:lstStyle/>
          <a:p>
            <a:r>
              <a:rPr lang="en-US" sz="4000"/>
              <a:t>Ingress Controllers</a:t>
            </a:r>
          </a:p>
        </p:txBody>
      </p:sp>
      <p:sp>
        <p:nvSpPr>
          <p:cNvPr id="11" name="Rectangle 10">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Content Placeholder 3">
            <a:extLst>
              <a:ext uri="{FF2B5EF4-FFF2-40B4-BE49-F238E27FC236}">
                <a16:creationId xmlns:a16="http://schemas.microsoft.com/office/drawing/2014/main" id="{C2F6885E-1063-7ED6-79EA-3E500AECCD73}"/>
              </a:ext>
            </a:extLst>
          </p:cNvPr>
          <p:cNvGraphicFramePr>
            <a:graphicFrameLocks noGrp="1"/>
          </p:cNvGraphicFramePr>
          <p:nvPr>
            <p:ph idx="1"/>
            <p:extLst>
              <p:ext uri="{D42A27DB-BD31-4B8C-83A1-F6EECF244321}">
                <p14:modId xmlns:p14="http://schemas.microsoft.com/office/powerpoint/2010/main" val="3749896509"/>
              </p:ext>
            </p:extLst>
          </p:nvPr>
        </p:nvGraphicFramePr>
        <p:xfrm>
          <a:off x="1350627" y="1862633"/>
          <a:ext cx="9481602" cy="4284882"/>
        </p:xfrm>
        <a:graphic>
          <a:graphicData uri="http://schemas.openxmlformats.org/drawingml/2006/table">
            <a:tbl>
              <a:tblPr/>
              <a:tblGrid>
                <a:gridCol w="3653117">
                  <a:extLst>
                    <a:ext uri="{9D8B030D-6E8A-4147-A177-3AD203B41FA5}">
                      <a16:colId xmlns:a16="http://schemas.microsoft.com/office/drawing/2014/main" val="4203996397"/>
                    </a:ext>
                  </a:extLst>
                </a:gridCol>
                <a:gridCol w="5828485">
                  <a:extLst>
                    <a:ext uri="{9D8B030D-6E8A-4147-A177-3AD203B41FA5}">
                      <a16:colId xmlns:a16="http://schemas.microsoft.com/office/drawing/2014/main" val="911253071"/>
                    </a:ext>
                  </a:extLst>
                </a:gridCol>
              </a:tblGrid>
              <a:tr h="714147">
                <a:tc>
                  <a:txBody>
                    <a:bodyPr/>
                    <a:lstStyle/>
                    <a:p>
                      <a:pPr>
                        <a:buNone/>
                      </a:pPr>
                      <a:r>
                        <a:rPr lang="en-US" sz="2400" b="1"/>
                        <a:t>Controller</a:t>
                      </a:r>
                    </a:p>
                  </a:txBody>
                  <a:tcPr marL="150876" marR="150876" marT="75438" marB="75438" anchor="ctr">
                    <a:lnL>
                      <a:noFill/>
                    </a:lnL>
                    <a:lnR>
                      <a:noFill/>
                    </a:lnR>
                    <a:lnT>
                      <a:noFill/>
                    </a:lnT>
                    <a:lnB>
                      <a:noFill/>
                    </a:lnB>
                    <a:noFill/>
                  </a:tcPr>
                </a:tc>
                <a:tc>
                  <a:txBody>
                    <a:bodyPr/>
                    <a:lstStyle/>
                    <a:p>
                      <a:pPr>
                        <a:buNone/>
                      </a:pPr>
                      <a:r>
                        <a:rPr lang="en-US" sz="2400" b="1"/>
                        <a:t>Notes</a:t>
                      </a:r>
                    </a:p>
                  </a:txBody>
                  <a:tcPr marL="150876" marR="150876" marT="75438" marB="75438" anchor="ctr">
                    <a:lnL>
                      <a:noFill/>
                    </a:lnL>
                    <a:lnR>
                      <a:noFill/>
                    </a:lnR>
                    <a:lnT>
                      <a:noFill/>
                    </a:lnT>
                    <a:lnB>
                      <a:noFill/>
                    </a:lnB>
                    <a:noFill/>
                  </a:tcPr>
                </a:tc>
                <a:extLst>
                  <a:ext uri="{0D108BD9-81ED-4DB2-BD59-A6C34878D82A}">
                    <a16:rowId xmlns:a16="http://schemas.microsoft.com/office/drawing/2014/main" val="1980667062"/>
                  </a:ext>
                </a:extLst>
              </a:tr>
              <a:tr h="714147">
                <a:tc>
                  <a:txBody>
                    <a:bodyPr/>
                    <a:lstStyle/>
                    <a:p>
                      <a:pPr>
                        <a:buNone/>
                      </a:pPr>
                      <a:r>
                        <a:rPr lang="en-US" sz="2400" b="1"/>
                        <a:t>NGINX</a:t>
                      </a:r>
                      <a:endParaRPr lang="en-US" sz="2400"/>
                    </a:p>
                  </a:txBody>
                  <a:tcPr marL="150876" marR="150876" marT="75438" marB="75438" anchor="ctr">
                    <a:lnL>
                      <a:noFill/>
                    </a:lnL>
                    <a:lnR>
                      <a:noFill/>
                    </a:lnR>
                    <a:lnT>
                      <a:noFill/>
                    </a:lnT>
                    <a:lnB>
                      <a:noFill/>
                    </a:lnB>
                    <a:noFill/>
                  </a:tcPr>
                </a:tc>
                <a:tc>
                  <a:txBody>
                    <a:bodyPr/>
                    <a:lstStyle/>
                    <a:p>
                      <a:pPr>
                        <a:buNone/>
                      </a:pPr>
                      <a:r>
                        <a:rPr lang="en-US" sz="2400"/>
                        <a:t>Most popular, rich features</a:t>
                      </a:r>
                    </a:p>
                  </a:txBody>
                  <a:tcPr marL="150876" marR="150876" marT="75438" marB="75438" anchor="ctr">
                    <a:lnL>
                      <a:noFill/>
                    </a:lnL>
                    <a:lnR>
                      <a:noFill/>
                    </a:lnR>
                    <a:lnT>
                      <a:noFill/>
                    </a:lnT>
                    <a:lnB>
                      <a:noFill/>
                    </a:lnB>
                    <a:noFill/>
                  </a:tcPr>
                </a:tc>
                <a:extLst>
                  <a:ext uri="{0D108BD9-81ED-4DB2-BD59-A6C34878D82A}">
                    <a16:rowId xmlns:a16="http://schemas.microsoft.com/office/drawing/2014/main" val="1750659249"/>
                  </a:ext>
                </a:extLst>
              </a:tr>
              <a:tr h="714147">
                <a:tc>
                  <a:txBody>
                    <a:bodyPr/>
                    <a:lstStyle/>
                    <a:p>
                      <a:pPr>
                        <a:buNone/>
                      </a:pPr>
                      <a:r>
                        <a:rPr lang="en-US" sz="2400" b="1" dirty="0" err="1"/>
                        <a:t>Traefik</a:t>
                      </a:r>
                      <a:endParaRPr lang="en-US" sz="2400" dirty="0"/>
                    </a:p>
                  </a:txBody>
                  <a:tcPr marL="150876" marR="150876" marT="75438" marB="75438" anchor="ctr">
                    <a:lnL>
                      <a:noFill/>
                    </a:lnL>
                    <a:lnR>
                      <a:noFill/>
                    </a:lnR>
                    <a:lnT>
                      <a:noFill/>
                    </a:lnT>
                    <a:lnB>
                      <a:noFill/>
                    </a:lnB>
                    <a:noFill/>
                  </a:tcPr>
                </a:tc>
                <a:tc>
                  <a:txBody>
                    <a:bodyPr/>
                    <a:lstStyle/>
                    <a:p>
                      <a:pPr>
                        <a:buNone/>
                      </a:pPr>
                      <a:r>
                        <a:rPr lang="en-US" sz="2400"/>
                        <a:t>Lightweight, auto-discovery</a:t>
                      </a:r>
                    </a:p>
                  </a:txBody>
                  <a:tcPr marL="150876" marR="150876" marT="75438" marB="75438" anchor="ctr">
                    <a:lnL>
                      <a:noFill/>
                    </a:lnL>
                    <a:lnR>
                      <a:noFill/>
                    </a:lnR>
                    <a:lnT>
                      <a:noFill/>
                    </a:lnT>
                    <a:lnB>
                      <a:noFill/>
                    </a:lnB>
                    <a:noFill/>
                  </a:tcPr>
                </a:tc>
                <a:extLst>
                  <a:ext uri="{0D108BD9-81ED-4DB2-BD59-A6C34878D82A}">
                    <a16:rowId xmlns:a16="http://schemas.microsoft.com/office/drawing/2014/main" val="2957176662"/>
                  </a:ext>
                </a:extLst>
              </a:tr>
              <a:tr h="714147">
                <a:tc>
                  <a:txBody>
                    <a:bodyPr/>
                    <a:lstStyle/>
                    <a:p>
                      <a:pPr>
                        <a:buNone/>
                      </a:pPr>
                      <a:r>
                        <a:rPr lang="en-US" sz="2400" b="1"/>
                        <a:t>HAProxy</a:t>
                      </a:r>
                      <a:endParaRPr lang="en-US" sz="2400"/>
                    </a:p>
                  </a:txBody>
                  <a:tcPr marL="150876" marR="150876" marT="75438" marB="75438" anchor="ctr">
                    <a:lnL>
                      <a:noFill/>
                    </a:lnL>
                    <a:lnR>
                      <a:noFill/>
                    </a:lnR>
                    <a:lnT>
                      <a:noFill/>
                    </a:lnT>
                    <a:lnB>
                      <a:noFill/>
                    </a:lnB>
                    <a:noFill/>
                  </a:tcPr>
                </a:tc>
                <a:tc>
                  <a:txBody>
                    <a:bodyPr/>
                    <a:lstStyle/>
                    <a:p>
                      <a:pPr>
                        <a:buNone/>
                      </a:pPr>
                      <a:r>
                        <a:rPr lang="en-US" sz="2400"/>
                        <a:t>High performance</a:t>
                      </a:r>
                    </a:p>
                  </a:txBody>
                  <a:tcPr marL="150876" marR="150876" marT="75438" marB="75438" anchor="ctr">
                    <a:lnL>
                      <a:noFill/>
                    </a:lnL>
                    <a:lnR>
                      <a:noFill/>
                    </a:lnR>
                    <a:lnT>
                      <a:noFill/>
                    </a:lnT>
                    <a:lnB>
                      <a:noFill/>
                    </a:lnB>
                    <a:noFill/>
                  </a:tcPr>
                </a:tc>
                <a:extLst>
                  <a:ext uri="{0D108BD9-81ED-4DB2-BD59-A6C34878D82A}">
                    <a16:rowId xmlns:a16="http://schemas.microsoft.com/office/drawing/2014/main" val="1597682431"/>
                  </a:ext>
                </a:extLst>
              </a:tr>
              <a:tr h="714147">
                <a:tc>
                  <a:txBody>
                    <a:bodyPr/>
                    <a:lstStyle/>
                    <a:p>
                      <a:pPr>
                        <a:buNone/>
                      </a:pPr>
                      <a:r>
                        <a:rPr lang="en-US" sz="2400" b="1"/>
                        <a:t>Istio</a:t>
                      </a:r>
                      <a:endParaRPr lang="en-US" sz="2400"/>
                    </a:p>
                  </a:txBody>
                  <a:tcPr marL="150876" marR="150876" marT="75438" marB="75438" anchor="ctr">
                    <a:lnL>
                      <a:noFill/>
                    </a:lnL>
                    <a:lnR>
                      <a:noFill/>
                    </a:lnR>
                    <a:lnT>
                      <a:noFill/>
                    </a:lnT>
                    <a:lnB>
                      <a:noFill/>
                    </a:lnB>
                    <a:noFill/>
                  </a:tcPr>
                </a:tc>
                <a:tc>
                  <a:txBody>
                    <a:bodyPr/>
                    <a:lstStyle/>
                    <a:p>
                      <a:pPr>
                        <a:buNone/>
                      </a:pPr>
                      <a:r>
                        <a:rPr lang="en-US" sz="2400"/>
                        <a:t>Service mesh-based routing</a:t>
                      </a:r>
                    </a:p>
                  </a:txBody>
                  <a:tcPr marL="150876" marR="150876" marT="75438" marB="75438" anchor="ctr">
                    <a:lnL>
                      <a:noFill/>
                    </a:lnL>
                    <a:lnR>
                      <a:noFill/>
                    </a:lnR>
                    <a:lnT>
                      <a:noFill/>
                    </a:lnT>
                    <a:lnB>
                      <a:noFill/>
                    </a:lnB>
                    <a:noFill/>
                  </a:tcPr>
                </a:tc>
                <a:extLst>
                  <a:ext uri="{0D108BD9-81ED-4DB2-BD59-A6C34878D82A}">
                    <a16:rowId xmlns:a16="http://schemas.microsoft.com/office/drawing/2014/main" val="3181013370"/>
                  </a:ext>
                </a:extLst>
              </a:tr>
              <a:tr h="714147">
                <a:tc>
                  <a:txBody>
                    <a:bodyPr/>
                    <a:lstStyle/>
                    <a:p>
                      <a:pPr>
                        <a:buNone/>
                      </a:pPr>
                      <a:r>
                        <a:rPr lang="en-US" sz="2400" b="1"/>
                        <a:t>AWS ALB</a:t>
                      </a:r>
                      <a:endParaRPr lang="en-US" sz="2400"/>
                    </a:p>
                  </a:txBody>
                  <a:tcPr marL="150876" marR="150876" marT="75438" marB="75438" anchor="ctr">
                    <a:lnL>
                      <a:noFill/>
                    </a:lnL>
                    <a:lnR>
                      <a:noFill/>
                    </a:lnR>
                    <a:lnT>
                      <a:noFill/>
                    </a:lnT>
                    <a:lnB>
                      <a:noFill/>
                    </a:lnB>
                    <a:noFill/>
                  </a:tcPr>
                </a:tc>
                <a:tc>
                  <a:txBody>
                    <a:bodyPr/>
                    <a:lstStyle/>
                    <a:p>
                      <a:pPr>
                        <a:buNone/>
                      </a:pPr>
                      <a:r>
                        <a:rPr lang="en-US" sz="2400" dirty="0"/>
                        <a:t>Managed Ingress on AWS</a:t>
                      </a:r>
                    </a:p>
                  </a:txBody>
                  <a:tcPr marL="150876" marR="150876" marT="75438" marB="75438" anchor="ctr">
                    <a:lnL>
                      <a:noFill/>
                    </a:lnL>
                    <a:lnR>
                      <a:noFill/>
                    </a:lnR>
                    <a:lnT>
                      <a:noFill/>
                    </a:lnT>
                    <a:lnB>
                      <a:noFill/>
                    </a:lnB>
                    <a:noFill/>
                  </a:tcPr>
                </a:tc>
                <a:extLst>
                  <a:ext uri="{0D108BD9-81ED-4DB2-BD59-A6C34878D82A}">
                    <a16:rowId xmlns:a16="http://schemas.microsoft.com/office/drawing/2014/main" val="148487258"/>
                  </a:ext>
                </a:extLst>
              </a:tr>
            </a:tbl>
          </a:graphicData>
        </a:graphic>
      </p:graphicFrame>
    </p:spTree>
    <p:extLst>
      <p:ext uri="{BB962C8B-B14F-4D97-AF65-F5344CB8AC3E}">
        <p14:creationId xmlns:p14="http://schemas.microsoft.com/office/powerpoint/2010/main" val="19471733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B220223-02D2-A6C3-6B34-85E96CDA9020}"/>
              </a:ext>
            </a:extLst>
          </p:cNvPr>
          <p:cNvSpPr>
            <a:spLocks noGrp="1"/>
          </p:cNvSpPr>
          <p:nvPr>
            <p:ph type="title"/>
          </p:nvPr>
        </p:nvSpPr>
        <p:spPr>
          <a:xfrm>
            <a:off x="1115568" y="548640"/>
            <a:ext cx="10168128" cy="1179576"/>
          </a:xfrm>
        </p:spPr>
        <p:txBody>
          <a:bodyPr>
            <a:normAutofit/>
          </a:bodyPr>
          <a:lstStyle/>
          <a:p>
            <a:r>
              <a:rPr lang="en-US" sz="4000" b="1"/>
              <a:t>Service Discovery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CBB9A83-7C35-5A3C-83B8-D8A18E8FC053}"/>
              </a:ext>
            </a:extLst>
          </p:cNvPr>
          <p:cNvSpPr>
            <a:spLocks noGrp="1"/>
          </p:cNvSpPr>
          <p:nvPr>
            <p:ph idx="1"/>
          </p:nvPr>
        </p:nvSpPr>
        <p:spPr>
          <a:xfrm>
            <a:off x="1115568" y="2481943"/>
            <a:ext cx="10168128" cy="3695020"/>
          </a:xfrm>
        </p:spPr>
        <p:txBody>
          <a:bodyPr>
            <a:normAutofit/>
          </a:bodyPr>
          <a:lstStyle/>
          <a:p>
            <a:r>
              <a:rPr lang="en-US" sz="2200"/>
              <a:t>Service Discovery in Kubernetes is the automatic detection of services and their accessible endpoints (like IPs or DNS names) within a cluster so that Pods can find and talk to each other without hardcoding IP addresses.</a:t>
            </a:r>
          </a:p>
          <a:p>
            <a:pPr marL="0" indent="0">
              <a:buNone/>
            </a:pPr>
            <a:endParaRPr lang="en-US" sz="2200"/>
          </a:p>
          <a:p>
            <a:r>
              <a:rPr lang="en-US" sz="2200"/>
              <a:t>Because Pods are ephemeral and can be restarted or rescheduled, Kubernetes handles service discovery dynamically, using DNS and environment variables.</a:t>
            </a:r>
          </a:p>
          <a:p>
            <a:endParaRPr lang="en-US" sz="2200"/>
          </a:p>
        </p:txBody>
      </p:sp>
    </p:spTree>
    <p:extLst>
      <p:ext uri="{BB962C8B-B14F-4D97-AF65-F5344CB8AC3E}">
        <p14:creationId xmlns:p14="http://schemas.microsoft.com/office/powerpoint/2010/main" val="30823041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0A8DD31-483E-297F-8366-4405247A37D5}"/>
              </a:ext>
            </a:extLst>
          </p:cNvPr>
          <p:cNvSpPr>
            <a:spLocks noGrp="1"/>
          </p:cNvSpPr>
          <p:nvPr>
            <p:ph type="title"/>
          </p:nvPr>
        </p:nvSpPr>
        <p:spPr>
          <a:xfrm>
            <a:off x="1115568" y="548640"/>
            <a:ext cx="10168128" cy="1179576"/>
          </a:xfrm>
        </p:spPr>
        <p:txBody>
          <a:bodyPr>
            <a:normAutofit/>
          </a:bodyPr>
          <a:lstStyle/>
          <a:p>
            <a:r>
              <a:rPr lang="en-US" sz="4000" b="1"/>
              <a:t>How service discovery works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6E1D171-6CCB-D7A6-A0BB-74F9B2413437}"/>
              </a:ext>
            </a:extLst>
          </p:cNvPr>
          <p:cNvSpPr>
            <a:spLocks noGrp="1"/>
          </p:cNvSpPr>
          <p:nvPr>
            <p:ph idx="1"/>
          </p:nvPr>
        </p:nvSpPr>
        <p:spPr>
          <a:xfrm>
            <a:off x="1115568" y="2481943"/>
            <a:ext cx="10168128" cy="3695020"/>
          </a:xfrm>
        </p:spPr>
        <p:txBody>
          <a:bodyPr>
            <a:normAutofit/>
          </a:bodyPr>
          <a:lstStyle/>
          <a:p>
            <a:pPr marL="0" indent="0">
              <a:buNone/>
            </a:pPr>
            <a:r>
              <a:rPr lang="en-US" sz="1700" dirty="0"/>
              <a:t>DNS-Based Service Discovery (default and most common)</a:t>
            </a:r>
          </a:p>
          <a:p>
            <a:pPr marL="0" indent="0">
              <a:buNone/>
            </a:pPr>
            <a:endParaRPr lang="en-US" sz="1700" dirty="0"/>
          </a:p>
          <a:p>
            <a:r>
              <a:rPr lang="en-US" sz="1700" dirty="0"/>
              <a:t>Kubernetes automatically sets up a DNS name for every Service.</a:t>
            </a:r>
          </a:p>
          <a:p>
            <a:r>
              <a:rPr lang="en-US" sz="1700" dirty="0"/>
              <a:t>A built-in DNS server (like CoreDNS) answers queries for &lt;service-name&gt;.&lt;namespace&gt;.svc.cluster.local.</a:t>
            </a:r>
          </a:p>
          <a:p>
            <a:r>
              <a:rPr lang="en-US" sz="1700" dirty="0"/>
              <a:t>Applications inside the cluster can call services by DNS name.</a:t>
            </a:r>
          </a:p>
          <a:p>
            <a:endParaRPr lang="en-US" sz="1700" dirty="0"/>
          </a:p>
          <a:p>
            <a:pPr marL="0" indent="0">
              <a:buNone/>
            </a:pPr>
            <a:r>
              <a:rPr lang="en-US" sz="1700" b="1" dirty="0"/>
              <a:t>Example: </a:t>
            </a:r>
            <a:r>
              <a:rPr lang="en-US" sz="1700" dirty="0"/>
              <a:t>Service: backend-service in namespace default</a:t>
            </a:r>
          </a:p>
          <a:p>
            <a:pPr marL="0" indent="0">
              <a:buNone/>
            </a:pPr>
            <a:r>
              <a:rPr lang="en-US" sz="1700" b="1" dirty="0"/>
              <a:t>DNS Name: </a:t>
            </a:r>
            <a:r>
              <a:rPr lang="en-US" sz="1700" dirty="0"/>
              <a:t>backend-service.default.svc.cluster.local</a:t>
            </a:r>
          </a:p>
          <a:p>
            <a:pPr marL="0" indent="0">
              <a:buNone/>
            </a:pPr>
            <a:endParaRPr lang="en-US" sz="1700" dirty="0"/>
          </a:p>
          <a:p>
            <a:pPr marL="0" indent="0">
              <a:buNone/>
            </a:pPr>
            <a:r>
              <a:rPr lang="en-US" sz="1700" dirty="0"/>
              <a:t>Pod A → backend-service.default.svc → </a:t>
            </a:r>
            <a:r>
              <a:rPr lang="en-US" sz="1700" dirty="0" err="1"/>
              <a:t>ClusterIP</a:t>
            </a:r>
            <a:r>
              <a:rPr lang="en-US" sz="1700" dirty="0"/>
              <a:t> → backend Pods</a:t>
            </a:r>
          </a:p>
          <a:p>
            <a:pPr marL="0" indent="0">
              <a:buNone/>
            </a:pPr>
            <a:endParaRPr lang="en-US" sz="1700" dirty="0"/>
          </a:p>
        </p:txBody>
      </p:sp>
    </p:spTree>
    <p:extLst>
      <p:ext uri="{BB962C8B-B14F-4D97-AF65-F5344CB8AC3E}">
        <p14:creationId xmlns:p14="http://schemas.microsoft.com/office/powerpoint/2010/main" val="17078553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A8FC61E-C6BE-CFC2-3B17-4603335F2E25}"/>
              </a:ext>
            </a:extLst>
          </p:cNvPr>
          <p:cNvSpPr>
            <a:spLocks noGrp="1"/>
          </p:cNvSpPr>
          <p:nvPr>
            <p:ph type="title"/>
          </p:nvPr>
        </p:nvSpPr>
        <p:spPr>
          <a:xfrm>
            <a:off x="1115568" y="548640"/>
            <a:ext cx="10168128" cy="1179576"/>
          </a:xfrm>
        </p:spPr>
        <p:txBody>
          <a:bodyPr>
            <a:normAutofit/>
          </a:bodyPr>
          <a:lstStyle/>
          <a:p>
            <a:r>
              <a:rPr lang="en-US" sz="4000" b="1"/>
              <a:t>Example: How a Pod Connects to a Service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8FE85BFB-375C-412F-6E66-048D5892ACBC}"/>
              </a:ext>
            </a:extLst>
          </p:cNvPr>
          <p:cNvSpPr>
            <a:spLocks noGrp="1"/>
          </p:cNvSpPr>
          <p:nvPr>
            <p:ph idx="1"/>
          </p:nvPr>
        </p:nvSpPr>
        <p:spPr>
          <a:xfrm>
            <a:off x="1115568" y="2481943"/>
            <a:ext cx="10168128" cy="3695020"/>
          </a:xfrm>
        </p:spPr>
        <p:txBody>
          <a:bodyPr>
            <a:normAutofit/>
          </a:bodyPr>
          <a:lstStyle/>
          <a:p>
            <a:pPr marL="0" indent="0">
              <a:buNone/>
            </a:pPr>
            <a:r>
              <a:rPr lang="en-US" sz="2200" dirty="0"/>
              <a:t>Assume:</a:t>
            </a:r>
          </a:p>
          <a:p>
            <a:pPr marL="0" indent="0">
              <a:buNone/>
            </a:pPr>
            <a:r>
              <a:rPr lang="en-US" sz="2200" b="1" dirty="0"/>
              <a:t>Service name</a:t>
            </a:r>
            <a:r>
              <a:rPr lang="en-US" sz="2200" dirty="0"/>
              <a:t>: </a:t>
            </a:r>
            <a:r>
              <a:rPr lang="en-US" sz="2200" dirty="0" err="1"/>
              <a:t>api</a:t>
            </a:r>
            <a:r>
              <a:rPr lang="en-US" sz="2200" dirty="0"/>
              <a:t>-service</a:t>
            </a:r>
          </a:p>
          <a:p>
            <a:pPr marL="0" indent="0">
              <a:buNone/>
            </a:pPr>
            <a:r>
              <a:rPr lang="en-US" sz="2200" b="1" dirty="0"/>
              <a:t>Namespace: </a:t>
            </a:r>
            <a:r>
              <a:rPr lang="en-US" sz="2200" dirty="0"/>
              <a:t>default</a:t>
            </a:r>
          </a:p>
          <a:p>
            <a:pPr marL="0" indent="0">
              <a:buNone/>
            </a:pPr>
            <a:r>
              <a:rPr lang="en-US" sz="2200" dirty="0"/>
              <a:t>Your app connects using:</a:t>
            </a:r>
          </a:p>
          <a:p>
            <a:pPr marL="0" indent="0">
              <a:buNone/>
            </a:pPr>
            <a:endParaRPr lang="en-US" sz="2200" dirty="0"/>
          </a:p>
          <a:p>
            <a:pPr marL="0" indent="0">
              <a:buNone/>
            </a:pPr>
            <a:r>
              <a:rPr lang="en-US" sz="2200" dirty="0" err="1"/>
              <a:t>requests.get</a:t>
            </a:r>
            <a:r>
              <a:rPr lang="en-US" sz="2200" dirty="0"/>
              <a:t> ("http://api-service.default.svc.cluster.local")</a:t>
            </a:r>
          </a:p>
          <a:p>
            <a:pPr marL="0" indent="0">
              <a:buNone/>
            </a:pPr>
            <a:r>
              <a:rPr lang="en-US" sz="2200" dirty="0"/>
              <a:t>Kubernetes routes this through CoreDNS → Service → correct backend Pod.</a:t>
            </a:r>
          </a:p>
          <a:p>
            <a:pPr marL="0" indent="0">
              <a:buNone/>
            </a:pPr>
            <a:endParaRPr lang="en-US" sz="2200" dirty="0"/>
          </a:p>
        </p:txBody>
      </p:sp>
    </p:spTree>
    <p:extLst>
      <p:ext uri="{BB962C8B-B14F-4D97-AF65-F5344CB8AC3E}">
        <p14:creationId xmlns:p14="http://schemas.microsoft.com/office/powerpoint/2010/main" val="41640712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E8C8-15AF-B365-64E1-A57BB6D710C9}"/>
              </a:ext>
            </a:extLst>
          </p:cNvPr>
          <p:cNvSpPr>
            <a:spLocks noGrp="1"/>
          </p:cNvSpPr>
          <p:nvPr>
            <p:ph type="title"/>
          </p:nvPr>
        </p:nvSpPr>
        <p:spPr/>
        <p:txBody>
          <a:bodyPr/>
          <a:lstStyle/>
          <a:p>
            <a:r>
              <a:rPr lang="en-US" b="1" dirty="0"/>
              <a:t>Variables</a:t>
            </a:r>
          </a:p>
        </p:txBody>
      </p:sp>
      <p:sp>
        <p:nvSpPr>
          <p:cNvPr id="3" name="Content Placeholder 2">
            <a:extLst>
              <a:ext uri="{FF2B5EF4-FFF2-40B4-BE49-F238E27FC236}">
                <a16:creationId xmlns:a16="http://schemas.microsoft.com/office/drawing/2014/main" id="{A55CB1E1-63A0-B5E9-1B97-34027CA62D1C}"/>
              </a:ext>
            </a:extLst>
          </p:cNvPr>
          <p:cNvSpPr>
            <a:spLocks noGrp="1"/>
          </p:cNvSpPr>
          <p:nvPr>
            <p:ph idx="1"/>
          </p:nvPr>
        </p:nvSpPr>
        <p:spPr/>
        <p:txBody>
          <a:bodyPr/>
          <a:lstStyle/>
          <a:p>
            <a:endParaRPr lang="en-US" sz="2000" dirty="0"/>
          </a:p>
          <a:p>
            <a:r>
              <a:rPr lang="en-US" sz="2000" dirty="0"/>
              <a:t>Environment variables in Kubernetes are key-value pairs that are set inside containers within pods to provide configuration information. </a:t>
            </a:r>
          </a:p>
          <a:p>
            <a:endParaRPr lang="en-US" sz="2000" dirty="0"/>
          </a:p>
          <a:p>
            <a:r>
              <a:rPr lang="en-US" sz="2000" dirty="0"/>
              <a:t>They allow applications running inside containers to receive dynamic configuration data at runtime without hardcoding settings into the container image or application code.</a:t>
            </a:r>
          </a:p>
          <a:p>
            <a:endParaRPr lang="en-US" sz="2000" dirty="0"/>
          </a:p>
          <a:p>
            <a:r>
              <a:rPr lang="en-US" sz="2000" dirty="0"/>
              <a:t>Environment variables in Kubernetes provide a simple and standardized way to inject runtime configuration into containers, enhancing flexibility, security, and portability of applications running on Kubernetes.</a:t>
            </a:r>
          </a:p>
          <a:p>
            <a:endParaRPr lang="en-US" dirty="0"/>
          </a:p>
          <a:p>
            <a:endParaRPr lang="en-US" dirty="0"/>
          </a:p>
        </p:txBody>
      </p:sp>
    </p:spTree>
    <p:extLst>
      <p:ext uri="{BB962C8B-B14F-4D97-AF65-F5344CB8AC3E}">
        <p14:creationId xmlns:p14="http://schemas.microsoft.com/office/powerpoint/2010/main" val="38654854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17600" y="1282192"/>
            <a:ext cx="4856480" cy="1144758"/>
          </a:xfrm>
          <a:prstGeom prst="rect">
            <a:avLst/>
          </a:prstGeom>
          <a:solidFill>
            <a:srgbClr val="2B2B2B"/>
          </a:solidFill>
        </p:spPr>
        <p:txBody>
          <a:bodyPr vert="horz" wrap="square" lIns="0" tIns="31327" rIns="0" bIns="0" rtlCol="0">
            <a:spAutoFit/>
          </a:bodyPr>
          <a:lstStyle/>
          <a:p>
            <a:pPr marL="121917" defTabSz="1219170">
              <a:spcBef>
                <a:spcPts val="247"/>
              </a:spcBef>
            </a:pPr>
            <a:r>
              <a:rPr sz="2400" b="1" spc="-13" dirty="0" err="1">
                <a:solidFill>
                  <a:srgbClr val="CC7831"/>
                </a:solidFill>
                <a:latin typeface="Courier New"/>
                <a:cs typeface="Courier New"/>
              </a:rPr>
              <a:t>env</a:t>
            </a:r>
            <a:r>
              <a:rPr sz="2400" b="1" spc="-13" dirty="0">
                <a:solidFill>
                  <a:srgbClr val="CC7831"/>
                </a:solidFill>
                <a:latin typeface="Courier New"/>
                <a:cs typeface="Courier New"/>
              </a:rPr>
              <a:t>:</a:t>
            </a:r>
            <a:endParaRPr sz="2400" dirty="0">
              <a:solidFill>
                <a:prstClr val="black"/>
              </a:solidFill>
              <a:latin typeface="Courier New"/>
              <a:cs typeface="Courier New"/>
            </a:endParaRPr>
          </a:p>
          <a:p>
            <a:pPr marL="487668" defTabSz="1219170">
              <a:lnSpc>
                <a:spcPts val="2800"/>
              </a:lnSpc>
              <a:spcBef>
                <a:spcPts val="167"/>
              </a:spcBef>
            </a:pPr>
            <a:r>
              <a:rPr sz="3600" baseline="3086" dirty="0">
                <a:solidFill>
                  <a:srgbClr val="A9B7C5"/>
                </a:solidFill>
                <a:latin typeface="Courier New"/>
                <a:cs typeface="Courier New"/>
              </a:rPr>
              <a:t>- </a:t>
            </a:r>
            <a:r>
              <a:rPr sz="3600" b="1" spc="-20" baseline="3086" dirty="0">
                <a:solidFill>
                  <a:srgbClr val="CC7831"/>
                </a:solidFill>
                <a:latin typeface="Courier New"/>
                <a:cs typeface="Courier New"/>
              </a:rPr>
              <a:t>name:</a:t>
            </a:r>
            <a:r>
              <a:rPr sz="3600" b="1" spc="-1100" baseline="3086" dirty="0">
                <a:solidFill>
                  <a:srgbClr val="CC7831"/>
                </a:solidFill>
                <a:latin typeface="Courier New"/>
                <a:cs typeface="Courier New"/>
              </a:rPr>
              <a:t> </a:t>
            </a:r>
            <a:r>
              <a:rPr sz="2400" spc="-13" dirty="0">
                <a:solidFill>
                  <a:srgbClr val="A9B7C5"/>
                </a:solidFill>
                <a:latin typeface="Courier New"/>
                <a:cs typeface="Courier New"/>
              </a:rPr>
              <a:t>APP_COLOR</a:t>
            </a:r>
            <a:endParaRPr sz="2400" dirty="0">
              <a:solidFill>
                <a:prstClr val="black"/>
              </a:solidFill>
              <a:latin typeface="Courier New"/>
              <a:cs typeface="Courier New"/>
            </a:endParaRPr>
          </a:p>
          <a:p>
            <a:pPr marL="851725" defTabSz="1219170">
              <a:lnSpc>
                <a:spcPts val="2800"/>
              </a:lnSpc>
            </a:pPr>
            <a:r>
              <a:rPr sz="2400" b="1" spc="-13" dirty="0">
                <a:solidFill>
                  <a:srgbClr val="CC7831"/>
                </a:solidFill>
                <a:latin typeface="Courier New"/>
                <a:cs typeface="Courier New"/>
              </a:rPr>
              <a:t>value:</a:t>
            </a:r>
            <a:r>
              <a:rPr sz="2400" b="1" spc="-627" dirty="0">
                <a:solidFill>
                  <a:srgbClr val="CC7831"/>
                </a:solidFill>
                <a:latin typeface="Courier New"/>
                <a:cs typeface="Courier New"/>
              </a:rPr>
              <a:t> </a:t>
            </a:r>
            <a:r>
              <a:rPr sz="3600" spc="-20" baseline="3086" dirty="0">
                <a:solidFill>
                  <a:srgbClr val="A9B7C5"/>
                </a:solidFill>
                <a:latin typeface="Courier New"/>
                <a:cs typeface="Courier New"/>
              </a:rPr>
              <a:t>pink</a:t>
            </a:r>
            <a:endParaRPr sz="3600" baseline="3086" dirty="0">
              <a:solidFill>
                <a:prstClr val="black"/>
              </a:solidFill>
              <a:latin typeface="Courier New"/>
              <a:cs typeface="Courier New"/>
            </a:endParaRPr>
          </a:p>
        </p:txBody>
      </p:sp>
      <p:sp>
        <p:nvSpPr>
          <p:cNvPr id="4" name="object 4"/>
          <p:cNvSpPr txBox="1">
            <a:spLocks noGrp="1"/>
          </p:cNvSpPr>
          <p:nvPr>
            <p:ph type="title"/>
          </p:nvPr>
        </p:nvSpPr>
        <p:spPr>
          <a:xfrm>
            <a:off x="882430" y="326137"/>
            <a:ext cx="4804833" cy="694207"/>
          </a:xfrm>
          <a:prstGeom prst="rect">
            <a:avLst/>
          </a:prstGeom>
        </p:spPr>
        <p:txBody>
          <a:bodyPr vert="horz" wrap="square" lIns="0" tIns="16933" rIns="0" bIns="0" rtlCol="0">
            <a:spAutoFit/>
          </a:bodyPr>
          <a:lstStyle/>
          <a:p>
            <a:pPr marL="16933">
              <a:spcBef>
                <a:spcPts val="133"/>
              </a:spcBef>
            </a:pPr>
            <a:r>
              <a:rPr spc="180" dirty="0">
                <a:solidFill>
                  <a:schemeClr val="tx1"/>
                </a:solidFill>
              </a:rPr>
              <a:t>ENV </a:t>
            </a:r>
            <a:r>
              <a:rPr spc="27" dirty="0">
                <a:solidFill>
                  <a:schemeClr val="tx1"/>
                </a:solidFill>
              </a:rPr>
              <a:t>Value</a:t>
            </a:r>
            <a:r>
              <a:rPr spc="-940" dirty="0">
                <a:solidFill>
                  <a:schemeClr val="tx1"/>
                </a:solidFill>
              </a:rPr>
              <a:t> </a:t>
            </a:r>
            <a:r>
              <a:rPr spc="20" dirty="0">
                <a:solidFill>
                  <a:schemeClr val="tx1"/>
                </a:solidFill>
              </a:rPr>
              <a:t>Types</a:t>
            </a:r>
          </a:p>
        </p:txBody>
      </p:sp>
      <p:sp>
        <p:nvSpPr>
          <p:cNvPr id="8" name="object 8"/>
          <p:cNvSpPr txBox="1"/>
          <p:nvPr/>
        </p:nvSpPr>
        <p:spPr>
          <a:xfrm>
            <a:off x="9818286" y="1763540"/>
            <a:ext cx="1458807" cy="263320"/>
          </a:xfrm>
          <a:prstGeom prst="rect">
            <a:avLst/>
          </a:prstGeom>
        </p:spPr>
        <p:txBody>
          <a:bodyPr vert="horz" wrap="square" lIns="0" tIns="16933" rIns="0" bIns="0" rtlCol="0">
            <a:spAutoFit/>
          </a:bodyPr>
          <a:lstStyle/>
          <a:p>
            <a:pPr marL="16933" defTabSz="1219170">
              <a:spcBef>
                <a:spcPts val="133"/>
              </a:spcBef>
            </a:pPr>
            <a:r>
              <a:rPr sz="1600" spc="-13" dirty="0">
                <a:solidFill>
                  <a:srgbClr val="1780C3"/>
                </a:solidFill>
                <a:latin typeface="Noto Sans"/>
                <a:cs typeface="Noto Sans"/>
              </a:rPr>
              <a:t>Plain </a:t>
            </a:r>
            <a:r>
              <a:rPr sz="1600" spc="-27" dirty="0">
                <a:solidFill>
                  <a:srgbClr val="1780C3"/>
                </a:solidFill>
                <a:latin typeface="Noto Sans"/>
                <a:cs typeface="Noto Sans"/>
              </a:rPr>
              <a:t>Key</a:t>
            </a:r>
            <a:r>
              <a:rPr sz="1600" spc="-73" dirty="0">
                <a:solidFill>
                  <a:srgbClr val="1780C3"/>
                </a:solidFill>
                <a:latin typeface="Noto Sans"/>
                <a:cs typeface="Noto Sans"/>
              </a:rPr>
              <a:t> </a:t>
            </a:r>
            <a:r>
              <a:rPr sz="1600" spc="-20" dirty="0">
                <a:solidFill>
                  <a:srgbClr val="1780C3"/>
                </a:solidFill>
                <a:latin typeface="Noto Sans"/>
                <a:cs typeface="Noto Sans"/>
              </a:rPr>
              <a:t>Value</a:t>
            </a:r>
            <a:endParaRPr sz="1600" dirty="0">
              <a:solidFill>
                <a:prstClr val="black"/>
              </a:solidFill>
              <a:latin typeface="Noto Sans"/>
              <a:cs typeface="Noto Sans"/>
            </a:endParaRPr>
          </a:p>
        </p:txBody>
      </p:sp>
      <p:sp>
        <p:nvSpPr>
          <p:cNvPr id="11" name="object 11"/>
          <p:cNvSpPr txBox="1"/>
          <p:nvPr/>
        </p:nvSpPr>
        <p:spPr>
          <a:xfrm>
            <a:off x="9818286" y="3553630"/>
            <a:ext cx="1060873" cy="263320"/>
          </a:xfrm>
          <a:prstGeom prst="rect">
            <a:avLst/>
          </a:prstGeom>
        </p:spPr>
        <p:txBody>
          <a:bodyPr vert="horz" wrap="square" lIns="0" tIns="16933" rIns="0" bIns="0" rtlCol="0">
            <a:spAutoFit/>
          </a:bodyPr>
          <a:lstStyle/>
          <a:p>
            <a:pPr marL="16933" defTabSz="1219170">
              <a:spcBef>
                <a:spcPts val="133"/>
              </a:spcBef>
            </a:pPr>
            <a:r>
              <a:rPr sz="1600" spc="-7" dirty="0">
                <a:solidFill>
                  <a:srgbClr val="39B54A"/>
                </a:solidFill>
                <a:latin typeface="Noto Sans"/>
                <a:cs typeface="Noto Sans"/>
              </a:rPr>
              <a:t>C</a:t>
            </a:r>
            <a:r>
              <a:rPr sz="1600" spc="-20" dirty="0">
                <a:solidFill>
                  <a:srgbClr val="39B54A"/>
                </a:solidFill>
                <a:latin typeface="Noto Sans"/>
                <a:cs typeface="Noto Sans"/>
              </a:rPr>
              <a:t>on</a:t>
            </a:r>
            <a:r>
              <a:rPr sz="1600" spc="-27" dirty="0">
                <a:solidFill>
                  <a:srgbClr val="39B54A"/>
                </a:solidFill>
                <a:latin typeface="Noto Sans"/>
                <a:cs typeface="Noto Sans"/>
              </a:rPr>
              <a:t>figMap</a:t>
            </a:r>
            <a:endParaRPr sz="1600" dirty="0">
              <a:solidFill>
                <a:prstClr val="black"/>
              </a:solidFill>
              <a:latin typeface="Noto Sans"/>
              <a:cs typeface="Noto Sans"/>
            </a:endParaRPr>
          </a:p>
        </p:txBody>
      </p:sp>
      <p:sp>
        <p:nvSpPr>
          <p:cNvPr id="14" name="object 14"/>
          <p:cNvSpPr txBox="1"/>
          <p:nvPr/>
        </p:nvSpPr>
        <p:spPr>
          <a:xfrm>
            <a:off x="9806092" y="5361772"/>
            <a:ext cx="717973" cy="263320"/>
          </a:xfrm>
          <a:prstGeom prst="rect">
            <a:avLst/>
          </a:prstGeom>
        </p:spPr>
        <p:txBody>
          <a:bodyPr vert="horz" wrap="square" lIns="0" tIns="16933" rIns="0" bIns="0" rtlCol="0">
            <a:spAutoFit/>
          </a:bodyPr>
          <a:lstStyle/>
          <a:p>
            <a:pPr marL="16933" defTabSz="1219170">
              <a:spcBef>
                <a:spcPts val="133"/>
              </a:spcBef>
            </a:pPr>
            <a:r>
              <a:rPr sz="1600" spc="-7" dirty="0">
                <a:solidFill>
                  <a:srgbClr val="F17921"/>
                </a:solidFill>
                <a:latin typeface="Noto Sans"/>
                <a:cs typeface="Noto Sans"/>
              </a:rPr>
              <a:t>Sec</a:t>
            </a:r>
            <a:r>
              <a:rPr sz="1600" spc="-47" dirty="0">
                <a:solidFill>
                  <a:srgbClr val="F17921"/>
                </a:solidFill>
                <a:latin typeface="Noto Sans"/>
                <a:cs typeface="Noto Sans"/>
              </a:rPr>
              <a:t>r</a:t>
            </a:r>
            <a:r>
              <a:rPr sz="1600" spc="-13" dirty="0">
                <a:solidFill>
                  <a:srgbClr val="F17921"/>
                </a:solidFill>
                <a:latin typeface="Noto Sans"/>
                <a:cs typeface="Noto Sans"/>
              </a:rPr>
              <a:t>et</a:t>
            </a:r>
            <a:r>
              <a:rPr sz="1600" spc="-7" dirty="0">
                <a:solidFill>
                  <a:srgbClr val="F17921"/>
                </a:solidFill>
                <a:latin typeface="Noto Sans"/>
                <a:cs typeface="Noto Sans"/>
              </a:rPr>
              <a:t>s</a:t>
            </a:r>
            <a:endParaRPr sz="1600">
              <a:solidFill>
                <a:prstClr val="black"/>
              </a:solidFill>
              <a:latin typeface="Noto Sans"/>
              <a:cs typeface="Noto Sans"/>
            </a:endParaRPr>
          </a:p>
        </p:txBody>
      </p:sp>
      <p:sp>
        <p:nvSpPr>
          <p:cNvPr id="16" name="object 16"/>
          <p:cNvSpPr txBox="1"/>
          <p:nvPr/>
        </p:nvSpPr>
        <p:spPr>
          <a:xfrm>
            <a:off x="1117600" y="2861057"/>
            <a:ext cx="4856480" cy="1548287"/>
          </a:xfrm>
          <a:prstGeom prst="rect">
            <a:avLst/>
          </a:prstGeom>
          <a:solidFill>
            <a:srgbClr val="2B2B2B"/>
          </a:solidFill>
        </p:spPr>
        <p:txBody>
          <a:bodyPr vert="horz" wrap="square" lIns="0" tIns="32173" rIns="0" bIns="0" rtlCol="0">
            <a:spAutoFit/>
          </a:bodyPr>
          <a:lstStyle/>
          <a:p>
            <a:pPr marL="121917" defTabSz="1219170">
              <a:spcBef>
                <a:spcPts val="253"/>
              </a:spcBef>
            </a:pPr>
            <a:r>
              <a:rPr sz="2400" b="1" spc="-13" dirty="0" err="1">
                <a:solidFill>
                  <a:srgbClr val="CC7831"/>
                </a:solidFill>
                <a:latin typeface="Courier New"/>
                <a:cs typeface="Courier New"/>
              </a:rPr>
              <a:t>env</a:t>
            </a:r>
            <a:r>
              <a:rPr sz="2400" b="1" spc="-13" dirty="0">
                <a:solidFill>
                  <a:srgbClr val="CC7831"/>
                </a:solidFill>
                <a:latin typeface="Courier New"/>
                <a:cs typeface="Courier New"/>
              </a:rPr>
              <a:t>:</a:t>
            </a:r>
            <a:endParaRPr sz="2400" dirty="0">
              <a:solidFill>
                <a:prstClr val="black"/>
              </a:solidFill>
              <a:latin typeface="Courier New"/>
              <a:cs typeface="Courier New"/>
            </a:endParaRPr>
          </a:p>
          <a:p>
            <a:pPr marL="487668" defTabSz="1219170"/>
            <a:r>
              <a:rPr sz="2400" dirty="0">
                <a:solidFill>
                  <a:srgbClr val="A9B7C5"/>
                </a:solidFill>
                <a:latin typeface="Courier New"/>
                <a:cs typeface="Courier New"/>
              </a:rPr>
              <a:t>- </a:t>
            </a:r>
            <a:r>
              <a:rPr sz="2400" b="1" spc="-13" dirty="0">
                <a:solidFill>
                  <a:srgbClr val="CC7831"/>
                </a:solidFill>
                <a:latin typeface="Courier New"/>
                <a:cs typeface="Courier New"/>
              </a:rPr>
              <a:t>name:</a:t>
            </a:r>
            <a:r>
              <a:rPr sz="2400" b="1" spc="-60" dirty="0">
                <a:solidFill>
                  <a:srgbClr val="CC7831"/>
                </a:solidFill>
                <a:latin typeface="Courier New"/>
                <a:cs typeface="Courier New"/>
              </a:rPr>
              <a:t> </a:t>
            </a:r>
            <a:r>
              <a:rPr sz="2400" spc="-13" dirty="0">
                <a:solidFill>
                  <a:srgbClr val="A9B7C5"/>
                </a:solidFill>
                <a:latin typeface="Courier New"/>
                <a:cs typeface="Courier New"/>
              </a:rPr>
              <a:t>APP_COLOR</a:t>
            </a:r>
            <a:endParaRPr sz="2400" dirty="0">
              <a:solidFill>
                <a:prstClr val="black"/>
              </a:solidFill>
              <a:latin typeface="Courier New"/>
              <a:cs typeface="Courier New"/>
            </a:endParaRPr>
          </a:p>
          <a:p>
            <a:pPr marL="851725" defTabSz="1219170"/>
            <a:r>
              <a:rPr sz="2400" b="1" spc="-13" dirty="0">
                <a:solidFill>
                  <a:srgbClr val="CC7831"/>
                </a:solidFill>
                <a:latin typeface="Courier New"/>
                <a:cs typeface="Courier New"/>
              </a:rPr>
              <a:t>valueFrom:</a:t>
            </a:r>
            <a:endParaRPr sz="2400" dirty="0">
              <a:solidFill>
                <a:prstClr val="black"/>
              </a:solidFill>
              <a:latin typeface="Courier New"/>
              <a:cs typeface="Courier New"/>
            </a:endParaRPr>
          </a:p>
          <a:p>
            <a:pPr marL="1502796" defTabSz="1219170">
              <a:spcBef>
                <a:spcPts val="300"/>
              </a:spcBef>
            </a:pPr>
            <a:r>
              <a:rPr sz="2400" b="1" spc="-13" dirty="0">
                <a:solidFill>
                  <a:srgbClr val="CC7831"/>
                </a:solidFill>
                <a:latin typeface="Courier New"/>
                <a:cs typeface="Courier New"/>
              </a:rPr>
              <a:t>configMapKeyRef:</a:t>
            </a:r>
            <a:endParaRPr sz="2400" dirty="0">
              <a:solidFill>
                <a:prstClr val="black"/>
              </a:solidFill>
              <a:latin typeface="Courier New"/>
              <a:cs typeface="Courier New"/>
            </a:endParaRPr>
          </a:p>
        </p:txBody>
      </p:sp>
      <p:sp>
        <p:nvSpPr>
          <p:cNvPr id="17" name="object 17"/>
          <p:cNvSpPr txBox="1"/>
          <p:nvPr/>
        </p:nvSpPr>
        <p:spPr>
          <a:xfrm>
            <a:off x="1117600" y="4667504"/>
            <a:ext cx="4856480" cy="1491007"/>
          </a:xfrm>
          <a:prstGeom prst="rect">
            <a:avLst/>
          </a:prstGeom>
          <a:solidFill>
            <a:srgbClr val="2B2B2B"/>
          </a:solidFill>
        </p:spPr>
        <p:txBody>
          <a:bodyPr vert="horz" wrap="square" lIns="0" tIns="33867" rIns="0" bIns="0" rtlCol="0">
            <a:spAutoFit/>
          </a:bodyPr>
          <a:lstStyle/>
          <a:p>
            <a:pPr marL="121917" defTabSz="1219170">
              <a:spcBef>
                <a:spcPts val="267"/>
              </a:spcBef>
            </a:pPr>
            <a:r>
              <a:rPr sz="2400" b="1" spc="-13" dirty="0" err="1">
                <a:solidFill>
                  <a:srgbClr val="CC7831"/>
                </a:solidFill>
                <a:latin typeface="Courier New"/>
                <a:cs typeface="Courier New"/>
              </a:rPr>
              <a:t>env</a:t>
            </a:r>
            <a:r>
              <a:rPr sz="2400" b="1" spc="-13" dirty="0">
                <a:solidFill>
                  <a:srgbClr val="CC7831"/>
                </a:solidFill>
                <a:latin typeface="Courier New"/>
                <a:cs typeface="Courier New"/>
              </a:rPr>
              <a:t>:</a:t>
            </a:r>
            <a:endParaRPr sz="2400" dirty="0">
              <a:solidFill>
                <a:prstClr val="black"/>
              </a:solidFill>
              <a:latin typeface="Courier New"/>
              <a:cs typeface="Courier New"/>
            </a:endParaRPr>
          </a:p>
          <a:p>
            <a:pPr marL="487668" defTabSz="1219170"/>
            <a:r>
              <a:rPr sz="2400" dirty="0">
                <a:solidFill>
                  <a:srgbClr val="A9B7C5"/>
                </a:solidFill>
                <a:latin typeface="Courier New"/>
                <a:cs typeface="Courier New"/>
              </a:rPr>
              <a:t>- </a:t>
            </a:r>
            <a:r>
              <a:rPr sz="2400" b="1" spc="-13" dirty="0">
                <a:solidFill>
                  <a:srgbClr val="CC7831"/>
                </a:solidFill>
                <a:latin typeface="Courier New"/>
                <a:cs typeface="Courier New"/>
              </a:rPr>
              <a:t>name:</a:t>
            </a:r>
            <a:r>
              <a:rPr sz="2400" b="1" spc="-60" dirty="0">
                <a:solidFill>
                  <a:srgbClr val="CC7831"/>
                </a:solidFill>
                <a:latin typeface="Courier New"/>
                <a:cs typeface="Courier New"/>
              </a:rPr>
              <a:t> </a:t>
            </a:r>
            <a:r>
              <a:rPr sz="2400" spc="-13" dirty="0">
                <a:solidFill>
                  <a:srgbClr val="A9B7C5"/>
                </a:solidFill>
                <a:latin typeface="Courier New"/>
                <a:cs typeface="Courier New"/>
              </a:rPr>
              <a:t>APP_COLOR</a:t>
            </a:r>
            <a:endParaRPr sz="2400" dirty="0">
              <a:solidFill>
                <a:prstClr val="black"/>
              </a:solidFill>
              <a:latin typeface="Courier New"/>
              <a:cs typeface="Courier New"/>
            </a:endParaRPr>
          </a:p>
          <a:p>
            <a:pPr marL="851725" defTabSz="1219170">
              <a:lnSpc>
                <a:spcPts val="2767"/>
              </a:lnSpc>
            </a:pPr>
            <a:r>
              <a:rPr sz="2400" b="1" spc="-13" dirty="0">
                <a:solidFill>
                  <a:srgbClr val="CC7831"/>
                </a:solidFill>
                <a:latin typeface="Courier New"/>
                <a:cs typeface="Courier New"/>
              </a:rPr>
              <a:t>valueFrom:</a:t>
            </a:r>
            <a:endParaRPr sz="2400" dirty="0">
              <a:solidFill>
                <a:prstClr val="black"/>
              </a:solidFill>
              <a:latin typeface="Courier New"/>
              <a:cs typeface="Courier New"/>
            </a:endParaRPr>
          </a:p>
          <a:p>
            <a:pPr marL="1514649" defTabSz="1219170">
              <a:lnSpc>
                <a:spcPts val="2767"/>
              </a:lnSpc>
            </a:pPr>
            <a:r>
              <a:rPr sz="2400" b="1" spc="-13" dirty="0">
                <a:solidFill>
                  <a:srgbClr val="CC7831"/>
                </a:solidFill>
                <a:latin typeface="Courier New"/>
                <a:cs typeface="Courier New"/>
              </a:rPr>
              <a:t>secretKeyRef:</a:t>
            </a:r>
            <a:endParaRPr sz="2400" dirty="0">
              <a:solidFill>
                <a:prstClr val="black"/>
              </a:solidFill>
              <a:latin typeface="Courier New"/>
              <a:cs typeface="Courier New"/>
            </a:endParaRPr>
          </a:p>
        </p:txBody>
      </p:sp>
    </p:spTree>
    <p:extLst>
      <p:ext uri="{BB962C8B-B14F-4D97-AF65-F5344CB8AC3E}">
        <p14:creationId xmlns:p14="http://schemas.microsoft.com/office/powerpoint/2010/main" val="28193934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477521" y="1076960"/>
            <a:ext cx="5834380" cy="522393"/>
            <a:chOff x="358140" y="807719"/>
            <a:chExt cx="4375785" cy="391795"/>
          </a:xfrm>
        </p:grpSpPr>
        <p:sp>
          <p:nvSpPr>
            <p:cNvPr id="4" name="object 4"/>
            <p:cNvSpPr/>
            <p:nvPr/>
          </p:nvSpPr>
          <p:spPr>
            <a:xfrm>
              <a:off x="358140" y="807719"/>
              <a:ext cx="4375404" cy="361188"/>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515112" y="815289"/>
              <a:ext cx="981468" cy="384098"/>
            </a:xfrm>
            <a:prstGeom prst="rect">
              <a:avLst/>
            </a:prstGeom>
            <a:blipFill>
              <a:blip r:embed="rId3" cstate="print"/>
              <a:stretch>
                <a:fillRect/>
              </a:stretch>
            </a:blipFill>
          </p:spPr>
          <p:txBody>
            <a:bodyPr wrap="square" lIns="0" tIns="0" rIns="0" bIns="0" rtlCol="0"/>
            <a:lstStyle/>
            <a:p>
              <a:endParaRPr sz="2400"/>
            </a:p>
          </p:txBody>
        </p:sp>
        <p:sp>
          <p:nvSpPr>
            <p:cNvPr id="6" name="object 6"/>
            <p:cNvSpPr/>
            <p:nvPr/>
          </p:nvSpPr>
          <p:spPr>
            <a:xfrm>
              <a:off x="417576" y="847343"/>
              <a:ext cx="4261485" cy="248920"/>
            </a:xfrm>
            <a:custGeom>
              <a:avLst/>
              <a:gdLst/>
              <a:ahLst/>
              <a:cxnLst/>
              <a:rect l="l" t="t" r="r" b="b"/>
              <a:pathLst>
                <a:path w="4261485" h="248919">
                  <a:moveTo>
                    <a:pt x="4261104" y="0"/>
                  </a:moveTo>
                  <a:lnTo>
                    <a:pt x="0" y="0"/>
                  </a:lnTo>
                  <a:lnTo>
                    <a:pt x="0" y="248412"/>
                  </a:lnTo>
                  <a:lnTo>
                    <a:pt x="4261104" y="248412"/>
                  </a:lnTo>
                  <a:lnTo>
                    <a:pt x="4261104" y="0"/>
                  </a:lnTo>
                  <a:close/>
                </a:path>
              </a:pathLst>
            </a:custGeom>
            <a:solidFill>
              <a:srgbClr val="404040"/>
            </a:solidFill>
          </p:spPr>
          <p:txBody>
            <a:bodyPr wrap="square" lIns="0" tIns="0" rIns="0" bIns="0" rtlCol="0"/>
            <a:lstStyle/>
            <a:p>
              <a:endParaRPr sz="2400"/>
            </a:p>
          </p:txBody>
        </p:sp>
        <p:sp>
          <p:nvSpPr>
            <p:cNvPr id="7" name="object 7"/>
            <p:cNvSpPr/>
            <p:nvPr/>
          </p:nvSpPr>
          <p:spPr>
            <a:xfrm>
              <a:off x="434664" y="859573"/>
              <a:ext cx="160020" cy="205740"/>
            </a:xfrm>
            <a:custGeom>
              <a:avLst/>
              <a:gdLst/>
              <a:ahLst/>
              <a:cxnLst/>
              <a:rect l="l" t="t" r="r" b="b"/>
              <a:pathLst>
                <a:path w="160020" h="205740">
                  <a:moveTo>
                    <a:pt x="0" y="0"/>
                  </a:moveTo>
                  <a:lnTo>
                    <a:pt x="0" y="205385"/>
                  </a:lnTo>
                  <a:lnTo>
                    <a:pt x="159603" y="102697"/>
                  </a:lnTo>
                  <a:lnTo>
                    <a:pt x="0" y="0"/>
                  </a:lnTo>
                  <a:close/>
                </a:path>
              </a:pathLst>
            </a:custGeom>
            <a:solidFill>
              <a:srgbClr val="39B54A"/>
            </a:solidFill>
          </p:spPr>
          <p:txBody>
            <a:bodyPr wrap="square" lIns="0" tIns="0" rIns="0" bIns="0" rtlCol="0"/>
            <a:lstStyle/>
            <a:p>
              <a:endParaRPr sz="2400"/>
            </a:p>
          </p:txBody>
        </p:sp>
      </p:grpSp>
      <p:sp>
        <p:nvSpPr>
          <p:cNvPr id="8" name="object 8"/>
          <p:cNvSpPr txBox="1"/>
          <p:nvPr/>
        </p:nvSpPr>
        <p:spPr>
          <a:xfrm>
            <a:off x="556769" y="1129793"/>
            <a:ext cx="5681980" cy="260691"/>
          </a:xfrm>
          <a:prstGeom prst="rect">
            <a:avLst/>
          </a:prstGeom>
        </p:spPr>
        <p:txBody>
          <a:bodyPr vert="horz" wrap="square" lIns="0" tIns="55033" rIns="0" bIns="0" rtlCol="0">
            <a:spAutoFit/>
          </a:bodyPr>
          <a:lstStyle/>
          <a:p>
            <a:pPr marL="312412">
              <a:spcBef>
                <a:spcPts val="433"/>
              </a:spcBef>
              <a:tabLst>
                <a:tab pos="3331550" algn="l"/>
              </a:tabLst>
            </a:pPr>
            <a:r>
              <a:rPr sz="1333" spc="73" dirty="0">
                <a:solidFill>
                  <a:srgbClr val="D9D9D9"/>
                </a:solidFill>
                <a:latin typeface="Arial"/>
                <a:cs typeface="Arial"/>
              </a:rPr>
              <a:t>docker  </a:t>
            </a:r>
            <a:r>
              <a:rPr sz="1333" spc="93" dirty="0">
                <a:solidFill>
                  <a:srgbClr val="D9D9D9"/>
                </a:solidFill>
                <a:latin typeface="Arial"/>
                <a:cs typeface="Arial"/>
              </a:rPr>
              <a:t>run </a:t>
            </a:r>
            <a:r>
              <a:rPr sz="1333" spc="133" dirty="0">
                <a:solidFill>
                  <a:srgbClr val="D9D9D9"/>
                </a:solidFill>
                <a:latin typeface="Arial"/>
                <a:cs typeface="Arial"/>
              </a:rPr>
              <a:t> -e</a:t>
            </a:r>
            <a:r>
              <a:rPr sz="1333" spc="387" dirty="0">
                <a:solidFill>
                  <a:srgbClr val="D9D9D9"/>
                </a:solidFill>
                <a:latin typeface="Arial"/>
                <a:cs typeface="Arial"/>
              </a:rPr>
              <a:t> </a:t>
            </a:r>
            <a:r>
              <a:rPr sz="1333" spc="-93" dirty="0">
                <a:solidFill>
                  <a:srgbClr val="D9D9D9"/>
                </a:solidFill>
                <a:latin typeface="Arial"/>
                <a:cs typeface="Arial"/>
              </a:rPr>
              <a:t>APP_COLOR=blue	</a:t>
            </a:r>
            <a:r>
              <a:rPr sz="1333" spc="80" dirty="0">
                <a:solidFill>
                  <a:srgbClr val="D9D9D9"/>
                </a:solidFill>
                <a:latin typeface="Arial"/>
                <a:cs typeface="Arial"/>
              </a:rPr>
              <a:t>simple-webapp-color</a:t>
            </a:r>
            <a:endParaRPr sz="1333">
              <a:latin typeface="Arial"/>
              <a:cs typeface="Arial"/>
            </a:endParaRPr>
          </a:p>
        </p:txBody>
      </p:sp>
      <p:grpSp>
        <p:nvGrpSpPr>
          <p:cNvPr id="10" name="object 10"/>
          <p:cNvGrpSpPr/>
          <p:nvPr/>
        </p:nvGrpSpPr>
        <p:grpSpPr>
          <a:xfrm>
            <a:off x="477521" y="3045901"/>
            <a:ext cx="5834380" cy="532553"/>
            <a:chOff x="358140" y="2284425"/>
            <a:chExt cx="4375785" cy="399415"/>
          </a:xfrm>
        </p:grpSpPr>
        <p:sp>
          <p:nvSpPr>
            <p:cNvPr id="11" name="object 11"/>
            <p:cNvSpPr/>
            <p:nvPr/>
          </p:nvSpPr>
          <p:spPr>
            <a:xfrm>
              <a:off x="358140" y="2284425"/>
              <a:ext cx="4375404" cy="365810"/>
            </a:xfrm>
            <a:prstGeom prst="rect">
              <a:avLst/>
            </a:prstGeom>
            <a:blipFill>
              <a:blip r:embed="rId4" cstate="print"/>
              <a:stretch>
                <a:fillRect/>
              </a:stretch>
            </a:blipFill>
          </p:spPr>
          <p:txBody>
            <a:bodyPr wrap="square" lIns="0" tIns="0" rIns="0" bIns="0" rtlCol="0"/>
            <a:lstStyle/>
            <a:p>
              <a:endParaRPr sz="2400"/>
            </a:p>
          </p:txBody>
        </p:sp>
        <p:sp>
          <p:nvSpPr>
            <p:cNvPr id="12" name="object 12"/>
            <p:cNvSpPr/>
            <p:nvPr/>
          </p:nvSpPr>
          <p:spPr>
            <a:xfrm>
              <a:off x="515112" y="2287511"/>
              <a:ext cx="3904488" cy="396252"/>
            </a:xfrm>
            <a:prstGeom prst="rect">
              <a:avLst/>
            </a:prstGeom>
            <a:blipFill>
              <a:blip r:embed="rId5" cstate="print"/>
              <a:stretch>
                <a:fillRect/>
              </a:stretch>
            </a:blipFill>
          </p:spPr>
          <p:txBody>
            <a:bodyPr wrap="square" lIns="0" tIns="0" rIns="0" bIns="0" rtlCol="0"/>
            <a:lstStyle/>
            <a:p>
              <a:endParaRPr sz="2400"/>
            </a:p>
          </p:txBody>
        </p:sp>
        <p:sp>
          <p:nvSpPr>
            <p:cNvPr id="13" name="object 13"/>
            <p:cNvSpPr/>
            <p:nvPr/>
          </p:nvSpPr>
          <p:spPr>
            <a:xfrm>
              <a:off x="417576" y="2324100"/>
              <a:ext cx="4261485" cy="253365"/>
            </a:xfrm>
            <a:custGeom>
              <a:avLst/>
              <a:gdLst/>
              <a:ahLst/>
              <a:cxnLst/>
              <a:rect l="l" t="t" r="r" b="b"/>
              <a:pathLst>
                <a:path w="4261485" h="253364">
                  <a:moveTo>
                    <a:pt x="4261104" y="0"/>
                  </a:moveTo>
                  <a:lnTo>
                    <a:pt x="0" y="0"/>
                  </a:lnTo>
                  <a:lnTo>
                    <a:pt x="0" y="252983"/>
                  </a:lnTo>
                  <a:lnTo>
                    <a:pt x="4261104" y="252983"/>
                  </a:lnTo>
                  <a:lnTo>
                    <a:pt x="4261104" y="0"/>
                  </a:lnTo>
                  <a:close/>
                </a:path>
              </a:pathLst>
            </a:custGeom>
            <a:solidFill>
              <a:srgbClr val="404040"/>
            </a:solidFill>
          </p:spPr>
          <p:txBody>
            <a:bodyPr wrap="square" lIns="0" tIns="0" rIns="0" bIns="0" rtlCol="0"/>
            <a:lstStyle/>
            <a:p>
              <a:endParaRPr sz="2400"/>
            </a:p>
          </p:txBody>
        </p:sp>
      </p:grpSp>
      <p:sp>
        <p:nvSpPr>
          <p:cNvPr id="14" name="object 14"/>
          <p:cNvSpPr txBox="1"/>
          <p:nvPr/>
        </p:nvSpPr>
        <p:spPr>
          <a:xfrm>
            <a:off x="556769" y="3098800"/>
            <a:ext cx="5681980" cy="265884"/>
          </a:xfrm>
          <a:prstGeom prst="rect">
            <a:avLst/>
          </a:prstGeom>
        </p:spPr>
        <p:txBody>
          <a:bodyPr vert="horz" wrap="square" lIns="0" tIns="49953" rIns="0" bIns="0" rtlCol="0">
            <a:spAutoFit/>
          </a:bodyPr>
          <a:lstStyle/>
          <a:p>
            <a:pPr marL="312412">
              <a:spcBef>
                <a:spcPts val="393"/>
              </a:spcBef>
              <a:tabLst>
                <a:tab pos="1451997" algn="l"/>
              </a:tabLst>
            </a:pPr>
            <a:r>
              <a:rPr sz="1333" spc="73" dirty="0">
                <a:solidFill>
                  <a:srgbClr val="D9D9D9"/>
                </a:solidFill>
                <a:latin typeface="Arial"/>
                <a:cs typeface="Arial"/>
              </a:rPr>
              <a:t>docker</a:t>
            </a:r>
            <a:r>
              <a:rPr sz="1333" spc="407" dirty="0">
                <a:solidFill>
                  <a:srgbClr val="D9D9D9"/>
                </a:solidFill>
                <a:latin typeface="Arial"/>
                <a:cs typeface="Arial"/>
              </a:rPr>
              <a:t> </a:t>
            </a:r>
            <a:r>
              <a:rPr sz="1333" spc="93" dirty="0">
                <a:solidFill>
                  <a:srgbClr val="D9D9D9"/>
                </a:solidFill>
                <a:latin typeface="Arial"/>
                <a:cs typeface="Arial"/>
              </a:rPr>
              <a:t>run	</a:t>
            </a:r>
            <a:r>
              <a:rPr sz="1400" spc="147" dirty="0">
                <a:solidFill>
                  <a:srgbClr val="D9D9D9"/>
                </a:solidFill>
                <a:latin typeface="Arial"/>
                <a:cs typeface="Arial"/>
              </a:rPr>
              <a:t>-e </a:t>
            </a:r>
            <a:r>
              <a:rPr sz="1400" spc="-107" dirty="0">
                <a:solidFill>
                  <a:srgbClr val="D9D9D9"/>
                </a:solidFill>
                <a:latin typeface="Arial"/>
                <a:cs typeface="Arial"/>
              </a:rPr>
              <a:t>APP_COLOR=green</a:t>
            </a:r>
            <a:r>
              <a:rPr sz="1400" spc="60" dirty="0">
                <a:solidFill>
                  <a:srgbClr val="D9D9D9"/>
                </a:solidFill>
                <a:latin typeface="Arial"/>
                <a:cs typeface="Arial"/>
              </a:rPr>
              <a:t> </a:t>
            </a:r>
            <a:r>
              <a:rPr sz="1400" spc="80" dirty="0">
                <a:solidFill>
                  <a:srgbClr val="D9D9D9"/>
                </a:solidFill>
                <a:latin typeface="Arial"/>
                <a:cs typeface="Arial"/>
              </a:rPr>
              <a:t>simple-webapp-color</a:t>
            </a:r>
            <a:endParaRPr sz="1400">
              <a:latin typeface="Arial"/>
              <a:cs typeface="Arial"/>
            </a:endParaRPr>
          </a:p>
        </p:txBody>
      </p:sp>
      <p:sp>
        <p:nvSpPr>
          <p:cNvPr id="15" name="object 15"/>
          <p:cNvSpPr/>
          <p:nvPr/>
        </p:nvSpPr>
        <p:spPr>
          <a:xfrm>
            <a:off x="579552" y="3115105"/>
            <a:ext cx="213360" cy="27432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endParaRPr sz="2400"/>
          </a:p>
        </p:txBody>
      </p:sp>
      <p:grpSp>
        <p:nvGrpSpPr>
          <p:cNvPr id="17" name="object 17"/>
          <p:cNvGrpSpPr/>
          <p:nvPr/>
        </p:nvGrpSpPr>
        <p:grpSpPr>
          <a:xfrm>
            <a:off x="477521" y="4836161"/>
            <a:ext cx="5834380" cy="532553"/>
            <a:chOff x="358140" y="3627120"/>
            <a:chExt cx="4375785" cy="399415"/>
          </a:xfrm>
        </p:grpSpPr>
        <p:sp>
          <p:nvSpPr>
            <p:cNvPr id="18" name="object 18"/>
            <p:cNvSpPr/>
            <p:nvPr/>
          </p:nvSpPr>
          <p:spPr>
            <a:xfrm>
              <a:off x="358140" y="3627120"/>
              <a:ext cx="4375404" cy="365810"/>
            </a:xfrm>
            <a:prstGeom prst="rect">
              <a:avLst/>
            </a:prstGeom>
            <a:blipFill>
              <a:blip r:embed="rId4" cstate="print"/>
              <a:stretch>
                <a:fillRect/>
              </a:stretch>
            </a:blipFill>
          </p:spPr>
          <p:txBody>
            <a:bodyPr wrap="square" lIns="0" tIns="0" rIns="0" bIns="0" rtlCol="0"/>
            <a:lstStyle/>
            <a:p>
              <a:endParaRPr sz="2400"/>
            </a:p>
          </p:txBody>
        </p:sp>
        <p:sp>
          <p:nvSpPr>
            <p:cNvPr id="19" name="object 19"/>
            <p:cNvSpPr/>
            <p:nvPr/>
          </p:nvSpPr>
          <p:spPr>
            <a:xfrm>
              <a:off x="515112" y="3630168"/>
              <a:ext cx="3831336" cy="396252"/>
            </a:xfrm>
            <a:prstGeom prst="rect">
              <a:avLst/>
            </a:prstGeom>
            <a:blipFill>
              <a:blip r:embed="rId6" cstate="print"/>
              <a:stretch>
                <a:fillRect/>
              </a:stretch>
            </a:blipFill>
          </p:spPr>
          <p:txBody>
            <a:bodyPr wrap="square" lIns="0" tIns="0" rIns="0" bIns="0" rtlCol="0"/>
            <a:lstStyle/>
            <a:p>
              <a:endParaRPr sz="2400"/>
            </a:p>
          </p:txBody>
        </p:sp>
        <p:sp>
          <p:nvSpPr>
            <p:cNvPr id="20" name="object 20"/>
            <p:cNvSpPr/>
            <p:nvPr/>
          </p:nvSpPr>
          <p:spPr>
            <a:xfrm>
              <a:off x="417576" y="3666744"/>
              <a:ext cx="4261485" cy="253365"/>
            </a:xfrm>
            <a:custGeom>
              <a:avLst/>
              <a:gdLst/>
              <a:ahLst/>
              <a:cxnLst/>
              <a:rect l="l" t="t" r="r" b="b"/>
              <a:pathLst>
                <a:path w="4261485" h="253364">
                  <a:moveTo>
                    <a:pt x="4261104" y="0"/>
                  </a:moveTo>
                  <a:lnTo>
                    <a:pt x="0" y="0"/>
                  </a:lnTo>
                  <a:lnTo>
                    <a:pt x="0" y="252983"/>
                  </a:lnTo>
                  <a:lnTo>
                    <a:pt x="4261104" y="252983"/>
                  </a:lnTo>
                  <a:lnTo>
                    <a:pt x="4261104" y="0"/>
                  </a:lnTo>
                  <a:close/>
                </a:path>
              </a:pathLst>
            </a:custGeom>
            <a:solidFill>
              <a:srgbClr val="404040"/>
            </a:solidFill>
          </p:spPr>
          <p:txBody>
            <a:bodyPr wrap="square" lIns="0" tIns="0" rIns="0" bIns="0" rtlCol="0"/>
            <a:lstStyle/>
            <a:p>
              <a:endParaRPr sz="2400"/>
            </a:p>
          </p:txBody>
        </p:sp>
      </p:grpSp>
      <p:sp>
        <p:nvSpPr>
          <p:cNvPr id="21" name="object 21"/>
          <p:cNvSpPr txBox="1"/>
          <p:nvPr/>
        </p:nvSpPr>
        <p:spPr>
          <a:xfrm>
            <a:off x="556769" y="4888992"/>
            <a:ext cx="5681980" cy="265884"/>
          </a:xfrm>
          <a:prstGeom prst="rect">
            <a:avLst/>
          </a:prstGeom>
        </p:spPr>
        <p:txBody>
          <a:bodyPr vert="horz" wrap="square" lIns="0" tIns="49953" rIns="0" bIns="0" rtlCol="0">
            <a:spAutoFit/>
          </a:bodyPr>
          <a:lstStyle/>
          <a:p>
            <a:pPr marL="312412">
              <a:spcBef>
                <a:spcPts val="393"/>
              </a:spcBef>
              <a:tabLst>
                <a:tab pos="1451997" algn="l"/>
              </a:tabLst>
            </a:pPr>
            <a:r>
              <a:rPr sz="1333" spc="73" dirty="0">
                <a:solidFill>
                  <a:srgbClr val="D9D9D9"/>
                </a:solidFill>
                <a:latin typeface="Arial"/>
                <a:cs typeface="Arial"/>
              </a:rPr>
              <a:t>docker</a:t>
            </a:r>
            <a:r>
              <a:rPr sz="1333" spc="407" dirty="0">
                <a:solidFill>
                  <a:srgbClr val="D9D9D9"/>
                </a:solidFill>
                <a:latin typeface="Arial"/>
                <a:cs typeface="Arial"/>
              </a:rPr>
              <a:t> </a:t>
            </a:r>
            <a:r>
              <a:rPr sz="1333" spc="93" dirty="0">
                <a:solidFill>
                  <a:srgbClr val="D9D9D9"/>
                </a:solidFill>
                <a:latin typeface="Arial"/>
                <a:cs typeface="Arial"/>
              </a:rPr>
              <a:t>run	</a:t>
            </a:r>
            <a:r>
              <a:rPr sz="1400" spc="147" dirty="0">
                <a:solidFill>
                  <a:srgbClr val="D9D9D9"/>
                </a:solidFill>
                <a:latin typeface="Arial"/>
                <a:cs typeface="Arial"/>
              </a:rPr>
              <a:t>-e </a:t>
            </a:r>
            <a:r>
              <a:rPr sz="1400" spc="-93" dirty="0">
                <a:solidFill>
                  <a:srgbClr val="D9D9D9"/>
                </a:solidFill>
                <a:latin typeface="Arial"/>
                <a:cs typeface="Arial"/>
              </a:rPr>
              <a:t>APP_COLOR=pink</a:t>
            </a:r>
            <a:r>
              <a:rPr sz="1400" spc="47" dirty="0">
                <a:solidFill>
                  <a:srgbClr val="D9D9D9"/>
                </a:solidFill>
                <a:latin typeface="Arial"/>
                <a:cs typeface="Arial"/>
              </a:rPr>
              <a:t> </a:t>
            </a:r>
            <a:r>
              <a:rPr sz="1400" spc="80" dirty="0">
                <a:solidFill>
                  <a:srgbClr val="D9D9D9"/>
                </a:solidFill>
                <a:latin typeface="Arial"/>
                <a:cs typeface="Arial"/>
              </a:rPr>
              <a:t>simple-webapp-color</a:t>
            </a:r>
            <a:endParaRPr sz="1400">
              <a:latin typeface="Arial"/>
              <a:cs typeface="Arial"/>
            </a:endParaRPr>
          </a:p>
        </p:txBody>
      </p:sp>
      <p:sp>
        <p:nvSpPr>
          <p:cNvPr id="22" name="object 22"/>
          <p:cNvSpPr/>
          <p:nvPr/>
        </p:nvSpPr>
        <p:spPr>
          <a:xfrm>
            <a:off x="579552" y="4905297"/>
            <a:ext cx="213360" cy="27432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endParaRPr sz="2400"/>
          </a:p>
        </p:txBody>
      </p:sp>
      <p:sp>
        <p:nvSpPr>
          <p:cNvPr id="24" name="object 24"/>
          <p:cNvSpPr txBox="1"/>
          <p:nvPr/>
        </p:nvSpPr>
        <p:spPr>
          <a:xfrm>
            <a:off x="882429" y="326137"/>
            <a:ext cx="6822440" cy="694207"/>
          </a:xfrm>
          <a:prstGeom prst="rect">
            <a:avLst/>
          </a:prstGeom>
        </p:spPr>
        <p:txBody>
          <a:bodyPr vert="horz" wrap="square" lIns="0" tIns="16933" rIns="0" bIns="0" rtlCol="0">
            <a:spAutoFit/>
          </a:bodyPr>
          <a:lstStyle/>
          <a:p>
            <a:pPr marL="16933">
              <a:spcBef>
                <a:spcPts val="133"/>
              </a:spcBef>
            </a:pPr>
            <a:r>
              <a:rPr sz="4400" spc="180" dirty="0">
                <a:latin typeface="Verdana"/>
                <a:cs typeface="Verdana"/>
              </a:rPr>
              <a:t>ENV</a:t>
            </a:r>
            <a:r>
              <a:rPr sz="4400" spc="-1092" dirty="0">
                <a:latin typeface="Verdana"/>
                <a:cs typeface="Verdana"/>
              </a:rPr>
              <a:t> </a:t>
            </a:r>
            <a:r>
              <a:rPr sz="4400" dirty="0">
                <a:latin typeface="Verdana"/>
                <a:cs typeface="Verdana"/>
              </a:rPr>
              <a:t>Variables </a:t>
            </a:r>
            <a:r>
              <a:rPr sz="4400" spc="27" dirty="0">
                <a:latin typeface="Verdana"/>
                <a:cs typeface="Verdana"/>
              </a:rPr>
              <a:t>in </a:t>
            </a:r>
            <a:r>
              <a:rPr sz="4400" spc="60" dirty="0">
                <a:latin typeface="Verdana"/>
                <a:cs typeface="Verdana"/>
              </a:rPr>
              <a:t>Docker</a:t>
            </a:r>
            <a:endParaRPr sz="4400" dirty="0">
              <a:latin typeface="Verdana"/>
              <a:cs typeface="Verdana"/>
            </a:endParaRPr>
          </a:p>
        </p:txBody>
      </p:sp>
    </p:spTree>
    <p:extLst>
      <p:ext uri="{BB962C8B-B14F-4D97-AF65-F5344CB8AC3E}">
        <p14:creationId xmlns:p14="http://schemas.microsoft.com/office/powerpoint/2010/main" val="30104149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62000" y="2330703"/>
            <a:ext cx="6336453" cy="4062307"/>
          </a:xfrm>
          <a:custGeom>
            <a:avLst/>
            <a:gdLst/>
            <a:ahLst/>
            <a:cxnLst/>
            <a:rect l="l" t="t" r="r" b="b"/>
            <a:pathLst>
              <a:path w="4752340" h="3046729">
                <a:moveTo>
                  <a:pt x="4751832" y="0"/>
                </a:moveTo>
                <a:lnTo>
                  <a:pt x="0" y="0"/>
                </a:lnTo>
                <a:lnTo>
                  <a:pt x="0" y="3046476"/>
                </a:lnTo>
                <a:lnTo>
                  <a:pt x="4751832" y="3046476"/>
                </a:lnTo>
                <a:lnTo>
                  <a:pt x="4751832"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4" name="object 4"/>
          <p:cNvSpPr txBox="1"/>
          <p:nvPr/>
        </p:nvSpPr>
        <p:spPr>
          <a:xfrm>
            <a:off x="762001" y="1930401"/>
            <a:ext cx="2247900" cy="324875"/>
          </a:xfrm>
          <a:prstGeom prst="rect">
            <a:avLst/>
          </a:prstGeom>
          <a:solidFill>
            <a:srgbClr val="000000">
              <a:alpha val="50195"/>
            </a:srgbClr>
          </a:solidFill>
        </p:spPr>
        <p:txBody>
          <a:bodyPr vert="horz" wrap="square" lIns="0" tIns="47413" rIns="0" bIns="0" rtlCol="0">
            <a:spAutoFit/>
          </a:bodyPr>
          <a:lstStyle/>
          <a:p>
            <a:pPr marL="121917" defTabSz="1219170">
              <a:spcBef>
                <a:spcPts val="373"/>
              </a:spcBef>
            </a:pPr>
            <a:r>
              <a:rPr spc="-13" dirty="0">
                <a:solidFill>
                  <a:srgbClr val="FFFFFF"/>
                </a:solidFill>
                <a:latin typeface="Noto Sans"/>
                <a:cs typeface="Noto Sans"/>
              </a:rPr>
              <a:t>pod-definition.yaml</a:t>
            </a:r>
            <a:endParaRPr>
              <a:solidFill>
                <a:prstClr val="black"/>
              </a:solidFill>
              <a:latin typeface="Noto Sans"/>
              <a:cs typeface="Noto Sans"/>
            </a:endParaRPr>
          </a:p>
        </p:txBody>
      </p:sp>
      <p:sp>
        <p:nvSpPr>
          <p:cNvPr id="5" name="object 5"/>
          <p:cNvSpPr txBox="1">
            <a:spLocks noGrp="1"/>
          </p:cNvSpPr>
          <p:nvPr>
            <p:ph type="body" idx="1"/>
          </p:nvPr>
        </p:nvSpPr>
        <p:spPr>
          <a:xfrm>
            <a:off x="1016001" y="3107605"/>
            <a:ext cx="8448604" cy="2867452"/>
          </a:xfrm>
          <a:prstGeom prst="rect">
            <a:avLst/>
          </a:prstGeom>
        </p:spPr>
        <p:txBody>
          <a:bodyPr vert="horz" wrap="square" lIns="0" tIns="55880" rIns="0" bIns="0" rtlCol="0">
            <a:spAutoFit/>
          </a:bodyPr>
          <a:lstStyle/>
          <a:p>
            <a:pPr marL="121917" marR="4482988">
              <a:spcBef>
                <a:spcPts val="440"/>
              </a:spcBef>
            </a:pPr>
            <a:r>
              <a:rPr dirty="0"/>
              <a:t>apiVersion:</a:t>
            </a:r>
            <a:r>
              <a:rPr spc="-113" dirty="0"/>
              <a:t> </a:t>
            </a:r>
            <a:r>
              <a:rPr b="0" spc="13" dirty="0">
                <a:solidFill>
                  <a:srgbClr val="A9B7C5"/>
                </a:solidFill>
              </a:rPr>
              <a:t>v1  </a:t>
            </a:r>
            <a:r>
              <a:rPr spc="-7" dirty="0"/>
              <a:t>kind: </a:t>
            </a:r>
            <a:r>
              <a:rPr b="0" dirty="0">
                <a:solidFill>
                  <a:srgbClr val="A9B7C5"/>
                </a:solidFill>
                <a:latin typeface="Courier New"/>
                <a:cs typeface="Courier New"/>
              </a:rPr>
              <a:t>Pod  </a:t>
            </a:r>
            <a:r>
              <a:rPr dirty="0"/>
              <a:t>metadata:</a:t>
            </a:r>
          </a:p>
          <a:p>
            <a:pPr marL="365751"/>
            <a:r>
              <a:rPr dirty="0"/>
              <a:t>name:</a:t>
            </a:r>
            <a:r>
              <a:rPr spc="13" dirty="0"/>
              <a:t> </a:t>
            </a:r>
            <a:r>
              <a:rPr b="0" dirty="0">
                <a:solidFill>
                  <a:srgbClr val="A9B7C5"/>
                </a:solidFill>
                <a:latin typeface="Courier New"/>
                <a:cs typeface="Courier New"/>
              </a:rPr>
              <a:t>simple-webapp-color</a:t>
            </a:r>
          </a:p>
          <a:p>
            <a:pPr marL="121917">
              <a:spcBef>
                <a:spcPts val="7"/>
              </a:spcBef>
            </a:pPr>
            <a:r>
              <a:rPr spc="-7" dirty="0"/>
              <a:t>spec:</a:t>
            </a:r>
          </a:p>
          <a:p>
            <a:pPr marL="365751"/>
            <a:r>
              <a:rPr dirty="0"/>
              <a:t>containers:</a:t>
            </a:r>
          </a:p>
          <a:p>
            <a:pPr marL="612125" marR="2520464" indent="-246374">
              <a:buClr>
                <a:srgbClr val="A9B7C5"/>
              </a:buClr>
              <a:buFont typeface="Courier New"/>
              <a:buChar char="-"/>
              <a:tabLst>
                <a:tab pos="612971" algn="l"/>
              </a:tabLst>
            </a:pPr>
            <a:r>
              <a:rPr dirty="0"/>
              <a:t>name: </a:t>
            </a:r>
            <a:r>
              <a:rPr b="0" dirty="0">
                <a:solidFill>
                  <a:srgbClr val="A9B7C5"/>
                </a:solidFill>
                <a:latin typeface="Courier New"/>
                <a:cs typeface="Courier New"/>
              </a:rPr>
              <a:t>simple-webapp-color </a:t>
            </a:r>
            <a:r>
              <a:rPr b="0" dirty="0">
                <a:latin typeface="Courier New"/>
                <a:cs typeface="Courier New"/>
              </a:rPr>
              <a:t> </a:t>
            </a:r>
            <a:r>
              <a:rPr dirty="0"/>
              <a:t>image: </a:t>
            </a:r>
            <a:r>
              <a:rPr b="0" dirty="0">
                <a:solidFill>
                  <a:srgbClr val="A9B7C5"/>
                </a:solidFill>
                <a:latin typeface="Courier New"/>
                <a:cs typeface="Courier New"/>
              </a:rPr>
              <a:t>simple-webapp-color </a:t>
            </a:r>
            <a:r>
              <a:rPr b="0" dirty="0">
                <a:latin typeface="Courier New"/>
                <a:cs typeface="Courier New"/>
              </a:rPr>
              <a:t> </a:t>
            </a:r>
            <a:r>
              <a:rPr dirty="0"/>
              <a:t>ports:</a:t>
            </a:r>
          </a:p>
          <a:p>
            <a:pPr marL="1104026" lvl="1" indent="-246374">
              <a:buClr>
                <a:srgbClr val="A9B7C5"/>
              </a:buClr>
              <a:buFont typeface="Courier New"/>
              <a:buChar char="-"/>
              <a:tabLst>
                <a:tab pos="1104872" algn="l"/>
              </a:tabLst>
            </a:pPr>
            <a:r>
              <a:rPr sz="1600" b="1" dirty="0">
                <a:solidFill>
                  <a:srgbClr val="CC7831"/>
                </a:solidFill>
                <a:latin typeface="Courier New"/>
                <a:cs typeface="Courier New"/>
              </a:rPr>
              <a:t>containerPort:</a:t>
            </a:r>
            <a:r>
              <a:rPr sz="1600" b="1" spc="7" dirty="0">
                <a:solidFill>
                  <a:srgbClr val="CC7831"/>
                </a:solidFill>
                <a:latin typeface="Courier New"/>
                <a:cs typeface="Courier New"/>
              </a:rPr>
              <a:t> </a:t>
            </a:r>
            <a:r>
              <a:rPr sz="1600" dirty="0">
                <a:solidFill>
                  <a:srgbClr val="A9B7C5"/>
                </a:solidFill>
                <a:latin typeface="Courier New"/>
                <a:cs typeface="Courier New"/>
              </a:rPr>
              <a:t>8080</a:t>
            </a:r>
            <a:endParaRPr sz="1600" dirty="0">
              <a:latin typeface="Courier New"/>
              <a:cs typeface="Courier New"/>
            </a:endParaRPr>
          </a:p>
          <a:p>
            <a:pPr marL="607045">
              <a:spcBef>
                <a:spcPts val="847"/>
              </a:spcBef>
            </a:pPr>
            <a:r>
              <a:rPr dirty="0" err="1"/>
              <a:t>env</a:t>
            </a:r>
            <a:r>
              <a:rPr dirty="0"/>
              <a:t>:</a:t>
            </a:r>
          </a:p>
          <a:p>
            <a:pPr marL="1097253" lvl="1" indent="-246374">
              <a:spcBef>
                <a:spcPts val="7"/>
              </a:spcBef>
              <a:buClr>
                <a:srgbClr val="A9B7C5"/>
              </a:buClr>
              <a:buFont typeface="Courier New"/>
              <a:buChar char="-"/>
              <a:tabLst>
                <a:tab pos="1097253" algn="l"/>
              </a:tabLst>
            </a:pPr>
            <a:r>
              <a:rPr sz="1600" b="1" dirty="0">
                <a:solidFill>
                  <a:srgbClr val="CC7831"/>
                </a:solidFill>
                <a:latin typeface="Courier New"/>
                <a:cs typeface="Courier New"/>
              </a:rPr>
              <a:t>name:</a:t>
            </a:r>
            <a:r>
              <a:rPr sz="1600" b="1" spc="-347" dirty="0">
                <a:solidFill>
                  <a:srgbClr val="CC7831"/>
                </a:solidFill>
                <a:latin typeface="Courier New"/>
                <a:cs typeface="Courier New"/>
              </a:rPr>
              <a:t> </a:t>
            </a:r>
            <a:r>
              <a:rPr sz="2400" baseline="2314" dirty="0">
                <a:solidFill>
                  <a:srgbClr val="A9B7C5"/>
                </a:solidFill>
                <a:latin typeface="Courier New"/>
                <a:cs typeface="Courier New"/>
              </a:rPr>
              <a:t>APP_COLOR</a:t>
            </a:r>
            <a:endParaRPr sz="2400" baseline="2314" dirty="0">
              <a:latin typeface="Courier New"/>
              <a:cs typeface="Courier New"/>
            </a:endParaRPr>
          </a:p>
          <a:p>
            <a:pPr marL="1097253"/>
            <a:r>
              <a:rPr dirty="0"/>
              <a:t>value:</a:t>
            </a:r>
            <a:r>
              <a:rPr spc="-460" dirty="0"/>
              <a:t> </a:t>
            </a:r>
            <a:r>
              <a:rPr sz="2400" b="0" baseline="-9259" dirty="0">
                <a:solidFill>
                  <a:srgbClr val="A9B7C5"/>
                </a:solidFill>
              </a:rPr>
              <a:t>pink</a:t>
            </a:r>
            <a:endParaRPr sz="2400" baseline="-9259" dirty="0"/>
          </a:p>
        </p:txBody>
      </p:sp>
      <p:grpSp>
        <p:nvGrpSpPr>
          <p:cNvPr id="6" name="object 6"/>
          <p:cNvGrpSpPr/>
          <p:nvPr/>
        </p:nvGrpSpPr>
        <p:grpSpPr>
          <a:xfrm>
            <a:off x="731521" y="1249613"/>
            <a:ext cx="5834380" cy="532553"/>
            <a:chOff x="548640" y="937209"/>
            <a:chExt cx="4375785" cy="399415"/>
          </a:xfrm>
        </p:grpSpPr>
        <p:sp>
          <p:nvSpPr>
            <p:cNvPr id="7" name="object 7"/>
            <p:cNvSpPr/>
            <p:nvPr/>
          </p:nvSpPr>
          <p:spPr>
            <a:xfrm>
              <a:off x="548640" y="937209"/>
              <a:ext cx="4375404" cy="365810"/>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8" name="object 8"/>
            <p:cNvSpPr/>
            <p:nvPr/>
          </p:nvSpPr>
          <p:spPr>
            <a:xfrm>
              <a:off x="705612" y="940295"/>
              <a:ext cx="3831336" cy="396252"/>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608076" y="976883"/>
              <a:ext cx="4261485" cy="253365"/>
            </a:xfrm>
            <a:custGeom>
              <a:avLst/>
              <a:gdLst/>
              <a:ahLst/>
              <a:cxnLst/>
              <a:rect l="l" t="t" r="r" b="b"/>
              <a:pathLst>
                <a:path w="4261485" h="253365">
                  <a:moveTo>
                    <a:pt x="4261104" y="0"/>
                  </a:moveTo>
                  <a:lnTo>
                    <a:pt x="0" y="0"/>
                  </a:lnTo>
                  <a:lnTo>
                    <a:pt x="0" y="252984"/>
                  </a:lnTo>
                  <a:lnTo>
                    <a:pt x="4261104" y="252984"/>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10" name="object 10"/>
          <p:cNvSpPr txBox="1"/>
          <p:nvPr/>
        </p:nvSpPr>
        <p:spPr>
          <a:xfrm>
            <a:off x="1106357" y="1334346"/>
            <a:ext cx="4781972" cy="233397"/>
          </a:xfrm>
          <a:prstGeom prst="rect">
            <a:avLst/>
          </a:prstGeom>
        </p:spPr>
        <p:txBody>
          <a:bodyPr vert="horz" wrap="square" lIns="0" tIns="17780" rIns="0" bIns="0" rtlCol="0">
            <a:spAutoFit/>
          </a:bodyPr>
          <a:lstStyle/>
          <a:p>
            <a:pPr marL="16933" defTabSz="1219170">
              <a:spcBef>
                <a:spcPts val="140"/>
              </a:spcBef>
              <a:tabLst>
                <a:tab pos="1156518" algn="l"/>
              </a:tabLst>
            </a:pPr>
            <a:r>
              <a:rPr sz="1333" spc="73" dirty="0">
                <a:solidFill>
                  <a:srgbClr val="D9D9D9"/>
                </a:solidFill>
                <a:latin typeface="Arial"/>
                <a:cs typeface="Arial"/>
              </a:rPr>
              <a:t>docker</a:t>
            </a:r>
            <a:r>
              <a:rPr sz="1333" spc="407" dirty="0">
                <a:solidFill>
                  <a:srgbClr val="D9D9D9"/>
                </a:solidFill>
                <a:latin typeface="Arial"/>
                <a:cs typeface="Arial"/>
              </a:rPr>
              <a:t> </a:t>
            </a:r>
            <a:r>
              <a:rPr sz="1333" spc="93" dirty="0">
                <a:solidFill>
                  <a:srgbClr val="D9D9D9"/>
                </a:solidFill>
                <a:latin typeface="Arial"/>
                <a:cs typeface="Arial"/>
              </a:rPr>
              <a:t>run	</a:t>
            </a:r>
            <a:r>
              <a:rPr sz="1400" spc="147" dirty="0">
                <a:solidFill>
                  <a:srgbClr val="D9D9D9"/>
                </a:solidFill>
                <a:latin typeface="Arial"/>
                <a:cs typeface="Arial"/>
              </a:rPr>
              <a:t>-e </a:t>
            </a:r>
            <a:r>
              <a:rPr sz="1400" spc="-93" dirty="0">
                <a:solidFill>
                  <a:srgbClr val="D9D9D9"/>
                </a:solidFill>
                <a:latin typeface="Arial"/>
                <a:cs typeface="Arial"/>
              </a:rPr>
              <a:t>APP_COLOR=pink</a:t>
            </a:r>
            <a:r>
              <a:rPr sz="1400" spc="40" dirty="0">
                <a:solidFill>
                  <a:srgbClr val="D9D9D9"/>
                </a:solidFill>
                <a:latin typeface="Arial"/>
                <a:cs typeface="Arial"/>
              </a:rPr>
              <a:t> </a:t>
            </a:r>
            <a:r>
              <a:rPr sz="1400" spc="80" dirty="0">
                <a:solidFill>
                  <a:srgbClr val="D9D9D9"/>
                </a:solidFill>
                <a:latin typeface="Arial"/>
                <a:cs typeface="Arial"/>
              </a:rPr>
              <a:t>simple-webapp-color</a:t>
            </a:r>
            <a:endParaRPr sz="1400" dirty="0">
              <a:solidFill>
                <a:prstClr val="black"/>
              </a:solidFill>
              <a:latin typeface="Arial"/>
              <a:cs typeface="Arial"/>
            </a:endParaRPr>
          </a:p>
        </p:txBody>
      </p:sp>
      <p:grpSp>
        <p:nvGrpSpPr>
          <p:cNvPr id="12" name="object 12"/>
          <p:cNvGrpSpPr/>
          <p:nvPr/>
        </p:nvGrpSpPr>
        <p:grpSpPr>
          <a:xfrm>
            <a:off x="833553" y="900175"/>
            <a:ext cx="3194473" cy="4886960"/>
            <a:chOff x="625164" y="675131"/>
            <a:chExt cx="2395855" cy="3665220"/>
          </a:xfrm>
        </p:grpSpPr>
        <p:sp>
          <p:nvSpPr>
            <p:cNvPr id="13" name="object 13"/>
            <p:cNvSpPr/>
            <p:nvPr/>
          </p:nvSpPr>
          <p:spPr>
            <a:xfrm>
              <a:off x="1821180" y="3820667"/>
              <a:ext cx="1022985" cy="304800"/>
            </a:xfrm>
            <a:custGeom>
              <a:avLst/>
              <a:gdLst/>
              <a:ahLst/>
              <a:cxnLst/>
              <a:rect l="l" t="t" r="r" b="b"/>
              <a:pathLst>
                <a:path w="1022985" h="304800">
                  <a:moveTo>
                    <a:pt x="971803" y="0"/>
                  </a:moveTo>
                  <a:lnTo>
                    <a:pt x="50800" y="0"/>
                  </a:lnTo>
                  <a:lnTo>
                    <a:pt x="31021" y="3990"/>
                  </a:lnTo>
                  <a:lnTo>
                    <a:pt x="14874" y="14874"/>
                  </a:lnTo>
                  <a:lnTo>
                    <a:pt x="3990" y="31021"/>
                  </a:lnTo>
                  <a:lnTo>
                    <a:pt x="0" y="50799"/>
                  </a:lnTo>
                  <a:lnTo>
                    <a:pt x="0" y="253999"/>
                  </a:lnTo>
                  <a:lnTo>
                    <a:pt x="3990" y="273772"/>
                  </a:lnTo>
                  <a:lnTo>
                    <a:pt x="14874" y="289920"/>
                  </a:lnTo>
                  <a:lnTo>
                    <a:pt x="31021" y="300807"/>
                  </a:lnTo>
                  <a:lnTo>
                    <a:pt x="50800" y="304799"/>
                  </a:lnTo>
                  <a:lnTo>
                    <a:pt x="971803" y="304799"/>
                  </a:lnTo>
                  <a:lnTo>
                    <a:pt x="991582" y="300807"/>
                  </a:lnTo>
                  <a:lnTo>
                    <a:pt x="1007729" y="289920"/>
                  </a:lnTo>
                  <a:lnTo>
                    <a:pt x="1018613" y="273772"/>
                  </a:lnTo>
                  <a:lnTo>
                    <a:pt x="1022603" y="253999"/>
                  </a:lnTo>
                  <a:lnTo>
                    <a:pt x="1022603" y="50799"/>
                  </a:lnTo>
                  <a:lnTo>
                    <a:pt x="1018613" y="31021"/>
                  </a:lnTo>
                  <a:lnTo>
                    <a:pt x="1007729" y="14874"/>
                  </a:lnTo>
                  <a:lnTo>
                    <a:pt x="991582" y="3990"/>
                  </a:lnTo>
                  <a:lnTo>
                    <a:pt x="971803" y="0"/>
                  </a:lnTo>
                  <a:close/>
                </a:path>
              </a:pathLst>
            </a:custGeom>
            <a:solidFill>
              <a:srgbClr val="1780C3">
                <a:alpha val="50195"/>
              </a:srgbClr>
            </a:solidFill>
          </p:spPr>
          <p:txBody>
            <a:bodyPr wrap="square" lIns="0" tIns="0" rIns="0" bIns="0" rtlCol="0"/>
            <a:lstStyle/>
            <a:p>
              <a:pPr defTabSz="1219170"/>
              <a:endParaRPr sz="2400">
                <a:solidFill>
                  <a:prstClr val="black"/>
                </a:solidFill>
                <a:latin typeface="Calibri"/>
              </a:endParaRPr>
            </a:p>
          </p:txBody>
        </p:sp>
        <p:sp>
          <p:nvSpPr>
            <p:cNvPr id="14" name="object 14"/>
            <p:cNvSpPr/>
            <p:nvPr/>
          </p:nvSpPr>
          <p:spPr>
            <a:xfrm>
              <a:off x="1821180" y="3816096"/>
              <a:ext cx="1022985" cy="304800"/>
            </a:xfrm>
            <a:custGeom>
              <a:avLst/>
              <a:gdLst/>
              <a:ahLst/>
              <a:cxnLst/>
              <a:rect l="l" t="t" r="r" b="b"/>
              <a:pathLst>
                <a:path w="1022985" h="304800">
                  <a:moveTo>
                    <a:pt x="0" y="50799"/>
                  </a:moveTo>
                  <a:lnTo>
                    <a:pt x="3990" y="31021"/>
                  </a:lnTo>
                  <a:lnTo>
                    <a:pt x="14874" y="14874"/>
                  </a:lnTo>
                  <a:lnTo>
                    <a:pt x="31021" y="3990"/>
                  </a:lnTo>
                  <a:lnTo>
                    <a:pt x="50800" y="0"/>
                  </a:lnTo>
                  <a:lnTo>
                    <a:pt x="971803" y="0"/>
                  </a:lnTo>
                  <a:lnTo>
                    <a:pt x="991582" y="3990"/>
                  </a:lnTo>
                  <a:lnTo>
                    <a:pt x="1007729" y="14874"/>
                  </a:lnTo>
                  <a:lnTo>
                    <a:pt x="1018613" y="31021"/>
                  </a:lnTo>
                  <a:lnTo>
                    <a:pt x="1022603" y="50799"/>
                  </a:lnTo>
                  <a:lnTo>
                    <a:pt x="1022603" y="253999"/>
                  </a:lnTo>
                  <a:lnTo>
                    <a:pt x="1018613" y="273772"/>
                  </a:lnTo>
                  <a:lnTo>
                    <a:pt x="1007729" y="289920"/>
                  </a:lnTo>
                  <a:lnTo>
                    <a:pt x="991582" y="300807"/>
                  </a:lnTo>
                  <a:lnTo>
                    <a:pt x="971803" y="304799"/>
                  </a:lnTo>
                  <a:lnTo>
                    <a:pt x="50800" y="304799"/>
                  </a:lnTo>
                  <a:lnTo>
                    <a:pt x="31021" y="300807"/>
                  </a:lnTo>
                  <a:lnTo>
                    <a:pt x="14874" y="289920"/>
                  </a:lnTo>
                  <a:lnTo>
                    <a:pt x="3990" y="273772"/>
                  </a:lnTo>
                  <a:lnTo>
                    <a:pt x="0" y="253999"/>
                  </a:lnTo>
                  <a:lnTo>
                    <a:pt x="0" y="50799"/>
                  </a:lnTo>
                  <a:close/>
                </a:path>
              </a:pathLst>
            </a:custGeom>
            <a:ln w="9144">
              <a:solidFill>
                <a:srgbClr val="483390"/>
              </a:solidFill>
              <a:prstDash val="sysDashDot"/>
            </a:ln>
          </p:spPr>
          <p:txBody>
            <a:bodyPr wrap="square" lIns="0" tIns="0" rIns="0" bIns="0" rtlCol="0"/>
            <a:lstStyle/>
            <a:p>
              <a:pPr defTabSz="1219170"/>
              <a:endParaRPr sz="2400">
                <a:solidFill>
                  <a:prstClr val="black"/>
                </a:solidFill>
                <a:latin typeface="Calibri"/>
              </a:endParaRPr>
            </a:p>
          </p:txBody>
        </p:sp>
        <p:sp>
          <p:nvSpPr>
            <p:cNvPr id="15" name="object 15"/>
            <p:cNvSpPr/>
            <p:nvPr/>
          </p:nvSpPr>
          <p:spPr>
            <a:xfrm>
              <a:off x="625164" y="989113"/>
              <a:ext cx="160020" cy="205740"/>
            </a:xfrm>
            <a:custGeom>
              <a:avLst/>
              <a:gdLst/>
              <a:ahLst/>
              <a:cxnLst/>
              <a:rect l="l" t="t" r="r" b="b"/>
              <a:pathLst>
                <a:path w="160020" h="205740">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16" name="object 16"/>
            <p:cNvSpPr/>
            <p:nvPr/>
          </p:nvSpPr>
          <p:spPr>
            <a:xfrm>
              <a:off x="2257044" y="804671"/>
              <a:ext cx="75565" cy="3016885"/>
            </a:xfrm>
            <a:custGeom>
              <a:avLst/>
              <a:gdLst/>
              <a:ahLst/>
              <a:cxnLst/>
              <a:rect l="l" t="t" r="r" b="b"/>
              <a:pathLst>
                <a:path w="75564" h="3016885">
                  <a:moveTo>
                    <a:pt x="0" y="0"/>
                  </a:moveTo>
                  <a:lnTo>
                    <a:pt x="75311" y="3016885"/>
                  </a:lnTo>
                </a:path>
              </a:pathLst>
            </a:custGeom>
            <a:ln w="6095">
              <a:solidFill>
                <a:srgbClr val="1780C3"/>
              </a:solidFill>
              <a:prstDash val="sysDashDot"/>
            </a:ln>
          </p:spPr>
          <p:txBody>
            <a:bodyPr wrap="square" lIns="0" tIns="0" rIns="0" bIns="0" rtlCol="0"/>
            <a:lstStyle/>
            <a:p>
              <a:pPr defTabSz="1219170"/>
              <a:endParaRPr sz="2400">
                <a:solidFill>
                  <a:prstClr val="black"/>
                </a:solidFill>
                <a:latin typeface="Calibri"/>
              </a:endParaRPr>
            </a:p>
          </p:txBody>
        </p:sp>
        <p:sp>
          <p:nvSpPr>
            <p:cNvPr id="17" name="object 17"/>
            <p:cNvSpPr/>
            <p:nvPr/>
          </p:nvSpPr>
          <p:spPr>
            <a:xfrm>
              <a:off x="1903475" y="958595"/>
              <a:ext cx="702945" cy="304800"/>
            </a:xfrm>
            <a:custGeom>
              <a:avLst/>
              <a:gdLst/>
              <a:ahLst/>
              <a:cxnLst/>
              <a:rect l="l" t="t" r="r" b="b"/>
              <a:pathLst>
                <a:path w="702944" h="304800">
                  <a:moveTo>
                    <a:pt x="651763" y="0"/>
                  </a:moveTo>
                  <a:lnTo>
                    <a:pt x="50800" y="0"/>
                  </a:lnTo>
                  <a:lnTo>
                    <a:pt x="31021" y="3990"/>
                  </a:lnTo>
                  <a:lnTo>
                    <a:pt x="14874" y="14874"/>
                  </a:lnTo>
                  <a:lnTo>
                    <a:pt x="3990" y="31021"/>
                  </a:lnTo>
                  <a:lnTo>
                    <a:pt x="0" y="50800"/>
                  </a:lnTo>
                  <a:lnTo>
                    <a:pt x="0" y="254000"/>
                  </a:lnTo>
                  <a:lnTo>
                    <a:pt x="3990" y="273778"/>
                  </a:lnTo>
                  <a:lnTo>
                    <a:pt x="14874" y="289925"/>
                  </a:lnTo>
                  <a:lnTo>
                    <a:pt x="31021" y="300809"/>
                  </a:lnTo>
                  <a:lnTo>
                    <a:pt x="50800" y="304800"/>
                  </a:lnTo>
                  <a:lnTo>
                    <a:pt x="651763" y="304800"/>
                  </a:lnTo>
                  <a:lnTo>
                    <a:pt x="671542" y="300809"/>
                  </a:lnTo>
                  <a:lnTo>
                    <a:pt x="687689" y="289925"/>
                  </a:lnTo>
                  <a:lnTo>
                    <a:pt x="698573" y="273778"/>
                  </a:lnTo>
                  <a:lnTo>
                    <a:pt x="702563" y="254000"/>
                  </a:lnTo>
                  <a:lnTo>
                    <a:pt x="702563" y="50800"/>
                  </a:lnTo>
                  <a:lnTo>
                    <a:pt x="698573" y="31021"/>
                  </a:lnTo>
                  <a:lnTo>
                    <a:pt x="687689" y="14874"/>
                  </a:lnTo>
                  <a:lnTo>
                    <a:pt x="671542" y="3990"/>
                  </a:lnTo>
                  <a:lnTo>
                    <a:pt x="651763" y="0"/>
                  </a:lnTo>
                  <a:close/>
                </a:path>
              </a:pathLst>
            </a:custGeom>
            <a:solidFill>
              <a:srgbClr val="1780C3">
                <a:alpha val="50195"/>
              </a:srgbClr>
            </a:solidFill>
          </p:spPr>
          <p:txBody>
            <a:bodyPr wrap="square" lIns="0" tIns="0" rIns="0" bIns="0" rtlCol="0"/>
            <a:lstStyle/>
            <a:p>
              <a:pPr defTabSz="1219170"/>
              <a:endParaRPr sz="2400">
                <a:solidFill>
                  <a:prstClr val="black"/>
                </a:solidFill>
                <a:latin typeface="Calibri"/>
              </a:endParaRPr>
            </a:p>
          </p:txBody>
        </p:sp>
        <p:sp>
          <p:nvSpPr>
            <p:cNvPr id="18" name="object 18"/>
            <p:cNvSpPr/>
            <p:nvPr/>
          </p:nvSpPr>
          <p:spPr>
            <a:xfrm>
              <a:off x="1903475" y="954023"/>
              <a:ext cx="702945" cy="304800"/>
            </a:xfrm>
            <a:custGeom>
              <a:avLst/>
              <a:gdLst/>
              <a:ahLst/>
              <a:cxnLst/>
              <a:rect l="l" t="t" r="r" b="b"/>
              <a:pathLst>
                <a:path w="702944" h="304800">
                  <a:moveTo>
                    <a:pt x="0" y="50800"/>
                  </a:moveTo>
                  <a:lnTo>
                    <a:pt x="3990" y="31021"/>
                  </a:lnTo>
                  <a:lnTo>
                    <a:pt x="14874" y="14874"/>
                  </a:lnTo>
                  <a:lnTo>
                    <a:pt x="31021" y="3990"/>
                  </a:lnTo>
                  <a:lnTo>
                    <a:pt x="50800" y="0"/>
                  </a:lnTo>
                  <a:lnTo>
                    <a:pt x="651763" y="0"/>
                  </a:lnTo>
                  <a:lnTo>
                    <a:pt x="671542" y="3990"/>
                  </a:lnTo>
                  <a:lnTo>
                    <a:pt x="687689" y="14874"/>
                  </a:lnTo>
                  <a:lnTo>
                    <a:pt x="698573" y="31021"/>
                  </a:lnTo>
                  <a:lnTo>
                    <a:pt x="702563" y="50800"/>
                  </a:lnTo>
                  <a:lnTo>
                    <a:pt x="702563" y="254000"/>
                  </a:lnTo>
                  <a:lnTo>
                    <a:pt x="698573" y="273778"/>
                  </a:lnTo>
                  <a:lnTo>
                    <a:pt x="687689" y="289925"/>
                  </a:lnTo>
                  <a:lnTo>
                    <a:pt x="671542" y="300809"/>
                  </a:lnTo>
                  <a:lnTo>
                    <a:pt x="651763" y="304800"/>
                  </a:lnTo>
                  <a:lnTo>
                    <a:pt x="50800" y="304800"/>
                  </a:lnTo>
                  <a:lnTo>
                    <a:pt x="31021" y="300809"/>
                  </a:lnTo>
                  <a:lnTo>
                    <a:pt x="14874" y="289925"/>
                  </a:lnTo>
                  <a:lnTo>
                    <a:pt x="3990" y="273778"/>
                  </a:lnTo>
                  <a:lnTo>
                    <a:pt x="0" y="254000"/>
                  </a:lnTo>
                  <a:lnTo>
                    <a:pt x="0" y="50800"/>
                  </a:lnTo>
                  <a:close/>
                </a:path>
              </a:pathLst>
            </a:custGeom>
            <a:ln w="9144">
              <a:solidFill>
                <a:srgbClr val="483390"/>
              </a:solidFill>
              <a:prstDash val="sysDashDot"/>
            </a:ln>
          </p:spPr>
          <p:txBody>
            <a:bodyPr wrap="square" lIns="0" tIns="0" rIns="0" bIns="0" rtlCol="0"/>
            <a:lstStyle/>
            <a:p>
              <a:pPr defTabSz="1219170"/>
              <a:endParaRPr sz="2400">
                <a:solidFill>
                  <a:prstClr val="black"/>
                </a:solidFill>
                <a:latin typeface="Calibri"/>
              </a:endParaRPr>
            </a:p>
          </p:txBody>
        </p:sp>
        <p:sp>
          <p:nvSpPr>
            <p:cNvPr id="19" name="object 19"/>
            <p:cNvSpPr/>
            <p:nvPr/>
          </p:nvSpPr>
          <p:spPr>
            <a:xfrm>
              <a:off x="1924811" y="4094987"/>
              <a:ext cx="558165" cy="245745"/>
            </a:xfrm>
            <a:custGeom>
              <a:avLst/>
              <a:gdLst/>
              <a:ahLst/>
              <a:cxnLst/>
              <a:rect l="l" t="t" r="r" b="b"/>
              <a:pathLst>
                <a:path w="558164" h="245745">
                  <a:moveTo>
                    <a:pt x="516889" y="0"/>
                  </a:moveTo>
                  <a:lnTo>
                    <a:pt x="40893" y="0"/>
                  </a:lnTo>
                  <a:lnTo>
                    <a:pt x="24967" y="3214"/>
                  </a:lnTo>
                  <a:lnTo>
                    <a:pt x="11969" y="11979"/>
                  </a:lnTo>
                  <a:lnTo>
                    <a:pt x="3210" y="24978"/>
                  </a:lnTo>
                  <a:lnTo>
                    <a:pt x="0" y="40893"/>
                  </a:lnTo>
                  <a:lnTo>
                    <a:pt x="0" y="204470"/>
                  </a:lnTo>
                  <a:lnTo>
                    <a:pt x="3210" y="220385"/>
                  </a:lnTo>
                  <a:lnTo>
                    <a:pt x="11969" y="233384"/>
                  </a:lnTo>
                  <a:lnTo>
                    <a:pt x="24967" y="242149"/>
                  </a:lnTo>
                  <a:lnTo>
                    <a:pt x="40893" y="245364"/>
                  </a:lnTo>
                  <a:lnTo>
                    <a:pt x="516889" y="245364"/>
                  </a:lnTo>
                  <a:lnTo>
                    <a:pt x="532816" y="242149"/>
                  </a:lnTo>
                  <a:lnTo>
                    <a:pt x="545814" y="233384"/>
                  </a:lnTo>
                  <a:lnTo>
                    <a:pt x="554573" y="220385"/>
                  </a:lnTo>
                  <a:lnTo>
                    <a:pt x="557783" y="204470"/>
                  </a:lnTo>
                  <a:lnTo>
                    <a:pt x="557783" y="40893"/>
                  </a:lnTo>
                  <a:lnTo>
                    <a:pt x="554573" y="24978"/>
                  </a:lnTo>
                  <a:lnTo>
                    <a:pt x="545814" y="11979"/>
                  </a:lnTo>
                  <a:lnTo>
                    <a:pt x="532816" y="3214"/>
                  </a:lnTo>
                  <a:lnTo>
                    <a:pt x="516889" y="0"/>
                  </a:lnTo>
                  <a:close/>
                </a:path>
              </a:pathLst>
            </a:custGeom>
            <a:solidFill>
              <a:srgbClr val="1780C3">
                <a:alpha val="50195"/>
              </a:srgbClr>
            </a:solidFill>
          </p:spPr>
          <p:txBody>
            <a:bodyPr wrap="square" lIns="0" tIns="0" rIns="0" bIns="0" rtlCol="0"/>
            <a:lstStyle/>
            <a:p>
              <a:pPr defTabSz="1219170"/>
              <a:endParaRPr sz="2400">
                <a:solidFill>
                  <a:prstClr val="black"/>
                </a:solidFill>
                <a:latin typeface="Calibri"/>
              </a:endParaRPr>
            </a:p>
          </p:txBody>
        </p:sp>
        <p:sp>
          <p:nvSpPr>
            <p:cNvPr id="20" name="object 20"/>
            <p:cNvSpPr/>
            <p:nvPr/>
          </p:nvSpPr>
          <p:spPr>
            <a:xfrm>
              <a:off x="1924811" y="4090416"/>
              <a:ext cx="558165" cy="245745"/>
            </a:xfrm>
            <a:custGeom>
              <a:avLst/>
              <a:gdLst/>
              <a:ahLst/>
              <a:cxnLst/>
              <a:rect l="l" t="t" r="r" b="b"/>
              <a:pathLst>
                <a:path w="558164" h="245745">
                  <a:moveTo>
                    <a:pt x="0" y="40894"/>
                  </a:moveTo>
                  <a:lnTo>
                    <a:pt x="3210" y="24978"/>
                  </a:lnTo>
                  <a:lnTo>
                    <a:pt x="11969" y="11979"/>
                  </a:lnTo>
                  <a:lnTo>
                    <a:pt x="24967" y="3214"/>
                  </a:lnTo>
                  <a:lnTo>
                    <a:pt x="40893" y="0"/>
                  </a:lnTo>
                  <a:lnTo>
                    <a:pt x="516889" y="0"/>
                  </a:lnTo>
                  <a:lnTo>
                    <a:pt x="532816" y="3214"/>
                  </a:lnTo>
                  <a:lnTo>
                    <a:pt x="545814" y="11979"/>
                  </a:lnTo>
                  <a:lnTo>
                    <a:pt x="554573" y="24978"/>
                  </a:lnTo>
                  <a:lnTo>
                    <a:pt x="557783" y="40894"/>
                  </a:lnTo>
                  <a:lnTo>
                    <a:pt x="557783" y="204470"/>
                  </a:lnTo>
                  <a:lnTo>
                    <a:pt x="554573" y="220385"/>
                  </a:lnTo>
                  <a:lnTo>
                    <a:pt x="545814" y="233384"/>
                  </a:lnTo>
                  <a:lnTo>
                    <a:pt x="532816" y="242149"/>
                  </a:lnTo>
                  <a:lnTo>
                    <a:pt x="516889" y="245364"/>
                  </a:lnTo>
                  <a:lnTo>
                    <a:pt x="40893" y="245364"/>
                  </a:lnTo>
                  <a:lnTo>
                    <a:pt x="24967" y="242149"/>
                  </a:lnTo>
                  <a:lnTo>
                    <a:pt x="11969" y="233384"/>
                  </a:lnTo>
                  <a:lnTo>
                    <a:pt x="3210" y="220385"/>
                  </a:lnTo>
                  <a:lnTo>
                    <a:pt x="0" y="204470"/>
                  </a:lnTo>
                  <a:lnTo>
                    <a:pt x="0" y="40894"/>
                  </a:lnTo>
                  <a:close/>
                </a:path>
              </a:pathLst>
            </a:custGeom>
            <a:ln w="9144">
              <a:solidFill>
                <a:srgbClr val="483390"/>
              </a:solidFill>
              <a:prstDash val="sysDashDot"/>
            </a:ln>
          </p:spPr>
          <p:txBody>
            <a:bodyPr wrap="square" lIns="0" tIns="0" rIns="0" bIns="0" rtlCol="0"/>
            <a:lstStyle/>
            <a:p>
              <a:pPr defTabSz="1219170"/>
              <a:endParaRPr sz="2400">
                <a:solidFill>
                  <a:prstClr val="black"/>
                </a:solidFill>
                <a:latin typeface="Calibri"/>
              </a:endParaRPr>
            </a:p>
          </p:txBody>
        </p:sp>
        <p:sp>
          <p:nvSpPr>
            <p:cNvPr id="21" name="object 21"/>
            <p:cNvSpPr/>
            <p:nvPr/>
          </p:nvSpPr>
          <p:spPr>
            <a:xfrm>
              <a:off x="2333244" y="678179"/>
              <a:ext cx="426084" cy="3522979"/>
            </a:xfrm>
            <a:custGeom>
              <a:avLst/>
              <a:gdLst/>
              <a:ahLst/>
              <a:cxnLst/>
              <a:rect l="l" t="t" r="r" b="b"/>
              <a:pathLst>
                <a:path w="426085" h="3522979">
                  <a:moveTo>
                    <a:pt x="426085" y="0"/>
                  </a:moveTo>
                  <a:lnTo>
                    <a:pt x="0" y="3522891"/>
                  </a:lnTo>
                </a:path>
              </a:pathLst>
            </a:custGeom>
            <a:ln w="6096">
              <a:solidFill>
                <a:srgbClr val="1780C3"/>
              </a:solidFill>
              <a:prstDash val="sysDashDot"/>
            </a:ln>
          </p:spPr>
          <p:txBody>
            <a:bodyPr wrap="square" lIns="0" tIns="0" rIns="0" bIns="0" rtlCol="0"/>
            <a:lstStyle/>
            <a:p>
              <a:pPr defTabSz="1219170"/>
              <a:endParaRPr sz="2400">
                <a:solidFill>
                  <a:prstClr val="black"/>
                </a:solidFill>
                <a:latin typeface="Calibri"/>
              </a:endParaRPr>
            </a:p>
          </p:txBody>
        </p:sp>
        <p:sp>
          <p:nvSpPr>
            <p:cNvPr id="22" name="object 22"/>
            <p:cNvSpPr/>
            <p:nvPr/>
          </p:nvSpPr>
          <p:spPr>
            <a:xfrm>
              <a:off x="2641092" y="947927"/>
              <a:ext cx="375285" cy="304800"/>
            </a:xfrm>
            <a:custGeom>
              <a:avLst/>
              <a:gdLst/>
              <a:ahLst/>
              <a:cxnLst/>
              <a:rect l="l" t="t" r="r" b="b"/>
              <a:pathLst>
                <a:path w="375285" h="304800">
                  <a:moveTo>
                    <a:pt x="324103" y="0"/>
                  </a:moveTo>
                  <a:lnTo>
                    <a:pt x="50800" y="0"/>
                  </a:lnTo>
                  <a:lnTo>
                    <a:pt x="31021" y="3990"/>
                  </a:lnTo>
                  <a:lnTo>
                    <a:pt x="14874" y="14874"/>
                  </a:lnTo>
                  <a:lnTo>
                    <a:pt x="3990" y="31021"/>
                  </a:lnTo>
                  <a:lnTo>
                    <a:pt x="0" y="50800"/>
                  </a:lnTo>
                  <a:lnTo>
                    <a:pt x="0" y="254000"/>
                  </a:lnTo>
                  <a:lnTo>
                    <a:pt x="3990" y="273778"/>
                  </a:lnTo>
                  <a:lnTo>
                    <a:pt x="14874" y="289925"/>
                  </a:lnTo>
                  <a:lnTo>
                    <a:pt x="31021" y="300809"/>
                  </a:lnTo>
                  <a:lnTo>
                    <a:pt x="50800" y="304800"/>
                  </a:lnTo>
                  <a:lnTo>
                    <a:pt x="324103" y="304800"/>
                  </a:lnTo>
                  <a:lnTo>
                    <a:pt x="343882" y="300809"/>
                  </a:lnTo>
                  <a:lnTo>
                    <a:pt x="360029" y="289925"/>
                  </a:lnTo>
                  <a:lnTo>
                    <a:pt x="370913" y="273778"/>
                  </a:lnTo>
                  <a:lnTo>
                    <a:pt x="374903" y="254000"/>
                  </a:lnTo>
                  <a:lnTo>
                    <a:pt x="374903" y="50800"/>
                  </a:lnTo>
                  <a:lnTo>
                    <a:pt x="370913" y="31021"/>
                  </a:lnTo>
                  <a:lnTo>
                    <a:pt x="360029" y="14874"/>
                  </a:lnTo>
                  <a:lnTo>
                    <a:pt x="343882" y="3990"/>
                  </a:lnTo>
                  <a:lnTo>
                    <a:pt x="324103" y="0"/>
                  </a:lnTo>
                  <a:close/>
                </a:path>
              </a:pathLst>
            </a:custGeom>
            <a:solidFill>
              <a:srgbClr val="1780C3">
                <a:alpha val="50195"/>
              </a:srgbClr>
            </a:solidFill>
          </p:spPr>
          <p:txBody>
            <a:bodyPr wrap="square" lIns="0" tIns="0" rIns="0" bIns="0" rtlCol="0"/>
            <a:lstStyle/>
            <a:p>
              <a:pPr defTabSz="1219170"/>
              <a:endParaRPr sz="2400">
                <a:solidFill>
                  <a:prstClr val="black"/>
                </a:solidFill>
                <a:latin typeface="Calibri"/>
              </a:endParaRPr>
            </a:p>
          </p:txBody>
        </p:sp>
        <p:sp>
          <p:nvSpPr>
            <p:cNvPr id="23" name="object 23"/>
            <p:cNvSpPr/>
            <p:nvPr/>
          </p:nvSpPr>
          <p:spPr>
            <a:xfrm>
              <a:off x="2641092" y="943356"/>
              <a:ext cx="375285" cy="304800"/>
            </a:xfrm>
            <a:custGeom>
              <a:avLst/>
              <a:gdLst/>
              <a:ahLst/>
              <a:cxnLst/>
              <a:rect l="l" t="t" r="r" b="b"/>
              <a:pathLst>
                <a:path w="375285" h="304800">
                  <a:moveTo>
                    <a:pt x="0" y="50800"/>
                  </a:moveTo>
                  <a:lnTo>
                    <a:pt x="3990" y="31021"/>
                  </a:lnTo>
                  <a:lnTo>
                    <a:pt x="14874" y="14874"/>
                  </a:lnTo>
                  <a:lnTo>
                    <a:pt x="31021" y="3990"/>
                  </a:lnTo>
                  <a:lnTo>
                    <a:pt x="50800" y="0"/>
                  </a:lnTo>
                  <a:lnTo>
                    <a:pt x="324103" y="0"/>
                  </a:lnTo>
                  <a:lnTo>
                    <a:pt x="343882" y="3990"/>
                  </a:lnTo>
                  <a:lnTo>
                    <a:pt x="360029" y="14874"/>
                  </a:lnTo>
                  <a:lnTo>
                    <a:pt x="370913" y="31021"/>
                  </a:lnTo>
                  <a:lnTo>
                    <a:pt x="374903" y="50800"/>
                  </a:lnTo>
                  <a:lnTo>
                    <a:pt x="374903" y="254000"/>
                  </a:lnTo>
                  <a:lnTo>
                    <a:pt x="370913" y="273778"/>
                  </a:lnTo>
                  <a:lnTo>
                    <a:pt x="360029" y="289925"/>
                  </a:lnTo>
                  <a:lnTo>
                    <a:pt x="343882" y="300809"/>
                  </a:lnTo>
                  <a:lnTo>
                    <a:pt x="324103" y="304800"/>
                  </a:lnTo>
                  <a:lnTo>
                    <a:pt x="50800" y="304800"/>
                  </a:lnTo>
                  <a:lnTo>
                    <a:pt x="31021" y="300809"/>
                  </a:lnTo>
                  <a:lnTo>
                    <a:pt x="14874" y="289925"/>
                  </a:lnTo>
                  <a:lnTo>
                    <a:pt x="3990" y="273778"/>
                  </a:lnTo>
                  <a:lnTo>
                    <a:pt x="0" y="254000"/>
                  </a:lnTo>
                  <a:lnTo>
                    <a:pt x="0" y="50800"/>
                  </a:lnTo>
                  <a:close/>
                </a:path>
              </a:pathLst>
            </a:custGeom>
            <a:ln w="9144">
              <a:solidFill>
                <a:srgbClr val="483390"/>
              </a:solidFill>
              <a:prstDash val="sysDashDot"/>
            </a:ln>
          </p:spPr>
          <p:txBody>
            <a:bodyPr wrap="square" lIns="0" tIns="0" rIns="0" bIns="0" rtlCol="0"/>
            <a:lstStyle/>
            <a:p>
              <a:pPr defTabSz="1219170"/>
              <a:endParaRPr sz="2400">
                <a:solidFill>
                  <a:prstClr val="black"/>
                </a:solidFill>
                <a:latin typeface="Calibri"/>
              </a:endParaRPr>
            </a:p>
          </p:txBody>
        </p:sp>
      </p:grpSp>
      <p:sp>
        <p:nvSpPr>
          <p:cNvPr id="25" name="Title 24"/>
          <p:cNvSpPr>
            <a:spLocks noGrp="1"/>
          </p:cNvSpPr>
          <p:nvPr>
            <p:ph type="title"/>
          </p:nvPr>
        </p:nvSpPr>
        <p:spPr>
          <a:xfrm>
            <a:off x="882023" y="326812"/>
            <a:ext cx="8585250" cy="677108"/>
          </a:xfrm>
        </p:spPr>
        <p:txBody>
          <a:bodyPr/>
          <a:lstStyle/>
          <a:p>
            <a:r>
              <a:rPr lang="en-US" dirty="0">
                <a:solidFill>
                  <a:schemeClr val="tx1"/>
                </a:solidFill>
              </a:rPr>
              <a:t>Env Variables in kubernetes</a:t>
            </a:r>
          </a:p>
        </p:txBody>
      </p:sp>
    </p:spTree>
    <p:extLst>
      <p:ext uri="{BB962C8B-B14F-4D97-AF65-F5344CB8AC3E}">
        <p14:creationId xmlns:p14="http://schemas.microsoft.com/office/powerpoint/2010/main" val="16938013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ConfigMap</a:t>
            </a:r>
          </a:p>
        </p:txBody>
      </p:sp>
      <p:sp>
        <p:nvSpPr>
          <p:cNvPr id="3" name="Content Placeholder 2"/>
          <p:cNvSpPr>
            <a:spLocks noGrp="1"/>
          </p:cNvSpPr>
          <p:nvPr>
            <p:ph idx="1"/>
          </p:nvPr>
        </p:nvSpPr>
        <p:spPr/>
        <p:txBody>
          <a:bodyPr>
            <a:normAutofit fontScale="92500" lnSpcReduction="10000"/>
          </a:bodyPr>
          <a:lstStyle/>
          <a:p>
            <a:pPr marL="0" indent="0">
              <a:buNone/>
            </a:pPr>
            <a:endParaRPr lang="en-US" sz="2400" dirty="0"/>
          </a:p>
          <a:p>
            <a:r>
              <a:rPr lang="en-US" sz="2400" dirty="0"/>
              <a:t>A ConfigMap stores non-confidential data in key-value pairs.</a:t>
            </a:r>
          </a:p>
          <a:p>
            <a:endParaRPr lang="en-US" sz="2400" dirty="0"/>
          </a:p>
          <a:p>
            <a:r>
              <a:rPr lang="en-US" sz="2400" dirty="0"/>
              <a:t>data such as URLs, flags, or application settings.</a:t>
            </a:r>
          </a:p>
          <a:p>
            <a:endParaRPr lang="en-US" sz="2400" dirty="0"/>
          </a:p>
          <a:p>
            <a:r>
              <a:rPr lang="en-US" sz="2400" dirty="0"/>
              <a:t>ConfigMaps do not provide encryption or secrecy; stored data is in plain text.</a:t>
            </a:r>
          </a:p>
          <a:p>
            <a:endParaRPr lang="en-US" sz="2400" dirty="0"/>
          </a:p>
          <a:p>
            <a:r>
              <a:rPr lang="en-US" sz="2400" dirty="0"/>
              <a:t>They have a size limit (typically 1 MiB).</a:t>
            </a:r>
          </a:p>
          <a:p>
            <a:endParaRPr lang="en-US" sz="2400" dirty="0"/>
          </a:p>
          <a:p>
            <a:r>
              <a:rPr lang="en-US" sz="2400" dirty="0"/>
              <a:t>Admins and developers use ConfigMaps to separate config from code so configurations can be easily changed without rebuilding container images.</a:t>
            </a:r>
          </a:p>
        </p:txBody>
      </p:sp>
    </p:spTree>
    <p:extLst>
      <p:ext uri="{BB962C8B-B14F-4D97-AF65-F5344CB8AC3E}">
        <p14:creationId xmlns:p14="http://schemas.microsoft.com/office/powerpoint/2010/main" val="18027284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5297424" y="1505711"/>
            <a:ext cx="6333913" cy="4464472"/>
            <a:chOff x="3973067" y="1129283"/>
            <a:chExt cx="4750435" cy="3348354"/>
          </a:xfrm>
        </p:grpSpPr>
        <p:sp>
          <p:nvSpPr>
            <p:cNvPr id="4" name="object 4"/>
            <p:cNvSpPr/>
            <p:nvPr/>
          </p:nvSpPr>
          <p:spPr>
            <a:xfrm>
              <a:off x="3973067" y="1429511"/>
              <a:ext cx="4750435" cy="3048000"/>
            </a:xfrm>
            <a:custGeom>
              <a:avLst/>
              <a:gdLst/>
              <a:ahLst/>
              <a:cxnLst/>
              <a:rect l="l" t="t" r="r" b="b"/>
              <a:pathLst>
                <a:path w="4750434" h="3048000">
                  <a:moveTo>
                    <a:pt x="4750308" y="0"/>
                  </a:moveTo>
                  <a:lnTo>
                    <a:pt x="0" y="0"/>
                  </a:lnTo>
                  <a:lnTo>
                    <a:pt x="0" y="3048000"/>
                  </a:lnTo>
                  <a:lnTo>
                    <a:pt x="4750308" y="3048000"/>
                  </a:lnTo>
                  <a:lnTo>
                    <a:pt x="4750308"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5" name="object 5"/>
            <p:cNvSpPr/>
            <p:nvPr/>
          </p:nvSpPr>
          <p:spPr>
            <a:xfrm>
              <a:off x="3973067" y="1129283"/>
              <a:ext cx="1685925" cy="300355"/>
            </a:xfrm>
            <a:custGeom>
              <a:avLst/>
              <a:gdLst/>
              <a:ahLst/>
              <a:cxnLst/>
              <a:rect l="l" t="t" r="r" b="b"/>
              <a:pathLst>
                <a:path w="1685925" h="300355">
                  <a:moveTo>
                    <a:pt x="1685543" y="0"/>
                  </a:moveTo>
                  <a:lnTo>
                    <a:pt x="0" y="0"/>
                  </a:lnTo>
                  <a:lnTo>
                    <a:pt x="0" y="300227"/>
                  </a:lnTo>
                  <a:lnTo>
                    <a:pt x="1685543" y="300227"/>
                  </a:lnTo>
                  <a:lnTo>
                    <a:pt x="1685543" y="0"/>
                  </a:lnTo>
                  <a:close/>
                </a:path>
              </a:pathLst>
            </a:custGeom>
            <a:solidFill>
              <a:srgbClr val="000000">
                <a:alpha val="50195"/>
              </a:srgbClr>
            </a:solidFill>
          </p:spPr>
          <p:txBody>
            <a:bodyPr wrap="square" lIns="0" tIns="0" rIns="0" bIns="0" rtlCol="0"/>
            <a:lstStyle/>
            <a:p>
              <a:pPr defTabSz="1219170"/>
              <a:endParaRPr sz="2400">
                <a:solidFill>
                  <a:prstClr val="black"/>
                </a:solidFill>
                <a:latin typeface="Calibri"/>
              </a:endParaRPr>
            </a:p>
          </p:txBody>
        </p:sp>
      </p:grpSp>
      <p:sp>
        <p:nvSpPr>
          <p:cNvPr id="6" name="object 6"/>
          <p:cNvSpPr txBox="1"/>
          <p:nvPr/>
        </p:nvSpPr>
        <p:spPr>
          <a:xfrm>
            <a:off x="5403256" y="1537208"/>
            <a:ext cx="2120053" cy="294953"/>
          </a:xfrm>
          <a:prstGeom prst="rect">
            <a:avLst/>
          </a:prstGeom>
        </p:spPr>
        <p:txBody>
          <a:bodyPr vert="horz" wrap="square" lIns="0" tIns="17780" rIns="0" bIns="0" rtlCol="0">
            <a:spAutoFit/>
          </a:bodyPr>
          <a:lstStyle/>
          <a:p>
            <a:pPr marL="16933" defTabSz="1219170">
              <a:spcBef>
                <a:spcPts val="140"/>
              </a:spcBef>
            </a:pPr>
            <a:r>
              <a:rPr spc="-13" dirty="0">
                <a:solidFill>
                  <a:srgbClr val="FFFFFF"/>
                </a:solidFill>
                <a:latin typeface="Noto Sans"/>
                <a:cs typeface="Noto Sans"/>
              </a:rPr>
              <a:t>pod-definition.yaml</a:t>
            </a:r>
            <a:endParaRPr>
              <a:solidFill>
                <a:prstClr val="black"/>
              </a:solidFill>
              <a:latin typeface="Noto Sans"/>
              <a:cs typeface="Noto Sans"/>
            </a:endParaRPr>
          </a:p>
        </p:txBody>
      </p:sp>
      <p:sp>
        <p:nvSpPr>
          <p:cNvPr id="7" name="object 7"/>
          <p:cNvSpPr txBox="1">
            <a:spLocks noGrp="1"/>
          </p:cNvSpPr>
          <p:nvPr>
            <p:ph type="title"/>
          </p:nvPr>
        </p:nvSpPr>
        <p:spPr>
          <a:xfrm>
            <a:off x="882429" y="326137"/>
            <a:ext cx="3439160" cy="694207"/>
          </a:xfrm>
          <a:prstGeom prst="rect">
            <a:avLst/>
          </a:prstGeom>
        </p:spPr>
        <p:txBody>
          <a:bodyPr vert="horz" wrap="square" lIns="0" tIns="16933" rIns="0" bIns="0" rtlCol="0">
            <a:spAutoFit/>
          </a:bodyPr>
          <a:lstStyle/>
          <a:p>
            <a:pPr marL="16933">
              <a:spcBef>
                <a:spcPts val="133"/>
              </a:spcBef>
            </a:pPr>
            <a:r>
              <a:rPr spc="127" dirty="0">
                <a:solidFill>
                  <a:schemeClr val="tx1"/>
                </a:solidFill>
              </a:rPr>
              <a:t>Conf</a:t>
            </a:r>
            <a:r>
              <a:rPr spc="47" dirty="0">
                <a:solidFill>
                  <a:schemeClr val="tx1"/>
                </a:solidFill>
              </a:rPr>
              <a:t>i</a:t>
            </a:r>
            <a:r>
              <a:rPr spc="167" dirty="0">
                <a:solidFill>
                  <a:schemeClr val="tx1"/>
                </a:solidFill>
              </a:rPr>
              <a:t>gMaps</a:t>
            </a:r>
          </a:p>
        </p:txBody>
      </p:sp>
      <p:sp>
        <p:nvSpPr>
          <p:cNvPr id="8" name="object 8"/>
          <p:cNvSpPr txBox="1"/>
          <p:nvPr/>
        </p:nvSpPr>
        <p:spPr>
          <a:xfrm>
            <a:off x="5369390" y="1946826"/>
            <a:ext cx="3783753" cy="3854046"/>
          </a:xfrm>
          <a:prstGeom prst="rect">
            <a:avLst/>
          </a:prstGeom>
        </p:spPr>
        <p:txBody>
          <a:bodyPr vert="horz" wrap="square" lIns="0" tIns="16933" rIns="0" bIns="0" rtlCol="0">
            <a:spAutoFit/>
          </a:bodyPr>
          <a:lstStyle/>
          <a:p>
            <a:pPr marL="50799" marR="2003163" defTabSz="1219170">
              <a:spcBef>
                <a:spcPts val="133"/>
              </a:spcBef>
            </a:pPr>
            <a:r>
              <a:rPr sz="1600" b="1" dirty="0">
                <a:solidFill>
                  <a:srgbClr val="CC7831"/>
                </a:solidFill>
                <a:latin typeface="Courier New"/>
                <a:cs typeface="Courier New"/>
              </a:rPr>
              <a:t>apiVersion:</a:t>
            </a:r>
            <a:r>
              <a:rPr sz="1600" b="1" spc="-113" dirty="0">
                <a:solidFill>
                  <a:srgbClr val="CC7831"/>
                </a:solidFill>
                <a:latin typeface="Courier New"/>
                <a:cs typeface="Courier New"/>
              </a:rPr>
              <a:t> </a:t>
            </a:r>
            <a:r>
              <a:rPr sz="1600" spc="13" dirty="0">
                <a:solidFill>
                  <a:srgbClr val="A9B7C5"/>
                </a:solidFill>
                <a:latin typeface="Courier New"/>
                <a:cs typeface="Courier New"/>
              </a:rPr>
              <a:t>v1  </a:t>
            </a:r>
            <a:r>
              <a:rPr sz="1600" b="1" spc="-7" dirty="0">
                <a:solidFill>
                  <a:srgbClr val="CC7831"/>
                </a:solidFill>
                <a:latin typeface="Courier New"/>
                <a:cs typeface="Courier New"/>
              </a:rPr>
              <a:t>kind: </a:t>
            </a:r>
            <a:r>
              <a:rPr sz="1600" dirty="0">
                <a:solidFill>
                  <a:srgbClr val="A9B7C5"/>
                </a:solidFill>
                <a:latin typeface="Courier New"/>
                <a:cs typeface="Courier New"/>
              </a:rPr>
              <a:t>Pod  </a:t>
            </a:r>
            <a:r>
              <a:rPr sz="1600" b="1" dirty="0">
                <a:solidFill>
                  <a:srgbClr val="CC7831"/>
                </a:solidFill>
                <a:latin typeface="Courier New"/>
                <a:cs typeface="Courier New"/>
              </a:rPr>
              <a:t>metadata:</a:t>
            </a:r>
            <a:endParaRPr sz="1600" dirty="0">
              <a:solidFill>
                <a:prstClr val="black"/>
              </a:solidFill>
              <a:latin typeface="Courier New"/>
              <a:cs typeface="Courier New"/>
            </a:endParaRPr>
          </a:p>
          <a:p>
            <a:pPr marL="294631" defTabSz="1219170"/>
            <a:r>
              <a:rPr sz="1600" b="1" dirty="0">
                <a:solidFill>
                  <a:srgbClr val="CC7831"/>
                </a:solidFill>
                <a:latin typeface="Courier New"/>
                <a:cs typeface="Courier New"/>
              </a:rPr>
              <a:t>name:</a:t>
            </a:r>
            <a:r>
              <a:rPr sz="1600" b="1" spc="-7" dirty="0">
                <a:solidFill>
                  <a:srgbClr val="CC7831"/>
                </a:solidFill>
                <a:latin typeface="Courier New"/>
                <a:cs typeface="Courier New"/>
              </a:rPr>
              <a:t> </a:t>
            </a:r>
            <a:r>
              <a:rPr sz="1600" dirty="0">
                <a:solidFill>
                  <a:srgbClr val="A9B7C5"/>
                </a:solidFill>
                <a:latin typeface="Courier New"/>
                <a:cs typeface="Courier New"/>
              </a:rPr>
              <a:t>simple-webapp-color</a:t>
            </a:r>
            <a:endParaRPr sz="1600" dirty="0">
              <a:solidFill>
                <a:prstClr val="black"/>
              </a:solidFill>
              <a:latin typeface="Courier New"/>
              <a:cs typeface="Courier New"/>
            </a:endParaRPr>
          </a:p>
          <a:p>
            <a:pPr marL="50799" defTabSz="1219170"/>
            <a:r>
              <a:rPr sz="1600" b="1" spc="-7" dirty="0">
                <a:solidFill>
                  <a:srgbClr val="CC7831"/>
                </a:solidFill>
                <a:latin typeface="Courier New"/>
                <a:cs typeface="Courier New"/>
              </a:rPr>
              <a:t>spec:</a:t>
            </a:r>
            <a:endParaRPr sz="1600" dirty="0">
              <a:solidFill>
                <a:prstClr val="black"/>
              </a:solidFill>
              <a:latin typeface="Courier New"/>
              <a:cs typeface="Courier New"/>
            </a:endParaRPr>
          </a:p>
          <a:p>
            <a:pPr marL="294631" defTabSz="1219170"/>
            <a:r>
              <a:rPr sz="1600" b="1" dirty="0">
                <a:solidFill>
                  <a:srgbClr val="CC7831"/>
                </a:solidFill>
                <a:latin typeface="Courier New"/>
                <a:cs typeface="Courier New"/>
              </a:rPr>
              <a:t>containers:</a:t>
            </a:r>
            <a:endParaRPr sz="1600" dirty="0">
              <a:solidFill>
                <a:prstClr val="black"/>
              </a:solidFill>
              <a:latin typeface="Courier New"/>
              <a:cs typeface="Courier New"/>
            </a:endParaRPr>
          </a:p>
          <a:p>
            <a:pPr marL="540160" marR="40639" indent="-246374" defTabSz="1219170">
              <a:buClr>
                <a:srgbClr val="A9B7C5"/>
              </a:buClr>
              <a:buFont typeface="Courier New"/>
              <a:buChar char="-"/>
              <a:tabLst>
                <a:tab pos="541006" algn="l"/>
              </a:tabLst>
            </a:pPr>
            <a:r>
              <a:rPr sz="1600" b="1" dirty="0">
                <a:solidFill>
                  <a:srgbClr val="CC7831"/>
                </a:solidFill>
                <a:latin typeface="Courier New"/>
                <a:cs typeface="Courier New"/>
              </a:rPr>
              <a:t>name: </a:t>
            </a:r>
            <a:r>
              <a:rPr sz="1600" dirty="0">
                <a:solidFill>
                  <a:srgbClr val="A9B7C5"/>
                </a:solidFill>
                <a:latin typeface="Courier New"/>
                <a:cs typeface="Courier New"/>
              </a:rPr>
              <a:t>simple-webapp-color </a:t>
            </a:r>
            <a:r>
              <a:rPr sz="1600" dirty="0">
                <a:solidFill>
                  <a:srgbClr val="CC7831"/>
                </a:solidFill>
                <a:latin typeface="Courier New"/>
                <a:cs typeface="Courier New"/>
              </a:rPr>
              <a:t> </a:t>
            </a:r>
            <a:r>
              <a:rPr sz="1600" b="1" dirty="0">
                <a:solidFill>
                  <a:srgbClr val="CC7831"/>
                </a:solidFill>
                <a:latin typeface="Courier New"/>
                <a:cs typeface="Courier New"/>
              </a:rPr>
              <a:t>image: </a:t>
            </a:r>
            <a:r>
              <a:rPr sz="1600" dirty="0">
                <a:solidFill>
                  <a:srgbClr val="A9B7C5"/>
                </a:solidFill>
                <a:latin typeface="Courier New"/>
                <a:cs typeface="Courier New"/>
              </a:rPr>
              <a:t>simple-webapp-color </a:t>
            </a:r>
            <a:r>
              <a:rPr sz="1600" dirty="0">
                <a:solidFill>
                  <a:srgbClr val="CC7831"/>
                </a:solidFill>
                <a:latin typeface="Courier New"/>
                <a:cs typeface="Courier New"/>
              </a:rPr>
              <a:t> </a:t>
            </a:r>
            <a:r>
              <a:rPr sz="1600" b="1" dirty="0">
                <a:solidFill>
                  <a:srgbClr val="CC7831"/>
                </a:solidFill>
                <a:latin typeface="Courier New"/>
                <a:cs typeface="Courier New"/>
              </a:rPr>
              <a:t>ports:</a:t>
            </a:r>
            <a:endParaRPr sz="1600" dirty="0">
              <a:solidFill>
                <a:prstClr val="black"/>
              </a:solidFill>
              <a:latin typeface="Courier New"/>
              <a:cs typeface="Courier New"/>
            </a:endParaRPr>
          </a:p>
          <a:p>
            <a:pPr marL="1032061" lvl="1" indent="-247220" defTabSz="1219170">
              <a:buClr>
                <a:srgbClr val="A9B7C5"/>
              </a:buClr>
              <a:buFont typeface="Courier New"/>
              <a:buChar char="-"/>
              <a:tabLst>
                <a:tab pos="1032908" algn="l"/>
              </a:tabLst>
            </a:pPr>
            <a:r>
              <a:rPr sz="1600" b="1" dirty="0">
                <a:solidFill>
                  <a:srgbClr val="CC7831"/>
                </a:solidFill>
                <a:latin typeface="Courier New"/>
                <a:cs typeface="Courier New"/>
              </a:rPr>
              <a:t>containerPort:</a:t>
            </a:r>
            <a:r>
              <a:rPr sz="1600" b="1" spc="-7" dirty="0">
                <a:solidFill>
                  <a:srgbClr val="CC7831"/>
                </a:solidFill>
                <a:latin typeface="Courier New"/>
                <a:cs typeface="Courier New"/>
              </a:rPr>
              <a:t> </a:t>
            </a:r>
            <a:r>
              <a:rPr sz="1600" dirty="0">
                <a:solidFill>
                  <a:srgbClr val="A9B7C5"/>
                </a:solidFill>
                <a:latin typeface="Courier New"/>
                <a:cs typeface="Courier New"/>
              </a:rPr>
              <a:t>8080</a:t>
            </a:r>
            <a:endParaRPr sz="1600" dirty="0">
              <a:solidFill>
                <a:prstClr val="black"/>
              </a:solidFill>
              <a:latin typeface="Courier New"/>
              <a:cs typeface="Courier New"/>
            </a:endParaRPr>
          </a:p>
          <a:p>
            <a:pPr marL="535080" defTabSz="1219170">
              <a:lnSpc>
                <a:spcPts val="1713"/>
              </a:lnSpc>
              <a:spcBef>
                <a:spcPts val="1200"/>
              </a:spcBef>
            </a:pPr>
            <a:r>
              <a:rPr sz="1600" b="1" dirty="0" err="1">
                <a:solidFill>
                  <a:srgbClr val="CC7831"/>
                </a:solidFill>
                <a:latin typeface="Courier New"/>
                <a:cs typeface="Courier New"/>
              </a:rPr>
              <a:t>env</a:t>
            </a:r>
            <a:r>
              <a:rPr sz="1600" b="1" dirty="0">
                <a:solidFill>
                  <a:srgbClr val="CC7831"/>
                </a:solidFill>
                <a:latin typeface="Courier New"/>
                <a:cs typeface="Courier New"/>
              </a:rPr>
              <a:t>:</a:t>
            </a:r>
            <a:endParaRPr sz="1600" dirty="0">
              <a:solidFill>
                <a:prstClr val="black"/>
              </a:solidFill>
              <a:latin typeface="Courier New"/>
              <a:cs typeface="Courier New"/>
            </a:endParaRPr>
          </a:p>
          <a:p>
            <a:pPr marL="1025288" lvl="1" indent="-246374" defTabSz="1219170">
              <a:lnSpc>
                <a:spcPts val="1713"/>
              </a:lnSpc>
              <a:buClr>
                <a:srgbClr val="A9B7C5"/>
              </a:buClr>
              <a:buFont typeface="Courier New"/>
              <a:buChar char="-"/>
              <a:tabLst>
                <a:tab pos="1025288" algn="l"/>
              </a:tabLst>
            </a:pPr>
            <a:r>
              <a:rPr sz="2400" b="1" baseline="-13888" dirty="0">
                <a:solidFill>
                  <a:srgbClr val="CC7831"/>
                </a:solidFill>
                <a:latin typeface="Courier New"/>
                <a:cs typeface="Courier New"/>
              </a:rPr>
              <a:t>name:</a:t>
            </a:r>
            <a:r>
              <a:rPr sz="2400" b="1" spc="-540" baseline="-13888" dirty="0">
                <a:solidFill>
                  <a:srgbClr val="CC7831"/>
                </a:solidFill>
                <a:latin typeface="Courier New"/>
                <a:cs typeface="Courier New"/>
              </a:rPr>
              <a:t> </a:t>
            </a:r>
            <a:r>
              <a:rPr sz="1600" dirty="0">
                <a:solidFill>
                  <a:srgbClr val="A9B7C5"/>
                </a:solidFill>
                <a:latin typeface="Courier New"/>
                <a:cs typeface="Courier New"/>
              </a:rPr>
              <a:t>APP_COLOR</a:t>
            </a:r>
            <a:endParaRPr sz="1600" dirty="0">
              <a:solidFill>
                <a:prstClr val="black"/>
              </a:solidFill>
              <a:latin typeface="Courier New"/>
              <a:cs typeface="Courier New"/>
            </a:endParaRPr>
          </a:p>
          <a:p>
            <a:pPr marL="1025288" defTabSz="1219170">
              <a:spcBef>
                <a:spcPts val="420"/>
              </a:spcBef>
            </a:pPr>
            <a:r>
              <a:rPr sz="1600" b="1" dirty="0">
                <a:solidFill>
                  <a:srgbClr val="CC7831"/>
                </a:solidFill>
                <a:latin typeface="Courier New"/>
                <a:cs typeface="Courier New"/>
              </a:rPr>
              <a:t>value:</a:t>
            </a:r>
            <a:r>
              <a:rPr sz="1600" b="1" spc="-460" dirty="0">
                <a:solidFill>
                  <a:srgbClr val="CC7831"/>
                </a:solidFill>
                <a:latin typeface="Courier New"/>
                <a:cs typeface="Courier New"/>
              </a:rPr>
              <a:t> </a:t>
            </a:r>
            <a:r>
              <a:rPr sz="2400" baseline="2314" dirty="0">
                <a:solidFill>
                  <a:srgbClr val="A9B7C5"/>
                </a:solidFill>
                <a:latin typeface="Courier New"/>
                <a:cs typeface="Courier New"/>
              </a:rPr>
              <a:t>blue</a:t>
            </a:r>
            <a:endParaRPr sz="2400" baseline="2314" dirty="0">
              <a:solidFill>
                <a:prstClr val="black"/>
              </a:solidFill>
              <a:latin typeface="Courier New"/>
              <a:cs typeface="Courier New"/>
            </a:endParaRPr>
          </a:p>
          <a:p>
            <a:pPr marL="1025288" lvl="1" indent="-246374" defTabSz="1219170">
              <a:lnSpc>
                <a:spcPts val="1813"/>
              </a:lnSpc>
              <a:spcBef>
                <a:spcPts val="220"/>
              </a:spcBef>
              <a:buClr>
                <a:srgbClr val="A9B7C5"/>
              </a:buClr>
              <a:buFont typeface="Courier New"/>
              <a:buChar char="-"/>
              <a:tabLst>
                <a:tab pos="1025288" algn="l"/>
              </a:tabLst>
            </a:pPr>
            <a:r>
              <a:rPr sz="2400" b="1" baseline="6944" dirty="0">
                <a:solidFill>
                  <a:srgbClr val="CC7831"/>
                </a:solidFill>
                <a:latin typeface="Courier New"/>
                <a:cs typeface="Courier New"/>
              </a:rPr>
              <a:t>name:</a:t>
            </a:r>
            <a:r>
              <a:rPr sz="2400" b="1" spc="-529" baseline="6944" dirty="0">
                <a:solidFill>
                  <a:srgbClr val="CC7831"/>
                </a:solidFill>
                <a:latin typeface="Courier New"/>
                <a:cs typeface="Courier New"/>
              </a:rPr>
              <a:t> </a:t>
            </a:r>
            <a:r>
              <a:rPr sz="1600" spc="-7" dirty="0">
                <a:solidFill>
                  <a:srgbClr val="A9B7C5"/>
                </a:solidFill>
                <a:latin typeface="Courier New"/>
                <a:cs typeface="Courier New"/>
              </a:rPr>
              <a:t>APP_MODE</a:t>
            </a:r>
            <a:endParaRPr sz="1600" dirty="0">
              <a:solidFill>
                <a:prstClr val="black"/>
              </a:solidFill>
              <a:latin typeface="Courier New"/>
              <a:cs typeface="Courier New"/>
            </a:endParaRPr>
          </a:p>
          <a:p>
            <a:pPr marL="1025288" defTabSz="1219170">
              <a:lnSpc>
                <a:spcPts val="1813"/>
              </a:lnSpc>
            </a:pPr>
            <a:r>
              <a:rPr sz="1600" b="1" dirty="0">
                <a:solidFill>
                  <a:srgbClr val="CC7831"/>
                </a:solidFill>
                <a:latin typeface="Courier New"/>
                <a:cs typeface="Courier New"/>
              </a:rPr>
              <a:t>value:</a:t>
            </a:r>
            <a:r>
              <a:rPr sz="1600" b="1" spc="-460" dirty="0">
                <a:solidFill>
                  <a:srgbClr val="CC7831"/>
                </a:solidFill>
                <a:latin typeface="Courier New"/>
                <a:cs typeface="Courier New"/>
              </a:rPr>
              <a:t> </a:t>
            </a:r>
            <a:r>
              <a:rPr sz="2400" baseline="2314" dirty="0">
                <a:solidFill>
                  <a:srgbClr val="A9B7C5"/>
                </a:solidFill>
                <a:latin typeface="Courier New"/>
                <a:cs typeface="Courier New"/>
              </a:rPr>
              <a:t>prod</a:t>
            </a:r>
            <a:endParaRPr sz="2400" baseline="2314" dirty="0">
              <a:solidFill>
                <a:prstClr val="black"/>
              </a:solidFill>
              <a:latin typeface="Courier New"/>
              <a:cs typeface="Courier New"/>
            </a:endParaRPr>
          </a:p>
        </p:txBody>
      </p:sp>
      <p:sp>
        <p:nvSpPr>
          <p:cNvPr id="9" name="object 9"/>
          <p:cNvSpPr/>
          <p:nvPr/>
        </p:nvSpPr>
        <p:spPr>
          <a:xfrm>
            <a:off x="979424" y="1946655"/>
            <a:ext cx="2993813" cy="1642533"/>
          </a:xfrm>
          <a:custGeom>
            <a:avLst/>
            <a:gdLst/>
            <a:ahLst/>
            <a:cxnLst/>
            <a:rect l="l" t="t" r="r" b="b"/>
            <a:pathLst>
              <a:path w="2245360" h="1231900">
                <a:moveTo>
                  <a:pt x="2244852" y="0"/>
                </a:moveTo>
                <a:lnTo>
                  <a:pt x="0" y="0"/>
                </a:lnTo>
                <a:lnTo>
                  <a:pt x="0" y="1231392"/>
                </a:lnTo>
                <a:lnTo>
                  <a:pt x="2244852" y="1231392"/>
                </a:lnTo>
                <a:lnTo>
                  <a:pt x="2244852"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10" name="object 10"/>
          <p:cNvSpPr txBox="1"/>
          <p:nvPr/>
        </p:nvSpPr>
        <p:spPr>
          <a:xfrm>
            <a:off x="1786128" y="1546352"/>
            <a:ext cx="1380067" cy="325729"/>
          </a:xfrm>
          <a:prstGeom prst="rect">
            <a:avLst/>
          </a:prstGeom>
          <a:solidFill>
            <a:srgbClr val="000000">
              <a:alpha val="50195"/>
            </a:srgbClr>
          </a:solidFill>
        </p:spPr>
        <p:txBody>
          <a:bodyPr vert="horz" wrap="square" lIns="0" tIns="48259" rIns="0" bIns="0" rtlCol="0">
            <a:spAutoFit/>
          </a:bodyPr>
          <a:lstStyle/>
          <a:p>
            <a:pPr marL="121917" defTabSz="1219170">
              <a:spcBef>
                <a:spcPts val="379"/>
              </a:spcBef>
            </a:pPr>
            <a:r>
              <a:rPr spc="-20" dirty="0">
                <a:solidFill>
                  <a:srgbClr val="FFFFFF"/>
                </a:solidFill>
                <a:latin typeface="Noto Sans"/>
                <a:cs typeface="Noto Sans"/>
              </a:rPr>
              <a:t>ConfigMap</a:t>
            </a:r>
            <a:endParaRPr dirty="0">
              <a:solidFill>
                <a:prstClr val="black"/>
              </a:solidFill>
              <a:latin typeface="Noto Sans"/>
              <a:cs typeface="Noto Sans"/>
            </a:endParaRPr>
          </a:p>
        </p:txBody>
      </p:sp>
    </p:spTree>
    <p:extLst>
      <p:ext uri="{BB962C8B-B14F-4D97-AF65-F5344CB8AC3E}">
        <p14:creationId xmlns:p14="http://schemas.microsoft.com/office/powerpoint/2010/main" val="617036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00531" y="2028807"/>
            <a:ext cx="2129367" cy="530979"/>
          </a:xfrm>
          <a:prstGeom prst="rect">
            <a:avLst/>
          </a:prstGeom>
        </p:spPr>
        <p:txBody>
          <a:bodyPr vert="horz" wrap="square" lIns="0" tIns="0" rIns="0" bIns="0" rtlCol="0">
            <a:spAutoFit/>
          </a:bodyPr>
          <a:lstStyle/>
          <a:p>
            <a:pPr defTabSz="1219170">
              <a:lnSpc>
                <a:spcPts val="1933"/>
              </a:lnSpc>
            </a:pPr>
            <a:r>
              <a:rPr sz="1867" spc="-7" dirty="0">
                <a:solidFill>
                  <a:srgbClr val="9776AA"/>
                </a:solidFill>
                <a:latin typeface="Courier New"/>
                <a:cs typeface="Courier New"/>
              </a:rPr>
              <a:t>APP_COLOR</a:t>
            </a:r>
            <a:r>
              <a:rPr sz="1867" spc="-7" dirty="0">
                <a:solidFill>
                  <a:srgbClr val="A9B7C5"/>
                </a:solidFill>
                <a:latin typeface="Courier New"/>
                <a:cs typeface="Courier New"/>
              </a:rPr>
              <a:t>:</a:t>
            </a:r>
            <a:r>
              <a:rPr sz="1867" spc="-120" dirty="0">
                <a:solidFill>
                  <a:srgbClr val="A9B7C5"/>
                </a:solidFill>
                <a:latin typeface="Courier New"/>
                <a:cs typeface="Courier New"/>
              </a:rPr>
              <a:t> </a:t>
            </a:r>
            <a:r>
              <a:rPr sz="1867" spc="-7" dirty="0">
                <a:solidFill>
                  <a:srgbClr val="A9B7C5"/>
                </a:solidFill>
                <a:latin typeface="Courier New"/>
                <a:cs typeface="Courier New"/>
              </a:rPr>
              <a:t>blue</a:t>
            </a:r>
            <a:endParaRPr sz="1867">
              <a:solidFill>
                <a:prstClr val="black"/>
              </a:solidFill>
              <a:latin typeface="Courier New"/>
              <a:cs typeface="Courier New"/>
            </a:endParaRPr>
          </a:p>
          <a:p>
            <a:pPr defTabSz="1219170"/>
            <a:r>
              <a:rPr sz="1867" spc="-7" dirty="0">
                <a:solidFill>
                  <a:srgbClr val="9776AA"/>
                </a:solidFill>
                <a:latin typeface="Courier New"/>
                <a:cs typeface="Courier New"/>
              </a:rPr>
              <a:t>APP_MODE</a:t>
            </a:r>
            <a:r>
              <a:rPr sz="1867" spc="-7" dirty="0">
                <a:solidFill>
                  <a:srgbClr val="A9B7C5"/>
                </a:solidFill>
                <a:latin typeface="Courier New"/>
                <a:cs typeface="Courier New"/>
              </a:rPr>
              <a:t>:</a:t>
            </a:r>
            <a:r>
              <a:rPr sz="1867" spc="-60" dirty="0">
                <a:solidFill>
                  <a:srgbClr val="A9B7C5"/>
                </a:solidFill>
                <a:latin typeface="Courier New"/>
                <a:cs typeface="Courier New"/>
              </a:rPr>
              <a:t> </a:t>
            </a:r>
            <a:r>
              <a:rPr sz="1867" spc="-7" dirty="0">
                <a:solidFill>
                  <a:srgbClr val="A9B7C5"/>
                </a:solidFill>
                <a:latin typeface="Courier New"/>
                <a:cs typeface="Courier New"/>
              </a:rPr>
              <a:t>prod</a:t>
            </a:r>
            <a:endParaRPr sz="1867">
              <a:solidFill>
                <a:prstClr val="black"/>
              </a:solidFill>
              <a:latin typeface="Courier New"/>
              <a:cs typeface="Courier New"/>
            </a:endParaRPr>
          </a:p>
        </p:txBody>
      </p:sp>
      <p:grpSp>
        <p:nvGrpSpPr>
          <p:cNvPr id="4" name="object 4"/>
          <p:cNvGrpSpPr/>
          <p:nvPr/>
        </p:nvGrpSpPr>
        <p:grpSpPr>
          <a:xfrm>
            <a:off x="5297424" y="1505711"/>
            <a:ext cx="6333913" cy="4464472"/>
            <a:chOff x="3973067" y="1129283"/>
            <a:chExt cx="4750435" cy="3348354"/>
          </a:xfrm>
        </p:grpSpPr>
        <p:sp>
          <p:nvSpPr>
            <p:cNvPr id="5" name="object 5"/>
            <p:cNvSpPr/>
            <p:nvPr/>
          </p:nvSpPr>
          <p:spPr>
            <a:xfrm>
              <a:off x="3973067" y="1429511"/>
              <a:ext cx="4750435" cy="3048000"/>
            </a:xfrm>
            <a:custGeom>
              <a:avLst/>
              <a:gdLst/>
              <a:ahLst/>
              <a:cxnLst/>
              <a:rect l="l" t="t" r="r" b="b"/>
              <a:pathLst>
                <a:path w="4750434" h="3048000">
                  <a:moveTo>
                    <a:pt x="4750308" y="0"/>
                  </a:moveTo>
                  <a:lnTo>
                    <a:pt x="0" y="0"/>
                  </a:lnTo>
                  <a:lnTo>
                    <a:pt x="0" y="3048000"/>
                  </a:lnTo>
                  <a:lnTo>
                    <a:pt x="4750308" y="3048000"/>
                  </a:lnTo>
                  <a:lnTo>
                    <a:pt x="4750308"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6" name="object 6"/>
            <p:cNvSpPr/>
            <p:nvPr/>
          </p:nvSpPr>
          <p:spPr>
            <a:xfrm>
              <a:off x="3973067" y="1129283"/>
              <a:ext cx="1685925" cy="300355"/>
            </a:xfrm>
            <a:custGeom>
              <a:avLst/>
              <a:gdLst/>
              <a:ahLst/>
              <a:cxnLst/>
              <a:rect l="l" t="t" r="r" b="b"/>
              <a:pathLst>
                <a:path w="1685925" h="300355">
                  <a:moveTo>
                    <a:pt x="1685543" y="0"/>
                  </a:moveTo>
                  <a:lnTo>
                    <a:pt x="0" y="0"/>
                  </a:lnTo>
                  <a:lnTo>
                    <a:pt x="0" y="300227"/>
                  </a:lnTo>
                  <a:lnTo>
                    <a:pt x="1685543" y="300227"/>
                  </a:lnTo>
                  <a:lnTo>
                    <a:pt x="1685543" y="0"/>
                  </a:lnTo>
                  <a:close/>
                </a:path>
              </a:pathLst>
            </a:custGeom>
            <a:solidFill>
              <a:srgbClr val="000000">
                <a:alpha val="50195"/>
              </a:srgbClr>
            </a:solidFill>
          </p:spPr>
          <p:txBody>
            <a:bodyPr wrap="square" lIns="0" tIns="0" rIns="0" bIns="0" rtlCol="0"/>
            <a:lstStyle/>
            <a:p>
              <a:pPr defTabSz="1219170"/>
              <a:endParaRPr sz="2400">
                <a:solidFill>
                  <a:prstClr val="black"/>
                </a:solidFill>
                <a:latin typeface="Calibri"/>
              </a:endParaRPr>
            </a:p>
          </p:txBody>
        </p:sp>
      </p:grpSp>
      <p:sp>
        <p:nvSpPr>
          <p:cNvPr id="7" name="object 7"/>
          <p:cNvSpPr txBox="1"/>
          <p:nvPr/>
        </p:nvSpPr>
        <p:spPr>
          <a:xfrm>
            <a:off x="5403256" y="1537208"/>
            <a:ext cx="2120053" cy="294953"/>
          </a:xfrm>
          <a:prstGeom prst="rect">
            <a:avLst/>
          </a:prstGeom>
        </p:spPr>
        <p:txBody>
          <a:bodyPr vert="horz" wrap="square" lIns="0" tIns="17780" rIns="0" bIns="0" rtlCol="0">
            <a:spAutoFit/>
          </a:bodyPr>
          <a:lstStyle/>
          <a:p>
            <a:pPr marL="16933" defTabSz="1219170">
              <a:spcBef>
                <a:spcPts val="140"/>
              </a:spcBef>
            </a:pPr>
            <a:r>
              <a:rPr spc="-13" dirty="0">
                <a:solidFill>
                  <a:srgbClr val="FFFFFF"/>
                </a:solidFill>
                <a:latin typeface="Noto Sans"/>
                <a:cs typeface="Noto Sans"/>
              </a:rPr>
              <a:t>pod-definition.yaml</a:t>
            </a:r>
            <a:endParaRPr>
              <a:solidFill>
                <a:prstClr val="black"/>
              </a:solidFill>
              <a:latin typeface="Noto Sans"/>
              <a:cs typeface="Noto Sans"/>
            </a:endParaRPr>
          </a:p>
        </p:txBody>
      </p:sp>
      <p:sp>
        <p:nvSpPr>
          <p:cNvPr id="8" name="object 8"/>
          <p:cNvSpPr txBox="1"/>
          <p:nvPr/>
        </p:nvSpPr>
        <p:spPr>
          <a:xfrm>
            <a:off x="5904992" y="4588929"/>
            <a:ext cx="1225125" cy="1202893"/>
          </a:xfrm>
          <a:prstGeom prst="rect">
            <a:avLst/>
          </a:prstGeom>
        </p:spPr>
        <p:txBody>
          <a:bodyPr vert="horz" wrap="square" lIns="0" tIns="0" rIns="0" bIns="0" rtlCol="0">
            <a:spAutoFit/>
          </a:bodyPr>
          <a:lstStyle/>
          <a:p>
            <a:pPr defTabSz="1219170">
              <a:lnSpc>
                <a:spcPts val="1653"/>
              </a:lnSpc>
            </a:pPr>
            <a:r>
              <a:rPr sz="1600" b="1" dirty="0" err="1">
                <a:solidFill>
                  <a:srgbClr val="CC7831"/>
                </a:solidFill>
                <a:latin typeface="Courier New"/>
                <a:cs typeface="Courier New"/>
              </a:rPr>
              <a:t>env</a:t>
            </a:r>
            <a:r>
              <a:rPr sz="1600" b="1" dirty="0">
                <a:solidFill>
                  <a:srgbClr val="CC7831"/>
                </a:solidFill>
                <a:latin typeface="Courier New"/>
                <a:cs typeface="Courier New"/>
              </a:rPr>
              <a:t>:</a:t>
            </a:r>
            <a:endParaRPr sz="1600" dirty="0">
              <a:solidFill>
                <a:prstClr val="black"/>
              </a:solidFill>
              <a:latin typeface="Courier New"/>
              <a:cs typeface="Courier New"/>
            </a:endParaRPr>
          </a:p>
          <a:p>
            <a:pPr marL="489361" indent="-246374" defTabSz="1219170"/>
            <a:r>
              <a:rPr sz="1600" dirty="0">
                <a:solidFill>
                  <a:srgbClr val="A9B7C5"/>
                </a:solidFill>
                <a:latin typeface="Courier New"/>
                <a:cs typeface="Courier New"/>
              </a:rPr>
              <a:t>- </a:t>
            </a:r>
            <a:r>
              <a:rPr sz="1600" b="1" dirty="0">
                <a:solidFill>
                  <a:srgbClr val="CC7831"/>
                </a:solidFill>
                <a:latin typeface="Courier New"/>
                <a:cs typeface="Courier New"/>
              </a:rPr>
              <a:t>name:  </a:t>
            </a:r>
            <a:r>
              <a:rPr sz="1600" b="1" spc="-7" dirty="0">
                <a:solidFill>
                  <a:srgbClr val="CC7831"/>
                </a:solidFill>
                <a:latin typeface="Courier New"/>
                <a:cs typeface="Courier New"/>
              </a:rPr>
              <a:t>v</a:t>
            </a:r>
            <a:r>
              <a:rPr sz="1600" b="1" spc="13" dirty="0">
                <a:solidFill>
                  <a:srgbClr val="CC7831"/>
                </a:solidFill>
                <a:latin typeface="Courier New"/>
                <a:cs typeface="Courier New"/>
              </a:rPr>
              <a:t>a</a:t>
            </a:r>
            <a:r>
              <a:rPr sz="1600" b="1" spc="-7" dirty="0">
                <a:solidFill>
                  <a:srgbClr val="CC7831"/>
                </a:solidFill>
                <a:latin typeface="Courier New"/>
                <a:cs typeface="Courier New"/>
              </a:rPr>
              <a:t>l</a:t>
            </a:r>
            <a:r>
              <a:rPr sz="1600" b="1" spc="13" dirty="0">
                <a:solidFill>
                  <a:srgbClr val="CC7831"/>
                </a:solidFill>
                <a:latin typeface="Courier New"/>
                <a:cs typeface="Courier New"/>
              </a:rPr>
              <a:t>u</a:t>
            </a:r>
            <a:r>
              <a:rPr sz="1600" b="1" spc="-7" dirty="0">
                <a:solidFill>
                  <a:srgbClr val="CC7831"/>
                </a:solidFill>
                <a:latin typeface="Courier New"/>
                <a:cs typeface="Courier New"/>
              </a:rPr>
              <a:t>e:</a:t>
            </a:r>
            <a:endParaRPr sz="1600" dirty="0">
              <a:solidFill>
                <a:prstClr val="black"/>
              </a:solidFill>
              <a:latin typeface="Courier New"/>
              <a:cs typeface="Courier New"/>
            </a:endParaRPr>
          </a:p>
          <a:p>
            <a:pPr marL="489361" indent="-246374" defTabSz="1219170"/>
            <a:r>
              <a:rPr sz="1600" dirty="0">
                <a:solidFill>
                  <a:srgbClr val="A9B7C5"/>
                </a:solidFill>
                <a:latin typeface="Courier New"/>
                <a:cs typeface="Courier New"/>
              </a:rPr>
              <a:t>- </a:t>
            </a:r>
            <a:r>
              <a:rPr sz="1600" b="1" dirty="0">
                <a:solidFill>
                  <a:srgbClr val="CC7831"/>
                </a:solidFill>
                <a:latin typeface="Courier New"/>
                <a:cs typeface="Courier New"/>
              </a:rPr>
              <a:t>name:  </a:t>
            </a:r>
            <a:r>
              <a:rPr sz="1600" b="1" spc="-7" dirty="0">
                <a:solidFill>
                  <a:srgbClr val="CC7831"/>
                </a:solidFill>
                <a:latin typeface="Courier New"/>
                <a:cs typeface="Courier New"/>
              </a:rPr>
              <a:t>v</a:t>
            </a:r>
            <a:r>
              <a:rPr sz="1600" b="1" spc="13" dirty="0">
                <a:solidFill>
                  <a:srgbClr val="CC7831"/>
                </a:solidFill>
                <a:latin typeface="Courier New"/>
                <a:cs typeface="Courier New"/>
              </a:rPr>
              <a:t>a</a:t>
            </a:r>
            <a:r>
              <a:rPr sz="1600" b="1" spc="-7" dirty="0">
                <a:solidFill>
                  <a:srgbClr val="CC7831"/>
                </a:solidFill>
                <a:latin typeface="Courier New"/>
                <a:cs typeface="Courier New"/>
              </a:rPr>
              <a:t>l</a:t>
            </a:r>
            <a:r>
              <a:rPr sz="1600" b="1" spc="13" dirty="0">
                <a:solidFill>
                  <a:srgbClr val="CC7831"/>
                </a:solidFill>
                <a:latin typeface="Courier New"/>
                <a:cs typeface="Courier New"/>
              </a:rPr>
              <a:t>u</a:t>
            </a:r>
            <a:r>
              <a:rPr sz="1600" b="1" spc="-7" dirty="0">
                <a:solidFill>
                  <a:srgbClr val="CC7831"/>
                </a:solidFill>
                <a:latin typeface="Courier New"/>
                <a:cs typeface="Courier New"/>
              </a:rPr>
              <a:t>e:</a:t>
            </a:r>
            <a:endParaRPr sz="1600" dirty="0">
              <a:solidFill>
                <a:prstClr val="black"/>
              </a:solidFill>
              <a:latin typeface="Courier New"/>
              <a:cs typeface="Courier New"/>
            </a:endParaRPr>
          </a:p>
        </p:txBody>
      </p:sp>
      <p:sp>
        <p:nvSpPr>
          <p:cNvPr id="9" name="object 9"/>
          <p:cNvSpPr txBox="1">
            <a:spLocks noGrp="1"/>
          </p:cNvSpPr>
          <p:nvPr>
            <p:ph type="title"/>
          </p:nvPr>
        </p:nvSpPr>
        <p:spPr>
          <a:xfrm>
            <a:off x="882429" y="326137"/>
            <a:ext cx="3439160" cy="694207"/>
          </a:xfrm>
          <a:prstGeom prst="rect">
            <a:avLst/>
          </a:prstGeom>
        </p:spPr>
        <p:txBody>
          <a:bodyPr vert="horz" wrap="square" lIns="0" tIns="16933" rIns="0" bIns="0" rtlCol="0">
            <a:spAutoFit/>
          </a:bodyPr>
          <a:lstStyle/>
          <a:p>
            <a:pPr marL="16933">
              <a:spcBef>
                <a:spcPts val="133"/>
              </a:spcBef>
            </a:pPr>
            <a:r>
              <a:rPr spc="127" dirty="0">
                <a:solidFill>
                  <a:schemeClr val="tx1"/>
                </a:solidFill>
              </a:rPr>
              <a:t>Conf</a:t>
            </a:r>
            <a:r>
              <a:rPr spc="47" dirty="0">
                <a:solidFill>
                  <a:schemeClr val="tx1"/>
                </a:solidFill>
              </a:rPr>
              <a:t>i</a:t>
            </a:r>
            <a:r>
              <a:rPr spc="167" dirty="0">
                <a:solidFill>
                  <a:schemeClr val="tx1"/>
                </a:solidFill>
              </a:rPr>
              <a:t>gMaps</a:t>
            </a:r>
          </a:p>
        </p:txBody>
      </p:sp>
      <p:sp>
        <p:nvSpPr>
          <p:cNvPr id="10" name="object 10"/>
          <p:cNvSpPr txBox="1"/>
          <p:nvPr/>
        </p:nvSpPr>
        <p:spPr>
          <a:xfrm>
            <a:off x="1786128" y="1546352"/>
            <a:ext cx="1380067" cy="325729"/>
          </a:xfrm>
          <a:prstGeom prst="rect">
            <a:avLst/>
          </a:prstGeom>
          <a:solidFill>
            <a:srgbClr val="000000">
              <a:alpha val="50195"/>
            </a:srgbClr>
          </a:solidFill>
        </p:spPr>
        <p:txBody>
          <a:bodyPr vert="horz" wrap="square" lIns="0" tIns="48259" rIns="0" bIns="0" rtlCol="0">
            <a:spAutoFit/>
          </a:bodyPr>
          <a:lstStyle/>
          <a:p>
            <a:pPr marL="121917" defTabSz="1219170">
              <a:spcBef>
                <a:spcPts val="379"/>
              </a:spcBef>
            </a:pPr>
            <a:r>
              <a:rPr spc="-20" dirty="0">
                <a:solidFill>
                  <a:srgbClr val="FFFFFF"/>
                </a:solidFill>
                <a:latin typeface="Noto Sans"/>
                <a:cs typeface="Noto Sans"/>
              </a:rPr>
              <a:t>ConfigMap</a:t>
            </a:r>
            <a:endParaRPr dirty="0">
              <a:solidFill>
                <a:prstClr val="black"/>
              </a:solidFill>
              <a:latin typeface="Noto Sans"/>
              <a:cs typeface="Noto Sans"/>
            </a:endParaRPr>
          </a:p>
        </p:txBody>
      </p:sp>
      <p:sp>
        <p:nvSpPr>
          <p:cNvPr id="15" name="object 15"/>
          <p:cNvSpPr txBox="1"/>
          <p:nvPr/>
        </p:nvSpPr>
        <p:spPr>
          <a:xfrm>
            <a:off x="979424" y="1946655"/>
            <a:ext cx="2993813" cy="611279"/>
          </a:xfrm>
          <a:prstGeom prst="rect">
            <a:avLst/>
          </a:prstGeom>
          <a:solidFill>
            <a:srgbClr val="2B2B2B"/>
          </a:solidFill>
        </p:spPr>
        <p:txBody>
          <a:bodyPr vert="horz" wrap="square" lIns="0" tIns="46567" rIns="0" bIns="0" rtlCol="0">
            <a:spAutoFit/>
          </a:bodyPr>
          <a:lstStyle/>
          <a:p>
            <a:pPr marL="121070" defTabSz="1219170">
              <a:lnSpc>
                <a:spcPts val="2233"/>
              </a:lnSpc>
              <a:spcBef>
                <a:spcPts val="367"/>
              </a:spcBef>
            </a:pPr>
            <a:r>
              <a:rPr sz="1867" spc="-7" dirty="0">
                <a:solidFill>
                  <a:srgbClr val="876B96"/>
                </a:solidFill>
                <a:latin typeface="Courier New"/>
                <a:cs typeface="Courier New"/>
              </a:rPr>
              <a:t>APP_COLOR </a:t>
            </a:r>
            <a:r>
              <a:rPr sz="2700" spc="-9" baseline="-4115" dirty="0">
                <a:solidFill>
                  <a:srgbClr val="A6A6A6"/>
                </a:solidFill>
                <a:latin typeface="Noto Sans"/>
                <a:cs typeface="Noto Sans"/>
              </a:rPr>
              <a:t>:</a:t>
            </a:r>
            <a:r>
              <a:rPr sz="2700" spc="160" baseline="-4115" dirty="0">
                <a:solidFill>
                  <a:srgbClr val="A6A6A6"/>
                </a:solidFill>
                <a:latin typeface="Noto Sans"/>
                <a:cs typeface="Noto Sans"/>
              </a:rPr>
              <a:t> </a:t>
            </a:r>
            <a:r>
              <a:rPr sz="1867" spc="-7" dirty="0">
                <a:solidFill>
                  <a:srgbClr val="A9B7C5"/>
                </a:solidFill>
                <a:latin typeface="Courier New"/>
                <a:cs typeface="Courier New"/>
              </a:rPr>
              <a:t>blue</a:t>
            </a:r>
            <a:endParaRPr sz="1867">
              <a:solidFill>
                <a:prstClr val="black"/>
              </a:solidFill>
              <a:latin typeface="Courier New"/>
              <a:cs typeface="Courier New"/>
            </a:endParaRPr>
          </a:p>
          <a:p>
            <a:pPr marL="121070" defTabSz="1219170">
              <a:lnSpc>
                <a:spcPts val="2233"/>
              </a:lnSpc>
              <a:tabLst>
                <a:tab pos="1536662" algn="l"/>
              </a:tabLst>
            </a:pPr>
            <a:r>
              <a:rPr sz="1867" spc="-7" dirty="0">
                <a:solidFill>
                  <a:srgbClr val="876B96"/>
                </a:solidFill>
                <a:latin typeface="Courier New"/>
                <a:cs typeface="Courier New"/>
              </a:rPr>
              <a:t>APP_MODE</a:t>
            </a:r>
            <a:r>
              <a:rPr sz="1867" spc="-940" dirty="0">
                <a:solidFill>
                  <a:srgbClr val="876B96"/>
                </a:solidFill>
                <a:latin typeface="Courier New"/>
                <a:cs typeface="Courier New"/>
              </a:rPr>
              <a:t> </a:t>
            </a:r>
            <a:r>
              <a:rPr sz="2700" spc="-9" baseline="2057" dirty="0">
                <a:solidFill>
                  <a:srgbClr val="A6A6A6"/>
                </a:solidFill>
                <a:latin typeface="Noto Sans"/>
                <a:cs typeface="Noto Sans"/>
              </a:rPr>
              <a:t>:	</a:t>
            </a:r>
            <a:r>
              <a:rPr sz="1867" spc="-7" dirty="0">
                <a:solidFill>
                  <a:srgbClr val="A9B7C5"/>
                </a:solidFill>
                <a:latin typeface="Courier New"/>
                <a:cs typeface="Courier New"/>
              </a:rPr>
              <a:t>prod</a:t>
            </a:r>
            <a:endParaRPr sz="1867">
              <a:solidFill>
                <a:prstClr val="black"/>
              </a:solidFill>
              <a:latin typeface="Courier New"/>
              <a:cs typeface="Courier New"/>
            </a:endParaRPr>
          </a:p>
        </p:txBody>
      </p:sp>
      <p:sp>
        <p:nvSpPr>
          <p:cNvPr id="16" name="object 16"/>
          <p:cNvSpPr/>
          <p:nvPr/>
        </p:nvSpPr>
        <p:spPr>
          <a:xfrm>
            <a:off x="5848095" y="4531361"/>
            <a:ext cx="4856480" cy="1355513"/>
          </a:xfrm>
          <a:custGeom>
            <a:avLst/>
            <a:gdLst/>
            <a:ahLst/>
            <a:cxnLst/>
            <a:rect l="l" t="t" r="r" b="b"/>
            <a:pathLst>
              <a:path w="3642359" h="1016635">
                <a:moveTo>
                  <a:pt x="3642360" y="0"/>
                </a:moveTo>
                <a:lnTo>
                  <a:pt x="0" y="0"/>
                </a:lnTo>
                <a:lnTo>
                  <a:pt x="0" y="1016507"/>
                </a:lnTo>
                <a:lnTo>
                  <a:pt x="3642360" y="1016507"/>
                </a:lnTo>
                <a:lnTo>
                  <a:pt x="3642360"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17" name="object 17"/>
          <p:cNvSpPr txBox="1"/>
          <p:nvPr/>
        </p:nvSpPr>
        <p:spPr>
          <a:xfrm>
            <a:off x="5403257" y="1946825"/>
            <a:ext cx="3716020" cy="3397511"/>
          </a:xfrm>
          <a:prstGeom prst="rect">
            <a:avLst/>
          </a:prstGeom>
        </p:spPr>
        <p:txBody>
          <a:bodyPr vert="horz" wrap="square" lIns="0" tIns="16933" rIns="0" bIns="0" rtlCol="0">
            <a:spAutoFit/>
          </a:bodyPr>
          <a:lstStyle/>
          <a:p>
            <a:pPr marL="16933" marR="1969297" defTabSz="1219170">
              <a:spcBef>
                <a:spcPts val="133"/>
              </a:spcBef>
            </a:pPr>
            <a:r>
              <a:rPr sz="1600" b="1" dirty="0">
                <a:solidFill>
                  <a:srgbClr val="CC7831"/>
                </a:solidFill>
                <a:latin typeface="Courier New"/>
                <a:cs typeface="Courier New"/>
              </a:rPr>
              <a:t>apiVersion:</a:t>
            </a:r>
            <a:r>
              <a:rPr sz="1600" b="1" spc="-113" dirty="0">
                <a:solidFill>
                  <a:srgbClr val="CC7831"/>
                </a:solidFill>
                <a:latin typeface="Courier New"/>
                <a:cs typeface="Courier New"/>
              </a:rPr>
              <a:t> </a:t>
            </a:r>
            <a:r>
              <a:rPr sz="1600" spc="13" dirty="0">
                <a:solidFill>
                  <a:srgbClr val="A9B7C5"/>
                </a:solidFill>
                <a:latin typeface="Courier New"/>
                <a:cs typeface="Courier New"/>
              </a:rPr>
              <a:t>v1  </a:t>
            </a:r>
            <a:r>
              <a:rPr sz="1600" b="1" spc="-7" dirty="0">
                <a:solidFill>
                  <a:srgbClr val="CC7831"/>
                </a:solidFill>
                <a:latin typeface="Courier New"/>
                <a:cs typeface="Courier New"/>
              </a:rPr>
              <a:t>kind: </a:t>
            </a:r>
            <a:r>
              <a:rPr sz="1600" dirty="0">
                <a:solidFill>
                  <a:srgbClr val="A9B7C5"/>
                </a:solidFill>
                <a:latin typeface="Courier New"/>
                <a:cs typeface="Courier New"/>
              </a:rPr>
              <a:t>Pod  </a:t>
            </a:r>
            <a:r>
              <a:rPr sz="1600" b="1" dirty="0">
                <a:solidFill>
                  <a:srgbClr val="CC7831"/>
                </a:solidFill>
                <a:latin typeface="Courier New"/>
                <a:cs typeface="Courier New"/>
              </a:rPr>
              <a:t>metadata:</a:t>
            </a:r>
            <a:endParaRPr sz="1600">
              <a:solidFill>
                <a:prstClr val="black"/>
              </a:solidFill>
              <a:latin typeface="Courier New"/>
              <a:cs typeface="Courier New"/>
            </a:endParaRPr>
          </a:p>
          <a:p>
            <a:pPr marL="260767" defTabSz="1219170"/>
            <a:r>
              <a:rPr sz="1600" b="1" dirty="0">
                <a:solidFill>
                  <a:srgbClr val="CC7831"/>
                </a:solidFill>
                <a:latin typeface="Courier New"/>
                <a:cs typeface="Courier New"/>
              </a:rPr>
              <a:t>name:</a:t>
            </a:r>
            <a:r>
              <a:rPr sz="1600" b="1" spc="-7" dirty="0">
                <a:solidFill>
                  <a:srgbClr val="CC7831"/>
                </a:solidFill>
                <a:latin typeface="Courier New"/>
                <a:cs typeface="Courier New"/>
              </a:rPr>
              <a:t> </a:t>
            </a:r>
            <a:r>
              <a:rPr sz="1600" dirty="0">
                <a:solidFill>
                  <a:srgbClr val="A9B7C5"/>
                </a:solidFill>
                <a:latin typeface="Courier New"/>
                <a:cs typeface="Courier New"/>
              </a:rPr>
              <a:t>simple-webapp-color</a:t>
            </a:r>
            <a:endParaRPr sz="1600">
              <a:solidFill>
                <a:prstClr val="black"/>
              </a:solidFill>
              <a:latin typeface="Courier New"/>
              <a:cs typeface="Courier New"/>
            </a:endParaRPr>
          </a:p>
          <a:p>
            <a:pPr marL="16933" defTabSz="1219170"/>
            <a:r>
              <a:rPr sz="1600" b="1" spc="-7" dirty="0">
                <a:solidFill>
                  <a:srgbClr val="CC7831"/>
                </a:solidFill>
                <a:latin typeface="Courier New"/>
                <a:cs typeface="Courier New"/>
              </a:rPr>
              <a:t>spec:</a:t>
            </a:r>
            <a:endParaRPr sz="1600">
              <a:solidFill>
                <a:prstClr val="black"/>
              </a:solidFill>
              <a:latin typeface="Courier New"/>
              <a:cs typeface="Courier New"/>
            </a:endParaRPr>
          </a:p>
          <a:p>
            <a:pPr marL="260767" defTabSz="1219170"/>
            <a:r>
              <a:rPr sz="1600" b="1" dirty="0">
                <a:solidFill>
                  <a:srgbClr val="CC7831"/>
                </a:solidFill>
                <a:latin typeface="Courier New"/>
                <a:cs typeface="Courier New"/>
              </a:rPr>
              <a:t>containers:</a:t>
            </a:r>
            <a:endParaRPr sz="1600">
              <a:solidFill>
                <a:prstClr val="black"/>
              </a:solidFill>
              <a:latin typeface="Courier New"/>
              <a:cs typeface="Courier New"/>
            </a:endParaRPr>
          </a:p>
          <a:p>
            <a:pPr marL="506294" marR="6773" indent="-246374" defTabSz="1219170"/>
            <a:r>
              <a:rPr sz="1600" dirty="0">
                <a:solidFill>
                  <a:srgbClr val="A9B7C5"/>
                </a:solidFill>
                <a:latin typeface="Courier New"/>
                <a:cs typeface="Courier New"/>
              </a:rPr>
              <a:t>- </a:t>
            </a:r>
            <a:r>
              <a:rPr sz="1600" b="1" dirty="0">
                <a:solidFill>
                  <a:srgbClr val="CC7831"/>
                </a:solidFill>
                <a:latin typeface="Courier New"/>
                <a:cs typeface="Courier New"/>
              </a:rPr>
              <a:t>name: </a:t>
            </a:r>
            <a:r>
              <a:rPr sz="1600" dirty="0">
                <a:solidFill>
                  <a:srgbClr val="A9B7C5"/>
                </a:solidFill>
                <a:latin typeface="Courier New"/>
                <a:cs typeface="Courier New"/>
              </a:rPr>
              <a:t>simple-webapp-color </a:t>
            </a:r>
            <a:r>
              <a:rPr sz="1600" dirty="0">
                <a:solidFill>
                  <a:srgbClr val="CC7831"/>
                </a:solidFill>
                <a:latin typeface="Courier New"/>
                <a:cs typeface="Courier New"/>
              </a:rPr>
              <a:t> </a:t>
            </a:r>
            <a:r>
              <a:rPr sz="1600" b="1" dirty="0">
                <a:solidFill>
                  <a:srgbClr val="CC7831"/>
                </a:solidFill>
                <a:latin typeface="Courier New"/>
                <a:cs typeface="Courier New"/>
              </a:rPr>
              <a:t>image: </a:t>
            </a:r>
            <a:r>
              <a:rPr sz="1600" dirty="0">
                <a:solidFill>
                  <a:srgbClr val="A9B7C5"/>
                </a:solidFill>
                <a:latin typeface="Courier New"/>
                <a:cs typeface="Courier New"/>
              </a:rPr>
              <a:t>simple-webapp-color </a:t>
            </a:r>
            <a:r>
              <a:rPr sz="1600" dirty="0">
                <a:solidFill>
                  <a:srgbClr val="CC7831"/>
                </a:solidFill>
                <a:latin typeface="Courier New"/>
                <a:cs typeface="Courier New"/>
              </a:rPr>
              <a:t> </a:t>
            </a:r>
            <a:r>
              <a:rPr sz="1600" b="1" dirty="0">
                <a:solidFill>
                  <a:srgbClr val="CC7831"/>
                </a:solidFill>
                <a:latin typeface="Courier New"/>
                <a:cs typeface="Courier New"/>
              </a:rPr>
              <a:t>ports:</a:t>
            </a:r>
            <a:endParaRPr sz="1600">
              <a:solidFill>
                <a:prstClr val="black"/>
              </a:solidFill>
              <a:latin typeface="Courier New"/>
              <a:cs typeface="Courier New"/>
            </a:endParaRPr>
          </a:p>
          <a:p>
            <a:pPr marL="751821" defTabSz="1219170"/>
            <a:r>
              <a:rPr sz="1600" dirty="0">
                <a:solidFill>
                  <a:srgbClr val="A9B7C5"/>
                </a:solidFill>
                <a:latin typeface="Courier New"/>
                <a:cs typeface="Courier New"/>
              </a:rPr>
              <a:t>- </a:t>
            </a:r>
            <a:r>
              <a:rPr sz="1600" b="1" dirty="0">
                <a:solidFill>
                  <a:srgbClr val="CC7831"/>
                </a:solidFill>
                <a:latin typeface="Courier New"/>
                <a:cs typeface="Courier New"/>
              </a:rPr>
              <a:t>containerPort:</a:t>
            </a:r>
            <a:r>
              <a:rPr sz="1600" b="1" spc="-13" dirty="0">
                <a:solidFill>
                  <a:srgbClr val="CC7831"/>
                </a:solidFill>
                <a:latin typeface="Courier New"/>
                <a:cs typeface="Courier New"/>
              </a:rPr>
              <a:t> </a:t>
            </a:r>
            <a:r>
              <a:rPr sz="1600" dirty="0">
                <a:solidFill>
                  <a:srgbClr val="A9B7C5"/>
                </a:solidFill>
                <a:latin typeface="Courier New"/>
                <a:cs typeface="Courier New"/>
              </a:rPr>
              <a:t>8080</a:t>
            </a:r>
            <a:endParaRPr sz="1600">
              <a:solidFill>
                <a:prstClr val="black"/>
              </a:solidFill>
              <a:latin typeface="Courier New"/>
              <a:cs typeface="Courier New"/>
            </a:endParaRPr>
          </a:p>
          <a:p>
            <a:pPr marL="567252" defTabSz="1219170">
              <a:spcBef>
                <a:spcPts val="1367"/>
              </a:spcBef>
            </a:pPr>
            <a:r>
              <a:rPr sz="1600" b="1" dirty="0">
                <a:solidFill>
                  <a:srgbClr val="CC7831"/>
                </a:solidFill>
                <a:latin typeface="Courier New"/>
                <a:cs typeface="Courier New"/>
              </a:rPr>
              <a:t>envFrom:</a:t>
            </a:r>
            <a:endParaRPr sz="1600">
              <a:solidFill>
                <a:prstClr val="black"/>
              </a:solidFill>
              <a:latin typeface="Courier New"/>
              <a:cs typeface="Courier New"/>
            </a:endParaRPr>
          </a:p>
          <a:p>
            <a:pPr marL="567252" defTabSz="1219170"/>
            <a:r>
              <a:rPr sz="1600" dirty="0">
                <a:solidFill>
                  <a:srgbClr val="A9B7C5"/>
                </a:solidFill>
                <a:latin typeface="Courier New"/>
                <a:cs typeface="Courier New"/>
              </a:rPr>
              <a:t>-</a:t>
            </a:r>
            <a:r>
              <a:rPr sz="1600" spc="-13" dirty="0">
                <a:solidFill>
                  <a:srgbClr val="A9B7C5"/>
                </a:solidFill>
                <a:latin typeface="Courier New"/>
                <a:cs typeface="Courier New"/>
              </a:rPr>
              <a:t> </a:t>
            </a:r>
            <a:r>
              <a:rPr sz="1600" b="1" dirty="0">
                <a:solidFill>
                  <a:srgbClr val="CC7831"/>
                </a:solidFill>
                <a:latin typeface="Courier New"/>
                <a:cs typeface="Courier New"/>
              </a:rPr>
              <a:t>configMapRef:</a:t>
            </a:r>
            <a:endParaRPr sz="1600">
              <a:solidFill>
                <a:prstClr val="black"/>
              </a:solidFill>
              <a:latin typeface="Courier New"/>
              <a:cs typeface="Courier New"/>
            </a:endParaRPr>
          </a:p>
          <a:p>
            <a:pPr marL="1303834" defTabSz="1219170"/>
            <a:r>
              <a:rPr sz="1600" b="1" dirty="0">
                <a:solidFill>
                  <a:srgbClr val="CC7831"/>
                </a:solidFill>
                <a:latin typeface="Courier New"/>
                <a:cs typeface="Courier New"/>
              </a:rPr>
              <a:t>name:</a:t>
            </a:r>
            <a:r>
              <a:rPr sz="1600" b="1" spc="-33" dirty="0">
                <a:solidFill>
                  <a:srgbClr val="CC7831"/>
                </a:solidFill>
                <a:latin typeface="Courier New"/>
                <a:cs typeface="Courier New"/>
              </a:rPr>
              <a:t> </a:t>
            </a:r>
            <a:r>
              <a:rPr sz="1600" dirty="0">
                <a:solidFill>
                  <a:srgbClr val="A9B7C5"/>
                </a:solidFill>
                <a:latin typeface="Courier New"/>
                <a:cs typeface="Courier New"/>
              </a:rPr>
              <a:t>app-config</a:t>
            </a:r>
            <a:endParaRPr sz="1600">
              <a:solidFill>
                <a:prstClr val="black"/>
              </a:solidFill>
              <a:latin typeface="Courier New"/>
              <a:cs typeface="Courier New"/>
            </a:endParaRPr>
          </a:p>
        </p:txBody>
      </p:sp>
    </p:spTree>
    <p:extLst>
      <p:ext uri="{BB962C8B-B14F-4D97-AF65-F5344CB8AC3E}">
        <p14:creationId xmlns:p14="http://schemas.microsoft.com/office/powerpoint/2010/main" val="36643710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26137"/>
            <a:ext cx="5475393" cy="694207"/>
          </a:xfrm>
          <a:prstGeom prst="rect">
            <a:avLst/>
          </a:prstGeom>
        </p:spPr>
        <p:txBody>
          <a:bodyPr vert="horz" wrap="square" lIns="0" tIns="16933" rIns="0" bIns="0" rtlCol="0">
            <a:spAutoFit/>
          </a:bodyPr>
          <a:lstStyle/>
          <a:p>
            <a:pPr marL="16933">
              <a:spcBef>
                <a:spcPts val="133"/>
              </a:spcBef>
            </a:pPr>
            <a:r>
              <a:rPr spc="40" dirty="0">
                <a:solidFill>
                  <a:schemeClr val="tx1"/>
                </a:solidFill>
              </a:rPr>
              <a:t>Create</a:t>
            </a:r>
            <a:r>
              <a:rPr spc="-447" dirty="0">
                <a:solidFill>
                  <a:schemeClr val="tx1"/>
                </a:solidFill>
              </a:rPr>
              <a:t> </a:t>
            </a:r>
            <a:r>
              <a:rPr spc="140" dirty="0">
                <a:solidFill>
                  <a:schemeClr val="tx1"/>
                </a:solidFill>
              </a:rPr>
              <a:t>ConfigMaps</a:t>
            </a:r>
          </a:p>
        </p:txBody>
      </p:sp>
      <p:sp>
        <p:nvSpPr>
          <p:cNvPr id="4" name="object 4"/>
          <p:cNvSpPr txBox="1"/>
          <p:nvPr/>
        </p:nvSpPr>
        <p:spPr>
          <a:xfrm>
            <a:off x="979424" y="1946655"/>
            <a:ext cx="2993813" cy="615681"/>
          </a:xfrm>
          <a:prstGeom prst="rect">
            <a:avLst/>
          </a:prstGeom>
          <a:solidFill>
            <a:srgbClr val="2B2B2B"/>
          </a:solidFill>
        </p:spPr>
        <p:txBody>
          <a:bodyPr vert="horz" wrap="square" lIns="0" tIns="40640" rIns="0" bIns="0" rtlCol="0">
            <a:spAutoFit/>
          </a:bodyPr>
          <a:lstStyle/>
          <a:p>
            <a:pPr marL="121070" marR="733195" defTabSz="1219170">
              <a:spcBef>
                <a:spcPts val="320"/>
              </a:spcBef>
            </a:pPr>
            <a:r>
              <a:rPr sz="1867" spc="-7" dirty="0">
                <a:solidFill>
                  <a:srgbClr val="9776AA"/>
                </a:solidFill>
                <a:latin typeface="Courier New"/>
                <a:cs typeface="Courier New"/>
              </a:rPr>
              <a:t>APP_COLOR</a:t>
            </a:r>
            <a:r>
              <a:rPr sz="1867" spc="-7" dirty="0">
                <a:solidFill>
                  <a:srgbClr val="A9B7C5"/>
                </a:solidFill>
                <a:latin typeface="Courier New"/>
                <a:cs typeface="Courier New"/>
              </a:rPr>
              <a:t>:</a:t>
            </a:r>
            <a:r>
              <a:rPr sz="1867" spc="-120" dirty="0">
                <a:solidFill>
                  <a:srgbClr val="A9B7C5"/>
                </a:solidFill>
                <a:latin typeface="Courier New"/>
                <a:cs typeface="Courier New"/>
              </a:rPr>
              <a:t> </a:t>
            </a:r>
            <a:r>
              <a:rPr sz="1867" spc="-7" dirty="0">
                <a:solidFill>
                  <a:srgbClr val="A9B7C5"/>
                </a:solidFill>
                <a:latin typeface="Courier New"/>
                <a:cs typeface="Courier New"/>
              </a:rPr>
              <a:t>blue  </a:t>
            </a:r>
            <a:r>
              <a:rPr sz="1867" spc="-7" dirty="0">
                <a:solidFill>
                  <a:srgbClr val="9776AA"/>
                </a:solidFill>
                <a:latin typeface="Courier New"/>
                <a:cs typeface="Courier New"/>
              </a:rPr>
              <a:t>APP_MODE</a:t>
            </a:r>
            <a:r>
              <a:rPr sz="1867" spc="-7" dirty="0">
                <a:solidFill>
                  <a:srgbClr val="A9B7C5"/>
                </a:solidFill>
                <a:latin typeface="Courier New"/>
                <a:cs typeface="Courier New"/>
              </a:rPr>
              <a:t>:</a:t>
            </a:r>
            <a:r>
              <a:rPr sz="1867" spc="-60" dirty="0">
                <a:solidFill>
                  <a:srgbClr val="A9B7C5"/>
                </a:solidFill>
                <a:latin typeface="Courier New"/>
                <a:cs typeface="Courier New"/>
              </a:rPr>
              <a:t> </a:t>
            </a:r>
            <a:r>
              <a:rPr sz="1867" spc="-7" dirty="0">
                <a:solidFill>
                  <a:srgbClr val="A9B7C5"/>
                </a:solidFill>
                <a:latin typeface="Courier New"/>
                <a:cs typeface="Courier New"/>
              </a:rPr>
              <a:t>prod</a:t>
            </a:r>
            <a:endParaRPr sz="1867">
              <a:solidFill>
                <a:prstClr val="black"/>
              </a:solidFill>
              <a:latin typeface="Courier New"/>
              <a:cs typeface="Courier New"/>
            </a:endParaRPr>
          </a:p>
        </p:txBody>
      </p:sp>
      <p:sp>
        <p:nvSpPr>
          <p:cNvPr id="5" name="object 5"/>
          <p:cNvSpPr txBox="1"/>
          <p:nvPr/>
        </p:nvSpPr>
        <p:spPr>
          <a:xfrm>
            <a:off x="1786128" y="1546352"/>
            <a:ext cx="1380067" cy="325729"/>
          </a:xfrm>
          <a:prstGeom prst="rect">
            <a:avLst/>
          </a:prstGeom>
          <a:solidFill>
            <a:srgbClr val="000000">
              <a:alpha val="50195"/>
            </a:srgbClr>
          </a:solidFill>
        </p:spPr>
        <p:txBody>
          <a:bodyPr vert="horz" wrap="square" lIns="0" tIns="48259" rIns="0" bIns="0" rtlCol="0">
            <a:spAutoFit/>
          </a:bodyPr>
          <a:lstStyle/>
          <a:p>
            <a:pPr marL="121917" defTabSz="1219170">
              <a:spcBef>
                <a:spcPts val="379"/>
              </a:spcBef>
            </a:pPr>
            <a:r>
              <a:rPr spc="-20" dirty="0">
                <a:solidFill>
                  <a:srgbClr val="FFFFFF"/>
                </a:solidFill>
                <a:latin typeface="Noto Sans"/>
                <a:cs typeface="Noto Sans"/>
              </a:rPr>
              <a:t>ConfigMap</a:t>
            </a:r>
            <a:endParaRPr dirty="0">
              <a:solidFill>
                <a:prstClr val="black"/>
              </a:solidFill>
              <a:latin typeface="Noto Sans"/>
              <a:cs typeface="Noto Sans"/>
            </a:endParaRPr>
          </a:p>
        </p:txBody>
      </p:sp>
      <p:grpSp>
        <p:nvGrpSpPr>
          <p:cNvPr id="8" name="object 8"/>
          <p:cNvGrpSpPr/>
          <p:nvPr/>
        </p:nvGrpSpPr>
        <p:grpSpPr>
          <a:xfrm>
            <a:off x="5299455" y="1723085"/>
            <a:ext cx="5834380" cy="522393"/>
            <a:chOff x="3974591" y="1292313"/>
            <a:chExt cx="4375785" cy="391795"/>
          </a:xfrm>
        </p:grpSpPr>
        <p:sp>
          <p:nvSpPr>
            <p:cNvPr id="9" name="object 9"/>
            <p:cNvSpPr/>
            <p:nvPr/>
          </p:nvSpPr>
          <p:spPr>
            <a:xfrm>
              <a:off x="3974591" y="1292313"/>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131563" y="1301534"/>
              <a:ext cx="1981200" cy="382485"/>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4034027" y="1331976"/>
              <a:ext cx="4261485" cy="254635"/>
            </a:xfrm>
            <a:custGeom>
              <a:avLst/>
              <a:gdLst/>
              <a:ahLst/>
              <a:cxnLst/>
              <a:rect l="l" t="t" r="r" b="b"/>
              <a:pathLst>
                <a:path w="4261484" h="254634">
                  <a:moveTo>
                    <a:pt x="4261104" y="0"/>
                  </a:moveTo>
                  <a:lnTo>
                    <a:pt x="0" y="0"/>
                  </a:lnTo>
                  <a:lnTo>
                    <a:pt x="0" y="254508"/>
                  </a:lnTo>
                  <a:lnTo>
                    <a:pt x="4261104" y="254508"/>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12" name="object 12"/>
          <p:cNvSpPr txBox="1"/>
          <p:nvPr/>
        </p:nvSpPr>
        <p:spPr>
          <a:xfrm>
            <a:off x="5378705" y="1775968"/>
            <a:ext cx="5681980" cy="261546"/>
          </a:xfrm>
          <a:prstGeom prst="rect">
            <a:avLst/>
          </a:prstGeom>
        </p:spPr>
        <p:txBody>
          <a:bodyPr vert="horz" wrap="square" lIns="0" tIns="55880" rIns="0" bIns="0" rtlCol="0">
            <a:spAutoFit/>
          </a:bodyPr>
          <a:lstStyle/>
          <a:p>
            <a:pPr marL="312412" defTabSz="1219170">
              <a:spcBef>
                <a:spcPts val="440"/>
              </a:spcBef>
            </a:pPr>
            <a:r>
              <a:rPr sz="1333" spc="140" dirty="0">
                <a:solidFill>
                  <a:srgbClr val="D9D9D9"/>
                </a:solidFill>
                <a:latin typeface="Arial"/>
                <a:cs typeface="Arial"/>
              </a:rPr>
              <a:t>kubectl </a:t>
            </a:r>
            <a:r>
              <a:rPr sz="1333" spc="120" dirty="0">
                <a:solidFill>
                  <a:srgbClr val="D9D9D9"/>
                </a:solidFill>
                <a:latin typeface="Arial"/>
                <a:cs typeface="Arial"/>
              </a:rPr>
              <a:t>create</a:t>
            </a:r>
            <a:r>
              <a:rPr sz="1333" spc="140" dirty="0">
                <a:solidFill>
                  <a:srgbClr val="D9D9D9"/>
                </a:solidFill>
                <a:latin typeface="Arial"/>
                <a:cs typeface="Arial"/>
              </a:rPr>
              <a:t> </a:t>
            </a:r>
            <a:r>
              <a:rPr sz="1333" spc="53" dirty="0" err="1">
                <a:solidFill>
                  <a:srgbClr val="D9D9D9"/>
                </a:solidFill>
                <a:latin typeface="Arial"/>
                <a:cs typeface="Arial"/>
              </a:rPr>
              <a:t>configmap</a:t>
            </a:r>
            <a:endParaRPr sz="1333" dirty="0">
              <a:solidFill>
                <a:prstClr val="black"/>
              </a:solidFill>
              <a:latin typeface="Arial"/>
              <a:cs typeface="Arial"/>
            </a:endParaRPr>
          </a:p>
        </p:txBody>
      </p:sp>
      <p:grpSp>
        <p:nvGrpSpPr>
          <p:cNvPr id="13" name="object 13"/>
          <p:cNvGrpSpPr/>
          <p:nvPr/>
        </p:nvGrpSpPr>
        <p:grpSpPr>
          <a:xfrm>
            <a:off x="5299455" y="3895277"/>
            <a:ext cx="5834380" cy="522393"/>
            <a:chOff x="3974591" y="2921457"/>
            <a:chExt cx="4375785" cy="391795"/>
          </a:xfrm>
        </p:grpSpPr>
        <p:sp>
          <p:nvSpPr>
            <p:cNvPr id="14" name="object 14"/>
            <p:cNvSpPr/>
            <p:nvPr/>
          </p:nvSpPr>
          <p:spPr>
            <a:xfrm>
              <a:off x="3974591" y="2921457"/>
              <a:ext cx="4375404" cy="365810"/>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5" name="object 15"/>
            <p:cNvSpPr/>
            <p:nvPr/>
          </p:nvSpPr>
          <p:spPr>
            <a:xfrm>
              <a:off x="4131563" y="2929077"/>
              <a:ext cx="1552956" cy="384098"/>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6" name="object 16"/>
            <p:cNvSpPr/>
            <p:nvPr/>
          </p:nvSpPr>
          <p:spPr>
            <a:xfrm>
              <a:off x="4034027" y="2961131"/>
              <a:ext cx="4261485" cy="253365"/>
            </a:xfrm>
            <a:custGeom>
              <a:avLst/>
              <a:gdLst/>
              <a:ahLst/>
              <a:cxnLst/>
              <a:rect l="l" t="t" r="r" b="b"/>
              <a:pathLst>
                <a:path w="4261484" h="253364">
                  <a:moveTo>
                    <a:pt x="4261104" y="0"/>
                  </a:moveTo>
                  <a:lnTo>
                    <a:pt x="0" y="0"/>
                  </a:lnTo>
                  <a:lnTo>
                    <a:pt x="0" y="252983"/>
                  </a:lnTo>
                  <a:lnTo>
                    <a:pt x="4261104" y="252983"/>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21" name="object 21"/>
          <p:cNvSpPr txBox="1"/>
          <p:nvPr/>
        </p:nvSpPr>
        <p:spPr>
          <a:xfrm>
            <a:off x="5378705" y="3948177"/>
            <a:ext cx="5681980" cy="260691"/>
          </a:xfrm>
          <a:prstGeom prst="rect">
            <a:avLst/>
          </a:prstGeom>
        </p:spPr>
        <p:txBody>
          <a:bodyPr vert="horz" wrap="square" lIns="0" tIns="55033" rIns="0" bIns="0" rtlCol="0">
            <a:spAutoFit/>
          </a:bodyPr>
          <a:lstStyle/>
          <a:p>
            <a:pPr marL="312412" defTabSz="1219170">
              <a:spcBef>
                <a:spcPts val="433"/>
              </a:spcBef>
            </a:pPr>
            <a:r>
              <a:rPr sz="1333" spc="140" dirty="0">
                <a:solidFill>
                  <a:srgbClr val="D9D9D9"/>
                </a:solidFill>
                <a:latin typeface="Arial"/>
                <a:cs typeface="Arial"/>
              </a:rPr>
              <a:t>kubectl </a:t>
            </a:r>
            <a:r>
              <a:rPr sz="1333" spc="120" dirty="0">
                <a:solidFill>
                  <a:srgbClr val="D9D9D9"/>
                </a:solidFill>
                <a:latin typeface="Arial"/>
                <a:cs typeface="Arial"/>
              </a:rPr>
              <a:t>create</a:t>
            </a:r>
            <a:r>
              <a:rPr sz="1333" spc="133" dirty="0">
                <a:solidFill>
                  <a:srgbClr val="D9D9D9"/>
                </a:solidFill>
                <a:latin typeface="Arial"/>
                <a:cs typeface="Arial"/>
              </a:rPr>
              <a:t> </a:t>
            </a:r>
            <a:r>
              <a:rPr sz="1333" spc="187" dirty="0">
                <a:solidFill>
                  <a:srgbClr val="D9D9D9"/>
                </a:solidFill>
                <a:latin typeface="Arial"/>
                <a:cs typeface="Arial"/>
              </a:rPr>
              <a:t>–f</a:t>
            </a:r>
            <a:endParaRPr sz="1333" dirty="0">
              <a:solidFill>
                <a:prstClr val="black"/>
              </a:solidFill>
              <a:latin typeface="Arial"/>
              <a:cs typeface="Arial"/>
            </a:endParaRPr>
          </a:p>
        </p:txBody>
      </p:sp>
    </p:spTree>
    <p:extLst>
      <p:ext uri="{BB962C8B-B14F-4D97-AF65-F5344CB8AC3E}">
        <p14:creationId xmlns:p14="http://schemas.microsoft.com/office/powerpoint/2010/main" val="42247282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26137"/>
            <a:ext cx="5475393" cy="694207"/>
          </a:xfrm>
          <a:prstGeom prst="rect">
            <a:avLst/>
          </a:prstGeom>
        </p:spPr>
        <p:txBody>
          <a:bodyPr vert="horz" wrap="square" lIns="0" tIns="16933" rIns="0" bIns="0" rtlCol="0">
            <a:spAutoFit/>
          </a:bodyPr>
          <a:lstStyle/>
          <a:p>
            <a:pPr marL="16933">
              <a:spcBef>
                <a:spcPts val="133"/>
              </a:spcBef>
            </a:pPr>
            <a:r>
              <a:rPr spc="40" dirty="0">
                <a:solidFill>
                  <a:schemeClr val="tx1"/>
                </a:solidFill>
              </a:rPr>
              <a:t>Create</a:t>
            </a:r>
            <a:r>
              <a:rPr spc="-447" dirty="0">
                <a:solidFill>
                  <a:schemeClr val="tx1"/>
                </a:solidFill>
              </a:rPr>
              <a:t> </a:t>
            </a:r>
            <a:r>
              <a:rPr spc="140" dirty="0">
                <a:solidFill>
                  <a:schemeClr val="tx1"/>
                </a:solidFill>
              </a:rPr>
              <a:t>ConfigMaps</a:t>
            </a:r>
          </a:p>
        </p:txBody>
      </p:sp>
      <p:sp>
        <p:nvSpPr>
          <p:cNvPr id="4" name="object 4"/>
          <p:cNvSpPr txBox="1"/>
          <p:nvPr/>
        </p:nvSpPr>
        <p:spPr>
          <a:xfrm>
            <a:off x="979424" y="1946655"/>
            <a:ext cx="2993813" cy="615681"/>
          </a:xfrm>
          <a:prstGeom prst="rect">
            <a:avLst/>
          </a:prstGeom>
          <a:solidFill>
            <a:srgbClr val="2B2B2B"/>
          </a:solidFill>
        </p:spPr>
        <p:txBody>
          <a:bodyPr vert="horz" wrap="square" lIns="0" tIns="40640" rIns="0" bIns="0" rtlCol="0">
            <a:spAutoFit/>
          </a:bodyPr>
          <a:lstStyle/>
          <a:p>
            <a:pPr marL="121070" marR="733195" defTabSz="1219170">
              <a:spcBef>
                <a:spcPts val="320"/>
              </a:spcBef>
            </a:pPr>
            <a:r>
              <a:rPr sz="1867" spc="-7" dirty="0">
                <a:solidFill>
                  <a:srgbClr val="9776AA"/>
                </a:solidFill>
                <a:latin typeface="Courier New"/>
                <a:cs typeface="Courier New"/>
              </a:rPr>
              <a:t>APP_COLOR</a:t>
            </a:r>
            <a:r>
              <a:rPr sz="1867" spc="-7" dirty="0">
                <a:solidFill>
                  <a:srgbClr val="A9B7C5"/>
                </a:solidFill>
                <a:latin typeface="Courier New"/>
                <a:cs typeface="Courier New"/>
              </a:rPr>
              <a:t>:</a:t>
            </a:r>
            <a:r>
              <a:rPr sz="1867" spc="-120" dirty="0">
                <a:solidFill>
                  <a:srgbClr val="A9B7C5"/>
                </a:solidFill>
                <a:latin typeface="Courier New"/>
                <a:cs typeface="Courier New"/>
              </a:rPr>
              <a:t> </a:t>
            </a:r>
            <a:r>
              <a:rPr sz="1867" spc="-7" dirty="0">
                <a:solidFill>
                  <a:srgbClr val="A9B7C5"/>
                </a:solidFill>
                <a:latin typeface="Courier New"/>
                <a:cs typeface="Courier New"/>
              </a:rPr>
              <a:t>blue  </a:t>
            </a:r>
            <a:r>
              <a:rPr sz="1867" spc="-7" dirty="0">
                <a:solidFill>
                  <a:srgbClr val="9776AA"/>
                </a:solidFill>
                <a:latin typeface="Courier New"/>
                <a:cs typeface="Courier New"/>
              </a:rPr>
              <a:t>APP_MODE</a:t>
            </a:r>
            <a:r>
              <a:rPr sz="1867" spc="-7" dirty="0">
                <a:solidFill>
                  <a:srgbClr val="A9B7C5"/>
                </a:solidFill>
                <a:latin typeface="Courier New"/>
                <a:cs typeface="Courier New"/>
              </a:rPr>
              <a:t>:</a:t>
            </a:r>
            <a:r>
              <a:rPr sz="1867" spc="-60" dirty="0">
                <a:solidFill>
                  <a:srgbClr val="A9B7C5"/>
                </a:solidFill>
                <a:latin typeface="Courier New"/>
                <a:cs typeface="Courier New"/>
              </a:rPr>
              <a:t> </a:t>
            </a:r>
            <a:r>
              <a:rPr sz="1867" spc="-7" dirty="0">
                <a:solidFill>
                  <a:srgbClr val="A9B7C5"/>
                </a:solidFill>
                <a:latin typeface="Courier New"/>
                <a:cs typeface="Courier New"/>
              </a:rPr>
              <a:t>prod</a:t>
            </a:r>
            <a:endParaRPr sz="1867">
              <a:solidFill>
                <a:prstClr val="black"/>
              </a:solidFill>
              <a:latin typeface="Courier New"/>
              <a:cs typeface="Courier New"/>
            </a:endParaRPr>
          </a:p>
        </p:txBody>
      </p:sp>
      <p:sp>
        <p:nvSpPr>
          <p:cNvPr id="5" name="object 5"/>
          <p:cNvSpPr txBox="1"/>
          <p:nvPr/>
        </p:nvSpPr>
        <p:spPr>
          <a:xfrm>
            <a:off x="1786128" y="1546352"/>
            <a:ext cx="1380067" cy="325729"/>
          </a:xfrm>
          <a:prstGeom prst="rect">
            <a:avLst/>
          </a:prstGeom>
          <a:solidFill>
            <a:srgbClr val="000000">
              <a:alpha val="50195"/>
            </a:srgbClr>
          </a:solidFill>
        </p:spPr>
        <p:txBody>
          <a:bodyPr vert="horz" wrap="square" lIns="0" tIns="48259" rIns="0" bIns="0" rtlCol="0">
            <a:spAutoFit/>
          </a:bodyPr>
          <a:lstStyle/>
          <a:p>
            <a:pPr marL="121917" defTabSz="1219170">
              <a:spcBef>
                <a:spcPts val="379"/>
              </a:spcBef>
            </a:pPr>
            <a:r>
              <a:rPr spc="-20" dirty="0">
                <a:solidFill>
                  <a:srgbClr val="FFFFFF"/>
                </a:solidFill>
                <a:latin typeface="Noto Sans"/>
                <a:cs typeface="Noto Sans"/>
              </a:rPr>
              <a:t>ConfigMap</a:t>
            </a:r>
            <a:endParaRPr dirty="0">
              <a:solidFill>
                <a:prstClr val="black"/>
              </a:solidFill>
              <a:latin typeface="Noto Sans"/>
              <a:cs typeface="Noto Sans"/>
            </a:endParaRPr>
          </a:p>
        </p:txBody>
      </p:sp>
      <p:grpSp>
        <p:nvGrpSpPr>
          <p:cNvPr id="8" name="object 8"/>
          <p:cNvGrpSpPr/>
          <p:nvPr/>
        </p:nvGrpSpPr>
        <p:grpSpPr>
          <a:xfrm>
            <a:off x="5299455" y="1723085"/>
            <a:ext cx="5834380" cy="522393"/>
            <a:chOff x="3974591" y="1292313"/>
            <a:chExt cx="4375785" cy="391795"/>
          </a:xfrm>
        </p:grpSpPr>
        <p:sp>
          <p:nvSpPr>
            <p:cNvPr id="9" name="object 9"/>
            <p:cNvSpPr/>
            <p:nvPr/>
          </p:nvSpPr>
          <p:spPr>
            <a:xfrm>
              <a:off x="3974591" y="1292313"/>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131563" y="1301534"/>
              <a:ext cx="1981200" cy="382485"/>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4034027" y="1331976"/>
              <a:ext cx="4261485" cy="254635"/>
            </a:xfrm>
            <a:custGeom>
              <a:avLst/>
              <a:gdLst/>
              <a:ahLst/>
              <a:cxnLst/>
              <a:rect l="l" t="t" r="r" b="b"/>
              <a:pathLst>
                <a:path w="4261484" h="254634">
                  <a:moveTo>
                    <a:pt x="4261104" y="0"/>
                  </a:moveTo>
                  <a:lnTo>
                    <a:pt x="0" y="0"/>
                  </a:lnTo>
                  <a:lnTo>
                    <a:pt x="0" y="254508"/>
                  </a:lnTo>
                  <a:lnTo>
                    <a:pt x="4261104" y="254508"/>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12" name="object 12"/>
          <p:cNvSpPr txBox="1"/>
          <p:nvPr/>
        </p:nvSpPr>
        <p:spPr>
          <a:xfrm>
            <a:off x="5372608" y="1775968"/>
            <a:ext cx="5683673" cy="261546"/>
          </a:xfrm>
          <a:prstGeom prst="rect">
            <a:avLst/>
          </a:prstGeom>
        </p:spPr>
        <p:txBody>
          <a:bodyPr vert="horz" wrap="square" lIns="0" tIns="55880" rIns="0" bIns="0" rtlCol="0">
            <a:spAutoFit/>
          </a:bodyPr>
          <a:lstStyle/>
          <a:p>
            <a:pPr marL="318339" defTabSz="1219170">
              <a:spcBef>
                <a:spcPts val="440"/>
              </a:spcBef>
            </a:pPr>
            <a:r>
              <a:rPr sz="1333" spc="140" dirty="0">
                <a:solidFill>
                  <a:srgbClr val="D9D9D9"/>
                </a:solidFill>
                <a:latin typeface="Arial"/>
                <a:cs typeface="Arial"/>
              </a:rPr>
              <a:t>kubectl </a:t>
            </a:r>
            <a:r>
              <a:rPr sz="1333" spc="120" dirty="0">
                <a:solidFill>
                  <a:srgbClr val="D9D9D9"/>
                </a:solidFill>
                <a:latin typeface="Arial"/>
                <a:cs typeface="Arial"/>
              </a:rPr>
              <a:t>create</a:t>
            </a:r>
            <a:r>
              <a:rPr sz="1333" spc="140" dirty="0">
                <a:solidFill>
                  <a:srgbClr val="D9D9D9"/>
                </a:solidFill>
                <a:latin typeface="Arial"/>
                <a:cs typeface="Arial"/>
              </a:rPr>
              <a:t> </a:t>
            </a:r>
            <a:r>
              <a:rPr sz="1333" spc="53" dirty="0" err="1">
                <a:solidFill>
                  <a:srgbClr val="D9D9D9"/>
                </a:solidFill>
                <a:latin typeface="Arial"/>
                <a:cs typeface="Arial"/>
              </a:rPr>
              <a:t>configmap</a:t>
            </a:r>
            <a:endParaRPr sz="1333" dirty="0">
              <a:solidFill>
                <a:prstClr val="black"/>
              </a:solidFill>
              <a:latin typeface="Arial"/>
              <a:cs typeface="Arial"/>
            </a:endParaRPr>
          </a:p>
        </p:txBody>
      </p:sp>
      <p:grpSp>
        <p:nvGrpSpPr>
          <p:cNvPr id="18" name="object 18"/>
          <p:cNvGrpSpPr/>
          <p:nvPr/>
        </p:nvGrpSpPr>
        <p:grpSpPr>
          <a:xfrm>
            <a:off x="5293361" y="2062429"/>
            <a:ext cx="5836073" cy="520700"/>
            <a:chOff x="3970020" y="1546821"/>
            <a:chExt cx="4377055" cy="390525"/>
          </a:xfrm>
        </p:grpSpPr>
        <p:sp>
          <p:nvSpPr>
            <p:cNvPr id="19" name="object 19"/>
            <p:cNvSpPr/>
            <p:nvPr/>
          </p:nvSpPr>
          <p:spPr>
            <a:xfrm>
              <a:off x="3970020" y="1546821"/>
              <a:ext cx="4376928" cy="367322"/>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0" name="object 20"/>
            <p:cNvSpPr/>
            <p:nvPr/>
          </p:nvSpPr>
          <p:spPr>
            <a:xfrm>
              <a:off x="4405884" y="1556016"/>
              <a:ext cx="3197352" cy="380987"/>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1" name="object 21"/>
            <p:cNvSpPr/>
            <p:nvPr/>
          </p:nvSpPr>
          <p:spPr>
            <a:xfrm>
              <a:off x="4029456" y="1586483"/>
              <a:ext cx="4262755" cy="254635"/>
            </a:xfrm>
            <a:custGeom>
              <a:avLst/>
              <a:gdLst/>
              <a:ahLst/>
              <a:cxnLst/>
              <a:rect l="l" t="t" r="r" b="b"/>
              <a:pathLst>
                <a:path w="4262755" h="254635">
                  <a:moveTo>
                    <a:pt x="4262628" y="0"/>
                  </a:moveTo>
                  <a:lnTo>
                    <a:pt x="0" y="0"/>
                  </a:lnTo>
                  <a:lnTo>
                    <a:pt x="0" y="254508"/>
                  </a:lnTo>
                  <a:lnTo>
                    <a:pt x="4262628" y="254508"/>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22" name="object 22"/>
          <p:cNvSpPr txBox="1"/>
          <p:nvPr/>
        </p:nvSpPr>
        <p:spPr>
          <a:xfrm>
            <a:off x="5372608" y="2115312"/>
            <a:ext cx="5683673" cy="258126"/>
          </a:xfrm>
          <a:prstGeom prst="rect">
            <a:avLst/>
          </a:prstGeom>
        </p:spPr>
        <p:txBody>
          <a:bodyPr vert="horz" wrap="square" lIns="0" tIns="52493" rIns="0" bIns="0" rtlCol="0">
            <a:spAutoFit/>
          </a:bodyPr>
          <a:lstStyle/>
          <a:p>
            <a:pPr marL="684090" defTabSz="1219170">
              <a:spcBef>
                <a:spcPts val="413"/>
              </a:spcBef>
            </a:pPr>
            <a:r>
              <a:rPr sz="1333" spc="40" dirty="0">
                <a:solidFill>
                  <a:srgbClr val="D9D9D9"/>
                </a:solidFill>
                <a:latin typeface="Arial"/>
                <a:cs typeface="Arial"/>
              </a:rPr>
              <a:t>&lt;config-name&gt;</a:t>
            </a:r>
            <a:r>
              <a:rPr sz="1333" spc="347" dirty="0">
                <a:solidFill>
                  <a:srgbClr val="D9D9D9"/>
                </a:solidFill>
                <a:latin typeface="Arial"/>
                <a:cs typeface="Arial"/>
              </a:rPr>
              <a:t> </a:t>
            </a:r>
            <a:r>
              <a:rPr sz="1333" spc="113" dirty="0">
                <a:solidFill>
                  <a:srgbClr val="D9D9D9"/>
                </a:solidFill>
                <a:latin typeface="Arial"/>
                <a:cs typeface="Arial"/>
              </a:rPr>
              <a:t>--from-literal=&lt;key&gt;=&lt;value&gt;</a:t>
            </a:r>
            <a:endParaRPr sz="1333">
              <a:solidFill>
                <a:prstClr val="black"/>
              </a:solidFill>
              <a:latin typeface="Arial"/>
              <a:cs typeface="Arial"/>
            </a:endParaRPr>
          </a:p>
        </p:txBody>
      </p:sp>
      <p:grpSp>
        <p:nvGrpSpPr>
          <p:cNvPr id="23" name="object 23"/>
          <p:cNvGrpSpPr/>
          <p:nvPr/>
        </p:nvGrpSpPr>
        <p:grpSpPr>
          <a:xfrm>
            <a:off x="5293360" y="3058108"/>
            <a:ext cx="5840307" cy="1182792"/>
            <a:chOff x="3970020" y="2293581"/>
            <a:chExt cx="4380230" cy="887094"/>
          </a:xfrm>
        </p:grpSpPr>
        <p:sp>
          <p:nvSpPr>
            <p:cNvPr id="24" name="object 24"/>
            <p:cNvSpPr/>
            <p:nvPr/>
          </p:nvSpPr>
          <p:spPr>
            <a:xfrm>
              <a:off x="3974592" y="2293581"/>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5" name="object 25"/>
            <p:cNvSpPr/>
            <p:nvPr/>
          </p:nvSpPr>
          <p:spPr>
            <a:xfrm>
              <a:off x="4131564" y="2301189"/>
              <a:ext cx="2124456" cy="384098"/>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6" name="object 26"/>
            <p:cNvSpPr/>
            <p:nvPr/>
          </p:nvSpPr>
          <p:spPr>
            <a:xfrm>
              <a:off x="4034028" y="2333244"/>
              <a:ext cx="4261485" cy="254635"/>
            </a:xfrm>
            <a:custGeom>
              <a:avLst/>
              <a:gdLst/>
              <a:ahLst/>
              <a:cxnLst/>
              <a:rect l="l" t="t" r="r" b="b"/>
              <a:pathLst>
                <a:path w="4261484" h="254635">
                  <a:moveTo>
                    <a:pt x="4261104" y="0"/>
                  </a:moveTo>
                  <a:lnTo>
                    <a:pt x="0" y="0"/>
                  </a:lnTo>
                  <a:lnTo>
                    <a:pt x="0" y="254507"/>
                  </a:lnTo>
                  <a:lnTo>
                    <a:pt x="4261104" y="254507"/>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sp>
          <p:nvSpPr>
            <p:cNvPr id="27" name="object 27"/>
            <p:cNvSpPr/>
            <p:nvPr/>
          </p:nvSpPr>
          <p:spPr>
            <a:xfrm>
              <a:off x="4051116" y="2345473"/>
              <a:ext cx="160020" cy="20574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28" name="object 28"/>
            <p:cNvSpPr/>
            <p:nvPr/>
          </p:nvSpPr>
          <p:spPr>
            <a:xfrm>
              <a:off x="3970020" y="2548077"/>
              <a:ext cx="4376928" cy="365810"/>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9" name="object 29"/>
            <p:cNvSpPr/>
            <p:nvPr/>
          </p:nvSpPr>
          <p:spPr>
            <a:xfrm>
              <a:off x="4405884" y="2555760"/>
              <a:ext cx="3058667" cy="380987"/>
            </a:xfrm>
            <a:prstGeom prst="rect">
              <a:avLst/>
            </a:prstGeom>
            <a:blipFill>
              <a:blip r:embed="rId8"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0" name="object 30"/>
            <p:cNvSpPr/>
            <p:nvPr/>
          </p:nvSpPr>
          <p:spPr>
            <a:xfrm>
              <a:off x="4029456" y="2587752"/>
              <a:ext cx="4262755" cy="253365"/>
            </a:xfrm>
            <a:custGeom>
              <a:avLst/>
              <a:gdLst/>
              <a:ahLst/>
              <a:cxnLst/>
              <a:rect l="l" t="t" r="r" b="b"/>
              <a:pathLst>
                <a:path w="4262755" h="253364">
                  <a:moveTo>
                    <a:pt x="4262628" y="0"/>
                  </a:moveTo>
                  <a:lnTo>
                    <a:pt x="0" y="0"/>
                  </a:lnTo>
                  <a:lnTo>
                    <a:pt x="0" y="252984"/>
                  </a:lnTo>
                  <a:lnTo>
                    <a:pt x="4262628" y="252984"/>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sp>
          <p:nvSpPr>
            <p:cNvPr id="31" name="object 31"/>
            <p:cNvSpPr/>
            <p:nvPr/>
          </p:nvSpPr>
          <p:spPr>
            <a:xfrm>
              <a:off x="3970020" y="2791917"/>
              <a:ext cx="4376928" cy="365810"/>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2" name="object 32"/>
            <p:cNvSpPr/>
            <p:nvPr/>
          </p:nvSpPr>
          <p:spPr>
            <a:xfrm>
              <a:off x="5173980" y="2799600"/>
              <a:ext cx="2150364" cy="380987"/>
            </a:xfrm>
            <a:prstGeom prst="rect">
              <a:avLst/>
            </a:prstGeom>
            <a:blipFill>
              <a:blip r:embed="rId9"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3" name="object 33"/>
            <p:cNvSpPr/>
            <p:nvPr/>
          </p:nvSpPr>
          <p:spPr>
            <a:xfrm>
              <a:off x="4029456" y="2831591"/>
              <a:ext cx="4262755" cy="253365"/>
            </a:xfrm>
            <a:custGeom>
              <a:avLst/>
              <a:gdLst/>
              <a:ahLst/>
              <a:cxnLst/>
              <a:rect l="l" t="t" r="r" b="b"/>
              <a:pathLst>
                <a:path w="4262755" h="253364">
                  <a:moveTo>
                    <a:pt x="4262628" y="0"/>
                  </a:moveTo>
                  <a:lnTo>
                    <a:pt x="0" y="0"/>
                  </a:lnTo>
                  <a:lnTo>
                    <a:pt x="0" y="252984"/>
                  </a:lnTo>
                  <a:lnTo>
                    <a:pt x="4262628" y="252984"/>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34" name="object 34"/>
          <p:cNvSpPr txBox="1"/>
          <p:nvPr/>
        </p:nvSpPr>
        <p:spPr>
          <a:xfrm>
            <a:off x="5674698" y="3101126"/>
            <a:ext cx="4350172" cy="942010"/>
          </a:xfrm>
          <a:prstGeom prst="rect">
            <a:avLst/>
          </a:prstGeom>
        </p:spPr>
        <p:txBody>
          <a:bodyPr vert="horz" wrap="square" lIns="0" tIns="64347" rIns="0" bIns="0" rtlCol="0">
            <a:spAutoFit/>
          </a:bodyPr>
          <a:lstStyle/>
          <a:p>
            <a:pPr marL="16933" defTabSz="1219170">
              <a:spcBef>
                <a:spcPts val="507"/>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53" dirty="0" err="1">
                <a:solidFill>
                  <a:srgbClr val="D9D9D9"/>
                </a:solidFill>
                <a:latin typeface="Arial"/>
                <a:cs typeface="Arial"/>
              </a:rPr>
              <a:t>configmap</a:t>
            </a:r>
            <a:r>
              <a:rPr sz="1333" spc="-80" dirty="0">
                <a:solidFill>
                  <a:srgbClr val="D9D9D9"/>
                </a:solidFill>
                <a:latin typeface="Arial"/>
                <a:cs typeface="Arial"/>
              </a:rPr>
              <a:t> </a:t>
            </a:r>
            <a:r>
              <a:rPr sz="1333" spc="367" dirty="0">
                <a:solidFill>
                  <a:srgbClr val="D9D9D9"/>
                </a:solidFill>
                <a:latin typeface="Arial"/>
                <a:cs typeface="Arial"/>
              </a:rPr>
              <a:t>\</a:t>
            </a:r>
            <a:endParaRPr sz="1333" dirty="0">
              <a:solidFill>
                <a:prstClr val="black"/>
              </a:solidFill>
              <a:latin typeface="Arial"/>
              <a:cs typeface="Arial"/>
            </a:endParaRPr>
          </a:p>
          <a:p>
            <a:pPr marL="381837" defTabSz="1219170">
              <a:spcBef>
                <a:spcPts val="520"/>
              </a:spcBef>
            </a:pPr>
            <a:r>
              <a:rPr sz="1333" spc="100" dirty="0">
                <a:solidFill>
                  <a:srgbClr val="D9D9D9"/>
                </a:solidFill>
                <a:latin typeface="Arial"/>
                <a:cs typeface="Arial"/>
              </a:rPr>
              <a:t>app-config </a:t>
            </a:r>
            <a:r>
              <a:rPr sz="1333" spc="53" dirty="0">
                <a:solidFill>
                  <a:srgbClr val="D9D9D9"/>
                </a:solidFill>
                <a:latin typeface="Arial"/>
                <a:cs typeface="Arial"/>
              </a:rPr>
              <a:t>--from-literal=APP_COLOR=blue</a:t>
            </a:r>
            <a:r>
              <a:rPr sz="1333" spc="280" dirty="0">
                <a:solidFill>
                  <a:srgbClr val="D9D9D9"/>
                </a:solidFill>
                <a:latin typeface="Arial"/>
                <a:cs typeface="Arial"/>
              </a:rPr>
              <a:t> </a:t>
            </a:r>
            <a:r>
              <a:rPr sz="2800" spc="759" baseline="-3968" dirty="0">
                <a:solidFill>
                  <a:srgbClr val="D9D9D9"/>
                </a:solidFill>
                <a:latin typeface="Arial"/>
                <a:cs typeface="Arial"/>
              </a:rPr>
              <a:t>\</a:t>
            </a:r>
            <a:endParaRPr sz="2800" baseline="-3968" dirty="0">
              <a:solidFill>
                <a:prstClr val="black"/>
              </a:solidFill>
              <a:latin typeface="Arial"/>
              <a:cs typeface="Arial"/>
            </a:endParaRPr>
          </a:p>
          <a:p>
            <a:pPr marL="1406278" defTabSz="1219170">
              <a:spcBef>
                <a:spcPts val="853"/>
              </a:spcBef>
            </a:pPr>
            <a:r>
              <a:rPr sz="1333" spc="60" dirty="0">
                <a:solidFill>
                  <a:srgbClr val="D9D9D9"/>
                </a:solidFill>
                <a:latin typeface="Arial"/>
                <a:cs typeface="Arial"/>
              </a:rPr>
              <a:t>--from-literal=APP_MOD=prod</a:t>
            </a:r>
            <a:endParaRPr sz="1333" dirty="0">
              <a:solidFill>
                <a:prstClr val="black"/>
              </a:solidFill>
              <a:latin typeface="Arial"/>
              <a:cs typeface="Arial"/>
            </a:endParaRPr>
          </a:p>
        </p:txBody>
      </p:sp>
      <p:grpSp>
        <p:nvGrpSpPr>
          <p:cNvPr id="35" name="object 35"/>
          <p:cNvGrpSpPr/>
          <p:nvPr/>
        </p:nvGrpSpPr>
        <p:grpSpPr>
          <a:xfrm>
            <a:off x="5313679" y="4793488"/>
            <a:ext cx="5834380" cy="522393"/>
            <a:chOff x="3985259" y="3595115"/>
            <a:chExt cx="4375785" cy="391795"/>
          </a:xfrm>
        </p:grpSpPr>
        <p:sp>
          <p:nvSpPr>
            <p:cNvPr id="36" name="object 36"/>
            <p:cNvSpPr/>
            <p:nvPr/>
          </p:nvSpPr>
          <p:spPr>
            <a:xfrm>
              <a:off x="3985259" y="3595115"/>
              <a:ext cx="4375403" cy="365810"/>
            </a:xfrm>
            <a:prstGeom prst="rect">
              <a:avLst/>
            </a:prstGeom>
            <a:blipFill>
              <a:blip r:embed="rId10"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7" name="object 37"/>
            <p:cNvSpPr/>
            <p:nvPr/>
          </p:nvSpPr>
          <p:spPr>
            <a:xfrm>
              <a:off x="4142231" y="3602735"/>
              <a:ext cx="1981200" cy="384098"/>
            </a:xfrm>
            <a:prstGeom prst="rect">
              <a:avLst/>
            </a:prstGeom>
            <a:blipFill>
              <a:blip r:embed="rId11"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8" name="object 38"/>
            <p:cNvSpPr/>
            <p:nvPr/>
          </p:nvSpPr>
          <p:spPr>
            <a:xfrm>
              <a:off x="4044695" y="3634739"/>
              <a:ext cx="4261485" cy="253365"/>
            </a:xfrm>
            <a:custGeom>
              <a:avLst/>
              <a:gdLst/>
              <a:ahLst/>
              <a:cxnLst/>
              <a:rect l="l" t="t" r="r" b="b"/>
              <a:pathLst>
                <a:path w="4261484" h="253364">
                  <a:moveTo>
                    <a:pt x="4261104" y="0"/>
                  </a:moveTo>
                  <a:lnTo>
                    <a:pt x="0" y="0"/>
                  </a:lnTo>
                  <a:lnTo>
                    <a:pt x="0" y="252984"/>
                  </a:lnTo>
                  <a:lnTo>
                    <a:pt x="4261104" y="252984"/>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39" name="object 39"/>
          <p:cNvSpPr txBox="1"/>
          <p:nvPr/>
        </p:nvSpPr>
        <p:spPr>
          <a:xfrm>
            <a:off x="5689261" y="4882556"/>
            <a:ext cx="2316480" cy="223074"/>
          </a:xfrm>
          <a:prstGeom prst="rect">
            <a:avLst/>
          </a:prstGeom>
        </p:spPr>
        <p:txBody>
          <a:bodyPr vert="horz" wrap="square" lIns="0" tIns="17780" rIns="0" bIns="0" rtlCol="0">
            <a:spAutoFit/>
          </a:bodyPr>
          <a:lstStyle/>
          <a:p>
            <a:pPr marL="16933" defTabSz="1219170">
              <a:spcBef>
                <a:spcPts val="140"/>
              </a:spcBef>
            </a:pPr>
            <a:r>
              <a:rPr sz="1333" spc="140" dirty="0">
                <a:solidFill>
                  <a:srgbClr val="D9D9D9"/>
                </a:solidFill>
                <a:latin typeface="Arial"/>
                <a:cs typeface="Arial"/>
              </a:rPr>
              <a:t>kubectl </a:t>
            </a:r>
            <a:r>
              <a:rPr sz="1333" spc="120" dirty="0">
                <a:solidFill>
                  <a:srgbClr val="D9D9D9"/>
                </a:solidFill>
                <a:latin typeface="Arial"/>
                <a:cs typeface="Arial"/>
              </a:rPr>
              <a:t>create</a:t>
            </a:r>
            <a:r>
              <a:rPr sz="1333" spc="107" dirty="0">
                <a:solidFill>
                  <a:srgbClr val="D9D9D9"/>
                </a:solidFill>
                <a:latin typeface="Arial"/>
                <a:cs typeface="Arial"/>
              </a:rPr>
              <a:t> </a:t>
            </a:r>
            <a:r>
              <a:rPr sz="1333" spc="53" dirty="0" err="1">
                <a:solidFill>
                  <a:srgbClr val="D9D9D9"/>
                </a:solidFill>
                <a:latin typeface="Arial"/>
                <a:cs typeface="Arial"/>
              </a:rPr>
              <a:t>configmap</a:t>
            </a:r>
            <a:endParaRPr sz="1333" dirty="0">
              <a:solidFill>
                <a:prstClr val="black"/>
              </a:solidFill>
              <a:latin typeface="Arial"/>
              <a:cs typeface="Arial"/>
            </a:endParaRPr>
          </a:p>
        </p:txBody>
      </p:sp>
      <p:grpSp>
        <p:nvGrpSpPr>
          <p:cNvPr id="40" name="object 40"/>
          <p:cNvGrpSpPr/>
          <p:nvPr/>
        </p:nvGrpSpPr>
        <p:grpSpPr>
          <a:xfrm>
            <a:off x="5319777" y="4862396"/>
            <a:ext cx="5836073" cy="789093"/>
            <a:chOff x="3989832" y="3646797"/>
            <a:chExt cx="4377055" cy="591820"/>
          </a:xfrm>
        </p:grpSpPr>
        <p:sp>
          <p:nvSpPr>
            <p:cNvPr id="41" name="object 41"/>
            <p:cNvSpPr/>
            <p:nvPr/>
          </p:nvSpPr>
          <p:spPr>
            <a:xfrm>
              <a:off x="4061784" y="3646797"/>
              <a:ext cx="160020" cy="204470"/>
            </a:xfrm>
            <a:custGeom>
              <a:avLst/>
              <a:gdLst/>
              <a:ahLst/>
              <a:cxnLst/>
              <a:rect l="l" t="t" r="r" b="b"/>
              <a:pathLst>
                <a:path w="160020" h="204470">
                  <a:moveTo>
                    <a:pt x="0" y="0"/>
                  </a:moveTo>
                  <a:lnTo>
                    <a:pt x="0" y="204209"/>
                  </a:lnTo>
                  <a:lnTo>
                    <a:pt x="159603" y="102109"/>
                  </a:lnTo>
                  <a:lnTo>
                    <a:pt x="0" y="0"/>
                  </a:lnTo>
                  <a:close/>
                </a:path>
              </a:pathLst>
            </a:custGeom>
            <a:solidFill>
              <a:srgbClr val="1780C3"/>
            </a:solidFill>
          </p:spPr>
          <p:txBody>
            <a:bodyPr wrap="square" lIns="0" tIns="0" rIns="0" bIns="0" rtlCol="0"/>
            <a:lstStyle/>
            <a:p>
              <a:pPr defTabSz="1219170"/>
              <a:endParaRPr sz="2400">
                <a:solidFill>
                  <a:prstClr val="black"/>
                </a:solidFill>
                <a:latin typeface="Calibri"/>
              </a:endParaRPr>
            </a:p>
          </p:txBody>
        </p:sp>
        <p:sp>
          <p:nvSpPr>
            <p:cNvPr id="42" name="object 42"/>
            <p:cNvSpPr/>
            <p:nvPr/>
          </p:nvSpPr>
          <p:spPr>
            <a:xfrm>
              <a:off x="3989832" y="3848100"/>
              <a:ext cx="4376927" cy="367322"/>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3" name="object 43"/>
            <p:cNvSpPr/>
            <p:nvPr/>
          </p:nvSpPr>
          <p:spPr>
            <a:xfrm>
              <a:off x="4425696" y="3857244"/>
              <a:ext cx="3058668" cy="380987"/>
            </a:xfrm>
            <a:prstGeom prst="rect">
              <a:avLst/>
            </a:prstGeom>
            <a:blipFill>
              <a:blip r:embed="rId1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4" name="object 44"/>
            <p:cNvSpPr/>
            <p:nvPr/>
          </p:nvSpPr>
          <p:spPr>
            <a:xfrm>
              <a:off x="4049268" y="3887724"/>
              <a:ext cx="4262755" cy="254635"/>
            </a:xfrm>
            <a:custGeom>
              <a:avLst/>
              <a:gdLst/>
              <a:ahLst/>
              <a:cxnLst/>
              <a:rect l="l" t="t" r="r" b="b"/>
              <a:pathLst>
                <a:path w="4262755" h="254635">
                  <a:moveTo>
                    <a:pt x="4262628" y="0"/>
                  </a:moveTo>
                  <a:lnTo>
                    <a:pt x="0" y="0"/>
                  </a:lnTo>
                  <a:lnTo>
                    <a:pt x="0" y="254507"/>
                  </a:lnTo>
                  <a:lnTo>
                    <a:pt x="4262628" y="254507"/>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45" name="object 45"/>
          <p:cNvSpPr txBox="1"/>
          <p:nvPr/>
        </p:nvSpPr>
        <p:spPr>
          <a:xfrm>
            <a:off x="6066537" y="5220750"/>
            <a:ext cx="3756660" cy="221365"/>
          </a:xfrm>
          <a:prstGeom prst="rect">
            <a:avLst/>
          </a:prstGeom>
        </p:spPr>
        <p:txBody>
          <a:bodyPr vert="horz" wrap="square" lIns="0" tIns="16087" rIns="0" bIns="0" rtlCol="0">
            <a:spAutoFit/>
          </a:bodyPr>
          <a:lstStyle/>
          <a:p>
            <a:pPr marL="16933" defTabSz="1219170">
              <a:spcBef>
                <a:spcPts val="127"/>
              </a:spcBef>
            </a:pPr>
            <a:r>
              <a:rPr sz="1333" spc="47" dirty="0">
                <a:solidFill>
                  <a:srgbClr val="D9D9D9"/>
                </a:solidFill>
                <a:latin typeface="Arial"/>
                <a:cs typeface="Arial"/>
              </a:rPr>
              <a:t>&lt;config-name&gt;</a:t>
            </a:r>
            <a:r>
              <a:rPr sz="1333" spc="360" dirty="0">
                <a:solidFill>
                  <a:srgbClr val="D9D9D9"/>
                </a:solidFill>
                <a:latin typeface="Arial"/>
                <a:cs typeface="Arial"/>
              </a:rPr>
              <a:t> </a:t>
            </a:r>
            <a:r>
              <a:rPr sz="1333" spc="173" dirty="0">
                <a:solidFill>
                  <a:srgbClr val="D9D9D9"/>
                </a:solidFill>
                <a:latin typeface="Arial"/>
                <a:cs typeface="Arial"/>
              </a:rPr>
              <a:t>--from-file=&lt;path-to-file&gt;</a:t>
            </a:r>
            <a:endParaRPr sz="1333">
              <a:solidFill>
                <a:prstClr val="black"/>
              </a:solidFill>
              <a:latin typeface="Arial"/>
              <a:cs typeface="Arial"/>
            </a:endParaRPr>
          </a:p>
        </p:txBody>
      </p:sp>
      <p:grpSp>
        <p:nvGrpSpPr>
          <p:cNvPr id="46" name="object 46"/>
          <p:cNvGrpSpPr/>
          <p:nvPr/>
        </p:nvGrpSpPr>
        <p:grpSpPr>
          <a:xfrm>
            <a:off x="5311648" y="5736336"/>
            <a:ext cx="5836073" cy="833120"/>
            <a:chOff x="3983735" y="4302252"/>
            <a:chExt cx="4377055" cy="624840"/>
          </a:xfrm>
        </p:grpSpPr>
        <p:sp>
          <p:nvSpPr>
            <p:cNvPr id="47" name="object 47"/>
            <p:cNvSpPr/>
            <p:nvPr/>
          </p:nvSpPr>
          <p:spPr>
            <a:xfrm>
              <a:off x="3983735" y="4302252"/>
              <a:ext cx="4376927" cy="367322"/>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8" name="object 48"/>
            <p:cNvSpPr/>
            <p:nvPr/>
          </p:nvSpPr>
          <p:spPr>
            <a:xfrm>
              <a:off x="4142231" y="4309872"/>
              <a:ext cx="2124456" cy="384098"/>
            </a:xfrm>
            <a:prstGeom prst="rect">
              <a:avLst/>
            </a:prstGeom>
            <a:blipFill>
              <a:blip r:embed="rId1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9" name="object 49"/>
            <p:cNvSpPr/>
            <p:nvPr/>
          </p:nvSpPr>
          <p:spPr>
            <a:xfrm>
              <a:off x="4043171" y="4341876"/>
              <a:ext cx="4262755" cy="254635"/>
            </a:xfrm>
            <a:custGeom>
              <a:avLst/>
              <a:gdLst/>
              <a:ahLst/>
              <a:cxnLst/>
              <a:rect l="l" t="t" r="r" b="b"/>
              <a:pathLst>
                <a:path w="4262755" h="254635">
                  <a:moveTo>
                    <a:pt x="4262628" y="0"/>
                  </a:moveTo>
                  <a:lnTo>
                    <a:pt x="0" y="0"/>
                  </a:lnTo>
                  <a:lnTo>
                    <a:pt x="0" y="254508"/>
                  </a:lnTo>
                  <a:lnTo>
                    <a:pt x="4262628" y="254508"/>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sp>
          <p:nvSpPr>
            <p:cNvPr id="50" name="object 50"/>
            <p:cNvSpPr/>
            <p:nvPr/>
          </p:nvSpPr>
          <p:spPr>
            <a:xfrm>
              <a:off x="4061784" y="4354105"/>
              <a:ext cx="160020" cy="20574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51" name="object 51"/>
            <p:cNvSpPr/>
            <p:nvPr/>
          </p:nvSpPr>
          <p:spPr>
            <a:xfrm>
              <a:off x="3983735" y="4538472"/>
              <a:ext cx="4376927" cy="365810"/>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2" name="object 52"/>
            <p:cNvSpPr/>
            <p:nvPr/>
          </p:nvSpPr>
          <p:spPr>
            <a:xfrm>
              <a:off x="4419599" y="4546092"/>
              <a:ext cx="3337559" cy="380987"/>
            </a:xfrm>
            <a:prstGeom prst="rect">
              <a:avLst/>
            </a:prstGeom>
            <a:blipFill>
              <a:blip r:embed="rId1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3" name="object 53"/>
            <p:cNvSpPr/>
            <p:nvPr/>
          </p:nvSpPr>
          <p:spPr>
            <a:xfrm>
              <a:off x="4043171" y="4578096"/>
              <a:ext cx="4262755" cy="253365"/>
            </a:xfrm>
            <a:custGeom>
              <a:avLst/>
              <a:gdLst/>
              <a:ahLst/>
              <a:cxnLst/>
              <a:rect l="l" t="t" r="r" b="b"/>
              <a:pathLst>
                <a:path w="4262755" h="253364">
                  <a:moveTo>
                    <a:pt x="4262628" y="0"/>
                  </a:moveTo>
                  <a:lnTo>
                    <a:pt x="0" y="0"/>
                  </a:lnTo>
                  <a:lnTo>
                    <a:pt x="0" y="252983"/>
                  </a:lnTo>
                  <a:lnTo>
                    <a:pt x="4262628" y="252983"/>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54" name="object 54"/>
          <p:cNvSpPr txBox="1"/>
          <p:nvPr/>
        </p:nvSpPr>
        <p:spPr>
          <a:xfrm>
            <a:off x="5688585" y="5716048"/>
            <a:ext cx="4496647" cy="655606"/>
          </a:xfrm>
          <a:prstGeom prst="rect">
            <a:avLst/>
          </a:prstGeom>
        </p:spPr>
        <p:txBody>
          <a:bodyPr vert="horz" wrap="square" lIns="0" tIns="128693" rIns="0" bIns="0" rtlCol="0">
            <a:spAutoFit/>
          </a:bodyPr>
          <a:lstStyle/>
          <a:p>
            <a:pPr marL="16933" defTabSz="1219170">
              <a:spcBef>
                <a:spcPts val="1013"/>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53" dirty="0" err="1">
                <a:solidFill>
                  <a:srgbClr val="D9D9D9"/>
                </a:solidFill>
                <a:latin typeface="Arial"/>
                <a:cs typeface="Arial"/>
              </a:rPr>
              <a:t>configmap</a:t>
            </a:r>
            <a:r>
              <a:rPr sz="1333" spc="-80" dirty="0">
                <a:solidFill>
                  <a:srgbClr val="D9D9D9"/>
                </a:solidFill>
                <a:latin typeface="Arial"/>
                <a:cs typeface="Arial"/>
              </a:rPr>
              <a:t> </a:t>
            </a:r>
            <a:r>
              <a:rPr sz="1333" spc="367" dirty="0">
                <a:solidFill>
                  <a:srgbClr val="D9D9D9"/>
                </a:solidFill>
                <a:latin typeface="Arial"/>
                <a:cs typeface="Arial"/>
              </a:rPr>
              <a:t>\</a:t>
            </a:r>
            <a:endParaRPr sz="1333" dirty="0">
              <a:solidFill>
                <a:prstClr val="black"/>
              </a:solidFill>
              <a:latin typeface="Arial"/>
              <a:cs typeface="Arial"/>
            </a:endParaRPr>
          </a:p>
          <a:p>
            <a:pPr marL="386070" defTabSz="1219170">
              <a:spcBef>
                <a:spcPts val="867"/>
              </a:spcBef>
            </a:pPr>
            <a:r>
              <a:rPr sz="1333" spc="100" dirty="0">
                <a:solidFill>
                  <a:srgbClr val="D9D9D9"/>
                </a:solidFill>
                <a:latin typeface="Arial"/>
                <a:cs typeface="Arial"/>
              </a:rPr>
              <a:t>app-config</a:t>
            </a:r>
            <a:r>
              <a:rPr sz="1333" spc="387" dirty="0">
                <a:solidFill>
                  <a:srgbClr val="D9D9D9"/>
                </a:solidFill>
                <a:latin typeface="Arial"/>
                <a:cs typeface="Arial"/>
              </a:rPr>
              <a:t> </a:t>
            </a:r>
            <a:r>
              <a:rPr sz="1333" spc="140" dirty="0">
                <a:solidFill>
                  <a:srgbClr val="D9D9D9"/>
                </a:solidFill>
                <a:latin typeface="Arial"/>
                <a:cs typeface="Arial"/>
              </a:rPr>
              <a:t>--from-file=app_config.properties</a:t>
            </a:r>
            <a:endParaRPr sz="1333" dirty="0">
              <a:solidFill>
                <a:prstClr val="black"/>
              </a:solidFill>
              <a:latin typeface="Arial"/>
              <a:cs typeface="Arial"/>
            </a:endParaRPr>
          </a:p>
        </p:txBody>
      </p:sp>
    </p:spTree>
    <p:extLst>
      <p:ext uri="{BB962C8B-B14F-4D97-AF65-F5344CB8AC3E}">
        <p14:creationId xmlns:p14="http://schemas.microsoft.com/office/powerpoint/2010/main" val="16005237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26137"/>
            <a:ext cx="5475393" cy="694207"/>
          </a:xfrm>
          <a:prstGeom prst="rect">
            <a:avLst/>
          </a:prstGeom>
        </p:spPr>
        <p:txBody>
          <a:bodyPr vert="horz" wrap="square" lIns="0" tIns="16933" rIns="0" bIns="0" rtlCol="0">
            <a:spAutoFit/>
          </a:bodyPr>
          <a:lstStyle/>
          <a:p>
            <a:pPr marL="16933">
              <a:spcBef>
                <a:spcPts val="133"/>
              </a:spcBef>
            </a:pPr>
            <a:r>
              <a:rPr spc="40" dirty="0">
                <a:solidFill>
                  <a:schemeClr val="tx1"/>
                </a:solidFill>
              </a:rPr>
              <a:t>Create</a:t>
            </a:r>
            <a:r>
              <a:rPr spc="-447" dirty="0">
                <a:solidFill>
                  <a:schemeClr val="tx1"/>
                </a:solidFill>
              </a:rPr>
              <a:t> </a:t>
            </a:r>
            <a:r>
              <a:rPr spc="140" dirty="0">
                <a:solidFill>
                  <a:schemeClr val="tx1"/>
                </a:solidFill>
              </a:rPr>
              <a:t>ConfigMaps</a:t>
            </a:r>
          </a:p>
        </p:txBody>
      </p:sp>
      <p:sp>
        <p:nvSpPr>
          <p:cNvPr id="4" name="object 4"/>
          <p:cNvSpPr txBox="1"/>
          <p:nvPr/>
        </p:nvSpPr>
        <p:spPr>
          <a:xfrm>
            <a:off x="979424" y="1946655"/>
            <a:ext cx="2993813" cy="615681"/>
          </a:xfrm>
          <a:prstGeom prst="rect">
            <a:avLst/>
          </a:prstGeom>
          <a:solidFill>
            <a:srgbClr val="2B2B2B"/>
          </a:solidFill>
        </p:spPr>
        <p:txBody>
          <a:bodyPr vert="horz" wrap="square" lIns="0" tIns="40640" rIns="0" bIns="0" rtlCol="0">
            <a:spAutoFit/>
          </a:bodyPr>
          <a:lstStyle/>
          <a:p>
            <a:pPr marL="121070" marR="733195" defTabSz="1219170">
              <a:spcBef>
                <a:spcPts val="320"/>
              </a:spcBef>
            </a:pPr>
            <a:r>
              <a:rPr sz="1867" spc="-7" dirty="0">
                <a:solidFill>
                  <a:srgbClr val="9776AA"/>
                </a:solidFill>
                <a:latin typeface="Courier New"/>
                <a:cs typeface="Courier New"/>
              </a:rPr>
              <a:t>APP_COLOR</a:t>
            </a:r>
            <a:r>
              <a:rPr sz="1867" spc="-7" dirty="0">
                <a:solidFill>
                  <a:srgbClr val="A9B7C5"/>
                </a:solidFill>
                <a:latin typeface="Courier New"/>
                <a:cs typeface="Courier New"/>
              </a:rPr>
              <a:t>:</a:t>
            </a:r>
            <a:r>
              <a:rPr sz="1867" spc="-120" dirty="0">
                <a:solidFill>
                  <a:srgbClr val="A9B7C5"/>
                </a:solidFill>
                <a:latin typeface="Courier New"/>
                <a:cs typeface="Courier New"/>
              </a:rPr>
              <a:t> </a:t>
            </a:r>
            <a:r>
              <a:rPr sz="1867" spc="-7" dirty="0">
                <a:solidFill>
                  <a:srgbClr val="A9B7C5"/>
                </a:solidFill>
                <a:latin typeface="Courier New"/>
                <a:cs typeface="Courier New"/>
              </a:rPr>
              <a:t>blue  </a:t>
            </a:r>
            <a:r>
              <a:rPr sz="1867" spc="-7" dirty="0">
                <a:solidFill>
                  <a:srgbClr val="9776AA"/>
                </a:solidFill>
                <a:latin typeface="Courier New"/>
                <a:cs typeface="Courier New"/>
              </a:rPr>
              <a:t>APP_MODE</a:t>
            </a:r>
            <a:r>
              <a:rPr sz="1867" spc="-7" dirty="0">
                <a:solidFill>
                  <a:srgbClr val="A9B7C5"/>
                </a:solidFill>
                <a:latin typeface="Courier New"/>
                <a:cs typeface="Courier New"/>
              </a:rPr>
              <a:t>:</a:t>
            </a:r>
            <a:r>
              <a:rPr sz="1867" spc="-60" dirty="0">
                <a:solidFill>
                  <a:srgbClr val="A9B7C5"/>
                </a:solidFill>
                <a:latin typeface="Courier New"/>
                <a:cs typeface="Courier New"/>
              </a:rPr>
              <a:t> </a:t>
            </a:r>
            <a:r>
              <a:rPr sz="1867" spc="-7" dirty="0">
                <a:solidFill>
                  <a:srgbClr val="A9B7C5"/>
                </a:solidFill>
                <a:latin typeface="Courier New"/>
                <a:cs typeface="Courier New"/>
              </a:rPr>
              <a:t>prod</a:t>
            </a:r>
            <a:endParaRPr sz="1867">
              <a:solidFill>
                <a:prstClr val="black"/>
              </a:solidFill>
              <a:latin typeface="Courier New"/>
              <a:cs typeface="Courier New"/>
            </a:endParaRPr>
          </a:p>
        </p:txBody>
      </p:sp>
      <p:sp>
        <p:nvSpPr>
          <p:cNvPr id="5" name="object 5"/>
          <p:cNvSpPr txBox="1"/>
          <p:nvPr/>
        </p:nvSpPr>
        <p:spPr>
          <a:xfrm>
            <a:off x="1786128" y="1546352"/>
            <a:ext cx="1380067" cy="325729"/>
          </a:xfrm>
          <a:prstGeom prst="rect">
            <a:avLst/>
          </a:prstGeom>
          <a:solidFill>
            <a:srgbClr val="000000">
              <a:alpha val="50195"/>
            </a:srgbClr>
          </a:solidFill>
        </p:spPr>
        <p:txBody>
          <a:bodyPr vert="horz" wrap="square" lIns="0" tIns="48259" rIns="0" bIns="0" rtlCol="0">
            <a:spAutoFit/>
          </a:bodyPr>
          <a:lstStyle/>
          <a:p>
            <a:pPr marL="121917" defTabSz="1219170">
              <a:spcBef>
                <a:spcPts val="379"/>
              </a:spcBef>
            </a:pPr>
            <a:r>
              <a:rPr spc="-20" dirty="0">
                <a:solidFill>
                  <a:srgbClr val="FFFFFF"/>
                </a:solidFill>
                <a:latin typeface="Noto Sans"/>
                <a:cs typeface="Noto Sans"/>
              </a:rPr>
              <a:t>ConfigMap</a:t>
            </a:r>
            <a:endParaRPr dirty="0">
              <a:solidFill>
                <a:prstClr val="black"/>
              </a:solidFill>
              <a:latin typeface="Noto Sans"/>
              <a:cs typeface="Noto Sans"/>
            </a:endParaRPr>
          </a:p>
        </p:txBody>
      </p:sp>
      <p:grpSp>
        <p:nvGrpSpPr>
          <p:cNvPr id="8" name="object 8"/>
          <p:cNvGrpSpPr/>
          <p:nvPr/>
        </p:nvGrpSpPr>
        <p:grpSpPr>
          <a:xfrm>
            <a:off x="5281169" y="1469069"/>
            <a:ext cx="5836073" cy="522393"/>
            <a:chOff x="3960876" y="1101801"/>
            <a:chExt cx="4377055" cy="391795"/>
          </a:xfrm>
        </p:grpSpPr>
        <p:sp>
          <p:nvSpPr>
            <p:cNvPr id="9" name="object 9"/>
            <p:cNvSpPr/>
            <p:nvPr/>
          </p:nvSpPr>
          <p:spPr>
            <a:xfrm>
              <a:off x="3960876" y="1101801"/>
              <a:ext cx="4376928" cy="365810"/>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119372" y="1109421"/>
              <a:ext cx="1552955" cy="384098"/>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4020312" y="1141475"/>
              <a:ext cx="4262755" cy="253365"/>
            </a:xfrm>
            <a:custGeom>
              <a:avLst/>
              <a:gdLst/>
              <a:ahLst/>
              <a:cxnLst/>
              <a:rect l="l" t="t" r="r" b="b"/>
              <a:pathLst>
                <a:path w="4262755" h="253365">
                  <a:moveTo>
                    <a:pt x="4262628" y="0"/>
                  </a:moveTo>
                  <a:lnTo>
                    <a:pt x="0" y="0"/>
                  </a:lnTo>
                  <a:lnTo>
                    <a:pt x="0" y="252984"/>
                  </a:lnTo>
                  <a:lnTo>
                    <a:pt x="4262628" y="252984"/>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12" name="object 12"/>
          <p:cNvSpPr txBox="1"/>
          <p:nvPr/>
        </p:nvSpPr>
        <p:spPr>
          <a:xfrm>
            <a:off x="5360416" y="1521967"/>
            <a:ext cx="5683673" cy="259837"/>
          </a:xfrm>
          <a:prstGeom prst="rect">
            <a:avLst/>
          </a:prstGeom>
        </p:spPr>
        <p:txBody>
          <a:bodyPr vert="horz" wrap="square" lIns="0" tIns="54187" rIns="0" bIns="0" rtlCol="0">
            <a:spAutoFit/>
          </a:bodyPr>
          <a:lstStyle/>
          <a:p>
            <a:pPr marL="314105" defTabSz="1219170">
              <a:spcBef>
                <a:spcPts val="427"/>
              </a:spcBef>
            </a:pPr>
            <a:r>
              <a:rPr sz="1333" spc="140" dirty="0">
                <a:solidFill>
                  <a:srgbClr val="D9D9D9"/>
                </a:solidFill>
                <a:latin typeface="Arial"/>
                <a:cs typeface="Arial"/>
              </a:rPr>
              <a:t>kubectl </a:t>
            </a:r>
            <a:r>
              <a:rPr sz="1333" spc="120" dirty="0">
                <a:solidFill>
                  <a:srgbClr val="D9D9D9"/>
                </a:solidFill>
                <a:latin typeface="Arial"/>
                <a:cs typeface="Arial"/>
              </a:rPr>
              <a:t>create</a:t>
            </a:r>
            <a:r>
              <a:rPr sz="1333" spc="133" dirty="0">
                <a:solidFill>
                  <a:srgbClr val="D9D9D9"/>
                </a:solidFill>
                <a:latin typeface="Arial"/>
                <a:cs typeface="Arial"/>
              </a:rPr>
              <a:t> </a:t>
            </a:r>
            <a:r>
              <a:rPr sz="1333" spc="180" dirty="0">
                <a:solidFill>
                  <a:srgbClr val="D9D9D9"/>
                </a:solidFill>
                <a:latin typeface="Arial"/>
                <a:cs typeface="Arial"/>
              </a:rPr>
              <a:t>–f</a:t>
            </a:r>
            <a:endParaRPr sz="1333" dirty="0">
              <a:solidFill>
                <a:prstClr val="black"/>
              </a:solidFill>
              <a:latin typeface="Arial"/>
              <a:cs typeface="Arial"/>
            </a:endParaRPr>
          </a:p>
        </p:txBody>
      </p:sp>
      <p:sp>
        <p:nvSpPr>
          <p:cNvPr id="18" name="object 18"/>
          <p:cNvSpPr txBox="1"/>
          <p:nvPr/>
        </p:nvSpPr>
        <p:spPr>
          <a:xfrm>
            <a:off x="5360415" y="2367281"/>
            <a:ext cx="1957493" cy="324875"/>
          </a:xfrm>
          <a:prstGeom prst="rect">
            <a:avLst/>
          </a:prstGeom>
          <a:solidFill>
            <a:srgbClr val="000000">
              <a:alpha val="50195"/>
            </a:srgbClr>
          </a:solidFill>
        </p:spPr>
        <p:txBody>
          <a:bodyPr vert="horz" wrap="square" lIns="0" tIns="47413" rIns="0" bIns="0" rtlCol="0">
            <a:spAutoFit/>
          </a:bodyPr>
          <a:lstStyle/>
          <a:p>
            <a:pPr marL="121070" defTabSz="1219170">
              <a:spcBef>
                <a:spcPts val="373"/>
              </a:spcBef>
            </a:pPr>
            <a:r>
              <a:rPr spc="-20" dirty="0">
                <a:solidFill>
                  <a:srgbClr val="FFFFFF"/>
                </a:solidFill>
                <a:latin typeface="Noto Sans"/>
                <a:cs typeface="Noto Sans"/>
              </a:rPr>
              <a:t>config-map.yaml</a:t>
            </a:r>
            <a:endParaRPr>
              <a:solidFill>
                <a:prstClr val="black"/>
              </a:solidFill>
              <a:latin typeface="Noto Sans"/>
              <a:cs typeface="Noto Sans"/>
            </a:endParaRPr>
          </a:p>
        </p:txBody>
      </p:sp>
      <p:sp>
        <p:nvSpPr>
          <p:cNvPr id="19" name="object 19"/>
          <p:cNvSpPr txBox="1"/>
          <p:nvPr/>
        </p:nvSpPr>
        <p:spPr>
          <a:xfrm>
            <a:off x="5360415" y="2767584"/>
            <a:ext cx="6226387" cy="2071615"/>
          </a:xfrm>
          <a:prstGeom prst="rect">
            <a:avLst/>
          </a:prstGeom>
          <a:solidFill>
            <a:srgbClr val="2B2B2B"/>
          </a:solidFill>
        </p:spPr>
        <p:txBody>
          <a:bodyPr vert="horz" wrap="square" lIns="0" tIns="26247" rIns="0" bIns="0" rtlCol="0">
            <a:spAutoFit/>
          </a:bodyPr>
          <a:lstStyle/>
          <a:p>
            <a:pPr marL="121070" marR="3964841" defTabSz="1219170">
              <a:spcBef>
                <a:spcPts val="207"/>
              </a:spcBef>
            </a:pPr>
            <a:r>
              <a:rPr sz="1867" spc="-7" dirty="0">
                <a:solidFill>
                  <a:srgbClr val="9776AA"/>
                </a:solidFill>
                <a:latin typeface="Courier New"/>
                <a:cs typeface="Courier New"/>
              </a:rPr>
              <a:t>apiVersion</a:t>
            </a:r>
            <a:r>
              <a:rPr sz="1867" spc="-7" dirty="0">
                <a:solidFill>
                  <a:srgbClr val="A9B7C5"/>
                </a:solidFill>
                <a:latin typeface="Courier New"/>
                <a:cs typeface="Courier New"/>
              </a:rPr>
              <a:t>: </a:t>
            </a:r>
            <a:r>
              <a:rPr sz="2800" spc="-9" baseline="-3968" dirty="0">
                <a:solidFill>
                  <a:srgbClr val="A9B7C5"/>
                </a:solidFill>
                <a:latin typeface="Courier New"/>
                <a:cs typeface="Courier New"/>
              </a:rPr>
              <a:t>v1  </a:t>
            </a:r>
            <a:r>
              <a:rPr sz="2800" spc="-9" baseline="3968" dirty="0">
                <a:solidFill>
                  <a:srgbClr val="9776AA"/>
                </a:solidFill>
                <a:latin typeface="Courier New"/>
                <a:cs typeface="Courier New"/>
              </a:rPr>
              <a:t>kind</a:t>
            </a:r>
            <a:r>
              <a:rPr sz="2800" spc="-9" baseline="3968" dirty="0">
                <a:solidFill>
                  <a:srgbClr val="A9B7C5"/>
                </a:solidFill>
                <a:latin typeface="Courier New"/>
                <a:cs typeface="Courier New"/>
              </a:rPr>
              <a:t>:</a:t>
            </a:r>
            <a:r>
              <a:rPr sz="2800" spc="-200" baseline="3968" dirty="0">
                <a:solidFill>
                  <a:srgbClr val="A9B7C5"/>
                </a:solidFill>
                <a:latin typeface="Courier New"/>
                <a:cs typeface="Courier New"/>
              </a:rPr>
              <a:t> </a:t>
            </a:r>
            <a:r>
              <a:rPr sz="1867" spc="-7" dirty="0">
                <a:solidFill>
                  <a:srgbClr val="A9B7C5"/>
                </a:solidFill>
                <a:latin typeface="Courier New"/>
                <a:cs typeface="Courier New"/>
              </a:rPr>
              <a:t>ConfigMap  </a:t>
            </a:r>
            <a:r>
              <a:rPr sz="1867" spc="-7" dirty="0">
                <a:solidFill>
                  <a:srgbClr val="9776AA"/>
                </a:solidFill>
                <a:latin typeface="Courier New"/>
                <a:cs typeface="Courier New"/>
              </a:rPr>
              <a:t>metadata</a:t>
            </a:r>
            <a:r>
              <a:rPr sz="1867" spc="-7" dirty="0">
                <a:solidFill>
                  <a:srgbClr val="A9B7C5"/>
                </a:solidFill>
                <a:latin typeface="Courier New"/>
                <a:cs typeface="Courier New"/>
              </a:rPr>
              <a:t>:</a:t>
            </a:r>
            <a:endParaRPr sz="1867" dirty="0">
              <a:solidFill>
                <a:prstClr val="black"/>
              </a:solidFill>
              <a:latin typeface="Courier New"/>
              <a:cs typeface="Courier New"/>
            </a:endParaRPr>
          </a:p>
          <a:p>
            <a:pPr marL="121070" marR="3512732" indent="309026" defTabSz="1219170">
              <a:lnSpc>
                <a:spcPts val="1920"/>
              </a:lnSpc>
              <a:spcBef>
                <a:spcPts val="660"/>
              </a:spcBef>
            </a:pPr>
            <a:r>
              <a:rPr sz="1867" spc="-7" dirty="0">
                <a:solidFill>
                  <a:srgbClr val="9776AA"/>
                </a:solidFill>
                <a:latin typeface="Courier New"/>
                <a:cs typeface="Courier New"/>
              </a:rPr>
              <a:t>name</a:t>
            </a:r>
            <a:r>
              <a:rPr sz="1867" spc="-7" dirty="0">
                <a:solidFill>
                  <a:srgbClr val="A9B7C5"/>
                </a:solidFill>
                <a:latin typeface="Courier New"/>
                <a:cs typeface="Courier New"/>
              </a:rPr>
              <a:t>: </a:t>
            </a:r>
            <a:r>
              <a:rPr sz="1867" spc="-13" dirty="0">
                <a:solidFill>
                  <a:srgbClr val="A9B7C5"/>
                </a:solidFill>
                <a:latin typeface="Courier New"/>
                <a:cs typeface="Courier New"/>
              </a:rPr>
              <a:t>app-config  </a:t>
            </a:r>
            <a:r>
              <a:rPr sz="1867" spc="-7" dirty="0">
                <a:solidFill>
                  <a:srgbClr val="9776AA"/>
                </a:solidFill>
                <a:latin typeface="Courier New"/>
                <a:cs typeface="Courier New"/>
              </a:rPr>
              <a:t>data</a:t>
            </a:r>
            <a:r>
              <a:rPr sz="1867" spc="-7" dirty="0">
                <a:solidFill>
                  <a:srgbClr val="A9B7C5"/>
                </a:solidFill>
                <a:latin typeface="Courier New"/>
                <a:cs typeface="Courier New"/>
              </a:rPr>
              <a:t>:</a:t>
            </a:r>
            <a:endParaRPr sz="1867" dirty="0">
              <a:solidFill>
                <a:prstClr val="black"/>
              </a:solidFill>
              <a:latin typeface="Courier New"/>
              <a:cs typeface="Courier New"/>
            </a:endParaRPr>
          </a:p>
          <a:p>
            <a:pPr marL="411470" marR="3675288" defTabSz="1219170">
              <a:lnSpc>
                <a:spcPct val="101400"/>
              </a:lnSpc>
              <a:spcBef>
                <a:spcPts val="227"/>
              </a:spcBef>
            </a:pPr>
            <a:r>
              <a:rPr sz="1867" spc="-7" dirty="0">
                <a:solidFill>
                  <a:srgbClr val="9776AA"/>
                </a:solidFill>
                <a:latin typeface="Courier New"/>
                <a:cs typeface="Courier New"/>
              </a:rPr>
              <a:t>APP_COLOR</a:t>
            </a:r>
            <a:r>
              <a:rPr sz="1867" spc="-7" dirty="0">
                <a:solidFill>
                  <a:srgbClr val="A9B7C5"/>
                </a:solidFill>
                <a:latin typeface="Courier New"/>
                <a:cs typeface="Courier New"/>
              </a:rPr>
              <a:t>:</a:t>
            </a:r>
            <a:r>
              <a:rPr sz="1867" spc="-127" dirty="0">
                <a:solidFill>
                  <a:srgbClr val="A9B7C5"/>
                </a:solidFill>
                <a:latin typeface="Courier New"/>
                <a:cs typeface="Courier New"/>
              </a:rPr>
              <a:t> </a:t>
            </a:r>
            <a:r>
              <a:rPr sz="1867" spc="-7" dirty="0">
                <a:solidFill>
                  <a:srgbClr val="A9B7C5"/>
                </a:solidFill>
                <a:latin typeface="Courier New"/>
                <a:cs typeface="Courier New"/>
              </a:rPr>
              <a:t>blue  </a:t>
            </a:r>
            <a:r>
              <a:rPr sz="1867" spc="-7" dirty="0">
                <a:solidFill>
                  <a:srgbClr val="9776AA"/>
                </a:solidFill>
                <a:latin typeface="Courier New"/>
                <a:cs typeface="Courier New"/>
              </a:rPr>
              <a:t>APP_MODE</a:t>
            </a:r>
            <a:r>
              <a:rPr sz="1867" spc="-7" dirty="0">
                <a:solidFill>
                  <a:srgbClr val="A9B7C5"/>
                </a:solidFill>
                <a:latin typeface="Courier New"/>
                <a:cs typeface="Courier New"/>
              </a:rPr>
              <a:t>:</a:t>
            </a:r>
            <a:r>
              <a:rPr sz="1867" spc="-60" dirty="0">
                <a:solidFill>
                  <a:srgbClr val="A9B7C5"/>
                </a:solidFill>
                <a:latin typeface="Courier New"/>
                <a:cs typeface="Courier New"/>
              </a:rPr>
              <a:t> </a:t>
            </a:r>
            <a:r>
              <a:rPr sz="1867" spc="-7" dirty="0">
                <a:solidFill>
                  <a:srgbClr val="A9B7C5"/>
                </a:solidFill>
                <a:latin typeface="Courier New"/>
                <a:cs typeface="Courier New"/>
              </a:rPr>
              <a:t>prod</a:t>
            </a:r>
            <a:endParaRPr sz="1867" dirty="0">
              <a:solidFill>
                <a:prstClr val="black"/>
              </a:solidFill>
              <a:latin typeface="Courier New"/>
              <a:cs typeface="Courier New"/>
            </a:endParaRPr>
          </a:p>
        </p:txBody>
      </p:sp>
      <p:grpSp>
        <p:nvGrpSpPr>
          <p:cNvPr id="20" name="object 20"/>
          <p:cNvGrpSpPr/>
          <p:nvPr/>
        </p:nvGrpSpPr>
        <p:grpSpPr>
          <a:xfrm>
            <a:off x="5311648" y="5736337"/>
            <a:ext cx="5836073" cy="522393"/>
            <a:chOff x="3983735" y="4302252"/>
            <a:chExt cx="4377055" cy="391795"/>
          </a:xfrm>
        </p:grpSpPr>
        <p:sp>
          <p:nvSpPr>
            <p:cNvPr id="21" name="object 21"/>
            <p:cNvSpPr/>
            <p:nvPr/>
          </p:nvSpPr>
          <p:spPr>
            <a:xfrm>
              <a:off x="3983735" y="4302252"/>
              <a:ext cx="4376927" cy="367322"/>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2" name="object 22"/>
            <p:cNvSpPr/>
            <p:nvPr/>
          </p:nvSpPr>
          <p:spPr>
            <a:xfrm>
              <a:off x="4142231" y="4309872"/>
              <a:ext cx="2624327" cy="384098"/>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3" name="object 23"/>
            <p:cNvSpPr/>
            <p:nvPr/>
          </p:nvSpPr>
          <p:spPr>
            <a:xfrm>
              <a:off x="4043171" y="4341876"/>
              <a:ext cx="4262755" cy="254635"/>
            </a:xfrm>
            <a:custGeom>
              <a:avLst/>
              <a:gdLst/>
              <a:ahLst/>
              <a:cxnLst/>
              <a:rect l="l" t="t" r="r" b="b"/>
              <a:pathLst>
                <a:path w="4262755" h="254635">
                  <a:moveTo>
                    <a:pt x="4262628" y="0"/>
                  </a:moveTo>
                  <a:lnTo>
                    <a:pt x="0" y="0"/>
                  </a:lnTo>
                  <a:lnTo>
                    <a:pt x="0" y="254508"/>
                  </a:lnTo>
                  <a:lnTo>
                    <a:pt x="4262628" y="254508"/>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24" name="object 24"/>
          <p:cNvSpPr txBox="1"/>
          <p:nvPr/>
        </p:nvSpPr>
        <p:spPr>
          <a:xfrm>
            <a:off x="5390896" y="5789169"/>
            <a:ext cx="5683673" cy="261546"/>
          </a:xfrm>
          <a:prstGeom prst="rect">
            <a:avLst/>
          </a:prstGeom>
        </p:spPr>
        <p:txBody>
          <a:bodyPr vert="horz" wrap="square" lIns="0" tIns="55880" rIns="0" bIns="0" rtlCol="0">
            <a:spAutoFit/>
          </a:bodyPr>
          <a:lstStyle/>
          <a:p>
            <a:pPr marL="314105" defTabSz="1219170">
              <a:spcBef>
                <a:spcPts val="440"/>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80" dirty="0">
                <a:solidFill>
                  <a:srgbClr val="D9D9D9"/>
                </a:solidFill>
                <a:latin typeface="Arial"/>
                <a:cs typeface="Arial"/>
              </a:rPr>
              <a:t>–f</a:t>
            </a:r>
            <a:r>
              <a:rPr sz="1333" spc="-93" dirty="0">
                <a:solidFill>
                  <a:srgbClr val="D9D9D9"/>
                </a:solidFill>
                <a:latin typeface="Arial"/>
                <a:cs typeface="Arial"/>
              </a:rPr>
              <a:t> </a:t>
            </a:r>
            <a:r>
              <a:rPr sz="1333" spc="87" dirty="0">
                <a:solidFill>
                  <a:srgbClr val="D9D9D9"/>
                </a:solidFill>
                <a:latin typeface="Arial"/>
                <a:cs typeface="Arial"/>
              </a:rPr>
              <a:t>config-map.yaml</a:t>
            </a:r>
            <a:endParaRPr sz="1333" dirty="0">
              <a:solidFill>
                <a:prstClr val="black"/>
              </a:solidFill>
              <a:latin typeface="Arial"/>
              <a:cs typeface="Arial"/>
            </a:endParaRPr>
          </a:p>
        </p:txBody>
      </p:sp>
      <p:sp>
        <p:nvSpPr>
          <p:cNvPr id="25" name="object 25"/>
          <p:cNvSpPr/>
          <p:nvPr/>
        </p:nvSpPr>
        <p:spPr>
          <a:xfrm>
            <a:off x="5415712" y="5805473"/>
            <a:ext cx="213360" cy="27432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Tree>
    <p:extLst>
      <p:ext uri="{BB962C8B-B14F-4D97-AF65-F5344CB8AC3E}">
        <p14:creationId xmlns:p14="http://schemas.microsoft.com/office/powerpoint/2010/main" val="35396697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26137"/>
            <a:ext cx="4992793" cy="694207"/>
          </a:xfrm>
          <a:prstGeom prst="rect">
            <a:avLst/>
          </a:prstGeom>
        </p:spPr>
        <p:txBody>
          <a:bodyPr vert="horz" wrap="square" lIns="0" tIns="16933" rIns="0" bIns="0" rtlCol="0">
            <a:spAutoFit/>
          </a:bodyPr>
          <a:lstStyle/>
          <a:p>
            <a:pPr marL="16933">
              <a:spcBef>
                <a:spcPts val="133"/>
              </a:spcBef>
            </a:pPr>
            <a:r>
              <a:rPr spc="140" dirty="0">
                <a:solidFill>
                  <a:schemeClr val="tx1"/>
                </a:solidFill>
              </a:rPr>
              <a:t>View</a:t>
            </a:r>
            <a:r>
              <a:rPr spc="-433" dirty="0">
                <a:solidFill>
                  <a:schemeClr val="tx1"/>
                </a:solidFill>
              </a:rPr>
              <a:t> </a:t>
            </a:r>
            <a:r>
              <a:rPr spc="140" dirty="0">
                <a:solidFill>
                  <a:schemeClr val="tx1"/>
                </a:solidFill>
              </a:rPr>
              <a:t>ConfigMaps</a:t>
            </a:r>
          </a:p>
        </p:txBody>
      </p:sp>
      <p:grpSp>
        <p:nvGrpSpPr>
          <p:cNvPr id="4" name="object 4"/>
          <p:cNvGrpSpPr/>
          <p:nvPr/>
        </p:nvGrpSpPr>
        <p:grpSpPr>
          <a:xfrm>
            <a:off x="745745" y="1877517"/>
            <a:ext cx="5834380" cy="522393"/>
            <a:chOff x="559308" y="1408137"/>
            <a:chExt cx="4375785" cy="391795"/>
          </a:xfrm>
        </p:grpSpPr>
        <p:sp>
          <p:nvSpPr>
            <p:cNvPr id="5" name="object 5"/>
            <p:cNvSpPr/>
            <p:nvPr/>
          </p:nvSpPr>
          <p:spPr>
            <a:xfrm>
              <a:off x="559308" y="1408137"/>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6" name="object 6"/>
            <p:cNvSpPr/>
            <p:nvPr/>
          </p:nvSpPr>
          <p:spPr>
            <a:xfrm>
              <a:off x="716280" y="1415745"/>
              <a:ext cx="1839468" cy="384098"/>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7" name="object 7"/>
            <p:cNvSpPr/>
            <p:nvPr/>
          </p:nvSpPr>
          <p:spPr>
            <a:xfrm>
              <a:off x="618744" y="1447799"/>
              <a:ext cx="4261485" cy="248920"/>
            </a:xfrm>
            <a:custGeom>
              <a:avLst/>
              <a:gdLst/>
              <a:ahLst/>
              <a:cxnLst/>
              <a:rect l="l" t="t" r="r" b="b"/>
              <a:pathLst>
                <a:path w="4261485" h="248919">
                  <a:moveTo>
                    <a:pt x="0" y="248412"/>
                  </a:moveTo>
                  <a:lnTo>
                    <a:pt x="4261104" y="248412"/>
                  </a:lnTo>
                  <a:lnTo>
                    <a:pt x="4261104" y="0"/>
                  </a:lnTo>
                  <a:lnTo>
                    <a:pt x="0" y="0"/>
                  </a:lnTo>
                  <a:lnTo>
                    <a:pt x="0" y="248412"/>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8" name="object 8"/>
          <p:cNvSpPr txBox="1"/>
          <p:nvPr/>
        </p:nvSpPr>
        <p:spPr>
          <a:xfrm>
            <a:off x="1120580" y="1967144"/>
            <a:ext cx="2126827" cy="223074"/>
          </a:xfrm>
          <a:prstGeom prst="rect">
            <a:avLst/>
          </a:prstGeom>
        </p:spPr>
        <p:txBody>
          <a:bodyPr vert="horz" wrap="square" lIns="0" tIns="17780" rIns="0" bIns="0" rtlCol="0">
            <a:spAutoFit/>
          </a:bodyPr>
          <a:lstStyle/>
          <a:p>
            <a:pPr marL="16933" defTabSz="1219170">
              <a:spcBef>
                <a:spcPts val="140"/>
              </a:spcBef>
            </a:pPr>
            <a:r>
              <a:rPr sz="1333" spc="140" dirty="0">
                <a:solidFill>
                  <a:srgbClr val="D9D9D9"/>
                </a:solidFill>
                <a:latin typeface="Arial"/>
                <a:cs typeface="Arial"/>
              </a:rPr>
              <a:t>kubectl </a:t>
            </a:r>
            <a:r>
              <a:rPr sz="1333" spc="120" dirty="0">
                <a:solidFill>
                  <a:srgbClr val="D9D9D9"/>
                </a:solidFill>
                <a:latin typeface="Arial"/>
                <a:cs typeface="Arial"/>
              </a:rPr>
              <a:t>get</a:t>
            </a:r>
            <a:r>
              <a:rPr sz="1333" spc="47" dirty="0">
                <a:solidFill>
                  <a:srgbClr val="D9D9D9"/>
                </a:solidFill>
                <a:latin typeface="Arial"/>
                <a:cs typeface="Arial"/>
              </a:rPr>
              <a:t> </a:t>
            </a:r>
            <a:r>
              <a:rPr sz="1333" spc="60" dirty="0" err="1">
                <a:solidFill>
                  <a:srgbClr val="D9D9D9"/>
                </a:solidFill>
                <a:latin typeface="Arial"/>
                <a:cs typeface="Arial"/>
              </a:rPr>
              <a:t>configmaps</a:t>
            </a:r>
            <a:endParaRPr sz="1333" dirty="0">
              <a:solidFill>
                <a:prstClr val="black"/>
              </a:solidFill>
              <a:latin typeface="Arial"/>
              <a:cs typeface="Arial"/>
            </a:endParaRPr>
          </a:p>
        </p:txBody>
      </p:sp>
      <p:grpSp>
        <p:nvGrpSpPr>
          <p:cNvPr id="9" name="object 9"/>
          <p:cNvGrpSpPr/>
          <p:nvPr/>
        </p:nvGrpSpPr>
        <p:grpSpPr>
          <a:xfrm>
            <a:off x="816864" y="1946706"/>
            <a:ext cx="5698067" cy="857673"/>
            <a:chOff x="612648" y="1460029"/>
            <a:chExt cx="4273550" cy="643255"/>
          </a:xfrm>
        </p:grpSpPr>
        <p:sp>
          <p:nvSpPr>
            <p:cNvPr id="10" name="object 10"/>
            <p:cNvSpPr/>
            <p:nvPr/>
          </p:nvSpPr>
          <p:spPr>
            <a:xfrm>
              <a:off x="637049" y="1460029"/>
              <a:ext cx="158750" cy="205740"/>
            </a:xfrm>
            <a:custGeom>
              <a:avLst/>
              <a:gdLst/>
              <a:ahLst/>
              <a:cxnLst/>
              <a:rect l="l" t="t" r="r" b="b"/>
              <a:pathLst>
                <a:path w="158750" h="205739">
                  <a:moveTo>
                    <a:pt x="0" y="0"/>
                  </a:moveTo>
                  <a:lnTo>
                    <a:pt x="0" y="205385"/>
                  </a:lnTo>
                  <a:lnTo>
                    <a:pt x="158690"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618744" y="1696212"/>
              <a:ext cx="4261485" cy="401320"/>
            </a:xfrm>
            <a:custGeom>
              <a:avLst/>
              <a:gdLst/>
              <a:ahLst/>
              <a:cxnLst/>
              <a:rect l="l" t="t" r="r" b="b"/>
              <a:pathLst>
                <a:path w="4261485" h="401319">
                  <a:moveTo>
                    <a:pt x="4261104" y="0"/>
                  </a:moveTo>
                  <a:lnTo>
                    <a:pt x="0" y="0"/>
                  </a:lnTo>
                  <a:lnTo>
                    <a:pt x="0" y="400812"/>
                  </a:lnTo>
                  <a:lnTo>
                    <a:pt x="4261104" y="400812"/>
                  </a:lnTo>
                  <a:lnTo>
                    <a:pt x="4261104"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618744" y="1696212"/>
              <a:ext cx="4261485" cy="401320"/>
            </a:xfrm>
            <a:custGeom>
              <a:avLst/>
              <a:gdLst/>
              <a:ahLst/>
              <a:cxnLst/>
              <a:rect l="l" t="t" r="r" b="b"/>
              <a:pathLst>
                <a:path w="4261485" h="401319">
                  <a:moveTo>
                    <a:pt x="0" y="400812"/>
                  </a:moveTo>
                  <a:lnTo>
                    <a:pt x="4261104" y="400812"/>
                  </a:lnTo>
                  <a:lnTo>
                    <a:pt x="4261104" y="0"/>
                  </a:lnTo>
                  <a:lnTo>
                    <a:pt x="0" y="0"/>
                  </a:lnTo>
                  <a:lnTo>
                    <a:pt x="0" y="400812"/>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13" name="object 13"/>
          <p:cNvSpPr txBox="1"/>
          <p:nvPr/>
        </p:nvSpPr>
        <p:spPr>
          <a:xfrm>
            <a:off x="929573" y="2298361"/>
            <a:ext cx="1619673" cy="426485"/>
          </a:xfrm>
          <a:prstGeom prst="rect">
            <a:avLst/>
          </a:prstGeom>
        </p:spPr>
        <p:txBody>
          <a:bodyPr vert="horz" wrap="square" lIns="0" tIns="16087" rIns="0" bIns="0" rtlCol="0">
            <a:spAutoFit/>
          </a:bodyPr>
          <a:lstStyle/>
          <a:p>
            <a:pPr marL="16933" defTabSz="1219170">
              <a:spcBef>
                <a:spcPts val="127"/>
              </a:spcBef>
              <a:tabLst>
                <a:tab pos="1229328" algn="l"/>
              </a:tabLst>
            </a:pPr>
            <a:r>
              <a:rPr sz="1333" spc="-233" dirty="0">
                <a:solidFill>
                  <a:srgbClr val="FFFFFF"/>
                </a:solidFill>
                <a:latin typeface="Arial"/>
                <a:cs typeface="Arial"/>
              </a:rPr>
              <a:t>NAME	</a:t>
            </a:r>
            <a:r>
              <a:rPr sz="1333" spc="-247" dirty="0">
                <a:solidFill>
                  <a:srgbClr val="FFFFFF"/>
                </a:solidFill>
                <a:latin typeface="Arial"/>
                <a:cs typeface="Arial"/>
              </a:rPr>
              <a:t>D</a:t>
            </a:r>
            <a:r>
              <a:rPr sz="1333" spc="-140" dirty="0">
                <a:solidFill>
                  <a:srgbClr val="FFFFFF"/>
                </a:solidFill>
                <a:latin typeface="Arial"/>
                <a:cs typeface="Arial"/>
              </a:rPr>
              <a:t>ATA</a:t>
            </a:r>
            <a:endParaRPr sz="1333">
              <a:solidFill>
                <a:prstClr val="black"/>
              </a:solidFill>
              <a:latin typeface="Arial"/>
              <a:cs typeface="Arial"/>
            </a:endParaRPr>
          </a:p>
          <a:p>
            <a:pPr marL="16933" defTabSz="1219170">
              <a:tabLst>
                <a:tab pos="1228483" algn="l"/>
              </a:tabLst>
            </a:pPr>
            <a:r>
              <a:rPr sz="1333" spc="107" dirty="0">
                <a:solidFill>
                  <a:srgbClr val="FFFFFF"/>
                </a:solidFill>
                <a:latin typeface="Arial"/>
                <a:cs typeface="Arial"/>
              </a:rPr>
              <a:t>app-config	</a:t>
            </a:r>
            <a:r>
              <a:rPr sz="1333" spc="-13" dirty="0">
                <a:solidFill>
                  <a:srgbClr val="FFFFFF"/>
                </a:solidFill>
                <a:latin typeface="Arial"/>
                <a:cs typeface="Arial"/>
              </a:rPr>
              <a:t>2</a:t>
            </a:r>
            <a:endParaRPr sz="1333">
              <a:solidFill>
                <a:prstClr val="black"/>
              </a:solidFill>
              <a:latin typeface="Arial"/>
              <a:cs typeface="Arial"/>
            </a:endParaRPr>
          </a:p>
        </p:txBody>
      </p:sp>
      <p:sp>
        <p:nvSpPr>
          <p:cNvPr id="14" name="object 14"/>
          <p:cNvSpPr txBox="1"/>
          <p:nvPr/>
        </p:nvSpPr>
        <p:spPr>
          <a:xfrm>
            <a:off x="3068514" y="2298360"/>
            <a:ext cx="317500" cy="426485"/>
          </a:xfrm>
          <a:prstGeom prst="rect">
            <a:avLst/>
          </a:prstGeom>
        </p:spPr>
        <p:txBody>
          <a:bodyPr vert="horz" wrap="square" lIns="0" tIns="16087" rIns="0" bIns="0" rtlCol="0">
            <a:spAutoFit/>
          </a:bodyPr>
          <a:lstStyle/>
          <a:p>
            <a:pPr marL="19472" defTabSz="1219170">
              <a:spcBef>
                <a:spcPts val="127"/>
              </a:spcBef>
            </a:pPr>
            <a:r>
              <a:rPr sz="1333" spc="-213" dirty="0">
                <a:solidFill>
                  <a:srgbClr val="FFFFFF"/>
                </a:solidFill>
                <a:latin typeface="Arial"/>
                <a:cs typeface="Arial"/>
              </a:rPr>
              <a:t>AGE</a:t>
            </a:r>
            <a:endParaRPr sz="1333">
              <a:solidFill>
                <a:prstClr val="black"/>
              </a:solidFill>
              <a:latin typeface="Arial"/>
              <a:cs typeface="Arial"/>
            </a:endParaRPr>
          </a:p>
          <a:p>
            <a:pPr marL="16933" defTabSz="1219170"/>
            <a:r>
              <a:rPr sz="1333" spc="20" dirty="0">
                <a:solidFill>
                  <a:srgbClr val="FFFFFF"/>
                </a:solidFill>
                <a:latin typeface="Arial"/>
                <a:cs typeface="Arial"/>
              </a:rPr>
              <a:t>3s</a:t>
            </a:r>
            <a:endParaRPr sz="1333">
              <a:solidFill>
                <a:prstClr val="black"/>
              </a:solidFill>
              <a:latin typeface="Arial"/>
              <a:cs typeface="Arial"/>
            </a:endParaRPr>
          </a:p>
        </p:txBody>
      </p:sp>
      <p:grpSp>
        <p:nvGrpSpPr>
          <p:cNvPr id="15" name="object 15"/>
          <p:cNvGrpSpPr/>
          <p:nvPr/>
        </p:nvGrpSpPr>
        <p:grpSpPr>
          <a:xfrm>
            <a:off x="745745" y="3098749"/>
            <a:ext cx="5834380" cy="522393"/>
            <a:chOff x="559308" y="2324061"/>
            <a:chExt cx="4375785" cy="391795"/>
          </a:xfrm>
        </p:grpSpPr>
        <p:sp>
          <p:nvSpPr>
            <p:cNvPr id="16" name="object 16"/>
            <p:cNvSpPr/>
            <p:nvPr/>
          </p:nvSpPr>
          <p:spPr>
            <a:xfrm>
              <a:off x="559308" y="2324061"/>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7" name="object 17"/>
            <p:cNvSpPr/>
            <p:nvPr/>
          </p:nvSpPr>
          <p:spPr>
            <a:xfrm>
              <a:off x="716280" y="2331669"/>
              <a:ext cx="2196084" cy="384098"/>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8" name="object 18"/>
            <p:cNvSpPr/>
            <p:nvPr/>
          </p:nvSpPr>
          <p:spPr>
            <a:xfrm>
              <a:off x="618744" y="2363723"/>
              <a:ext cx="4261485" cy="248920"/>
            </a:xfrm>
            <a:custGeom>
              <a:avLst/>
              <a:gdLst/>
              <a:ahLst/>
              <a:cxnLst/>
              <a:rect l="l" t="t" r="r" b="b"/>
              <a:pathLst>
                <a:path w="4261485" h="248919">
                  <a:moveTo>
                    <a:pt x="0" y="248412"/>
                  </a:moveTo>
                  <a:lnTo>
                    <a:pt x="4261104" y="248412"/>
                  </a:lnTo>
                  <a:lnTo>
                    <a:pt x="4261104" y="0"/>
                  </a:lnTo>
                  <a:lnTo>
                    <a:pt x="0" y="0"/>
                  </a:lnTo>
                  <a:lnTo>
                    <a:pt x="0" y="248412"/>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19" name="object 19"/>
          <p:cNvSpPr txBox="1"/>
          <p:nvPr/>
        </p:nvSpPr>
        <p:spPr>
          <a:xfrm>
            <a:off x="816864" y="3151631"/>
            <a:ext cx="5698067" cy="260691"/>
          </a:xfrm>
          <a:prstGeom prst="rect">
            <a:avLst/>
          </a:prstGeom>
        </p:spPr>
        <p:txBody>
          <a:bodyPr vert="horz" wrap="square" lIns="0" tIns="55033" rIns="0" bIns="0" rtlCol="0">
            <a:spAutoFit/>
          </a:bodyPr>
          <a:lstStyle/>
          <a:p>
            <a:pPr marL="320031" defTabSz="1219170">
              <a:spcBef>
                <a:spcPts val="433"/>
              </a:spcBef>
            </a:pPr>
            <a:r>
              <a:rPr sz="1333" spc="140" dirty="0">
                <a:solidFill>
                  <a:srgbClr val="D9D9D9"/>
                </a:solidFill>
                <a:latin typeface="Arial"/>
                <a:cs typeface="Arial"/>
              </a:rPr>
              <a:t>kubectl </a:t>
            </a:r>
            <a:r>
              <a:rPr sz="1333" spc="113" dirty="0">
                <a:solidFill>
                  <a:srgbClr val="D9D9D9"/>
                </a:solidFill>
                <a:latin typeface="Arial"/>
                <a:cs typeface="Arial"/>
              </a:rPr>
              <a:t>describe </a:t>
            </a:r>
            <a:r>
              <a:rPr sz="1333" spc="60" dirty="0" err="1">
                <a:solidFill>
                  <a:srgbClr val="D9D9D9"/>
                </a:solidFill>
                <a:latin typeface="Arial"/>
                <a:cs typeface="Arial"/>
              </a:rPr>
              <a:t>configmaps</a:t>
            </a:r>
            <a:endParaRPr sz="1333" dirty="0">
              <a:solidFill>
                <a:prstClr val="black"/>
              </a:solidFill>
              <a:latin typeface="Arial"/>
              <a:cs typeface="Arial"/>
            </a:endParaRPr>
          </a:p>
        </p:txBody>
      </p:sp>
      <p:grpSp>
        <p:nvGrpSpPr>
          <p:cNvPr id="20" name="object 20"/>
          <p:cNvGrpSpPr/>
          <p:nvPr/>
        </p:nvGrpSpPr>
        <p:grpSpPr>
          <a:xfrm>
            <a:off x="816864" y="3167938"/>
            <a:ext cx="5698067" cy="3318933"/>
            <a:chOff x="612648" y="2375953"/>
            <a:chExt cx="4273550" cy="2489200"/>
          </a:xfrm>
        </p:grpSpPr>
        <p:sp>
          <p:nvSpPr>
            <p:cNvPr id="21" name="object 21"/>
            <p:cNvSpPr/>
            <p:nvPr/>
          </p:nvSpPr>
          <p:spPr>
            <a:xfrm>
              <a:off x="637049" y="2375953"/>
              <a:ext cx="158750" cy="205740"/>
            </a:xfrm>
            <a:custGeom>
              <a:avLst/>
              <a:gdLst/>
              <a:ahLst/>
              <a:cxnLst/>
              <a:rect l="l" t="t" r="r" b="b"/>
              <a:pathLst>
                <a:path w="158750" h="205739">
                  <a:moveTo>
                    <a:pt x="0" y="0"/>
                  </a:moveTo>
                  <a:lnTo>
                    <a:pt x="0" y="205385"/>
                  </a:lnTo>
                  <a:lnTo>
                    <a:pt x="158690"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22" name="object 22"/>
            <p:cNvSpPr/>
            <p:nvPr/>
          </p:nvSpPr>
          <p:spPr>
            <a:xfrm>
              <a:off x="618744" y="2612136"/>
              <a:ext cx="4261485" cy="2246630"/>
            </a:xfrm>
            <a:custGeom>
              <a:avLst/>
              <a:gdLst/>
              <a:ahLst/>
              <a:cxnLst/>
              <a:rect l="l" t="t" r="r" b="b"/>
              <a:pathLst>
                <a:path w="4261485" h="2246629">
                  <a:moveTo>
                    <a:pt x="4261104" y="0"/>
                  </a:moveTo>
                  <a:lnTo>
                    <a:pt x="0" y="0"/>
                  </a:lnTo>
                  <a:lnTo>
                    <a:pt x="0" y="2246376"/>
                  </a:lnTo>
                  <a:lnTo>
                    <a:pt x="4261104" y="2246376"/>
                  </a:lnTo>
                  <a:lnTo>
                    <a:pt x="4261104"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23" name="object 23"/>
            <p:cNvSpPr/>
            <p:nvPr/>
          </p:nvSpPr>
          <p:spPr>
            <a:xfrm>
              <a:off x="618744" y="2612136"/>
              <a:ext cx="4261485" cy="2246630"/>
            </a:xfrm>
            <a:custGeom>
              <a:avLst/>
              <a:gdLst/>
              <a:ahLst/>
              <a:cxnLst/>
              <a:rect l="l" t="t" r="r" b="b"/>
              <a:pathLst>
                <a:path w="4261485" h="2246629">
                  <a:moveTo>
                    <a:pt x="0" y="2246376"/>
                  </a:moveTo>
                  <a:lnTo>
                    <a:pt x="4261104" y="2246376"/>
                  </a:lnTo>
                  <a:lnTo>
                    <a:pt x="4261104" y="0"/>
                  </a:lnTo>
                  <a:lnTo>
                    <a:pt x="0" y="0"/>
                  </a:lnTo>
                  <a:lnTo>
                    <a:pt x="0" y="2246376"/>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sp>
          <p:nvSpPr>
            <p:cNvPr id="24" name="object 24"/>
            <p:cNvSpPr/>
            <p:nvPr/>
          </p:nvSpPr>
          <p:spPr>
            <a:xfrm>
              <a:off x="709879" y="3965009"/>
              <a:ext cx="280670" cy="457200"/>
            </a:xfrm>
            <a:custGeom>
              <a:avLst/>
              <a:gdLst/>
              <a:ahLst/>
              <a:cxnLst/>
              <a:rect l="l" t="t" r="r" b="b"/>
              <a:pathLst>
                <a:path w="280669" h="457200">
                  <a:moveTo>
                    <a:pt x="0" y="0"/>
                  </a:moveTo>
                  <a:lnTo>
                    <a:pt x="280416" y="0"/>
                  </a:lnTo>
                </a:path>
                <a:path w="280669" h="457200">
                  <a:moveTo>
                    <a:pt x="0" y="457199"/>
                  </a:moveTo>
                  <a:lnTo>
                    <a:pt x="280416" y="457199"/>
                  </a:lnTo>
                </a:path>
              </a:pathLst>
            </a:custGeom>
            <a:ln w="10129">
              <a:solidFill>
                <a:srgbClr val="FEFEFE"/>
              </a:solidFill>
              <a:prstDash val="dash"/>
            </a:ln>
          </p:spPr>
          <p:txBody>
            <a:bodyPr wrap="square" lIns="0" tIns="0" rIns="0" bIns="0" rtlCol="0"/>
            <a:lstStyle/>
            <a:p>
              <a:pPr defTabSz="1219170"/>
              <a:endParaRPr sz="2400">
                <a:solidFill>
                  <a:prstClr val="black"/>
                </a:solidFill>
                <a:latin typeface="Calibri"/>
              </a:endParaRPr>
            </a:p>
          </p:txBody>
        </p:sp>
      </p:grpSp>
      <p:sp>
        <p:nvSpPr>
          <p:cNvPr id="25" name="object 25"/>
          <p:cNvSpPr txBox="1"/>
          <p:nvPr/>
        </p:nvSpPr>
        <p:spPr>
          <a:xfrm>
            <a:off x="816864" y="3482847"/>
            <a:ext cx="5698067" cy="2963161"/>
          </a:xfrm>
          <a:prstGeom prst="rect">
            <a:avLst/>
          </a:prstGeom>
        </p:spPr>
        <p:txBody>
          <a:bodyPr vert="horz" wrap="square" lIns="0" tIns="52493" rIns="0" bIns="0" rtlCol="0">
            <a:spAutoFit/>
          </a:bodyPr>
          <a:lstStyle/>
          <a:p>
            <a:pPr marL="129537" marR="3323084" defTabSz="1219170">
              <a:spcBef>
                <a:spcPts val="413"/>
              </a:spcBef>
              <a:tabLst>
                <a:tab pos="1433371" algn="l"/>
              </a:tabLst>
            </a:pPr>
            <a:r>
              <a:rPr sz="1333" spc="-60" dirty="0">
                <a:solidFill>
                  <a:srgbClr val="FFFFFF"/>
                </a:solidFill>
                <a:latin typeface="Arial"/>
                <a:cs typeface="Arial"/>
              </a:rPr>
              <a:t>Name:	</a:t>
            </a:r>
            <a:r>
              <a:rPr sz="1333" spc="-373" dirty="0">
                <a:solidFill>
                  <a:srgbClr val="FFFFFF"/>
                </a:solidFill>
                <a:latin typeface="Arial"/>
                <a:cs typeface="Arial"/>
              </a:rPr>
              <a:t> </a:t>
            </a:r>
            <a:r>
              <a:rPr sz="1333" spc="-13" dirty="0">
                <a:solidFill>
                  <a:srgbClr val="FFFFFF"/>
                </a:solidFill>
                <a:latin typeface="Arial"/>
                <a:cs typeface="Arial"/>
              </a:rPr>
              <a:t>ap</a:t>
            </a:r>
            <a:r>
              <a:rPr sz="1333" spc="-7" dirty="0">
                <a:solidFill>
                  <a:srgbClr val="FFFFFF"/>
                </a:solidFill>
                <a:latin typeface="Arial"/>
                <a:cs typeface="Arial"/>
              </a:rPr>
              <a:t>p</a:t>
            </a:r>
            <a:r>
              <a:rPr sz="1333" spc="280" dirty="0">
                <a:solidFill>
                  <a:srgbClr val="FFFFFF"/>
                </a:solidFill>
                <a:latin typeface="Arial"/>
                <a:cs typeface="Arial"/>
              </a:rPr>
              <a:t>-</a:t>
            </a:r>
            <a:r>
              <a:rPr sz="1333" spc="60" dirty="0">
                <a:solidFill>
                  <a:srgbClr val="FFFFFF"/>
                </a:solidFill>
                <a:latin typeface="Arial"/>
                <a:cs typeface="Arial"/>
              </a:rPr>
              <a:t>c</a:t>
            </a:r>
            <a:r>
              <a:rPr sz="1333" spc="-27" dirty="0">
                <a:solidFill>
                  <a:srgbClr val="FFFFFF"/>
                </a:solidFill>
                <a:latin typeface="Arial"/>
                <a:cs typeface="Arial"/>
              </a:rPr>
              <a:t>o</a:t>
            </a:r>
            <a:r>
              <a:rPr sz="1333" spc="-13" dirty="0">
                <a:solidFill>
                  <a:srgbClr val="FFFFFF"/>
                </a:solidFill>
                <a:latin typeface="Arial"/>
                <a:cs typeface="Arial"/>
              </a:rPr>
              <a:t>n</a:t>
            </a:r>
            <a:r>
              <a:rPr sz="1333" spc="339" dirty="0">
                <a:solidFill>
                  <a:srgbClr val="FFFFFF"/>
                </a:solidFill>
                <a:latin typeface="Arial"/>
                <a:cs typeface="Arial"/>
              </a:rPr>
              <a:t>f</a:t>
            </a:r>
            <a:r>
              <a:rPr sz="1333" spc="433" dirty="0">
                <a:solidFill>
                  <a:srgbClr val="FFFFFF"/>
                </a:solidFill>
                <a:latin typeface="Arial"/>
                <a:cs typeface="Arial"/>
              </a:rPr>
              <a:t>i</a:t>
            </a:r>
            <a:r>
              <a:rPr sz="1333" spc="-13" dirty="0">
                <a:solidFill>
                  <a:srgbClr val="FFFFFF"/>
                </a:solidFill>
                <a:latin typeface="Arial"/>
                <a:cs typeface="Arial"/>
              </a:rPr>
              <a:t>g  </a:t>
            </a:r>
            <a:r>
              <a:rPr sz="1333" spc="-20" dirty="0">
                <a:solidFill>
                  <a:srgbClr val="FFFFFF"/>
                </a:solidFill>
                <a:latin typeface="Arial"/>
                <a:cs typeface="Arial"/>
              </a:rPr>
              <a:t>Namespace:	</a:t>
            </a:r>
            <a:r>
              <a:rPr sz="1333" spc="152" dirty="0">
                <a:solidFill>
                  <a:srgbClr val="FFFFFF"/>
                </a:solidFill>
                <a:latin typeface="Arial"/>
                <a:cs typeface="Arial"/>
              </a:rPr>
              <a:t>default  </a:t>
            </a:r>
            <a:r>
              <a:rPr sz="1333" spc="113" dirty="0">
                <a:solidFill>
                  <a:srgbClr val="FFFFFF"/>
                </a:solidFill>
                <a:latin typeface="Arial"/>
                <a:cs typeface="Arial"/>
              </a:rPr>
              <a:t>Labels:	</a:t>
            </a:r>
            <a:r>
              <a:rPr sz="1333" spc="-27" dirty="0">
                <a:solidFill>
                  <a:srgbClr val="FFFFFF"/>
                </a:solidFill>
                <a:latin typeface="Arial"/>
                <a:cs typeface="Arial"/>
              </a:rPr>
              <a:t>&lt;none&gt;  </a:t>
            </a:r>
            <a:r>
              <a:rPr sz="1333" spc="107" dirty="0">
                <a:solidFill>
                  <a:srgbClr val="FFFFFF"/>
                </a:solidFill>
                <a:latin typeface="Arial"/>
                <a:cs typeface="Arial"/>
              </a:rPr>
              <a:t>Annotations:	</a:t>
            </a:r>
            <a:r>
              <a:rPr sz="1333" spc="-27" dirty="0">
                <a:solidFill>
                  <a:srgbClr val="FFFFFF"/>
                </a:solidFill>
                <a:latin typeface="Arial"/>
                <a:cs typeface="Arial"/>
              </a:rPr>
              <a:t>&lt;none&gt;</a:t>
            </a:r>
            <a:endParaRPr sz="1333">
              <a:solidFill>
                <a:prstClr val="black"/>
              </a:solidFill>
              <a:latin typeface="Arial"/>
              <a:cs typeface="Arial"/>
            </a:endParaRPr>
          </a:p>
          <a:p>
            <a:pPr defTabSz="1219170">
              <a:spcBef>
                <a:spcPts val="73"/>
              </a:spcBef>
            </a:pPr>
            <a:endParaRPr sz="1333">
              <a:solidFill>
                <a:prstClr val="black"/>
              </a:solidFill>
              <a:latin typeface="Arial"/>
              <a:cs typeface="Arial"/>
            </a:endParaRPr>
          </a:p>
          <a:p>
            <a:pPr marL="129537" defTabSz="1219170"/>
            <a:r>
              <a:rPr sz="1333" spc="20" dirty="0">
                <a:solidFill>
                  <a:srgbClr val="FFFFFF"/>
                </a:solidFill>
                <a:latin typeface="Arial"/>
                <a:cs typeface="Arial"/>
              </a:rPr>
              <a:t>Data</a:t>
            </a:r>
            <a:endParaRPr sz="1333">
              <a:solidFill>
                <a:prstClr val="black"/>
              </a:solidFill>
              <a:latin typeface="Arial"/>
              <a:cs typeface="Arial"/>
            </a:endParaRPr>
          </a:p>
          <a:p>
            <a:pPr marL="129537" marR="4624378" defTabSz="1219170"/>
            <a:r>
              <a:rPr sz="1333" spc="-53" dirty="0">
                <a:solidFill>
                  <a:srgbClr val="FFFFFF"/>
                </a:solidFill>
                <a:latin typeface="Arial"/>
                <a:cs typeface="Arial"/>
              </a:rPr>
              <a:t>====  </a:t>
            </a:r>
            <a:r>
              <a:rPr sz="1333" spc="-167" dirty="0">
                <a:solidFill>
                  <a:srgbClr val="FFFFFF"/>
                </a:solidFill>
                <a:latin typeface="Arial"/>
                <a:cs typeface="Arial"/>
              </a:rPr>
              <a:t>APP_COL</a:t>
            </a:r>
            <a:r>
              <a:rPr sz="1333" spc="-213" dirty="0">
                <a:solidFill>
                  <a:srgbClr val="FFFFFF"/>
                </a:solidFill>
                <a:latin typeface="Arial"/>
                <a:cs typeface="Arial"/>
              </a:rPr>
              <a:t>O</a:t>
            </a:r>
            <a:r>
              <a:rPr sz="1333" spc="60" dirty="0">
                <a:solidFill>
                  <a:srgbClr val="FFFFFF"/>
                </a:solidFill>
                <a:latin typeface="Arial"/>
                <a:cs typeface="Arial"/>
              </a:rPr>
              <a:t>R:</a:t>
            </a:r>
            <a:endParaRPr sz="1333">
              <a:solidFill>
                <a:prstClr val="black"/>
              </a:solidFill>
              <a:latin typeface="Arial"/>
              <a:cs typeface="Arial"/>
            </a:endParaRPr>
          </a:p>
          <a:p>
            <a:pPr defTabSz="1219170">
              <a:spcBef>
                <a:spcPts val="67"/>
              </a:spcBef>
            </a:pPr>
            <a:endParaRPr sz="1333">
              <a:solidFill>
                <a:prstClr val="black"/>
              </a:solidFill>
              <a:latin typeface="Arial"/>
              <a:cs typeface="Arial"/>
            </a:endParaRPr>
          </a:p>
          <a:p>
            <a:pPr marL="129537" marR="4719202" defTabSz="1219170"/>
            <a:r>
              <a:rPr sz="1333" spc="93" dirty="0">
                <a:solidFill>
                  <a:srgbClr val="FFFFFF"/>
                </a:solidFill>
                <a:latin typeface="Arial"/>
                <a:cs typeface="Arial"/>
              </a:rPr>
              <a:t>blue  </a:t>
            </a:r>
            <a:r>
              <a:rPr sz="1333" spc="-200" dirty="0">
                <a:solidFill>
                  <a:srgbClr val="FFFFFF"/>
                </a:solidFill>
                <a:latin typeface="Arial"/>
                <a:cs typeface="Arial"/>
              </a:rPr>
              <a:t>APP_MOD</a:t>
            </a:r>
            <a:r>
              <a:rPr sz="1333" spc="-207" dirty="0">
                <a:solidFill>
                  <a:srgbClr val="FFFFFF"/>
                </a:solidFill>
                <a:latin typeface="Arial"/>
                <a:cs typeface="Arial"/>
              </a:rPr>
              <a:t>E</a:t>
            </a:r>
            <a:r>
              <a:rPr sz="1333" spc="353" dirty="0">
                <a:solidFill>
                  <a:srgbClr val="FFFFFF"/>
                </a:solidFill>
                <a:latin typeface="Arial"/>
                <a:cs typeface="Arial"/>
              </a:rPr>
              <a:t>:</a:t>
            </a:r>
            <a:endParaRPr sz="1333">
              <a:solidFill>
                <a:prstClr val="black"/>
              </a:solidFill>
              <a:latin typeface="Arial"/>
              <a:cs typeface="Arial"/>
            </a:endParaRPr>
          </a:p>
          <a:p>
            <a:pPr defTabSz="1219170">
              <a:spcBef>
                <a:spcPts val="67"/>
              </a:spcBef>
            </a:pPr>
            <a:endParaRPr sz="1333">
              <a:solidFill>
                <a:prstClr val="black"/>
              </a:solidFill>
              <a:latin typeface="Arial"/>
              <a:cs typeface="Arial"/>
            </a:endParaRPr>
          </a:p>
          <a:p>
            <a:pPr marL="129537" defTabSz="1219170"/>
            <a:r>
              <a:rPr sz="1333" spc="60" dirty="0">
                <a:solidFill>
                  <a:srgbClr val="FFFFFF"/>
                </a:solidFill>
                <a:latin typeface="Arial"/>
                <a:cs typeface="Arial"/>
              </a:rPr>
              <a:t>prod</a:t>
            </a:r>
            <a:endParaRPr sz="1333">
              <a:solidFill>
                <a:prstClr val="black"/>
              </a:solidFill>
              <a:latin typeface="Arial"/>
              <a:cs typeface="Arial"/>
            </a:endParaRPr>
          </a:p>
          <a:p>
            <a:pPr marL="129537" defTabSz="1219170">
              <a:tabLst>
                <a:tab pos="968562" algn="l"/>
              </a:tabLst>
            </a:pPr>
            <a:r>
              <a:rPr sz="1333" spc="93" dirty="0">
                <a:solidFill>
                  <a:srgbClr val="FFFFFF"/>
                </a:solidFill>
                <a:latin typeface="Arial"/>
                <a:cs typeface="Arial"/>
              </a:rPr>
              <a:t>Events:	</a:t>
            </a:r>
            <a:r>
              <a:rPr sz="1333" spc="-27" dirty="0">
                <a:solidFill>
                  <a:srgbClr val="FFFFFF"/>
                </a:solidFill>
                <a:latin typeface="Arial"/>
                <a:cs typeface="Arial"/>
              </a:rPr>
              <a:t>&lt;none&gt;</a:t>
            </a:r>
            <a:endParaRPr sz="1333">
              <a:solidFill>
                <a:prstClr val="black"/>
              </a:solidFill>
              <a:latin typeface="Arial"/>
              <a:cs typeface="Arial"/>
            </a:endParaRPr>
          </a:p>
        </p:txBody>
      </p:sp>
    </p:spTree>
    <p:extLst>
      <p:ext uri="{BB962C8B-B14F-4D97-AF65-F5344CB8AC3E}">
        <p14:creationId xmlns:p14="http://schemas.microsoft.com/office/powerpoint/2010/main" val="20175059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Secrets</a:t>
            </a:r>
          </a:p>
        </p:txBody>
      </p:sp>
      <p:sp>
        <p:nvSpPr>
          <p:cNvPr id="3" name="Content Placeholder 2"/>
          <p:cNvSpPr>
            <a:spLocks noGrp="1"/>
          </p:cNvSpPr>
          <p:nvPr>
            <p:ph idx="1"/>
          </p:nvPr>
        </p:nvSpPr>
        <p:spPr/>
        <p:txBody>
          <a:bodyPr>
            <a:normAutofit fontScale="62500" lnSpcReduction="20000"/>
          </a:bodyPr>
          <a:lstStyle/>
          <a:p>
            <a:endParaRPr lang="en-US" dirty="0"/>
          </a:p>
          <a:p>
            <a:r>
              <a:rPr lang="en-US" dirty="0"/>
              <a:t>A Secret is designed to store small amounts of sensitive information such as passwords, tokens, or keys.</a:t>
            </a:r>
          </a:p>
          <a:p>
            <a:endParaRPr lang="en-US" dirty="0"/>
          </a:p>
          <a:p>
            <a:r>
              <a:rPr lang="en-US" dirty="0"/>
              <a:t>Secrets keep confidential data separate from container images and pod specs to reduce exposure risk.</a:t>
            </a:r>
          </a:p>
          <a:p>
            <a:endParaRPr lang="en-US" dirty="0"/>
          </a:p>
          <a:p>
            <a:r>
              <a:rPr lang="en-US" dirty="0"/>
              <a:t>Like ConfigMaps, Secrets can be injected into pods as environment variables or mounted volumes.</a:t>
            </a:r>
          </a:p>
          <a:p>
            <a:endParaRPr lang="en-US" dirty="0"/>
          </a:p>
          <a:p>
            <a:r>
              <a:rPr lang="en-US" dirty="0"/>
              <a:t>Secrets have additional access control policies to restrict who can view or modify them due to their sensitive nature.</a:t>
            </a:r>
          </a:p>
          <a:p>
            <a:endParaRPr lang="en-US" dirty="0"/>
          </a:p>
          <a:p>
            <a:r>
              <a:rPr lang="en-US" dirty="0"/>
              <a:t>They are essential for storing credentials and sensitive tokens securely within Kubernetes environments.</a:t>
            </a:r>
          </a:p>
        </p:txBody>
      </p:sp>
    </p:spTree>
    <p:extLst>
      <p:ext uri="{BB962C8B-B14F-4D97-AF65-F5344CB8AC3E}">
        <p14:creationId xmlns:p14="http://schemas.microsoft.com/office/powerpoint/2010/main" val="18029333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Volume Mount Method</a:t>
            </a:r>
          </a:p>
        </p:txBody>
      </p:sp>
      <p:sp>
        <p:nvSpPr>
          <p:cNvPr id="3" name="Content Placeholder 2"/>
          <p:cNvSpPr>
            <a:spLocks noGrp="1"/>
          </p:cNvSpPr>
          <p:nvPr>
            <p:ph idx="1"/>
          </p:nvPr>
        </p:nvSpPr>
        <p:spPr/>
        <p:txBody>
          <a:bodyPr>
            <a:normAutofit lnSpcReduction="10000"/>
          </a:bodyPr>
          <a:lstStyle/>
          <a:p>
            <a:pPr marL="0" indent="0">
              <a:buNone/>
            </a:pPr>
            <a:r>
              <a:rPr lang="en-US" sz="2000" dirty="0"/>
              <a:t>Mounting ConfigMaps and Secrets as volumes in Kubernetes pods is particularly useful when an application needs to consume configuration or sensitive data as files rather than environment variables. </a:t>
            </a:r>
          </a:p>
          <a:p>
            <a:pPr marL="0" indent="0">
              <a:buNone/>
            </a:pPr>
            <a:endParaRPr lang="en-US" sz="2000" dirty="0"/>
          </a:p>
          <a:p>
            <a:r>
              <a:rPr lang="en-US" sz="2000" b="1" dirty="0"/>
              <a:t>Complex Configuration Files: </a:t>
            </a:r>
            <a:r>
              <a:rPr lang="en-US" sz="2000" dirty="0"/>
              <a:t>Applications that read configuration from files such as JSON, YAML, XML, or INI files benefit from volume mounts. </a:t>
            </a:r>
          </a:p>
          <a:p>
            <a:r>
              <a:rPr lang="en-US" sz="2000" b="1" dirty="0"/>
              <a:t>Large or Multiple Configurations: </a:t>
            </a:r>
            <a:r>
              <a:rPr lang="en-US" sz="2000" dirty="0"/>
              <a:t>When configurations are large, have multiple entries, or require structured folders, mounting as volumes is more manageable than injecting numerous environment variables.</a:t>
            </a:r>
          </a:p>
          <a:p>
            <a:r>
              <a:rPr lang="en-US" sz="2000" b="1" dirty="0"/>
              <a:t>Sensitive Credentials as Files: </a:t>
            </a:r>
            <a:r>
              <a:rPr lang="en-US" sz="2000" dirty="0"/>
              <a:t>Certain applications require sensitive credentials, certificates, keys, or tokens stored in specific file formats or file paths. Mounting Secrets as volumes provides these files securely and correctly named.</a:t>
            </a:r>
          </a:p>
          <a:p>
            <a:r>
              <a:rPr lang="en-US" sz="2000" b="1" dirty="0"/>
              <a:t>Avoid Environment Variable Size Limits: </a:t>
            </a:r>
            <a:r>
              <a:rPr lang="en-US" sz="2000" dirty="0"/>
              <a:t>Some environment variables have size limits; mounting large data avoids those constraints.</a:t>
            </a:r>
          </a:p>
        </p:txBody>
      </p:sp>
    </p:spTree>
    <p:extLst>
      <p:ext uri="{BB962C8B-B14F-4D97-AF65-F5344CB8AC3E}">
        <p14:creationId xmlns:p14="http://schemas.microsoft.com/office/powerpoint/2010/main" val="39464175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26137"/>
            <a:ext cx="4172373" cy="694207"/>
          </a:xfrm>
          <a:prstGeom prst="rect">
            <a:avLst/>
          </a:prstGeom>
        </p:spPr>
        <p:txBody>
          <a:bodyPr vert="horz" wrap="square" lIns="0" tIns="16933" rIns="0" bIns="0" rtlCol="0">
            <a:spAutoFit/>
          </a:bodyPr>
          <a:lstStyle/>
          <a:p>
            <a:pPr marL="16933">
              <a:spcBef>
                <a:spcPts val="133"/>
              </a:spcBef>
            </a:pPr>
            <a:r>
              <a:rPr spc="40" dirty="0">
                <a:solidFill>
                  <a:schemeClr val="tx1"/>
                </a:solidFill>
              </a:rPr>
              <a:t>Create</a:t>
            </a:r>
            <a:r>
              <a:rPr spc="-447" dirty="0">
                <a:solidFill>
                  <a:schemeClr val="tx1"/>
                </a:solidFill>
              </a:rPr>
              <a:t> </a:t>
            </a:r>
            <a:r>
              <a:rPr spc="13" dirty="0">
                <a:solidFill>
                  <a:schemeClr val="tx1"/>
                </a:solidFill>
              </a:rPr>
              <a:t>Secrets</a:t>
            </a:r>
          </a:p>
        </p:txBody>
      </p:sp>
      <p:sp>
        <p:nvSpPr>
          <p:cNvPr id="4" name="object 4"/>
          <p:cNvSpPr txBox="1"/>
          <p:nvPr/>
        </p:nvSpPr>
        <p:spPr>
          <a:xfrm>
            <a:off x="979424" y="1946655"/>
            <a:ext cx="2993813" cy="903004"/>
          </a:xfrm>
          <a:prstGeom prst="rect">
            <a:avLst/>
          </a:prstGeom>
          <a:solidFill>
            <a:srgbClr val="2B2B2B"/>
          </a:solidFill>
        </p:spPr>
        <p:txBody>
          <a:bodyPr vert="horz" wrap="square" lIns="0" tIns="40640" rIns="0" bIns="0" rtlCol="0">
            <a:spAutoFit/>
          </a:bodyPr>
          <a:lstStyle/>
          <a:p>
            <a:pPr marL="121070" marR="163403" defTabSz="1219170">
              <a:spcBef>
                <a:spcPts val="320"/>
              </a:spcBef>
            </a:pPr>
            <a:r>
              <a:rPr sz="1867" spc="-7" dirty="0">
                <a:solidFill>
                  <a:srgbClr val="9776AA"/>
                </a:solidFill>
                <a:latin typeface="Courier New"/>
                <a:cs typeface="Courier New"/>
              </a:rPr>
              <a:t>DB_Host</a:t>
            </a:r>
            <a:r>
              <a:rPr sz="1867" spc="-7" dirty="0">
                <a:solidFill>
                  <a:srgbClr val="A9B7C5"/>
                </a:solidFill>
                <a:latin typeface="Courier New"/>
                <a:cs typeface="Courier New"/>
              </a:rPr>
              <a:t>: mysql  </a:t>
            </a:r>
            <a:r>
              <a:rPr sz="1867" spc="-7" dirty="0">
                <a:solidFill>
                  <a:srgbClr val="9776AA"/>
                </a:solidFill>
                <a:latin typeface="Courier New"/>
                <a:cs typeface="Courier New"/>
              </a:rPr>
              <a:t>DB_User</a:t>
            </a:r>
            <a:r>
              <a:rPr sz="1867" spc="-7" dirty="0">
                <a:solidFill>
                  <a:srgbClr val="A9B7C5"/>
                </a:solidFill>
                <a:latin typeface="Courier New"/>
                <a:cs typeface="Courier New"/>
              </a:rPr>
              <a:t>: </a:t>
            </a:r>
            <a:r>
              <a:rPr sz="1867" spc="-13" dirty="0">
                <a:solidFill>
                  <a:srgbClr val="A9B7C5"/>
                </a:solidFill>
                <a:latin typeface="Courier New"/>
                <a:cs typeface="Courier New"/>
              </a:rPr>
              <a:t>root  </a:t>
            </a: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113" dirty="0">
                <a:solidFill>
                  <a:srgbClr val="A9B7C5"/>
                </a:solidFill>
                <a:latin typeface="Courier New"/>
                <a:cs typeface="Courier New"/>
              </a:rPr>
              <a:t> </a:t>
            </a:r>
            <a:r>
              <a:rPr sz="1867" spc="-7" dirty="0">
                <a:solidFill>
                  <a:srgbClr val="A9B7C5"/>
                </a:solidFill>
                <a:latin typeface="Courier New"/>
                <a:cs typeface="Courier New"/>
              </a:rPr>
              <a:t>paswrd</a:t>
            </a:r>
            <a:endParaRPr sz="1867">
              <a:solidFill>
                <a:prstClr val="black"/>
              </a:solidFill>
              <a:latin typeface="Courier New"/>
              <a:cs typeface="Courier New"/>
            </a:endParaRPr>
          </a:p>
        </p:txBody>
      </p:sp>
      <p:sp>
        <p:nvSpPr>
          <p:cNvPr id="5" name="object 5"/>
          <p:cNvSpPr txBox="1"/>
          <p:nvPr/>
        </p:nvSpPr>
        <p:spPr>
          <a:xfrm>
            <a:off x="1991359" y="1546352"/>
            <a:ext cx="872067" cy="325729"/>
          </a:xfrm>
          <a:prstGeom prst="rect">
            <a:avLst/>
          </a:prstGeom>
          <a:solidFill>
            <a:srgbClr val="000000">
              <a:alpha val="50195"/>
            </a:srgbClr>
          </a:solidFill>
        </p:spPr>
        <p:txBody>
          <a:bodyPr vert="horz" wrap="square" lIns="0" tIns="48259" rIns="0" bIns="0" rtlCol="0">
            <a:spAutoFit/>
          </a:bodyPr>
          <a:lstStyle/>
          <a:p>
            <a:pPr marL="121917" defTabSz="1219170">
              <a:spcBef>
                <a:spcPts val="379"/>
              </a:spcBef>
            </a:pPr>
            <a:r>
              <a:rPr spc="-13" dirty="0">
                <a:solidFill>
                  <a:srgbClr val="FFFFFF"/>
                </a:solidFill>
                <a:latin typeface="Noto Sans"/>
                <a:cs typeface="Noto Sans"/>
              </a:rPr>
              <a:t>Secret</a:t>
            </a:r>
            <a:endParaRPr>
              <a:solidFill>
                <a:prstClr val="black"/>
              </a:solidFill>
              <a:latin typeface="Noto Sans"/>
              <a:cs typeface="Noto Sans"/>
            </a:endParaRPr>
          </a:p>
        </p:txBody>
      </p:sp>
      <p:grpSp>
        <p:nvGrpSpPr>
          <p:cNvPr id="8" name="object 8"/>
          <p:cNvGrpSpPr/>
          <p:nvPr/>
        </p:nvGrpSpPr>
        <p:grpSpPr>
          <a:xfrm>
            <a:off x="5299455" y="1723085"/>
            <a:ext cx="5834380" cy="522393"/>
            <a:chOff x="3974591" y="1292313"/>
            <a:chExt cx="4375785" cy="391795"/>
          </a:xfrm>
        </p:grpSpPr>
        <p:sp>
          <p:nvSpPr>
            <p:cNvPr id="9" name="object 9"/>
            <p:cNvSpPr/>
            <p:nvPr/>
          </p:nvSpPr>
          <p:spPr>
            <a:xfrm>
              <a:off x="3974591" y="1292313"/>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131563" y="1301534"/>
              <a:ext cx="2339340" cy="382485"/>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4034027" y="1331976"/>
              <a:ext cx="4261485" cy="254635"/>
            </a:xfrm>
            <a:custGeom>
              <a:avLst/>
              <a:gdLst/>
              <a:ahLst/>
              <a:cxnLst/>
              <a:rect l="l" t="t" r="r" b="b"/>
              <a:pathLst>
                <a:path w="4261484" h="254634">
                  <a:moveTo>
                    <a:pt x="4261104" y="0"/>
                  </a:moveTo>
                  <a:lnTo>
                    <a:pt x="0" y="0"/>
                  </a:lnTo>
                  <a:lnTo>
                    <a:pt x="0" y="254508"/>
                  </a:lnTo>
                  <a:lnTo>
                    <a:pt x="4261104" y="254508"/>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12" name="object 12"/>
          <p:cNvSpPr txBox="1"/>
          <p:nvPr/>
        </p:nvSpPr>
        <p:spPr>
          <a:xfrm>
            <a:off x="5378705" y="1775968"/>
            <a:ext cx="5681980" cy="261546"/>
          </a:xfrm>
          <a:prstGeom prst="rect">
            <a:avLst/>
          </a:prstGeom>
        </p:spPr>
        <p:txBody>
          <a:bodyPr vert="horz" wrap="square" lIns="0" tIns="55880" rIns="0" bIns="0" rtlCol="0">
            <a:spAutoFit/>
          </a:bodyPr>
          <a:lstStyle/>
          <a:p>
            <a:pPr marL="312412" defTabSz="1219170">
              <a:spcBef>
                <a:spcPts val="440"/>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33" dirty="0">
                <a:solidFill>
                  <a:srgbClr val="D9D9D9"/>
                </a:solidFill>
                <a:latin typeface="Arial"/>
                <a:cs typeface="Arial"/>
              </a:rPr>
              <a:t>secret</a:t>
            </a:r>
            <a:r>
              <a:rPr sz="1333" spc="-100" dirty="0">
                <a:solidFill>
                  <a:srgbClr val="D9D9D9"/>
                </a:solidFill>
                <a:latin typeface="Arial"/>
                <a:cs typeface="Arial"/>
              </a:rPr>
              <a:t> </a:t>
            </a:r>
            <a:r>
              <a:rPr sz="1333" spc="113" dirty="0">
                <a:solidFill>
                  <a:srgbClr val="D9D9D9"/>
                </a:solidFill>
                <a:latin typeface="Arial"/>
                <a:cs typeface="Arial"/>
              </a:rPr>
              <a:t>generic</a:t>
            </a:r>
            <a:endParaRPr sz="1333" dirty="0">
              <a:solidFill>
                <a:prstClr val="black"/>
              </a:solidFill>
              <a:latin typeface="Arial"/>
              <a:cs typeface="Arial"/>
            </a:endParaRPr>
          </a:p>
        </p:txBody>
      </p:sp>
      <p:grpSp>
        <p:nvGrpSpPr>
          <p:cNvPr id="13" name="object 13"/>
          <p:cNvGrpSpPr/>
          <p:nvPr/>
        </p:nvGrpSpPr>
        <p:grpSpPr>
          <a:xfrm>
            <a:off x="5299455" y="3895277"/>
            <a:ext cx="5834380" cy="522393"/>
            <a:chOff x="3974591" y="2921457"/>
            <a:chExt cx="4375785" cy="391795"/>
          </a:xfrm>
        </p:grpSpPr>
        <p:sp>
          <p:nvSpPr>
            <p:cNvPr id="14" name="object 14"/>
            <p:cNvSpPr/>
            <p:nvPr/>
          </p:nvSpPr>
          <p:spPr>
            <a:xfrm>
              <a:off x="3974591" y="2921457"/>
              <a:ext cx="4375404" cy="365810"/>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5" name="object 15"/>
            <p:cNvSpPr/>
            <p:nvPr/>
          </p:nvSpPr>
          <p:spPr>
            <a:xfrm>
              <a:off x="4131563" y="2929077"/>
              <a:ext cx="1552956" cy="384098"/>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6" name="object 16"/>
            <p:cNvSpPr/>
            <p:nvPr/>
          </p:nvSpPr>
          <p:spPr>
            <a:xfrm>
              <a:off x="4034027" y="2961131"/>
              <a:ext cx="4261485" cy="253365"/>
            </a:xfrm>
            <a:custGeom>
              <a:avLst/>
              <a:gdLst/>
              <a:ahLst/>
              <a:cxnLst/>
              <a:rect l="l" t="t" r="r" b="b"/>
              <a:pathLst>
                <a:path w="4261484" h="253364">
                  <a:moveTo>
                    <a:pt x="4261104" y="0"/>
                  </a:moveTo>
                  <a:lnTo>
                    <a:pt x="0" y="0"/>
                  </a:lnTo>
                  <a:lnTo>
                    <a:pt x="0" y="252983"/>
                  </a:lnTo>
                  <a:lnTo>
                    <a:pt x="4261104" y="252983"/>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21" name="object 21"/>
          <p:cNvSpPr txBox="1"/>
          <p:nvPr/>
        </p:nvSpPr>
        <p:spPr>
          <a:xfrm>
            <a:off x="5378705" y="3948177"/>
            <a:ext cx="5681980" cy="260691"/>
          </a:xfrm>
          <a:prstGeom prst="rect">
            <a:avLst/>
          </a:prstGeom>
        </p:spPr>
        <p:txBody>
          <a:bodyPr vert="horz" wrap="square" lIns="0" tIns="55033" rIns="0" bIns="0" rtlCol="0">
            <a:spAutoFit/>
          </a:bodyPr>
          <a:lstStyle/>
          <a:p>
            <a:pPr marL="312412" defTabSz="1219170">
              <a:spcBef>
                <a:spcPts val="433"/>
              </a:spcBef>
            </a:pPr>
            <a:r>
              <a:rPr sz="1333" spc="140" dirty="0">
                <a:solidFill>
                  <a:srgbClr val="D9D9D9"/>
                </a:solidFill>
                <a:latin typeface="Arial"/>
                <a:cs typeface="Arial"/>
              </a:rPr>
              <a:t>kubectl </a:t>
            </a:r>
            <a:r>
              <a:rPr sz="1333" spc="120" dirty="0">
                <a:solidFill>
                  <a:srgbClr val="D9D9D9"/>
                </a:solidFill>
                <a:latin typeface="Arial"/>
                <a:cs typeface="Arial"/>
              </a:rPr>
              <a:t>create</a:t>
            </a:r>
            <a:r>
              <a:rPr sz="1333" spc="133" dirty="0">
                <a:solidFill>
                  <a:srgbClr val="D9D9D9"/>
                </a:solidFill>
                <a:latin typeface="Arial"/>
                <a:cs typeface="Arial"/>
              </a:rPr>
              <a:t> </a:t>
            </a:r>
            <a:r>
              <a:rPr sz="1333" spc="187" dirty="0">
                <a:solidFill>
                  <a:srgbClr val="D9D9D9"/>
                </a:solidFill>
                <a:latin typeface="Arial"/>
                <a:cs typeface="Arial"/>
              </a:rPr>
              <a:t>–f</a:t>
            </a:r>
            <a:endParaRPr sz="1333" dirty="0">
              <a:solidFill>
                <a:prstClr val="black"/>
              </a:solidFill>
              <a:latin typeface="Arial"/>
              <a:cs typeface="Arial"/>
            </a:endParaRPr>
          </a:p>
        </p:txBody>
      </p:sp>
    </p:spTree>
    <p:extLst>
      <p:ext uri="{BB962C8B-B14F-4D97-AF65-F5344CB8AC3E}">
        <p14:creationId xmlns:p14="http://schemas.microsoft.com/office/powerpoint/2010/main" val="29796251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26137"/>
            <a:ext cx="4172373" cy="694207"/>
          </a:xfrm>
          <a:prstGeom prst="rect">
            <a:avLst/>
          </a:prstGeom>
        </p:spPr>
        <p:txBody>
          <a:bodyPr vert="horz" wrap="square" lIns="0" tIns="16933" rIns="0" bIns="0" rtlCol="0">
            <a:spAutoFit/>
          </a:bodyPr>
          <a:lstStyle/>
          <a:p>
            <a:pPr marL="16933">
              <a:spcBef>
                <a:spcPts val="133"/>
              </a:spcBef>
            </a:pPr>
            <a:r>
              <a:rPr spc="40" dirty="0">
                <a:solidFill>
                  <a:schemeClr val="tx1"/>
                </a:solidFill>
              </a:rPr>
              <a:t>Create</a:t>
            </a:r>
            <a:r>
              <a:rPr spc="-447" dirty="0">
                <a:solidFill>
                  <a:schemeClr val="tx1"/>
                </a:solidFill>
              </a:rPr>
              <a:t> </a:t>
            </a:r>
            <a:r>
              <a:rPr spc="13" dirty="0">
                <a:solidFill>
                  <a:schemeClr val="tx1"/>
                </a:solidFill>
              </a:rPr>
              <a:t>Secrets</a:t>
            </a:r>
          </a:p>
        </p:txBody>
      </p:sp>
      <p:sp>
        <p:nvSpPr>
          <p:cNvPr id="4" name="object 4"/>
          <p:cNvSpPr txBox="1"/>
          <p:nvPr/>
        </p:nvSpPr>
        <p:spPr>
          <a:xfrm>
            <a:off x="979424" y="1946655"/>
            <a:ext cx="2993813" cy="903004"/>
          </a:xfrm>
          <a:prstGeom prst="rect">
            <a:avLst/>
          </a:prstGeom>
          <a:solidFill>
            <a:srgbClr val="2B2B2B"/>
          </a:solidFill>
        </p:spPr>
        <p:txBody>
          <a:bodyPr vert="horz" wrap="square" lIns="0" tIns="40640" rIns="0" bIns="0" rtlCol="0">
            <a:spAutoFit/>
          </a:bodyPr>
          <a:lstStyle/>
          <a:p>
            <a:pPr marL="121070" marR="163403" defTabSz="1219170">
              <a:spcBef>
                <a:spcPts val="320"/>
              </a:spcBef>
            </a:pPr>
            <a:r>
              <a:rPr sz="1867" spc="-7" dirty="0">
                <a:solidFill>
                  <a:srgbClr val="9776AA"/>
                </a:solidFill>
                <a:latin typeface="Courier New"/>
                <a:cs typeface="Courier New"/>
              </a:rPr>
              <a:t>DB_Host</a:t>
            </a:r>
            <a:r>
              <a:rPr sz="1867" spc="-7" dirty="0">
                <a:solidFill>
                  <a:srgbClr val="A9B7C5"/>
                </a:solidFill>
                <a:latin typeface="Courier New"/>
                <a:cs typeface="Courier New"/>
              </a:rPr>
              <a:t>: mysql  </a:t>
            </a:r>
            <a:r>
              <a:rPr sz="1867" spc="-7" dirty="0">
                <a:solidFill>
                  <a:srgbClr val="9776AA"/>
                </a:solidFill>
                <a:latin typeface="Courier New"/>
                <a:cs typeface="Courier New"/>
              </a:rPr>
              <a:t>DB_User</a:t>
            </a:r>
            <a:r>
              <a:rPr sz="1867" spc="-7" dirty="0">
                <a:solidFill>
                  <a:srgbClr val="A9B7C5"/>
                </a:solidFill>
                <a:latin typeface="Courier New"/>
                <a:cs typeface="Courier New"/>
              </a:rPr>
              <a:t>: </a:t>
            </a:r>
            <a:r>
              <a:rPr sz="1867" spc="-13" dirty="0">
                <a:solidFill>
                  <a:srgbClr val="A9B7C5"/>
                </a:solidFill>
                <a:latin typeface="Courier New"/>
                <a:cs typeface="Courier New"/>
              </a:rPr>
              <a:t>root  </a:t>
            </a: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113" dirty="0">
                <a:solidFill>
                  <a:srgbClr val="A9B7C5"/>
                </a:solidFill>
                <a:latin typeface="Courier New"/>
                <a:cs typeface="Courier New"/>
              </a:rPr>
              <a:t> </a:t>
            </a:r>
            <a:r>
              <a:rPr sz="1867" spc="-7" dirty="0">
                <a:solidFill>
                  <a:srgbClr val="A9B7C5"/>
                </a:solidFill>
                <a:latin typeface="Courier New"/>
                <a:cs typeface="Courier New"/>
              </a:rPr>
              <a:t>paswrd</a:t>
            </a:r>
            <a:endParaRPr sz="1867">
              <a:solidFill>
                <a:prstClr val="black"/>
              </a:solidFill>
              <a:latin typeface="Courier New"/>
              <a:cs typeface="Courier New"/>
            </a:endParaRPr>
          </a:p>
        </p:txBody>
      </p:sp>
      <p:sp>
        <p:nvSpPr>
          <p:cNvPr id="5" name="object 5"/>
          <p:cNvSpPr txBox="1"/>
          <p:nvPr/>
        </p:nvSpPr>
        <p:spPr>
          <a:xfrm>
            <a:off x="1993392" y="1546352"/>
            <a:ext cx="872067" cy="325729"/>
          </a:xfrm>
          <a:prstGeom prst="rect">
            <a:avLst/>
          </a:prstGeom>
          <a:solidFill>
            <a:srgbClr val="000000">
              <a:alpha val="50195"/>
            </a:srgbClr>
          </a:solidFill>
        </p:spPr>
        <p:txBody>
          <a:bodyPr vert="horz" wrap="square" lIns="0" tIns="48259" rIns="0" bIns="0" rtlCol="0">
            <a:spAutoFit/>
          </a:bodyPr>
          <a:lstStyle/>
          <a:p>
            <a:pPr marL="122764" defTabSz="1219170">
              <a:spcBef>
                <a:spcPts val="379"/>
              </a:spcBef>
            </a:pPr>
            <a:r>
              <a:rPr spc="-13" dirty="0">
                <a:solidFill>
                  <a:srgbClr val="FFFFFF"/>
                </a:solidFill>
                <a:latin typeface="Noto Sans"/>
                <a:cs typeface="Noto Sans"/>
              </a:rPr>
              <a:t>Secret</a:t>
            </a:r>
            <a:endParaRPr>
              <a:solidFill>
                <a:prstClr val="black"/>
              </a:solidFill>
              <a:latin typeface="Noto Sans"/>
              <a:cs typeface="Noto Sans"/>
            </a:endParaRPr>
          </a:p>
        </p:txBody>
      </p:sp>
      <p:grpSp>
        <p:nvGrpSpPr>
          <p:cNvPr id="8" name="object 8"/>
          <p:cNvGrpSpPr/>
          <p:nvPr/>
        </p:nvGrpSpPr>
        <p:grpSpPr>
          <a:xfrm>
            <a:off x="5299455" y="1723085"/>
            <a:ext cx="5834380" cy="522393"/>
            <a:chOff x="3974591" y="1292313"/>
            <a:chExt cx="4375785" cy="391795"/>
          </a:xfrm>
        </p:grpSpPr>
        <p:sp>
          <p:nvSpPr>
            <p:cNvPr id="9" name="object 9"/>
            <p:cNvSpPr/>
            <p:nvPr/>
          </p:nvSpPr>
          <p:spPr>
            <a:xfrm>
              <a:off x="3974591" y="1292313"/>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131563" y="1301534"/>
              <a:ext cx="2339340" cy="382485"/>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4034027" y="1331976"/>
              <a:ext cx="4261485" cy="254635"/>
            </a:xfrm>
            <a:custGeom>
              <a:avLst/>
              <a:gdLst/>
              <a:ahLst/>
              <a:cxnLst/>
              <a:rect l="l" t="t" r="r" b="b"/>
              <a:pathLst>
                <a:path w="4261484" h="254634">
                  <a:moveTo>
                    <a:pt x="4261104" y="0"/>
                  </a:moveTo>
                  <a:lnTo>
                    <a:pt x="0" y="0"/>
                  </a:lnTo>
                  <a:lnTo>
                    <a:pt x="0" y="254508"/>
                  </a:lnTo>
                  <a:lnTo>
                    <a:pt x="4261104" y="254508"/>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12" name="object 12"/>
          <p:cNvSpPr txBox="1"/>
          <p:nvPr/>
        </p:nvSpPr>
        <p:spPr>
          <a:xfrm>
            <a:off x="5372608" y="1775968"/>
            <a:ext cx="5683673" cy="261546"/>
          </a:xfrm>
          <a:prstGeom prst="rect">
            <a:avLst/>
          </a:prstGeom>
        </p:spPr>
        <p:txBody>
          <a:bodyPr vert="horz" wrap="square" lIns="0" tIns="55880" rIns="0" bIns="0" rtlCol="0">
            <a:spAutoFit/>
          </a:bodyPr>
          <a:lstStyle/>
          <a:p>
            <a:pPr marL="318339" defTabSz="1219170">
              <a:spcBef>
                <a:spcPts val="440"/>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33" dirty="0">
                <a:solidFill>
                  <a:srgbClr val="D9D9D9"/>
                </a:solidFill>
                <a:latin typeface="Arial"/>
                <a:cs typeface="Arial"/>
              </a:rPr>
              <a:t>secret</a:t>
            </a:r>
            <a:r>
              <a:rPr sz="1333" spc="-100" dirty="0">
                <a:solidFill>
                  <a:srgbClr val="D9D9D9"/>
                </a:solidFill>
                <a:latin typeface="Arial"/>
                <a:cs typeface="Arial"/>
              </a:rPr>
              <a:t> </a:t>
            </a:r>
            <a:r>
              <a:rPr sz="1333" spc="113" dirty="0">
                <a:solidFill>
                  <a:srgbClr val="D9D9D9"/>
                </a:solidFill>
                <a:latin typeface="Arial"/>
                <a:cs typeface="Arial"/>
              </a:rPr>
              <a:t>generic</a:t>
            </a:r>
            <a:endParaRPr sz="1333" dirty="0">
              <a:solidFill>
                <a:prstClr val="black"/>
              </a:solidFill>
              <a:latin typeface="Arial"/>
              <a:cs typeface="Arial"/>
            </a:endParaRPr>
          </a:p>
        </p:txBody>
      </p:sp>
      <p:grpSp>
        <p:nvGrpSpPr>
          <p:cNvPr id="18" name="object 18"/>
          <p:cNvGrpSpPr/>
          <p:nvPr/>
        </p:nvGrpSpPr>
        <p:grpSpPr>
          <a:xfrm>
            <a:off x="5293361" y="2062429"/>
            <a:ext cx="5836073" cy="520700"/>
            <a:chOff x="3970020" y="1546821"/>
            <a:chExt cx="4377055" cy="390525"/>
          </a:xfrm>
        </p:grpSpPr>
        <p:sp>
          <p:nvSpPr>
            <p:cNvPr id="19" name="object 19"/>
            <p:cNvSpPr/>
            <p:nvPr/>
          </p:nvSpPr>
          <p:spPr>
            <a:xfrm>
              <a:off x="3970020" y="1546821"/>
              <a:ext cx="4376928" cy="367322"/>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0" name="object 20"/>
            <p:cNvSpPr/>
            <p:nvPr/>
          </p:nvSpPr>
          <p:spPr>
            <a:xfrm>
              <a:off x="4405884" y="1556016"/>
              <a:ext cx="3197352" cy="380987"/>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1" name="object 21"/>
            <p:cNvSpPr/>
            <p:nvPr/>
          </p:nvSpPr>
          <p:spPr>
            <a:xfrm>
              <a:off x="4029456" y="1586483"/>
              <a:ext cx="4262755" cy="254635"/>
            </a:xfrm>
            <a:custGeom>
              <a:avLst/>
              <a:gdLst/>
              <a:ahLst/>
              <a:cxnLst/>
              <a:rect l="l" t="t" r="r" b="b"/>
              <a:pathLst>
                <a:path w="4262755" h="254635">
                  <a:moveTo>
                    <a:pt x="4262628" y="0"/>
                  </a:moveTo>
                  <a:lnTo>
                    <a:pt x="0" y="0"/>
                  </a:lnTo>
                  <a:lnTo>
                    <a:pt x="0" y="254508"/>
                  </a:lnTo>
                  <a:lnTo>
                    <a:pt x="4262628" y="254508"/>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22" name="object 22"/>
          <p:cNvSpPr txBox="1"/>
          <p:nvPr/>
        </p:nvSpPr>
        <p:spPr>
          <a:xfrm>
            <a:off x="5372608" y="2115312"/>
            <a:ext cx="5683673" cy="258126"/>
          </a:xfrm>
          <a:prstGeom prst="rect">
            <a:avLst/>
          </a:prstGeom>
        </p:spPr>
        <p:txBody>
          <a:bodyPr vert="horz" wrap="square" lIns="0" tIns="52493" rIns="0" bIns="0" rtlCol="0">
            <a:spAutoFit/>
          </a:bodyPr>
          <a:lstStyle/>
          <a:p>
            <a:pPr marL="684090" defTabSz="1219170">
              <a:spcBef>
                <a:spcPts val="413"/>
              </a:spcBef>
            </a:pPr>
            <a:r>
              <a:rPr sz="1333" spc="33" dirty="0">
                <a:solidFill>
                  <a:srgbClr val="D9D9D9"/>
                </a:solidFill>
                <a:latin typeface="Arial"/>
                <a:cs typeface="Arial"/>
              </a:rPr>
              <a:t>&lt;secret-name&gt;</a:t>
            </a:r>
            <a:r>
              <a:rPr sz="1333" spc="347" dirty="0">
                <a:solidFill>
                  <a:srgbClr val="D9D9D9"/>
                </a:solidFill>
                <a:latin typeface="Arial"/>
                <a:cs typeface="Arial"/>
              </a:rPr>
              <a:t> </a:t>
            </a:r>
            <a:r>
              <a:rPr sz="1333" spc="113" dirty="0">
                <a:solidFill>
                  <a:srgbClr val="D9D9D9"/>
                </a:solidFill>
                <a:latin typeface="Arial"/>
                <a:cs typeface="Arial"/>
              </a:rPr>
              <a:t>--from-literal=&lt;key&gt;=&lt;value&gt;</a:t>
            </a:r>
            <a:endParaRPr sz="1333">
              <a:solidFill>
                <a:prstClr val="black"/>
              </a:solidFill>
              <a:latin typeface="Arial"/>
              <a:cs typeface="Arial"/>
            </a:endParaRPr>
          </a:p>
        </p:txBody>
      </p:sp>
      <p:grpSp>
        <p:nvGrpSpPr>
          <p:cNvPr id="23" name="object 23"/>
          <p:cNvGrpSpPr/>
          <p:nvPr/>
        </p:nvGrpSpPr>
        <p:grpSpPr>
          <a:xfrm>
            <a:off x="5299455" y="3058109"/>
            <a:ext cx="5834380" cy="522393"/>
            <a:chOff x="3974591" y="2293581"/>
            <a:chExt cx="4375785" cy="391795"/>
          </a:xfrm>
        </p:grpSpPr>
        <p:sp>
          <p:nvSpPr>
            <p:cNvPr id="24" name="object 24"/>
            <p:cNvSpPr/>
            <p:nvPr/>
          </p:nvSpPr>
          <p:spPr>
            <a:xfrm>
              <a:off x="3974591" y="2293581"/>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5" name="object 25"/>
            <p:cNvSpPr/>
            <p:nvPr/>
          </p:nvSpPr>
          <p:spPr>
            <a:xfrm>
              <a:off x="4131563" y="2301189"/>
              <a:ext cx="2481072" cy="384098"/>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6" name="object 26"/>
            <p:cNvSpPr/>
            <p:nvPr/>
          </p:nvSpPr>
          <p:spPr>
            <a:xfrm>
              <a:off x="4034027" y="2333244"/>
              <a:ext cx="4261485" cy="254635"/>
            </a:xfrm>
            <a:custGeom>
              <a:avLst/>
              <a:gdLst/>
              <a:ahLst/>
              <a:cxnLst/>
              <a:rect l="l" t="t" r="r" b="b"/>
              <a:pathLst>
                <a:path w="4261484" h="254635">
                  <a:moveTo>
                    <a:pt x="4261104" y="0"/>
                  </a:moveTo>
                  <a:lnTo>
                    <a:pt x="0" y="0"/>
                  </a:lnTo>
                  <a:lnTo>
                    <a:pt x="0" y="254507"/>
                  </a:lnTo>
                  <a:lnTo>
                    <a:pt x="4261104" y="254507"/>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27" name="object 27"/>
          <p:cNvSpPr txBox="1"/>
          <p:nvPr/>
        </p:nvSpPr>
        <p:spPr>
          <a:xfrm>
            <a:off x="5674698" y="3147736"/>
            <a:ext cx="2983653" cy="223074"/>
          </a:xfrm>
          <a:prstGeom prst="rect">
            <a:avLst/>
          </a:prstGeom>
        </p:spPr>
        <p:txBody>
          <a:bodyPr vert="horz" wrap="square" lIns="0" tIns="17780" rIns="0" bIns="0" rtlCol="0">
            <a:spAutoFit/>
          </a:bodyPr>
          <a:lstStyle/>
          <a:p>
            <a:pPr marL="16933" defTabSz="1219170">
              <a:spcBef>
                <a:spcPts val="140"/>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33" dirty="0">
                <a:solidFill>
                  <a:srgbClr val="D9D9D9"/>
                </a:solidFill>
                <a:latin typeface="Arial"/>
                <a:cs typeface="Arial"/>
              </a:rPr>
              <a:t>secret </a:t>
            </a:r>
            <a:r>
              <a:rPr sz="1333" spc="113" dirty="0">
                <a:solidFill>
                  <a:srgbClr val="D9D9D9"/>
                </a:solidFill>
                <a:latin typeface="Arial"/>
                <a:cs typeface="Arial"/>
              </a:rPr>
              <a:t>generic</a:t>
            </a:r>
            <a:r>
              <a:rPr sz="1333" spc="140" dirty="0">
                <a:solidFill>
                  <a:srgbClr val="D9D9D9"/>
                </a:solidFill>
                <a:latin typeface="Arial"/>
                <a:cs typeface="Arial"/>
              </a:rPr>
              <a:t> </a:t>
            </a:r>
            <a:r>
              <a:rPr sz="1333" spc="367" dirty="0">
                <a:solidFill>
                  <a:srgbClr val="D9D9D9"/>
                </a:solidFill>
                <a:latin typeface="Arial"/>
                <a:cs typeface="Arial"/>
              </a:rPr>
              <a:t>\</a:t>
            </a:r>
            <a:endParaRPr sz="1333" dirty="0">
              <a:solidFill>
                <a:prstClr val="black"/>
              </a:solidFill>
              <a:latin typeface="Arial"/>
              <a:cs typeface="Arial"/>
            </a:endParaRPr>
          </a:p>
        </p:txBody>
      </p:sp>
      <p:grpSp>
        <p:nvGrpSpPr>
          <p:cNvPr id="28" name="object 28"/>
          <p:cNvGrpSpPr/>
          <p:nvPr/>
        </p:nvGrpSpPr>
        <p:grpSpPr>
          <a:xfrm>
            <a:off x="5293361" y="3118062"/>
            <a:ext cx="5836073" cy="789093"/>
            <a:chOff x="3970020" y="2345473"/>
            <a:chExt cx="4377055" cy="591820"/>
          </a:xfrm>
        </p:grpSpPr>
        <p:sp>
          <p:nvSpPr>
            <p:cNvPr id="29" name="object 29"/>
            <p:cNvSpPr/>
            <p:nvPr/>
          </p:nvSpPr>
          <p:spPr>
            <a:xfrm>
              <a:off x="4051116" y="2345473"/>
              <a:ext cx="160020" cy="20574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30" name="object 30"/>
            <p:cNvSpPr/>
            <p:nvPr/>
          </p:nvSpPr>
          <p:spPr>
            <a:xfrm>
              <a:off x="3970020" y="2548077"/>
              <a:ext cx="4376928" cy="365810"/>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1" name="object 31"/>
            <p:cNvSpPr/>
            <p:nvPr/>
          </p:nvSpPr>
          <p:spPr>
            <a:xfrm>
              <a:off x="4405884" y="2555760"/>
              <a:ext cx="2988564" cy="380987"/>
            </a:xfrm>
            <a:prstGeom prst="rect">
              <a:avLst/>
            </a:prstGeom>
            <a:blipFill>
              <a:blip r:embed="rId8"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2" name="object 32"/>
            <p:cNvSpPr/>
            <p:nvPr/>
          </p:nvSpPr>
          <p:spPr>
            <a:xfrm>
              <a:off x="4029456" y="2587751"/>
              <a:ext cx="4262755" cy="253365"/>
            </a:xfrm>
            <a:custGeom>
              <a:avLst/>
              <a:gdLst/>
              <a:ahLst/>
              <a:cxnLst/>
              <a:rect l="l" t="t" r="r" b="b"/>
              <a:pathLst>
                <a:path w="4262755" h="253364">
                  <a:moveTo>
                    <a:pt x="4262628" y="0"/>
                  </a:moveTo>
                  <a:lnTo>
                    <a:pt x="0" y="0"/>
                  </a:lnTo>
                  <a:lnTo>
                    <a:pt x="0" y="252984"/>
                  </a:lnTo>
                  <a:lnTo>
                    <a:pt x="4262628" y="252984"/>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33" name="object 33"/>
          <p:cNvSpPr txBox="1"/>
          <p:nvPr/>
        </p:nvSpPr>
        <p:spPr>
          <a:xfrm>
            <a:off x="6040120" y="3486573"/>
            <a:ext cx="3662680" cy="221365"/>
          </a:xfrm>
          <a:prstGeom prst="rect">
            <a:avLst/>
          </a:prstGeom>
        </p:spPr>
        <p:txBody>
          <a:bodyPr vert="horz" wrap="square" lIns="0" tIns="16087" rIns="0" bIns="0" rtlCol="0">
            <a:spAutoFit/>
          </a:bodyPr>
          <a:lstStyle/>
          <a:p>
            <a:pPr marL="16933" defTabSz="1219170">
              <a:spcBef>
                <a:spcPts val="127"/>
              </a:spcBef>
            </a:pPr>
            <a:r>
              <a:rPr sz="1333" spc="93" dirty="0">
                <a:solidFill>
                  <a:srgbClr val="D9D9D9"/>
                </a:solidFill>
                <a:latin typeface="Arial"/>
                <a:cs typeface="Arial"/>
              </a:rPr>
              <a:t>app-secret</a:t>
            </a:r>
            <a:r>
              <a:rPr sz="1333" spc="339" dirty="0">
                <a:solidFill>
                  <a:srgbClr val="D9D9D9"/>
                </a:solidFill>
                <a:latin typeface="Arial"/>
                <a:cs typeface="Arial"/>
              </a:rPr>
              <a:t> </a:t>
            </a:r>
            <a:r>
              <a:rPr sz="1333" spc="100" dirty="0">
                <a:solidFill>
                  <a:srgbClr val="D9D9D9"/>
                </a:solidFill>
                <a:latin typeface="Arial"/>
                <a:cs typeface="Arial"/>
              </a:rPr>
              <a:t>--from-literal=DB_Host=mysql</a:t>
            </a:r>
            <a:endParaRPr sz="1333">
              <a:solidFill>
                <a:prstClr val="black"/>
              </a:solidFill>
              <a:latin typeface="Arial"/>
              <a:cs typeface="Arial"/>
            </a:endParaRPr>
          </a:p>
        </p:txBody>
      </p:sp>
      <p:grpSp>
        <p:nvGrpSpPr>
          <p:cNvPr id="34" name="object 34"/>
          <p:cNvGrpSpPr/>
          <p:nvPr/>
        </p:nvGrpSpPr>
        <p:grpSpPr>
          <a:xfrm>
            <a:off x="5293361" y="3722557"/>
            <a:ext cx="5836073" cy="519007"/>
            <a:chOff x="3970020" y="2791917"/>
            <a:chExt cx="4377055" cy="389255"/>
          </a:xfrm>
        </p:grpSpPr>
        <p:sp>
          <p:nvSpPr>
            <p:cNvPr id="35" name="object 35"/>
            <p:cNvSpPr/>
            <p:nvPr/>
          </p:nvSpPr>
          <p:spPr>
            <a:xfrm>
              <a:off x="3970020" y="2791917"/>
              <a:ext cx="4376928" cy="365810"/>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6" name="object 36"/>
            <p:cNvSpPr/>
            <p:nvPr/>
          </p:nvSpPr>
          <p:spPr>
            <a:xfrm>
              <a:off x="5173980" y="2799600"/>
              <a:ext cx="2150364" cy="380987"/>
            </a:xfrm>
            <a:prstGeom prst="rect">
              <a:avLst/>
            </a:prstGeom>
            <a:blipFill>
              <a:blip r:embed="rId9"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7" name="object 37"/>
            <p:cNvSpPr/>
            <p:nvPr/>
          </p:nvSpPr>
          <p:spPr>
            <a:xfrm>
              <a:off x="4029456" y="2831591"/>
              <a:ext cx="4262755" cy="253365"/>
            </a:xfrm>
            <a:custGeom>
              <a:avLst/>
              <a:gdLst/>
              <a:ahLst/>
              <a:cxnLst/>
              <a:rect l="l" t="t" r="r" b="b"/>
              <a:pathLst>
                <a:path w="4262755" h="253364">
                  <a:moveTo>
                    <a:pt x="4262628" y="0"/>
                  </a:moveTo>
                  <a:lnTo>
                    <a:pt x="0" y="0"/>
                  </a:lnTo>
                  <a:lnTo>
                    <a:pt x="0" y="252984"/>
                  </a:lnTo>
                  <a:lnTo>
                    <a:pt x="4262628" y="252984"/>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38" name="object 38"/>
          <p:cNvSpPr txBox="1"/>
          <p:nvPr/>
        </p:nvSpPr>
        <p:spPr>
          <a:xfrm>
            <a:off x="10205721" y="3434589"/>
            <a:ext cx="165100" cy="304421"/>
          </a:xfrm>
          <a:prstGeom prst="rect">
            <a:avLst/>
          </a:prstGeom>
        </p:spPr>
        <p:txBody>
          <a:bodyPr vert="horz" wrap="square" lIns="0" tIns="16933" rIns="0" bIns="0" rtlCol="0">
            <a:spAutoFit/>
          </a:bodyPr>
          <a:lstStyle/>
          <a:p>
            <a:pPr marL="16933" defTabSz="1219170">
              <a:spcBef>
                <a:spcPts val="133"/>
              </a:spcBef>
            </a:pPr>
            <a:r>
              <a:rPr sz="1867" spc="507" dirty="0">
                <a:solidFill>
                  <a:srgbClr val="D9D9D9"/>
                </a:solidFill>
                <a:latin typeface="Arial"/>
                <a:cs typeface="Arial"/>
              </a:rPr>
              <a:t>\</a:t>
            </a:r>
            <a:endParaRPr sz="1867">
              <a:solidFill>
                <a:prstClr val="black"/>
              </a:solidFill>
              <a:latin typeface="Arial"/>
              <a:cs typeface="Arial"/>
            </a:endParaRPr>
          </a:p>
        </p:txBody>
      </p:sp>
      <p:grpSp>
        <p:nvGrpSpPr>
          <p:cNvPr id="39" name="object 39"/>
          <p:cNvGrpSpPr/>
          <p:nvPr/>
        </p:nvGrpSpPr>
        <p:grpSpPr>
          <a:xfrm>
            <a:off x="5313679" y="4793488"/>
            <a:ext cx="5834380" cy="522393"/>
            <a:chOff x="3985259" y="3595115"/>
            <a:chExt cx="4375785" cy="391795"/>
          </a:xfrm>
        </p:grpSpPr>
        <p:sp>
          <p:nvSpPr>
            <p:cNvPr id="40" name="object 40"/>
            <p:cNvSpPr/>
            <p:nvPr/>
          </p:nvSpPr>
          <p:spPr>
            <a:xfrm>
              <a:off x="3985259" y="3595115"/>
              <a:ext cx="4375403" cy="365810"/>
            </a:xfrm>
            <a:prstGeom prst="rect">
              <a:avLst/>
            </a:prstGeom>
            <a:blipFill>
              <a:blip r:embed="rId10"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1" name="object 41"/>
            <p:cNvSpPr/>
            <p:nvPr/>
          </p:nvSpPr>
          <p:spPr>
            <a:xfrm>
              <a:off x="4142231" y="3602735"/>
              <a:ext cx="2339340" cy="384098"/>
            </a:xfrm>
            <a:prstGeom prst="rect">
              <a:avLst/>
            </a:prstGeom>
            <a:blipFill>
              <a:blip r:embed="rId11"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2" name="object 42"/>
            <p:cNvSpPr/>
            <p:nvPr/>
          </p:nvSpPr>
          <p:spPr>
            <a:xfrm>
              <a:off x="4044695" y="3634739"/>
              <a:ext cx="4261485" cy="253365"/>
            </a:xfrm>
            <a:custGeom>
              <a:avLst/>
              <a:gdLst/>
              <a:ahLst/>
              <a:cxnLst/>
              <a:rect l="l" t="t" r="r" b="b"/>
              <a:pathLst>
                <a:path w="4261484" h="253364">
                  <a:moveTo>
                    <a:pt x="4261104" y="0"/>
                  </a:moveTo>
                  <a:lnTo>
                    <a:pt x="0" y="0"/>
                  </a:lnTo>
                  <a:lnTo>
                    <a:pt x="0" y="252984"/>
                  </a:lnTo>
                  <a:lnTo>
                    <a:pt x="4261104" y="252984"/>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43" name="object 43"/>
          <p:cNvSpPr txBox="1"/>
          <p:nvPr/>
        </p:nvSpPr>
        <p:spPr>
          <a:xfrm>
            <a:off x="5689261" y="4882556"/>
            <a:ext cx="2792307" cy="223074"/>
          </a:xfrm>
          <a:prstGeom prst="rect">
            <a:avLst/>
          </a:prstGeom>
        </p:spPr>
        <p:txBody>
          <a:bodyPr vert="horz" wrap="square" lIns="0" tIns="17780" rIns="0" bIns="0" rtlCol="0">
            <a:spAutoFit/>
          </a:bodyPr>
          <a:lstStyle/>
          <a:p>
            <a:pPr marL="16933" defTabSz="1219170">
              <a:spcBef>
                <a:spcPts val="140"/>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33" dirty="0">
                <a:solidFill>
                  <a:srgbClr val="D9D9D9"/>
                </a:solidFill>
                <a:latin typeface="Arial"/>
                <a:cs typeface="Arial"/>
              </a:rPr>
              <a:t>secret</a:t>
            </a:r>
            <a:r>
              <a:rPr sz="1333" spc="-120" dirty="0">
                <a:solidFill>
                  <a:srgbClr val="D9D9D9"/>
                </a:solidFill>
                <a:latin typeface="Arial"/>
                <a:cs typeface="Arial"/>
              </a:rPr>
              <a:t> </a:t>
            </a:r>
            <a:r>
              <a:rPr sz="1333" spc="113" dirty="0">
                <a:solidFill>
                  <a:srgbClr val="D9D9D9"/>
                </a:solidFill>
                <a:latin typeface="Arial"/>
                <a:cs typeface="Arial"/>
              </a:rPr>
              <a:t>generic</a:t>
            </a:r>
            <a:endParaRPr sz="1333" dirty="0">
              <a:solidFill>
                <a:prstClr val="black"/>
              </a:solidFill>
              <a:latin typeface="Arial"/>
              <a:cs typeface="Arial"/>
            </a:endParaRPr>
          </a:p>
        </p:txBody>
      </p:sp>
      <p:grpSp>
        <p:nvGrpSpPr>
          <p:cNvPr id="44" name="object 44"/>
          <p:cNvGrpSpPr/>
          <p:nvPr/>
        </p:nvGrpSpPr>
        <p:grpSpPr>
          <a:xfrm>
            <a:off x="5319777" y="4862396"/>
            <a:ext cx="5836073" cy="789093"/>
            <a:chOff x="3989832" y="3646797"/>
            <a:chExt cx="4377055" cy="591820"/>
          </a:xfrm>
        </p:grpSpPr>
        <p:sp>
          <p:nvSpPr>
            <p:cNvPr id="45" name="object 45"/>
            <p:cNvSpPr/>
            <p:nvPr/>
          </p:nvSpPr>
          <p:spPr>
            <a:xfrm>
              <a:off x="4061784" y="3646797"/>
              <a:ext cx="160020" cy="204470"/>
            </a:xfrm>
            <a:custGeom>
              <a:avLst/>
              <a:gdLst/>
              <a:ahLst/>
              <a:cxnLst/>
              <a:rect l="l" t="t" r="r" b="b"/>
              <a:pathLst>
                <a:path w="160020" h="204470">
                  <a:moveTo>
                    <a:pt x="0" y="0"/>
                  </a:moveTo>
                  <a:lnTo>
                    <a:pt x="0" y="204209"/>
                  </a:lnTo>
                  <a:lnTo>
                    <a:pt x="159603" y="102109"/>
                  </a:lnTo>
                  <a:lnTo>
                    <a:pt x="0" y="0"/>
                  </a:lnTo>
                  <a:close/>
                </a:path>
              </a:pathLst>
            </a:custGeom>
            <a:solidFill>
              <a:srgbClr val="1780C3"/>
            </a:solidFill>
          </p:spPr>
          <p:txBody>
            <a:bodyPr wrap="square" lIns="0" tIns="0" rIns="0" bIns="0" rtlCol="0"/>
            <a:lstStyle/>
            <a:p>
              <a:pPr defTabSz="1219170"/>
              <a:endParaRPr sz="2400">
                <a:solidFill>
                  <a:prstClr val="black"/>
                </a:solidFill>
                <a:latin typeface="Calibri"/>
              </a:endParaRPr>
            </a:p>
          </p:txBody>
        </p:sp>
        <p:sp>
          <p:nvSpPr>
            <p:cNvPr id="46" name="object 46"/>
            <p:cNvSpPr/>
            <p:nvPr/>
          </p:nvSpPr>
          <p:spPr>
            <a:xfrm>
              <a:off x="3989832" y="3848100"/>
              <a:ext cx="4376927" cy="367322"/>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7" name="object 47"/>
            <p:cNvSpPr/>
            <p:nvPr/>
          </p:nvSpPr>
          <p:spPr>
            <a:xfrm>
              <a:off x="4425696" y="3857244"/>
              <a:ext cx="3058668" cy="380987"/>
            </a:xfrm>
            <a:prstGeom prst="rect">
              <a:avLst/>
            </a:prstGeom>
            <a:blipFill>
              <a:blip r:embed="rId1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8" name="object 48"/>
            <p:cNvSpPr/>
            <p:nvPr/>
          </p:nvSpPr>
          <p:spPr>
            <a:xfrm>
              <a:off x="4049268" y="3887724"/>
              <a:ext cx="4262755" cy="254635"/>
            </a:xfrm>
            <a:custGeom>
              <a:avLst/>
              <a:gdLst/>
              <a:ahLst/>
              <a:cxnLst/>
              <a:rect l="l" t="t" r="r" b="b"/>
              <a:pathLst>
                <a:path w="4262755" h="254635">
                  <a:moveTo>
                    <a:pt x="4262628" y="0"/>
                  </a:moveTo>
                  <a:lnTo>
                    <a:pt x="0" y="0"/>
                  </a:lnTo>
                  <a:lnTo>
                    <a:pt x="0" y="254507"/>
                  </a:lnTo>
                  <a:lnTo>
                    <a:pt x="4262628" y="254507"/>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49" name="object 49"/>
          <p:cNvSpPr txBox="1"/>
          <p:nvPr/>
        </p:nvSpPr>
        <p:spPr>
          <a:xfrm>
            <a:off x="6066537" y="5220750"/>
            <a:ext cx="3756660" cy="221365"/>
          </a:xfrm>
          <a:prstGeom prst="rect">
            <a:avLst/>
          </a:prstGeom>
        </p:spPr>
        <p:txBody>
          <a:bodyPr vert="horz" wrap="square" lIns="0" tIns="16087" rIns="0" bIns="0" rtlCol="0">
            <a:spAutoFit/>
          </a:bodyPr>
          <a:lstStyle/>
          <a:p>
            <a:pPr marL="16933" defTabSz="1219170">
              <a:spcBef>
                <a:spcPts val="127"/>
              </a:spcBef>
            </a:pPr>
            <a:r>
              <a:rPr sz="1333" spc="40" dirty="0">
                <a:solidFill>
                  <a:srgbClr val="D9D9D9"/>
                </a:solidFill>
                <a:latin typeface="Arial"/>
                <a:cs typeface="Arial"/>
              </a:rPr>
              <a:t>&lt;secret-name&gt;</a:t>
            </a:r>
            <a:r>
              <a:rPr sz="1333" spc="373" dirty="0">
                <a:solidFill>
                  <a:srgbClr val="D9D9D9"/>
                </a:solidFill>
                <a:latin typeface="Arial"/>
                <a:cs typeface="Arial"/>
              </a:rPr>
              <a:t> </a:t>
            </a:r>
            <a:r>
              <a:rPr sz="1333" spc="173" dirty="0">
                <a:solidFill>
                  <a:srgbClr val="D9D9D9"/>
                </a:solidFill>
                <a:latin typeface="Arial"/>
                <a:cs typeface="Arial"/>
              </a:rPr>
              <a:t>--from-file=&lt;path-to-file&gt;</a:t>
            </a:r>
            <a:endParaRPr sz="1333">
              <a:solidFill>
                <a:prstClr val="black"/>
              </a:solidFill>
              <a:latin typeface="Arial"/>
              <a:cs typeface="Arial"/>
            </a:endParaRPr>
          </a:p>
        </p:txBody>
      </p:sp>
      <p:grpSp>
        <p:nvGrpSpPr>
          <p:cNvPr id="50" name="object 50"/>
          <p:cNvGrpSpPr/>
          <p:nvPr/>
        </p:nvGrpSpPr>
        <p:grpSpPr>
          <a:xfrm>
            <a:off x="5311648" y="5736336"/>
            <a:ext cx="5836073" cy="833120"/>
            <a:chOff x="3983735" y="4302252"/>
            <a:chExt cx="4377055" cy="624840"/>
          </a:xfrm>
        </p:grpSpPr>
        <p:sp>
          <p:nvSpPr>
            <p:cNvPr id="51" name="object 51"/>
            <p:cNvSpPr/>
            <p:nvPr/>
          </p:nvSpPr>
          <p:spPr>
            <a:xfrm>
              <a:off x="3983735" y="4302252"/>
              <a:ext cx="4376927" cy="367322"/>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2" name="object 52"/>
            <p:cNvSpPr/>
            <p:nvPr/>
          </p:nvSpPr>
          <p:spPr>
            <a:xfrm>
              <a:off x="4142231" y="4309872"/>
              <a:ext cx="2481071" cy="384098"/>
            </a:xfrm>
            <a:prstGeom prst="rect">
              <a:avLst/>
            </a:prstGeom>
            <a:blipFill>
              <a:blip r:embed="rId1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3" name="object 53"/>
            <p:cNvSpPr/>
            <p:nvPr/>
          </p:nvSpPr>
          <p:spPr>
            <a:xfrm>
              <a:off x="4043171" y="4341876"/>
              <a:ext cx="4262755" cy="254635"/>
            </a:xfrm>
            <a:custGeom>
              <a:avLst/>
              <a:gdLst/>
              <a:ahLst/>
              <a:cxnLst/>
              <a:rect l="l" t="t" r="r" b="b"/>
              <a:pathLst>
                <a:path w="4262755" h="254635">
                  <a:moveTo>
                    <a:pt x="4262628" y="0"/>
                  </a:moveTo>
                  <a:lnTo>
                    <a:pt x="0" y="0"/>
                  </a:lnTo>
                  <a:lnTo>
                    <a:pt x="0" y="254508"/>
                  </a:lnTo>
                  <a:lnTo>
                    <a:pt x="4262628" y="254508"/>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sp>
          <p:nvSpPr>
            <p:cNvPr id="54" name="object 54"/>
            <p:cNvSpPr/>
            <p:nvPr/>
          </p:nvSpPr>
          <p:spPr>
            <a:xfrm>
              <a:off x="4061784" y="4354105"/>
              <a:ext cx="160020" cy="20574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55" name="object 55"/>
            <p:cNvSpPr/>
            <p:nvPr/>
          </p:nvSpPr>
          <p:spPr>
            <a:xfrm>
              <a:off x="3983735" y="4538472"/>
              <a:ext cx="4376927" cy="365810"/>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6" name="object 56"/>
            <p:cNvSpPr/>
            <p:nvPr/>
          </p:nvSpPr>
          <p:spPr>
            <a:xfrm>
              <a:off x="4419599" y="4546092"/>
              <a:ext cx="3337559" cy="380987"/>
            </a:xfrm>
            <a:prstGeom prst="rect">
              <a:avLst/>
            </a:prstGeom>
            <a:blipFill>
              <a:blip r:embed="rId1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7" name="object 57"/>
            <p:cNvSpPr/>
            <p:nvPr/>
          </p:nvSpPr>
          <p:spPr>
            <a:xfrm>
              <a:off x="4043171" y="4578096"/>
              <a:ext cx="4262755" cy="253365"/>
            </a:xfrm>
            <a:custGeom>
              <a:avLst/>
              <a:gdLst/>
              <a:ahLst/>
              <a:cxnLst/>
              <a:rect l="l" t="t" r="r" b="b"/>
              <a:pathLst>
                <a:path w="4262755" h="253364">
                  <a:moveTo>
                    <a:pt x="4262628" y="0"/>
                  </a:moveTo>
                  <a:lnTo>
                    <a:pt x="0" y="0"/>
                  </a:lnTo>
                  <a:lnTo>
                    <a:pt x="0" y="252983"/>
                  </a:lnTo>
                  <a:lnTo>
                    <a:pt x="4262628" y="252983"/>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58" name="object 58"/>
          <p:cNvSpPr txBox="1"/>
          <p:nvPr/>
        </p:nvSpPr>
        <p:spPr>
          <a:xfrm>
            <a:off x="5688585" y="5716048"/>
            <a:ext cx="4496647" cy="655606"/>
          </a:xfrm>
          <a:prstGeom prst="rect">
            <a:avLst/>
          </a:prstGeom>
        </p:spPr>
        <p:txBody>
          <a:bodyPr vert="horz" wrap="square" lIns="0" tIns="128693" rIns="0" bIns="0" rtlCol="0">
            <a:spAutoFit/>
          </a:bodyPr>
          <a:lstStyle/>
          <a:p>
            <a:pPr marL="16933" defTabSz="1219170">
              <a:spcBef>
                <a:spcPts val="1013"/>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33" dirty="0">
                <a:solidFill>
                  <a:srgbClr val="D9D9D9"/>
                </a:solidFill>
                <a:latin typeface="Arial"/>
                <a:cs typeface="Arial"/>
              </a:rPr>
              <a:t>secret </a:t>
            </a:r>
            <a:r>
              <a:rPr sz="1333" spc="113" dirty="0">
                <a:solidFill>
                  <a:srgbClr val="D9D9D9"/>
                </a:solidFill>
                <a:latin typeface="Arial"/>
                <a:cs typeface="Arial"/>
              </a:rPr>
              <a:t>generic</a:t>
            </a:r>
            <a:r>
              <a:rPr sz="1333" spc="152" dirty="0">
                <a:solidFill>
                  <a:srgbClr val="D9D9D9"/>
                </a:solidFill>
                <a:latin typeface="Arial"/>
                <a:cs typeface="Arial"/>
              </a:rPr>
              <a:t> </a:t>
            </a:r>
            <a:r>
              <a:rPr sz="1333" spc="367" dirty="0">
                <a:solidFill>
                  <a:srgbClr val="D9D9D9"/>
                </a:solidFill>
                <a:latin typeface="Arial"/>
                <a:cs typeface="Arial"/>
              </a:rPr>
              <a:t>\</a:t>
            </a:r>
            <a:endParaRPr sz="1333" dirty="0">
              <a:solidFill>
                <a:prstClr val="black"/>
              </a:solidFill>
              <a:latin typeface="Arial"/>
              <a:cs typeface="Arial"/>
            </a:endParaRPr>
          </a:p>
          <a:p>
            <a:pPr marL="386070" defTabSz="1219170">
              <a:spcBef>
                <a:spcPts val="867"/>
              </a:spcBef>
            </a:pPr>
            <a:r>
              <a:rPr sz="1333" spc="93" dirty="0">
                <a:solidFill>
                  <a:srgbClr val="D9D9D9"/>
                </a:solidFill>
                <a:latin typeface="Arial"/>
                <a:cs typeface="Arial"/>
              </a:rPr>
              <a:t>app-secret</a:t>
            </a:r>
            <a:r>
              <a:rPr sz="1333" spc="333" dirty="0">
                <a:solidFill>
                  <a:srgbClr val="D9D9D9"/>
                </a:solidFill>
                <a:latin typeface="Arial"/>
                <a:cs typeface="Arial"/>
              </a:rPr>
              <a:t> </a:t>
            </a:r>
            <a:r>
              <a:rPr sz="1333" spc="140" dirty="0">
                <a:solidFill>
                  <a:srgbClr val="D9D9D9"/>
                </a:solidFill>
                <a:latin typeface="Arial"/>
                <a:cs typeface="Arial"/>
              </a:rPr>
              <a:t>--from-file=app_secret.properties</a:t>
            </a:r>
            <a:endParaRPr sz="1333" dirty="0">
              <a:solidFill>
                <a:prstClr val="black"/>
              </a:solidFill>
              <a:latin typeface="Arial"/>
              <a:cs typeface="Arial"/>
            </a:endParaRPr>
          </a:p>
        </p:txBody>
      </p:sp>
      <p:grpSp>
        <p:nvGrpSpPr>
          <p:cNvPr id="59" name="object 59"/>
          <p:cNvGrpSpPr/>
          <p:nvPr/>
        </p:nvGrpSpPr>
        <p:grpSpPr>
          <a:xfrm>
            <a:off x="5293361" y="4055805"/>
            <a:ext cx="5836073" cy="519007"/>
            <a:chOff x="3970020" y="3041853"/>
            <a:chExt cx="4377055" cy="389255"/>
          </a:xfrm>
        </p:grpSpPr>
        <p:sp>
          <p:nvSpPr>
            <p:cNvPr id="60" name="object 60"/>
            <p:cNvSpPr/>
            <p:nvPr/>
          </p:nvSpPr>
          <p:spPr>
            <a:xfrm>
              <a:off x="3970020" y="3041853"/>
              <a:ext cx="4376928" cy="365810"/>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61" name="object 61"/>
            <p:cNvSpPr/>
            <p:nvPr/>
          </p:nvSpPr>
          <p:spPr>
            <a:xfrm>
              <a:off x="5173980" y="3049536"/>
              <a:ext cx="2569464" cy="380987"/>
            </a:xfrm>
            <a:prstGeom prst="rect">
              <a:avLst/>
            </a:prstGeom>
            <a:blipFill>
              <a:blip r:embed="rId1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62" name="object 62"/>
            <p:cNvSpPr/>
            <p:nvPr/>
          </p:nvSpPr>
          <p:spPr>
            <a:xfrm>
              <a:off x="4029456" y="3081528"/>
              <a:ext cx="4262755" cy="253365"/>
            </a:xfrm>
            <a:custGeom>
              <a:avLst/>
              <a:gdLst/>
              <a:ahLst/>
              <a:cxnLst/>
              <a:rect l="l" t="t" r="r" b="b"/>
              <a:pathLst>
                <a:path w="4262755" h="253364">
                  <a:moveTo>
                    <a:pt x="4262628" y="0"/>
                  </a:moveTo>
                  <a:lnTo>
                    <a:pt x="0" y="0"/>
                  </a:lnTo>
                  <a:lnTo>
                    <a:pt x="0" y="252984"/>
                  </a:lnTo>
                  <a:lnTo>
                    <a:pt x="4262628" y="252984"/>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63" name="object 63"/>
          <p:cNvSpPr txBox="1"/>
          <p:nvPr/>
        </p:nvSpPr>
        <p:spPr>
          <a:xfrm>
            <a:off x="7064587" y="3811693"/>
            <a:ext cx="3107267" cy="554725"/>
          </a:xfrm>
          <a:prstGeom prst="rect">
            <a:avLst/>
          </a:prstGeom>
        </p:spPr>
        <p:txBody>
          <a:bodyPr vert="horz" wrap="square" lIns="0" tIns="16087" rIns="0" bIns="0" rtlCol="0">
            <a:spAutoFit/>
          </a:bodyPr>
          <a:lstStyle/>
          <a:p>
            <a:pPr marL="16933" defTabSz="1219170">
              <a:spcBef>
                <a:spcPts val="127"/>
              </a:spcBef>
            </a:pPr>
            <a:r>
              <a:rPr sz="1333" spc="113" dirty="0">
                <a:solidFill>
                  <a:srgbClr val="D9D9D9"/>
                </a:solidFill>
                <a:latin typeface="Arial"/>
                <a:cs typeface="Arial"/>
              </a:rPr>
              <a:t>--from-literal=DB_User=root</a:t>
            </a:r>
            <a:endParaRPr sz="1333">
              <a:solidFill>
                <a:prstClr val="black"/>
              </a:solidFill>
              <a:latin typeface="Arial"/>
              <a:cs typeface="Arial"/>
            </a:endParaRPr>
          </a:p>
          <a:p>
            <a:pPr marL="16933" defTabSz="1219170">
              <a:spcBef>
                <a:spcPts val="1027"/>
              </a:spcBef>
            </a:pPr>
            <a:r>
              <a:rPr sz="1333" spc="73" dirty="0">
                <a:solidFill>
                  <a:srgbClr val="D9D9D9"/>
                </a:solidFill>
                <a:latin typeface="Arial"/>
                <a:cs typeface="Arial"/>
              </a:rPr>
              <a:t>--from-literal=DB_Password=paswrd</a:t>
            </a:r>
            <a:endParaRPr sz="1333">
              <a:solidFill>
                <a:prstClr val="black"/>
              </a:solidFill>
              <a:latin typeface="Arial"/>
              <a:cs typeface="Arial"/>
            </a:endParaRPr>
          </a:p>
        </p:txBody>
      </p:sp>
    </p:spTree>
    <p:extLst>
      <p:ext uri="{BB962C8B-B14F-4D97-AF65-F5344CB8AC3E}">
        <p14:creationId xmlns:p14="http://schemas.microsoft.com/office/powerpoint/2010/main" val="18323935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26137"/>
            <a:ext cx="4172373" cy="694207"/>
          </a:xfrm>
          <a:prstGeom prst="rect">
            <a:avLst/>
          </a:prstGeom>
        </p:spPr>
        <p:txBody>
          <a:bodyPr vert="horz" wrap="square" lIns="0" tIns="16933" rIns="0" bIns="0" rtlCol="0">
            <a:spAutoFit/>
          </a:bodyPr>
          <a:lstStyle/>
          <a:p>
            <a:pPr marL="16933">
              <a:spcBef>
                <a:spcPts val="133"/>
              </a:spcBef>
            </a:pPr>
            <a:r>
              <a:rPr spc="40" dirty="0">
                <a:solidFill>
                  <a:schemeClr val="tx1"/>
                </a:solidFill>
              </a:rPr>
              <a:t>Create</a:t>
            </a:r>
            <a:r>
              <a:rPr spc="-447" dirty="0">
                <a:solidFill>
                  <a:schemeClr val="tx1"/>
                </a:solidFill>
              </a:rPr>
              <a:t> </a:t>
            </a:r>
            <a:r>
              <a:rPr spc="13" dirty="0">
                <a:solidFill>
                  <a:schemeClr val="tx1"/>
                </a:solidFill>
              </a:rPr>
              <a:t>Secrets</a:t>
            </a:r>
          </a:p>
        </p:txBody>
      </p:sp>
      <p:grpSp>
        <p:nvGrpSpPr>
          <p:cNvPr id="6" name="object 6"/>
          <p:cNvGrpSpPr/>
          <p:nvPr/>
        </p:nvGrpSpPr>
        <p:grpSpPr>
          <a:xfrm>
            <a:off x="5281169" y="1469069"/>
            <a:ext cx="5836073" cy="522393"/>
            <a:chOff x="3960876" y="1101801"/>
            <a:chExt cx="4377055" cy="391795"/>
          </a:xfrm>
        </p:grpSpPr>
        <p:sp>
          <p:nvSpPr>
            <p:cNvPr id="7" name="object 7"/>
            <p:cNvSpPr/>
            <p:nvPr/>
          </p:nvSpPr>
          <p:spPr>
            <a:xfrm>
              <a:off x="3960876" y="1101801"/>
              <a:ext cx="4376928" cy="365810"/>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8" name="object 8"/>
            <p:cNvSpPr/>
            <p:nvPr/>
          </p:nvSpPr>
          <p:spPr>
            <a:xfrm>
              <a:off x="4119372" y="1109421"/>
              <a:ext cx="1552955" cy="384098"/>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4020312" y="1141475"/>
              <a:ext cx="4262755" cy="253365"/>
            </a:xfrm>
            <a:custGeom>
              <a:avLst/>
              <a:gdLst/>
              <a:ahLst/>
              <a:cxnLst/>
              <a:rect l="l" t="t" r="r" b="b"/>
              <a:pathLst>
                <a:path w="4262755" h="253365">
                  <a:moveTo>
                    <a:pt x="4262628" y="0"/>
                  </a:moveTo>
                  <a:lnTo>
                    <a:pt x="0" y="0"/>
                  </a:lnTo>
                  <a:lnTo>
                    <a:pt x="0" y="252984"/>
                  </a:lnTo>
                  <a:lnTo>
                    <a:pt x="4262628" y="252984"/>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10" name="object 10"/>
          <p:cNvSpPr txBox="1"/>
          <p:nvPr/>
        </p:nvSpPr>
        <p:spPr>
          <a:xfrm>
            <a:off x="5360416" y="1521967"/>
            <a:ext cx="5683673" cy="259837"/>
          </a:xfrm>
          <a:prstGeom prst="rect">
            <a:avLst/>
          </a:prstGeom>
        </p:spPr>
        <p:txBody>
          <a:bodyPr vert="horz" wrap="square" lIns="0" tIns="54187" rIns="0" bIns="0" rtlCol="0">
            <a:spAutoFit/>
          </a:bodyPr>
          <a:lstStyle/>
          <a:p>
            <a:pPr marL="314105" defTabSz="1219170">
              <a:spcBef>
                <a:spcPts val="427"/>
              </a:spcBef>
            </a:pPr>
            <a:r>
              <a:rPr sz="1333" spc="140" dirty="0">
                <a:solidFill>
                  <a:srgbClr val="D9D9D9"/>
                </a:solidFill>
                <a:latin typeface="Arial"/>
                <a:cs typeface="Arial"/>
              </a:rPr>
              <a:t>kubectl </a:t>
            </a:r>
            <a:r>
              <a:rPr sz="1333" spc="120" dirty="0">
                <a:solidFill>
                  <a:srgbClr val="D9D9D9"/>
                </a:solidFill>
                <a:latin typeface="Arial"/>
                <a:cs typeface="Arial"/>
              </a:rPr>
              <a:t>create</a:t>
            </a:r>
            <a:r>
              <a:rPr sz="1333" spc="133" dirty="0">
                <a:solidFill>
                  <a:srgbClr val="D9D9D9"/>
                </a:solidFill>
                <a:latin typeface="Arial"/>
                <a:cs typeface="Arial"/>
              </a:rPr>
              <a:t> </a:t>
            </a:r>
            <a:r>
              <a:rPr sz="1333" spc="180" dirty="0">
                <a:solidFill>
                  <a:srgbClr val="D9D9D9"/>
                </a:solidFill>
                <a:latin typeface="Arial"/>
                <a:cs typeface="Arial"/>
              </a:rPr>
              <a:t>–f</a:t>
            </a:r>
            <a:endParaRPr sz="1333" dirty="0">
              <a:solidFill>
                <a:prstClr val="black"/>
              </a:solidFill>
              <a:latin typeface="Arial"/>
              <a:cs typeface="Arial"/>
            </a:endParaRPr>
          </a:p>
        </p:txBody>
      </p:sp>
      <p:sp>
        <p:nvSpPr>
          <p:cNvPr id="16" name="object 16"/>
          <p:cNvSpPr/>
          <p:nvPr/>
        </p:nvSpPr>
        <p:spPr>
          <a:xfrm>
            <a:off x="5360415" y="2773680"/>
            <a:ext cx="6226387" cy="2954867"/>
          </a:xfrm>
          <a:custGeom>
            <a:avLst/>
            <a:gdLst/>
            <a:ahLst/>
            <a:cxnLst/>
            <a:rect l="l" t="t" r="r" b="b"/>
            <a:pathLst>
              <a:path w="4669790" h="2216150">
                <a:moveTo>
                  <a:pt x="4669536" y="0"/>
                </a:moveTo>
                <a:lnTo>
                  <a:pt x="0" y="0"/>
                </a:lnTo>
                <a:lnTo>
                  <a:pt x="0" y="2215896"/>
                </a:lnTo>
                <a:lnTo>
                  <a:pt x="4669536" y="2215896"/>
                </a:lnTo>
                <a:lnTo>
                  <a:pt x="4669536"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17" name="object 17"/>
          <p:cNvSpPr txBox="1"/>
          <p:nvPr/>
        </p:nvSpPr>
        <p:spPr>
          <a:xfrm>
            <a:off x="5360415" y="2367281"/>
            <a:ext cx="1922780" cy="324875"/>
          </a:xfrm>
          <a:prstGeom prst="rect">
            <a:avLst/>
          </a:prstGeom>
          <a:solidFill>
            <a:srgbClr val="000000">
              <a:alpha val="50195"/>
            </a:srgbClr>
          </a:solidFill>
        </p:spPr>
        <p:txBody>
          <a:bodyPr vert="horz" wrap="square" lIns="0" tIns="47413" rIns="0" bIns="0" rtlCol="0">
            <a:spAutoFit/>
          </a:bodyPr>
          <a:lstStyle/>
          <a:p>
            <a:pPr marL="121070" defTabSz="1219170">
              <a:spcBef>
                <a:spcPts val="373"/>
              </a:spcBef>
            </a:pPr>
            <a:r>
              <a:rPr spc="-13" dirty="0">
                <a:solidFill>
                  <a:srgbClr val="FFFFFF"/>
                </a:solidFill>
                <a:latin typeface="Noto Sans"/>
                <a:cs typeface="Noto Sans"/>
              </a:rPr>
              <a:t>secret-data.yaml</a:t>
            </a:r>
            <a:endParaRPr>
              <a:solidFill>
                <a:prstClr val="black"/>
              </a:solidFill>
              <a:latin typeface="Noto Sans"/>
              <a:cs typeface="Noto Sans"/>
            </a:endParaRPr>
          </a:p>
        </p:txBody>
      </p:sp>
      <p:sp>
        <p:nvSpPr>
          <p:cNvPr id="18" name="object 18"/>
          <p:cNvSpPr txBox="1"/>
          <p:nvPr/>
        </p:nvSpPr>
        <p:spPr>
          <a:xfrm>
            <a:off x="5772065" y="4291100"/>
            <a:ext cx="2698327" cy="818301"/>
          </a:xfrm>
          <a:prstGeom prst="rect">
            <a:avLst/>
          </a:prstGeom>
        </p:spPr>
        <p:txBody>
          <a:bodyPr vert="horz" wrap="square" lIns="0" tIns="0" rIns="0" bIns="0" rtlCol="0">
            <a:spAutoFit/>
          </a:bodyPr>
          <a:lstStyle/>
          <a:p>
            <a:pPr defTabSz="1219170">
              <a:lnSpc>
                <a:spcPts val="1933"/>
              </a:lnSpc>
            </a:pPr>
            <a:r>
              <a:rPr sz="1867" spc="-7" dirty="0">
                <a:solidFill>
                  <a:srgbClr val="9776AA"/>
                </a:solidFill>
                <a:latin typeface="Courier New"/>
                <a:cs typeface="Courier New"/>
              </a:rPr>
              <a:t>DB_Host</a:t>
            </a:r>
            <a:r>
              <a:rPr sz="1867" spc="-7" dirty="0">
                <a:solidFill>
                  <a:srgbClr val="A9B7C5"/>
                </a:solidFill>
                <a:latin typeface="Courier New"/>
                <a:cs typeface="Courier New"/>
              </a:rPr>
              <a:t>:</a:t>
            </a:r>
            <a:r>
              <a:rPr sz="1867" spc="-27" dirty="0">
                <a:solidFill>
                  <a:srgbClr val="A9B7C5"/>
                </a:solidFill>
                <a:latin typeface="Courier New"/>
                <a:cs typeface="Courier New"/>
              </a:rPr>
              <a:t> </a:t>
            </a:r>
            <a:r>
              <a:rPr sz="1867" spc="-7" dirty="0">
                <a:solidFill>
                  <a:srgbClr val="A9B7C5"/>
                </a:solidFill>
                <a:latin typeface="Courier New"/>
                <a:cs typeface="Courier New"/>
              </a:rPr>
              <a:t>mysql</a:t>
            </a:r>
            <a:endParaRPr sz="1867">
              <a:solidFill>
                <a:prstClr val="black"/>
              </a:solidFill>
              <a:latin typeface="Courier New"/>
              <a:cs typeface="Courier New"/>
            </a:endParaRPr>
          </a:p>
          <a:p>
            <a:pPr defTabSz="1219170"/>
            <a:r>
              <a:rPr sz="1867" spc="-7" dirty="0">
                <a:solidFill>
                  <a:srgbClr val="9776AA"/>
                </a:solidFill>
                <a:latin typeface="Courier New"/>
                <a:cs typeface="Courier New"/>
              </a:rPr>
              <a:t>DB_User</a:t>
            </a:r>
            <a:r>
              <a:rPr sz="1867" spc="-7" dirty="0">
                <a:solidFill>
                  <a:srgbClr val="A9B7C5"/>
                </a:solidFill>
                <a:latin typeface="Courier New"/>
                <a:cs typeface="Courier New"/>
              </a:rPr>
              <a:t>: </a:t>
            </a:r>
            <a:r>
              <a:rPr sz="1867" spc="-13" dirty="0">
                <a:solidFill>
                  <a:srgbClr val="A9B7C5"/>
                </a:solidFill>
                <a:latin typeface="Courier New"/>
                <a:cs typeface="Courier New"/>
              </a:rPr>
              <a:t>root  </a:t>
            </a: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113" dirty="0">
                <a:solidFill>
                  <a:srgbClr val="A9B7C5"/>
                </a:solidFill>
                <a:latin typeface="Courier New"/>
                <a:cs typeface="Courier New"/>
              </a:rPr>
              <a:t> </a:t>
            </a:r>
            <a:r>
              <a:rPr sz="1867" spc="-7" dirty="0">
                <a:solidFill>
                  <a:srgbClr val="A9B7C5"/>
                </a:solidFill>
                <a:latin typeface="Courier New"/>
                <a:cs typeface="Courier New"/>
              </a:rPr>
              <a:t>paswrd</a:t>
            </a:r>
            <a:endParaRPr sz="1867">
              <a:solidFill>
                <a:prstClr val="black"/>
              </a:solidFill>
              <a:latin typeface="Courier New"/>
              <a:cs typeface="Courier New"/>
            </a:endParaRPr>
          </a:p>
        </p:txBody>
      </p:sp>
      <p:grpSp>
        <p:nvGrpSpPr>
          <p:cNvPr id="19" name="object 19"/>
          <p:cNvGrpSpPr/>
          <p:nvPr/>
        </p:nvGrpSpPr>
        <p:grpSpPr>
          <a:xfrm>
            <a:off x="5275071" y="5965953"/>
            <a:ext cx="5834380" cy="522393"/>
            <a:chOff x="3956303" y="4474464"/>
            <a:chExt cx="4375785" cy="391795"/>
          </a:xfrm>
        </p:grpSpPr>
        <p:sp>
          <p:nvSpPr>
            <p:cNvPr id="20" name="object 20"/>
            <p:cNvSpPr/>
            <p:nvPr/>
          </p:nvSpPr>
          <p:spPr>
            <a:xfrm>
              <a:off x="3956303" y="4474464"/>
              <a:ext cx="4375404" cy="365810"/>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1" name="object 21"/>
            <p:cNvSpPr/>
            <p:nvPr/>
          </p:nvSpPr>
          <p:spPr>
            <a:xfrm>
              <a:off x="4113275" y="4482084"/>
              <a:ext cx="2695955" cy="384098"/>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2" name="object 22"/>
            <p:cNvSpPr/>
            <p:nvPr/>
          </p:nvSpPr>
          <p:spPr>
            <a:xfrm>
              <a:off x="4015739" y="4514088"/>
              <a:ext cx="4261485" cy="253365"/>
            </a:xfrm>
            <a:custGeom>
              <a:avLst/>
              <a:gdLst/>
              <a:ahLst/>
              <a:cxnLst/>
              <a:rect l="l" t="t" r="r" b="b"/>
              <a:pathLst>
                <a:path w="4261484" h="253364">
                  <a:moveTo>
                    <a:pt x="4261104" y="0"/>
                  </a:moveTo>
                  <a:lnTo>
                    <a:pt x="0" y="0"/>
                  </a:lnTo>
                  <a:lnTo>
                    <a:pt x="0" y="252984"/>
                  </a:lnTo>
                  <a:lnTo>
                    <a:pt x="4261104" y="252984"/>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23" name="object 23"/>
          <p:cNvSpPr txBox="1"/>
          <p:nvPr/>
        </p:nvSpPr>
        <p:spPr>
          <a:xfrm>
            <a:off x="5354321" y="6018785"/>
            <a:ext cx="5681980" cy="260691"/>
          </a:xfrm>
          <a:prstGeom prst="rect">
            <a:avLst/>
          </a:prstGeom>
        </p:spPr>
        <p:txBody>
          <a:bodyPr vert="horz" wrap="square" lIns="0" tIns="55033" rIns="0" bIns="0" rtlCol="0">
            <a:spAutoFit/>
          </a:bodyPr>
          <a:lstStyle/>
          <a:p>
            <a:pPr marL="313259" defTabSz="1219170">
              <a:spcBef>
                <a:spcPts val="433"/>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80" dirty="0">
                <a:solidFill>
                  <a:srgbClr val="D9D9D9"/>
                </a:solidFill>
                <a:latin typeface="Arial"/>
                <a:cs typeface="Arial"/>
              </a:rPr>
              <a:t>–f</a:t>
            </a:r>
            <a:r>
              <a:rPr sz="1333" spc="-100" dirty="0">
                <a:solidFill>
                  <a:srgbClr val="D9D9D9"/>
                </a:solidFill>
                <a:latin typeface="Arial"/>
                <a:cs typeface="Arial"/>
              </a:rPr>
              <a:t> </a:t>
            </a:r>
            <a:r>
              <a:rPr sz="1333" spc="127" dirty="0">
                <a:solidFill>
                  <a:srgbClr val="D9D9D9"/>
                </a:solidFill>
                <a:latin typeface="Arial"/>
                <a:cs typeface="Arial"/>
              </a:rPr>
              <a:t>secret-data.yaml</a:t>
            </a:r>
            <a:endParaRPr sz="1333" dirty="0">
              <a:solidFill>
                <a:prstClr val="black"/>
              </a:solidFill>
              <a:latin typeface="Arial"/>
              <a:cs typeface="Arial"/>
            </a:endParaRPr>
          </a:p>
        </p:txBody>
      </p:sp>
      <p:sp>
        <p:nvSpPr>
          <p:cNvPr id="24" name="object 24"/>
          <p:cNvSpPr/>
          <p:nvPr/>
        </p:nvSpPr>
        <p:spPr>
          <a:xfrm>
            <a:off x="5377104" y="6035089"/>
            <a:ext cx="213360" cy="27432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25" name="object 25"/>
          <p:cNvSpPr txBox="1"/>
          <p:nvPr/>
        </p:nvSpPr>
        <p:spPr>
          <a:xfrm>
            <a:off x="979424" y="1946655"/>
            <a:ext cx="2993813" cy="903004"/>
          </a:xfrm>
          <a:prstGeom prst="rect">
            <a:avLst/>
          </a:prstGeom>
          <a:solidFill>
            <a:srgbClr val="2B2B2B"/>
          </a:solidFill>
        </p:spPr>
        <p:txBody>
          <a:bodyPr vert="horz" wrap="square" lIns="0" tIns="40640" rIns="0" bIns="0" rtlCol="0">
            <a:spAutoFit/>
          </a:bodyPr>
          <a:lstStyle/>
          <a:p>
            <a:pPr marL="121070" marR="163403" defTabSz="1219170">
              <a:spcBef>
                <a:spcPts val="320"/>
              </a:spcBef>
            </a:pPr>
            <a:r>
              <a:rPr sz="1867" spc="-7" dirty="0">
                <a:solidFill>
                  <a:srgbClr val="9776AA"/>
                </a:solidFill>
                <a:latin typeface="Courier New"/>
                <a:cs typeface="Courier New"/>
              </a:rPr>
              <a:t>DB_Host</a:t>
            </a:r>
            <a:r>
              <a:rPr sz="1867" spc="-7" dirty="0">
                <a:solidFill>
                  <a:srgbClr val="A9B7C5"/>
                </a:solidFill>
                <a:latin typeface="Courier New"/>
                <a:cs typeface="Courier New"/>
              </a:rPr>
              <a:t>: mysql  </a:t>
            </a:r>
            <a:r>
              <a:rPr sz="1867" spc="-7" dirty="0">
                <a:solidFill>
                  <a:srgbClr val="9776AA"/>
                </a:solidFill>
                <a:latin typeface="Courier New"/>
                <a:cs typeface="Courier New"/>
              </a:rPr>
              <a:t>DB_User</a:t>
            </a:r>
            <a:r>
              <a:rPr sz="1867" spc="-7" dirty="0">
                <a:solidFill>
                  <a:srgbClr val="A9B7C5"/>
                </a:solidFill>
                <a:latin typeface="Courier New"/>
                <a:cs typeface="Courier New"/>
              </a:rPr>
              <a:t>: </a:t>
            </a:r>
            <a:r>
              <a:rPr sz="1867" spc="-13" dirty="0">
                <a:solidFill>
                  <a:srgbClr val="A9B7C5"/>
                </a:solidFill>
                <a:latin typeface="Courier New"/>
                <a:cs typeface="Courier New"/>
              </a:rPr>
              <a:t>root  </a:t>
            </a: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113" dirty="0">
                <a:solidFill>
                  <a:srgbClr val="A9B7C5"/>
                </a:solidFill>
                <a:latin typeface="Courier New"/>
                <a:cs typeface="Courier New"/>
              </a:rPr>
              <a:t> </a:t>
            </a:r>
            <a:r>
              <a:rPr sz="1867" spc="-7" dirty="0">
                <a:solidFill>
                  <a:srgbClr val="A9B7C5"/>
                </a:solidFill>
                <a:latin typeface="Courier New"/>
                <a:cs typeface="Courier New"/>
              </a:rPr>
              <a:t>paswrd</a:t>
            </a:r>
            <a:endParaRPr sz="1867">
              <a:solidFill>
                <a:prstClr val="black"/>
              </a:solidFill>
              <a:latin typeface="Courier New"/>
              <a:cs typeface="Courier New"/>
            </a:endParaRPr>
          </a:p>
        </p:txBody>
      </p:sp>
      <p:sp>
        <p:nvSpPr>
          <p:cNvPr id="26" name="object 26"/>
          <p:cNvSpPr txBox="1"/>
          <p:nvPr/>
        </p:nvSpPr>
        <p:spPr>
          <a:xfrm>
            <a:off x="1993392" y="1546352"/>
            <a:ext cx="872067" cy="325729"/>
          </a:xfrm>
          <a:prstGeom prst="rect">
            <a:avLst/>
          </a:prstGeom>
          <a:solidFill>
            <a:srgbClr val="000000">
              <a:alpha val="50195"/>
            </a:srgbClr>
          </a:solidFill>
        </p:spPr>
        <p:txBody>
          <a:bodyPr vert="horz" wrap="square" lIns="0" tIns="48259" rIns="0" bIns="0" rtlCol="0">
            <a:spAutoFit/>
          </a:bodyPr>
          <a:lstStyle/>
          <a:p>
            <a:pPr marL="122764" defTabSz="1219170">
              <a:spcBef>
                <a:spcPts val="379"/>
              </a:spcBef>
            </a:pPr>
            <a:r>
              <a:rPr spc="-13" dirty="0">
                <a:solidFill>
                  <a:srgbClr val="FFFFFF"/>
                </a:solidFill>
                <a:latin typeface="Noto Sans"/>
                <a:cs typeface="Noto Sans"/>
              </a:rPr>
              <a:t>Secret</a:t>
            </a:r>
            <a:endParaRPr>
              <a:solidFill>
                <a:prstClr val="black"/>
              </a:solidFill>
              <a:latin typeface="Noto Sans"/>
              <a:cs typeface="Noto Sans"/>
            </a:endParaRPr>
          </a:p>
        </p:txBody>
      </p:sp>
      <p:grpSp>
        <p:nvGrpSpPr>
          <p:cNvPr id="27" name="object 27"/>
          <p:cNvGrpSpPr/>
          <p:nvPr/>
        </p:nvGrpSpPr>
        <p:grpSpPr>
          <a:xfrm>
            <a:off x="5687568" y="4248911"/>
            <a:ext cx="4141893" cy="983827"/>
            <a:chOff x="4265676" y="3186683"/>
            <a:chExt cx="3106420" cy="737870"/>
          </a:xfrm>
        </p:grpSpPr>
        <p:sp>
          <p:nvSpPr>
            <p:cNvPr id="28" name="object 28"/>
            <p:cNvSpPr/>
            <p:nvPr/>
          </p:nvSpPr>
          <p:spPr>
            <a:xfrm>
              <a:off x="4291584" y="3214115"/>
              <a:ext cx="2338070" cy="678180"/>
            </a:xfrm>
            <a:custGeom>
              <a:avLst/>
              <a:gdLst/>
              <a:ahLst/>
              <a:cxnLst/>
              <a:rect l="l" t="t" r="r" b="b"/>
              <a:pathLst>
                <a:path w="2338070" h="678179">
                  <a:moveTo>
                    <a:pt x="2224786" y="0"/>
                  </a:moveTo>
                  <a:lnTo>
                    <a:pt x="113029" y="0"/>
                  </a:lnTo>
                  <a:lnTo>
                    <a:pt x="69008" y="8874"/>
                  </a:lnTo>
                  <a:lnTo>
                    <a:pt x="33083" y="33083"/>
                  </a:lnTo>
                  <a:lnTo>
                    <a:pt x="8874" y="69008"/>
                  </a:lnTo>
                  <a:lnTo>
                    <a:pt x="0" y="113029"/>
                  </a:lnTo>
                  <a:lnTo>
                    <a:pt x="0" y="565149"/>
                  </a:lnTo>
                  <a:lnTo>
                    <a:pt x="8874" y="609171"/>
                  </a:lnTo>
                  <a:lnTo>
                    <a:pt x="33083" y="645096"/>
                  </a:lnTo>
                  <a:lnTo>
                    <a:pt x="69008" y="669305"/>
                  </a:lnTo>
                  <a:lnTo>
                    <a:pt x="113029" y="678179"/>
                  </a:lnTo>
                  <a:lnTo>
                    <a:pt x="2224786" y="678179"/>
                  </a:lnTo>
                  <a:lnTo>
                    <a:pt x="2268807" y="669305"/>
                  </a:lnTo>
                  <a:lnTo>
                    <a:pt x="2304732" y="645096"/>
                  </a:lnTo>
                  <a:lnTo>
                    <a:pt x="2328941" y="609171"/>
                  </a:lnTo>
                  <a:lnTo>
                    <a:pt x="2337816" y="565149"/>
                  </a:lnTo>
                  <a:lnTo>
                    <a:pt x="2337816" y="113029"/>
                  </a:lnTo>
                  <a:lnTo>
                    <a:pt x="2328941" y="69008"/>
                  </a:lnTo>
                  <a:lnTo>
                    <a:pt x="2304732" y="33083"/>
                  </a:lnTo>
                  <a:lnTo>
                    <a:pt x="2268807" y="8874"/>
                  </a:lnTo>
                  <a:lnTo>
                    <a:pt x="2224786" y="0"/>
                  </a:lnTo>
                  <a:close/>
                </a:path>
              </a:pathLst>
            </a:custGeom>
            <a:solidFill>
              <a:srgbClr val="E10A87">
                <a:alpha val="50195"/>
              </a:srgbClr>
            </a:solidFill>
          </p:spPr>
          <p:txBody>
            <a:bodyPr wrap="square" lIns="0" tIns="0" rIns="0" bIns="0" rtlCol="0"/>
            <a:lstStyle/>
            <a:p>
              <a:pPr defTabSz="1219170"/>
              <a:endParaRPr sz="2400">
                <a:solidFill>
                  <a:prstClr val="black"/>
                </a:solidFill>
                <a:latin typeface="Calibri"/>
              </a:endParaRPr>
            </a:p>
          </p:txBody>
        </p:sp>
        <p:sp>
          <p:nvSpPr>
            <p:cNvPr id="29" name="object 29"/>
            <p:cNvSpPr/>
            <p:nvPr/>
          </p:nvSpPr>
          <p:spPr>
            <a:xfrm>
              <a:off x="4291584" y="3209543"/>
              <a:ext cx="2338070" cy="678180"/>
            </a:xfrm>
            <a:custGeom>
              <a:avLst/>
              <a:gdLst/>
              <a:ahLst/>
              <a:cxnLst/>
              <a:rect l="l" t="t" r="r" b="b"/>
              <a:pathLst>
                <a:path w="2338070" h="678179">
                  <a:moveTo>
                    <a:pt x="0" y="113030"/>
                  </a:moveTo>
                  <a:lnTo>
                    <a:pt x="8874" y="69008"/>
                  </a:lnTo>
                  <a:lnTo>
                    <a:pt x="33083" y="33083"/>
                  </a:lnTo>
                  <a:lnTo>
                    <a:pt x="69008" y="8874"/>
                  </a:lnTo>
                  <a:lnTo>
                    <a:pt x="113029" y="0"/>
                  </a:lnTo>
                  <a:lnTo>
                    <a:pt x="2224786" y="0"/>
                  </a:lnTo>
                  <a:lnTo>
                    <a:pt x="2268807" y="8874"/>
                  </a:lnTo>
                  <a:lnTo>
                    <a:pt x="2304732" y="33083"/>
                  </a:lnTo>
                  <a:lnTo>
                    <a:pt x="2328941" y="69008"/>
                  </a:lnTo>
                  <a:lnTo>
                    <a:pt x="2337816" y="113030"/>
                  </a:lnTo>
                  <a:lnTo>
                    <a:pt x="2337816" y="565150"/>
                  </a:lnTo>
                  <a:lnTo>
                    <a:pt x="2328941" y="609171"/>
                  </a:lnTo>
                  <a:lnTo>
                    <a:pt x="2304732" y="645096"/>
                  </a:lnTo>
                  <a:lnTo>
                    <a:pt x="2268807" y="669305"/>
                  </a:lnTo>
                  <a:lnTo>
                    <a:pt x="2224786" y="678180"/>
                  </a:lnTo>
                  <a:lnTo>
                    <a:pt x="113029" y="678180"/>
                  </a:lnTo>
                  <a:lnTo>
                    <a:pt x="69008" y="669305"/>
                  </a:lnTo>
                  <a:lnTo>
                    <a:pt x="33083" y="645096"/>
                  </a:lnTo>
                  <a:lnTo>
                    <a:pt x="8874" y="609171"/>
                  </a:lnTo>
                  <a:lnTo>
                    <a:pt x="0" y="565150"/>
                  </a:lnTo>
                  <a:lnTo>
                    <a:pt x="0" y="113030"/>
                  </a:lnTo>
                  <a:close/>
                </a:path>
              </a:pathLst>
            </a:custGeom>
            <a:ln w="9144">
              <a:solidFill>
                <a:srgbClr val="C00000"/>
              </a:solidFill>
              <a:prstDash val="sysDashDot"/>
            </a:ln>
          </p:spPr>
          <p:txBody>
            <a:bodyPr wrap="square" lIns="0" tIns="0" rIns="0" bIns="0" rtlCol="0"/>
            <a:lstStyle/>
            <a:p>
              <a:pPr defTabSz="1219170"/>
              <a:endParaRPr sz="2400">
                <a:solidFill>
                  <a:prstClr val="black"/>
                </a:solidFill>
                <a:latin typeface="Calibri"/>
              </a:endParaRPr>
            </a:p>
          </p:txBody>
        </p:sp>
        <p:sp>
          <p:nvSpPr>
            <p:cNvPr id="30" name="object 30"/>
            <p:cNvSpPr/>
            <p:nvPr/>
          </p:nvSpPr>
          <p:spPr>
            <a:xfrm>
              <a:off x="4265676" y="3186683"/>
              <a:ext cx="3106420" cy="737870"/>
            </a:xfrm>
            <a:custGeom>
              <a:avLst/>
              <a:gdLst/>
              <a:ahLst/>
              <a:cxnLst/>
              <a:rect l="l" t="t" r="r" b="b"/>
              <a:pathLst>
                <a:path w="3106420" h="737870">
                  <a:moveTo>
                    <a:pt x="3105912" y="0"/>
                  </a:moveTo>
                  <a:lnTo>
                    <a:pt x="0" y="0"/>
                  </a:lnTo>
                  <a:lnTo>
                    <a:pt x="0" y="737615"/>
                  </a:lnTo>
                  <a:lnTo>
                    <a:pt x="3105912" y="737615"/>
                  </a:lnTo>
                  <a:lnTo>
                    <a:pt x="3105912"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grpSp>
      <p:sp>
        <p:nvSpPr>
          <p:cNvPr id="31" name="object 31"/>
          <p:cNvSpPr txBox="1"/>
          <p:nvPr/>
        </p:nvSpPr>
        <p:spPr>
          <a:xfrm>
            <a:off x="5360415" y="2773681"/>
            <a:ext cx="6226387" cy="2388218"/>
          </a:xfrm>
          <a:prstGeom prst="rect">
            <a:avLst/>
          </a:prstGeom>
        </p:spPr>
        <p:txBody>
          <a:bodyPr vert="horz" wrap="square" lIns="0" tIns="48260" rIns="0" bIns="0" rtlCol="0">
            <a:spAutoFit/>
          </a:bodyPr>
          <a:lstStyle/>
          <a:p>
            <a:pPr marL="121070" marR="4097764" defTabSz="1219170">
              <a:spcBef>
                <a:spcPts val="380"/>
              </a:spcBef>
            </a:pPr>
            <a:r>
              <a:rPr sz="1867" spc="-7" dirty="0">
                <a:solidFill>
                  <a:srgbClr val="9776AA"/>
                </a:solidFill>
                <a:latin typeface="Courier New"/>
                <a:cs typeface="Courier New"/>
              </a:rPr>
              <a:t>apiVersion</a:t>
            </a:r>
            <a:r>
              <a:rPr sz="1867" spc="-7" dirty="0">
                <a:solidFill>
                  <a:srgbClr val="A9B7C5"/>
                </a:solidFill>
                <a:latin typeface="Courier New"/>
                <a:cs typeface="Courier New"/>
              </a:rPr>
              <a:t>: </a:t>
            </a:r>
            <a:r>
              <a:rPr sz="2800" spc="-9" baseline="1984" dirty="0">
                <a:solidFill>
                  <a:srgbClr val="A9B7C5"/>
                </a:solidFill>
                <a:latin typeface="Courier New"/>
                <a:cs typeface="Courier New"/>
              </a:rPr>
              <a:t>v1  </a:t>
            </a:r>
            <a:r>
              <a:rPr sz="1867" spc="-7" dirty="0">
                <a:solidFill>
                  <a:srgbClr val="9776AA"/>
                </a:solidFill>
                <a:latin typeface="Courier New"/>
                <a:cs typeface="Courier New"/>
              </a:rPr>
              <a:t>kind</a:t>
            </a:r>
            <a:r>
              <a:rPr sz="1867" spc="-7" dirty="0">
                <a:solidFill>
                  <a:srgbClr val="A9B7C5"/>
                </a:solidFill>
                <a:latin typeface="Courier New"/>
                <a:cs typeface="Courier New"/>
              </a:rPr>
              <a:t>: </a:t>
            </a:r>
            <a:r>
              <a:rPr sz="2800" spc="-9" baseline="1984" dirty="0">
                <a:solidFill>
                  <a:srgbClr val="A9B7C5"/>
                </a:solidFill>
                <a:latin typeface="Courier New"/>
                <a:cs typeface="Courier New"/>
              </a:rPr>
              <a:t>Secret  </a:t>
            </a:r>
            <a:r>
              <a:rPr sz="1867" spc="-7" dirty="0">
                <a:solidFill>
                  <a:srgbClr val="9776AA"/>
                </a:solidFill>
                <a:latin typeface="Courier New"/>
                <a:cs typeface="Courier New"/>
              </a:rPr>
              <a:t>metadata</a:t>
            </a:r>
            <a:r>
              <a:rPr sz="1867" spc="-7" dirty="0">
                <a:solidFill>
                  <a:srgbClr val="A9B7C5"/>
                </a:solidFill>
                <a:latin typeface="Courier New"/>
                <a:cs typeface="Courier New"/>
              </a:rPr>
              <a:t>:</a:t>
            </a:r>
            <a:endParaRPr sz="1867">
              <a:solidFill>
                <a:prstClr val="black"/>
              </a:solidFill>
              <a:latin typeface="Courier New"/>
              <a:cs typeface="Courier New"/>
            </a:endParaRPr>
          </a:p>
          <a:p>
            <a:pPr marL="121070" marR="3512732" indent="309026" defTabSz="1219170">
              <a:lnSpc>
                <a:spcPts val="2133"/>
              </a:lnSpc>
              <a:spcBef>
                <a:spcPts val="267"/>
              </a:spcBef>
            </a:pPr>
            <a:r>
              <a:rPr sz="1867" spc="-7" dirty="0">
                <a:solidFill>
                  <a:srgbClr val="9776AA"/>
                </a:solidFill>
                <a:latin typeface="Courier New"/>
                <a:cs typeface="Courier New"/>
              </a:rPr>
              <a:t>name</a:t>
            </a:r>
            <a:r>
              <a:rPr sz="1867" spc="-7" dirty="0">
                <a:solidFill>
                  <a:srgbClr val="A9B7C5"/>
                </a:solidFill>
                <a:latin typeface="Courier New"/>
                <a:cs typeface="Courier New"/>
              </a:rPr>
              <a:t>: </a:t>
            </a:r>
            <a:r>
              <a:rPr sz="1867" spc="-13" dirty="0">
                <a:solidFill>
                  <a:srgbClr val="A9B7C5"/>
                </a:solidFill>
                <a:latin typeface="Courier New"/>
                <a:cs typeface="Courier New"/>
              </a:rPr>
              <a:t>app-secret  </a:t>
            </a:r>
            <a:r>
              <a:rPr sz="1867" spc="-7" dirty="0">
                <a:solidFill>
                  <a:srgbClr val="9776AA"/>
                </a:solidFill>
                <a:latin typeface="Courier New"/>
                <a:cs typeface="Courier New"/>
              </a:rPr>
              <a:t>data</a:t>
            </a:r>
            <a:r>
              <a:rPr sz="1867" spc="-7" dirty="0">
                <a:solidFill>
                  <a:srgbClr val="A9B7C5"/>
                </a:solidFill>
                <a:latin typeface="Courier New"/>
                <a:cs typeface="Courier New"/>
              </a:rPr>
              <a:t>:</a:t>
            </a:r>
            <a:endParaRPr sz="1867">
              <a:solidFill>
                <a:prstClr val="black"/>
              </a:solidFill>
              <a:latin typeface="Courier New"/>
              <a:cs typeface="Courier New"/>
            </a:endParaRPr>
          </a:p>
          <a:p>
            <a:pPr marL="450415" marR="2782077" defTabSz="1219170">
              <a:spcBef>
                <a:spcPts val="287"/>
              </a:spcBef>
            </a:pPr>
            <a:r>
              <a:rPr sz="1867" spc="-7" dirty="0">
                <a:solidFill>
                  <a:srgbClr val="9776AA"/>
                </a:solidFill>
                <a:latin typeface="Courier New"/>
                <a:cs typeface="Courier New"/>
              </a:rPr>
              <a:t>DB_Host</a:t>
            </a:r>
            <a:r>
              <a:rPr sz="1867" spc="-7" dirty="0">
                <a:solidFill>
                  <a:srgbClr val="A9B7C5"/>
                </a:solidFill>
                <a:latin typeface="Courier New"/>
                <a:cs typeface="Courier New"/>
              </a:rPr>
              <a:t>: </a:t>
            </a:r>
            <a:r>
              <a:rPr sz="1867" spc="-13" dirty="0">
                <a:solidFill>
                  <a:srgbClr val="A9B7C5"/>
                </a:solidFill>
                <a:latin typeface="Courier New"/>
                <a:cs typeface="Courier New"/>
              </a:rPr>
              <a:t>bXlzcWw=  </a:t>
            </a:r>
            <a:r>
              <a:rPr sz="1867" spc="-7" dirty="0">
                <a:solidFill>
                  <a:srgbClr val="9776AA"/>
                </a:solidFill>
                <a:latin typeface="Courier New"/>
                <a:cs typeface="Courier New"/>
              </a:rPr>
              <a:t>DB_User</a:t>
            </a:r>
            <a:r>
              <a:rPr sz="1867" spc="-7" dirty="0">
                <a:solidFill>
                  <a:srgbClr val="A9B7C5"/>
                </a:solidFill>
                <a:latin typeface="Courier New"/>
                <a:cs typeface="Courier New"/>
              </a:rPr>
              <a:t>: </a:t>
            </a:r>
            <a:r>
              <a:rPr sz="1867" spc="-13" dirty="0">
                <a:solidFill>
                  <a:srgbClr val="A9B7C5"/>
                </a:solidFill>
                <a:latin typeface="Courier New"/>
                <a:cs typeface="Courier New"/>
              </a:rPr>
              <a:t>cm9vdA==  </a:t>
            </a: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107" dirty="0">
                <a:solidFill>
                  <a:srgbClr val="A9B7C5"/>
                </a:solidFill>
                <a:latin typeface="Courier New"/>
                <a:cs typeface="Courier New"/>
              </a:rPr>
              <a:t> </a:t>
            </a:r>
            <a:r>
              <a:rPr sz="1867" spc="-7" dirty="0">
                <a:solidFill>
                  <a:srgbClr val="A9B7C5"/>
                </a:solidFill>
                <a:latin typeface="Courier New"/>
                <a:cs typeface="Courier New"/>
              </a:rPr>
              <a:t>cGFzd3Jk</a:t>
            </a:r>
            <a:endParaRPr sz="1867">
              <a:solidFill>
                <a:prstClr val="black"/>
              </a:solidFill>
              <a:latin typeface="Courier New"/>
              <a:cs typeface="Courier New"/>
            </a:endParaRPr>
          </a:p>
        </p:txBody>
      </p:sp>
    </p:spTree>
    <p:extLst>
      <p:ext uri="{BB962C8B-B14F-4D97-AF65-F5344CB8AC3E}">
        <p14:creationId xmlns:p14="http://schemas.microsoft.com/office/powerpoint/2010/main" val="40882964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29" y="326137"/>
            <a:ext cx="4422139" cy="694207"/>
          </a:xfrm>
          <a:prstGeom prst="rect">
            <a:avLst/>
          </a:prstGeom>
        </p:spPr>
        <p:txBody>
          <a:bodyPr vert="horz" wrap="square" lIns="0" tIns="16933" rIns="0" bIns="0" rtlCol="0">
            <a:spAutoFit/>
          </a:bodyPr>
          <a:lstStyle/>
          <a:p>
            <a:pPr marL="16933">
              <a:spcBef>
                <a:spcPts val="133"/>
              </a:spcBef>
            </a:pPr>
            <a:r>
              <a:rPr spc="147" dirty="0">
                <a:solidFill>
                  <a:schemeClr val="tx1"/>
                </a:solidFill>
              </a:rPr>
              <a:t>Encode</a:t>
            </a:r>
            <a:r>
              <a:rPr spc="-440" dirty="0">
                <a:solidFill>
                  <a:schemeClr val="tx1"/>
                </a:solidFill>
              </a:rPr>
              <a:t> </a:t>
            </a:r>
            <a:r>
              <a:rPr spc="13" dirty="0">
                <a:solidFill>
                  <a:schemeClr val="tx1"/>
                </a:solidFill>
              </a:rPr>
              <a:t>Secrets</a:t>
            </a:r>
          </a:p>
        </p:txBody>
      </p:sp>
      <p:sp>
        <p:nvSpPr>
          <p:cNvPr id="4" name="object 4"/>
          <p:cNvSpPr txBox="1"/>
          <p:nvPr/>
        </p:nvSpPr>
        <p:spPr>
          <a:xfrm>
            <a:off x="1805263" y="1577618"/>
            <a:ext cx="7097607" cy="5001754"/>
          </a:xfrm>
          <a:prstGeom prst="rect">
            <a:avLst/>
          </a:prstGeom>
        </p:spPr>
        <p:txBody>
          <a:bodyPr vert="horz" wrap="square" lIns="0" tIns="0" rIns="0" bIns="0" rtlCol="0">
            <a:spAutoFit/>
          </a:bodyPr>
          <a:lstStyle/>
          <a:p>
            <a:pPr marL="310719" defTabSz="1219170">
              <a:lnSpc>
                <a:spcPts val="1680"/>
              </a:lnSpc>
              <a:tabLst>
                <a:tab pos="2324042" algn="l"/>
                <a:tab pos="3869170" algn="l"/>
              </a:tabLst>
            </a:pPr>
            <a:r>
              <a:rPr sz="2700" spc="-20" baseline="-18518" dirty="0">
                <a:solidFill>
                  <a:srgbClr val="FFFFFF"/>
                </a:solidFill>
                <a:latin typeface="Noto Sans"/>
                <a:cs typeface="Noto Sans"/>
              </a:rPr>
              <a:t>Secret	</a:t>
            </a:r>
            <a:r>
              <a:rPr sz="2000" b="1" spc="-9" baseline="-8333" dirty="0">
                <a:solidFill>
                  <a:srgbClr val="FFFFFF"/>
                </a:solidFill>
                <a:latin typeface="Noto Sans"/>
                <a:cs typeface="Noto Sans"/>
              </a:rPr>
              <a:t>Declarative	</a:t>
            </a:r>
            <a:r>
              <a:rPr sz="1333" spc="140" dirty="0">
                <a:solidFill>
                  <a:srgbClr val="D9D9D9"/>
                </a:solidFill>
                <a:latin typeface="Arial"/>
                <a:cs typeface="Arial"/>
              </a:rPr>
              <a:t>kubectl </a:t>
            </a:r>
            <a:r>
              <a:rPr sz="1333" spc="120" dirty="0">
                <a:solidFill>
                  <a:srgbClr val="D9D9D9"/>
                </a:solidFill>
                <a:latin typeface="Arial"/>
                <a:cs typeface="Arial"/>
              </a:rPr>
              <a:t>create</a:t>
            </a:r>
            <a:r>
              <a:rPr sz="1333" spc="133" dirty="0">
                <a:solidFill>
                  <a:srgbClr val="D9D9D9"/>
                </a:solidFill>
                <a:latin typeface="Arial"/>
                <a:cs typeface="Arial"/>
              </a:rPr>
              <a:t> </a:t>
            </a:r>
            <a:r>
              <a:rPr sz="1333" spc="180" dirty="0">
                <a:solidFill>
                  <a:srgbClr val="D9D9D9"/>
                </a:solidFill>
                <a:latin typeface="Arial"/>
                <a:cs typeface="Arial"/>
              </a:rPr>
              <a:t>–f</a:t>
            </a:r>
            <a:endParaRPr sz="1333" dirty="0">
              <a:solidFill>
                <a:prstClr val="black"/>
              </a:solidFill>
              <a:latin typeface="Arial"/>
              <a:cs typeface="Arial"/>
            </a:endParaRPr>
          </a:p>
          <a:p>
            <a:pPr defTabSz="1219170"/>
            <a:endParaRPr sz="2400" dirty="0">
              <a:solidFill>
                <a:prstClr val="black"/>
              </a:solidFill>
              <a:latin typeface="Arial"/>
              <a:cs typeface="Arial"/>
            </a:endParaRPr>
          </a:p>
          <a:p>
            <a:pPr marL="3676135" defTabSz="1219170">
              <a:spcBef>
                <a:spcPts val="2152"/>
              </a:spcBef>
            </a:pPr>
            <a:r>
              <a:rPr spc="-13" dirty="0">
                <a:solidFill>
                  <a:srgbClr val="FFFFFF"/>
                </a:solidFill>
                <a:latin typeface="Noto Sans"/>
                <a:cs typeface="Noto Sans"/>
              </a:rPr>
              <a:t>secret-data.yaml</a:t>
            </a:r>
            <a:endParaRPr dirty="0">
              <a:solidFill>
                <a:prstClr val="black"/>
              </a:solidFill>
              <a:latin typeface="Noto Sans"/>
              <a:cs typeface="Noto Sans"/>
            </a:endParaRPr>
          </a:p>
          <a:p>
            <a:pPr marL="3676135" marR="1413051" defTabSz="1219170">
              <a:spcBef>
                <a:spcPts val="1047"/>
              </a:spcBef>
            </a:pPr>
            <a:r>
              <a:rPr sz="1867" spc="-7" dirty="0">
                <a:solidFill>
                  <a:srgbClr val="9776AA"/>
                </a:solidFill>
                <a:latin typeface="Courier New"/>
                <a:cs typeface="Courier New"/>
              </a:rPr>
              <a:t>apiVersion</a:t>
            </a:r>
            <a:r>
              <a:rPr sz="1867" spc="-7" dirty="0">
                <a:solidFill>
                  <a:srgbClr val="A9B7C5"/>
                </a:solidFill>
                <a:latin typeface="Courier New"/>
                <a:cs typeface="Courier New"/>
              </a:rPr>
              <a:t>: </a:t>
            </a:r>
            <a:r>
              <a:rPr sz="2800" spc="-9" baseline="1984" dirty="0">
                <a:solidFill>
                  <a:srgbClr val="A9B7C5"/>
                </a:solidFill>
                <a:latin typeface="Courier New"/>
                <a:cs typeface="Courier New"/>
              </a:rPr>
              <a:t>v1  </a:t>
            </a:r>
            <a:r>
              <a:rPr sz="1867" spc="-7" dirty="0">
                <a:solidFill>
                  <a:srgbClr val="9776AA"/>
                </a:solidFill>
                <a:latin typeface="Courier New"/>
                <a:cs typeface="Courier New"/>
              </a:rPr>
              <a:t>kind</a:t>
            </a:r>
            <a:r>
              <a:rPr sz="1867" spc="-7" dirty="0">
                <a:solidFill>
                  <a:srgbClr val="A9B7C5"/>
                </a:solidFill>
                <a:latin typeface="Courier New"/>
                <a:cs typeface="Courier New"/>
              </a:rPr>
              <a:t>: </a:t>
            </a:r>
            <a:r>
              <a:rPr sz="2800" spc="-9" baseline="1984" dirty="0">
                <a:solidFill>
                  <a:srgbClr val="A9B7C5"/>
                </a:solidFill>
                <a:latin typeface="Courier New"/>
                <a:cs typeface="Courier New"/>
              </a:rPr>
              <a:t>Secret  </a:t>
            </a:r>
            <a:r>
              <a:rPr sz="1867" spc="-7" dirty="0">
                <a:solidFill>
                  <a:srgbClr val="9776AA"/>
                </a:solidFill>
                <a:latin typeface="Courier New"/>
                <a:cs typeface="Courier New"/>
              </a:rPr>
              <a:t>metadata</a:t>
            </a:r>
            <a:r>
              <a:rPr sz="1867" spc="-7" dirty="0">
                <a:solidFill>
                  <a:srgbClr val="A9B7C5"/>
                </a:solidFill>
                <a:latin typeface="Courier New"/>
                <a:cs typeface="Courier New"/>
              </a:rPr>
              <a:t>:</a:t>
            </a:r>
            <a:endParaRPr sz="1867" dirty="0">
              <a:solidFill>
                <a:prstClr val="black"/>
              </a:solidFill>
              <a:latin typeface="Courier New"/>
              <a:cs typeface="Courier New"/>
            </a:endParaRPr>
          </a:p>
          <a:p>
            <a:pPr marL="3676135" marR="828866" indent="309026" defTabSz="1219170">
              <a:lnSpc>
                <a:spcPts val="2133"/>
              </a:lnSpc>
              <a:spcBef>
                <a:spcPts val="267"/>
              </a:spcBef>
            </a:pPr>
            <a:r>
              <a:rPr sz="1867" spc="-7" dirty="0">
                <a:solidFill>
                  <a:srgbClr val="9776AA"/>
                </a:solidFill>
                <a:latin typeface="Courier New"/>
                <a:cs typeface="Courier New"/>
              </a:rPr>
              <a:t>name</a:t>
            </a:r>
            <a:r>
              <a:rPr sz="1867" spc="-7" dirty="0">
                <a:solidFill>
                  <a:srgbClr val="A9B7C5"/>
                </a:solidFill>
                <a:latin typeface="Courier New"/>
                <a:cs typeface="Courier New"/>
              </a:rPr>
              <a:t>: </a:t>
            </a:r>
            <a:r>
              <a:rPr sz="1867" spc="-13" dirty="0">
                <a:solidFill>
                  <a:srgbClr val="A9B7C5"/>
                </a:solidFill>
                <a:latin typeface="Courier New"/>
                <a:cs typeface="Courier New"/>
              </a:rPr>
              <a:t>app-secret  </a:t>
            </a:r>
            <a:r>
              <a:rPr sz="1867" spc="-7" dirty="0">
                <a:solidFill>
                  <a:srgbClr val="9776AA"/>
                </a:solidFill>
                <a:latin typeface="Courier New"/>
                <a:cs typeface="Courier New"/>
              </a:rPr>
              <a:t>data</a:t>
            </a:r>
            <a:r>
              <a:rPr sz="1867" spc="-7" dirty="0">
                <a:solidFill>
                  <a:srgbClr val="A9B7C5"/>
                </a:solidFill>
                <a:latin typeface="Courier New"/>
                <a:cs typeface="Courier New"/>
              </a:rPr>
              <a:t>:</a:t>
            </a:r>
            <a:endParaRPr sz="1867" dirty="0">
              <a:solidFill>
                <a:prstClr val="black"/>
              </a:solidFill>
              <a:latin typeface="Courier New"/>
              <a:cs typeface="Courier New"/>
            </a:endParaRPr>
          </a:p>
          <a:p>
            <a:pPr marL="3966534" marR="421629" defTabSz="1219170"/>
            <a:r>
              <a:rPr sz="1867" spc="-7" dirty="0">
                <a:solidFill>
                  <a:srgbClr val="9776AA"/>
                </a:solidFill>
                <a:latin typeface="Courier New"/>
                <a:cs typeface="Courier New"/>
              </a:rPr>
              <a:t>DB_Host</a:t>
            </a:r>
            <a:r>
              <a:rPr sz="1867" spc="-7" dirty="0">
                <a:solidFill>
                  <a:srgbClr val="A9B7C5"/>
                </a:solidFill>
                <a:latin typeface="Courier New"/>
                <a:cs typeface="Courier New"/>
              </a:rPr>
              <a:t>: mysql  </a:t>
            </a:r>
            <a:r>
              <a:rPr sz="1867" spc="-7" dirty="0">
                <a:solidFill>
                  <a:srgbClr val="9776AA"/>
                </a:solidFill>
                <a:latin typeface="Courier New"/>
                <a:cs typeface="Courier New"/>
              </a:rPr>
              <a:t>DB_User</a:t>
            </a:r>
            <a:r>
              <a:rPr sz="1867" spc="-7" dirty="0">
                <a:solidFill>
                  <a:srgbClr val="A9B7C5"/>
                </a:solidFill>
                <a:latin typeface="Courier New"/>
                <a:cs typeface="Courier New"/>
              </a:rPr>
              <a:t>: </a:t>
            </a:r>
            <a:r>
              <a:rPr sz="1867" spc="-13" dirty="0">
                <a:solidFill>
                  <a:srgbClr val="A9B7C5"/>
                </a:solidFill>
                <a:latin typeface="Courier New"/>
                <a:cs typeface="Courier New"/>
              </a:rPr>
              <a:t>root  </a:t>
            </a: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113" dirty="0">
                <a:solidFill>
                  <a:srgbClr val="A9B7C5"/>
                </a:solidFill>
                <a:latin typeface="Courier New"/>
                <a:cs typeface="Courier New"/>
              </a:rPr>
              <a:t> </a:t>
            </a:r>
            <a:r>
              <a:rPr sz="1867" spc="-7" dirty="0">
                <a:solidFill>
                  <a:srgbClr val="A9B7C5"/>
                </a:solidFill>
                <a:latin typeface="Courier New"/>
                <a:cs typeface="Courier New"/>
              </a:rPr>
              <a:t>paswrd</a:t>
            </a:r>
            <a:endParaRPr sz="1867" dirty="0">
              <a:solidFill>
                <a:prstClr val="black"/>
              </a:solidFill>
              <a:latin typeface="Courier New"/>
              <a:cs typeface="Courier New"/>
            </a:endParaRPr>
          </a:p>
          <a:p>
            <a:pPr marL="458035" defTabSz="1219170">
              <a:spcBef>
                <a:spcPts val="1660"/>
              </a:spcBef>
            </a:pPr>
            <a:r>
              <a:rPr sz="4800" dirty="0">
                <a:solidFill>
                  <a:srgbClr val="1780C3"/>
                </a:solidFill>
                <a:latin typeface="Noto Sans"/>
                <a:cs typeface="Noto Sans"/>
              </a:rPr>
              <a:t>1</a:t>
            </a:r>
            <a:endParaRPr sz="4800" dirty="0">
              <a:solidFill>
                <a:prstClr val="black"/>
              </a:solidFill>
              <a:latin typeface="Noto Sans"/>
              <a:cs typeface="Noto Sans"/>
            </a:endParaRPr>
          </a:p>
          <a:p>
            <a:pPr marL="3861550" defTabSz="1219170">
              <a:spcBef>
                <a:spcPts val="207"/>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80" dirty="0">
                <a:solidFill>
                  <a:srgbClr val="D9D9D9"/>
                </a:solidFill>
                <a:latin typeface="Arial"/>
                <a:cs typeface="Arial"/>
              </a:rPr>
              <a:t>–f</a:t>
            </a:r>
            <a:r>
              <a:rPr sz="1333" spc="-140" dirty="0">
                <a:solidFill>
                  <a:srgbClr val="D9D9D9"/>
                </a:solidFill>
                <a:latin typeface="Arial"/>
                <a:cs typeface="Arial"/>
              </a:rPr>
              <a:t> </a:t>
            </a:r>
            <a:r>
              <a:rPr sz="1333" spc="127" dirty="0">
                <a:solidFill>
                  <a:srgbClr val="D9D9D9"/>
                </a:solidFill>
                <a:latin typeface="Arial"/>
                <a:cs typeface="Arial"/>
              </a:rPr>
              <a:t>secret-data.yaml</a:t>
            </a:r>
            <a:endParaRPr sz="1333" dirty="0">
              <a:solidFill>
                <a:prstClr val="black"/>
              </a:solidFill>
              <a:latin typeface="Arial"/>
              <a:cs typeface="Arial"/>
            </a:endParaRPr>
          </a:p>
          <a:p>
            <a:pPr defTabSz="1219170">
              <a:spcBef>
                <a:spcPts val="127"/>
              </a:spcBef>
            </a:pPr>
            <a:r>
              <a:rPr sz="1467" spc="13" dirty="0">
                <a:solidFill>
                  <a:prstClr val="black"/>
                </a:solidFill>
                <a:latin typeface="Verdana"/>
                <a:cs typeface="Verdana"/>
              </a:rPr>
              <a:t>Create</a:t>
            </a:r>
            <a:r>
              <a:rPr sz="1467" spc="-152" dirty="0">
                <a:solidFill>
                  <a:prstClr val="black"/>
                </a:solidFill>
                <a:latin typeface="Verdana"/>
                <a:cs typeface="Verdana"/>
              </a:rPr>
              <a:t> </a:t>
            </a:r>
            <a:r>
              <a:rPr sz="1467" spc="13" dirty="0">
                <a:solidFill>
                  <a:prstClr val="black"/>
                </a:solidFill>
                <a:latin typeface="Verdana"/>
                <a:cs typeface="Verdana"/>
              </a:rPr>
              <a:t>Secret</a:t>
            </a:r>
            <a:endParaRPr sz="1467" dirty="0">
              <a:solidFill>
                <a:prstClr val="black"/>
              </a:solidFill>
              <a:latin typeface="Verdana"/>
              <a:cs typeface="Verdana"/>
            </a:endParaRPr>
          </a:p>
        </p:txBody>
      </p:sp>
      <p:grpSp>
        <p:nvGrpSpPr>
          <p:cNvPr id="5" name="object 5"/>
          <p:cNvGrpSpPr/>
          <p:nvPr/>
        </p:nvGrpSpPr>
        <p:grpSpPr>
          <a:xfrm>
            <a:off x="1908048" y="1469069"/>
            <a:ext cx="9679093" cy="5019887"/>
            <a:chOff x="1431036" y="1101801"/>
            <a:chExt cx="7259320" cy="3764915"/>
          </a:xfrm>
        </p:grpSpPr>
        <p:sp>
          <p:nvSpPr>
            <p:cNvPr id="6" name="object 6"/>
            <p:cNvSpPr/>
            <p:nvPr/>
          </p:nvSpPr>
          <p:spPr>
            <a:xfrm>
              <a:off x="1431036" y="3881627"/>
              <a:ext cx="810895" cy="815340"/>
            </a:xfrm>
            <a:custGeom>
              <a:avLst/>
              <a:gdLst/>
              <a:ahLst/>
              <a:cxnLst/>
              <a:rect l="l" t="t" r="r" b="b"/>
              <a:pathLst>
                <a:path w="810894" h="815339">
                  <a:moveTo>
                    <a:pt x="810768" y="404444"/>
                  </a:moveTo>
                  <a:lnTo>
                    <a:pt x="807554" y="354076"/>
                  </a:lnTo>
                  <a:lnTo>
                    <a:pt x="798144" y="305028"/>
                  </a:lnTo>
                  <a:lnTo>
                    <a:pt x="782802" y="257759"/>
                  </a:lnTo>
                  <a:lnTo>
                    <a:pt x="761822" y="212750"/>
                  </a:lnTo>
                  <a:lnTo>
                    <a:pt x="752983" y="198577"/>
                  </a:lnTo>
                  <a:lnTo>
                    <a:pt x="752983" y="407758"/>
                  </a:lnTo>
                  <a:lnTo>
                    <a:pt x="749795" y="454939"/>
                  </a:lnTo>
                  <a:lnTo>
                    <a:pt x="740537" y="500214"/>
                  </a:lnTo>
                  <a:lnTo>
                    <a:pt x="725614" y="543166"/>
                  </a:lnTo>
                  <a:lnTo>
                    <a:pt x="705446" y="583374"/>
                  </a:lnTo>
                  <a:lnTo>
                    <a:pt x="680453" y="620420"/>
                  </a:lnTo>
                  <a:lnTo>
                    <a:pt x="651040" y="653897"/>
                  </a:lnTo>
                  <a:lnTo>
                    <a:pt x="617639" y="683361"/>
                  </a:lnTo>
                  <a:lnTo>
                    <a:pt x="580669" y="708406"/>
                  </a:lnTo>
                  <a:lnTo>
                    <a:pt x="540537" y="728611"/>
                  </a:lnTo>
                  <a:lnTo>
                    <a:pt x="497662" y="743572"/>
                  </a:lnTo>
                  <a:lnTo>
                    <a:pt x="452475" y="752856"/>
                  </a:lnTo>
                  <a:lnTo>
                    <a:pt x="405384" y="756031"/>
                  </a:lnTo>
                  <a:lnTo>
                    <a:pt x="358279" y="752856"/>
                  </a:lnTo>
                  <a:lnTo>
                    <a:pt x="313093" y="743572"/>
                  </a:lnTo>
                  <a:lnTo>
                    <a:pt x="270217" y="728611"/>
                  </a:lnTo>
                  <a:lnTo>
                    <a:pt x="230085" y="708406"/>
                  </a:lnTo>
                  <a:lnTo>
                    <a:pt x="193116" y="683361"/>
                  </a:lnTo>
                  <a:lnTo>
                    <a:pt x="159715" y="653897"/>
                  </a:lnTo>
                  <a:lnTo>
                    <a:pt x="141732" y="633437"/>
                  </a:lnTo>
                  <a:lnTo>
                    <a:pt x="141732" y="654177"/>
                  </a:lnTo>
                  <a:lnTo>
                    <a:pt x="86664" y="642239"/>
                  </a:lnTo>
                  <a:lnTo>
                    <a:pt x="61518" y="603364"/>
                  </a:lnTo>
                  <a:lnTo>
                    <a:pt x="41160" y="561835"/>
                  </a:lnTo>
                  <a:lnTo>
                    <a:pt x="25717" y="518185"/>
                  </a:lnTo>
                  <a:lnTo>
                    <a:pt x="15341" y="472935"/>
                  </a:lnTo>
                  <a:lnTo>
                    <a:pt x="10160" y="426593"/>
                  </a:lnTo>
                  <a:lnTo>
                    <a:pt x="43942" y="424891"/>
                  </a:lnTo>
                  <a:lnTo>
                    <a:pt x="46964" y="449122"/>
                  </a:lnTo>
                  <a:lnTo>
                    <a:pt x="47472" y="456641"/>
                  </a:lnTo>
                  <a:lnTo>
                    <a:pt x="48590" y="462153"/>
                  </a:lnTo>
                  <a:lnTo>
                    <a:pt x="50342" y="476135"/>
                  </a:lnTo>
                  <a:lnTo>
                    <a:pt x="55041" y="493801"/>
                  </a:lnTo>
                  <a:lnTo>
                    <a:pt x="57048" y="503580"/>
                  </a:lnTo>
                  <a:lnTo>
                    <a:pt x="59715" y="511302"/>
                  </a:lnTo>
                  <a:lnTo>
                    <a:pt x="63487" y="525424"/>
                  </a:lnTo>
                  <a:lnTo>
                    <a:pt x="69621" y="539915"/>
                  </a:lnTo>
                  <a:lnTo>
                    <a:pt x="72478" y="548157"/>
                  </a:lnTo>
                  <a:lnTo>
                    <a:pt x="76669" y="556564"/>
                  </a:lnTo>
                  <a:lnTo>
                    <a:pt x="83223" y="572008"/>
                  </a:lnTo>
                  <a:lnTo>
                    <a:pt x="89966" y="583158"/>
                  </a:lnTo>
                  <a:lnTo>
                    <a:pt x="93357" y="589927"/>
                  </a:lnTo>
                  <a:lnTo>
                    <a:pt x="100533" y="600621"/>
                  </a:lnTo>
                  <a:lnTo>
                    <a:pt x="109359" y="615175"/>
                  </a:lnTo>
                  <a:lnTo>
                    <a:pt x="114477" y="621360"/>
                  </a:lnTo>
                  <a:lnTo>
                    <a:pt x="119240" y="628421"/>
                  </a:lnTo>
                  <a:lnTo>
                    <a:pt x="140474" y="652678"/>
                  </a:lnTo>
                  <a:lnTo>
                    <a:pt x="141732" y="654177"/>
                  </a:lnTo>
                  <a:lnTo>
                    <a:pt x="141732" y="633437"/>
                  </a:lnTo>
                  <a:lnTo>
                    <a:pt x="105308" y="583374"/>
                  </a:lnTo>
                  <a:lnTo>
                    <a:pt x="85140" y="543166"/>
                  </a:lnTo>
                  <a:lnTo>
                    <a:pt x="70218" y="500214"/>
                  </a:lnTo>
                  <a:lnTo>
                    <a:pt x="60960" y="454939"/>
                  </a:lnTo>
                  <a:lnTo>
                    <a:pt x="57785" y="407758"/>
                  </a:lnTo>
                  <a:lnTo>
                    <a:pt x="60960" y="360197"/>
                  </a:lnTo>
                  <a:lnTo>
                    <a:pt x="70218" y="314591"/>
                  </a:lnTo>
                  <a:lnTo>
                    <a:pt x="85140" y="271373"/>
                  </a:lnTo>
                  <a:lnTo>
                    <a:pt x="105308" y="230949"/>
                  </a:lnTo>
                  <a:lnTo>
                    <a:pt x="130302" y="193738"/>
                  </a:lnTo>
                  <a:lnTo>
                    <a:pt x="159715" y="160147"/>
                  </a:lnTo>
                  <a:lnTo>
                    <a:pt x="193116" y="130594"/>
                  </a:lnTo>
                  <a:lnTo>
                    <a:pt x="230085" y="105486"/>
                  </a:lnTo>
                  <a:lnTo>
                    <a:pt x="270217" y="85242"/>
                  </a:lnTo>
                  <a:lnTo>
                    <a:pt x="312254" y="70573"/>
                  </a:lnTo>
                  <a:lnTo>
                    <a:pt x="357085" y="61226"/>
                  </a:lnTo>
                  <a:lnTo>
                    <a:pt x="405384" y="57785"/>
                  </a:lnTo>
                  <a:lnTo>
                    <a:pt x="452475" y="60972"/>
                  </a:lnTo>
                  <a:lnTo>
                    <a:pt x="497662" y="70269"/>
                  </a:lnTo>
                  <a:lnTo>
                    <a:pt x="540537" y="85242"/>
                  </a:lnTo>
                  <a:lnTo>
                    <a:pt x="580669" y="105486"/>
                  </a:lnTo>
                  <a:lnTo>
                    <a:pt x="617639" y="130594"/>
                  </a:lnTo>
                  <a:lnTo>
                    <a:pt x="651040" y="160147"/>
                  </a:lnTo>
                  <a:lnTo>
                    <a:pt x="680453" y="193738"/>
                  </a:lnTo>
                  <a:lnTo>
                    <a:pt x="705446" y="230949"/>
                  </a:lnTo>
                  <a:lnTo>
                    <a:pt x="725614" y="271373"/>
                  </a:lnTo>
                  <a:lnTo>
                    <a:pt x="740537" y="314591"/>
                  </a:lnTo>
                  <a:lnTo>
                    <a:pt x="749795" y="360197"/>
                  </a:lnTo>
                  <a:lnTo>
                    <a:pt x="752983" y="407758"/>
                  </a:lnTo>
                  <a:lnTo>
                    <a:pt x="752983" y="198577"/>
                  </a:lnTo>
                  <a:lnTo>
                    <a:pt x="735431" y="170408"/>
                  </a:lnTo>
                  <a:lnTo>
                    <a:pt x="704088" y="131406"/>
                  </a:lnTo>
                  <a:lnTo>
                    <a:pt x="700659" y="128016"/>
                  </a:lnTo>
                  <a:lnTo>
                    <a:pt x="666648" y="158013"/>
                  </a:lnTo>
                  <a:lnTo>
                    <a:pt x="660615" y="151117"/>
                  </a:lnTo>
                  <a:lnTo>
                    <a:pt x="668756" y="143319"/>
                  </a:lnTo>
                  <a:lnTo>
                    <a:pt x="693420" y="119710"/>
                  </a:lnTo>
                  <a:lnTo>
                    <a:pt x="688340" y="114655"/>
                  </a:lnTo>
                  <a:lnTo>
                    <a:pt x="676529" y="104698"/>
                  </a:lnTo>
                  <a:lnTo>
                    <a:pt x="676529" y="119710"/>
                  </a:lnTo>
                  <a:lnTo>
                    <a:pt x="652907" y="143319"/>
                  </a:lnTo>
                  <a:lnTo>
                    <a:pt x="639254" y="132130"/>
                  </a:lnTo>
                  <a:lnTo>
                    <a:pt x="625614" y="120053"/>
                  </a:lnTo>
                  <a:lnTo>
                    <a:pt x="619213" y="115709"/>
                  </a:lnTo>
                  <a:lnTo>
                    <a:pt x="613448" y="110972"/>
                  </a:lnTo>
                  <a:lnTo>
                    <a:pt x="602437" y="104305"/>
                  </a:lnTo>
                  <a:lnTo>
                    <a:pt x="587184" y="93916"/>
                  </a:lnTo>
                  <a:lnTo>
                    <a:pt x="576084" y="88303"/>
                  </a:lnTo>
                  <a:lnTo>
                    <a:pt x="570420" y="84861"/>
                  </a:lnTo>
                  <a:lnTo>
                    <a:pt x="563143" y="81762"/>
                  </a:lnTo>
                  <a:lnTo>
                    <a:pt x="545503" y="72821"/>
                  </a:lnTo>
                  <a:lnTo>
                    <a:pt x="527405" y="66471"/>
                  </a:lnTo>
                  <a:lnTo>
                    <a:pt x="524294" y="65138"/>
                  </a:lnTo>
                  <a:lnTo>
                    <a:pt x="521335" y="64350"/>
                  </a:lnTo>
                  <a:lnTo>
                    <a:pt x="502666" y="57785"/>
                  </a:lnTo>
                  <a:lnTo>
                    <a:pt x="501015" y="57213"/>
                  </a:lnTo>
                  <a:lnTo>
                    <a:pt x="454152" y="47523"/>
                  </a:lnTo>
                  <a:lnTo>
                    <a:pt x="424815" y="45529"/>
                  </a:lnTo>
                  <a:lnTo>
                    <a:pt x="426466" y="11798"/>
                  </a:lnTo>
                  <a:lnTo>
                    <a:pt x="472605" y="17119"/>
                  </a:lnTo>
                  <a:lnTo>
                    <a:pt x="517588" y="27800"/>
                  </a:lnTo>
                  <a:lnTo>
                    <a:pt x="561022" y="43637"/>
                  </a:lnTo>
                  <a:lnTo>
                    <a:pt x="602322" y="64389"/>
                  </a:lnTo>
                  <a:lnTo>
                    <a:pt x="640994" y="89827"/>
                  </a:lnTo>
                  <a:lnTo>
                    <a:pt x="676529" y="119710"/>
                  </a:lnTo>
                  <a:lnTo>
                    <a:pt x="676529" y="104698"/>
                  </a:lnTo>
                  <a:lnTo>
                    <a:pt x="608990" y="55397"/>
                  </a:lnTo>
                  <a:lnTo>
                    <a:pt x="565023" y="33515"/>
                  </a:lnTo>
                  <a:lnTo>
                    <a:pt x="518756" y="17106"/>
                  </a:lnTo>
                  <a:lnTo>
                    <a:pt x="470801" y="6426"/>
                  </a:lnTo>
                  <a:lnTo>
                    <a:pt x="421513" y="1689"/>
                  </a:lnTo>
                  <a:lnTo>
                    <a:pt x="416433" y="0"/>
                  </a:lnTo>
                  <a:lnTo>
                    <a:pt x="413753" y="44767"/>
                  </a:lnTo>
                  <a:lnTo>
                    <a:pt x="405384" y="44196"/>
                  </a:lnTo>
                  <a:lnTo>
                    <a:pt x="403479" y="44335"/>
                  </a:lnTo>
                  <a:lnTo>
                    <a:pt x="402209" y="0"/>
                  </a:lnTo>
                  <a:lnTo>
                    <a:pt x="397129" y="0"/>
                  </a:lnTo>
                  <a:lnTo>
                    <a:pt x="347078" y="4622"/>
                  </a:lnTo>
                  <a:lnTo>
                    <a:pt x="298526" y="14960"/>
                  </a:lnTo>
                  <a:lnTo>
                    <a:pt x="251853" y="30848"/>
                  </a:lnTo>
                  <a:lnTo>
                    <a:pt x="207429" y="52070"/>
                  </a:lnTo>
                  <a:lnTo>
                    <a:pt x="165646" y="78460"/>
                  </a:lnTo>
                  <a:lnTo>
                    <a:pt x="126873" y="109829"/>
                  </a:lnTo>
                  <a:lnTo>
                    <a:pt x="123444" y="114896"/>
                  </a:lnTo>
                  <a:lnTo>
                    <a:pt x="154114" y="146913"/>
                  </a:lnTo>
                  <a:lnTo>
                    <a:pt x="149720" y="150812"/>
                  </a:lnTo>
                  <a:lnTo>
                    <a:pt x="119240" y="185737"/>
                  </a:lnTo>
                  <a:lnTo>
                    <a:pt x="93357" y="224409"/>
                  </a:lnTo>
                  <a:lnTo>
                    <a:pt x="72478" y="266382"/>
                  </a:lnTo>
                  <a:lnTo>
                    <a:pt x="57048" y="311226"/>
                  </a:lnTo>
                  <a:lnTo>
                    <a:pt x="47472" y="358495"/>
                  </a:lnTo>
                  <a:lnTo>
                    <a:pt x="44196" y="407758"/>
                  </a:lnTo>
                  <a:lnTo>
                    <a:pt x="44564" y="413346"/>
                  </a:lnTo>
                  <a:lnTo>
                    <a:pt x="0" y="414705"/>
                  </a:lnTo>
                  <a:lnTo>
                    <a:pt x="0" y="421500"/>
                  </a:lnTo>
                  <a:lnTo>
                    <a:pt x="4635" y="471106"/>
                  </a:lnTo>
                  <a:lnTo>
                    <a:pt x="15074" y="519379"/>
                  </a:lnTo>
                  <a:lnTo>
                    <a:pt x="31216" y="565873"/>
                  </a:lnTo>
                  <a:lnTo>
                    <a:pt x="52984" y="610095"/>
                  </a:lnTo>
                  <a:lnTo>
                    <a:pt x="80276" y="651573"/>
                  </a:lnTo>
                  <a:lnTo>
                    <a:pt x="113030" y="689851"/>
                  </a:lnTo>
                  <a:lnTo>
                    <a:pt x="116459" y="694944"/>
                  </a:lnTo>
                  <a:lnTo>
                    <a:pt x="134061" y="677964"/>
                  </a:lnTo>
                  <a:lnTo>
                    <a:pt x="149542" y="663028"/>
                  </a:lnTo>
                  <a:lnTo>
                    <a:pt x="149733" y="663232"/>
                  </a:lnTo>
                  <a:lnTo>
                    <a:pt x="157213" y="669861"/>
                  </a:lnTo>
                  <a:lnTo>
                    <a:pt x="124968" y="703580"/>
                  </a:lnTo>
                  <a:lnTo>
                    <a:pt x="130048" y="706970"/>
                  </a:lnTo>
                  <a:lnTo>
                    <a:pt x="168808" y="738987"/>
                  </a:lnTo>
                  <a:lnTo>
                    <a:pt x="210578" y="765556"/>
                  </a:lnTo>
                  <a:lnTo>
                    <a:pt x="254965" y="786561"/>
                  </a:lnTo>
                  <a:lnTo>
                    <a:pt x="301599" y="801928"/>
                  </a:lnTo>
                  <a:lnTo>
                    <a:pt x="350126" y="811555"/>
                  </a:lnTo>
                  <a:lnTo>
                    <a:pt x="400177" y="815340"/>
                  </a:lnTo>
                  <a:lnTo>
                    <a:pt x="405257" y="815340"/>
                  </a:lnTo>
                  <a:lnTo>
                    <a:pt x="406603" y="769543"/>
                  </a:lnTo>
                  <a:lnTo>
                    <a:pt x="454152" y="766305"/>
                  </a:lnTo>
                  <a:lnTo>
                    <a:pt x="501015" y="756627"/>
                  </a:lnTo>
                  <a:lnTo>
                    <a:pt x="502691" y="756031"/>
                  </a:lnTo>
                  <a:lnTo>
                    <a:pt x="545503" y="741032"/>
                  </a:lnTo>
                  <a:lnTo>
                    <a:pt x="587184" y="719975"/>
                  </a:lnTo>
                  <a:lnTo>
                    <a:pt x="625614" y="693902"/>
                  </a:lnTo>
                  <a:lnTo>
                    <a:pt x="660361" y="663232"/>
                  </a:lnTo>
                  <a:lnTo>
                    <a:pt x="668909" y="653503"/>
                  </a:lnTo>
                  <a:lnTo>
                    <a:pt x="702437" y="684276"/>
                  </a:lnTo>
                  <a:lnTo>
                    <a:pt x="705739" y="679183"/>
                  </a:lnTo>
                  <a:lnTo>
                    <a:pt x="737057" y="640130"/>
                  </a:lnTo>
                  <a:lnTo>
                    <a:pt x="763104" y="597916"/>
                  </a:lnTo>
                  <a:lnTo>
                    <a:pt x="783678" y="553059"/>
                  </a:lnTo>
                  <a:lnTo>
                    <a:pt x="798601" y="506082"/>
                  </a:lnTo>
                  <a:lnTo>
                    <a:pt x="807694" y="457517"/>
                  </a:lnTo>
                  <a:lnTo>
                    <a:pt x="810768" y="407847"/>
                  </a:lnTo>
                  <a:lnTo>
                    <a:pt x="810768" y="404444"/>
                  </a:lnTo>
                  <a:close/>
                </a:path>
              </a:pathLst>
            </a:custGeom>
            <a:solidFill>
              <a:srgbClr val="1780C3"/>
            </a:solidFill>
          </p:spPr>
          <p:txBody>
            <a:bodyPr wrap="square" lIns="0" tIns="0" rIns="0" bIns="0" rtlCol="0"/>
            <a:lstStyle/>
            <a:p>
              <a:pPr defTabSz="1219170"/>
              <a:endParaRPr sz="2400">
                <a:solidFill>
                  <a:prstClr val="black"/>
                </a:solidFill>
                <a:latin typeface="Calibri"/>
              </a:endParaRPr>
            </a:p>
          </p:txBody>
        </p:sp>
        <p:sp>
          <p:nvSpPr>
            <p:cNvPr id="7" name="object 7"/>
            <p:cNvSpPr/>
            <p:nvPr/>
          </p:nvSpPr>
          <p:spPr>
            <a:xfrm>
              <a:off x="3960875" y="1101801"/>
              <a:ext cx="4376928" cy="365810"/>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8" name="object 8"/>
            <p:cNvSpPr/>
            <p:nvPr/>
          </p:nvSpPr>
          <p:spPr>
            <a:xfrm>
              <a:off x="4119371" y="1109421"/>
              <a:ext cx="1552955" cy="384098"/>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4020312" y="1141475"/>
              <a:ext cx="4262755" cy="253365"/>
            </a:xfrm>
            <a:custGeom>
              <a:avLst/>
              <a:gdLst/>
              <a:ahLst/>
              <a:cxnLst/>
              <a:rect l="l" t="t" r="r" b="b"/>
              <a:pathLst>
                <a:path w="4262755" h="253365">
                  <a:moveTo>
                    <a:pt x="4262628" y="0"/>
                  </a:moveTo>
                  <a:lnTo>
                    <a:pt x="0" y="0"/>
                  </a:lnTo>
                  <a:lnTo>
                    <a:pt x="0" y="252984"/>
                  </a:lnTo>
                  <a:lnTo>
                    <a:pt x="4262628" y="252984"/>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038924" y="1153705"/>
              <a:ext cx="160020" cy="205740"/>
            </a:xfrm>
            <a:custGeom>
              <a:avLst/>
              <a:gdLst/>
              <a:ahLst/>
              <a:cxnLst/>
              <a:rect l="l" t="t" r="r" b="b"/>
              <a:pathLst>
                <a:path w="160020" h="205740">
                  <a:moveTo>
                    <a:pt x="0" y="0"/>
                  </a:moveTo>
                  <a:lnTo>
                    <a:pt x="0" y="205385"/>
                  </a:lnTo>
                  <a:lnTo>
                    <a:pt x="159603" y="102697"/>
                  </a:lnTo>
                  <a:lnTo>
                    <a:pt x="0" y="0"/>
                  </a:lnTo>
                  <a:close/>
                </a:path>
              </a:pathLst>
            </a:custGeom>
            <a:solidFill>
              <a:srgbClr val="1780C3"/>
            </a:solid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2979419" y="1161287"/>
              <a:ext cx="960119" cy="257810"/>
            </a:xfrm>
            <a:custGeom>
              <a:avLst/>
              <a:gdLst/>
              <a:ahLst/>
              <a:cxnLst/>
              <a:rect l="l" t="t" r="r" b="b"/>
              <a:pathLst>
                <a:path w="960120" h="257809">
                  <a:moveTo>
                    <a:pt x="917194" y="0"/>
                  </a:moveTo>
                  <a:lnTo>
                    <a:pt x="42925" y="0"/>
                  </a:lnTo>
                  <a:lnTo>
                    <a:pt x="26199" y="3367"/>
                  </a:lnTo>
                  <a:lnTo>
                    <a:pt x="12557" y="12557"/>
                  </a:lnTo>
                  <a:lnTo>
                    <a:pt x="3367" y="26199"/>
                  </a:lnTo>
                  <a:lnTo>
                    <a:pt x="0" y="42925"/>
                  </a:lnTo>
                  <a:lnTo>
                    <a:pt x="0" y="214629"/>
                  </a:lnTo>
                  <a:lnTo>
                    <a:pt x="3367" y="231356"/>
                  </a:lnTo>
                  <a:lnTo>
                    <a:pt x="12557" y="244998"/>
                  </a:lnTo>
                  <a:lnTo>
                    <a:pt x="26199" y="254188"/>
                  </a:lnTo>
                  <a:lnTo>
                    <a:pt x="42925" y="257556"/>
                  </a:lnTo>
                  <a:lnTo>
                    <a:pt x="917194" y="257556"/>
                  </a:lnTo>
                  <a:lnTo>
                    <a:pt x="933920" y="254188"/>
                  </a:lnTo>
                  <a:lnTo>
                    <a:pt x="947562" y="244998"/>
                  </a:lnTo>
                  <a:lnTo>
                    <a:pt x="956752" y="231356"/>
                  </a:lnTo>
                  <a:lnTo>
                    <a:pt x="960119" y="214629"/>
                  </a:lnTo>
                  <a:lnTo>
                    <a:pt x="960119" y="42925"/>
                  </a:lnTo>
                  <a:lnTo>
                    <a:pt x="956752" y="26199"/>
                  </a:lnTo>
                  <a:lnTo>
                    <a:pt x="947562" y="12557"/>
                  </a:lnTo>
                  <a:lnTo>
                    <a:pt x="933920" y="3367"/>
                  </a:lnTo>
                  <a:lnTo>
                    <a:pt x="917194" y="0"/>
                  </a:lnTo>
                  <a:close/>
                </a:path>
              </a:pathLst>
            </a:custGeom>
            <a:solidFill>
              <a:srgbClr val="2B8738"/>
            </a:solidFill>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2979419" y="1141475"/>
              <a:ext cx="960119" cy="256540"/>
            </a:xfrm>
            <a:custGeom>
              <a:avLst/>
              <a:gdLst/>
              <a:ahLst/>
              <a:cxnLst/>
              <a:rect l="l" t="t" r="r" b="b"/>
              <a:pathLst>
                <a:path w="960120" h="256540">
                  <a:moveTo>
                    <a:pt x="917447" y="0"/>
                  </a:moveTo>
                  <a:lnTo>
                    <a:pt x="42672" y="0"/>
                  </a:lnTo>
                  <a:lnTo>
                    <a:pt x="26038" y="3345"/>
                  </a:lnTo>
                  <a:lnTo>
                    <a:pt x="12477" y="12477"/>
                  </a:lnTo>
                  <a:lnTo>
                    <a:pt x="3345" y="26038"/>
                  </a:lnTo>
                  <a:lnTo>
                    <a:pt x="0" y="42672"/>
                  </a:lnTo>
                  <a:lnTo>
                    <a:pt x="0" y="213360"/>
                  </a:lnTo>
                  <a:lnTo>
                    <a:pt x="3345" y="229993"/>
                  </a:lnTo>
                  <a:lnTo>
                    <a:pt x="12477" y="243554"/>
                  </a:lnTo>
                  <a:lnTo>
                    <a:pt x="26038" y="252686"/>
                  </a:lnTo>
                  <a:lnTo>
                    <a:pt x="42672" y="256032"/>
                  </a:lnTo>
                  <a:lnTo>
                    <a:pt x="917447" y="256032"/>
                  </a:lnTo>
                  <a:lnTo>
                    <a:pt x="934081" y="252686"/>
                  </a:lnTo>
                  <a:lnTo>
                    <a:pt x="947642" y="243554"/>
                  </a:lnTo>
                  <a:lnTo>
                    <a:pt x="956774" y="229993"/>
                  </a:lnTo>
                  <a:lnTo>
                    <a:pt x="960119" y="213360"/>
                  </a:lnTo>
                  <a:lnTo>
                    <a:pt x="960119" y="42672"/>
                  </a:lnTo>
                  <a:lnTo>
                    <a:pt x="956774" y="26038"/>
                  </a:lnTo>
                  <a:lnTo>
                    <a:pt x="947642" y="12477"/>
                  </a:lnTo>
                  <a:lnTo>
                    <a:pt x="934081" y="3345"/>
                  </a:lnTo>
                  <a:lnTo>
                    <a:pt x="917447"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13" name="object 13"/>
            <p:cNvSpPr/>
            <p:nvPr/>
          </p:nvSpPr>
          <p:spPr>
            <a:xfrm>
              <a:off x="4020312" y="2080259"/>
              <a:ext cx="4669790" cy="2216150"/>
            </a:xfrm>
            <a:custGeom>
              <a:avLst/>
              <a:gdLst/>
              <a:ahLst/>
              <a:cxnLst/>
              <a:rect l="l" t="t" r="r" b="b"/>
              <a:pathLst>
                <a:path w="4669790" h="2216150">
                  <a:moveTo>
                    <a:pt x="4669536" y="0"/>
                  </a:moveTo>
                  <a:lnTo>
                    <a:pt x="0" y="0"/>
                  </a:lnTo>
                  <a:lnTo>
                    <a:pt x="0" y="2215896"/>
                  </a:lnTo>
                  <a:lnTo>
                    <a:pt x="4669536" y="2215896"/>
                  </a:lnTo>
                  <a:lnTo>
                    <a:pt x="4669536"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14" name="object 14"/>
            <p:cNvSpPr/>
            <p:nvPr/>
          </p:nvSpPr>
          <p:spPr>
            <a:xfrm>
              <a:off x="4020312" y="1775459"/>
              <a:ext cx="1442085" cy="300355"/>
            </a:xfrm>
            <a:custGeom>
              <a:avLst/>
              <a:gdLst/>
              <a:ahLst/>
              <a:cxnLst/>
              <a:rect l="l" t="t" r="r" b="b"/>
              <a:pathLst>
                <a:path w="1442085" h="300355">
                  <a:moveTo>
                    <a:pt x="1441703" y="0"/>
                  </a:moveTo>
                  <a:lnTo>
                    <a:pt x="0" y="0"/>
                  </a:lnTo>
                  <a:lnTo>
                    <a:pt x="0" y="300227"/>
                  </a:lnTo>
                  <a:lnTo>
                    <a:pt x="1441703" y="300227"/>
                  </a:lnTo>
                  <a:lnTo>
                    <a:pt x="1441703" y="0"/>
                  </a:lnTo>
                  <a:close/>
                </a:path>
              </a:pathLst>
            </a:custGeom>
            <a:solidFill>
              <a:srgbClr val="000000">
                <a:alpha val="50195"/>
              </a:srgbClr>
            </a:solidFill>
          </p:spPr>
          <p:txBody>
            <a:bodyPr wrap="square" lIns="0" tIns="0" rIns="0" bIns="0" rtlCol="0"/>
            <a:lstStyle/>
            <a:p>
              <a:pPr defTabSz="1219170"/>
              <a:endParaRPr sz="2400">
                <a:solidFill>
                  <a:prstClr val="black"/>
                </a:solidFill>
                <a:latin typeface="Calibri"/>
              </a:endParaRPr>
            </a:p>
          </p:txBody>
        </p:sp>
        <p:sp>
          <p:nvSpPr>
            <p:cNvPr id="15" name="object 15"/>
            <p:cNvSpPr/>
            <p:nvPr/>
          </p:nvSpPr>
          <p:spPr>
            <a:xfrm>
              <a:off x="3956303" y="4474463"/>
              <a:ext cx="4375404" cy="365810"/>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6" name="object 16"/>
            <p:cNvSpPr/>
            <p:nvPr/>
          </p:nvSpPr>
          <p:spPr>
            <a:xfrm>
              <a:off x="4113275" y="4482083"/>
              <a:ext cx="2695955" cy="384098"/>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7" name="object 17"/>
            <p:cNvSpPr/>
            <p:nvPr/>
          </p:nvSpPr>
          <p:spPr>
            <a:xfrm>
              <a:off x="4015740" y="4514087"/>
              <a:ext cx="4261485" cy="253365"/>
            </a:xfrm>
            <a:custGeom>
              <a:avLst/>
              <a:gdLst/>
              <a:ahLst/>
              <a:cxnLst/>
              <a:rect l="l" t="t" r="r" b="b"/>
              <a:pathLst>
                <a:path w="4261484" h="253364">
                  <a:moveTo>
                    <a:pt x="4261104" y="0"/>
                  </a:moveTo>
                  <a:lnTo>
                    <a:pt x="0" y="0"/>
                  </a:lnTo>
                  <a:lnTo>
                    <a:pt x="0" y="252984"/>
                  </a:lnTo>
                  <a:lnTo>
                    <a:pt x="4261104" y="252984"/>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sp>
          <p:nvSpPr>
            <p:cNvPr id="18" name="object 18"/>
            <p:cNvSpPr/>
            <p:nvPr/>
          </p:nvSpPr>
          <p:spPr>
            <a:xfrm>
              <a:off x="4032828" y="4526316"/>
              <a:ext cx="160020" cy="20574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19" name="object 19"/>
            <p:cNvSpPr/>
            <p:nvPr/>
          </p:nvSpPr>
          <p:spPr>
            <a:xfrm>
              <a:off x="1495044" y="1159763"/>
              <a:ext cx="654050" cy="300355"/>
            </a:xfrm>
            <a:custGeom>
              <a:avLst/>
              <a:gdLst/>
              <a:ahLst/>
              <a:cxnLst/>
              <a:rect l="l" t="t" r="r" b="b"/>
              <a:pathLst>
                <a:path w="654050" h="300355">
                  <a:moveTo>
                    <a:pt x="653795" y="0"/>
                  </a:moveTo>
                  <a:lnTo>
                    <a:pt x="0" y="0"/>
                  </a:lnTo>
                  <a:lnTo>
                    <a:pt x="0" y="300227"/>
                  </a:lnTo>
                  <a:lnTo>
                    <a:pt x="653795" y="300227"/>
                  </a:lnTo>
                  <a:lnTo>
                    <a:pt x="653795" y="0"/>
                  </a:lnTo>
                  <a:close/>
                </a:path>
              </a:pathLst>
            </a:custGeom>
            <a:solidFill>
              <a:srgbClr val="000000">
                <a:alpha val="50195"/>
              </a:srgbClr>
            </a:solidFill>
          </p:spPr>
          <p:txBody>
            <a:bodyPr wrap="square" lIns="0" tIns="0" rIns="0" bIns="0" rtlCol="0"/>
            <a:lstStyle/>
            <a:p>
              <a:pPr defTabSz="1219170"/>
              <a:endParaRPr sz="2400">
                <a:solidFill>
                  <a:prstClr val="black"/>
                </a:solidFill>
                <a:latin typeface="Calibri"/>
              </a:endParaRPr>
            </a:p>
          </p:txBody>
        </p:sp>
      </p:grpSp>
      <p:grpSp>
        <p:nvGrpSpPr>
          <p:cNvPr id="20" name="object 20"/>
          <p:cNvGrpSpPr/>
          <p:nvPr/>
        </p:nvGrpSpPr>
        <p:grpSpPr>
          <a:xfrm>
            <a:off x="508000" y="1322833"/>
            <a:ext cx="11296227" cy="5478780"/>
            <a:chOff x="381000" y="992124"/>
            <a:chExt cx="8472170" cy="4109085"/>
          </a:xfrm>
        </p:grpSpPr>
        <p:sp>
          <p:nvSpPr>
            <p:cNvPr id="21" name="object 21"/>
            <p:cNvSpPr/>
            <p:nvPr/>
          </p:nvSpPr>
          <p:spPr>
            <a:xfrm>
              <a:off x="4291584" y="3214116"/>
              <a:ext cx="2338070" cy="678180"/>
            </a:xfrm>
            <a:custGeom>
              <a:avLst/>
              <a:gdLst/>
              <a:ahLst/>
              <a:cxnLst/>
              <a:rect l="l" t="t" r="r" b="b"/>
              <a:pathLst>
                <a:path w="2338070" h="678179">
                  <a:moveTo>
                    <a:pt x="2224786" y="0"/>
                  </a:moveTo>
                  <a:lnTo>
                    <a:pt x="113029" y="0"/>
                  </a:lnTo>
                  <a:lnTo>
                    <a:pt x="69008" y="8874"/>
                  </a:lnTo>
                  <a:lnTo>
                    <a:pt x="33083" y="33083"/>
                  </a:lnTo>
                  <a:lnTo>
                    <a:pt x="8874" y="69008"/>
                  </a:lnTo>
                  <a:lnTo>
                    <a:pt x="0" y="113029"/>
                  </a:lnTo>
                  <a:lnTo>
                    <a:pt x="0" y="565149"/>
                  </a:lnTo>
                  <a:lnTo>
                    <a:pt x="8874" y="609171"/>
                  </a:lnTo>
                  <a:lnTo>
                    <a:pt x="33083" y="645096"/>
                  </a:lnTo>
                  <a:lnTo>
                    <a:pt x="69008" y="669305"/>
                  </a:lnTo>
                  <a:lnTo>
                    <a:pt x="113029" y="678179"/>
                  </a:lnTo>
                  <a:lnTo>
                    <a:pt x="2224786" y="678179"/>
                  </a:lnTo>
                  <a:lnTo>
                    <a:pt x="2268807" y="669305"/>
                  </a:lnTo>
                  <a:lnTo>
                    <a:pt x="2304732" y="645096"/>
                  </a:lnTo>
                  <a:lnTo>
                    <a:pt x="2328941" y="609171"/>
                  </a:lnTo>
                  <a:lnTo>
                    <a:pt x="2337816" y="565149"/>
                  </a:lnTo>
                  <a:lnTo>
                    <a:pt x="2337816" y="113029"/>
                  </a:lnTo>
                  <a:lnTo>
                    <a:pt x="2328941" y="69008"/>
                  </a:lnTo>
                  <a:lnTo>
                    <a:pt x="2304732" y="33083"/>
                  </a:lnTo>
                  <a:lnTo>
                    <a:pt x="2268807" y="8874"/>
                  </a:lnTo>
                  <a:lnTo>
                    <a:pt x="2224786" y="0"/>
                  </a:lnTo>
                  <a:close/>
                </a:path>
              </a:pathLst>
            </a:custGeom>
            <a:solidFill>
              <a:srgbClr val="E10A87">
                <a:alpha val="50195"/>
              </a:srgbClr>
            </a:solidFill>
          </p:spPr>
          <p:txBody>
            <a:bodyPr wrap="square" lIns="0" tIns="0" rIns="0" bIns="0" rtlCol="0"/>
            <a:lstStyle/>
            <a:p>
              <a:pPr defTabSz="1219170"/>
              <a:endParaRPr sz="2400">
                <a:solidFill>
                  <a:prstClr val="black"/>
                </a:solidFill>
                <a:latin typeface="Calibri"/>
              </a:endParaRPr>
            </a:p>
          </p:txBody>
        </p:sp>
        <p:sp>
          <p:nvSpPr>
            <p:cNvPr id="22" name="object 22"/>
            <p:cNvSpPr/>
            <p:nvPr/>
          </p:nvSpPr>
          <p:spPr>
            <a:xfrm>
              <a:off x="4291584" y="3209544"/>
              <a:ext cx="2338070" cy="678180"/>
            </a:xfrm>
            <a:custGeom>
              <a:avLst/>
              <a:gdLst/>
              <a:ahLst/>
              <a:cxnLst/>
              <a:rect l="l" t="t" r="r" b="b"/>
              <a:pathLst>
                <a:path w="2338070" h="678179">
                  <a:moveTo>
                    <a:pt x="0" y="113030"/>
                  </a:moveTo>
                  <a:lnTo>
                    <a:pt x="8874" y="69008"/>
                  </a:lnTo>
                  <a:lnTo>
                    <a:pt x="33083" y="33083"/>
                  </a:lnTo>
                  <a:lnTo>
                    <a:pt x="69008" y="8874"/>
                  </a:lnTo>
                  <a:lnTo>
                    <a:pt x="113029" y="0"/>
                  </a:lnTo>
                  <a:lnTo>
                    <a:pt x="2224786" y="0"/>
                  </a:lnTo>
                  <a:lnTo>
                    <a:pt x="2268807" y="8874"/>
                  </a:lnTo>
                  <a:lnTo>
                    <a:pt x="2304732" y="33083"/>
                  </a:lnTo>
                  <a:lnTo>
                    <a:pt x="2328941" y="69008"/>
                  </a:lnTo>
                  <a:lnTo>
                    <a:pt x="2337816" y="113030"/>
                  </a:lnTo>
                  <a:lnTo>
                    <a:pt x="2337816" y="565150"/>
                  </a:lnTo>
                  <a:lnTo>
                    <a:pt x="2328941" y="609171"/>
                  </a:lnTo>
                  <a:lnTo>
                    <a:pt x="2304732" y="645096"/>
                  </a:lnTo>
                  <a:lnTo>
                    <a:pt x="2268807" y="669305"/>
                  </a:lnTo>
                  <a:lnTo>
                    <a:pt x="2224786" y="678180"/>
                  </a:lnTo>
                  <a:lnTo>
                    <a:pt x="113029" y="678180"/>
                  </a:lnTo>
                  <a:lnTo>
                    <a:pt x="69008" y="669305"/>
                  </a:lnTo>
                  <a:lnTo>
                    <a:pt x="33083" y="645096"/>
                  </a:lnTo>
                  <a:lnTo>
                    <a:pt x="8874" y="609171"/>
                  </a:lnTo>
                  <a:lnTo>
                    <a:pt x="0" y="565150"/>
                  </a:lnTo>
                  <a:lnTo>
                    <a:pt x="0" y="113030"/>
                  </a:lnTo>
                  <a:close/>
                </a:path>
              </a:pathLst>
            </a:custGeom>
            <a:ln w="9144">
              <a:solidFill>
                <a:srgbClr val="C00000"/>
              </a:solidFill>
              <a:prstDash val="sysDashDot"/>
            </a:ln>
          </p:spPr>
          <p:txBody>
            <a:bodyPr wrap="square" lIns="0" tIns="0" rIns="0" bIns="0" rtlCol="0"/>
            <a:lstStyle/>
            <a:p>
              <a:pPr defTabSz="1219170"/>
              <a:endParaRPr sz="2400">
                <a:solidFill>
                  <a:prstClr val="black"/>
                </a:solidFill>
                <a:latin typeface="Calibri"/>
              </a:endParaRPr>
            </a:p>
          </p:txBody>
        </p:sp>
        <p:sp>
          <p:nvSpPr>
            <p:cNvPr id="23" name="object 23"/>
            <p:cNvSpPr/>
            <p:nvPr/>
          </p:nvSpPr>
          <p:spPr>
            <a:xfrm>
              <a:off x="381000" y="992124"/>
              <a:ext cx="8472170" cy="4109085"/>
            </a:xfrm>
            <a:custGeom>
              <a:avLst/>
              <a:gdLst/>
              <a:ahLst/>
              <a:cxnLst/>
              <a:rect l="l" t="t" r="r" b="b"/>
              <a:pathLst>
                <a:path w="8472170" h="4109085">
                  <a:moveTo>
                    <a:pt x="8471916" y="0"/>
                  </a:moveTo>
                  <a:lnTo>
                    <a:pt x="0" y="0"/>
                  </a:lnTo>
                  <a:lnTo>
                    <a:pt x="0" y="4108704"/>
                  </a:lnTo>
                  <a:lnTo>
                    <a:pt x="8471916" y="4108704"/>
                  </a:lnTo>
                  <a:lnTo>
                    <a:pt x="8471916" y="0"/>
                  </a:lnTo>
                  <a:close/>
                </a:path>
              </a:pathLst>
            </a:custGeom>
            <a:solidFill>
              <a:srgbClr val="FFFFFF">
                <a:alpha val="96076"/>
              </a:srgbClr>
            </a:solidFill>
          </p:spPr>
          <p:txBody>
            <a:bodyPr wrap="square" lIns="0" tIns="0" rIns="0" bIns="0" rtlCol="0"/>
            <a:lstStyle/>
            <a:p>
              <a:pPr defTabSz="1219170"/>
              <a:endParaRPr sz="2400">
                <a:solidFill>
                  <a:prstClr val="black"/>
                </a:solidFill>
                <a:latin typeface="Calibri"/>
              </a:endParaRPr>
            </a:p>
          </p:txBody>
        </p:sp>
        <p:sp>
          <p:nvSpPr>
            <p:cNvPr id="24" name="object 24"/>
            <p:cNvSpPr/>
            <p:nvPr/>
          </p:nvSpPr>
          <p:spPr>
            <a:xfrm>
              <a:off x="4741164" y="1495044"/>
              <a:ext cx="2962910" cy="1170940"/>
            </a:xfrm>
            <a:custGeom>
              <a:avLst/>
              <a:gdLst/>
              <a:ahLst/>
              <a:cxnLst/>
              <a:rect l="l" t="t" r="r" b="b"/>
              <a:pathLst>
                <a:path w="2962909" h="1170939">
                  <a:moveTo>
                    <a:pt x="2962656" y="0"/>
                  </a:moveTo>
                  <a:lnTo>
                    <a:pt x="0" y="0"/>
                  </a:lnTo>
                  <a:lnTo>
                    <a:pt x="0" y="1170431"/>
                  </a:lnTo>
                  <a:lnTo>
                    <a:pt x="2962656" y="1170431"/>
                  </a:lnTo>
                  <a:lnTo>
                    <a:pt x="2962656"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grpSp>
      <p:sp>
        <p:nvSpPr>
          <p:cNvPr id="25" name="object 25"/>
          <p:cNvSpPr txBox="1"/>
          <p:nvPr/>
        </p:nvSpPr>
        <p:spPr>
          <a:xfrm>
            <a:off x="6321552" y="1993392"/>
            <a:ext cx="3950547" cy="329215"/>
          </a:xfrm>
          <a:prstGeom prst="rect">
            <a:avLst/>
          </a:prstGeom>
          <a:solidFill>
            <a:srgbClr val="2B2B2B"/>
          </a:solidFill>
        </p:spPr>
        <p:txBody>
          <a:bodyPr vert="horz" wrap="square" lIns="0" tIns="41487" rIns="0" bIns="0" rtlCol="0">
            <a:spAutoFit/>
          </a:bodyPr>
          <a:lstStyle/>
          <a:p>
            <a:pPr marL="121917" defTabSz="1219170">
              <a:spcBef>
                <a:spcPts val="327"/>
              </a:spcBef>
            </a:pPr>
            <a:r>
              <a:rPr sz="1867" spc="-7" dirty="0">
                <a:solidFill>
                  <a:srgbClr val="9776AA"/>
                </a:solidFill>
                <a:latin typeface="Courier New"/>
                <a:cs typeface="Courier New"/>
              </a:rPr>
              <a:t>DB_Host</a:t>
            </a:r>
            <a:r>
              <a:rPr sz="1867" spc="-7" dirty="0">
                <a:solidFill>
                  <a:srgbClr val="A9B7C5"/>
                </a:solidFill>
                <a:latin typeface="Courier New"/>
                <a:cs typeface="Courier New"/>
              </a:rPr>
              <a:t>:</a:t>
            </a:r>
            <a:r>
              <a:rPr sz="1867" spc="-13" dirty="0">
                <a:solidFill>
                  <a:srgbClr val="A9B7C5"/>
                </a:solidFill>
                <a:latin typeface="Courier New"/>
                <a:cs typeface="Courier New"/>
              </a:rPr>
              <a:t> bXlzcWw=</a:t>
            </a:r>
            <a:endParaRPr sz="1867">
              <a:solidFill>
                <a:prstClr val="black"/>
              </a:solidFill>
              <a:latin typeface="Courier New"/>
              <a:cs typeface="Courier New"/>
            </a:endParaRPr>
          </a:p>
        </p:txBody>
      </p:sp>
      <p:sp>
        <p:nvSpPr>
          <p:cNvPr id="26" name="object 26"/>
          <p:cNvSpPr txBox="1"/>
          <p:nvPr/>
        </p:nvSpPr>
        <p:spPr>
          <a:xfrm>
            <a:off x="6426878" y="2302425"/>
            <a:ext cx="2447713" cy="305276"/>
          </a:xfrm>
          <a:prstGeom prst="rect">
            <a:avLst/>
          </a:prstGeom>
        </p:spPr>
        <p:txBody>
          <a:bodyPr vert="horz" wrap="square" lIns="0" tIns="17780" rIns="0" bIns="0" rtlCol="0">
            <a:spAutoFit/>
          </a:bodyPr>
          <a:lstStyle/>
          <a:p>
            <a:pPr marL="16933" defTabSz="1219170">
              <a:spcBef>
                <a:spcPts val="140"/>
              </a:spcBef>
            </a:pPr>
            <a:r>
              <a:rPr sz="1867" spc="-7" dirty="0">
                <a:solidFill>
                  <a:srgbClr val="9776AA"/>
                </a:solidFill>
                <a:latin typeface="Courier New"/>
                <a:cs typeface="Courier New"/>
              </a:rPr>
              <a:t>DB_User</a:t>
            </a:r>
            <a:r>
              <a:rPr sz="1867" spc="-7" dirty="0">
                <a:solidFill>
                  <a:srgbClr val="A9B7C5"/>
                </a:solidFill>
                <a:latin typeface="Courier New"/>
                <a:cs typeface="Courier New"/>
              </a:rPr>
              <a:t>:</a:t>
            </a:r>
            <a:r>
              <a:rPr sz="1867" spc="-60" dirty="0">
                <a:solidFill>
                  <a:srgbClr val="A9B7C5"/>
                </a:solidFill>
                <a:latin typeface="Courier New"/>
                <a:cs typeface="Courier New"/>
              </a:rPr>
              <a:t> </a:t>
            </a:r>
            <a:r>
              <a:rPr sz="1867" spc="-13" dirty="0">
                <a:solidFill>
                  <a:srgbClr val="A9B7C5"/>
                </a:solidFill>
                <a:latin typeface="Courier New"/>
                <a:cs typeface="Courier New"/>
              </a:rPr>
              <a:t>cm9vdA==</a:t>
            </a:r>
            <a:endParaRPr sz="1867">
              <a:solidFill>
                <a:prstClr val="black"/>
              </a:solidFill>
              <a:latin typeface="Courier New"/>
              <a:cs typeface="Courier New"/>
            </a:endParaRPr>
          </a:p>
        </p:txBody>
      </p:sp>
      <p:sp>
        <p:nvSpPr>
          <p:cNvPr id="27" name="object 27"/>
          <p:cNvSpPr txBox="1"/>
          <p:nvPr/>
        </p:nvSpPr>
        <p:spPr>
          <a:xfrm>
            <a:off x="6426878" y="2586906"/>
            <a:ext cx="3016673" cy="304421"/>
          </a:xfrm>
          <a:prstGeom prst="rect">
            <a:avLst/>
          </a:prstGeom>
        </p:spPr>
        <p:txBody>
          <a:bodyPr vert="horz" wrap="square" lIns="0" tIns="16933" rIns="0" bIns="0" rtlCol="0">
            <a:spAutoFit/>
          </a:bodyPr>
          <a:lstStyle/>
          <a:p>
            <a:pPr marL="16933" defTabSz="1219170">
              <a:spcBef>
                <a:spcPts val="133"/>
              </a:spcBef>
            </a:pP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93" dirty="0">
                <a:solidFill>
                  <a:srgbClr val="A9B7C5"/>
                </a:solidFill>
                <a:latin typeface="Courier New"/>
                <a:cs typeface="Courier New"/>
              </a:rPr>
              <a:t> </a:t>
            </a:r>
            <a:r>
              <a:rPr sz="1867" spc="-7" dirty="0">
                <a:solidFill>
                  <a:srgbClr val="A9B7C5"/>
                </a:solidFill>
                <a:latin typeface="Courier New"/>
                <a:cs typeface="Courier New"/>
              </a:rPr>
              <a:t>cGFzd3Jk</a:t>
            </a:r>
            <a:endParaRPr sz="1867">
              <a:solidFill>
                <a:prstClr val="black"/>
              </a:solidFill>
              <a:latin typeface="Courier New"/>
              <a:cs typeface="Courier New"/>
            </a:endParaRPr>
          </a:p>
        </p:txBody>
      </p:sp>
      <p:sp>
        <p:nvSpPr>
          <p:cNvPr id="28" name="object 28"/>
          <p:cNvSpPr txBox="1"/>
          <p:nvPr/>
        </p:nvSpPr>
        <p:spPr>
          <a:xfrm>
            <a:off x="961135" y="1956815"/>
            <a:ext cx="2995507" cy="903004"/>
          </a:xfrm>
          <a:prstGeom prst="rect">
            <a:avLst/>
          </a:prstGeom>
          <a:solidFill>
            <a:srgbClr val="2B2B2B"/>
          </a:solidFill>
        </p:spPr>
        <p:txBody>
          <a:bodyPr vert="horz" wrap="square" lIns="0" tIns="40640" rIns="0" bIns="0" rtlCol="0">
            <a:spAutoFit/>
          </a:bodyPr>
          <a:lstStyle/>
          <a:p>
            <a:pPr marL="121070" marR="165096" defTabSz="1219170">
              <a:spcBef>
                <a:spcPts val="320"/>
              </a:spcBef>
            </a:pPr>
            <a:r>
              <a:rPr sz="1867" spc="-7" dirty="0">
                <a:solidFill>
                  <a:srgbClr val="9776AA"/>
                </a:solidFill>
                <a:latin typeface="Courier New"/>
                <a:cs typeface="Courier New"/>
              </a:rPr>
              <a:t>DB_Host</a:t>
            </a:r>
            <a:r>
              <a:rPr sz="1867" spc="-7" dirty="0">
                <a:solidFill>
                  <a:srgbClr val="A9B7C5"/>
                </a:solidFill>
                <a:latin typeface="Courier New"/>
                <a:cs typeface="Courier New"/>
              </a:rPr>
              <a:t>: mysql  </a:t>
            </a:r>
            <a:r>
              <a:rPr sz="1867" spc="-7" dirty="0">
                <a:solidFill>
                  <a:srgbClr val="9776AA"/>
                </a:solidFill>
                <a:latin typeface="Courier New"/>
                <a:cs typeface="Courier New"/>
              </a:rPr>
              <a:t>DB_User</a:t>
            </a:r>
            <a:r>
              <a:rPr sz="1867" spc="-7" dirty="0">
                <a:solidFill>
                  <a:srgbClr val="A9B7C5"/>
                </a:solidFill>
                <a:latin typeface="Courier New"/>
                <a:cs typeface="Courier New"/>
              </a:rPr>
              <a:t>: </a:t>
            </a:r>
            <a:r>
              <a:rPr sz="1867" spc="-13" dirty="0">
                <a:solidFill>
                  <a:srgbClr val="A9B7C5"/>
                </a:solidFill>
                <a:latin typeface="Courier New"/>
                <a:cs typeface="Courier New"/>
              </a:rPr>
              <a:t>root  </a:t>
            </a: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113" dirty="0">
                <a:solidFill>
                  <a:srgbClr val="A9B7C5"/>
                </a:solidFill>
                <a:latin typeface="Courier New"/>
                <a:cs typeface="Courier New"/>
              </a:rPr>
              <a:t> </a:t>
            </a:r>
            <a:r>
              <a:rPr sz="1867" spc="-7" dirty="0">
                <a:solidFill>
                  <a:srgbClr val="A9B7C5"/>
                </a:solidFill>
                <a:latin typeface="Courier New"/>
                <a:cs typeface="Courier New"/>
              </a:rPr>
              <a:t>paswrd</a:t>
            </a:r>
            <a:endParaRPr sz="1867">
              <a:solidFill>
                <a:prstClr val="black"/>
              </a:solidFill>
              <a:latin typeface="Courier New"/>
              <a:cs typeface="Courier New"/>
            </a:endParaRPr>
          </a:p>
        </p:txBody>
      </p:sp>
      <p:grpSp>
        <p:nvGrpSpPr>
          <p:cNvPr id="29" name="object 29"/>
          <p:cNvGrpSpPr/>
          <p:nvPr/>
        </p:nvGrpSpPr>
        <p:grpSpPr>
          <a:xfrm>
            <a:off x="924559" y="2361185"/>
            <a:ext cx="5834380" cy="2056553"/>
            <a:chOff x="693419" y="1770888"/>
            <a:chExt cx="4375785" cy="1542415"/>
          </a:xfrm>
        </p:grpSpPr>
        <p:sp>
          <p:nvSpPr>
            <p:cNvPr id="30" name="object 30"/>
            <p:cNvSpPr/>
            <p:nvPr/>
          </p:nvSpPr>
          <p:spPr>
            <a:xfrm>
              <a:off x="3287268" y="1770888"/>
              <a:ext cx="1316736" cy="699516"/>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1" name="object 31"/>
            <p:cNvSpPr/>
            <p:nvPr/>
          </p:nvSpPr>
          <p:spPr>
            <a:xfrm>
              <a:off x="3371087" y="1856232"/>
              <a:ext cx="1152525" cy="533400"/>
            </a:xfrm>
            <a:custGeom>
              <a:avLst/>
              <a:gdLst/>
              <a:ahLst/>
              <a:cxnLst/>
              <a:rect l="l" t="t" r="r" b="b"/>
              <a:pathLst>
                <a:path w="1152525" h="533400">
                  <a:moveTo>
                    <a:pt x="885444" y="0"/>
                  </a:moveTo>
                  <a:lnTo>
                    <a:pt x="885444" y="133349"/>
                  </a:lnTo>
                  <a:lnTo>
                    <a:pt x="0" y="133349"/>
                  </a:lnTo>
                  <a:lnTo>
                    <a:pt x="0" y="400049"/>
                  </a:lnTo>
                  <a:lnTo>
                    <a:pt x="885444" y="400049"/>
                  </a:lnTo>
                  <a:lnTo>
                    <a:pt x="885444" y="533399"/>
                  </a:lnTo>
                  <a:lnTo>
                    <a:pt x="1152144" y="266699"/>
                  </a:lnTo>
                  <a:lnTo>
                    <a:pt x="885444" y="0"/>
                  </a:lnTo>
                  <a:close/>
                </a:path>
              </a:pathLst>
            </a:custGeom>
            <a:solidFill>
              <a:srgbClr val="483390"/>
            </a:solidFill>
          </p:spPr>
          <p:txBody>
            <a:bodyPr wrap="square" lIns="0" tIns="0" rIns="0" bIns="0" rtlCol="0"/>
            <a:lstStyle/>
            <a:p>
              <a:pPr defTabSz="1219170"/>
              <a:endParaRPr sz="2400">
                <a:solidFill>
                  <a:prstClr val="black"/>
                </a:solidFill>
                <a:latin typeface="Calibri"/>
              </a:endParaRPr>
            </a:p>
          </p:txBody>
        </p:sp>
        <p:sp>
          <p:nvSpPr>
            <p:cNvPr id="32" name="object 32"/>
            <p:cNvSpPr/>
            <p:nvPr/>
          </p:nvSpPr>
          <p:spPr>
            <a:xfrm>
              <a:off x="3371087" y="1856232"/>
              <a:ext cx="1152525" cy="533400"/>
            </a:xfrm>
            <a:custGeom>
              <a:avLst/>
              <a:gdLst/>
              <a:ahLst/>
              <a:cxnLst/>
              <a:rect l="l" t="t" r="r" b="b"/>
              <a:pathLst>
                <a:path w="1152525" h="533400">
                  <a:moveTo>
                    <a:pt x="0" y="133349"/>
                  </a:moveTo>
                  <a:lnTo>
                    <a:pt x="885444" y="133349"/>
                  </a:lnTo>
                  <a:lnTo>
                    <a:pt x="885444" y="0"/>
                  </a:lnTo>
                  <a:lnTo>
                    <a:pt x="1152144" y="266699"/>
                  </a:lnTo>
                  <a:lnTo>
                    <a:pt x="885444" y="533399"/>
                  </a:lnTo>
                  <a:lnTo>
                    <a:pt x="885444" y="400049"/>
                  </a:lnTo>
                  <a:lnTo>
                    <a:pt x="0" y="400049"/>
                  </a:lnTo>
                  <a:lnTo>
                    <a:pt x="0" y="133349"/>
                  </a:lnTo>
                  <a:close/>
                </a:path>
              </a:pathLst>
            </a:custGeom>
            <a:ln w="12192">
              <a:solidFill>
                <a:srgbClr val="332268"/>
              </a:solidFill>
            </a:ln>
          </p:spPr>
          <p:txBody>
            <a:bodyPr wrap="square" lIns="0" tIns="0" rIns="0" bIns="0" rtlCol="0"/>
            <a:lstStyle/>
            <a:p>
              <a:pPr defTabSz="1219170"/>
              <a:endParaRPr sz="2400">
                <a:solidFill>
                  <a:prstClr val="black"/>
                </a:solidFill>
                <a:latin typeface="Calibri"/>
              </a:endParaRPr>
            </a:p>
          </p:txBody>
        </p:sp>
        <p:sp>
          <p:nvSpPr>
            <p:cNvPr id="33" name="object 33"/>
            <p:cNvSpPr/>
            <p:nvPr/>
          </p:nvSpPr>
          <p:spPr>
            <a:xfrm>
              <a:off x="693419" y="2921457"/>
              <a:ext cx="4375404" cy="365810"/>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4" name="object 34"/>
            <p:cNvSpPr/>
            <p:nvPr/>
          </p:nvSpPr>
          <p:spPr>
            <a:xfrm>
              <a:off x="851915" y="2929077"/>
              <a:ext cx="1981200" cy="384098"/>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5" name="object 35"/>
            <p:cNvSpPr/>
            <p:nvPr/>
          </p:nvSpPr>
          <p:spPr>
            <a:xfrm>
              <a:off x="752855" y="2961132"/>
              <a:ext cx="4261485" cy="253365"/>
            </a:xfrm>
            <a:custGeom>
              <a:avLst/>
              <a:gdLst/>
              <a:ahLst/>
              <a:cxnLst/>
              <a:rect l="l" t="t" r="r" b="b"/>
              <a:pathLst>
                <a:path w="4261485" h="253364">
                  <a:moveTo>
                    <a:pt x="4261104" y="0"/>
                  </a:moveTo>
                  <a:lnTo>
                    <a:pt x="0" y="0"/>
                  </a:lnTo>
                  <a:lnTo>
                    <a:pt x="0" y="252983"/>
                  </a:lnTo>
                  <a:lnTo>
                    <a:pt x="4261104" y="252983"/>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36" name="object 36"/>
          <p:cNvSpPr txBox="1"/>
          <p:nvPr/>
        </p:nvSpPr>
        <p:spPr>
          <a:xfrm>
            <a:off x="994665" y="3948177"/>
            <a:ext cx="4366260" cy="260691"/>
          </a:xfrm>
          <a:prstGeom prst="rect">
            <a:avLst/>
          </a:prstGeom>
        </p:spPr>
        <p:txBody>
          <a:bodyPr vert="horz" wrap="square" lIns="0" tIns="55033" rIns="0" bIns="0" rtlCol="0">
            <a:spAutoFit/>
          </a:bodyPr>
          <a:lstStyle/>
          <a:p>
            <a:pPr marL="322572" defTabSz="1219170">
              <a:spcBef>
                <a:spcPts val="433"/>
              </a:spcBef>
            </a:pPr>
            <a:r>
              <a:rPr sz="1333" spc="13" dirty="0">
                <a:solidFill>
                  <a:srgbClr val="D9D9D9"/>
                </a:solidFill>
                <a:latin typeface="Arial"/>
                <a:cs typeface="Arial"/>
              </a:rPr>
              <a:t>echo </a:t>
            </a:r>
            <a:r>
              <a:rPr sz="1333" dirty="0">
                <a:solidFill>
                  <a:srgbClr val="D9D9D9"/>
                </a:solidFill>
                <a:latin typeface="Arial"/>
                <a:cs typeface="Arial"/>
              </a:rPr>
              <a:t>–n </a:t>
            </a:r>
            <a:r>
              <a:rPr sz="1333" spc="160" dirty="0">
                <a:solidFill>
                  <a:srgbClr val="D9D9D9"/>
                </a:solidFill>
                <a:latin typeface="Arial"/>
                <a:cs typeface="Arial"/>
              </a:rPr>
              <a:t>‘mysql’ </a:t>
            </a:r>
            <a:r>
              <a:rPr sz="1333" spc="387" dirty="0">
                <a:solidFill>
                  <a:srgbClr val="D9D9D9"/>
                </a:solidFill>
                <a:latin typeface="Arial"/>
                <a:cs typeface="Arial"/>
              </a:rPr>
              <a:t>|</a:t>
            </a:r>
            <a:r>
              <a:rPr sz="1333" spc="80" dirty="0">
                <a:solidFill>
                  <a:srgbClr val="D9D9D9"/>
                </a:solidFill>
                <a:latin typeface="Arial"/>
                <a:cs typeface="Arial"/>
              </a:rPr>
              <a:t> </a:t>
            </a:r>
            <a:r>
              <a:rPr sz="1333" spc="13" dirty="0">
                <a:solidFill>
                  <a:srgbClr val="D9D9D9"/>
                </a:solidFill>
                <a:latin typeface="Arial"/>
                <a:cs typeface="Arial"/>
              </a:rPr>
              <a:t>base64</a:t>
            </a:r>
            <a:endParaRPr sz="1333">
              <a:solidFill>
                <a:prstClr val="black"/>
              </a:solidFill>
              <a:latin typeface="Arial"/>
              <a:cs typeface="Arial"/>
            </a:endParaRPr>
          </a:p>
        </p:txBody>
      </p:sp>
      <p:grpSp>
        <p:nvGrpSpPr>
          <p:cNvPr id="37" name="object 37"/>
          <p:cNvGrpSpPr/>
          <p:nvPr/>
        </p:nvGrpSpPr>
        <p:grpSpPr>
          <a:xfrm>
            <a:off x="995341" y="3964481"/>
            <a:ext cx="5698913" cy="655320"/>
            <a:chOff x="746505" y="2973361"/>
            <a:chExt cx="4274185" cy="491490"/>
          </a:xfrm>
        </p:grpSpPr>
        <p:sp>
          <p:nvSpPr>
            <p:cNvPr id="38" name="object 38"/>
            <p:cNvSpPr/>
            <p:nvPr/>
          </p:nvSpPr>
          <p:spPr>
            <a:xfrm>
              <a:off x="771468" y="2973361"/>
              <a:ext cx="160020" cy="205740"/>
            </a:xfrm>
            <a:custGeom>
              <a:avLst/>
              <a:gdLst/>
              <a:ahLst/>
              <a:cxnLst/>
              <a:rect l="l" t="t" r="r" b="b"/>
              <a:pathLst>
                <a:path w="160019"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39" name="object 39"/>
            <p:cNvSpPr/>
            <p:nvPr/>
          </p:nvSpPr>
          <p:spPr>
            <a:xfrm>
              <a:off x="752855" y="3212591"/>
              <a:ext cx="4261485" cy="245745"/>
            </a:xfrm>
            <a:custGeom>
              <a:avLst/>
              <a:gdLst/>
              <a:ahLst/>
              <a:cxnLst/>
              <a:rect l="l" t="t" r="r" b="b"/>
              <a:pathLst>
                <a:path w="4261485" h="245745">
                  <a:moveTo>
                    <a:pt x="4261104" y="0"/>
                  </a:moveTo>
                  <a:lnTo>
                    <a:pt x="0" y="0"/>
                  </a:lnTo>
                  <a:lnTo>
                    <a:pt x="0" y="245363"/>
                  </a:lnTo>
                  <a:lnTo>
                    <a:pt x="4261104" y="245363"/>
                  </a:lnTo>
                  <a:lnTo>
                    <a:pt x="4261104"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40" name="object 40"/>
            <p:cNvSpPr/>
            <p:nvPr/>
          </p:nvSpPr>
          <p:spPr>
            <a:xfrm>
              <a:off x="752855" y="3212591"/>
              <a:ext cx="4261485" cy="245745"/>
            </a:xfrm>
            <a:custGeom>
              <a:avLst/>
              <a:gdLst/>
              <a:ahLst/>
              <a:cxnLst/>
              <a:rect l="l" t="t" r="r" b="b"/>
              <a:pathLst>
                <a:path w="4261485" h="245745">
                  <a:moveTo>
                    <a:pt x="0" y="245363"/>
                  </a:moveTo>
                  <a:lnTo>
                    <a:pt x="4261104" y="245363"/>
                  </a:lnTo>
                  <a:lnTo>
                    <a:pt x="4261104" y="0"/>
                  </a:lnTo>
                  <a:lnTo>
                    <a:pt x="0" y="0"/>
                  </a:lnTo>
                  <a:lnTo>
                    <a:pt x="0" y="245363"/>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41" name="object 41"/>
          <p:cNvSpPr txBox="1"/>
          <p:nvPr/>
        </p:nvSpPr>
        <p:spPr>
          <a:xfrm>
            <a:off x="994665" y="4285488"/>
            <a:ext cx="4366260" cy="255562"/>
          </a:xfrm>
          <a:prstGeom prst="rect">
            <a:avLst/>
          </a:prstGeom>
        </p:spPr>
        <p:txBody>
          <a:bodyPr vert="horz" wrap="square" lIns="0" tIns="49953" rIns="0" bIns="0" rtlCol="0">
            <a:spAutoFit/>
          </a:bodyPr>
          <a:lstStyle/>
          <a:p>
            <a:pPr marL="131230" defTabSz="1219170">
              <a:spcBef>
                <a:spcPts val="393"/>
              </a:spcBef>
            </a:pPr>
            <a:r>
              <a:rPr sz="1333" spc="-53" dirty="0">
                <a:solidFill>
                  <a:srgbClr val="FFFFFF"/>
                </a:solidFill>
                <a:latin typeface="Arial"/>
                <a:cs typeface="Arial"/>
              </a:rPr>
              <a:t>bXlzcWw=</a:t>
            </a:r>
            <a:endParaRPr sz="1333">
              <a:solidFill>
                <a:prstClr val="black"/>
              </a:solidFill>
              <a:latin typeface="Arial"/>
              <a:cs typeface="Arial"/>
            </a:endParaRPr>
          </a:p>
        </p:txBody>
      </p:sp>
      <p:grpSp>
        <p:nvGrpSpPr>
          <p:cNvPr id="42" name="object 42"/>
          <p:cNvGrpSpPr/>
          <p:nvPr/>
        </p:nvGrpSpPr>
        <p:grpSpPr>
          <a:xfrm>
            <a:off x="922527" y="4876801"/>
            <a:ext cx="5834380" cy="522393"/>
            <a:chOff x="691895" y="3657600"/>
            <a:chExt cx="4375785" cy="391795"/>
          </a:xfrm>
        </p:grpSpPr>
        <p:sp>
          <p:nvSpPr>
            <p:cNvPr id="43" name="object 43"/>
            <p:cNvSpPr/>
            <p:nvPr/>
          </p:nvSpPr>
          <p:spPr>
            <a:xfrm>
              <a:off x="691895" y="3657600"/>
              <a:ext cx="4375404" cy="365810"/>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4" name="object 44"/>
            <p:cNvSpPr/>
            <p:nvPr/>
          </p:nvSpPr>
          <p:spPr>
            <a:xfrm>
              <a:off x="848867" y="3665220"/>
              <a:ext cx="1909572" cy="384098"/>
            </a:xfrm>
            <a:prstGeom prst="rect">
              <a:avLst/>
            </a:prstGeom>
            <a:blipFill>
              <a:blip r:embed="rId8"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5" name="object 45"/>
            <p:cNvSpPr/>
            <p:nvPr/>
          </p:nvSpPr>
          <p:spPr>
            <a:xfrm>
              <a:off x="751331" y="3697223"/>
              <a:ext cx="4261485" cy="253365"/>
            </a:xfrm>
            <a:custGeom>
              <a:avLst/>
              <a:gdLst/>
              <a:ahLst/>
              <a:cxnLst/>
              <a:rect l="l" t="t" r="r" b="b"/>
              <a:pathLst>
                <a:path w="4261485" h="253364">
                  <a:moveTo>
                    <a:pt x="4261104" y="0"/>
                  </a:moveTo>
                  <a:lnTo>
                    <a:pt x="0" y="0"/>
                  </a:lnTo>
                  <a:lnTo>
                    <a:pt x="0" y="252984"/>
                  </a:lnTo>
                  <a:lnTo>
                    <a:pt x="4261104" y="252984"/>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46" name="object 46"/>
          <p:cNvSpPr txBox="1"/>
          <p:nvPr/>
        </p:nvSpPr>
        <p:spPr>
          <a:xfrm>
            <a:off x="994665" y="4929631"/>
            <a:ext cx="4366260" cy="260691"/>
          </a:xfrm>
          <a:prstGeom prst="rect">
            <a:avLst/>
          </a:prstGeom>
        </p:spPr>
        <p:txBody>
          <a:bodyPr vert="horz" wrap="square" lIns="0" tIns="55033" rIns="0" bIns="0" rtlCol="0">
            <a:spAutoFit/>
          </a:bodyPr>
          <a:lstStyle/>
          <a:p>
            <a:pPr marL="319185" defTabSz="1219170">
              <a:spcBef>
                <a:spcPts val="433"/>
              </a:spcBef>
            </a:pPr>
            <a:r>
              <a:rPr sz="1333" spc="13" dirty="0">
                <a:solidFill>
                  <a:srgbClr val="D9D9D9"/>
                </a:solidFill>
                <a:latin typeface="Arial"/>
                <a:cs typeface="Arial"/>
              </a:rPr>
              <a:t>echo </a:t>
            </a:r>
            <a:r>
              <a:rPr sz="1333" dirty="0">
                <a:solidFill>
                  <a:srgbClr val="D9D9D9"/>
                </a:solidFill>
                <a:latin typeface="Arial"/>
                <a:cs typeface="Arial"/>
              </a:rPr>
              <a:t>–n </a:t>
            </a:r>
            <a:r>
              <a:rPr sz="1333" spc="260" dirty="0">
                <a:solidFill>
                  <a:srgbClr val="D9D9D9"/>
                </a:solidFill>
                <a:latin typeface="Arial"/>
                <a:cs typeface="Arial"/>
              </a:rPr>
              <a:t>‘root’ </a:t>
            </a:r>
            <a:r>
              <a:rPr sz="1333" spc="387" dirty="0">
                <a:solidFill>
                  <a:srgbClr val="D9D9D9"/>
                </a:solidFill>
                <a:latin typeface="Arial"/>
                <a:cs typeface="Arial"/>
              </a:rPr>
              <a:t>|</a:t>
            </a:r>
            <a:r>
              <a:rPr sz="1333" spc="500" dirty="0">
                <a:solidFill>
                  <a:srgbClr val="D9D9D9"/>
                </a:solidFill>
                <a:latin typeface="Arial"/>
                <a:cs typeface="Arial"/>
              </a:rPr>
              <a:t> </a:t>
            </a:r>
            <a:r>
              <a:rPr sz="1333" spc="13" dirty="0">
                <a:solidFill>
                  <a:srgbClr val="D9D9D9"/>
                </a:solidFill>
                <a:latin typeface="Arial"/>
                <a:cs typeface="Arial"/>
              </a:rPr>
              <a:t>base64</a:t>
            </a:r>
            <a:endParaRPr sz="1333">
              <a:solidFill>
                <a:prstClr val="black"/>
              </a:solidFill>
              <a:latin typeface="Arial"/>
              <a:cs typeface="Arial"/>
            </a:endParaRPr>
          </a:p>
        </p:txBody>
      </p:sp>
      <p:grpSp>
        <p:nvGrpSpPr>
          <p:cNvPr id="47" name="object 47"/>
          <p:cNvGrpSpPr/>
          <p:nvPr/>
        </p:nvGrpSpPr>
        <p:grpSpPr>
          <a:xfrm>
            <a:off x="993309" y="4945937"/>
            <a:ext cx="5698913" cy="655320"/>
            <a:chOff x="744981" y="3709453"/>
            <a:chExt cx="4274185" cy="491490"/>
          </a:xfrm>
        </p:grpSpPr>
        <p:sp>
          <p:nvSpPr>
            <p:cNvPr id="48" name="object 48"/>
            <p:cNvSpPr/>
            <p:nvPr/>
          </p:nvSpPr>
          <p:spPr>
            <a:xfrm>
              <a:off x="768420" y="3709453"/>
              <a:ext cx="160020" cy="205740"/>
            </a:xfrm>
            <a:custGeom>
              <a:avLst/>
              <a:gdLst/>
              <a:ahLst/>
              <a:cxnLst/>
              <a:rect l="l" t="t" r="r" b="b"/>
              <a:pathLst>
                <a:path w="160019"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49" name="object 49"/>
            <p:cNvSpPr/>
            <p:nvPr/>
          </p:nvSpPr>
          <p:spPr>
            <a:xfrm>
              <a:off x="751331" y="3948683"/>
              <a:ext cx="4261485" cy="245745"/>
            </a:xfrm>
            <a:custGeom>
              <a:avLst/>
              <a:gdLst/>
              <a:ahLst/>
              <a:cxnLst/>
              <a:rect l="l" t="t" r="r" b="b"/>
              <a:pathLst>
                <a:path w="4261485" h="245745">
                  <a:moveTo>
                    <a:pt x="4261104" y="0"/>
                  </a:moveTo>
                  <a:lnTo>
                    <a:pt x="0" y="0"/>
                  </a:lnTo>
                  <a:lnTo>
                    <a:pt x="0" y="245364"/>
                  </a:lnTo>
                  <a:lnTo>
                    <a:pt x="4261104" y="245364"/>
                  </a:lnTo>
                  <a:lnTo>
                    <a:pt x="4261104"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50" name="object 50"/>
            <p:cNvSpPr/>
            <p:nvPr/>
          </p:nvSpPr>
          <p:spPr>
            <a:xfrm>
              <a:off x="751331" y="3948683"/>
              <a:ext cx="4261485" cy="245745"/>
            </a:xfrm>
            <a:custGeom>
              <a:avLst/>
              <a:gdLst/>
              <a:ahLst/>
              <a:cxnLst/>
              <a:rect l="l" t="t" r="r" b="b"/>
              <a:pathLst>
                <a:path w="4261485" h="245745">
                  <a:moveTo>
                    <a:pt x="0" y="245364"/>
                  </a:moveTo>
                  <a:lnTo>
                    <a:pt x="4261104" y="245364"/>
                  </a:lnTo>
                  <a:lnTo>
                    <a:pt x="4261104" y="0"/>
                  </a:lnTo>
                  <a:lnTo>
                    <a:pt x="0" y="0"/>
                  </a:lnTo>
                  <a:lnTo>
                    <a:pt x="0" y="245364"/>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51" name="object 51"/>
          <p:cNvSpPr txBox="1"/>
          <p:nvPr/>
        </p:nvSpPr>
        <p:spPr>
          <a:xfrm>
            <a:off x="994665" y="5266944"/>
            <a:ext cx="4366260" cy="255562"/>
          </a:xfrm>
          <a:prstGeom prst="rect">
            <a:avLst/>
          </a:prstGeom>
        </p:spPr>
        <p:txBody>
          <a:bodyPr vert="horz" wrap="square" lIns="0" tIns="49953" rIns="0" bIns="0" rtlCol="0">
            <a:spAutoFit/>
          </a:bodyPr>
          <a:lstStyle/>
          <a:p>
            <a:pPr marL="127843" defTabSz="1219170">
              <a:spcBef>
                <a:spcPts val="393"/>
              </a:spcBef>
            </a:pPr>
            <a:r>
              <a:rPr sz="1333" spc="-67" dirty="0">
                <a:solidFill>
                  <a:srgbClr val="FFFFFF"/>
                </a:solidFill>
                <a:latin typeface="Arial"/>
                <a:cs typeface="Arial"/>
              </a:rPr>
              <a:t>cm9vdA==</a:t>
            </a:r>
            <a:endParaRPr sz="1333">
              <a:solidFill>
                <a:prstClr val="black"/>
              </a:solidFill>
              <a:latin typeface="Arial"/>
              <a:cs typeface="Arial"/>
            </a:endParaRPr>
          </a:p>
        </p:txBody>
      </p:sp>
      <p:grpSp>
        <p:nvGrpSpPr>
          <p:cNvPr id="52" name="object 52"/>
          <p:cNvGrpSpPr/>
          <p:nvPr/>
        </p:nvGrpSpPr>
        <p:grpSpPr>
          <a:xfrm>
            <a:off x="922527" y="5831840"/>
            <a:ext cx="5834380" cy="522393"/>
            <a:chOff x="691895" y="4373879"/>
            <a:chExt cx="4375785" cy="391795"/>
          </a:xfrm>
        </p:grpSpPr>
        <p:sp>
          <p:nvSpPr>
            <p:cNvPr id="53" name="object 53"/>
            <p:cNvSpPr/>
            <p:nvPr/>
          </p:nvSpPr>
          <p:spPr>
            <a:xfrm>
              <a:off x="691895" y="4373879"/>
              <a:ext cx="4375404" cy="365810"/>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4" name="object 54"/>
            <p:cNvSpPr/>
            <p:nvPr/>
          </p:nvSpPr>
          <p:spPr>
            <a:xfrm>
              <a:off x="848867" y="4381499"/>
              <a:ext cx="2052827" cy="384098"/>
            </a:xfrm>
            <a:prstGeom prst="rect">
              <a:avLst/>
            </a:prstGeom>
            <a:blipFill>
              <a:blip r:embed="rId9"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5" name="object 55"/>
            <p:cNvSpPr/>
            <p:nvPr/>
          </p:nvSpPr>
          <p:spPr>
            <a:xfrm>
              <a:off x="751331" y="4413503"/>
              <a:ext cx="4261485" cy="253365"/>
            </a:xfrm>
            <a:custGeom>
              <a:avLst/>
              <a:gdLst/>
              <a:ahLst/>
              <a:cxnLst/>
              <a:rect l="l" t="t" r="r" b="b"/>
              <a:pathLst>
                <a:path w="4261485" h="253364">
                  <a:moveTo>
                    <a:pt x="4261104" y="0"/>
                  </a:moveTo>
                  <a:lnTo>
                    <a:pt x="0" y="0"/>
                  </a:lnTo>
                  <a:lnTo>
                    <a:pt x="0" y="252984"/>
                  </a:lnTo>
                  <a:lnTo>
                    <a:pt x="4261104" y="252984"/>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56" name="object 56"/>
          <p:cNvSpPr txBox="1"/>
          <p:nvPr/>
        </p:nvSpPr>
        <p:spPr>
          <a:xfrm>
            <a:off x="993649" y="5884671"/>
            <a:ext cx="4361180" cy="260691"/>
          </a:xfrm>
          <a:prstGeom prst="rect">
            <a:avLst/>
          </a:prstGeom>
        </p:spPr>
        <p:txBody>
          <a:bodyPr vert="horz" wrap="square" lIns="0" tIns="55033" rIns="0" bIns="0" rtlCol="0">
            <a:spAutoFit/>
          </a:bodyPr>
          <a:lstStyle/>
          <a:p>
            <a:pPr marL="320031" defTabSz="1219170">
              <a:spcBef>
                <a:spcPts val="433"/>
              </a:spcBef>
            </a:pPr>
            <a:r>
              <a:rPr sz="1333" spc="13" dirty="0">
                <a:solidFill>
                  <a:srgbClr val="D9D9D9"/>
                </a:solidFill>
                <a:latin typeface="Arial"/>
                <a:cs typeface="Arial"/>
              </a:rPr>
              <a:t>echo </a:t>
            </a:r>
            <a:r>
              <a:rPr sz="1333" dirty="0">
                <a:solidFill>
                  <a:srgbClr val="D9D9D9"/>
                </a:solidFill>
                <a:latin typeface="Arial"/>
                <a:cs typeface="Arial"/>
              </a:rPr>
              <a:t>–n </a:t>
            </a:r>
            <a:r>
              <a:rPr sz="1333" spc="133" dirty="0">
                <a:solidFill>
                  <a:srgbClr val="D9D9D9"/>
                </a:solidFill>
                <a:latin typeface="Arial"/>
                <a:cs typeface="Arial"/>
              </a:rPr>
              <a:t>‘paswrd’ </a:t>
            </a:r>
            <a:r>
              <a:rPr sz="1333" spc="393" dirty="0">
                <a:solidFill>
                  <a:srgbClr val="D9D9D9"/>
                </a:solidFill>
                <a:latin typeface="Arial"/>
                <a:cs typeface="Arial"/>
              </a:rPr>
              <a:t>|</a:t>
            </a:r>
            <a:r>
              <a:rPr sz="1333" spc="113" dirty="0">
                <a:solidFill>
                  <a:srgbClr val="D9D9D9"/>
                </a:solidFill>
                <a:latin typeface="Arial"/>
                <a:cs typeface="Arial"/>
              </a:rPr>
              <a:t> </a:t>
            </a:r>
            <a:r>
              <a:rPr sz="1333" spc="13" dirty="0">
                <a:solidFill>
                  <a:srgbClr val="D9D9D9"/>
                </a:solidFill>
                <a:latin typeface="Arial"/>
                <a:cs typeface="Arial"/>
              </a:rPr>
              <a:t>base64</a:t>
            </a:r>
            <a:endParaRPr sz="1333">
              <a:solidFill>
                <a:prstClr val="black"/>
              </a:solidFill>
              <a:latin typeface="Arial"/>
              <a:cs typeface="Arial"/>
            </a:endParaRPr>
          </a:p>
        </p:txBody>
      </p:sp>
      <p:grpSp>
        <p:nvGrpSpPr>
          <p:cNvPr id="57" name="object 57"/>
          <p:cNvGrpSpPr/>
          <p:nvPr/>
        </p:nvGrpSpPr>
        <p:grpSpPr>
          <a:xfrm>
            <a:off x="993648" y="5900978"/>
            <a:ext cx="5698067" cy="654473"/>
            <a:chOff x="745236" y="4425733"/>
            <a:chExt cx="4273550" cy="490855"/>
          </a:xfrm>
        </p:grpSpPr>
        <p:sp>
          <p:nvSpPr>
            <p:cNvPr id="58" name="object 58"/>
            <p:cNvSpPr/>
            <p:nvPr/>
          </p:nvSpPr>
          <p:spPr>
            <a:xfrm>
              <a:off x="768420" y="4425733"/>
              <a:ext cx="160020" cy="205740"/>
            </a:xfrm>
            <a:custGeom>
              <a:avLst/>
              <a:gdLst/>
              <a:ahLst/>
              <a:cxnLst/>
              <a:rect l="l" t="t" r="r" b="b"/>
              <a:pathLst>
                <a:path w="160019"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59" name="object 59"/>
            <p:cNvSpPr/>
            <p:nvPr/>
          </p:nvSpPr>
          <p:spPr>
            <a:xfrm>
              <a:off x="751332" y="4664964"/>
              <a:ext cx="4261485" cy="245745"/>
            </a:xfrm>
            <a:custGeom>
              <a:avLst/>
              <a:gdLst/>
              <a:ahLst/>
              <a:cxnLst/>
              <a:rect l="l" t="t" r="r" b="b"/>
              <a:pathLst>
                <a:path w="4261485" h="245745">
                  <a:moveTo>
                    <a:pt x="4261104" y="0"/>
                  </a:moveTo>
                  <a:lnTo>
                    <a:pt x="0" y="0"/>
                  </a:lnTo>
                  <a:lnTo>
                    <a:pt x="0" y="245364"/>
                  </a:lnTo>
                  <a:lnTo>
                    <a:pt x="4261104" y="245364"/>
                  </a:lnTo>
                  <a:lnTo>
                    <a:pt x="4261104"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60" name="object 60"/>
            <p:cNvSpPr/>
            <p:nvPr/>
          </p:nvSpPr>
          <p:spPr>
            <a:xfrm>
              <a:off x="751332" y="4664964"/>
              <a:ext cx="4261485" cy="245745"/>
            </a:xfrm>
            <a:custGeom>
              <a:avLst/>
              <a:gdLst/>
              <a:ahLst/>
              <a:cxnLst/>
              <a:rect l="l" t="t" r="r" b="b"/>
              <a:pathLst>
                <a:path w="4261485" h="245745">
                  <a:moveTo>
                    <a:pt x="0" y="245364"/>
                  </a:moveTo>
                  <a:lnTo>
                    <a:pt x="4261104" y="245364"/>
                  </a:lnTo>
                  <a:lnTo>
                    <a:pt x="4261104" y="0"/>
                  </a:lnTo>
                  <a:lnTo>
                    <a:pt x="0" y="0"/>
                  </a:lnTo>
                  <a:lnTo>
                    <a:pt x="0" y="245364"/>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61" name="object 61"/>
          <p:cNvSpPr txBox="1"/>
          <p:nvPr/>
        </p:nvSpPr>
        <p:spPr>
          <a:xfrm>
            <a:off x="993648" y="6356095"/>
            <a:ext cx="5698067" cy="115416"/>
          </a:xfrm>
          <a:prstGeom prst="rect">
            <a:avLst/>
          </a:prstGeom>
        </p:spPr>
        <p:txBody>
          <a:bodyPr vert="horz" wrap="square" lIns="0" tIns="0" rIns="0" bIns="0" rtlCol="0">
            <a:spAutoFit/>
          </a:bodyPr>
          <a:lstStyle/>
          <a:p>
            <a:pPr marL="128690" defTabSz="1219170">
              <a:lnSpc>
                <a:spcPts val="947"/>
              </a:lnSpc>
            </a:pPr>
            <a:r>
              <a:rPr sz="1333" spc="-20" dirty="0">
                <a:solidFill>
                  <a:srgbClr val="FFFFFF"/>
                </a:solidFill>
                <a:latin typeface="Arial"/>
                <a:cs typeface="Arial"/>
              </a:rPr>
              <a:t>cGFzd3Jk</a:t>
            </a:r>
            <a:endParaRPr sz="1333">
              <a:solidFill>
                <a:prstClr val="black"/>
              </a:solidFill>
              <a:latin typeface="Arial"/>
              <a:cs typeface="Arial"/>
            </a:endParaRPr>
          </a:p>
        </p:txBody>
      </p:sp>
    </p:spTree>
    <p:extLst>
      <p:ext uri="{BB962C8B-B14F-4D97-AF65-F5344CB8AC3E}">
        <p14:creationId xmlns:p14="http://schemas.microsoft.com/office/powerpoint/2010/main" val="39946638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26137"/>
            <a:ext cx="3688927" cy="694207"/>
          </a:xfrm>
          <a:prstGeom prst="rect">
            <a:avLst/>
          </a:prstGeom>
        </p:spPr>
        <p:txBody>
          <a:bodyPr vert="horz" wrap="square" lIns="0" tIns="16933" rIns="0" bIns="0" rtlCol="0">
            <a:spAutoFit/>
          </a:bodyPr>
          <a:lstStyle/>
          <a:p>
            <a:pPr marL="16933">
              <a:spcBef>
                <a:spcPts val="133"/>
              </a:spcBef>
            </a:pPr>
            <a:r>
              <a:rPr spc="140" dirty="0">
                <a:solidFill>
                  <a:schemeClr val="tx1"/>
                </a:solidFill>
              </a:rPr>
              <a:t>View</a:t>
            </a:r>
            <a:r>
              <a:rPr spc="-433" dirty="0">
                <a:solidFill>
                  <a:schemeClr val="tx1"/>
                </a:solidFill>
              </a:rPr>
              <a:t> </a:t>
            </a:r>
            <a:r>
              <a:rPr spc="13" dirty="0">
                <a:solidFill>
                  <a:schemeClr val="tx1"/>
                </a:solidFill>
              </a:rPr>
              <a:t>Secrets</a:t>
            </a:r>
          </a:p>
        </p:txBody>
      </p:sp>
      <p:grpSp>
        <p:nvGrpSpPr>
          <p:cNvPr id="4" name="object 4"/>
          <p:cNvGrpSpPr/>
          <p:nvPr/>
        </p:nvGrpSpPr>
        <p:grpSpPr>
          <a:xfrm>
            <a:off x="745745" y="1877517"/>
            <a:ext cx="5834380" cy="522393"/>
            <a:chOff x="559308" y="1408137"/>
            <a:chExt cx="4375785" cy="391795"/>
          </a:xfrm>
        </p:grpSpPr>
        <p:sp>
          <p:nvSpPr>
            <p:cNvPr id="5" name="object 5"/>
            <p:cNvSpPr/>
            <p:nvPr/>
          </p:nvSpPr>
          <p:spPr>
            <a:xfrm>
              <a:off x="559308" y="1408137"/>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6" name="object 6"/>
            <p:cNvSpPr/>
            <p:nvPr/>
          </p:nvSpPr>
          <p:spPr>
            <a:xfrm>
              <a:off x="716280" y="1415745"/>
              <a:ext cx="1624583" cy="384098"/>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7" name="object 7"/>
            <p:cNvSpPr/>
            <p:nvPr/>
          </p:nvSpPr>
          <p:spPr>
            <a:xfrm>
              <a:off x="618744" y="1447799"/>
              <a:ext cx="4261485" cy="248920"/>
            </a:xfrm>
            <a:custGeom>
              <a:avLst/>
              <a:gdLst/>
              <a:ahLst/>
              <a:cxnLst/>
              <a:rect l="l" t="t" r="r" b="b"/>
              <a:pathLst>
                <a:path w="4261485" h="248919">
                  <a:moveTo>
                    <a:pt x="0" y="248412"/>
                  </a:moveTo>
                  <a:lnTo>
                    <a:pt x="4261104" y="248412"/>
                  </a:lnTo>
                  <a:lnTo>
                    <a:pt x="4261104" y="0"/>
                  </a:lnTo>
                  <a:lnTo>
                    <a:pt x="0" y="0"/>
                  </a:lnTo>
                  <a:lnTo>
                    <a:pt x="0" y="248412"/>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8" name="object 8"/>
          <p:cNvSpPr txBox="1"/>
          <p:nvPr/>
        </p:nvSpPr>
        <p:spPr>
          <a:xfrm>
            <a:off x="816864" y="1930400"/>
            <a:ext cx="5689600" cy="260691"/>
          </a:xfrm>
          <a:prstGeom prst="rect">
            <a:avLst/>
          </a:prstGeom>
        </p:spPr>
        <p:txBody>
          <a:bodyPr vert="horz" wrap="square" lIns="0" tIns="55033" rIns="0" bIns="0" rtlCol="0">
            <a:spAutoFit/>
          </a:bodyPr>
          <a:lstStyle/>
          <a:p>
            <a:pPr marL="320031" defTabSz="1219170">
              <a:spcBef>
                <a:spcPts val="433"/>
              </a:spcBef>
            </a:pPr>
            <a:r>
              <a:rPr sz="1333" spc="140" dirty="0">
                <a:solidFill>
                  <a:srgbClr val="D9D9D9"/>
                </a:solidFill>
                <a:latin typeface="Arial"/>
                <a:cs typeface="Arial"/>
              </a:rPr>
              <a:t>kubectl </a:t>
            </a:r>
            <a:r>
              <a:rPr sz="1333" spc="120" dirty="0">
                <a:solidFill>
                  <a:srgbClr val="D9D9D9"/>
                </a:solidFill>
                <a:latin typeface="Arial"/>
                <a:cs typeface="Arial"/>
              </a:rPr>
              <a:t>get</a:t>
            </a:r>
            <a:r>
              <a:rPr sz="1333" spc="127" dirty="0">
                <a:solidFill>
                  <a:srgbClr val="D9D9D9"/>
                </a:solidFill>
                <a:latin typeface="Arial"/>
                <a:cs typeface="Arial"/>
              </a:rPr>
              <a:t> secrets</a:t>
            </a:r>
            <a:endParaRPr sz="1333" dirty="0">
              <a:solidFill>
                <a:prstClr val="black"/>
              </a:solidFill>
              <a:latin typeface="Arial"/>
              <a:cs typeface="Arial"/>
            </a:endParaRPr>
          </a:p>
        </p:txBody>
      </p:sp>
      <p:grpSp>
        <p:nvGrpSpPr>
          <p:cNvPr id="9" name="object 9"/>
          <p:cNvGrpSpPr/>
          <p:nvPr/>
        </p:nvGrpSpPr>
        <p:grpSpPr>
          <a:xfrm>
            <a:off x="816864" y="1946706"/>
            <a:ext cx="7636933" cy="1063413"/>
            <a:chOff x="612648" y="1460029"/>
            <a:chExt cx="5727700" cy="797560"/>
          </a:xfrm>
        </p:grpSpPr>
        <p:sp>
          <p:nvSpPr>
            <p:cNvPr id="10" name="object 10"/>
            <p:cNvSpPr/>
            <p:nvPr/>
          </p:nvSpPr>
          <p:spPr>
            <a:xfrm>
              <a:off x="637049" y="1460029"/>
              <a:ext cx="158750" cy="205740"/>
            </a:xfrm>
            <a:custGeom>
              <a:avLst/>
              <a:gdLst/>
              <a:ahLst/>
              <a:cxnLst/>
              <a:rect l="l" t="t" r="r" b="b"/>
              <a:pathLst>
                <a:path w="158750" h="205739">
                  <a:moveTo>
                    <a:pt x="0" y="0"/>
                  </a:moveTo>
                  <a:lnTo>
                    <a:pt x="0" y="205385"/>
                  </a:lnTo>
                  <a:lnTo>
                    <a:pt x="158690"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618744" y="1696212"/>
              <a:ext cx="5715000" cy="554990"/>
            </a:xfrm>
            <a:custGeom>
              <a:avLst/>
              <a:gdLst/>
              <a:ahLst/>
              <a:cxnLst/>
              <a:rect l="l" t="t" r="r" b="b"/>
              <a:pathLst>
                <a:path w="5715000" h="554989">
                  <a:moveTo>
                    <a:pt x="5715000" y="0"/>
                  </a:moveTo>
                  <a:lnTo>
                    <a:pt x="0" y="0"/>
                  </a:lnTo>
                  <a:lnTo>
                    <a:pt x="0" y="554736"/>
                  </a:lnTo>
                  <a:lnTo>
                    <a:pt x="5715000" y="554736"/>
                  </a:lnTo>
                  <a:lnTo>
                    <a:pt x="5715000"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618744" y="1696212"/>
              <a:ext cx="5715000" cy="554990"/>
            </a:xfrm>
            <a:custGeom>
              <a:avLst/>
              <a:gdLst/>
              <a:ahLst/>
              <a:cxnLst/>
              <a:rect l="l" t="t" r="r" b="b"/>
              <a:pathLst>
                <a:path w="5715000" h="554989">
                  <a:moveTo>
                    <a:pt x="0" y="554736"/>
                  </a:moveTo>
                  <a:lnTo>
                    <a:pt x="5715000" y="554736"/>
                  </a:lnTo>
                  <a:lnTo>
                    <a:pt x="5715000" y="0"/>
                  </a:lnTo>
                  <a:lnTo>
                    <a:pt x="0" y="0"/>
                  </a:lnTo>
                  <a:lnTo>
                    <a:pt x="0" y="554736"/>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13" name="object 13"/>
          <p:cNvSpPr txBox="1"/>
          <p:nvPr/>
        </p:nvSpPr>
        <p:spPr>
          <a:xfrm>
            <a:off x="946505" y="2298361"/>
            <a:ext cx="5979160" cy="631605"/>
          </a:xfrm>
          <a:prstGeom prst="rect">
            <a:avLst/>
          </a:prstGeom>
        </p:spPr>
        <p:txBody>
          <a:bodyPr vert="horz" wrap="square" lIns="0" tIns="16087" rIns="0" bIns="0" rtlCol="0">
            <a:spAutoFit/>
          </a:bodyPr>
          <a:lstStyle/>
          <a:p>
            <a:pPr defTabSz="1219170">
              <a:spcBef>
                <a:spcPts val="127"/>
              </a:spcBef>
              <a:tabLst>
                <a:tab pos="2048035" algn="l"/>
                <a:tab pos="5587860" algn="l"/>
              </a:tabLst>
            </a:pPr>
            <a:r>
              <a:rPr sz="1333" spc="-233" dirty="0">
                <a:solidFill>
                  <a:srgbClr val="FFFFFF"/>
                </a:solidFill>
                <a:latin typeface="Arial"/>
                <a:cs typeface="Arial"/>
              </a:rPr>
              <a:t>NAME	</a:t>
            </a:r>
            <a:r>
              <a:rPr sz="1333" spc="-147" dirty="0">
                <a:solidFill>
                  <a:srgbClr val="FFFFFF"/>
                </a:solidFill>
                <a:latin typeface="Arial"/>
                <a:cs typeface="Arial"/>
              </a:rPr>
              <a:t>TYPE	</a:t>
            </a:r>
            <a:r>
              <a:rPr sz="1333" spc="-160" dirty="0">
                <a:solidFill>
                  <a:srgbClr val="FFFFFF"/>
                </a:solidFill>
                <a:latin typeface="Arial"/>
                <a:cs typeface="Arial"/>
              </a:rPr>
              <a:t>DATA</a:t>
            </a:r>
            <a:endParaRPr sz="1333">
              <a:solidFill>
                <a:prstClr val="black"/>
              </a:solidFill>
              <a:latin typeface="Arial"/>
              <a:cs typeface="Arial"/>
            </a:endParaRPr>
          </a:p>
          <a:p>
            <a:pPr defTabSz="1219170">
              <a:tabLst>
                <a:tab pos="2045496" algn="l"/>
                <a:tab pos="5577699" algn="l"/>
              </a:tabLst>
            </a:pPr>
            <a:r>
              <a:rPr sz="1333" spc="93" dirty="0">
                <a:solidFill>
                  <a:srgbClr val="FFFFFF"/>
                </a:solidFill>
                <a:latin typeface="Arial"/>
                <a:cs typeface="Arial"/>
              </a:rPr>
              <a:t>app-secret	</a:t>
            </a:r>
            <a:r>
              <a:rPr sz="1333" spc="-67" dirty="0">
                <a:solidFill>
                  <a:srgbClr val="FFFFFF"/>
                </a:solidFill>
                <a:latin typeface="Arial"/>
                <a:cs typeface="Arial"/>
              </a:rPr>
              <a:t>Opaque	</a:t>
            </a:r>
            <a:r>
              <a:rPr sz="1333" spc="-13" dirty="0">
                <a:solidFill>
                  <a:srgbClr val="FFFFFF"/>
                </a:solidFill>
                <a:latin typeface="Arial"/>
                <a:cs typeface="Arial"/>
              </a:rPr>
              <a:t>3</a:t>
            </a:r>
            <a:endParaRPr sz="1333">
              <a:solidFill>
                <a:prstClr val="black"/>
              </a:solidFill>
              <a:latin typeface="Arial"/>
              <a:cs typeface="Arial"/>
            </a:endParaRPr>
          </a:p>
          <a:p>
            <a:pPr defTabSz="1219170">
              <a:tabLst>
                <a:tab pos="2048035" algn="l"/>
                <a:tab pos="5587014" algn="l"/>
              </a:tabLst>
            </a:pPr>
            <a:r>
              <a:rPr sz="1333" spc="113" dirty="0">
                <a:solidFill>
                  <a:srgbClr val="FFFFFF"/>
                </a:solidFill>
                <a:latin typeface="Arial"/>
                <a:cs typeface="Arial"/>
              </a:rPr>
              <a:t>default-token-mvtkv	kubernetes.io/service-account-token	</a:t>
            </a:r>
            <a:r>
              <a:rPr sz="1333" spc="-13" dirty="0">
                <a:solidFill>
                  <a:srgbClr val="FFFFFF"/>
                </a:solidFill>
                <a:latin typeface="Arial"/>
                <a:cs typeface="Arial"/>
              </a:rPr>
              <a:t>3</a:t>
            </a:r>
            <a:endParaRPr sz="1333">
              <a:solidFill>
                <a:prstClr val="black"/>
              </a:solidFill>
              <a:latin typeface="Arial"/>
              <a:cs typeface="Arial"/>
            </a:endParaRPr>
          </a:p>
        </p:txBody>
      </p:sp>
      <p:sp>
        <p:nvSpPr>
          <p:cNvPr id="14" name="object 14"/>
          <p:cNvSpPr txBox="1"/>
          <p:nvPr/>
        </p:nvSpPr>
        <p:spPr>
          <a:xfrm>
            <a:off x="7454145" y="2298361"/>
            <a:ext cx="309033" cy="836725"/>
          </a:xfrm>
          <a:prstGeom prst="rect">
            <a:avLst/>
          </a:prstGeom>
        </p:spPr>
        <p:txBody>
          <a:bodyPr vert="horz" wrap="square" lIns="0" tIns="16087" rIns="0" bIns="0" rtlCol="0">
            <a:spAutoFit/>
          </a:bodyPr>
          <a:lstStyle/>
          <a:p>
            <a:pPr marL="11006" defTabSz="1219170">
              <a:spcBef>
                <a:spcPts val="127"/>
              </a:spcBef>
            </a:pPr>
            <a:r>
              <a:rPr sz="1333" spc="-213" dirty="0">
                <a:solidFill>
                  <a:srgbClr val="FFFFFF"/>
                </a:solidFill>
                <a:latin typeface="Arial"/>
                <a:cs typeface="Arial"/>
              </a:rPr>
              <a:t>AGE</a:t>
            </a:r>
            <a:endParaRPr sz="1333">
              <a:solidFill>
                <a:prstClr val="black"/>
              </a:solidFill>
              <a:latin typeface="Arial"/>
              <a:cs typeface="Arial"/>
            </a:endParaRPr>
          </a:p>
          <a:p>
            <a:pPr marL="8466" marR="18626" indent="-9313" defTabSz="1219170"/>
            <a:r>
              <a:rPr sz="1333" spc="-13" dirty="0">
                <a:solidFill>
                  <a:srgbClr val="FFFFFF"/>
                </a:solidFill>
                <a:latin typeface="Arial"/>
                <a:cs typeface="Arial"/>
              </a:rPr>
              <a:t>10</a:t>
            </a:r>
            <a:r>
              <a:rPr sz="1333" spc="-213" dirty="0">
                <a:solidFill>
                  <a:srgbClr val="FFFFFF"/>
                </a:solidFill>
                <a:latin typeface="Arial"/>
                <a:cs typeface="Arial"/>
              </a:rPr>
              <a:t>m  </a:t>
            </a:r>
            <a:r>
              <a:rPr sz="1333" spc="-13" dirty="0">
                <a:solidFill>
                  <a:srgbClr val="FFFFFF"/>
                </a:solidFill>
                <a:latin typeface="Arial"/>
                <a:cs typeface="Arial"/>
              </a:rPr>
              <a:t>2h</a:t>
            </a:r>
            <a:endParaRPr sz="1333">
              <a:solidFill>
                <a:prstClr val="black"/>
              </a:solidFill>
              <a:latin typeface="Arial"/>
              <a:cs typeface="Arial"/>
            </a:endParaRPr>
          </a:p>
        </p:txBody>
      </p:sp>
      <p:grpSp>
        <p:nvGrpSpPr>
          <p:cNvPr id="15" name="object 15"/>
          <p:cNvGrpSpPr/>
          <p:nvPr/>
        </p:nvGrpSpPr>
        <p:grpSpPr>
          <a:xfrm>
            <a:off x="745745" y="3098749"/>
            <a:ext cx="5834380" cy="522393"/>
            <a:chOff x="559308" y="2324061"/>
            <a:chExt cx="4375785" cy="391795"/>
          </a:xfrm>
        </p:grpSpPr>
        <p:sp>
          <p:nvSpPr>
            <p:cNvPr id="16" name="object 16"/>
            <p:cNvSpPr/>
            <p:nvPr/>
          </p:nvSpPr>
          <p:spPr>
            <a:xfrm>
              <a:off x="559308" y="2324061"/>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7" name="object 17"/>
            <p:cNvSpPr/>
            <p:nvPr/>
          </p:nvSpPr>
          <p:spPr>
            <a:xfrm>
              <a:off x="716280" y="2331669"/>
              <a:ext cx="1981200" cy="384098"/>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8" name="object 18"/>
            <p:cNvSpPr/>
            <p:nvPr/>
          </p:nvSpPr>
          <p:spPr>
            <a:xfrm>
              <a:off x="618744" y="2363723"/>
              <a:ext cx="4261485" cy="248920"/>
            </a:xfrm>
            <a:custGeom>
              <a:avLst/>
              <a:gdLst/>
              <a:ahLst/>
              <a:cxnLst/>
              <a:rect l="l" t="t" r="r" b="b"/>
              <a:pathLst>
                <a:path w="4261485" h="248919">
                  <a:moveTo>
                    <a:pt x="0" y="248412"/>
                  </a:moveTo>
                  <a:lnTo>
                    <a:pt x="4261104" y="248412"/>
                  </a:lnTo>
                  <a:lnTo>
                    <a:pt x="4261104" y="0"/>
                  </a:lnTo>
                  <a:lnTo>
                    <a:pt x="0" y="0"/>
                  </a:lnTo>
                  <a:lnTo>
                    <a:pt x="0" y="248412"/>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19" name="object 19"/>
          <p:cNvSpPr txBox="1"/>
          <p:nvPr/>
        </p:nvSpPr>
        <p:spPr>
          <a:xfrm>
            <a:off x="816864" y="3151631"/>
            <a:ext cx="5698067" cy="260691"/>
          </a:xfrm>
          <a:prstGeom prst="rect">
            <a:avLst/>
          </a:prstGeom>
        </p:spPr>
        <p:txBody>
          <a:bodyPr vert="horz" wrap="square" lIns="0" tIns="55033" rIns="0" bIns="0" rtlCol="0">
            <a:spAutoFit/>
          </a:bodyPr>
          <a:lstStyle/>
          <a:p>
            <a:pPr marL="320031" defTabSz="1219170">
              <a:spcBef>
                <a:spcPts val="433"/>
              </a:spcBef>
            </a:pPr>
            <a:r>
              <a:rPr sz="1333" spc="140" dirty="0">
                <a:solidFill>
                  <a:srgbClr val="D9D9D9"/>
                </a:solidFill>
                <a:latin typeface="Arial"/>
                <a:cs typeface="Arial"/>
              </a:rPr>
              <a:t>kubectl </a:t>
            </a:r>
            <a:r>
              <a:rPr sz="1333" spc="113" dirty="0">
                <a:solidFill>
                  <a:srgbClr val="D9D9D9"/>
                </a:solidFill>
                <a:latin typeface="Arial"/>
                <a:cs typeface="Arial"/>
              </a:rPr>
              <a:t>describe </a:t>
            </a:r>
            <a:r>
              <a:rPr sz="1333" spc="127" dirty="0">
                <a:solidFill>
                  <a:srgbClr val="D9D9D9"/>
                </a:solidFill>
                <a:latin typeface="Arial"/>
                <a:cs typeface="Arial"/>
              </a:rPr>
              <a:t>secrets</a:t>
            </a:r>
            <a:endParaRPr sz="1333" dirty="0">
              <a:solidFill>
                <a:prstClr val="black"/>
              </a:solidFill>
              <a:latin typeface="Arial"/>
              <a:cs typeface="Arial"/>
            </a:endParaRPr>
          </a:p>
        </p:txBody>
      </p:sp>
      <p:grpSp>
        <p:nvGrpSpPr>
          <p:cNvPr id="20" name="object 20"/>
          <p:cNvGrpSpPr/>
          <p:nvPr/>
        </p:nvGrpSpPr>
        <p:grpSpPr>
          <a:xfrm>
            <a:off x="816864" y="3167938"/>
            <a:ext cx="5698067" cy="2908300"/>
            <a:chOff x="612648" y="2375953"/>
            <a:chExt cx="4273550" cy="2181225"/>
          </a:xfrm>
        </p:grpSpPr>
        <p:sp>
          <p:nvSpPr>
            <p:cNvPr id="21" name="object 21"/>
            <p:cNvSpPr/>
            <p:nvPr/>
          </p:nvSpPr>
          <p:spPr>
            <a:xfrm>
              <a:off x="637049" y="2375953"/>
              <a:ext cx="158750" cy="205740"/>
            </a:xfrm>
            <a:custGeom>
              <a:avLst/>
              <a:gdLst/>
              <a:ahLst/>
              <a:cxnLst/>
              <a:rect l="l" t="t" r="r" b="b"/>
              <a:pathLst>
                <a:path w="158750" h="205739">
                  <a:moveTo>
                    <a:pt x="0" y="0"/>
                  </a:moveTo>
                  <a:lnTo>
                    <a:pt x="0" y="205385"/>
                  </a:lnTo>
                  <a:lnTo>
                    <a:pt x="158690"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22" name="object 22"/>
            <p:cNvSpPr/>
            <p:nvPr/>
          </p:nvSpPr>
          <p:spPr>
            <a:xfrm>
              <a:off x="618744" y="2612136"/>
              <a:ext cx="4261485" cy="1938655"/>
            </a:xfrm>
            <a:custGeom>
              <a:avLst/>
              <a:gdLst/>
              <a:ahLst/>
              <a:cxnLst/>
              <a:rect l="l" t="t" r="r" b="b"/>
              <a:pathLst>
                <a:path w="4261485" h="1938654">
                  <a:moveTo>
                    <a:pt x="4261104" y="0"/>
                  </a:moveTo>
                  <a:lnTo>
                    <a:pt x="0" y="0"/>
                  </a:lnTo>
                  <a:lnTo>
                    <a:pt x="0" y="1938527"/>
                  </a:lnTo>
                  <a:lnTo>
                    <a:pt x="4261104" y="1938527"/>
                  </a:lnTo>
                  <a:lnTo>
                    <a:pt x="4261104"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23" name="object 23"/>
            <p:cNvSpPr/>
            <p:nvPr/>
          </p:nvSpPr>
          <p:spPr>
            <a:xfrm>
              <a:off x="618744" y="2612136"/>
              <a:ext cx="4261485" cy="1938655"/>
            </a:xfrm>
            <a:custGeom>
              <a:avLst/>
              <a:gdLst/>
              <a:ahLst/>
              <a:cxnLst/>
              <a:rect l="l" t="t" r="r" b="b"/>
              <a:pathLst>
                <a:path w="4261485" h="1938654">
                  <a:moveTo>
                    <a:pt x="0" y="1938527"/>
                  </a:moveTo>
                  <a:lnTo>
                    <a:pt x="4261104" y="1938527"/>
                  </a:lnTo>
                  <a:lnTo>
                    <a:pt x="4261104" y="0"/>
                  </a:lnTo>
                  <a:lnTo>
                    <a:pt x="0" y="0"/>
                  </a:lnTo>
                  <a:lnTo>
                    <a:pt x="0" y="1938527"/>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24" name="object 24"/>
          <p:cNvSpPr txBox="1"/>
          <p:nvPr/>
        </p:nvSpPr>
        <p:spPr>
          <a:xfrm>
            <a:off x="816864" y="3482847"/>
            <a:ext cx="5698067" cy="2514449"/>
          </a:xfrm>
          <a:prstGeom prst="rect">
            <a:avLst/>
          </a:prstGeom>
        </p:spPr>
        <p:txBody>
          <a:bodyPr vert="horz" wrap="square" lIns="0" tIns="52493" rIns="0" bIns="0" rtlCol="0">
            <a:spAutoFit/>
          </a:bodyPr>
          <a:lstStyle/>
          <a:p>
            <a:pPr marL="129537" marR="3323084" defTabSz="1219170">
              <a:spcBef>
                <a:spcPts val="413"/>
              </a:spcBef>
              <a:tabLst>
                <a:tab pos="1433371" algn="l"/>
              </a:tabLst>
            </a:pPr>
            <a:r>
              <a:rPr sz="1333" spc="-60" dirty="0">
                <a:solidFill>
                  <a:srgbClr val="FFFFFF"/>
                </a:solidFill>
                <a:latin typeface="Arial"/>
                <a:cs typeface="Arial"/>
              </a:rPr>
              <a:t>Name:	</a:t>
            </a:r>
            <a:r>
              <a:rPr sz="1333" spc="-373" dirty="0">
                <a:solidFill>
                  <a:srgbClr val="FFFFFF"/>
                </a:solidFill>
                <a:latin typeface="Arial"/>
                <a:cs typeface="Arial"/>
              </a:rPr>
              <a:t> </a:t>
            </a:r>
            <a:r>
              <a:rPr sz="1333" spc="-13" dirty="0">
                <a:solidFill>
                  <a:srgbClr val="FFFFFF"/>
                </a:solidFill>
                <a:latin typeface="Arial"/>
                <a:cs typeface="Arial"/>
              </a:rPr>
              <a:t>ap</a:t>
            </a:r>
            <a:r>
              <a:rPr sz="1333" spc="-7" dirty="0">
                <a:solidFill>
                  <a:srgbClr val="FFFFFF"/>
                </a:solidFill>
                <a:latin typeface="Arial"/>
                <a:cs typeface="Arial"/>
              </a:rPr>
              <a:t>p</a:t>
            </a:r>
            <a:r>
              <a:rPr sz="1333" spc="280" dirty="0">
                <a:solidFill>
                  <a:srgbClr val="FFFFFF"/>
                </a:solidFill>
                <a:latin typeface="Arial"/>
                <a:cs typeface="Arial"/>
              </a:rPr>
              <a:t>-</a:t>
            </a:r>
            <a:r>
              <a:rPr sz="1333" spc="60" dirty="0">
                <a:solidFill>
                  <a:srgbClr val="FFFFFF"/>
                </a:solidFill>
                <a:latin typeface="Arial"/>
                <a:cs typeface="Arial"/>
              </a:rPr>
              <a:t>s</a:t>
            </a:r>
            <a:r>
              <a:rPr sz="1333" spc="-27" dirty="0">
                <a:solidFill>
                  <a:srgbClr val="FFFFFF"/>
                </a:solidFill>
                <a:latin typeface="Arial"/>
                <a:cs typeface="Arial"/>
              </a:rPr>
              <a:t>e</a:t>
            </a:r>
            <a:r>
              <a:rPr sz="1333" spc="60" dirty="0">
                <a:solidFill>
                  <a:srgbClr val="FFFFFF"/>
                </a:solidFill>
                <a:latin typeface="Arial"/>
                <a:cs typeface="Arial"/>
              </a:rPr>
              <a:t>c</a:t>
            </a:r>
            <a:r>
              <a:rPr sz="1333" spc="267" dirty="0">
                <a:solidFill>
                  <a:srgbClr val="FFFFFF"/>
                </a:solidFill>
                <a:latin typeface="Arial"/>
                <a:cs typeface="Arial"/>
              </a:rPr>
              <a:t>r</a:t>
            </a:r>
            <a:r>
              <a:rPr sz="1333" spc="-13" dirty="0">
                <a:solidFill>
                  <a:srgbClr val="FFFFFF"/>
                </a:solidFill>
                <a:latin typeface="Arial"/>
                <a:cs typeface="Arial"/>
              </a:rPr>
              <a:t>e</a:t>
            </a:r>
            <a:r>
              <a:rPr sz="1333" spc="353" dirty="0">
                <a:solidFill>
                  <a:srgbClr val="FFFFFF"/>
                </a:solidFill>
                <a:latin typeface="Arial"/>
                <a:cs typeface="Arial"/>
              </a:rPr>
              <a:t>t  </a:t>
            </a:r>
            <a:r>
              <a:rPr sz="1333" spc="-20" dirty="0">
                <a:solidFill>
                  <a:srgbClr val="FFFFFF"/>
                </a:solidFill>
                <a:latin typeface="Arial"/>
                <a:cs typeface="Arial"/>
              </a:rPr>
              <a:t>Namespace:	</a:t>
            </a:r>
            <a:r>
              <a:rPr sz="1333" spc="152" dirty="0">
                <a:solidFill>
                  <a:srgbClr val="FFFFFF"/>
                </a:solidFill>
                <a:latin typeface="Arial"/>
                <a:cs typeface="Arial"/>
              </a:rPr>
              <a:t>default  </a:t>
            </a:r>
            <a:r>
              <a:rPr sz="1333" spc="113" dirty="0">
                <a:solidFill>
                  <a:srgbClr val="FFFFFF"/>
                </a:solidFill>
                <a:latin typeface="Arial"/>
                <a:cs typeface="Arial"/>
              </a:rPr>
              <a:t>Labels:	</a:t>
            </a:r>
            <a:r>
              <a:rPr sz="1333" spc="-27" dirty="0">
                <a:solidFill>
                  <a:srgbClr val="FFFFFF"/>
                </a:solidFill>
                <a:latin typeface="Arial"/>
                <a:cs typeface="Arial"/>
              </a:rPr>
              <a:t>&lt;none&gt;  </a:t>
            </a:r>
            <a:r>
              <a:rPr sz="1333" spc="107" dirty="0">
                <a:solidFill>
                  <a:srgbClr val="FFFFFF"/>
                </a:solidFill>
                <a:latin typeface="Arial"/>
                <a:cs typeface="Arial"/>
              </a:rPr>
              <a:t>Annotations:	</a:t>
            </a:r>
            <a:r>
              <a:rPr sz="1333" spc="-27" dirty="0">
                <a:solidFill>
                  <a:srgbClr val="FFFFFF"/>
                </a:solidFill>
                <a:latin typeface="Arial"/>
                <a:cs typeface="Arial"/>
              </a:rPr>
              <a:t>&lt;none&gt;</a:t>
            </a:r>
            <a:endParaRPr sz="1333">
              <a:solidFill>
                <a:prstClr val="black"/>
              </a:solidFill>
              <a:latin typeface="Arial"/>
              <a:cs typeface="Arial"/>
            </a:endParaRPr>
          </a:p>
          <a:p>
            <a:pPr marL="129537" marR="4344138" defTabSz="1219170">
              <a:lnSpc>
                <a:spcPct val="200000"/>
              </a:lnSpc>
              <a:spcBef>
                <a:spcPts val="7"/>
              </a:spcBef>
              <a:tabLst>
                <a:tab pos="783994" algn="l"/>
              </a:tabLst>
            </a:pPr>
            <a:r>
              <a:rPr sz="1333" spc="60" dirty="0">
                <a:solidFill>
                  <a:srgbClr val="FFFFFF"/>
                </a:solidFill>
                <a:latin typeface="Arial"/>
                <a:cs typeface="Arial"/>
              </a:rPr>
              <a:t>Type:	</a:t>
            </a:r>
            <a:r>
              <a:rPr sz="1333" spc="-327" dirty="0">
                <a:solidFill>
                  <a:srgbClr val="FFFFFF"/>
                </a:solidFill>
                <a:latin typeface="Arial"/>
                <a:cs typeface="Arial"/>
              </a:rPr>
              <a:t>O</a:t>
            </a:r>
            <a:r>
              <a:rPr sz="1333" spc="-13" dirty="0">
                <a:solidFill>
                  <a:srgbClr val="FFFFFF"/>
                </a:solidFill>
                <a:latin typeface="Arial"/>
                <a:cs typeface="Arial"/>
              </a:rPr>
              <a:t>paque  </a:t>
            </a:r>
            <a:r>
              <a:rPr sz="1333" spc="20" dirty="0">
                <a:solidFill>
                  <a:srgbClr val="FFFFFF"/>
                </a:solidFill>
                <a:latin typeface="Arial"/>
                <a:cs typeface="Arial"/>
              </a:rPr>
              <a:t>Data</a:t>
            </a:r>
            <a:endParaRPr sz="1333">
              <a:solidFill>
                <a:prstClr val="black"/>
              </a:solidFill>
              <a:latin typeface="Arial"/>
              <a:cs typeface="Arial"/>
            </a:endParaRPr>
          </a:p>
          <a:p>
            <a:pPr marL="129537" defTabSz="1219170"/>
            <a:r>
              <a:rPr sz="1333" spc="-53" dirty="0">
                <a:solidFill>
                  <a:srgbClr val="FFFFFF"/>
                </a:solidFill>
                <a:latin typeface="Arial"/>
                <a:cs typeface="Arial"/>
              </a:rPr>
              <a:t>====</a:t>
            </a:r>
            <a:endParaRPr sz="1333">
              <a:solidFill>
                <a:prstClr val="black"/>
              </a:solidFill>
              <a:latin typeface="Arial"/>
              <a:cs typeface="Arial"/>
            </a:endParaRPr>
          </a:p>
          <a:p>
            <a:pPr marL="129537" defTabSz="1219170">
              <a:tabLst>
                <a:tab pos="1433371" algn="l"/>
              </a:tabLst>
            </a:pPr>
            <a:r>
              <a:rPr sz="1333" spc="13" dirty="0">
                <a:solidFill>
                  <a:srgbClr val="FFFFFF"/>
                </a:solidFill>
                <a:latin typeface="Arial"/>
                <a:cs typeface="Arial"/>
              </a:rPr>
              <a:t>DB_Host:	</a:t>
            </a:r>
            <a:r>
              <a:rPr sz="1333" spc="-13" dirty="0">
                <a:solidFill>
                  <a:srgbClr val="FFFFFF"/>
                </a:solidFill>
                <a:latin typeface="Arial"/>
                <a:cs typeface="Arial"/>
              </a:rPr>
              <a:t>10</a:t>
            </a:r>
            <a:r>
              <a:rPr sz="1333" dirty="0">
                <a:solidFill>
                  <a:srgbClr val="FFFFFF"/>
                </a:solidFill>
                <a:latin typeface="Arial"/>
                <a:cs typeface="Arial"/>
              </a:rPr>
              <a:t> </a:t>
            </a:r>
            <a:r>
              <a:rPr sz="1333" spc="87" dirty="0">
                <a:solidFill>
                  <a:srgbClr val="FFFFFF"/>
                </a:solidFill>
                <a:latin typeface="Arial"/>
                <a:cs typeface="Arial"/>
              </a:rPr>
              <a:t>bytes</a:t>
            </a:r>
            <a:endParaRPr sz="1333">
              <a:solidFill>
                <a:prstClr val="black"/>
              </a:solidFill>
              <a:latin typeface="Arial"/>
              <a:cs typeface="Arial"/>
            </a:endParaRPr>
          </a:p>
          <a:p>
            <a:pPr marL="129537" defTabSz="1219170">
              <a:tabLst>
                <a:tab pos="1433371" algn="l"/>
              </a:tabLst>
            </a:pPr>
            <a:r>
              <a:rPr sz="1333" spc="-7" dirty="0">
                <a:solidFill>
                  <a:srgbClr val="FFFFFF"/>
                </a:solidFill>
                <a:latin typeface="Arial"/>
                <a:cs typeface="Arial"/>
              </a:rPr>
              <a:t>DB_Password:	</a:t>
            </a:r>
            <a:r>
              <a:rPr sz="1333" spc="-13" dirty="0">
                <a:solidFill>
                  <a:srgbClr val="FFFFFF"/>
                </a:solidFill>
                <a:latin typeface="Arial"/>
                <a:cs typeface="Arial"/>
              </a:rPr>
              <a:t>6</a:t>
            </a:r>
            <a:r>
              <a:rPr sz="1333" spc="247" dirty="0">
                <a:solidFill>
                  <a:srgbClr val="FFFFFF"/>
                </a:solidFill>
                <a:latin typeface="Arial"/>
                <a:cs typeface="Arial"/>
              </a:rPr>
              <a:t> </a:t>
            </a:r>
            <a:r>
              <a:rPr sz="1333" spc="87" dirty="0">
                <a:solidFill>
                  <a:srgbClr val="FFFFFF"/>
                </a:solidFill>
                <a:latin typeface="Arial"/>
                <a:cs typeface="Arial"/>
              </a:rPr>
              <a:t>bytes</a:t>
            </a:r>
            <a:endParaRPr sz="1333">
              <a:solidFill>
                <a:prstClr val="black"/>
              </a:solidFill>
              <a:latin typeface="Arial"/>
              <a:cs typeface="Arial"/>
            </a:endParaRPr>
          </a:p>
          <a:p>
            <a:pPr marL="129537" defTabSz="1219170">
              <a:tabLst>
                <a:tab pos="1433371" algn="l"/>
              </a:tabLst>
            </a:pPr>
            <a:r>
              <a:rPr sz="1333" spc="7" dirty="0">
                <a:solidFill>
                  <a:srgbClr val="FFFFFF"/>
                </a:solidFill>
                <a:latin typeface="Arial"/>
                <a:cs typeface="Arial"/>
              </a:rPr>
              <a:t>DB_User:	</a:t>
            </a:r>
            <a:r>
              <a:rPr sz="1333" spc="-13" dirty="0">
                <a:solidFill>
                  <a:srgbClr val="FFFFFF"/>
                </a:solidFill>
                <a:latin typeface="Arial"/>
                <a:cs typeface="Arial"/>
              </a:rPr>
              <a:t>4</a:t>
            </a:r>
            <a:r>
              <a:rPr sz="1333" spc="247" dirty="0">
                <a:solidFill>
                  <a:srgbClr val="FFFFFF"/>
                </a:solidFill>
                <a:latin typeface="Arial"/>
                <a:cs typeface="Arial"/>
              </a:rPr>
              <a:t> </a:t>
            </a:r>
            <a:r>
              <a:rPr sz="1333" spc="87" dirty="0">
                <a:solidFill>
                  <a:srgbClr val="FFFFFF"/>
                </a:solidFill>
                <a:latin typeface="Arial"/>
                <a:cs typeface="Arial"/>
              </a:rPr>
              <a:t>bytes</a:t>
            </a:r>
            <a:endParaRPr sz="1333">
              <a:solidFill>
                <a:prstClr val="black"/>
              </a:solidFill>
              <a:latin typeface="Arial"/>
              <a:cs typeface="Arial"/>
            </a:endParaRPr>
          </a:p>
        </p:txBody>
      </p:sp>
      <p:grpSp>
        <p:nvGrpSpPr>
          <p:cNvPr id="25" name="object 25"/>
          <p:cNvGrpSpPr/>
          <p:nvPr/>
        </p:nvGrpSpPr>
        <p:grpSpPr>
          <a:xfrm>
            <a:off x="6782815" y="3098749"/>
            <a:ext cx="5190067" cy="522393"/>
            <a:chOff x="5087111" y="2324061"/>
            <a:chExt cx="3892550" cy="391795"/>
          </a:xfrm>
        </p:grpSpPr>
        <p:sp>
          <p:nvSpPr>
            <p:cNvPr id="26" name="object 26"/>
            <p:cNvSpPr/>
            <p:nvPr/>
          </p:nvSpPr>
          <p:spPr>
            <a:xfrm>
              <a:off x="5087111" y="2324061"/>
              <a:ext cx="3892295" cy="367322"/>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7" name="object 27"/>
            <p:cNvSpPr/>
            <p:nvPr/>
          </p:nvSpPr>
          <p:spPr>
            <a:xfrm>
              <a:off x="5244083" y="2331669"/>
              <a:ext cx="2910840" cy="384098"/>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8" name="object 28"/>
            <p:cNvSpPr/>
            <p:nvPr/>
          </p:nvSpPr>
          <p:spPr>
            <a:xfrm>
              <a:off x="5146547" y="2363723"/>
              <a:ext cx="3778250" cy="248920"/>
            </a:xfrm>
            <a:custGeom>
              <a:avLst/>
              <a:gdLst/>
              <a:ahLst/>
              <a:cxnLst/>
              <a:rect l="l" t="t" r="r" b="b"/>
              <a:pathLst>
                <a:path w="3778250" h="248919">
                  <a:moveTo>
                    <a:pt x="0" y="248412"/>
                  </a:moveTo>
                  <a:lnTo>
                    <a:pt x="3777996" y="248412"/>
                  </a:lnTo>
                  <a:lnTo>
                    <a:pt x="3777996" y="0"/>
                  </a:lnTo>
                  <a:lnTo>
                    <a:pt x="0" y="0"/>
                  </a:lnTo>
                  <a:lnTo>
                    <a:pt x="0" y="248412"/>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29" name="object 29"/>
          <p:cNvSpPr txBox="1"/>
          <p:nvPr/>
        </p:nvSpPr>
        <p:spPr>
          <a:xfrm>
            <a:off x="6853937" y="3151631"/>
            <a:ext cx="5053753" cy="260691"/>
          </a:xfrm>
          <a:prstGeom prst="rect">
            <a:avLst/>
          </a:prstGeom>
        </p:spPr>
        <p:txBody>
          <a:bodyPr vert="horz" wrap="square" lIns="0" tIns="55033" rIns="0" bIns="0" rtlCol="0">
            <a:spAutoFit/>
          </a:bodyPr>
          <a:lstStyle/>
          <a:p>
            <a:pPr marL="320879" defTabSz="1219170">
              <a:spcBef>
                <a:spcPts val="433"/>
              </a:spcBef>
            </a:pPr>
            <a:r>
              <a:rPr sz="1333" spc="140" dirty="0">
                <a:solidFill>
                  <a:srgbClr val="D9D9D9"/>
                </a:solidFill>
                <a:latin typeface="Arial"/>
                <a:cs typeface="Arial"/>
              </a:rPr>
              <a:t>kubectl</a:t>
            </a:r>
            <a:r>
              <a:rPr sz="1333" spc="393" dirty="0">
                <a:solidFill>
                  <a:srgbClr val="D9D9D9"/>
                </a:solidFill>
                <a:latin typeface="Arial"/>
                <a:cs typeface="Arial"/>
              </a:rPr>
              <a:t> </a:t>
            </a:r>
            <a:r>
              <a:rPr sz="1333" spc="120" dirty="0">
                <a:solidFill>
                  <a:srgbClr val="D9D9D9"/>
                </a:solidFill>
                <a:latin typeface="Arial"/>
                <a:cs typeface="Arial"/>
              </a:rPr>
              <a:t>get</a:t>
            </a:r>
            <a:r>
              <a:rPr sz="1333" spc="387" dirty="0">
                <a:solidFill>
                  <a:srgbClr val="D9D9D9"/>
                </a:solidFill>
                <a:latin typeface="Arial"/>
                <a:cs typeface="Arial"/>
              </a:rPr>
              <a:t> </a:t>
            </a:r>
            <a:r>
              <a:rPr sz="1333" spc="133" dirty="0">
                <a:solidFill>
                  <a:srgbClr val="D9D9D9"/>
                </a:solidFill>
                <a:latin typeface="Arial"/>
                <a:cs typeface="Arial"/>
              </a:rPr>
              <a:t>secret</a:t>
            </a:r>
            <a:r>
              <a:rPr sz="1333" spc="380" dirty="0">
                <a:solidFill>
                  <a:srgbClr val="D9D9D9"/>
                </a:solidFill>
                <a:latin typeface="Arial"/>
                <a:cs typeface="Arial"/>
              </a:rPr>
              <a:t> </a:t>
            </a:r>
            <a:r>
              <a:rPr sz="1333" spc="113" dirty="0">
                <a:solidFill>
                  <a:srgbClr val="D9D9D9"/>
                </a:solidFill>
                <a:latin typeface="Arial"/>
                <a:cs typeface="Arial"/>
              </a:rPr>
              <a:t>app-secret</a:t>
            </a:r>
            <a:r>
              <a:rPr sz="1333" spc="380" dirty="0">
                <a:solidFill>
                  <a:srgbClr val="D9D9D9"/>
                </a:solidFill>
                <a:latin typeface="Arial"/>
                <a:cs typeface="Arial"/>
              </a:rPr>
              <a:t> </a:t>
            </a:r>
            <a:r>
              <a:rPr sz="1333" dirty="0">
                <a:solidFill>
                  <a:srgbClr val="D9D9D9"/>
                </a:solidFill>
                <a:latin typeface="Arial"/>
                <a:cs typeface="Arial"/>
              </a:rPr>
              <a:t>–o</a:t>
            </a:r>
            <a:r>
              <a:rPr sz="1333" spc="13" dirty="0">
                <a:solidFill>
                  <a:srgbClr val="D9D9D9"/>
                </a:solidFill>
                <a:latin typeface="Arial"/>
                <a:cs typeface="Arial"/>
              </a:rPr>
              <a:t> </a:t>
            </a:r>
            <a:r>
              <a:rPr sz="1333" spc="40" dirty="0">
                <a:solidFill>
                  <a:srgbClr val="D9D9D9"/>
                </a:solidFill>
                <a:latin typeface="Arial"/>
                <a:cs typeface="Arial"/>
              </a:rPr>
              <a:t>yaml</a:t>
            </a:r>
            <a:endParaRPr sz="1333" dirty="0">
              <a:solidFill>
                <a:prstClr val="black"/>
              </a:solidFill>
              <a:latin typeface="Arial"/>
              <a:cs typeface="Arial"/>
            </a:endParaRPr>
          </a:p>
        </p:txBody>
      </p:sp>
      <p:grpSp>
        <p:nvGrpSpPr>
          <p:cNvPr id="30" name="object 30"/>
          <p:cNvGrpSpPr/>
          <p:nvPr/>
        </p:nvGrpSpPr>
        <p:grpSpPr>
          <a:xfrm>
            <a:off x="6853937" y="3167938"/>
            <a:ext cx="5053753" cy="3318933"/>
            <a:chOff x="5140452" y="2375953"/>
            <a:chExt cx="3790315" cy="2489200"/>
          </a:xfrm>
        </p:grpSpPr>
        <p:sp>
          <p:nvSpPr>
            <p:cNvPr id="31" name="object 31"/>
            <p:cNvSpPr/>
            <p:nvPr/>
          </p:nvSpPr>
          <p:spPr>
            <a:xfrm>
              <a:off x="5163636" y="2375953"/>
              <a:ext cx="160020" cy="20574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32" name="object 32"/>
            <p:cNvSpPr/>
            <p:nvPr/>
          </p:nvSpPr>
          <p:spPr>
            <a:xfrm>
              <a:off x="5146548" y="2612136"/>
              <a:ext cx="3778250" cy="2246630"/>
            </a:xfrm>
            <a:custGeom>
              <a:avLst/>
              <a:gdLst/>
              <a:ahLst/>
              <a:cxnLst/>
              <a:rect l="l" t="t" r="r" b="b"/>
              <a:pathLst>
                <a:path w="3778250" h="2246629">
                  <a:moveTo>
                    <a:pt x="3777996" y="0"/>
                  </a:moveTo>
                  <a:lnTo>
                    <a:pt x="0" y="0"/>
                  </a:lnTo>
                  <a:lnTo>
                    <a:pt x="0" y="2246376"/>
                  </a:lnTo>
                  <a:lnTo>
                    <a:pt x="3777996" y="2246376"/>
                  </a:lnTo>
                  <a:lnTo>
                    <a:pt x="3777996"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33" name="object 33"/>
            <p:cNvSpPr/>
            <p:nvPr/>
          </p:nvSpPr>
          <p:spPr>
            <a:xfrm>
              <a:off x="5146548" y="2612136"/>
              <a:ext cx="3778250" cy="2246630"/>
            </a:xfrm>
            <a:custGeom>
              <a:avLst/>
              <a:gdLst/>
              <a:ahLst/>
              <a:cxnLst/>
              <a:rect l="l" t="t" r="r" b="b"/>
              <a:pathLst>
                <a:path w="3778250" h="2246629">
                  <a:moveTo>
                    <a:pt x="0" y="2246376"/>
                  </a:moveTo>
                  <a:lnTo>
                    <a:pt x="3777996" y="2246376"/>
                  </a:lnTo>
                  <a:lnTo>
                    <a:pt x="3777996" y="0"/>
                  </a:lnTo>
                  <a:lnTo>
                    <a:pt x="0" y="0"/>
                  </a:lnTo>
                  <a:lnTo>
                    <a:pt x="0" y="2246376"/>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34" name="object 34"/>
          <p:cNvSpPr txBox="1"/>
          <p:nvPr/>
        </p:nvSpPr>
        <p:spPr>
          <a:xfrm>
            <a:off x="6853937" y="3482847"/>
            <a:ext cx="5053753" cy="2924689"/>
          </a:xfrm>
          <a:prstGeom prst="rect">
            <a:avLst/>
          </a:prstGeom>
        </p:spPr>
        <p:txBody>
          <a:bodyPr vert="horz" wrap="square" lIns="0" tIns="52493" rIns="0" bIns="0" rtlCol="0">
            <a:spAutoFit/>
          </a:bodyPr>
          <a:lstStyle/>
          <a:p>
            <a:pPr marL="129537" marR="3605863" defTabSz="1219170">
              <a:spcBef>
                <a:spcPts val="413"/>
              </a:spcBef>
            </a:pPr>
            <a:r>
              <a:rPr sz="1333" spc="120" dirty="0">
                <a:solidFill>
                  <a:srgbClr val="FFFFFF"/>
                </a:solidFill>
                <a:latin typeface="Arial"/>
                <a:cs typeface="Arial"/>
              </a:rPr>
              <a:t>apiVersion: </a:t>
            </a:r>
            <a:r>
              <a:rPr sz="1333" spc="20" dirty="0">
                <a:solidFill>
                  <a:srgbClr val="FFFFFF"/>
                </a:solidFill>
                <a:latin typeface="Arial"/>
                <a:cs typeface="Arial"/>
              </a:rPr>
              <a:t>v1  </a:t>
            </a:r>
            <a:r>
              <a:rPr sz="1333" spc="133" dirty="0">
                <a:solidFill>
                  <a:srgbClr val="FFFFFF"/>
                </a:solidFill>
                <a:latin typeface="Arial"/>
                <a:cs typeface="Arial"/>
              </a:rPr>
              <a:t>data:</a:t>
            </a:r>
            <a:endParaRPr sz="1333">
              <a:solidFill>
                <a:prstClr val="black"/>
              </a:solidFill>
              <a:latin typeface="Arial"/>
              <a:cs typeface="Arial"/>
            </a:endParaRPr>
          </a:p>
          <a:p>
            <a:pPr marL="316645" marR="2772764" defTabSz="1219170">
              <a:spcBef>
                <a:spcPts val="7"/>
              </a:spcBef>
            </a:pPr>
            <a:r>
              <a:rPr sz="1333" spc="13" dirty="0">
                <a:solidFill>
                  <a:srgbClr val="FFFFFF"/>
                </a:solidFill>
                <a:latin typeface="Arial"/>
                <a:cs typeface="Arial"/>
              </a:rPr>
              <a:t>DB_Host: </a:t>
            </a:r>
            <a:r>
              <a:rPr sz="1333" spc="-53" dirty="0">
                <a:solidFill>
                  <a:srgbClr val="FFFFFF"/>
                </a:solidFill>
                <a:latin typeface="Arial"/>
                <a:cs typeface="Arial"/>
              </a:rPr>
              <a:t>bXlzcWw=  </a:t>
            </a:r>
            <a:r>
              <a:rPr sz="1333" spc="-7" dirty="0">
                <a:solidFill>
                  <a:srgbClr val="FFFFFF"/>
                </a:solidFill>
                <a:latin typeface="Arial"/>
                <a:cs typeface="Arial"/>
              </a:rPr>
              <a:t>DB_Password: </a:t>
            </a:r>
            <a:r>
              <a:rPr sz="1333" spc="-27" dirty="0">
                <a:solidFill>
                  <a:srgbClr val="FFFFFF"/>
                </a:solidFill>
                <a:latin typeface="Arial"/>
                <a:cs typeface="Arial"/>
              </a:rPr>
              <a:t>cGFzd3Jk  </a:t>
            </a:r>
            <a:r>
              <a:rPr sz="1333" spc="7" dirty="0">
                <a:solidFill>
                  <a:srgbClr val="FFFFFF"/>
                </a:solidFill>
                <a:latin typeface="Arial"/>
                <a:cs typeface="Arial"/>
              </a:rPr>
              <a:t>DB_User:</a:t>
            </a:r>
            <a:r>
              <a:rPr sz="1333" spc="347" dirty="0">
                <a:solidFill>
                  <a:srgbClr val="FFFFFF"/>
                </a:solidFill>
                <a:latin typeface="Arial"/>
                <a:cs typeface="Arial"/>
              </a:rPr>
              <a:t> </a:t>
            </a:r>
            <a:r>
              <a:rPr sz="1333" spc="-73" dirty="0">
                <a:solidFill>
                  <a:srgbClr val="FFFFFF"/>
                </a:solidFill>
                <a:latin typeface="Arial"/>
                <a:cs typeface="Arial"/>
              </a:rPr>
              <a:t>cm9vdA==</a:t>
            </a:r>
            <a:endParaRPr sz="1333">
              <a:solidFill>
                <a:prstClr val="black"/>
              </a:solidFill>
              <a:latin typeface="Arial"/>
              <a:cs typeface="Arial"/>
            </a:endParaRPr>
          </a:p>
          <a:p>
            <a:pPr marL="129537" marR="3792972" defTabSz="1219170"/>
            <a:r>
              <a:rPr sz="1333" spc="167" dirty="0">
                <a:solidFill>
                  <a:srgbClr val="FFFFFF"/>
                </a:solidFill>
                <a:latin typeface="Arial"/>
                <a:cs typeface="Arial"/>
              </a:rPr>
              <a:t>kind: </a:t>
            </a:r>
            <a:r>
              <a:rPr sz="1333" spc="80" dirty="0">
                <a:solidFill>
                  <a:srgbClr val="FFFFFF"/>
                </a:solidFill>
                <a:latin typeface="Arial"/>
                <a:cs typeface="Arial"/>
              </a:rPr>
              <a:t>Secret  </a:t>
            </a:r>
            <a:r>
              <a:rPr sz="1333" spc="67" dirty="0">
                <a:solidFill>
                  <a:srgbClr val="FFFFFF"/>
                </a:solidFill>
                <a:latin typeface="Arial"/>
                <a:cs typeface="Arial"/>
              </a:rPr>
              <a:t>metadata:</a:t>
            </a:r>
            <a:endParaRPr sz="1333">
              <a:solidFill>
                <a:prstClr val="black"/>
              </a:solidFill>
              <a:latin typeface="Arial"/>
              <a:cs typeface="Arial"/>
            </a:endParaRPr>
          </a:p>
          <a:p>
            <a:pPr marL="316645" marR="1094713" defTabSz="1219170"/>
            <a:r>
              <a:rPr sz="1333" spc="73" dirty="0">
                <a:solidFill>
                  <a:srgbClr val="FFFFFF"/>
                </a:solidFill>
                <a:latin typeface="Arial"/>
                <a:cs typeface="Arial"/>
              </a:rPr>
              <a:t>creationTimestamp: </a:t>
            </a:r>
            <a:r>
              <a:rPr sz="1333" spc="47" dirty="0">
                <a:solidFill>
                  <a:srgbClr val="FFFFFF"/>
                </a:solidFill>
                <a:latin typeface="Arial"/>
                <a:cs typeface="Arial"/>
              </a:rPr>
              <a:t>2018-10-18T10:01:12Z  </a:t>
            </a:r>
            <a:r>
              <a:rPr sz="1333" spc="173" dirty="0">
                <a:solidFill>
                  <a:srgbClr val="FFFFFF"/>
                </a:solidFill>
                <a:latin typeface="Arial"/>
                <a:cs typeface="Arial"/>
              </a:rPr>
              <a:t>labels:</a:t>
            </a:r>
            <a:endParaRPr sz="1333">
              <a:solidFill>
                <a:prstClr val="black"/>
              </a:solidFill>
              <a:latin typeface="Arial"/>
              <a:cs typeface="Arial"/>
            </a:endParaRPr>
          </a:p>
          <a:p>
            <a:pPr marL="316645" marR="3047077" indent="186262" defTabSz="1219170"/>
            <a:r>
              <a:rPr sz="1333" spc="-20" dirty="0">
                <a:solidFill>
                  <a:srgbClr val="FFFFFF"/>
                </a:solidFill>
                <a:latin typeface="Arial"/>
                <a:cs typeface="Arial"/>
              </a:rPr>
              <a:t>name: </a:t>
            </a:r>
            <a:r>
              <a:rPr sz="1333" spc="100" dirty="0">
                <a:solidFill>
                  <a:srgbClr val="FFFFFF"/>
                </a:solidFill>
                <a:latin typeface="Arial"/>
                <a:cs typeface="Arial"/>
              </a:rPr>
              <a:t>app-secret  </a:t>
            </a:r>
            <a:r>
              <a:rPr sz="1333" spc="-13" dirty="0">
                <a:solidFill>
                  <a:srgbClr val="FFFFFF"/>
                </a:solidFill>
                <a:latin typeface="Arial"/>
                <a:cs typeface="Arial"/>
              </a:rPr>
              <a:t>name: </a:t>
            </a:r>
            <a:r>
              <a:rPr sz="1333" spc="100" dirty="0">
                <a:solidFill>
                  <a:srgbClr val="FFFFFF"/>
                </a:solidFill>
                <a:latin typeface="Arial"/>
                <a:cs typeface="Arial"/>
              </a:rPr>
              <a:t>app-secret  </a:t>
            </a:r>
            <a:r>
              <a:rPr sz="1333" dirty="0">
                <a:solidFill>
                  <a:srgbClr val="FFFFFF"/>
                </a:solidFill>
                <a:latin typeface="Arial"/>
                <a:cs typeface="Arial"/>
              </a:rPr>
              <a:t>namespace:</a:t>
            </a:r>
            <a:r>
              <a:rPr sz="1333" spc="287" dirty="0">
                <a:solidFill>
                  <a:srgbClr val="FFFFFF"/>
                </a:solidFill>
                <a:latin typeface="Arial"/>
                <a:cs typeface="Arial"/>
              </a:rPr>
              <a:t> </a:t>
            </a:r>
            <a:r>
              <a:rPr sz="1333" spc="152" dirty="0">
                <a:solidFill>
                  <a:srgbClr val="FFFFFF"/>
                </a:solidFill>
                <a:latin typeface="Arial"/>
                <a:cs typeface="Arial"/>
              </a:rPr>
              <a:t>default</a:t>
            </a:r>
            <a:endParaRPr sz="1333">
              <a:solidFill>
                <a:prstClr val="black"/>
              </a:solidFill>
              <a:latin typeface="Arial"/>
              <a:cs typeface="Arial"/>
            </a:endParaRPr>
          </a:p>
          <a:p>
            <a:pPr marL="129537" defTabSz="1219170"/>
            <a:r>
              <a:rPr sz="1333" spc="187" dirty="0">
                <a:solidFill>
                  <a:srgbClr val="FFFFFF"/>
                </a:solidFill>
                <a:latin typeface="Arial"/>
                <a:cs typeface="Arial"/>
              </a:rPr>
              <a:t>uid:</a:t>
            </a:r>
            <a:r>
              <a:rPr sz="1333" spc="360" dirty="0">
                <a:solidFill>
                  <a:srgbClr val="FFFFFF"/>
                </a:solidFill>
                <a:latin typeface="Arial"/>
                <a:cs typeface="Arial"/>
              </a:rPr>
              <a:t> </a:t>
            </a:r>
            <a:r>
              <a:rPr sz="1333" spc="20" dirty="0">
                <a:solidFill>
                  <a:srgbClr val="FFFFFF"/>
                </a:solidFill>
                <a:latin typeface="Arial"/>
                <a:cs typeface="Arial"/>
              </a:rPr>
              <a:t>be96e989-d2bc-11e8-a545-080027931072</a:t>
            </a:r>
            <a:endParaRPr sz="1333">
              <a:solidFill>
                <a:prstClr val="black"/>
              </a:solidFill>
              <a:latin typeface="Arial"/>
              <a:cs typeface="Arial"/>
            </a:endParaRPr>
          </a:p>
          <a:p>
            <a:pPr marL="129537" defTabSz="1219170"/>
            <a:r>
              <a:rPr sz="1333" spc="147" dirty="0">
                <a:solidFill>
                  <a:srgbClr val="FFFFFF"/>
                </a:solidFill>
                <a:latin typeface="Arial"/>
                <a:cs typeface="Arial"/>
              </a:rPr>
              <a:t>type:</a:t>
            </a:r>
            <a:r>
              <a:rPr sz="1333" spc="367" dirty="0">
                <a:solidFill>
                  <a:srgbClr val="FFFFFF"/>
                </a:solidFill>
                <a:latin typeface="Arial"/>
                <a:cs typeface="Arial"/>
              </a:rPr>
              <a:t> </a:t>
            </a:r>
            <a:r>
              <a:rPr sz="1333" spc="-67" dirty="0">
                <a:solidFill>
                  <a:srgbClr val="FFFFFF"/>
                </a:solidFill>
                <a:latin typeface="Arial"/>
                <a:cs typeface="Arial"/>
              </a:rPr>
              <a:t>Opaque</a:t>
            </a:r>
            <a:endParaRPr sz="1333">
              <a:solidFill>
                <a:prstClr val="black"/>
              </a:solidFill>
              <a:latin typeface="Arial"/>
              <a:cs typeface="Arial"/>
            </a:endParaRPr>
          </a:p>
        </p:txBody>
      </p:sp>
    </p:spTree>
    <p:extLst>
      <p:ext uri="{BB962C8B-B14F-4D97-AF65-F5344CB8AC3E}">
        <p14:creationId xmlns:p14="http://schemas.microsoft.com/office/powerpoint/2010/main" val="15408804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29" y="326137"/>
            <a:ext cx="4475480" cy="694207"/>
          </a:xfrm>
          <a:prstGeom prst="rect">
            <a:avLst/>
          </a:prstGeom>
        </p:spPr>
        <p:txBody>
          <a:bodyPr vert="horz" wrap="square" lIns="0" tIns="16933" rIns="0" bIns="0" rtlCol="0">
            <a:spAutoFit/>
          </a:bodyPr>
          <a:lstStyle/>
          <a:p>
            <a:pPr marL="16933">
              <a:spcBef>
                <a:spcPts val="133"/>
              </a:spcBef>
            </a:pPr>
            <a:r>
              <a:rPr spc="147" dirty="0">
                <a:solidFill>
                  <a:schemeClr val="tx1"/>
                </a:solidFill>
              </a:rPr>
              <a:t>Decode</a:t>
            </a:r>
            <a:r>
              <a:rPr spc="-460" dirty="0">
                <a:solidFill>
                  <a:schemeClr val="tx1"/>
                </a:solidFill>
              </a:rPr>
              <a:t> </a:t>
            </a:r>
            <a:r>
              <a:rPr spc="13" dirty="0">
                <a:solidFill>
                  <a:schemeClr val="tx1"/>
                </a:solidFill>
              </a:rPr>
              <a:t>Secrets</a:t>
            </a:r>
          </a:p>
        </p:txBody>
      </p:sp>
      <p:sp>
        <p:nvSpPr>
          <p:cNvPr id="4" name="object 4"/>
          <p:cNvSpPr txBox="1"/>
          <p:nvPr/>
        </p:nvSpPr>
        <p:spPr>
          <a:xfrm>
            <a:off x="1805263" y="1577618"/>
            <a:ext cx="7097607" cy="5001754"/>
          </a:xfrm>
          <a:prstGeom prst="rect">
            <a:avLst/>
          </a:prstGeom>
        </p:spPr>
        <p:txBody>
          <a:bodyPr vert="horz" wrap="square" lIns="0" tIns="0" rIns="0" bIns="0" rtlCol="0">
            <a:spAutoFit/>
          </a:bodyPr>
          <a:lstStyle/>
          <a:p>
            <a:pPr marL="310719" defTabSz="1219170">
              <a:lnSpc>
                <a:spcPts val="1680"/>
              </a:lnSpc>
              <a:tabLst>
                <a:tab pos="2324042" algn="l"/>
                <a:tab pos="3869170" algn="l"/>
              </a:tabLst>
            </a:pPr>
            <a:r>
              <a:rPr sz="2700" spc="-20" baseline="-18518" dirty="0">
                <a:solidFill>
                  <a:srgbClr val="FFFFFF"/>
                </a:solidFill>
                <a:latin typeface="Noto Sans"/>
                <a:cs typeface="Noto Sans"/>
              </a:rPr>
              <a:t>Secret	</a:t>
            </a:r>
            <a:r>
              <a:rPr sz="2000" b="1" spc="-9" baseline="-8333" dirty="0">
                <a:solidFill>
                  <a:srgbClr val="FFFFFF"/>
                </a:solidFill>
                <a:latin typeface="Noto Sans"/>
                <a:cs typeface="Noto Sans"/>
              </a:rPr>
              <a:t>Declarative	</a:t>
            </a:r>
            <a:r>
              <a:rPr sz="1333" spc="140" dirty="0">
                <a:solidFill>
                  <a:srgbClr val="D9D9D9"/>
                </a:solidFill>
                <a:latin typeface="Arial"/>
                <a:cs typeface="Arial"/>
              </a:rPr>
              <a:t>kubectl </a:t>
            </a:r>
            <a:r>
              <a:rPr sz="1333" spc="120" dirty="0">
                <a:solidFill>
                  <a:srgbClr val="D9D9D9"/>
                </a:solidFill>
                <a:latin typeface="Arial"/>
                <a:cs typeface="Arial"/>
              </a:rPr>
              <a:t>create</a:t>
            </a:r>
            <a:r>
              <a:rPr sz="1333" spc="133" dirty="0">
                <a:solidFill>
                  <a:srgbClr val="D9D9D9"/>
                </a:solidFill>
                <a:latin typeface="Arial"/>
                <a:cs typeface="Arial"/>
              </a:rPr>
              <a:t> </a:t>
            </a:r>
            <a:r>
              <a:rPr sz="1333" spc="180" dirty="0">
                <a:solidFill>
                  <a:srgbClr val="D9D9D9"/>
                </a:solidFill>
                <a:latin typeface="Arial"/>
                <a:cs typeface="Arial"/>
              </a:rPr>
              <a:t>–f</a:t>
            </a:r>
            <a:endParaRPr sz="1333" dirty="0">
              <a:solidFill>
                <a:prstClr val="black"/>
              </a:solidFill>
              <a:latin typeface="Arial"/>
              <a:cs typeface="Arial"/>
            </a:endParaRPr>
          </a:p>
          <a:p>
            <a:pPr defTabSz="1219170"/>
            <a:endParaRPr sz="2400" dirty="0">
              <a:solidFill>
                <a:prstClr val="black"/>
              </a:solidFill>
              <a:latin typeface="Arial"/>
              <a:cs typeface="Arial"/>
            </a:endParaRPr>
          </a:p>
          <a:p>
            <a:pPr marL="3676135" defTabSz="1219170">
              <a:spcBef>
                <a:spcPts val="2152"/>
              </a:spcBef>
            </a:pPr>
            <a:r>
              <a:rPr spc="-13" dirty="0">
                <a:solidFill>
                  <a:srgbClr val="FFFFFF"/>
                </a:solidFill>
                <a:latin typeface="Noto Sans"/>
                <a:cs typeface="Noto Sans"/>
              </a:rPr>
              <a:t>secret-data.yaml</a:t>
            </a:r>
            <a:endParaRPr dirty="0">
              <a:solidFill>
                <a:prstClr val="black"/>
              </a:solidFill>
              <a:latin typeface="Noto Sans"/>
              <a:cs typeface="Noto Sans"/>
            </a:endParaRPr>
          </a:p>
          <a:p>
            <a:pPr marL="3676135" marR="1413051" defTabSz="1219170">
              <a:spcBef>
                <a:spcPts val="1047"/>
              </a:spcBef>
            </a:pPr>
            <a:r>
              <a:rPr sz="1867" spc="-7" dirty="0">
                <a:solidFill>
                  <a:srgbClr val="9776AA"/>
                </a:solidFill>
                <a:latin typeface="Courier New"/>
                <a:cs typeface="Courier New"/>
              </a:rPr>
              <a:t>apiVersion</a:t>
            </a:r>
            <a:r>
              <a:rPr sz="1867" spc="-7" dirty="0">
                <a:solidFill>
                  <a:srgbClr val="A9B7C5"/>
                </a:solidFill>
                <a:latin typeface="Courier New"/>
                <a:cs typeface="Courier New"/>
              </a:rPr>
              <a:t>: </a:t>
            </a:r>
            <a:r>
              <a:rPr sz="2800" spc="-9" baseline="1984" dirty="0">
                <a:solidFill>
                  <a:srgbClr val="A9B7C5"/>
                </a:solidFill>
                <a:latin typeface="Courier New"/>
                <a:cs typeface="Courier New"/>
              </a:rPr>
              <a:t>v1  </a:t>
            </a:r>
            <a:r>
              <a:rPr sz="1867" spc="-7" dirty="0">
                <a:solidFill>
                  <a:srgbClr val="9776AA"/>
                </a:solidFill>
                <a:latin typeface="Courier New"/>
                <a:cs typeface="Courier New"/>
              </a:rPr>
              <a:t>kind</a:t>
            </a:r>
            <a:r>
              <a:rPr sz="1867" spc="-7" dirty="0">
                <a:solidFill>
                  <a:srgbClr val="A9B7C5"/>
                </a:solidFill>
                <a:latin typeface="Courier New"/>
                <a:cs typeface="Courier New"/>
              </a:rPr>
              <a:t>: </a:t>
            </a:r>
            <a:r>
              <a:rPr sz="2800" spc="-9" baseline="1984" dirty="0">
                <a:solidFill>
                  <a:srgbClr val="A9B7C5"/>
                </a:solidFill>
                <a:latin typeface="Courier New"/>
                <a:cs typeface="Courier New"/>
              </a:rPr>
              <a:t>Secret  </a:t>
            </a:r>
            <a:r>
              <a:rPr sz="1867" spc="-7" dirty="0">
                <a:solidFill>
                  <a:srgbClr val="9776AA"/>
                </a:solidFill>
                <a:latin typeface="Courier New"/>
                <a:cs typeface="Courier New"/>
              </a:rPr>
              <a:t>metadata</a:t>
            </a:r>
            <a:r>
              <a:rPr sz="1867" spc="-7" dirty="0">
                <a:solidFill>
                  <a:srgbClr val="A9B7C5"/>
                </a:solidFill>
                <a:latin typeface="Courier New"/>
                <a:cs typeface="Courier New"/>
              </a:rPr>
              <a:t>:</a:t>
            </a:r>
            <a:endParaRPr sz="1867" dirty="0">
              <a:solidFill>
                <a:prstClr val="black"/>
              </a:solidFill>
              <a:latin typeface="Courier New"/>
              <a:cs typeface="Courier New"/>
            </a:endParaRPr>
          </a:p>
          <a:p>
            <a:pPr marL="3676135" marR="828866" indent="309026" defTabSz="1219170">
              <a:lnSpc>
                <a:spcPts val="2133"/>
              </a:lnSpc>
              <a:spcBef>
                <a:spcPts val="267"/>
              </a:spcBef>
            </a:pPr>
            <a:r>
              <a:rPr sz="1867" spc="-7" dirty="0">
                <a:solidFill>
                  <a:srgbClr val="9776AA"/>
                </a:solidFill>
                <a:latin typeface="Courier New"/>
                <a:cs typeface="Courier New"/>
              </a:rPr>
              <a:t>name</a:t>
            </a:r>
            <a:r>
              <a:rPr sz="1867" spc="-7" dirty="0">
                <a:solidFill>
                  <a:srgbClr val="A9B7C5"/>
                </a:solidFill>
                <a:latin typeface="Courier New"/>
                <a:cs typeface="Courier New"/>
              </a:rPr>
              <a:t>: </a:t>
            </a:r>
            <a:r>
              <a:rPr sz="1867" spc="-13" dirty="0">
                <a:solidFill>
                  <a:srgbClr val="A9B7C5"/>
                </a:solidFill>
                <a:latin typeface="Courier New"/>
                <a:cs typeface="Courier New"/>
              </a:rPr>
              <a:t>app-secret  </a:t>
            </a:r>
            <a:r>
              <a:rPr sz="1867" spc="-7" dirty="0">
                <a:solidFill>
                  <a:srgbClr val="9776AA"/>
                </a:solidFill>
                <a:latin typeface="Courier New"/>
                <a:cs typeface="Courier New"/>
              </a:rPr>
              <a:t>data</a:t>
            </a:r>
            <a:r>
              <a:rPr sz="1867" spc="-7" dirty="0">
                <a:solidFill>
                  <a:srgbClr val="A9B7C5"/>
                </a:solidFill>
                <a:latin typeface="Courier New"/>
                <a:cs typeface="Courier New"/>
              </a:rPr>
              <a:t>:</a:t>
            </a:r>
            <a:endParaRPr sz="1867" dirty="0">
              <a:solidFill>
                <a:prstClr val="black"/>
              </a:solidFill>
              <a:latin typeface="Courier New"/>
              <a:cs typeface="Courier New"/>
            </a:endParaRPr>
          </a:p>
          <a:p>
            <a:pPr marL="3966534" marR="421629" defTabSz="1219170"/>
            <a:r>
              <a:rPr sz="1867" spc="-7" dirty="0">
                <a:solidFill>
                  <a:srgbClr val="9776AA"/>
                </a:solidFill>
                <a:latin typeface="Courier New"/>
                <a:cs typeface="Courier New"/>
              </a:rPr>
              <a:t>DB_Host</a:t>
            </a:r>
            <a:r>
              <a:rPr sz="1867" spc="-7" dirty="0">
                <a:solidFill>
                  <a:srgbClr val="A9B7C5"/>
                </a:solidFill>
                <a:latin typeface="Courier New"/>
                <a:cs typeface="Courier New"/>
              </a:rPr>
              <a:t>: mysql  </a:t>
            </a:r>
            <a:r>
              <a:rPr sz="1867" spc="-7" dirty="0">
                <a:solidFill>
                  <a:srgbClr val="9776AA"/>
                </a:solidFill>
                <a:latin typeface="Courier New"/>
                <a:cs typeface="Courier New"/>
              </a:rPr>
              <a:t>DB_User</a:t>
            </a:r>
            <a:r>
              <a:rPr sz="1867" spc="-7" dirty="0">
                <a:solidFill>
                  <a:srgbClr val="A9B7C5"/>
                </a:solidFill>
                <a:latin typeface="Courier New"/>
                <a:cs typeface="Courier New"/>
              </a:rPr>
              <a:t>: </a:t>
            </a:r>
            <a:r>
              <a:rPr sz="1867" spc="-13" dirty="0">
                <a:solidFill>
                  <a:srgbClr val="A9B7C5"/>
                </a:solidFill>
                <a:latin typeface="Courier New"/>
                <a:cs typeface="Courier New"/>
              </a:rPr>
              <a:t>root  </a:t>
            </a: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113" dirty="0">
                <a:solidFill>
                  <a:srgbClr val="A9B7C5"/>
                </a:solidFill>
                <a:latin typeface="Courier New"/>
                <a:cs typeface="Courier New"/>
              </a:rPr>
              <a:t> </a:t>
            </a:r>
            <a:r>
              <a:rPr sz="1867" spc="-7" dirty="0">
                <a:solidFill>
                  <a:srgbClr val="A9B7C5"/>
                </a:solidFill>
                <a:latin typeface="Courier New"/>
                <a:cs typeface="Courier New"/>
              </a:rPr>
              <a:t>paswrd</a:t>
            </a:r>
            <a:endParaRPr sz="1867" dirty="0">
              <a:solidFill>
                <a:prstClr val="black"/>
              </a:solidFill>
              <a:latin typeface="Courier New"/>
              <a:cs typeface="Courier New"/>
            </a:endParaRPr>
          </a:p>
          <a:p>
            <a:pPr marL="458035" defTabSz="1219170">
              <a:spcBef>
                <a:spcPts val="1660"/>
              </a:spcBef>
            </a:pPr>
            <a:r>
              <a:rPr sz="4800" dirty="0">
                <a:solidFill>
                  <a:srgbClr val="1780C3"/>
                </a:solidFill>
                <a:latin typeface="Noto Sans"/>
                <a:cs typeface="Noto Sans"/>
              </a:rPr>
              <a:t>1</a:t>
            </a:r>
            <a:endParaRPr sz="4800" dirty="0">
              <a:solidFill>
                <a:prstClr val="black"/>
              </a:solidFill>
              <a:latin typeface="Noto Sans"/>
              <a:cs typeface="Noto Sans"/>
            </a:endParaRPr>
          </a:p>
          <a:p>
            <a:pPr marL="3861550" defTabSz="1219170">
              <a:spcBef>
                <a:spcPts val="207"/>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80" dirty="0">
                <a:solidFill>
                  <a:srgbClr val="D9D9D9"/>
                </a:solidFill>
                <a:latin typeface="Arial"/>
                <a:cs typeface="Arial"/>
              </a:rPr>
              <a:t>–f</a:t>
            </a:r>
            <a:r>
              <a:rPr sz="1333" spc="-140" dirty="0">
                <a:solidFill>
                  <a:srgbClr val="D9D9D9"/>
                </a:solidFill>
                <a:latin typeface="Arial"/>
                <a:cs typeface="Arial"/>
              </a:rPr>
              <a:t> </a:t>
            </a:r>
            <a:r>
              <a:rPr sz="1333" spc="127" dirty="0">
                <a:solidFill>
                  <a:srgbClr val="D9D9D9"/>
                </a:solidFill>
                <a:latin typeface="Arial"/>
                <a:cs typeface="Arial"/>
              </a:rPr>
              <a:t>secret-data.yaml</a:t>
            </a:r>
            <a:endParaRPr sz="1333" dirty="0">
              <a:solidFill>
                <a:prstClr val="black"/>
              </a:solidFill>
              <a:latin typeface="Arial"/>
              <a:cs typeface="Arial"/>
            </a:endParaRPr>
          </a:p>
          <a:p>
            <a:pPr defTabSz="1219170">
              <a:spcBef>
                <a:spcPts val="127"/>
              </a:spcBef>
            </a:pPr>
            <a:r>
              <a:rPr sz="1467" spc="13" dirty="0">
                <a:solidFill>
                  <a:prstClr val="black"/>
                </a:solidFill>
                <a:latin typeface="Verdana"/>
                <a:cs typeface="Verdana"/>
              </a:rPr>
              <a:t>Create</a:t>
            </a:r>
            <a:r>
              <a:rPr sz="1467" spc="-152" dirty="0">
                <a:solidFill>
                  <a:prstClr val="black"/>
                </a:solidFill>
                <a:latin typeface="Verdana"/>
                <a:cs typeface="Verdana"/>
              </a:rPr>
              <a:t> </a:t>
            </a:r>
            <a:r>
              <a:rPr sz="1467" spc="13" dirty="0">
                <a:solidFill>
                  <a:prstClr val="black"/>
                </a:solidFill>
                <a:latin typeface="Verdana"/>
                <a:cs typeface="Verdana"/>
              </a:rPr>
              <a:t>Secret</a:t>
            </a:r>
            <a:endParaRPr sz="1467" dirty="0">
              <a:solidFill>
                <a:prstClr val="black"/>
              </a:solidFill>
              <a:latin typeface="Verdana"/>
              <a:cs typeface="Verdana"/>
            </a:endParaRPr>
          </a:p>
        </p:txBody>
      </p:sp>
      <p:grpSp>
        <p:nvGrpSpPr>
          <p:cNvPr id="5" name="object 5"/>
          <p:cNvGrpSpPr/>
          <p:nvPr/>
        </p:nvGrpSpPr>
        <p:grpSpPr>
          <a:xfrm>
            <a:off x="1908048" y="1469069"/>
            <a:ext cx="9679093" cy="5019887"/>
            <a:chOff x="1431036" y="1101801"/>
            <a:chExt cx="7259320" cy="3764915"/>
          </a:xfrm>
        </p:grpSpPr>
        <p:sp>
          <p:nvSpPr>
            <p:cNvPr id="6" name="object 6"/>
            <p:cNvSpPr/>
            <p:nvPr/>
          </p:nvSpPr>
          <p:spPr>
            <a:xfrm>
              <a:off x="1431036" y="3881627"/>
              <a:ext cx="810895" cy="815340"/>
            </a:xfrm>
            <a:custGeom>
              <a:avLst/>
              <a:gdLst/>
              <a:ahLst/>
              <a:cxnLst/>
              <a:rect l="l" t="t" r="r" b="b"/>
              <a:pathLst>
                <a:path w="810894" h="815339">
                  <a:moveTo>
                    <a:pt x="810768" y="404444"/>
                  </a:moveTo>
                  <a:lnTo>
                    <a:pt x="807554" y="354076"/>
                  </a:lnTo>
                  <a:lnTo>
                    <a:pt x="798144" y="305028"/>
                  </a:lnTo>
                  <a:lnTo>
                    <a:pt x="782802" y="257759"/>
                  </a:lnTo>
                  <a:lnTo>
                    <a:pt x="761822" y="212750"/>
                  </a:lnTo>
                  <a:lnTo>
                    <a:pt x="752983" y="198577"/>
                  </a:lnTo>
                  <a:lnTo>
                    <a:pt x="752983" y="407758"/>
                  </a:lnTo>
                  <a:lnTo>
                    <a:pt x="749795" y="454939"/>
                  </a:lnTo>
                  <a:lnTo>
                    <a:pt x="740537" y="500214"/>
                  </a:lnTo>
                  <a:lnTo>
                    <a:pt x="725614" y="543166"/>
                  </a:lnTo>
                  <a:lnTo>
                    <a:pt x="705446" y="583374"/>
                  </a:lnTo>
                  <a:lnTo>
                    <a:pt x="680453" y="620420"/>
                  </a:lnTo>
                  <a:lnTo>
                    <a:pt x="651040" y="653897"/>
                  </a:lnTo>
                  <a:lnTo>
                    <a:pt x="617639" y="683361"/>
                  </a:lnTo>
                  <a:lnTo>
                    <a:pt x="580669" y="708406"/>
                  </a:lnTo>
                  <a:lnTo>
                    <a:pt x="540537" y="728611"/>
                  </a:lnTo>
                  <a:lnTo>
                    <a:pt x="497662" y="743572"/>
                  </a:lnTo>
                  <a:lnTo>
                    <a:pt x="452475" y="752856"/>
                  </a:lnTo>
                  <a:lnTo>
                    <a:pt x="405384" y="756031"/>
                  </a:lnTo>
                  <a:lnTo>
                    <a:pt x="358279" y="752856"/>
                  </a:lnTo>
                  <a:lnTo>
                    <a:pt x="313093" y="743572"/>
                  </a:lnTo>
                  <a:lnTo>
                    <a:pt x="270217" y="728611"/>
                  </a:lnTo>
                  <a:lnTo>
                    <a:pt x="230085" y="708406"/>
                  </a:lnTo>
                  <a:lnTo>
                    <a:pt x="193116" y="683361"/>
                  </a:lnTo>
                  <a:lnTo>
                    <a:pt x="159715" y="653897"/>
                  </a:lnTo>
                  <a:lnTo>
                    <a:pt x="141732" y="633437"/>
                  </a:lnTo>
                  <a:lnTo>
                    <a:pt x="141732" y="654177"/>
                  </a:lnTo>
                  <a:lnTo>
                    <a:pt x="86664" y="642239"/>
                  </a:lnTo>
                  <a:lnTo>
                    <a:pt x="61518" y="603364"/>
                  </a:lnTo>
                  <a:lnTo>
                    <a:pt x="41160" y="561835"/>
                  </a:lnTo>
                  <a:lnTo>
                    <a:pt x="25717" y="518185"/>
                  </a:lnTo>
                  <a:lnTo>
                    <a:pt x="15341" y="472935"/>
                  </a:lnTo>
                  <a:lnTo>
                    <a:pt x="10160" y="426593"/>
                  </a:lnTo>
                  <a:lnTo>
                    <a:pt x="43942" y="424891"/>
                  </a:lnTo>
                  <a:lnTo>
                    <a:pt x="46964" y="449122"/>
                  </a:lnTo>
                  <a:lnTo>
                    <a:pt x="47472" y="456641"/>
                  </a:lnTo>
                  <a:lnTo>
                    <a:pt x="48590" y="462153"/>
                  </a:lnTo>
                  <a:lnTo>
                    <a:pt x="50342" y="476135"/>
                  </a:lnTo>
                  <a:lnTo>
                    <a:pt x="55041" y="493801"/>
                  </a:lnTo>
                  <a:lnTo>
                    <a:pt x="57048" y="503580"/>
                  </a:lnTo>
                  <a:lnTo>
                    <a:pt x="59715" y="511302"/>
                  </a:lnTo>
                  <a:lnTo>
                    <a:pt x="63487" y="525424"/>
                  </a:lnTo>
                  <a:lnTo>
                    <a:pt x="69621" y="539915"/>
                  </a:lnTo>
                  <a:lnTo>
                    <a:pt x="72478" y="548157"/>
                  </a:lnTo>
                  <a:lnTo>
                    <a:pt x="76669" y="556564"/>
                  </a:lnTo>
                  <a:lnTo>
                    <a:pt x="83223" y="572008"/>
                  </a:lnTo>
                  <a:lnTo>
                    <a:pt x="89966" y="583158"/>
                  </a:lnTo>
                  <a:lnTo>
                    <a:pt x="93357" y="589927"/>
                  </a:lnTo>
                  <a:lnTo>
                    <a:pt x="100533" y="600621"/>
                  </a:lnTo>
                  <a:lnTo>
                    <a:pt x="109359" y="615175"/>
                  </a:lnTo>
                  <a:lnTo>
                    <a:pt x="114477" y="621360"/>
                  </a:lnTo>
                  <a:lnTo>
                    <a:pt x="119240" y="628421"/>
                  </a:lnTo>
                  <a:lnTo>
                    <a:pt x="140474" y="652678"/>
                  </a:lnTo>
                  <a:lnTo>
                    <a:pt x="141732" y="654177"/>
                  </a:lnTo>
                  <a:lnTo>
                    <a:pt x="141732" y="633437"/>
                  </a:lnTo>
                  <a:lnTo>
                    <a:pt x="105308" y="583374"/>
                  </a:lnTo>
                  <a:lnTo>
                    <a:pt x="85140" y="543166"/>
                  </a:lnTo>
                  <a:lnTo>
                    <a:pt x="70218" y="500214"/>
                  </a:lnTo>
                  <a:lnTo>
                    <a:pt x="60960" y="454939"/>
                  </a:lnTo>
                  <a:lnTo>
                    <a:pt x="57785" y="407758"/>
                  </a:lnTo>
                  <a:lnTo>
                    <a:pt x="60960" y="360197"/>
                  </a:lnTo>
                  <a:lnTo>
                    <a:pt x="70218" y="314591"/>
                  </a:lnTo>
                  <a:lnTo>
                    <a:pt x="85140" y="271373"/>
                  </a:lnTo>
                  <a:lnTo>
                    <a:pt x="105308" y="230949"/>
                  </a:lnTo>
                  <a:lnTo>
                    <a:pt x="130302" y="193738"/>
                  </a:lnTo>
                  <a:lnTo>
                    <a:pt x="159715" y="160147"/>
                  </a:lnTo>
                  <a:lnTo>
                    <a:pt x="193116" y="130594"/>
                  </a:lnTo>
                  <a:lnTo>
                    <a:pt x="230085" y="105486"/>
                  </a:lnTo>
                  <a:lnTo>
                    <a:pt x="270217" y="85242"/>
                  </a:lnTo>
                  <a:lnTo>
                    <a:pt x="312254" y="70573"/>
                  </a:lnTo>
                  <a:lnTo>
                    <a:pt x="357085" y="61226"/>
                  </a:lnTo>
                  <a:lnTo>
                    <a:pt x="405384" y="57785"/>
                  </a:lnTo>
                  <a:lnTo>
                    <a:pt x="452475" y="60972"/>
                  </a:lnTo>
                  <a:lnTo>
                    <a:pt x="497662" y="70269"/>
                  </a:lnTo>
                  <a:lnTo>
                    <a:pt x="540537" y="85242"/>
                  </a:lnTo>
                  <a:lnTo>
                    <a:pt x="580669" y="105486"/>
                  </a:lnTo>
                  <a:lnTo>
                    <a:pt x="617639" y="130594"/>
                  </a:lnTo>
                  <a:lnTo>
                    <a:pt x="651040" y="160147"/>
                  </a:lnTo>
                  <a:lnTo>
                    <a:pt x="680453" y="193738"/>
                  </a:lnTo>
                  <a:lnTo>
                    <a:pt x="705446" y="230949"/>
                  </a:lnTo>
                  <a:lnTo>
                    <a:pt x="725614" y="271373"/>
                  </a:lnTo>
                  <a:lnTo>
                    <a:pt x="740537" y="314591"/>
                  </a:lnTo>
                  <a:lnTo>
                    <a:pt x="749795" y="360197"/>
                  </a:lnTo>
                  <a:lnTo>
                    <a:pt x="752983" y="407758"/>
                  </a:lnTo>
                  <a:lnTo>
                    <a:pt x="752983" y="198577"/>
                  </a:lnTo>
                  <a:lnTo>
                    <a:pt x="735431" y="170408"/>
                  </a:lnTo>
                  <a:lnTo>
                    <a:pt x="704088" y="131406"/>
                  </a:lnTo>
                  <a:lnTo>
                    <a:pt x="700659" y="128016"/>
                  </a:lnTo>
                  <a:lnTo>
                    <a:pt x="666648" y="158013"/>
                  </a:lnTo>
                  <a:lnTo>
                    <a:pt x="660615" y="151117"/>
                  </a:lnTo>
                  <a:lnTo>
                    <a:pt x="668756" y="143319"/>
                  </a:lnTo>
                  <a:lnTo>
                    <a:pt x="693420" y="119710"/>
                  </a:lnTo>
                  <a:lnTo>
                    <a:pt x="688340" y="114655"/>
                  </a:lnTo>
                  <a:lnTo>
                    <a:pt x="676529" y="104698"/>
                  </a:lnTo>
                  <a:lnTo>
                    <a:pt x="676529" y="119710"/>
                  </a:lnTo>
                  <a:lnTo>
                    <a:pt x="652907" y="143319"/>
                  </a:lnTo>
                  <a:lnTo>
                    <a:pt x="639254" y="132130"/>
                  </a:lnTo>
                  <a:lnTo>
                    <a:pt x="625614" y="120053"/>
                  </a:lnTo>
                  <a:lnTo>
                    <a:pt x="619213" y="115709"/>
                  </a:lnTo>
                  <a:lnTo>
                    <a:pt x="613448" y="110972"/>
                  </a:lnTo>
                  <a:lnTo>
                    <a:pt x="602437" y="104305"/>
                  </a:lnTo>
                  <a:lnTo>
                    <a:pt x="587184" y="93916"/>
                  </a:lnTo>
                  <a:lnTo>
                    <a:pt x="576084" y="88303"/>
                  </a:lnTo>
                  <a:lnTo>
                    <a:pt x="570420" y="84861"/>
                  </a:lnTo>
                  <a:lnTo>
                    <a:pt x="563143" y="81762"/>
                  </a:lnTo>
                  <a:lnTo>
                    <a:pt x="545503" y="72821"/>
                  </a:lnTo>
                  <a:lnTo>
                    <a:pt x="527405" y="66471"/>
                  </a:lnTo>
                  <a:lnTo>
                    <a:pt x="524294" y="65138"/>
                  </a:lnTo>
                  <a:lnTo>
                    <a:pt x="521335" y="64350"/>
                  </a:lnTo>
                  <a:lnTo>
                    <a:pt x="502666" y="57785"/>
                  </a:lnTo>
                  <a:lnTo>
                    <a:pt x="501015" y="57213"/>
                  </a:lnTo>
                  <a:lnTo>
                    <a:pt x="454152" y="47523"/>
                  </a:lnTo>
                  <a:lnTo>
                    <a:pt x="424815" y="45529"/>
                  </a:lnTo>
                  <a:lnTo>
                    <a:pt x="426466" y="11798"/>
                  </a:lnTo>
                  <a:lnTo>
                    <a:pt x="472605" y="17119"/>
                  </a:lnTo>
                  <a:lnTo>
                    <a:pt x="517588" y="27800"/>
                  </a:lnTo>
                  <a:lnTo>
                    <a:pt x="561022" y="43637"/>
                  </a:lnTo>
                  <a:lnTo>
                    <a:pt x="602322" y="64389"/>
                  </a:lnTo>
                  <a:lnTo>
                    <a:pt x="640994" y="89827"/>
                  </a:lnTo>
                  <a:lnTo>
                    <a:pt x="676529" y="119710"/>
                  </a:lnTo>
                  <a:lnTo>
                    <a:pt x="676529" y="104698"/>
                  </a:lnTo>
                  <a:lnTo>
                    <a:pt x="608990" y="55397"/>
                  </a:lnTo>
                  <a:lnTo>
                    <a:pt x="565023" y="33515"/>
                  </a:lnTo>
                  <a:lnTo>
                    <a:pt x="518756" y="17106"/>
                  </a:lnTo>
                  <a:lnTo>
                    <a:pt x="470801" y="6426"/>
                  </a:lnTo>
                  <a:lnTo>
                    <a:pt x="421513" y="1689"/>
                  </a:lnTo>
                  <a:lnTo>
                    <a:pt x="416433" y="0"/>
                  </a:lnTo>
                  <a:lnTo>
                    <a:pt x="413753" y="44767"/>
                  </a:lnTo>
                  <a:lnTo>
                    <a:pt x="405384" y="44196"/>
                  </a:lnTo>
                  <a:lnTo>
                    <a:pt x="403479" y="44335"/>
                  </a:lnTo>
                  <a:lnTo>
                    <a:pt x="402209" y="0"/>
                  </a:lnTo>
                  <a:lnTo>
                    <a:pt x="397129" y="0"/>
                  </a:lnTo>
                  <a:lnTo>
                    <a:pt x="347078" y="4622"/>
                  </a:lnTo>
                  <a:lnTo>
                    <a:pt x="298526" y="14960"/>
                  </a:lnTo>
                  <a:lnTo>
                    <a:pt x="251853" y="30848"/>
                  </a:lnTo>
                  <a:lnTo>
                    <a:pt x="207429" y="52070"/>
                  </a:lnTo>
                  <a:lnTo>
                    <a:pt x="165646" y="78460"/>
                  </a:lnTo>
                  <a:lnTo>
                    <a:pt x="126873" y="109829"/>
                  </a:lnTo>
                  <a:lnTo>
                    <a:pt x="123444" y="114896"/>
                  </a:lnTo>
                  <a:lnTo>
                    <a:pt x="154114" y="146913"/>
                  </a:lnTo>
                  <a:lnTo>
                    <a:pt x="149720" y="150812"/>
                  </a:lnTo>
                  <a:lnTo>
                    <a:pt x="119240" y="185737"/>
                  </a:lnTo>
                  <a:lnTo>
                    <a:pt x="93357" y="224409"/>
                  </a:lnTo>
                  <a:lnTo>
                    <a:pt x="72478" y="266382"/>
                  </a:lnTo>
                  <a:lnTo>
                    <a:pt x="57048" y="311226"/>
                  </a:lnTo>
                  <a:lnTo>
                    <a:pt x="47472" y="358495"/>
                  </a:lnTo>
                  <a:lnTo>
                    <a:pt x="44196" y="407758"/>
                  </a:lnTo>
                  <a:lnTo>
                    <a:pt x="44564" y="413346"/>
                  </a:lnTo>
                  <a:lnTo>
                    <a:pt x="0" y="414705"/>
                  </a:lnTo>
                  <a:lnTo>
                    <a:pt x="0" y="421500"/>
                  </a:lnTo>
                  <a:lnTo>
                    <a:pt x="4635" y="471106"/>
                  </a:lnTo>
                  <a:lnTo>
                    <a:pt x="15074" y="519379"/>
                  </a:lnTo>
                  <a:lnTo>
                    <a:pt x="31216" y="565873"/>
                  </a:lnTo>
                  <a:lnTo>
                    <a:pt x="52984" y="610095"/>
                  </a:lnTo>
                  <a:lnTo>
                    <a:pt x="80276" y="651573"/>
                  </a:lnTo>
                  <a:lnTo>
                    <a:pt x="113030" y="689851"/>
                  </a:lnTo>
                  <a:lnTo>
                    <a:pt x="116459" y="694944"/>
                  </a:lnTo>
                  <a:lnTo>
                    <a:pt x="134061" y="677964"/>
                  </a:lnTo>
                  <a:lnTo>
                    <a:pt x="149542" y="663028"/>
                  </a:lnTo>
                  <a:lnTo>
                    <a:pt x="149733" y="663232"/>
                  </a:lnTo>
                  <a:lnTo>
                    <a:pt x="157213" y="669861"/>
                  </a:lnTo>
                  <a:lnTo>
                    <a:pt x="124968" y="703580"/>
                  </a:lnTo>
                  <a:lnTo>
                    <a:pt x="130048" y="706970"/>
                  </a:lnTo>
                  <a:lnTo>
                    <a:pt x="168808" y="738987"/>
                  </a:lnTo>
                  <a:lnTo>
                    <a:pt x="210578" y="765556"/>
                  </a:lnTo>
                  <a:lnTo>
                    <a:pt x="254965" y="786561"/>
                  </a:lnTo>
                  <a:lnTo>
                    <a:pt x="301599" y="801928"/>
                  </a:lnTo>
                  <a:lnTo>
                    <a:pt x="350126" y="811555"/>
                  </a:lnTo>
                  <a:lnTo>
                    <a:pt x="400177" y="815340"/>
                  </a:lnTo>
                  <a:lnTo>
                    <a:pt x="405257" y="815340"/>
                  </a:lnTo>
                  <a:lnTo>
                    <a:pt x="406603" y="769543"/>
                  </a:lnTo>
                  <a:lnTo>
                    <a:pt x="454152" y="766305"/>
                  </a:lnTo>
                  <a:lnTo>
                    <a:pt x="501015" y="756627"/>
                  </a:lnTo>
                  <a:lnTo>
                    <a:pt x="502691" y="756031"/>
                  </a:lnTo>
                  <a:lnTo>
                    <a:pt x="545503" y="741032"/>
                  </a:lnTo>
                  <a:lnTo>
                    <a:pt x="587184" y="719975"/>
                  </a:lnTo>
                  <a:lnTo>
                    <a:pt x="625614" y="693902"/>
                  </a:lnTo>
                  <a:lnTo>
                    <a:pt x="660361" y="663232"/>
                  </a:lnTo>
                  <a:lnTo>
                    <a:pt x="668909" y="653503"/>
                  </a:lnTo>
                  <a:lnTo>
                    <a:pt x="702437" y="684276"/>
                  </a:lnTo>
                  <a:lnTo>
                    <a:pt x="705739" y="679183"/>
                  </a:lnTo>
                  <a:lnTo>
                    <a:pt x="737057" y="640130"/>
                  </a:lnTo>
                  <a:lnTo>
                    <a:pt x="763104" y="597916"/>
                  </a:lnTo>
                  <a:lnTo>
                    <a:pt x="783678" y="553059"/>
                  </a:lnTo>
                  <a:lnTo>
                    <a:pt x="798601" y="506082"/>
                  </a:lnTo>
                  <a:lnTo>
                    <a:pt x="807694" y="457517"/>
                  </a:lnTo>
                  <a:lnTo>
                    <a:pt x="810768" y="407847"/>
                  </a:lnTo>
                  <a:lnTo>
                    <a:pt x="810768" y="404444"/>
                  </a:lnTo>
                  <a:close/>
                </a:path>
              </a:pathLst>
            </a:custGeom>
            <a:solidFill>
              <a:srgbClr val="1780C3"/>
            </a:solidFill>
          </p:spPr>
          <p:txBody>
            <a:bodyPr wrap="square" lIns="0" tIns="0" rIns="0" bIns="0" rtlCol="0"/>
            <a:lstStyle/>
            <a:p>
              <a:pPr defTabSz="1219170"/>
              <a:endParaRPr sz="2400">
                <a:solidFill>
                  <a:prstClr val="black"/>
                </a:solidFill>
                <a:latin typeface="Calibri"/>
              </a:endParaRPr>
            </a:p>
          </p:txBody>
        </p:sp>
        <p:sp>
          <p:nvSpPr>
            <p:cNvPr id="7" name="object 7"/>
            <p:cNvSpPr/>
            <p:nvPr/>
          </p:nvSpPr>
          <p:spPr>
            <a:xfrm>
              <a:off x="3960875" y="1101801"/>
              <a:ext cx="4376928" cy="365810"/>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8" name="object 8"/>
            <p:cNvSpPr/>
            <p:nvPr/>
          </p:nvSpPr>
          <p:spPr>
            <a:xfrm>
              <a:off x="4119371" y="1109421"/>
              <a:ext cx="1552955" cy="384098"/>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9" name="object 9"/>
            <p:cNvSpPr/>
            <p:nvPr/>
          </p:nvSpPr>
          <p:spPr>
            <a:xfrm>
              <a:off x="4020312" y="1141475"/>
              <a:ext cx="4262755" cy="253365"/>
            </a:xfrm>
            <a:custGeom>
              <a:avLst/>
              <a:gdLst/>
              <a:ahLst/>
              <a:cxnLst/>
              <a:rect l="l" t="t" r="r" b="b"/>
              <a:pathLst>
                <a:path w="4262755" h="253365">
                  <a:moveTo>
                    <a:pt x="4262628" y="0"/>
                  </a:moveTo>
                  <a:lnTo>
                    <a:pt x="0" y="0"/>
                  </a:lnTo>
                  <a:lnTo>
                    <a:pt x="0" y="252984"/>
                  </a:lnTo>
                  <a:lnTo>
                    <a:pt x="4262628" y="252984"/>
                  </a:lnTo>
                  <a:lnTo>
                    <a:pt x="4262628"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sp>
          <p:nvSpPr>
            <p:cNvPr id="10" name="object 10"/>
            <p:cNvSpPr/>
            <p:nvPr/>
          </p:nvSpPr>
          <p:spPr>
            <a:xfrm>
              <a:off x="4038924" y="1153705"/>
              <a:ext cx="160020" cy="205740"/>
            </a:xfrm>
            <a:custGeom>
              <a:avLst/>
              <a:gdLst/>
              <a:ahLst/>
              <a:cxnLst/>
              <a:rect l="l" t="t" r="r" b="b"/>
              <a:pathLst>
                <a:path w="160020" h="205740">
                  <a:moveTo>
                    <a:pt x="0" y="0"/>
                  </a:moveTo>
                  <a:lnTo>
                    <a:pt x="0" y="205385"/>
                  </a:lnTo>
                  <a:lnTo>
                    <a:pt x="159603" y="102697"/>
                  </a:lnTo>
                  <a:lnTo>
                    <a:pt x="0" y="0"/>
                  </a:lnTo>
                  <a:close/>
                </a:path>
              </a:pathLst>
            </a:custGeom>
            <a:solidFill>
              <a:srgbClr val="1780C3"/>
            </a:solidFill>
          </p:spPr>
          <p:txBody>
            <a:bodyPr wrap="square" lIns="0" tIns="0" rIns="0" bIns="0" rtlCol="0"/>
            <a:lstStyle/>
            <a:p>
              <a:pPr defTabSz="1219170"/>
              <a:endParaRPr sz="2400">
                <a:solidFill>
                  <a:prstClr val="black"/>
                </a:solidFill>
                <a:latin typeface="Calibri"/>
              </a:endParaRPr>
            </a:p>
          </p:txBody>
        </p:sp>
        <p:sp>
          <p:nvSpPr>
            <p:cNvPr id="11" name="object 11"/>
            <p:cNvSpPr/>
            <p:nvPr/>
          </p:nvSpPr>
          <p:spPr>
            <a:xfrm>
              <a:off x="2979419" y="1161287"/>
              <a:ext cx="960119" cy="257810"/>
            </a:xfrm>
            <a:custGeom>
              <a:avLst/>
              <a:gdLst/>
              <a:ahLst/>
              <a:cxnLst/>
              <a:rect l="l" t="t" r="r" b="b"/>
              <a:pathLst>
                <a:path w="960120" h="257809">
                  <a:moveTo>
                    <a:pt x="917194" y="0"/>
                  </a:moveTo>
                  <a:lnTo>
                    <a:pt x="42925" y="0"/>
                  </a:lnTo>
                  <a:lnTo>
                    <a:pt x="26199" y="3367"/>
                  </a:lnTo>
                  <a:lnTo>
                    <a:pt x="12557" y="12557"/>
                  </a:lnTo>
                  <a:lnTo>
                    <a:pt x="3367" y="26199"/>
                  </a:lnTo>
                  <a:lnTo>
                    <a:pt x="0" y="42925"/>
                  </a:lnTo>
                  <a:lnTo>
                    <a:pt x="0" y="214629"/>
                  </a:lnTo>
                  <a:lnTo>
                    <a:pt x="3367" y="231356"/>
                  </a:lnTo>
                  <a:lnTo>
                    <a:pt x="12557" y="244998"/>
                  </a:lnTo>
                  <a:lnTo>
                    <a:pt x="26199" y="254188"/>
                  </a:lnTo>
                  <a:lnTo>
                    <a:pt x="42925" y="257556"/>
                  </a:lnTo>
                  <a:lnTo>
                    <a:pt x="917194" y="257556"/>
                  </a:lnTo>
                  <a:lnTo>
                    <a:pt x="933920" y="254188"/>
                  </a:lnTo>
                  <a:lnTo>
                    <a:pt x="947562" y="244998"/>
                  </a:lnTo>
                  <a:lnTo>
                    <a:pt x="956752" y="231356"/>
                  </a:lnTo>
                  <a:lnTo>
                    <a:pt x="960119" y="214629"/>
                  </a:lnTo>
                  <a:lnTo>
                    <a:pt x="960119" y="42925"/>
                  </a:lnTo>
                  <a:lnTo>
                    <a:pt x="956752" y="26199"/>
                  </a:lnTo>
                  <a:lnTo>
                    <a:pt x="947562" y="12557"/>
                  </a:lnTo>
                  <a:lnTo>
                    <a:pt x="933920" y="3367"/>
                  </a:lnTo>
                  <a:lnTo>
                    <a:pt x="917194" y="0"/>
                  </a:lnTo>
                  <a:close/>
                </a:path>
              </a:pathLst>
            </a:custGeom>
            <a:solidFill>
              <a:srgbClr val="2B8738"/>
            </a:solidFill>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2979419" y="1141475"/>
              <a:ext cx="960119" cy="256540"/>
            </a:xfrm>
            <a:custGeom>
              <a:avLst/>
              <a:gdLst/>
              <a:ahLst/>
              <a:cxnLst/>
              <a:rect l="l" t="t" r="r" b="b"/>
              <a:pathLst>
                <a:path w="960120" h="256540">
                  <a:moveTo>
                    <a:pt x="917447" y="0"/>
                  </a:moveTo>
                  <a:lnTo>
                    <a:pt x="42672" y="0"/>
                  </a:lnTo>
                  <a:lnTo>
                    <a:pt x="26038" y="3345"/>
                  </a:lnTo>
                  <a:lnTo>
                    <a:pt x="12477" y="12477"/>
                  </a:lnTo>
                  <a:lnTo>
                    <a:pt x="3345" y="26038"/>
                  </a:lnTo>
                  <a:lnTo>
                    <a:pt x="0" y="42672"/>
                  </a:lnTo>
                  <a:lnTo>
                    <a:pt x="0" y="213360"/>
                  </a:lnTo>
                  <a:lnTo>
                    <a:pt x="3345" y="229993"/>
                  </a:lnTo>
                  <a:lnTo>
                    <a:pt x="12477" y="243554"/>
                  </a:lnTo>
                  <a:lnTo>
                    <a:pt x="26038" y="252686"/>
                  </a:lnTo>
                  <a:lnTo>
                    <a:pt x="42672" y="256032"/>
                  </a:lnTo>
                  <a:lnTo>
                    <a:pt x="917447" y="256032"/>
                  </a:lnTo>
                  <a:lnTo>
                    <a:pt x="934081" y="252686"/>
                  </a:lnTo>
                  <a:lnTo>
                    <a:pt x="947642" y="243554"/>
                  </a:lnTo>
                  <a:lnTo>
                    <a:pt x="956774" y="229993"/>
                  </a:lnTo>
                  <a:lnTo>
                    <a:pt x="960119" y="213360"/>
                  </a:lnTo>
                  <a:lnTo>
                    <a:pt x="960119" y="42672"/>
                  </a:lnTo>
                  <a:lnTo>
                    <a:pt x="956774" y="26038"/>
                  </a:lnTo>
                  <a:lnTo>
                    <a:pt x="947642" y="12477"/>
                  </a:lnTo>
                  <a:lnTo>
                    <a:pt x="934081" y="3345"/>
                  </a:lnTo>
                  <a:lnTo>
                    <a:pt x="917447"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13" name="object 13"/>
            <p:cNvSpPr/>
            <p:nvPr/>
          </p:nvSpPr>
          <p:spPr>
            <a:xfrm>
              <a:off x="4020312" y="2080259"/>
              <a:ext cx="4669790" cy="2216150"/>
            </a:xfrm>
            <a:custGeom>
              <a:avLst/>
              <a:gdLst/>
              <a:ahLst/>
              <a:cxnLst/>
              <a:rect l="l" t="t" r="r" b="b"/>
              <a:pathLst>
                <a:path w="4669790" h="2216150">
                  <a:moveTo>
                    <a:pt x="4669536" y="0"/>
                  </a:moveTo>
                  <a:lnTo>
                    <a:pt x="0" y="0"/>
                  </a:lnTo>
                  <a:lnTo>
                    <a:pt x="0" y="2215896"/>
                  </a:lnTo>
                  <a:lnTo>
                    <a:pt x="4669536" y="2215896"/>
                  </a:lnTo>
                  <a:lnTo>
                    <a:pt x="4669536"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14" name="object 14"/>
            <p:cNvSpPr/>
            <p:nvPr/>
          </p:nvSpPr>
          <p:spPr>
            <a:xfrm>
              <a:off x="4020312" y="1775459"/>
              <a:ext cx="1442085" cy="300355"/>
            </a:xfrm>
            <a:custGeom>
              <a:avLst/>
              <a:gdLst/>
              <a:ahLst/>
              <a:cxnLst/>
              <a:rect l="l" t="t" r="r" b="b"/>
              <a:pathLst>
                <a:path w="1442085" h="300355">
                  <a:moveTo>
                    <a:pt x="1441703" y="0"/>
                  </a:moveTo>
                  <a:lnTo>
                    <a:pt x="0" y="0"/>
                  </a:lnTo>
                  <a:lnTo>
                    <a:pt x="0" y="300227"/>
                  </a:lnTo>
                  <a:lnTo>
                    <a:pt x="1441703" y="300227"/>
                  </a:lnTo>
                  <a:lnTo>
                    <a:pt x="1441703" y="0"/>
                  </a:lnTo>
                  <a:close/>
                </a:path>
              </a:pathLst>
            </a:custGeom>
            <a:solidFill>
              <a:srgbClr val="000000">
                <a:alpha val="50195"/>
              </a:srgbClr>
            </a:solidFill>
          </p:spPr>
          <p:txBody>
            <a:bodyPr wrap="square" lIns="0" tIns="0" rIns="0" bIns="0" rtlCol="0"/>
            <a:lstStyle/>
            <a:p>
              <a:pPr defTabSz="1219170"/>
              <a:endParaRPr sz="2400">
                <a:solidFill>
                  <a:prstClr val="black"/>
                </a:solidFill>
                <a:latin typeface="Calibri"/>
              </a:endParaRPr>
            </a:p>
          </p:txBody>
        </p:sp>
        <p:sp>
          <p:nvSpPr>
            <p:cNvPr id="15" name="object 15"/>
            <p:cNvSpPr/>
            <p:nvPr/>
          </p:nvSpPr>
          <p:spPr>
            <a:xfrm>
              <a:off x="3956303" y="4474463"/>
              <a:ext cx="4375404" cy="365810"/>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6" name="object 16"/>
            <p:cNvSpPr/>
            <p:nvPr/>
          </p:nvSpPr>
          <p:spPr>
            <a:xfrm>
              <a:off x="4113275" y="4482083"/>
              <a:ext cx="2695955" cy="384098"/>
            </a:xfrm>
            <a:prstGeom prst="rect">
              <a:avLst/>
            </a:prstGeom>
            <a:blipFill>
              <a:blip r:embed="rId5"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7" name="object 17"/>
            <p:cNvSpPr/>
            <p:nvPr/>
          </p:nvSpPr>
          <p:spPr>
            <a:xfrm>
              <a:off x="4015740" y="4514087"/>
              <a:ext cx="4261485" cy="253365"/>
            </a:xfrm>
            <a:custGeom>
              <a:avLst/>
              <a:gdLst/>
              <a:ahLst/>
              <a:cxnLst/>
              <a:rect l="l" t="t" r="r" b="b"/>
              <a:pathLst>
                <a:path w="4261484" h="253364">
                  <a:moveTo>
                    <a:pt x="4261104" y="0"/>
                  </a:moveTo>
                  <a:lnTo>
                    <a:pt x="0" y="0"/>
                  </a:lnTo>
                  <a:lnTo>
                    <a:pt x="0" y="252984"/>
                  </a:lnTo>
                  <a:lnTo>
                    <a:pt x="4261104" y="252984"/>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sp>
          <p:nvSpPr>
            <p:cNvPr id="18" name="object 18"/>
            <p:cNvSpPr/>
            <p:nvPr/>
          </p:nvSpPr>
          <p:spPr>
            <a:xfrm>
              <a:off x="4032828" y="4526316"/>
              <a:ext cx="160020" cy="20574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19" name="object 19"/>
            <p:cNvSpPr/>
            <p:nvPr/>
          </p:nvSpPr>
          <p:spPr>
            <a:xfrm>
              <a:off x="1495044" y="1159763"/>
              <a:ext cx="654050" cy="300355"/>
            </a:xfrm>
            <a:custGeom>
              <a:avLst/>
              <a:gdLst/>
              <a:ahLst/>
              <a:cxnLst/>
              <a:rect l="l" t="t" r="r" b="b"/>
              <a:pathLst>
                <a:path w="654050" h="300355">
                  <a:moveTo>
                    <a:pt x="653795" y="0"/>
                  </a:moveTo>
                  <a:lnTo>
                    <a:pt x="0" y="0"/>
                  </a:lnTo>
                  <a:lnTo>
                    <a:pt x="0" y="300227"/>
                  </a:lnTo>
                  <a:lnTo>
                    <a:pt x="653795" y="300227"/>
                  </a:lnTo>
                  <a:lnTo>
                    <a:pt x="653795" y="0"/>
                  </a:lnTo>
                  <a:close/>
                </a:path>
              </a:pathLst>
            </a:custGeom>
            <a:solidFill>
              <a:srgbClr val="000000">
                <a:alpha val="50195"/>
              </a:srgbClr>
            </a:solidFill>
          </p:spPr>
          <p:txBody>
            <a:bodyPr wrap="square" lIns="0" tIns="0" rIns="0" bIns="0" rtlCol="0"/>
            <a:lstStyle/>
            <a:p>
              <a:pPr defTabSz="1219170"/>
              <a:endParaRPr sz="2400">
                <a:solidFill>
                  <a:prstClr val="black"/>
                </a:solidFill>
                <a:latin typeface="Calibri"/>
              </a:endParaRPr>
            </a:p>
          </p:txBody>
        </p:sp>
      </p:grpSp>
      <p:grpSp>
        <p:nvGrpSpPr>
          <p:cNvPr id="20" name="object 20"/>
          <p:cNvGrpSpPr/>
          <p:nvPr/>
        </p:nvGrpSpPr>
        <p:grpSpPr>
          <a:xfrm>
            <a:off x="508000" y="1322833"/>
            <a:ext cx="11296227" cy="5478780"/>
            <a:chOff x="381000" y="992124"/>
            <a:chExt cx="8472170" cy="4109085"/>
          </a:xfrm>
        </p:grpSpPr>
        <p:sp>
          <p:nvSpPr>
            <p:cNvPr id="21" name="object 21"/>
            <p:cNvSpPr/>
            <p:nvPr/>
          </p:nvSpPr>
          <p:spPr>
            <a:xfrm>
              <a:off x="4291584" y="3214116"/>
              <a:ext cx="2338070" cy="678180"/>
            </a:xfrm>
            <a:custGeom>
              <a:avLst/>
              <a:gdLst/>
              <a:ahLst/>
              <a:cxnLst/>
              <a:rect l="l" t="t" r="r" b="b"/>
              <a:pathLst>
                <a:path w="2338070" h="678179">
                  <a:moveTo>
                    <a:pt x="2224786" y="0"/>
                  </a:moveTo>
                  <a:lnTo>
                    <a:pt x="113029" y="0"/>
                  </a:lnTo>
                  <a:lnTo>
                    <a:pt x="69008" y="8874"/>
                  </a:lnTo>
                  <a:lnTo>
                    <a:pt x="33083" y="33083"/>
                  </a:lnTo>
                  <a:lnTo>
                    <a:pt x="8874" y="69008"/>
                  </a:lnTo>
                  <a:lnTo>
                    <a:pt x="0" y="113029"/>
                  </a:lnTo>
                  <a:lnTo>
                    <a:pt x="0" y="565149"/>
                  </a:lnTo>
                  <a:lnTo>
                    <a:pt x="8874" y="609171"/>
                  </a:lnTo>
                  <a:lnTo>
                    <a:pt x="33083" y="645096"/>
                  </a:lnTo>
                  <a:lnTo>
                    <a:pt x="69008" y="669305"/>
                  </a:lnTo>
                  <a:lnTo>
                    <a:pt x="113029" y="678179"/>
                  </a:lnTo>
                  <a:lnTo>
                    <a:pt x="2224786" y="678179"/>
                  </a:lnTo>
                  <a:lnTo>
                    <a:pt x="2268807" y="669305"/>
                  </a:lnTo>
                  <a:lnTo>
                    <a:pt x="2304732" y="645096"/>
                  </a:lnTo>
                  <a:lnTo>
                    <a:pt x="2328941" y="609171"/>
                  </a:lnTo>
                  <a:lnTo>
                    <a:pt x="2337816" y="565149"/>
                  </a:lnTo>
                  <a:lnTo>
                    <a:pt x="2337816" y="113029"/>
                  </a:lnTo>
                  <a:lnTo>
                    <a:pt x="2328941" y="69008"/>
                  </a:lnTo>
                  <a:lnTo>
                    <a:pt x="2304732" y="33083"/>
                  </a:lnTo>
                  <a:lnTo>
                    <a:pt x="2268807" y="8874"/>
                  </a:lnTo>
                  <a:lnTo>
                    <a:pt x="2224786" y="0"/>
                  </a:lnTo>
                  <a:close/>
                </a:path>
              </a:pathLst>
            </a:custGeom>
            <a:solidFill>
              <a:srgbClr val="E10A87">
                <a:alpha val="50195"/>
              </a:srgbClr>
            </a:solidFill>
          </p:spPr>
          <p:txBody>
            <a:bodyPr wrap="square" lIns="0" tIns="0" rIns="0" bIns="0" rtlCol="0"/>
            <a:lstStyle/>
            <a:p>
              <a:pPr defTabSz="1219170"/>
              <a:endParaRPr sz="2400">
                <a:solidFill>
                  <a:prstClr val="black"/>
                </a:solidFill>
                <a:latin typeface="Calibri"/>
              </a:endParaRPr>
            </a:p>
          </p:txBody>
        </p:sp>
        <p:sp>
          <p:nvSpPr>
            <p:cNvPr id="22" name="object 22"/>
            <p:cNvSpPr/>
            <p:nvPr/>
          </p:nvSpPr>
          <p:spPr>
            <a:xfrm>
              <a:off x="4291584" y="3209544"/>
              <a:ext cx="2338070" cy="678180"/>
            </a:xfrm>
            <a:custGeom>
              <a:avLst/>
              <a:gdLst/>
              <a:ahLst/>
              <a:cxnLst/>
              <a:rect l="l" t="t" r="r" b="b"/>
              <a:pathLst>
                <a:path w="2338070" h="678179">
                  <a:moveTo>
                    <a:pt x="0" y="113030"/>
                  </a:moveTo>
                  <a:lnTo>
                    <a:pt x="8874" y="69008"/>
                  </a:lnTo>
                  <a:lnTo>
                    <a:pt x="33083" y="33083"/>
                  </a:lnTo>
                  <a:lnTo>
                    <a:pt x="69008" y="8874"/>
                  </a:lnTo>
                  <a:lnTo>
                    <a:pt x="113029" y="0"/>
                  </a:lnTo>
                  <a:lnTo>
                    <a:pt x="2224786" y="0"/>
                  </a:lnTo>
                  <a:lnTo>
                    <a:pt x="2268807" y="8874"/>
                  </a:lnTo>
                  <a:lnTo>
                    <a:pt x="2304732" y="33083"/>
                  </a:lnTo>
                  <a:lnTo>
                    <a:pt x="2328941" y="69008"/>
                  </a:lnTo>
                  <a:lnTo>
                    <a:pt x="2337816" y="113030"/>
                  </a:lnTo>
                  <a:lnTo>
                    <a:pt x="2337816" y="565150"/>
                  </a:lnTo>
                  <a:lnTo>
                    <a:pt x="2328941" y="609171"/>
                  </a:lnTo>
                  <a:lnTo>
                    <a:pt x="2304732" y="645096"/>
                  </a:lnTo>
                  <a:lnTo>
                    <a:pt x="2268807" y="669305"/>
                  </a:lnTo>
                  <a:lnTo>
                    <a:pt x="2224786" y="678180"/>
                  </a:lnTo>
                  <a:lnTo>
                    <a:pt x="113029" y="678180"/>
                  </a:lnTo>
                  <a:lnTo>
                    <a:pt x="69008" y="669305"/>
                  </a:lnTo>
                  <a:lnTo>
                    <a:pt x="33083" y="645096"/>
                  </a:lnTo>
                  <a:lnTo>
                    <a:pt x="8874" y="609171"/>
                  </a:lnTo>
                  <a:lnTo>
                    <a:pt x="0" y="565150"/>
                  </a:lnTo>
                  <a:lnTo>
                    <a:pt x="0" y="113030"/>
                  </a:lnTo>
                  <a:close/>
                </a:path>
              </a:pathLst>
            </a:custGeom>
            <a:ln w="9144">
              <a:solidFill>
                <a:srgbClr val="C00000"/>
              </a:solidFill>
              <a:prstDash val="sysDashDot"/>
            </a:ln>
          </p:spPr>
          <p:txBody>
            <a:bodyPr wrap="square" lIns="0" tIns="0" rIns="0" bIns="0" rtlCol="0"/>
            <a:lstStyle/>
            <a:p>
              <a:pPr defTabSz="1219170"/>
              <a:endParaRPr sz="2400">
                <a:solidFill>
                  <a:prstClr val="black"/>
                </a:solidFill>
                <a:latin typeface="Calibri"/>
              </a:endParaRPr>
            </a:p>
          </p:txBody>
        </p:sp>
        <p:sp>
          <p:nvSpPr>
            <p:cNvPr id="23" name="object 23"/>
            <p:cNvSpPr/>
            <p:nvPr/>
          </p:nvSpPr>
          <p:spPr>
            <a:xfrm>
              <a:off x="381000" y="992124"/>
              <a:ext cx="8472170" cy="4109085"/>
            </a:xfrm>
            <a:custGeom>
              <a:avLst/>
              <a:gdLst/>
              <a:ahLst/>
              <a:cxnLst/>
              <a:rect l="l" t="t" r="r" b="b"/>
              <a:pathLst>
                <a:path w="8472170" h="4109085">
                  <a:moveTo>
                    <a:pt x="8471916" y="0"/>
                  </a:moveTo>
                  <a:lnTo>
                    <a:pt x="0" y="0"/>
                  </a:lnTo>
                  <a:lnTo>
                    <a:pt x="0" y="4108704"/>
                  </a:lnTo>
                  <a:lnTo>
                    <a:pt x="8471916" y="4108704"/>
                  </a:lnTo>
                  <a:lnTo>
                    <a:pt x="8471916" y="0"/>
                  </a:lnTo>
                  <a:close/>
                </a:path>
              </a:pathLst>
            </a:custGeom>
            <a:solidFill>
              <a:srgbClr val="FFFFFF">
                <a:alpha val="96076"/>
              </a:srgbClr>
            </a:solidFill>
          </p:spPr>
          <p:txBody>
            <a:bodyPr wrap="square" lIns="0" tIns="0" rIns="0" bIns="0" rtlCol="0"/>
            <a:lstStyle/>
            <a:p>
              <a:pPr defTabSz="1219170"/>
              <a:endParaRPr sz="2400">
                <a:solidFill>
                  <a:prstClr val="black"/>
                </a:solidFill>
                <a:latin typeface="Calibri"/>
              </a:endParaRPr>
            </a:p>
          </p:txBody>
        </p:sp>
        <p:sp>
          <p:nvSpPr>
            <p:cNvPr id="24" name="object 24"/>
            <p:cNvSpPr/>
            <p:nvPr/>
          </p:nvSpPr>
          <p:spPr>
            <a:xfrm>
              <a:off x="4741164" y="1495044"/>
              <a:ext cx="2962910" cy="1170940"/>
            </a:xfrm>
            <a:custGeom>
              <a:avLst/>
              <a:gdLst/>
              <a:ahLst/>
              <a:cxnLst/>
              <a:rect l="l" t="t" r="r" b="b"/>
              <a:pathLst>
                <a:path w="2962909" h="1170939">
                  <a:moveTo>
                    <a:pt x="2962656" y="0"/>
                  </a:moveTo>
                  <a:lnTo>
                    <a:pt x="0" y="0"/>
                  </a:lnTo>
                  <a:lnTo>
                    <a:pt x="0" y="1170431"/>
                  </a:lnTo>
                  <a:lnTo>
                    <a:pt x="2962656" y="1170431"/>
                  </a:lnTo>
                  <a:lnTo>
                    <a:pt x="2962656"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grpSp>
      <p:sp>
        <p:nvSpPr>
          <p:cNvPr id="25" name="object 25"/>
          <p:cNvSpPr txBox="1"/>
          <p:nvPr/>
        </p:nvSpPr>
        <p:spPr>
          <a:xfrm>
            <a:off x="6321552" y="1993392"/>
            <a:ext cx="3950547" cy="329215"/>
          </a:xfrm>
          <a:prstGeom prst="rect">
            <a:avLst/>
          </a:prstGeom>
          <a:solidFill>
            <a:srgbClr val="2B2B2B"/>
          </a:solidFill>
        </p:spPr>
        <p:txBody>
          <a:bodyPr vert="horz" wrap="square" lIns="0" tIns="41487" rIns="0" bIns="0" rtlCol="0">
            <a:spAutoFit/>
          </a:bodyPr>
          <a:lstStyle/>
          <a:p>
            <a:pPr marL="121917" defTabSz="1219170">
              <a:spcBef>
                <a:spcPts val="327"/>
              </a:spcBef>
            </a:pPr>
            <a:r>
              <a:rPr sz="1867" spc="-7" dirty="0">
                <a:solidFill>
                  <a:srgbClr val="9776AA"/>
                </a:solidFill>
                <a:latin typeface="Courier New"/>
                <a:cs typeface="Courier New"/>
              </a:rPr>
              <a:t>DB_Host</a:t>
            </a:r>
            <a:r>
              <a:rPr sz="1867" spc="-7" dirty="0">
                <a:solidFill>
                  <a:srgbClr val="A9B7C5"/>
                </a:solidFill>
                <a:latin typeface="Courier New"/>
                <a:cs typeface="Courier New"/>
              </a:rPr>
              <a:t>:</a:t>
            </a:r>
            <a:r>
              <a:rPr sz="1867" spc="-13" dirty="0">
                <a:solidFill>
                  <a:srgbClr val="A9B7C5"/>
                </a:solidFill>
                <a:latin typeface="Courier New"/>
                <a:cs typeface="Courier New"/>
              </a:rPr>
              <a:t> bXlzcWw=</a:t>
            </a:r>
            <a:endParaRPr sz="1867">
              <a:solidFill>
                <a:prstClr val="black"/>
              </a:solidFill>
              <a:latin typeface="Courier New"/>
              <a:cs typeface="Courier New"/>
            </a:endParaRPr>
          </a:p>
        </p:txBody>
      </p:sp>
      <p:sp>
        <p:nvSpPr>
          <p:cNvPr id="26" name="object 26"/>
          <p:cNvSpPr txBox="1"/>
          <p:nvPr/>
        </p:nvSpPr>
        <p:spPr>
          <a:xfrm>
            <a:off x="6426878" y="2302425"/>
            <a:ext cx="2447713" cy="305276"/>
          </a:xfrm>
          <a:prstGeom prst="rect">
            <a:avLst/>
          </a:prstGeom>
        </p:spPr>
        <p:txBody>
          <a:bodyPr vert="horz" wrap="square" lIns="0" tIns="17780" rIns="0" bIns="0" rtlCol="0">
            <a:spAutoFit/>
          </a:bodyPr>
          <a:lstStyle/>
          <a:p>
            <a:pPr marL="16933" defTabSz="1219170">
              <a:spcBef>
                <a:spcPts val="140"/>
              </a:spcBef>
            </a:pPr>
            <a:r>
              <a:rPr sz="1867" spc="-7" dirty="0">
                <a:solidFill>
                  <a:srgbClr val="9776AA"/>
                </a:solidFill>
                <a:latin typeface="Courier New"/>
                <a:cs typeface="Courier New"/>
              </a:rPr>
              <a:t>DB_User</a:t>
            </a:r>
            <a:r>
              <a:rPr sz="1867" spc="-7" dirty="0">
                <a:solidFill>
                  <a:srgbClr val="A9B7C5"/>
                </a:solidFill>
                <a:latin typeface="Courier New"/>
                <a:cs typeface="Courier New"/>
              </a:rPr>
              <a:t>:</a:t>
            </a:r>
            <a:r>
              <a:rPr sz="1867" spc="-60" dirty="0">
                <a:solidFill>
                  <a:srgbClr val="A9B7C5"/>
                </a:solidFill>
                <a:latin typeface="Courier New"/>
                <a:cs typeface="Courier New"/>
              </a:rPr>
              <a:t> </a:t>
            </a:r>
            <a:r>
              <a:rPr sz="1867" spc="-13" dirty="0">
                <a:solidFill>
                  <a:srgbClr val="A9B7C5"/>
                </a:solidFill>
                <a:latin typeface="Courier New"/>
                <a:cs typeface="Courier New"/>
              </a:rPr>
              <a:t>cm9vdA==</a:t>
            </a:r>
            <a:endParaRPr sz="1867">
              <a:solidFill>
                <a:prstClr val="black"/>
              </a:solidFill>
              <a:latin typeface="Courier New"/>
              <a:cs typeface="Courier New"/>
            </a:endParaRPr>
          </a:p>
        </p:txBody>
      </p:sp>
      <p:sp>
        <p:nvSpPr>
          <p:cNvPr id="27" name="object 27"/>
          <p:cNvSpPr txBox="1"/>
          <p:nvPr/>
        </p:nvSpPr>
        <p:spPr>
          <a:xfrm>
            <a:off x="6426878" y="2586906"/>
            <a:ext cx="3016673" cy="304421"/>
          </a:xfrm>
          <a:prstGeom prst="rect">
            <a:avLst/>
          </a:prstGeom>
        </p:spPr>
        <p:txBody>
          <a:bodyPr vert="horz" wrap="square" lIns="0" tIns="16933" rIns="0" bIns="0" rtlCol="0">
            <a:spAutoFit/>
          </a:bodyPr>
          <a:lstStyle/>
          <a:p>
            <a:pPr marL="16933" defTabSz="1219170">
              <a:spcBef>
                <a:spcPts val="133"/>
              </a:spcBef>
            </a:pP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93" dirty="0">
                <a:solidFill>
                  <a:srgbClr val="A9B7C5"/>
                </a:solidFill>
                <a:latin typeface="Courier New"/>
                <a:cs typeface="Courier New"/>
              </a:rPr>
              <a:t> </a:t>
            </a:r>
            <a:r>
              <a:rPr sz="1867" spc="-7" dirty="0">
                <a:solidFill>
                  <a:srgbClr val="A9B7C5"/>
                </a:solidFill>
                <a:latin typeface="Courier New"/>
                <a:cs typeface="Courier New"/>
              </a:rPr>
              <a:t>cGFzd3Jk</a:t>
            </a:r>
            <a:endParaRPr sz="1867">
              <a:solidFill>
                <a:prstClr val="black"/>
              </a:solidFill>
              <a:latin typeface="Courier New"/>
              <a:cs typeface="Courier New"/>
            </a:endParaRPr>
          </a:p>
        </p:txBody>
      </p:sp>
      <p:sp>
        <p:nvSpPr>
          <p:cNvPr id="28" name="object 28"/>
          <p:cNvSpPr txBox="1"/>
          <p:nvPr/>
        </p:nvSpPr>
        <p:spPr>
          <a:xfrm>
            <a:off x="961135" y="1956815"/>
            <a:ext cx="2995507" cy="903004"/>
          </a:xfrm>
          <a:prstGeom prst="rect">
            <a:avLst/>
          </a:prstGeom>
          <a:solidFill>
            <a:srgbClr val="2B2B2B"/>
          </a:solidFill>
        </p:spPr>
        <p:txBody>
          <a:bodyPr vert="horz" wrap="square" lIns="0" tIns="40640" rIns="0" bIns="0" rtlCol="0">
            <a:spAutoFit/>
          </a:bodyPr>
          <a:lstStyle/>
          <a:p>
            <a:pPr marL="121070" marR="165096" defTabSz="1219170">
              <a:spcBef>
                <a:spcPts val="320"/>
              </a:spcBef>
            </a:pPr>
            <a:r>
              <a:rPr sz="1867" spc="-7" dirty="0">
                <a:solidFill>
                  <a:srgbClr val="9776AA"/>
                </a:solidFill>
                <a:latin typeface="Courier New"/>
                <a:cs typeface="Courier New"/>
              </a:rPr>
              <a:t>DB_Host</a:t>
            </a:r>
            <a:r>
              <a:rPr sz="1867" spc="-7" dirty="0">
                <a:solidFill>
                  <a:srgbClr val="A9B7C5"/>
                </a:solidFill>
                <a:latin typeface="Courier New"/>
                <a:cs typeface="Courier New"/>
              </a:rPr>
              <a:t>: mysql  </a:t>
            </a:r>
            <a:r>
              <a:rPr sz="1867" spc="-7" dirty="0">
                <a:solidFill>
                  <a:srgbClr val="9776AA"/>
                </a:solidFill>
                <a:latin typeface="Courier New"/>
                <a:cs typeface="Courier New"/>
              </a:rPr>
              <a:t>DB_User</a:t>
            </a:r>
            <a:r>
              <a:rPr sz="1867" spc="-7" dirty="0">
                <a:solidFill>
                  <a:srgbClr val="A9B7C5"/>
                </a:solidFill>
                <a:latin typeface="Courier New"/>
                <a:cs typeface="Courier New"/>
              </a:rPr>
              <a:t>: </a:t>
            </a:r>
            <a:r>
              <a:rPr sz="1867" spc="-13" dirty="0">
                <a:solidFill>
                  <a:srgbClr val="A9B7C5"/>
                </a:solidFill>
                <a:latin typeface="Courier New"/>
                <a:cs typeface="Courier New"/>
              </a:rPr>
              <a:t>root  </a:t>
            </a: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113" dirty="0">
                <a:solidFill>
                  <a:srgbClr val="A9B7C5"/>
                </a:solidFill>
                <a:latin typeface="Courier New"/>
                <a:cs typeface="Courier New"/>
              </a:rPr>
              <a:t> </a:t>
            </a:r>
            <a:r>
              <a:rPr sz="1867" spc="-7" dirty="0">
                <a:solidFill>
                  <a:srgbClr val="A9B7C5"/>
                </a:solidFill>
                <a:latin typeface="Courier New"/>
                <a:cs typeface="Courier New"/>
              </a:rPr>
              <a:t>paswrd</a:t>
            </a:r>
            <a:endParaRPr sz="1867">
              <a:solidFill>
                <a:prstClr val="black"/>
              </a:solidFill>
              <a:latin typeface="Courier New"/>
              <a:cs typeface="Courier New"/>
            </a:endParaRPr>
          </a:p>
        </p:txBody>
      </p:sp>
      <p:grpSp>
        <p:nvGrpSpPr>
          <p:cNvPr id="29" name="object 29"/>
          <p:cNvGrpSpPr/>
          <p:nvPr/>
        </p:nvGrpSpPr>
        <p:grpSpPr>
          <a:xfrm>
            <a:off x="924559" y="2326639"/>
            <a:ext cx="5834380" cy="2091267"/>
            <a:chOff x="693419" y="1744979"/>
            <a:chExt cx="4375785" cy="1568450"/>
          </a:xfrm>
        </p:grpSpPr>
        <p:sp>
          <p:nvSpPr>
            <p:cNvPr id="30" name="object 30"/>
            <p:cNvSpPr/>
            <p:nvPr/>
          </p:nvSpPr>
          <p:spPr>
            <a:xfrm>
              <a:off x="2947415" y="1744979"/>
              <a:ext cx="1676400" cy="699516"/>
            </a:xfrm>
            <a:prstGeom prst="rect">
              <a:avLst/>
            </a:prstGeom>
            <a:blipFill>
              <a:blip r:embed="rId6"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1" name="object 31"/>
            <p:cNvSpPr/>
            <p:nvPr/>
          </p:nvSpPr>
          <p:spPr>
            <a:xfrm>
              <a:off x="3037331" y="1830323"/>
              <a:ext cx="1504315" cy="533400"/>
            </a:xfrm>
            <a:custGeom>
              <a:avLst/>
              <a:gdLst/>
              <a:ahLst/>
              <a:cxnLst/>
              <a:rect l="l" t="t" r="r" b="b"/>
              <a:pathLst>
                <a:path w="1504314" h="533400">
                  <a:moveTo>
                    <a:pt x="266700" y="0"/>
                  </a:moveTo>
                  <a:lnTo>
                    <a:pt x="0" y="266700"/>
                  </a:lnTo>
                  <a:lnTo>
                    <a:pt x="266700" y="533400"/>
                  </a:lnTo>
                  <a:lnTo>
                    <a:pt x="266700" y="400050"/>
                  </a:lnTo>
                  <a:lnTo>
                    <a:pt x="1504188" y="400050"/>
                  </a:lnTo>
                  <a:lnTo>
                    <a:pt x="1504188" y="133350"/>
                  </a:lnTo>
                  <a:lnTo>
                    <a:pt x="266700" y="133350"/>
                  </a:lnTo>
                  <a:lnTo>
                    <a:pt x="266700" y="0"/>
                  </a:lnTo>
                  <a:close/>
                </a:path>
              </a:pathLst>
            </a:custGeom>
            <a:solidFill>
              <a:srgbClr val="483390"/>
            </a:solidFill>
          </p:spPr>
          <p:txBody>
            <a:bodyPr wrap="square" lIns="0" tIns="0" rIns="0" bIns="0" rtlCol="0"/>
            <a:lstStyle/>
            <a:p>
              <a:pPr defTabSz="1219170"/>
              <a:endParaRPr sz="2400">
                <a:solidFill>
                  <a:prstClr val="black"/>
                </a:solidFill>
                <a:latin typeface="Calibri"/>
              </a:endParaRPr>
            </a:p>
          </p:txBody>
        </p:sp>
        <p:sp>
          <p:nvSpPr>
            <p:cNvPr id="32" name="object 32"/>
            <p:cNvSpPr/>
            <p:nvPr/>
          </p:nvSpPr>
          <p:spPr>
            <a:xfrm>
              <a:off x="3037331" y="1830323"/>
              <a:ext cx="1504315" cy="533400"/>
            </a:xfrm>
            <a:custGeom>
              <a:avLst/>
              <a:gdLst/>
              <a:ahLst/>
              <a:cxnLst/>
              <a:rect l="l" t="t" r="r" b="b"/>
              <a:pathLst>
                <a:path w="1504314" h="533400">
                  <a:moveTo>
                    <a:pt x="1504188" y="133350"/>
                  </a:moveTo>
                  <a:lnTo>
                    <a:pt x="266700" y="133350"/>
                  </a:lnTo>
                  <a:lnTo>
                    <a:pt x="266700" y="0"/>
                  </a:lnTo>
                  <a:lnTo>
                    <a:pt x="0" y="266700"/>
                  </a:lnTo>
                  <a:lnTo>
                    <a:pt x="266700" y="533400"/>
                  </a:lnTo>
                  <a:lnTo>
                    <a:pt x="266700" y="400050"/>
                  </a:lnTo>
                  <a:lnTo>
                    <a:pt x="1504188" y="400050"/>
                  </a:lnTo>
                  <a:lnTo>
                    <a:pt x="1504188" y="133350"/>
                  </a:lnTo>
                  <a:close/>
                </a:path>
              </a:pathLst>
            </a:custGeom>
            <a:ln w="12192">
              <a:solidFill>
                <a:srgbClr val="332268"/>
              </a:solidFill>
            </a:ln>
          </p:spPr>
          <p:txBody>
            <a:bodyPr wrap="square" lIns="0" tIns="0" rIns="0" bIns="0" rtlCol="0"/>
            <a:lstStyle/>
            <a:p>
              <a:pPr defTabSz="1219170"/>
              <a:endParaRPr sz="2400">
                <a:solidFill>
                  <a:prstClr val="black"/>
                </a:solidFill>
                <a:latin typeface="Calibri"/>
              </a:endParaRPr>
            </a:p>
          </p:txBody>
        </p:sp>
        <p:sp>
          <p:nvSpPr>
            <p:cNvPr id="33" name="object 33"/>
            <p:cNvSpPr/>
            <p:nvPr/>
          </p:nvSpPr>
          <p:spPr>
            <a:xfrm>
              <a:off x="693419" y="2921507"/>
              <a:ext cx="4375404" cy="361188"/>
            </a:xfrm>
            <a:prstGeom prst="rect">
              <a:avLst/>
            </a:prstGeom>
            <a:blipFill>
              <a:blip r:embed="rId7"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4" name="object 34"/>
            <p:cNvSpPr/>
            <p:nvPr/>
          </p:nvSpPr>
          <p:spPr>
            <a:xfrm>
              <a:off x="851915" y="2929077"/>
              <a:ext cx="2839212" cy="384098"/>
            </a:xfrm>
            <a:prstGeom prst="rect">
              <a:avLst/>
            </a:prstGeom>
            <a:blipFill>
              <a:blip r:embed="rId8"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35" name="object 35"/>
            <p:cNvSpPr/>
            <p:nvPr/>
          </p:nvSpPr>
          <p:spPr>
            <a:xfrm>
              <a:off x="752855" y="2961131"/>
              <a:ext cx="4261485" cy="248920"/>
            </a:xfrm>
            <a:custGeom>
              <a:avLst/>
              <a:gdLst/>
              <a:ahLst/>
              <a:cxnLst/>
              <a:rect l="l" t="t" r="r" b="b"/>
              <a:pathLst>
                <a:path w="4261485" h="248919">
                  <a:moveTo>
                    <a:pt x="4261104" y="0"/>
                  </a:moveTo>
                  <a:lnTo>
                    <a:pt x="0" y="0"/>
                  </a:lnTo>
                  <a:lnTo>
                    <a:pt x="0" y="248412"/>
                  </a:lnTo>
                  <a:lnTo>
                    <a:pt x="4261104" y="248412"/>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36" name="object 36"/>
          <p:cNvSpPr txBox="1"/>
          <p:nvPr/>
        </p:nvSpPr>
        <p:spPr>
          <a:xfrm>
            <a:off x="994665" y="3948177"/>
            <a:ext cx="4366260" cy="260691"/>
          </a:xfrm>
          <a:prstGeom prst="rect">
            <a:avLst/>
          </a:prstGeom>
        </p:spPr>
        <p:txBody>
          <a:bodyPr vert="horz" wrap="square" lIns="0" tIns="55033" rIns="0" bIns="0" rtlCol="0">
            <a:spAutoFit/>
          </a:bodyPr>
          <a:lstStyle/>
          <a:p>
            <a:pPr marL="322572" defTabSz="1219170">
              <a:spcBef>
                <a:spcPts val="433"/>
              </a:spcBef>
            </a:pPr>
            <a:r>
              <a:rPr sz="1333" spc="13" dirty="0">
                <a:solidFill>
                  <a:srgbClr val="D9D9D9"/>
                </a:solidFill>
                <a:latin typeface="Arial"/>
                <a:cs typeface="Arial"/>
              </a:rPr>
              <a:t>echo </a:t>
            </a:r>
            <a:r>
              <a:rPr sz="1333" dirty="0">
                <a:solidFill>
                  <a:srgbClr val="D9D9D9"/>
                </a:solidFill>
                <a:latin typeface="Arial"/>
                <a:cs typeface="Arial"/>
              </a:rPr>
              <a:t>–n </a:t>
            </a:r>
            <a:r>
              <a:rPr sz="1333" spc="53" dirty="0">
                <a:solidFill>
                  <a:srgbClr val="D9D9D9"/>
                </a:solidFill>
                <a:latin typeface="Arial"/>
                <a:cs typeface="Arial"/>
              </a:rPr>
              <a:t>‘bXlzcWw=’ </a:t>
            </a:r>
            <a:r>
              <a:rPr sz="1333" spc="387" dirty="0">
                <a:solidFill>
                  <a:srgbClr val="D9D9D9"/>
                </a:solidFill>
                <a:latin typeface="Arial"/>
                <a:cs typeface="Arial"/>
              </a:rPr>
              <a:t>| </a:t>
            </a:r>
            <a:r>
              <a:rPr sz="1333" spc="13" dirty="0">
                <a:solidFill>
                  <a:srgbClr val="D9D9D9"/>
                </a:solidFill>
                <a:latin typeface="Arial"/>
                <a:cs typeface="Arial"/>
              </a:rPr>
              <a:t>base64</a:t>
            </a:r>
            <a:r>
              <a:rPr sz="1333" spc="327" dirty="0">
                <a:solidFill>
                  <a:srgbClr val="D9D9D9"/>
                </a:solidFill>
                <a:latin typeface="Arial"/>
                <a:cs typeface="Arial"/>
              </a:rPr>
              <a:t> </a:t>
            </a:r>
            <a:r>
              <a:rPr sz="1333" spc="80" dirty="0">
                <a:solidFill>
                  <a:srgbClr val="D9D9D9"/>
                </a:solidFill>
                <a:latin typeface="Arial"/>
                <a:cs typeface="Arial"/>
              </a:rPr>
              <a:t>--decode</a:t>
            </a:r>
            <a:endParaRPr sz="1333">
              <a:solidFill>
                <a:prstClr val="black"/>
              </a:solidFill>
              <a:latin typeface="Arial"/>
              <a:cs typeface="Arial"/>
            </a:endParaRPr>
          </a:p>
        </p:txBody>
      </p:sp>
      <p:grpSp>
        <p:nvGrpSpPr>
          <p:cNvPr id="37" name="object 37"/>
          <p:cNvGrpSpPr/>
          <p:nvPr/>
        </p:nvGrpSpPr>
        <p:grpSpPr>
          <a:xfrm>
            <a:off x="995341" y="3964481"/>
            <a:ext cx="5698913" cy="655320"/>
            <a:chOff x="746505" y="2973361"/>
            <a:chExt cx="4274185" cy="491490"/>
          </a:xfrm>
        </p:grpSpPr>
        <p:sp>
          <p:nvSpPr>
            <p:cNvPr id="38" name="object 38"/>
            <p:cNvSpPr/>
            <p:nvPr/>
          </p:nvSpPr>
          <p:spPr>
            <a:xfrm>
              <a:off x="771468" y="2973361"/>
              <a:ext cx="160020" cy="205740"/>
            </a:xfrm>
            <a:custGeom>
              <a:avLst/>
              <a:gdLst/>
              <a:ahLst/>
              <a:cxnLst/>
              <a:rect l="l" t="t" r="r" b="b"/>
              <a:pathLst>
                <a:path w="160019"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39" name="object 39"/>
            <p:cNvSpPr/>
            <p:nvPr/>
          </p:nvSpPr>
          <p:spPr>
            <a:xfrm>
              <a:off x="752855" y="3212591"/>
              <a:ext cx="4261485" cy="245745"/>
            </a:xfrm>
            <a:custGeom>
              <a:avLst/>
              <a:gdLst/>
              <a:ahLst/>
              <a:cxnLst/>
              <a:rect l="l" t="t" r="r" b="b"/>
              <a:pathLst>
                <a:path w="4261485" h="245745">
                  <a:moveTo>
                    <a:pt x="4261104" y="0"/>
                  </a:moveTo>
                  <a:lnTo>
                    <a:pt x="0" y="0"/>
                  </a:lnTo>
                  <a:lnTo>
                    <a:pt x="0" y="245363"/>
                  </a:lnTo>
                  <a:lnTo>
                    <a:pt x="4261104" y="245363"/>
                  </a:lnTo>
                  <a:lnTo>
                    <a:pt x="4261104"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40" name="object 40"/>
            <p:cNvSpPr/>
            <p:nvPr/>
          </p:nvSpPr>
          <p:spPr>
            <a:xfrm>
              <a:off x="752855" y="3212591"/>
              <a:ext cx="4261485" cy="245745"/>
            </a:xfrm>
            <a:custGeom>
              <a:avLst/>
              <a:gdLst/>
              <a:ahLst/>
              <a:cxnLst/>
              <a:rect l="l" t="t" r="r" b="b"/>
              <a:pathLst>
                <a:path w="4261485" h="245745">
                  <a:moveTo>
                    <a:pt x="0" y="245363"/>
                  </a:moveTo>
                  <a:lnTo>
                    <a:pt x="4261104" y="245363"/>
                  </a:lnTo>
                  <a:lnTo>
                    <a:pt x="4261104" y="0"/>
                  </a:lnTo>
                  <a:lnTo>
                    <a:pt x="0" y="0"/>
                  </a:lnTo>
                  <a:lnTo>
                    <a:pt x="0" y="245363"/>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41" name="object 41"/>
          <p:cNvSpPr txBox="1"/>
          <p:nvPr/>
        </p:nvSpPr>
        <p:spPr>
          <a:xfrm>
            <a:off x="994665" y="4279393"/>
            <a:ext cx="4366260" cy="261546"/>
          </a:xfrm>
          <a:prstGeom prst="rect">
            <a:avLst/>
          </a:prstGeom>
        </p:spPr>
        <p:txBody>
          <a:bodyPr vert="horz" wrap="square" lIns="0" tIns="55880" rIns="0" bIns="0" rtlCol="0">
            <a:spAutoFit/>
          </a:bodyPr>
          <a:lstStyle/>
          <a:p>
            <a:pPr marL="131230" defTabSz="1219170">
              <a:spcBef>
                <a:spcPts val="440"/>
              </a:spcBef>
            </a:pPr>
            <a:r>
              <a:rPr sz="1333" spc="33" dirty="0">
                <a:solidFill>
                  <a:srgbClr val="FFFFFF"/>
                </a:solidFill>
                <a:latin typeface="Arial"/>
                <a:cs typeface="Arial"/>
              </a:rPr>
              <a:t>mysql</a:t>
            </a:r>
            <a:endParaRPr sz="1333">
              <a:solidFill>
                <a:prstClr val="black"/>
              </a:solidFill>
              <a:latin typeface="Arial"/>
              <a:cs typeface="Arial"/>
            </a:endParaRPr>
          </a:p>
        </p:txBody>
      </p:sp>
      <p:grpSp>
        <p:nvGrpSpPr>
          <p:cNvPr id="42" name="object 42"/>
          <p:cNvGrpSpPr/>
          <p:nvPr/>
        </p:nvGrpSpPr>
        <p:grpSpPr>
          <a:xfrm>
            <a:off x="922527" y="4876801"/>
            <a:ext cx="5834380" cy="532553"/>
            <a:chOff x="691895" y="3657600"/>
            <a:chExt cx="4375785" cy="399415"/>
          </a:xfrm>
        </p:grpSpPr>
        <p:sp>
          <p:nvSpPr>
            <p:cNvPr id="43" name="object 43"/>
            <p:cNvSpPr/>
            <p:nvPr/>
          </p:nvSpPr>
          <p:spPr>
            <a:xfrm>
              <a:off x="691895" y="3657600"/>
              <a:ext cx="4375404" cy="365810"/>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4" name="object 44"/>
            <p:cNvSpPr/>
            <p:nvPr/>
          </p:nvSpPr>
          <p:spPr>
            <a:xfrm>
              <a:off x="848867" y="3660647"/>
              <a:ext cx="2855976" cy="396252"/>
            </a:xfrm>
            <a:prstGeom prst="rect">
              <a:avLst/>
            </a:prstGeom>
            <a:blipFill>
              <a:blip r:embed="rId9"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45" name="object 45"/>
            <p:cNvSpPr/>
            <p:nvPr/>
          </p:nvSpPr>
          <p:spPr>
            <a:xfrm>
              <a:off x="751331" y="3697223"/>
              <a:ext cx="4261485" cy="253365"/>
            </a:xfrm>
            <a:custGeom>
              <a:avLst/>
              <a:gdLst/>
              <a:ahLst/>
              <a:cxnLst/>
              <a:rect l="l" t="t" r="r" b="b"/>
              <a:pathLst>
                <a:path w="4261485" h="253364">
                  <a:moveTo>
                    <a:pt x="4261104" y="0"/>
                  </a:moveTo>
                  <a:lnTo>
                    <a:pt x="0" y="0"/>
                  </a:lnTo>
                  <a:lnTo>
                    <a:pt x="0" y="252984"/>
                  </a:lnTo>
                  <a:lnTo>
                    <a:pt x="4261104" y="252984"/>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46" name="object 46"/>
          <p:cNvSpPr txBox="1"/>
          <p:nvPr/>
        </p:nvSpPr>
        <p:spPr>
          <a:xfrm>
            <a:off x="994665" y="4929631"/>
            <a:ext cx="4366260" cy="266740"/>
          </a:xfrm>
          <a:prstGeom prst="rect">
            <a:avLst/>
          </a:prstGeom>
        </p:spPr>
        <p:txBody>
          <a:bodyPr vert="horz" wrap="square" lIns="0" tIns="50800" rIns="0" bIns="0" rtlCol="0">
            <a:spAutoFit/>
          </a:bodyPr>
          <a:lstStyle/>
          <a:p>
            <a:pPr marL="319185" defTabSz="1219170">
              <a:spcBef>
                <a:spcPts val="400"/>
              </a:spcBef>
            </a:pPr>
            <a:r>
              <a:rPr sz="1333" spc="13" dirty="0">
                <a:solidFill>
                  <a:srgbClr val="D9D9D9"/>
                </a:solidFill>
                <a:latin typeface="Arial"/>
                <a:cs typeface="Arial"/>
              </a:rPr>
              <a:t>echo </a:t>
            </a:r>
            <a:r>
              <a:rPr sz="1333" dirty="0">
                <a:solidFill>
                  <a:srgbClr val="D9D9D9"/>
                </a:solidFill>
                <a:latin typeface="Arial"/>
                <a:cs typeface="Arial"/>
              </a:rPr>
              <a:t>–n </a:t>
            </a:r>
            <a:r>
              <a:rPr sz="1333" spc="47" dirty="0">
                <a:solidFill>
                  <a:srgbClr val="D9D9D9"/>
                </a:solidFill>
                <a:latin typeface="Arial"/>
                <a:cs typeface="Arial"/>
              </a:rPr>
              <a:t>‘cm9vdA==’ </a:t>
            </a:r>
            <a:r>
              <a:rPr sz="1333" spc="387" dirty="0">
                <a:solidFill>
                  <a:srgbClr val="D9D9D9"/>
                </a:solidFill>
                <a:latin typeface="Arial"/>
                <a:cs typeface="Arial"/>
              </a:rPr>
              <a:t>| </a:t>
            </a:r>
            <a:r>
              <a:rPr sz="1333" spc="13" dirty="0">
                <a:solidFill>
                  <a:srgbClr val="D9D9D9"/>
                </a:solidFill>
                <a:latin typeface="Arial"/>
                <a:cs typeface="Arial"/>
              </a:rPr>
              <a:t>base64</a:t>
            </a:r>
            <a:r>
              <a:rPr sz="1333" spc="300" dirty="0">
                <a:solidFill>
                  <a:srgbClr val="D9D9D9"/>
                </a:solidFill>
                <a:latin typeface="Arial"/>
                <a:cs typeface="Arial"/>
              </a:rPr>
              <a:t> </a:t>
            </a:r>
            <a:r>
              <a:rPr sz="1400" spc="73" dirty="0">
                <a:solidFill>
                  <a:srgbClr val="D9D9D9"/>
                </a:solidFill>
                <a:latin typeface="Arial"/>
                <a:cs typeface="Arial"/>
              </a:rPr>
              <a:t>--decode</a:t>
            </a:r>
            <a:endParaRPr sz="1400">
              <a:solidFill>
                <a:prstClr val="black"/>
              </a:solidFill>
              <a:latin typeface="Arial"/>
              <a:cs typeface="Arial"/>
            </a:endParaRPr>
          </a:p>
        </p:txBody>
      </p:sp>
      <p:grpSp>
        <p:nvGrpSpPr>
          <p:cNvPr id="47" name="object 47"/>
          <p:cNvGrpSpPr/>
          <p:nvPr/>
        </p:nvGrpSpPr>
        <p:grpSpPr>
          <a:xfrm>
            <a:off x="993309" y="4945937"/>
            <a:ext cx="5698913" cy="655320"/>
            <a:chOff x="744981" y="3709453"/>
            <a:chExt cx="4274185" cy="491490"/>
          </a:xfrm>
        </p:grpSpPr>
        <p:sp>
          <p:nvSpPr>
            <p:cNvPr id="48" name="object 48"/>
            <p:cNvSpPr/>
            <p:nvPr/>
          </p:nvSpPr>
          <p:spPr>
            <a:xfrm>
              <a:off x="768420" y="3709453"/>
              <a:ext cx="160020" cy="205740"/>
            </a:xfrm>
            <a:custGeom>
              <a:avLst/>
              <a:gdLst/>
              <a:ahLst/>
              <a:cxnLst/>
              <a:rect l="l" t="t" r="r" b="b"/>
              <a:pathLst>
                <a:path w="160019"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49" name="object 49"/>
            <p:cNvSpPr/>
            <p:nvPr/>
          </p:nvSpPr>
          <p:spPr>
            <a:xfrm>
              <a:off x="751331" y="3948683"/>
              <a:ext cx="4261485" cy="245745"/>
            </a:xfrm>
            <a:custGeom>
              <a:avLst/>
              <a:gdLst/>
              <a:ahLst/>
              <a:cxnLst/>
              <a:rect l="l" t="t" r="r" b="b"/>
              <a:pathLst>
                <a:path w="4261485" h="245745">
                  <a:moveTo>
                    <a:pt x="4261104" y="0"/>
                  </a:moveTo>
                  <a:lnTo>
                    <a:pt x="0" y="0"/>
                  </a:lnTo>
                  <a:lnTo>
                    <a:pt x="0" y="245364"/>
                  </a:lnTo>
                  <a:lnTo>
                    <a:pt x="4261104" y="245364"/>
                  </a:lnTo>
                  <a:lnTo>
                    <a:pt x="4261104"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50" name="object 50"/>
            <p:cNvSpPr/>
            <p:nvPr/>
          </p:nvSpPr>
          <p:spPr>
            <a:xfrm>
              <a:off x="751331" y="3948683"/>
              <a:ext cx="4261485" cy="245745"/>
            </a:xfrm>
            <a:custGeom>
              <a:avLst/>
              <a:gdLst/>
              <a:ahLst/>
              <a:cxnLst/>
              <a:rect l="l" t="t" r="r" b="b"/>
              <a:pathLst>
                <a:path w="4261485" h="245745">
                  <a:moveTo>
                    <a:pt x="0" y="245364"/>
                  </a:moveTo>
                  <a:lnTo>
                    <a:pt x="4261104" y="245364"/>
                  </a:lnTo>
                  <a:lnTo>
                    <a:pt x="4261104" y="0"/>
                  </a:lnTo>
                  <a:lnTo>
                    <a:pt x="0" y="0"/>
                  </a:lnTo>
                  <a:lnTo>
                    <a:pt x="0" y="245364"/>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51" name="object 51"/>
          <p:cNvSpPr txBox="1"/>
          <p:nvPr/>
        </p:nvSpPr>
        <p:spPr>
          <a:xfrm>
            <a:off x="1122883" y="5301217"/>
            <a:ext cx="391160" cy="221365"/>
          </a:xfrm>
          <a:prstGeom prst="rect">
            <a:avLst/>
          </a:prstGeom>
        </p:spPr>
        <p:txBody>
          <a:bodyPr vert="horz" wrap="square" lIns="0" tIns="16087" rIns="0" bIns="0" rtlCol="0">
            <a:spAutoFit/>
          </a:bodyPr>
          <a:lstStyle/>
          <a:p>
            <a:pPr defTabSz="1219170">
              <a:spcBef>
                <a:spcPts val="127"/>
              </a:spcBef>
            </a:pPr>
            <a:r>
              <a:rPr sz="1333" spc="152" dirty="0">
                <a:solidFill>
                  <a:srgbClr val="FFFFFF"/>
                </a:solidFill>
                <a:latin typeface="Arial"/>
                <a:cs typeface="Arial"/>
              </a:rPr>
              <a:t>root</a:t>
            </a:r>
            <a:endParaRPr sz="1333">
              <a:solidFill>
                <a:prstClr val="black"/>
              </a:solidFill>
              <a:latin typeface="Arial"/>
              <a:cs typeface="Arial"/>
            </a:endParaRPr>
          </a:p>
        </p:txBody>
      </p:sp>
      <p:grpSp>
        <p:nvGrpSpPr>
          <p:cNvPr id="52" name="object 52"/>
          <p:cNvGrpSpPr/>
          <p:nvPr/>
        </p:nvGrpSpPr>
        <p:grpSpPr>
          <a:xfrm>
            <a:off x="922527" y="5831840"/>
            <a:ext cx="5834380" cy="532553"/>
            <a:chOff x="691895" y="4373879"/>
            <a:chExt cx="4375785" cy="399415"/>
          </a:xfrm>
        </p:grpSpPr>
        <p:sp>
          <p:nvSpPr>
            <p:cNvPr id="53" name="object 53"/>
            <p:cNvSpPr/>
            <p:nvPr/>
          </p:nvSpPr>
          <p:spPr>
            <a:xfrm>
              <a:off x="691895" y="4373879"/>
              <a:ext cx="4375404" cy="365810"/>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4" name="object 54"/>
            <p:cNvSpPr/>
            <p:nvPr/>
          </p:nvSpPr>
          <p:spPr>
            <a:xfrm>
              <a:off x="848867" y="4376927"/>
              <a:ext cx="2855976" cy="396252"/>
            </a:xfrm>
            <a:prstGeom prst="rect">
              <a:avLst/>
            </a:prstGeom>
            <a:blipFill>
              <a:blip r:embed="rId10"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55" name="object 55"/>
            <p:cNvSpPr/>
            <p:nvPr/>
          </p:nvSpPr>
          <p:spPr>
            <a:xfrm>
              <a:off x="751331" y="4413503"/>
              <a:ext cx="4261485" cy="253365"/>
            </a:xfrm>
            <a:custGeom>
              <a:avLst/>
              <a:gdLst/>
              <a:ahLst/>
              <a:cxnLst/>
              <a:rect l="l" t="t" r="r" b="b"/>
              <a:pathLst>
                <a:path w="4261485" h="253364">
                  <a:moveTo>
                    <a:pt x="4261104" y="0"/>
                  </a:moveTo>
                  <a:lnTo>
                    <a:pt x="0" y="0"/>
                  </a:lnTo>
                  <a:lnTo>
                    <a:pt x="0" y="252984"/>
                  </a:lnTo>
                  <a:lnTo>
                    <a:pt x="4261104" y="252984"/>
                  </a:lnTo>
                  <a:lnTo>
                    <a:pt x="4261104"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56" name="object 56"/>
          <p:cNvSpPr txBox="1"/>
          <p:nvPr/>
        </p:nvSpPr>
        <p:spPr>
          <a:xfrm>
            <a:off x="993649" y="5884671"/>
            <a:ext cx="4361180" cy="266740"/>
          </a:xfrm>
          <a:prstGeom prst="rect">
            <a:avLst/>
          </a:prstGeom>
        </p:spPr>
        <p:txBody>
          <a:bodyPr vert="horz" wrap="square" lIns="0" tIns="50800" rIns="0" bIns="0" rtlCol="0">
            <a:spAutoFit/>
          </a:bodyPr>
          <a:lstStyle/>
          <a:p>
            <a:pPr marL="320031" defTabSz="1219170">
              <a:spcBef>
                <a:spcPts val="400"/>
              </a:spcBef>
            </a:pPr>
            <a:r>
              <a:rPr sz="1333" spc="13" dirty="0">
                <a:solidFill>
                  <a:srgbClr val="D9D9D9"/>
                </a:solidFill>
                <a:latin typeface="Arial"/>
                <a:cs typeface="Arial"/>
              </a:rPr>
              <a:t>echo </a:t>
            </a:r>
            <a:r>
              <a:rPr sz="1333" dirty="0">
                <a:solidFill>
                  <a:srgbClr val="D9D9D9"/>
                </a:solidFill>
                <a:latin typeface="Arial"/>
                <a:cs typeface="Arial"/>
              </a:rPr>
              <a:t>–n </a:t>
            </a:r>
            <a:r>
              <a:rPr sz="1333" spc="80" dirty="0">
                <a:solidFill>
                  <a:srgbClr val="D9D9D9"/>
                </a:solidFill>
                <a:latin typeface="Arial"/>
                <a:cs typeface="Arial"/>
              </a:rPr>
              <a:t>‘cGFzd3Jk’ </a:t>
            </a:r>
            <a:r>
              <a:rPr sz="1333" spc="393" dirty="0">
                <a:solidFill>
                  <a:srgbClr val="D9D9D9"/>
                </a:solidFill>
                <a:latin typeface="Arial"/>
                <a:cs typeface="Arial"/>
              </a:rPr>
              <a:t>| </a:t>
            </a:r>
            <a:r>
              <a:rPr sz="1333" spc="13" dirty="0">
                <a:solidFill>
                  <a:srgbClr val="D9D9D9"/>
                </a:solidFill>
                <a:latin typeface="Arial"/>
                <a:cs typeface="Arial"/>
              </a:rPr>
              <a:t>base64</a:t>
            </a:r>
            <a:r>
              <a:rPr sz="1333" spc="247" dirty="0">
                <a:solidFill>
                  <a:srgbClr val="D9D9D9"/>
                </a:solidFill>
                <a:latin typeface="Arial"/>
                <a:cs typeface="Arial"/>
              </a:rPr>
              <a:t> </a:t>
            </a:r>
            <a:r>
              <a:rPr sz="1400" spc="67" dirty="0">
                <a:solidFill>
                  <a:srgbClr val="D9D9D9"/>
                </a:solidFill>
                <a:latin typeface="Arial"/>
                <a:cs typeface="Arial"/>
              </a:rPr>
              <a:t>--decode</a:t>
            </a:r>
            <a:endParaRPr sz="1400">
              <a:solidFill>
                <a:prstClr val="black"/>
              </a:solidFill>
              <a:latin typeface="Arial"/>
              <a:cs typeface="Arial"/>
            </a:endParaRPr>
          </a:p>
        </p:txBody>
      </p:sp>
      <p:grpSp>
        <p:nvGrpSpPr>
          <p:cNvPr id="57" name="object 57"/>
          <p:cNvGrpSpPr/>
          <p:nvPr/>
        </p:nvGrpSpPr>
        <p:grpSpPr>
          <a:xfrm>
            <a:off x="993648" y="5900978"/>
            <a:ext cx="5698067" cy="654473"/>
            <a:chOff x="745236" y="4425733"/>
            <a:chExt cx="4273550" cy="490855"/>
          </a:xfrm>
        </p:grpSpPr>
        <p:sp>
          <p:nvSpPr>
            <p:cNvPr id="58" name="object 58"/>
            <p:cNvSpPr/>
            <p:nvPr/>
          </p:nvSpPr>
          <p:spPr>
            <a:xfrm>
              <a:off x="768420" y="4425733"/>
              <a:ext cx="160020" cy="205740"/>
            </a:xfrm>
            <a:custGeom>
              <a:avLst/>
              <a:gdLst/>
              <a:ahLst/>
              <a:cxnLst/>
              <a:rect l="l" t="t" r="r" b="b"/>
              <a:pathLst>
                <a:path w="160019"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59" name="object 59"/>
            <p:cNvSpPr/>
            <p:nvPr/>
          </p:nvSpPr>
          <p:spPr>
            <a:xfrm>
              <a:off x="751332" y="4664964"/>
              <a:ext cx="4261485" cy="245745"/>
            </a:xfrm>
            <a:custGeom>
              <a:avLst/>
              <a:gdLst/>
              <a:ahLst/>
              <a:cxnLst/>
              <a:rect l="l" t="t" r="r" b="b"/>
              <a:pathLst>
                <a:path w="4261485" h="245745">
                  <a:moveTo>
                    <a:pt x="4261104" y="0"/>
                  </a:moveTo>
                  <a:lnTo>
                    <a:pt x="0" y="0"/>
                  </a:lnTo>
                  <a:lnTo>
                    <a:pt x="0" y="245364"/>
                  </a:lnTo>
                  <a:lnTo>
                    <a:pt x="4261104" y="245364"/>
                  </a:lnTo>
                  <a:lnTo>
                    <a:pt x="4261104"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60" name="object 60"/>
            <p:cNvSpPr/>
            <p:nvPr/>
          </p:nvSpPr>
          <p:spPr>
            <a:xfrm>
              <a:off x="751332" y="4664964"/>
              <a:ext cx="4261485" cy="245745"/>
            </a:xfrm>
            <a:custGeom>
              <a:avLst/>
              <a:gdLst/>
              <a:ahLst/>
              <a:cxnLst/>
              <a:rect l="l" t="t" r="r" b="b"/>
              <a:pathLst>
                <a:path w="4261485" h="245745">
                  <a:moveTo>
                    <a:pt x="0" y="245364"/>
                  </a:moveTo>
                  <a:lnTo>
                    <a:pt x="4261104" y="245364"/>
                  </a:lnTo>
                  <a:lnTo>
                    <a:pt x="4261104" y="0"/>
                  </a:lnTo>
                  <a:lnTo>
                    <a:pt x="0" y="0"/>
                  </a:lnTo>
                  <a:lnTo>
                    <a:pt x="0" y="245364"/>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61" name="object 61"/>
          <p:cNvSpPr txBox="1"/>
          <p:nvPr/>
        </p:nvSpPr>
        <p:spPr>
          <a:xfrm>
            <a:off x="993648" y="6356095"/>
            <a:ext cx="5698067" cy="115416"/>
          </a:xfrm>
          <a:prstGeom prst="rect">
            <a:avLst/>
          </a:prstGeom>
        </p:spPr>
        <p:txBody>
          <a:bodyPr vert="horz" wrap="square" lIns="0" tIns="0" rIns="0" bIns="0" rtlCol="0">
            <a:spAutoFit/>
          </a:bodyPr>
          <a:lstStyle/>
          <a:p>
            <a:pPr marL="128690" defTabSz="1219170">
              <a:lnSpc>
                <a:spcPts val="947"/>
              </a:lnSpc>
            </a:pPr>
            <a:r>
              <a:rPr sz="1333" spc="13" dirty="0">
                <a:solidFill>
                  <a:srgbClr val="FFFFFF"/>
                </a:solidFill>
                <a:latin typeface="Arial"/>
                <a:cs typeface="Arial"/>
              </a:rPr>
              <a:t>paswrd</a:t>
            </a:r>
            <a:endParaRPr sz="1333">
              <a:solidFill>
                <a:prstClr val="black"/>
              </a:solidFill>
              <a:latin typeface="Arial"/>
              <a:cs typeface="Arial"/>
            </a:endParaRPr>
          </a:p>
        </p:txBody>
      </p:sp>
    </p:spTree>
    <p:extLst>
      <p:ext uri="{BB962C8B-B14F-4D97-AF65-F5344CB8AC3E}">
        <p14:creationId xmlns:p14="http://schemas.microsoft.com/office/powerpoint/2010/main" val="33410232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26137"/>
            <a:ext cx="4360333" cy="694207"/>
          </a:xfrm>
          <a:prstGeom prst="rect">
            <a:avLst/>
          </a:prstGeom>
        </p:spPr>
        <p:txBody>
          <a:bodyPr vert="horz" wrap="square" lIns="0" tIns="16933" rIns="0" bIns="0" rtlCol="0">
            <a:spAutoFit/>
          </a:bodyPr>
          <a:lstStyle/>
          <a:p>
            <a:pPr marL="16933">
              <a:spcBef>
                <a:spcPts val="133"/>
              </a:spcBef>
            </a:pPr>
            <a:r>
              <a:rPr spc="13" dirty="0">
                <a:solidFill>
                  <a:schemeClr val="tx1"/>
                </a:solidFill>
              </a:rPr>
              <a:t>Secrets </a:t>
            </a:r>
            <a:r>
              <a:rPr spc="27" dirty="0">
                <a:solidFill>
                  <a:schemeClr val="tx1"/>
                </a:solidFill>
              </a:rPr>
              <a:t>in</a:t>
            </a:r>
            <a:r>
              <a:rPr spc="-820" dirty="0">
                <a:solidFill>
                  <a:schemeClr val="tx1"/>
                </a:solidFill>
              </a:rPr>
              <a:t> </a:t>
            </a:r>
            <a:r>
              <a:rPr spc="173" dirty="0">
                <a:solidFill>
                  <a:schemeClr val="tx1"/>
                </a:solidFill>
              </a:rPr>
              <a:t>Pods</a:t>
            </a:r>
          </a:p>
        </p:txBody>
      </p:sp>
      <p:sp>
        <p:nvSpPr>
          <p:cNvPr id="4" name="object 4"/>
          <p:cNvSpPr/>
          <p:nvPr/>
        </p:nvSpPr>
        <p:spPr>
          <a:xfrm>
            <a:off x="9968992" y="5080000"/>
            <a:ext cx="1083733" cy="1087120"/>
          </a:xfrm>
          <a:custGeom>
            <a:avLst/>
            <a:gdLst/>
            <a:ahLst/>
            <a:cxnLst/>
            <a:rect l="l" t="t" r="r" b="b"/>
            <a:pathLst>
              <a:path w="812800" h="815339">
                <a:moveTo>
                  <a:pt x="812292" y="404444"/>
                </a:moveTo>
                <a:lnTo>
                  <a:pt x="809078" y="354076"/>
                </a:lnTo>
                <a:lnTo>
                  <a:pt x="799668" y="305028"/>
                </a:lnTo>
                <a:lnTo>
                  <a:pt x="784326" y="257759"/>
                </a:lnTo>
                <a:lnTo>
                  <a:pt x="763346" y="212750"/>
                </a:lnTo>
                <a:lnTo>
                  <a:pt x="752983" y="196126"/>
                </a:lnTo>
                <a:lnTo>
                  <a:pt x="752983" y="408520"/>
                </a:lnTo>
                <a:lnTo>
                  <a:pt x="749808" y="455612"/>
                </a:lnTo>
                <a:lnTo>
                  <a:pt x="740562" y="500786"/>
                </a:lnTo>
                <a:lnTo>
                  <a:pt x="725678" y="543648"/>
                </a:lnTo>
                <a:lnTo>
                  <a:pt x="705561" y="583768"/>
                </a:lnTo>
                <a:lnTo>
                  <a:pt x="680618" y="620737"/>
                </a:lnTo>
                <a:lnTo>
                  <a:pt x="651281" y="654138"/>
                </a:lnTo>
                <a:lnTo>
                  <a:pt x="617956" y="683539"/>
                </a:lnTo>
                <a:lnTo>
                  <a:pt x="581063" y="708533"/>
                </a:lnTo>
                <a:lnTo>
                  <a:pt x="541020" y="728700"/>
                </a:lnTo>
                <a:lnTo>
                  <a:pt x="498246" y="743623"/>
                </a:lnTo>
                <a:lnTo>
                  <a:pt x="453136" y="752881"/>
                </a:lnTo>
                <a:lnTo>
                  <a:pt x="406146" y="756056"/>
                </a:lnTo>
                <a:lnTo>
                  <a:pt x="359143" y="752881"/>
                </a:lnTo>
                <a:lnTo>
                  <a:pt x="314032" y="743623"/>
                </a:lnTo>
                <a:lnTo>
                  <a:pt x="271259" y="728700"/>
                </a:lnTo>
                <a:lnTo>
                  <a:pt x="231216" y="708533"/>
                </a:lnTo>
                <a:lnTo>
                  <a:pt x="194322" y="683539"/>
                </a:lnTo>
                <a:lnTo>
                  <a:pt x="160997" y="654138"/>
                </a:lnTo>
                <a:lnTo>
                  <a:pt x="141732" y="632206"/>
                </a:lnTo>
                <a:lnTo>
                  <a:pt x="141732" y="654177"/>
                </a:lnTo>
                <a:lnTo>
                  <a:pt x="86664" y="642239"/>
                </a:lnTo>
                <a:lnTo>
                  <a:pt x="61518" y="603364"/>
                </a:lnTo>
                <a:lnTo>
                  <a:pt x="41160" y="561835"/>
                </a:lnTo>
                <a:lnTo>
                  <a:pt x="25717" y="518185"/>
                </a:lnTo>
                <a:lnTo>
                  <a:pt x="15341" y="472935"/>
                </a:lnTo>
                <a:lnTo>
                  <a:pt x="10160" y="426593"/>
                </a:lnTo>
                <a:lnTo>
                  <a:pt x="43942" y="424891"/>
                </a:lnTo>
                <a:lnTo>
                  <a:pt x="50342" y="476135"/>
                </a:lnTo>
                <a:lnTo>
                  <a:pt x="63487" y="525424"/>
                </a:lnTo>
                <a:lnTo>
                  <a:pt x="83223" y="572008"/>
                </a:lnTo>
                <a:lnTo>
                  <a:pt x="109359" y="615175"/>
                </a:lnTo>
                <a:lnTo>
                  <a:pt x="141732" y="654177"/>
                </a:lnTo>
                <a:lnTo>
                  <a:pt x="141732" y="632206"/>
                </a:lnTo>
                <a:lnTo>
                  <a:pt x="131660" y="620737"/>
                </a:lnTo>
                <a:lnTo>
                  <a:pt x="106718" y="583768"/>
                </a:lnTo>
                <a:lnTo>
                  <a:pt x="86601" y="543648"/>
                </a:lnTo>
                <a:lnTo>
                  <a:pt x="71716" y="500786"/>
                </a:lnTo>
                <a:lnTo>
                  <a:pt x="62471" y="455612"/>
                </a:lnTo>
                <a:lnTo>
                  <a:pt x="59309" y="408520"/>
                </a:lnTo>
                <a:lnTo>
                  <a:pt x="62471" y="361061"/>
                </a:lnTo>
                <a:lnTo>
                  <a:pt x="71716" y="315556"/>
                </a:lnTo>
                <a:lnTo>
                  <a:pt x="86601" y="272427"/>
                </a:lnTo>
                <a:lnTo>
                  <a:pt x="106718" y="232092"/>
                </a:lnTo>
                <a:lnTo>
                  <a:pt x="131660" y="194957"/>
                </a:lnTo>
                <a:lnTo>
                  <a:pt x="160997" y="161442"/>
                </a:lnTo>
                <a:lnTo>
                  <a:pt x="194322" y="131953"/>
                </a:lnTo>
                <a:lnTo>
                  <a:pt x="231216" y="106908"/>
                </a:lnTo>
                <a:lnTo>
                  <a:pt x="271259" y="86702"/>
                </a:lnTo>
                <a:lnTo>
                  <a:pt x="314032" y="71767"/>
                </a:lnTo>
                <a:lnTo>
                  <a:pt x="359143" y="62496"/>
                </a:lnTo>
                <a:lnTo>
                  <a:pt x="406146" y="59309"/>
                </a:lnTo>
                <a:lnTo>
                  <a:pt x="453136" y="62496"/>
                </a:lnTo>
                <a:lnTo>
                  <a:pt x="498246" y="71767"/>
                </a:lnTo>
                <a:lnTo>
                  <a:pt x="541020" y="86702"/>
                </a:lnTo>
                <a:lnTo>
                  <a:pt x="581063" y="106908"/>
                </a:lnTo>
                <a:lnTo>
                  <a:pt x="617956" y="131953"/>
                </a:lnTo>
                <a:lnTo>
                  <a:pt x="651281" y="161442"/>
                </a:lnTo>
                <a:lnTo>
                  <a:pt x="680618" y="194957"/>
                </a:lnTo>
                <a:lnTo>
                  <a:pt x="705561" y="232092"/>
                </a:lnTo>
                <a:lnTo>
                  <a:pt x="725678" y="272427"/>
                </a:lnTo>
                <a:lnTo>
                  <a:pt x="740562" y="315556"/>
                </a:lnTo>
                <a:lnTo>
                  <a:pt x="749808" y="361061"/>
                </a:lnTo>
                <a:lnTo>
                  <a:pt x="752983" y="408520"/>
                </a:lnTo>
                <a:lnTo>
                  <a:pt x="752983" y="196126"/>
                </a:lnTo>
                <a:lnTo>
                  <a:pt x="736955" y="170408"/>
                </a:lnTo>
                <a:lnTo>
                  <a:pt x="705612" y="131406"/>
                </a:lnTo>
                <a:lnTo>
                  <a:pt x="702183" y="128016"/>
                </a:lnTo>
                <a:lnTo>
                  <a:pt x="666826" y="159219"/>
                </a:lnTo>
                <a:lnTo>
                  <a:pt x="660603" y="152107"/>
                </a:lnTo>
                <a:lnTo>
                  <a:pt x="660069" y="151638"/>
                </a:lnTo>
                <a:lnTo>
                  <a:pt x="668756" y="143319"/>
                </a:lnTo>
                <a:lnTo>
                  <a:pt x="693420" y="119710"/>
                </a:lnTo>
                <a:lnTo>
                  <a:pt x="688340" y="114655"/>
                </a:lnTo>
                <a:lnTo>
                  <a:pt x="676529" y="104686"/>
                </a:lnTo>
                <a:lnTo>
                  <a:pt x="676529" y="119710"/>
                </a:lnTo>
                <a:lnTo>
                  <a:pt x="652907" y="143319"/>
                </a:lnTo>
                <a:lnTo>
                  <a:pt x="613448" y="110972"/>
                </a:lnTo>
                <a:lnTo>
                  <a:pt x="570420" y="84848"/>
                </a:lnTo>
                <a:lnTo>
                  <a:pt x="547408" y="75006"/>
                </a:lnTo>
                <a:lnTo>
                  <a:pt x="545985" y="74282"/>
                </a:lnTo>
                <a:lnTo>
                  <a:pt x="544525" y="73774"/>
                </a:lnTo>
                <a:lnTo>
                  <a:pt x="524294" y="65112"/>
                </a:lnTo>
                <a:lnTo>
                  <a:pt x="504850" y="59855"/>
                </a:lnTo>
                <a:lnTo>
                  <a:pt x="503313" y="59309"/>
                </a:lnTo>
                <a:lnTo>
                  <a:pt x="501586" y="58712"/>
                </a:lnTo>
                <a:lnTo>
                  <a:pt x="497624" y="57899"/>
                </a:lnTo>
                <a:lnTo>
                  <a:pt x="475602" y="51930"/>
                </a:lnTo>
                <a:lnTo>
                  <a:pt x="457822" y="49669"/>
                </a:lnTo>
                <a:lnTo>
                  <a:pt x="454825" y="49047"/>
                </a:lnTo>
                <a:lnTo>
                  <a:pt x="450773" y="48780"/>
                </a:lnTo>
                <a:lnTo>
                  <a:pt x="424815" y="45466"/>
                </a:lnTo>
                <a:lnTo>
                  <a:pt x="426466" y="11811"/>
                </a:lnTo>
                <a:lnTo>
                  <a:pt x="472567" y="17119"/>
                </a:lnTo>
                <a:lnTo>
                  <a:pt x="517588" y="27813"/>
                </a:lnTo>
                <a:lnTo>
                  <a:pt x="561022" y="43637"/>
                </a:lnTo>
                <a:lnTo>
                  <a:pt x="602322" y="64389"/>
                </a:lnTo>
                <a:lnTo>
                  <a:pt x="640994" y="89827"/>
                </a:lnTo>
                <a:lnTo>
                  <a:pt x="676529" y="119710"/>
                </a:lnTo>
                <a:lnTo>
                  <a:pt x="676529" y="104686"/>
                </a:lnTo>
                <a:lnTo>
                  <a:pt x="608990" y="55372"/>
                </a:lnTo>
                <a:lnTo>
                  <a:pt x="564997" y="33502"/>
                </a:lnTo>
                <a:lnTo>
                  <a:pt x="518756" y="17106"/>
                </a:lnTo>
                <a:lnTo>
                  <a:pt x="470725" y="6413"/>
                </a:lnTo>
                <a:lnTo>
                  <a:pt x="421386" y="1651"/>
                </a:lnTo>
                <a:lnTo>
                  <a:pt x="416433" y="0"/>
                </a:lnTo>
                <a:lnTo>
                  <a:pt x="413664" y="46240"/>
                </a:lnTo>
                <a:lnTo>
                  <a:pt x="406146" y="45720"/>
                </a:lnTo>
                <a:lnTo>
                  <a:pt x="405041" y="45796"/>
                </a:lnTo>
                <a:lnTo>
                  <a:pt x="403733" y="0"/>
                </a:lnTo>
                <a:lnTo>
                  <a:pt x="398526" y="0"/>
                </a:lnTo>
                <a:lnTo>
                  <a:pt x="348221" y="4648"/>
                </a:lnTo>
                <a:lnTo>
                  <a:pt x="299415" y="14998"/>
                </a:lnTo>
                <a:lnTo>
                  <a:pt x="252501" y="30873"/>
                </a:lnTo>
                <a:lnTo>
                  <a:pt x="207848" y="52108"/>
                </a:lnTo>
                <a:lnTo>
                  <a:pt x="165849" y="78486"/>
                </a:lnTo>
                <a:lnTo>
                  <a:pt x="126873" y="109829"/>
                </a:lnTo>
                <a:lnTo>
                  <a:pt x="123444" y="114896"/>
                </a:lnTo>
                <a:lnTo>
                  <a:pt x="155511" y="148158"/>
                </a:lnTo>
                <a:lnTo>
                  <a:pt x="151066" y="152107"/>
                </a:lnTo>
                <a:lnTo>
                  <a:pt x="120637" y="186969"/>
                </a:lnTo>
                <a:lnTo>
                  <a:pt x="94792" y="225552"/>
                </a:lnTo>
                <a:lnTo>
                  <a:pt x="73952" y="267449"/>
                </a:lnTo>
                <a:lnTo>
                  <a:pt x="58547" y="312191"/>
                </a:lnTo>
                <a:lnTo>
                  <a:pt x="48996" y="359359"/>
                </a:lnTo>
                <a:lnTo>
                  <a:pt x="45720" y="408520"/>
                </a:lnTo>
                <a:lnTo>
                  <a:pt x="46037" y="413308"/>
                </a:lnTo>
                <a:lnTo>
                  <a:pt x="0" y="414705"/>
                </a:lnTo>
                <a:lnTo>
                  <a:pt x="0" y="421500"/>
                </a:lnTo>
                <a:lnTo>
                  <a:pt x="4635" y="471106"/>
                </a:lnTo>
                <a:lnTo>
                  <a:pt x="15074" y="519379"/>
                </a:lnTo>
                <a:lnTo>
                  <a:pt x="31216" y="565873"/>
                </a:lnTo>
                <a:lnTo>
                  <a:pt x="52984" y="610095"/>
                </a:lnTo>
                <a:lnTo>
                  <a:pt x="80276" y="651573"/>
                </a:lnTo>
                <a:lnTo>
                  <a:pt x="113030" y="689851"/>
                </a:lnTo>
                <a:lnTo>
                  <a:pt x="116459" y="694944"/>
                </a:lnTo>
                <a:lnTo>
                  <a:pt x="134061" y="677964"/>
                </a:lnTo>
                <a:lnTo>
                  <a:pt x="150164" y="662444"/>
                </a:lnTo>
                <a:lnTo>
                  <a:pt x="151066" y="663460"/>
                </a:lnTo>
                <a:lnTo>
                  <a:pt x="157759" y="669391"/>
                </a:lnTo>
                <a:lnTo>
                  <a:pt x="124968" y="703580"/>
                </a:lnTo>
                <a:lnTo>
                  <a:pt x="130048" y="706970"/>
                </a:lnTo>
                <a:lnTo>
                  <a:pt x="169024" y="738987"/>
                </a:lnTo>
                <a:lnTo>
                  <a:pt x="211023" y="765556"/>
                </a:lnTo>
                <a:lnTo>
                  <a:pt x="255676" y="786561"/>
                </a:lnTo>
                <a:lnTo>
                  <a:pt x="302590" y="801928"/>
                </a:lnTo>
                <a:lnTo>
                  <a:pt x="351396" y="811555"/>
                </a:lnTo>
                <a:lnTo>
                  <a:pt x="401701" y="815340"/>
                </a:lnTo>
                <a:lnTo>
                  <a:pt x="406781" y="815340"/>
                </a:lnTo>
                <a:lnTo>
                  <a:pt x="408127" y="769493"/>
                </a:lnTo>
                <a:lnTo>
                  <a:pt x="454825" y="766305"/>
                </a:lnTo>
                <a:lnTo>
                  <a:pt x="501586" y="756653"/>
                </a:lnTo>
                <a:lnTo>
                  <a:pt x="503262" y="756056"/>
                </a:lnTo>
                <a:lnTo>
                  <a:pt x="545985" y="741095"/>
                </a:lnTo>
                <a:lnTo>
                  <a:pt x="587578" y="720090"/>
                </a:lnTo>
                <a:lnTo>
                  <a:pt x="625932" y="694055"/>
                </a:lnTo>
                <a:lnTo>
                  <a:pt x="660603" y="663460"/>
                </a:lnTo>
                <a:lnTo>
                  <a:pt x="669836" y="652957"/>
                </a:lnTo>
                <a:lnTo>
                  <a:pt x="703961" y="684276"/>
                </a:lnTo>
                <a:lnTo>
                  <a:pt x="707263" y="679183"/>
                </a:lnTo>
                <a:lnTo>
                  <a:pt x="738581" y="640130"/>
                </a:lnTo>
                <a:lnTo>
                  <a:pt x="764628" y="597916"/>
                </a:lnTo>
                <a:lnTo>
                  <a:pt x="785202" y="553059"/>
                </a:lnTo>
                <a:lnTo>
                  <a:pt x="800125" y="506082"/>
                </a:lnTo>
                <a:lnTo>
                  <a:pt x="809218" y="457517"/>
                </a:lnTo>
                <a:lnTo>
                  <a:pt x="812292" y="407847"/>
                </a:lnTo>
                <a:lnTo>
                  <a:pt x="812292" y="404444"/>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5" name="object 5"/>
          <p:cNvSpPr txBox="1"/>
          <p:nvPr/>
        </p:nvSpPr>
        <p:spPr>
          <a:xfrm>
            <a:off x="9804908" y="5195145"/>
            <a:ext cx="1410547" cy="1238010"/>
          </a:xfrm>
          <a:prstGeom prst="rect">
            <a:avLst/>
          </a:prstGeom>
        </p:spPr>
        <p:txBody>
          <a:bodyPr vert="horz" wrap="square" lIns="0" tIns="16933" rIns="0" bIns="0" rtlCol="0">
            <a:spAutoFit/>
          </a:bodyPr>
          <a:lstStyle/>
          <a:p>
            <a:pPr marL="25399" algn="ctr" defTabSz="1219170">
              <a:spcBef>
                <a:spcPts val="133"/>
              </a:spcBef>
            </a:pPr>
            <a:r>
              <a:rPr sz="4800" dirty="0">
                <a:solidFill>
                  <a:srgbClr val="39B54A"/>
                </a:solidFill>
                <a:latin typeface="Noto Sans"/>
                <a:cs typeface="Noto Sans"/>
              </a:rPr>
              <a:t>2</a:t>
            </a:r>
            <a:endParaRPr sz="4800">
              <a:solidFill>
                <a:prstClr val="black"/>
              </a:solidFill>
              <a:latin typeface="Noto Sans"/>
              <a:cs typeface="Noto Sans"/>
            </a:endParaRPr>
          </a:p>
          <a:p>
            <a:pPr algn="ctr" defTabSz="1219170">
              <a:spcBef>
                <a:spcPts val="2000"/>
              </a:spcBef>
            </a:pPr>
            <a:r>
              <a:rPr sz="1467" spc="-20" dirty="0">
                <a:solidFill>
                  <a:prstClr val="black"/>
                </a:solidFill>
                <a:latin typeface="Verdana"/>
                <a:cs typeface="Verdana"/>
              </a:rPr>
              <a:t>Inject </a:t>
            </a:r>
            <a:r>
              <a:rPr sz="1467" spc="20" dirty="0">
                <a:solidFill>
                  <a:prstClr val="black"/>
                </a:solidFill>
                <a:latin typeface="Verdana"/>
                <a:cs typeface="Verdana"/>
              </a:rPr>
              <a:t>into</a:t>
            </a:r>
            <a:r>
              <a:rPr sz="1467" spc="-300" dirty="0">
                <a:solidFill>
                  <a:prstClr val="black"/>
                </a:solidFill>
                <a:latin typeface="Verdana"/>
                <a:cs typeface="Verdana"/>
              </a:rPr>
              <a:t> </a:t>
            </a:r>
            <a:r>
              <a:rPr sz="1467" spc="87" dirty="0">
                <a:solidFill>
                  <a:prstClr val="black"/>
                </a:solidFill>
                <a:latin typeface="Verdana"/>
                <a:cs typeface="Verdana"/>
              </a:rPr>
              <a:t>Pod</a:t>
            </a:r>
            <a:endParaRPr sz="1467">
              <a:solidFill>
                <a:prstClr val="black"/>
              </a:solidFill>
              <a:latin typeface="Verdana"/>
              <a:cs typeface="Verdana"/>
            </a:endParaRPr>
          </a:p>
        </p:txBody>
      </p:sp>
      <p:grpSp>
        <p:nvGrpSpPr>
          <p:cNvPr id="6" name="object 6"/>
          <p:cNvGrpSpPr/>
          <p:nvPr/>
        </p:nvGrpSpPr>
        <p:grpSpPr>
          <a:xfrm>
            <a:off x="770127" y="1213103"/>
            <a:ext cx="6336453" cy="4954693"/>
            <a:chOff x="577595" y="909827"/>
            <a:chExt cx="4752340" cy="3716020"/>
          </a:xfrm>
        </p:grpSpPr>
        <p:sp>
          <p:nvSpPr>
            <p:cNvPr id="7" name="object 7"/>
            <p:cNvSpPr/>
            <p:nvPr/>
          </p:nvSpPr>
          <p:spPr>
            <a:xfrm>
              <a:off x="577595" y="1210055"/>
              <a:ext cx="4752340" cy="3415665"/>
            </a:xfrm>
            <a:custGeom>
              <a:avLst/>
              <a:gdLst/>
              <a:ahLst/>
              <a:cxnLst/>
              <a:rect l="l" t="t" r="r" b="b"/>
              <a:pathLst>
                <a:path w="4752340" h="3415665">
                  <a:moveTo>
                    <a:pt x="4751832" y="0"/>
                  </a:moveTo>
                  <a:lnTo>
                    <a:pt x="0" y="0"/>
                  </a:lnTo>
                  <a:lnTo>
                    <a:pt x="0" y="3415284"/>
                  </a:lnTo>
                  <a:lnTo>
                    <a:pt x="4751832" y="3415284"/>
                  </a:lnTo>
                  <a:lnTo>
                    <a:pt x="4751832"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8" name="object 8"/>
            <p:cNvSpPr/>
            <p:nvPr/>
          </p:nvSpPr>
          <p:spPr>
            <a:xfrm>
              <a:off x="577595" y="909827"/>
              <a:ext cx="1685925" cy="300355"/>
            </a:xfrm>
            <a:custGeom>
              <a:avLst/>
              <a:gdLst/>
              <a:ahLst/>
              <a:cxnLst/>
              <a:rect l="l" t="t" r="r" b="b"/>
              <a:pathLst>
                <a:path w="1685925" h="300355">
                  <a:moveTo>
                    <a:pt x="1685544" y="0"/>
                  </a:moveTo>
                  <a:lnTo>
                    <a:pt x="0" y="0"/>
                  </a:lnTo>
                  <a:lnTo>
                    <a:pt x="0" y="300227"/>
                  </a:lnTo>
                  <a:lnTo>
                    <a:pt x="1685544" y="300227"/>
                  </a:lnTo>
                  <a:lnTo>
                    <a:pt x="1685544" y="0"/>
                  </a:lnTo>
                  <a:close/>
                </a:path>
              </a:pathLst>
            </a:custGeom>
            <a:solidFill>
              <a:srgbClr val="000000">
                <a:alpha val="50195"/>
              </a:srgbClr>
            </a:solidFill>
          </p:spPr>
          <p:txBody>
            <a:bodyPr wrap="square" lIns="0" tIns="0" rIns="0" bIns="0" rtlCol="0"/>
            <a:lstStyle/>
            <a:p>
              <a:pPr defTabSz="1219170"/>
              <a:endParaRPr sz="2400">
                <a:solidFill>
                  <a:prstClr val="black"/>
                </a:solidFill>
                <a:latin typeface="Calibri"/>
              </a:endParaRPr>
            </a:p>
          </p:txBody>
        </p:sp>
      </p:grpSp>
      <p:sp>
        <p:nvSpPr>
          <p:cNvPr id="9" name="object 9"/>
          <p:cNvSpPr txBox="1">
            <a:spLocks noGrp="1"/>
          </p:cNvSpPr>
          <p:nvPr>
            <p:ph sz="half" idx="2"/>
          </p:nvPr>
        </p:nvSpPr>
        <p:spPr>
          <a:xfrm>
            <a:off x="1167903" y="1450587"/>
            <a:ext cx="4954693" cy="3611244"/>
          </a:xfrm>
          <a:prstGeom prst="rect">
            <a:avLst/>
          </a:prstGeom>
        </p:spPr>
        <p:txBody>
          <a:bodyPr vert="horz" wrap="square" lIns="0" tIns="172719" rIns="0" bIns="0" rtlCol="0">
            <a:spAutoFit/>
          </a:bodyPr>
          <a:lstStyle/>
          <a:p>
            <a:pPr marL="16933">
              <a:spcBef>
                <a:spcPts val="1359"/>
              </a:spcBef>
            </a:pPr>
            <a:r>
              <a:rPr spc="-13" dirty="0"/>
              <a:t>pod-definition.yaml</a:t>
            </a:r>
          </a:p>
          <a:p>
            <a:pPr marL="16933" marR="1968451">
              <a:spcBef>
                <a:spcPts val="1080"/>
              </a:spcBef>
            </a:pPr>
            <a:r>
              <a:rPr sz="1600" b="1" dirty="0">
                <a:solidFill>
                  <a:srgbClr val="CC7831"/>
                </a:solidFill>
                <a:latin typeface="Courier New"/>
                <a:cs typeface="Courier New"/>
              </a:rPr>
              <a:t>apiVersion:</a:t>
            </a:r>
            <a:r>
              <a:rPr sz="1600" b="1" spc="-107" dirty="0">
                <a:solidFill>
                  <a:srgbClr val="CC7831"/>
                </a:solidFill>
                <a:latin typeface="Courier New"/>
                <a:cs typeface="Courier New"/>
              </a:rPr>
              <a:t> </a:t>
            </a:r>
            <a:r>
              <a:rPr sz="1600" spc="13" dirty="0">
                <a:solidFill>
                  <a:srgbClr val="A9B7C5"/>
                </a:solidFill>
                <a:latin typeface="Courier New"/>
                <a:cs typeface="Courier New"/>
              </a:rPr>
              <a:t>v1  </a:t>
            </a:r>
            <a:r>
              <a:rPr sz="1600" b="1" spc="-7" dirty="0">
                <a:solidFill>
                  <a:srgbClr val="CC7831"/>
                </a:solidFill>
                <a:latin typeface="Courier New"/>
                <a:cs typeface="Courier New"/>
              </a:rPr>
              <a:t>kind: </a:t>
            </a:r>
            <a:r>
              <a:rPr sz="1600" dirty="0">
                <a:solidFill>
                  <a:srgbClr val="A9B7C5"/>
                </a:solidFill>
                <a:latin typeface="Courier New"/>
                <a:cs typeface="Courier New"/>
              </a:rPr>
              <a:t>Pod  </a:t>
            </a:r>
            <a:r>
              <a:rPr sz="1600" b="1" dirty="0">
                <a:solidFill>
                  <a:srgbClr val="CC7831"/>
                </a:solidFill>
                <a:latin typeface="Courier New"/>
                <a:cs typeface="Courier New"/>
              </a:rPr>
              <a:t>metadata:</a:t>
            </a:r>
            <a:endParaRPr sz="1600">
              <a:latin typeface="Courier New"/>
              <a:cs typeface="Courier New"/>
            </a:endParaRPr>
          </a:p>
          <a:p>
            <a:pPr marL="259920"/>
            <a:r>
              <a:rPr sz="1600" b="1" dirty="0">
                <a:solidFill>
                  <a:srgbClr val="CC7831"/>
                </a:solidFill>
                <a:latin typeface="Courier New"/>
                <a:cs typeface="Courier New"/>
              </a:rPr>
              <a:t>name:</a:t>
            </a:r>
            <a:r>
              <a:rPr sz="1600" b="1" spc="-7" dirty="0">
                <a:solidFill>
                  <a:srgbClr val="CC7831"/>
                </a:solidFill>
                <a:latin typeface="Courier New"/>
                <a:cs typeface="Courier New"/>
              </a:rPr>
              <a:t> </a:t>
            </a:r>
            <a:r>
              <a:rPr sz="1600" dirty="0">
                <a:solidFill>
                  <a:srgbClr val="A9B7C5"/>
                </a:solidFill>
                <a:latin typeface="Courier New"/>
                <a:cs typeface="Courier New"/>
              </a:rPr>
              <a:t>simple-webapp-color</a:t>
            </a:r>
            <a:endParaRPr sz="1600">
              <a:latin typeface="Courier New"/>
              <a:cs typeface="Courier New"/>
            </a:endParaRPr>
          </a:p>
          <a:p>
            <a:pPr marL="259920"/>
            <a:r>
              <a:rPr sz="1600" b="1" dirty="0">
                <a:solidFill>
                  <a:srgbClr val="CC7831"/>
                </a:solidFill>
                <a:latin typeface="Courier New"/>
                <a:cs typeface="Courier New"/>
              </a:rPr>
              <a:t>labels:</a:t>
            </a:r>
            <a:endParaRPr sz="1600">
              <a:latin typeface="Courier New"/>
              <a:cs typeface="Courier New"/>
            </a:endParaRPr>
          </a:p>
          <a:p>
            <a:pPr marL="506294"/>
            <a:r>
              <a:rPr sz="1600" b="1" dirty="0">
                <a:solidFill>
                  <a:srgbClr val="CC7831"/>
                </a:solidFill>
                <a:latin typeface="Courier New"/>
                <a:cs typeface="Courier New"/>
              </a:rPr>
              <a:t>name:</a:t>
            </a:r>
            <a:r>
              <a:rPr sz="1600" b="1" spc="-33" dirty="0">
                <a:solidFill>
                  <a:srgbClr val="CC7831"/>
                </a:solidFill>
                <a:latin typeface="Courier New"/>
                <a:cs typeface="Courier New"/>
              </a:rPr>
              <a:t> </a:t>
            </a:r>
            <a:r>
              <a:rPr sz="1600" dirty="0">
                <a:solidFill>
                  <a:srgbClr val="A9B7C5"/>
                </a:solidFill>
                <a:latin typeface="Courier New"/>
                <a:cs typeface="Courier New"/>
              </a:rPr>
              <a:t>simple-webapp-color</a:t>
            </a:r>
            <a:endParaRPr sz="1600">
              <a:latin typeface="Courier New"/>
              <a:cs typeface="Courier New"/>
            </a:endParaRPr>
          </a:p>
          <a:p>
            <a:pPr marL="16933"/>
            <a:r>
              <a:rPr sz="1600" b="1" spc="-7" dirty="0">
                <a:solidFill>
                  <a:srgbClr val="CC7831"/>
                </a:solidFill>
                <a:latin typeface="Courier New"/>
                <a:cs typeface="Courier New"/>
              </a:rPr>
              <a:t>spec:</a:t>
            </a:r>
            <a:endParaRPr sz="1600">
              <a:latin typeface="Courier New"/>
              <a:cs typeface="Courier New"/>
            </a:endParaRPr>
          </a:p>
          <a:p>
            <a:pPr marL="259920"/>
            <a:r>
              <a:rPr sz="1600" b="1" dirty="0">
                <a:solidFill>
                  <a:srgbClr val="CC7831"/>
                </a:solidFill>
                <a:latin typeface="Courier New"/>
                <a:cs typeface="Courier New"/>
              </a:rPr>
              <a:t>containers:</a:t>
            </a:r>
            <a:endParaRPr sz="1600">
              <a:latin typeface="Courier New"/>
              <a:cs typeface="Courier New"/>
            </a:endParaRPr>
          </a:p>
          <a:p>
            <a:pPr marL="506294" marR="6773" indent="-246374">
              <a:buClr>
                <a:srgbClr val="A9B7C5"/>
              </a:buClr>
              <a:buFont typeface="Courier New"/>
              <a:buChar char="-"/>
              <a:tabLst>
                <a:tab pos="507141" algn="l"/>
              </a:tabLst>
            </a:pPr>
            <a:r>
              <a:rPr sz="1600" b="1" dirty="0">
                <a:solidFill>
                  <a:srgbClr val="CC7831"/>
                </a:solidFill>
                <a:latin typeface="Courier New"/>
                <a:cs typeface="Courier New"/>
              </a:rPr>
              <a:t>name: </a:t>
            </a:r>
            <a:r>
              <a:rPr sz="1600" dirty="0">
                <a:solidFill>
                  <a:srgbClr val="A9B7C5"/>
                </a:solidFill>
                <a:latin typeface="Courier New"/>
                <a:cs typeface="Courier New"/>
              </a:rPr>
              <a:t>simple-webapp-color </a:t>
            </a:r>
            <a:r>
              <a:rPr sz="1600" dirty="0">
                <a:solidFill>
                  <a:srgbClr val="CC7831"/>
                </a:solidFill>
                <a:latin typeface="Courier New"/>
                <a:cs typeface="Courier New"/>
              </a:rPr>
              <a:t> </a:t>
            </a:r>
            <a:r>
              <a:rPr sz="1600" b="1" dirty="0">
                <a:solidFill>
                  <a:srgbClr val="CC7831"/>
                </a:solidFill>
                <a:latin typeface="Courier New"/>
                <a:cs typeface="Courier New"/>
              </a:rPr>
              <a:t>image: </a:t>
            </a:r>
            <a:r>
              <a:rPr sz="1600" dirty="0">
                <a:solidFill>
                  <a:srgbClr val="A9B7C5"/>
                </a:solidFill>
                <a:latin typeface="Courier New"/>
                <a:cs typeface="Courier New"/>
              </a:rPr>
              <a:t>simple-webapp-color </a:t>
            </a:r>
            <a:r>
              <a:rPr sz="1600" dirty="0">
                <a:solidFill>
                  <a:srgbClr val="CC7831"/>
                </a:solidFill>
                <a:latin typeface="Courier New"/>
                <a:cs typeface="Courier New"/>
              </a:rPr>
              <a:t> </a:t>
            </a:r>
            <a:r>
              <a:rPr sz="1600" b="1" dirty="0">
                <a:solidFill>
                  <a:srgbClr val="CC7831"/>
                </a:solidFill>
                <a:latin typeface="Courier New"/>
                <a:cs typeface="Courier New"/>
              </a:rPr>
              <a:t>ports:</a:t>
            </a:r>
            <a:endParaRPr sz="1600">
              <a:latin typeface="Courier New"/>
              <a:cs typeface="Courier New"/>
            </a:endParaRPr>
          </a:p>
          <a:p>
            <a:pPr marL="998195" lvl="1" indent="-247220">
              <a:buClr>
                <a:srgbClr val="A9B7C5"/>
              </a:buClr>
              <a:buFont typeface="Courier New"/>
              <a:buChar char="-"/>
              <a:tabLst>
                <a:tab pos="999042" algn="l"/>
              </a:tabLst>
            </a:pPr>
            <a:r>
              <a:rPr sz="1600" b="1" dirty="0">
                <a:solidFill>
                  <a:srgbClr val="CC7831"/>
                </a:solidFill>
                <a:latin typeface="Courier New"/>
                <a:cs typeface="Courier New"/>
              </a:rPr>
              <a:t>containerPort:</a:t>
            </a:r>
            <a:r>
              <a:rPr sz="1600" b="1" spc="-13" dirty="0">
                <a:solidFill>
                  <a:srgbClr val="CC7831"/>
                </a:solidFill>
                <a:latin typeface="Courier New"/>
                <a:cs typeface="Courier New"/>
              </a:rPr>
              <a:t> </a:t>
            </a:r>
            <a:r>
              <a:rPr sz="1600" dirty="0">
                <a:solidFill>
                  <a:srgbClr val="A9B7C5"/>
                </a:solidFill>
                <a:latin typeface="Courier New"/>
                <a:cs typeface="Courier New"/>
              </a:rPr>
              <a:t>8080</a:t>
            </a:r>
            <a:endParaRPr sz="1600">
              <a:latin typeface="Courier New"/>
              <a:cs typeface="Courier New"/>
            </a:endParaRPr>
          </a:p>
          <a:p>
            <a:pPr marL="470735">
              <a:spcBef>
                <a:spcPts val="513"/>
              </a:spcBef>
            </a:pPr>
            <a:r>
              <a:rPr sz="1600" b="1" dirty="0">
                <a:solidFill>
                  <a:srgbClr val="CC7831"/>
                </a:solidFill>
                <a:latin typeface="Courier New"/>
                <a:cs typeface="Courier New"/>
              </a:rPr>
              <a:t>envFrom:</a:t>
            </a:r>
            <a:endParaRPr sz="1600">
              <a:latin typeface="Courier New"/>
              <a:cs typeface="Courier New"/>
            </a:endParaRPr>
          </a:p>
          <a:p>
            <a:pPr marL="960943" lvl="1" indent="-247220">
              <a:buClr>
                <a:srgbClr val="A9B7C5"/>
              </a:buClr>
              <a:buFont typeface="Courier New"/>
              <a:buChar char="-"/>
              <a:tabLst>
                <a:tab pos="961789" algn="l"/>
              </a:tabLst>
            </a:pPr>
            <a:r>
              <a:rPr sz="1600" b="1" dirty="0">
                <a:solidFill>
                  <a:srgbClr val="CC7831"/>
                </a:solidFill>
                <a:latin typeface="Courier New"/>
                <a:cs typeface="Courier New"/>
              </a:rPr>
              <a:t>secretRef:</a:t>
            </a:r>
            <a:endParaRPr sz="1600">
              <a:latin typeface="Courier New"/>
              <a:cs typeface="Courier New"/>
            </a:endParaRPr>
          </a:p>
        </p:txBody>
      </p:sp>
      <p:sp>
        <p:nvSpPr>
          <p:cNvPr id="10" name="object 10"/>
          <p:cNvSpPr txBox="1"/>
          <p:nvPr/>
        </p:nvSpPr>
        <p:spPr>
          <a:xfrm>
            <a:off x="2311739" y="5138657"/>
            <a:ext cx="646007" cy="263320"/>
          </a:xfrm>
          <a:prstGeom prst="rect">
            <a:avLst/>
          </a:prstGeom>
        </p:spPr>
        <p:txBody>
          <a:bodyPr vert="horz" wrap="square" lIns="0" tIns="16933" rIns="0" bIns="0" rtlCol="0">
            <a:spAutoFit/>
          </a:bodyPr>
          <a:lstStyle/>
          <a:p>
            <a:pPr marL="16933" defTabSz="1219170">
              <a:spcBef>
                <a:spcPts val="133"/>
              </a:spcBef>
            </a:pPr>
            <a:r>
              <a:rPr sz="1600" b="1" spc="-7" dirty="0">
                <a:solidFill>
                  <a:srgbClr val="CC7831"/>
                </a:solidFill>
                <a:latin typeface="Courier New"/>
                <a:cs typeface="Courier New"/>
              </a:rPr>
              <a:t>n</a:t>
            </a:r>
            <a:r>
              <a:rPr sz="1600" b="1" spc="13" dirty="0">
                <a:solidFill>
                  <a:srgbClr val="CC7831"/>
                </a:solidFill>
                <a:latin typeface="Courier New"/>
                <a:cs typeface="Courier New"/>
              </a:rPr>
              <a:t>a</a:t>
            </a:r>
            <a:r>
              <a:rPr sz="1600" b="1" spc="-7" dirty="0">
                <a:solidFill>
                  <a:srgbClr val="CC7831"/>
                </a:solidFill>
                <a:latin typeface="Courier New"/>
                <a:cs typeface="Courier New"/>
              </a:rPr>
              <a:t>me:</a:t>
            </a:r>
            <a:endParaRPr sz="1600">
              <a:solidFill>
                <a:prstClr val="black"/>
              </a:solidFill>
              <a:latin typeface="Courier New"/>
              <a:cs typeface="Courier New"/>
            </a:endParaRPr>
          </a:p>
        </p:txBody>
      </p:sp>
      <p:grpSp>
        <p:nvGrpSpPr>
          <p:cNvPr id="11" name="object 11"/>
          <p:cNvGrpSpPr/>
          <p:nvPr/>
        </p:nvGrpSpPr>
        <p:grpSpPr>
          <a:xfrm>
            <a:off x="7565137" y="1249680"/>
            <a:ext cx="4373033" cy="2983653"/>
            <a:chOff x="5673852" y="937260"/>
            <a:chExt cx="3279775" cy="2237740"/>
          </a:xfrm>
        </p:grpSpPr>
        <p:sp>
          <p:nvSpPr>
            <p:cNvPr id="12" name="object 12"/>
            <p:cNvSpPr/>
            <p:nvPr/>
          </p:nvSpPr>
          <p:spPr>
            <a:xfrm>
              <a:off x="5673852" y="1235964"/>
              <a:ext cx="3279775" cy="1938655"/>
            </a:xfrm>
            <a:custGeom>
              <a:avLst/>
              <a:gdLst/>
              <a:ahLst/>
              <a:cxnLst/>
              <a:rect l="l" t="t" r="r" b="b"/>
              <a:pathLst>
                <a:path w="3279775" h="1938655">
                  <a:moveTo>
                    <a:pt x="3279648" y="0"/>
                  </a:moveTo>
                  <a:lnTo>
                    <a:pt x="0" y="0"/>
                  </a:lnTo>
                  <a:lnTo>
                    <a:pt x="0" y="1938527"/>
                  </a:lnTo>
                  <a:lnTo>
                    <a:pt x="3279648" y="1938527"/>
                  </a:lnTo>
                  <a:lnTo>
                    <a:pt x="3279648"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13" name="object 13"/>
            <p:cNvSpPr/>
            <p:nvPr/>
          </p:nvSpPr>
          <p:spPr>
            <a:xfrm>
              <a:off x="5673852" y="937260"/>
              <a:ext cx="1442085" cy="300355"/>
            </a:xfrm>
            <a:custGeom>
              <a:avLst/>
              <a:gdLst/>
              <a:ahLst/>
              <a:cxnLst/>
              <a:rect l="l" t="t" r="r" b="b"/>
              <a:pathLst>
                <a:path w="1442084" h="300355">
                  <a:moveTo>
                    <a:pt x="1441703" y="0"/>
                  </a:moveTo>
                  <a:lnTo>
                    <a:pt x="0" y="0"/>
                  </a:lnTo>
                  <a:lnTo>
                    <a:pt x="0" y="300227"/>
                  </a:lnTo>
                  <a:lnTo>
                    <a:pt x="1441703" y="300227"/>
                  </a:lnTo>
                  <a:lnTo>
                    <a:pt x="1441703" y="0"/>
                  </a:lnTo>
                  <a:close/>
                </a:path>
              </a:pathLst>
            </a:custGeom>
            <a:solidFill>
              <a:srgbClr val="000000">
                <a:alpha val="50195"/>
              </a:srgbClr>
            </a:solidFill>
          </p:spPr>
          <p:txBody>
            <a:bodyPr wrap="square" lIns="0" tIns="0" rIns="0" bIns="0" rtlCol="0"/>
            <a:lstStyle/>
            <a:p>
              <a:pPr defTabSz="1219170"/>
              <a:endParaRPr sz="2400">
                <a:solidFill>
                  <a:prstClr val="black"/>
                </a:solidFill>
                <a:latin typeface="Calibri"/>
              </a:endParaRPr>
            </a:p>
          </p:txBody>
        </p:sp>
      </p:grpSp>
      <p:sp>
        <p:nvSpPr>
          <p:cNvPr id="14" name="object 14"/>
          <p:cNvSpPr txBox="1"/>
          <p:nvPr/>
        </p:nvSpPr>
        <p:spPr>
          <a:xfrm>
            <a:off x="7670462" y="1162757"/>
            <a:ext cx="3306233" cy="2842188"/>
          </a:xfrm>
          <a:prstGeom prst="rect">
            <a:avLst/>
          </a:prstGeom>
        </p:spPr>
        <p:txBody>
          <a:bodyPr vert="horz" wrap="square" lIns="0" tIns="134620" rIns="0" bIns="0" rtlCol="0">
            <a:spAutoFit/>
          </a:bodyPr>
          <a:lstStyle/>
          <a:p>
            <a:pPr marL="16933" defTabSz="1219170">
              <a:spcBef>
                <a:spcPts val="1060"/>
              </a:spcBef>
            </a:pPr>
            <a:r>
              <a:rPr spc="-13" dirty="0">
                <a:solidFill>
                  <a:srgbClr val="FFFFFF"/>
                </a:solidFill>
                <a:latin typeface="Noto Sans"/>
                <a:cs typeface="Noto Sans"/>
              </a:rPr>
              <a:t>secret-data.yaml</a:t>
            </a:r>
            <a:endParaRPr>
              <a:solidFill>
                <a:prstClr val="black"/>
              </a:solidFill>
              <a:latin typeface="Noto Sans"/>
              <a:cs typeface="Noto Sans"/>
            </a:endParaRPr>
          </a:p>
          <a:p>
            <a:pPr marL="16933" marR="1281821" defTabSz="1219170">
              <a:spcBef>
                <a:spcPts val="960"/>
              </a:spcBef>
            </a:pPr>
            <a:r>
              <a:rPr sz="1867" spc="-7" dirty="0">
                <a:solidFill>
                  <a:srgbClr val="9776AA"/>
                </a:solidFill>
                <a:latin typeface="Courier New"/>
                <a:cs typeface="Courier New"/>
              </a:rPr>
              <a:t>apiVersion</a:t>
            </a:r>
            <a:r>
              <a:rPr sz="1867" spc="-7" dirty="0">
                <a:solidFill>
                  <a:srgbClr val="A9B7C5"/>
                </a:solidFill>
                <a:latin typeface="Courier New"/>
                <a:cs typeface="Courier New"/>
              </a:rPr>
              <a:t>: </a:t>
            </a:r>
            <a:r>
              <a:rPr sz="2800" spc="-9" baseline="1984" dirty="0">
                <a:solidFill>
                  <a:srgbClr val="A9B7C5"/>
                </a:solidFill>
                <a:latin typeface="Courier New"/>
                <a:cs typeface="Courier New"/>
              </a:rPr>
              <a:t>v1  </a:t>
            </a:r>
            <a:r>
              <a:rPr sz="1867" spc="-7" dirty="0">
                <a:solidFill>
                  <a:srgbClr val="9776AA"/>
                </a:solidFill>
                <a:latin typeface="Courier New"/>
                <a:cs typeface="Courier New"/>
              </a:rPr>
              <a:t>kind</a:t>
            </a:r>
            <a:r>
              <a:rPr sz="1867" spc="-7" dirty="0">
                <a:solidFill>
                  <a:srgbClr val="A9B7C5"/>
                </a:solidFill>
                <a:latin typeface="Courier New"/>
                <a:cs typeface="Courier New"/>
              </a:rPr>
              <a:t>: </a:t>
            </a:r>
            <a:r>
              <a:rPr sz="2800" spc="-9" baseline="1984" dirty="0">
                <a:solidFill>
                  <a:srgbClr val="A9B7C5"/>
                </a:solidFill>
                <a:latin typeface="Courier New"/>
                <a:cs typeface="Courier New"/>
              </a:rPr>
              <a:t>Secret  </a:t>
            </a:r>
            <a:r>
              <a:rPr sz="1867" spc="-7" dirty="0">
                <a:solidFill>
                  <a:srgbClr val="9776AA"/>
                </a:solidFill>
                <a:latin typeface="Courier New"/>
                <a:cs typeface="Courier New"/>
              </a:rPr>
              <a:t>metadata</a:t>
            </a:r>
            <a:r>
              <a:rPr sz="1867" spc="-7" dirty="0">
                <a:solidFill>
                  <a:srgbClr val="A9B7C5"/>
                </a:solidFill>
                <a:latin typeface="Courier New"/>
                <a:cs typeface="Courier New"/>
              </a:rPr>
              <a:t>:</a:t>
            </a:r>
            <a:endParaRPr sz="1867">
              <a:solidFill>
                <a:prstClr val="black"/>
              </a:solidFill>
              <a:latin typeface="Courier New"/>
              <a:cs typeface="Courier New"/>
            </a:endParaRPr>
          </a:p>
          <a:p>
            <a:pPr marL="16933" marR="697636" indent="309026" defTabSz="1219170">
              <a:lnSpc>
                <a:spcPts val="2120"/>
              </a:lnSpc>
              <a:spcBef>
                <a:spcPts val="300"/>
              </a:spcBef>
            </a:pPr>
            <a:r>
              <a:rPr sz="1867" spc="-7" dirty="0">
                <a:solidFill>
                  <a:srgbClr val="9776AA"/>
                </a:solidFill>
                <a:latin typeface="Courier New"/>
                <a:cs typeface="Courier New"/>
              </a:rPr>
              <a:t>name</a:t>
            </a:r>
            <a:r>
              <a:rPr sz="1867" spc="-7" dirty="0">
                <a:solidFill>
                  <a:srgbClr val="A9B7C5"/>
                </a:solidFill>
                <a:latin typeface="Courier New"/>
                <a:cs typeface="Courier New"/>
              </a:rPr>
              <a:t>: </a:t>
            </a:r>
            <a:r>
              <a:rPr sz="1867" spc="-13" dirty="0">
                <a:solidFill>
                  <a:srgbClr val="A9B7C5"/>
                </a:solidFill>
                <a:latin typeface="Courier New"/>
                <a:cs typeface="Courier New"/>
              </a:rPr>
              <a:t>app-secret  </a:t>
            </a:r>
            <a:r>
              <a:rPr sz="1867" spc="-7" dirty="0">
                <a:solidFill>
                  <a:srgbClr val="9776AA"/>
                </a:solidFill>
                <a:latin typeface="Courier New"/>
                <a:cs typeface="Courier New"/>
              </a:rPr>
              <a:t>data</a:t>
            </a:r>
            <a:r>
              <a:rPr sz="1867" spc="-7" dirty="0">
                <a:solidFill>
                  <a:srgbClr val="A9B7C5"/>
                </a:solidFill>
                <a:latin typeface="Courier New"/>
                <a:cs typeface="Courier New"/>
              </a:rPr>
              <a:t>:</a:t>
            </a:r>
            <a:endParaRPr sz="1867">
              <a:solidFill>
                <a:prstClr val="black"/>
              </a:solidFill>
              <a:latin typeface="Courier New"/>
              <a:cs typeface="Courier New"/>
            </a:endParaRPr>
          </a:p>
          <a:p>
            <a:pPr marL="306486" marR="6773" defTabSz="1219170">
              <a:spcBef>
                <a:spcPts val="20"/>
              </a:spcBef>
            </a:pPr>
            <a:r>
              <a:rPr sz="1867" spc="-7" dirty="0">
                <a:solidFill>
                  <a:srgbClr val="9776AA"/>
                </a:solidFill>
                <a:latin typeface="Courier New"/>
                <a:cs typeface="Courier New"/>
              </a:rPr>
              <a:t>DB_Host</a:t>
            </a:r>
            <a:r>
              <a:rPr sz="1867" spc="-7" dirty="0">
                <a:solidFill>
                  <a:srgbClr val="A9B7C5"/>
                </a:solidFill>
                <a:latin typeface="Courier New"/>
                <a:cs typeface="Courier New"/>
              </a:rPr>
              <a:t>: </a:t>
            </a:r>
            <a:r>
              <a:rPr sz="1867" spc="-13" dirty="0">
                <a:solidFill>
                  <a:srgbClr val="A9B7C5"/>
                </a:solidFill>
                <a:latin typeface="Courier New"/>
                <a:cs typeface="Courier New"/>
              </a:rPr>
              <a:t>bXlzcWw=  </a:t>
            </a:r>
            <a:r>
              <a:rPr sz="1867" spc="-7" dirty="0">
                <a:solidFill>
                  <a:srgbClr val="9776AA"/>
                </a:solidFill>
                <a:latin typeface="Courier New"/>
                <a:cs typeface="Courier New"/>
              </a:rPr>
              <a:t>DB_User</a:t>
            </a:r>
            <a:r>
              <a:rPr sz="1867" spc="-7" dirty="0">
                <a:solidFill>
                  <a:srgbClr val="A9B7C5"/>
                </a:solidFill>
                <a:latin typeface="Courier New"/>
                <a:cs typeface="Courier New"/>
              </a:rPr>
              <a:t>: </a:t>
            </a:r>
            <a:r>
              <a:rPr sz="1867" spc="-13" dirty="0">
                <a:solidFill>
                  <a:srgbClr val="A9B7C5"/>
                </a:solidFill>
                <a:latin typeface="Courier New"/>
                <a:cs typeface="Courier New"/>
              </a:rPr>
              <a:t>cm9vdA==  </a:t>
            </a:r>
            <a:r>
              <a:rPr sz="1867" spc="-7" dirty="0">
                <a:solidFill>
                  <a:srgbClr val="9776AA"/>
                </a:solidFill>
                <a:latin typeface="Courier New"/>
                <a:cs typeface="Courier New"/>
              </a:rPr>
              <a:t>DB_Password</a:t>
            </a:r>
            <a:r>
              <a:rPr sz="1867" spc="-7" dirty="0">
                <a:solidFill>
                  <a:srgbClr val="A9B7C5"/>
                </a:solidFill>
                <a:latin typeface="Courier New"/>
                <a:cs typeface="Courier New"/>
              </a:rPr>
              <a:t>:</a:t>
            </a:r>
            <a:r>
              <a:rPr sz="1867" spc="-107" dirty="0">
                <a:solidFill>
                  <a:srgbClr val="A9B7C5"/>
                </a:solidFill>
                <a:latin typeface="Courier New"/>
                <a:cs typeface="Courier New"/>
              </a:rPr>
              <a:t> </a:t>
            </a:r>
            <a:r>
              <a:rPr sz="1867" spc="-7" dirty="0">
                <a:solidFill>
                  <a:srgbClr val="A9B7C5"/>
                </a:solidFill>
                <a:latin typeface="Courier New"/>
                <a:cs typeface="Courier New"/>
              </a:rPr>
              <a:t>cGFzd3Jk</a:t>
            </a:r>
            <a:endParaRPr sz="1867">
              <a:solidFill>
                <a:prstClr val="black"/>
              </a:solidFill>
              <a:latin typeface="Courier New"/>
              <a:cs typeface="Courier New"/>
            </a:endParaRPr>
          </a:p>
        </p:txBody>
      </p:sp>
      <p:sp>
        <p:nvSpPr>
          <p:cNvPr id="15" name="object 15"/>
          <p:cNvSpPr txBox="1"/>
          <p:nvPr/>
        </p:nvSpPr>
        <p:spPr>
          <a:xfrm>
            <a:off x="3027426" y="5099237"/>
            <a:ext cx="1431713" cy="263320"/>
          </a:xfrm>
          <a:prstGeom prst="rect">
            <a:avLst/>
          </a:prstGeom>
        </p:spPr>
        <p:txBody>
          <a:bodyPr vert="horz" wrap="square" lIns="0" tIns="16933" rIns="0" bIns="0" rtlCol="0">
            <a:spAutoFit/>
          </a:bodyPr>
          <a:lstStyle/>
          <a:p>
            <a:pPr marL="34711" defTabSz="1219170">
              <a:spcBef>
                <a:spcPts val="133"/>
              </a:spcBef>
            </a:pPr>
            <a:r>
              <a:rPr sz="1600" spc="-7" dirty="0">
                <a:solidFill>
                  <a:srgbClr val="A9B7C5"/>
                </a:solidFill>
                <a:latin typeface="Courier New"/>
                <a:cs typeface="Courier New"/>
              </a:rPr>
              <a:t>app-secret</a:t>
            </a:r>
            <a:endParaRPr sz="1600">
              <a:solidFill>
                <a:prstClr val="black"/>
              </a:solidFill>
              <a:latin typeface="Courier New"/>
              <a:cs typeface="Courier New"/>
            </a:endParaRPr>
          </a:p>
        </p:txBody>
      </p:sp>
      <p:grpSp>
        <p:nvGrpSpPr>
          <p:cNvPr id="16" name="object 16"/>
          <p:cNvGrpSpPr/>
          <p:nvPr/>
        </p:nvGrpSpPr>
        <p:grpSpPr>
          <a:xfrm>
            <a:off x="3007360" y="2535935"/>
            <a:ext cx="7772400" cy="2914227"/>
            <a:chOff x="2255520" y="1901951"/>
            <a:chExt cx="5829300" cy="2185670"/>
          </a:xfrm>
        </p:grpSpPr>
        <p:sp>
          <p:nvSpPr>
            <p:cNvPr id="17" name="object 17"/>
            <p:cNvSpPr/>
            <p:nvPr/>
          </p:nvSpPr>
          <p:spPr>
            <a:xfrm>
              <a:off x="2260092" y="3845051"/>
              <a:ext cx="1094740" cy="242570"/>
            </a:xfrm>
            <a:custGeom>
              <a:avLst/>
              <a:gdLst/>
              <a:ahLst/>
              <a:cxnLst/>
              <a:rect l="l" t="t" r="r" b="b"/>
              <a:pathLst>
                <a:path w="1094739" h="242570">
                  <a:moveTo>
                    <a:pt x="1053845" y="0"/>
                  </a:moveTo>
                  <a:lnTo>
                    <a:pt x="40385" y="0"/>
                  </a:lnTo>
                  <a:lnTo>
                    <a:pt x="24645" y="3167"/>
                  </a:lnTo>
                  <a:lnTo>
                    <a:pt x="11810" y="11811"/>
                  </a:lnTo>
                  <a:lnTo>
                    <a:pt x="3167" y="24645"/>
                  </a:lnTo>
                  <a:lnTo>
                    <a:pt x="0" y="40386"/>
                  </a:lnTo>
                  <a:lnTo>
                    <a:pt x="0" y="201930"/>
                  </a:lnTo>
                  <a:lnTo>
                    <a:pt x="3167" y="217648"/>
                  </a:lnTo>
                  <a:lnTo>
                    <a:pt x="11810" y="230485"/>
                  </a:lnTo>
                  <a:lnTo>
                    <a:pt x="24645" y="239141"/>
                  </a:lnTo>
                  <a:lnTo>
                    <a:pt x="40385" y="242316"/>
                  </a:lnTo>
                  <a:lnTo>
                    <a:pt x="1053845" y="242316"/>
                  </a:lnTo>
                  <a:lnTo>
                    <a:pt x="1069586" y="239141"/>
                  </a:lnTo>
                  <a:lnTo>
                    <a:pt x="1082420" y="230485"/>
                  </a:lnTo>
                  <a:lnTo>
                    <a:pt x="1091064" y="217648"/>
                  </a:lnTo>
                  <a:lnTo>
                    <a:pt x="1094232" y="201930"/>
                  </a:lnTo>
                  <a:lnTo>
                    <a:pt x="1094232" y="40386"/>
                  </a:lnTo>
                  <a:lnTo>
                    <a:pt x="1091064" y="24645"/>
                  </a:lnTo>
                  <a:lnTo>
                    <a:pt x="1082420" y="11811"/>
                  </a:lnTo>
                  <a:lnTo>
                    <a:pt x="1069586" y="3167"/>
                  </a:lnTo>
                  <a:lnTo>
                    <a:pt x="1053845" y="0"/>
                  </a:lnTo>
                  <a:close/>
                </a:path>
              </a:pathLst>
            </a:custGeom>
            <a:solidFill>
              <a:srgbClr val="1780C3">
                <a:alpha val="50195"/>
              </a:srgbClr>
            </a:solidFill>
          </p:spPr>
          <p:txBody>
            <a:bodyPr wrap="square" lIns="0" tIns="0" rIns="0" bIns="0" rtlCol="0"/>
            <a:lstStyle/>
            <a:p>
              <a:pPr defTabSz="1219170"/>
              <a:endParaRPr sz="2400">
                <a:solidFill>
                  <a:prstClr val="black"/>
                </a:solidFill>
                <a:latin typeface="Calibri"/>
              </a:endParaRPr>
            </a:p>
          </p:txBody>
        </p:sp>
        <p:sp>
          <p:nvSpPr>
            <p:cNvPr id="18" name="object 18"/>
            <p:cNvSpPr/>
            <p:nvPr/>
          </p:nvSpPr>
          <p:spPr>
            <a:xfrm>
              <a:off x="2260092" y="3840479"/>
              <a:ext cx="1094740" cy="242570"/>
            </a:xfrm>
            <a:custGeom>
              <a:avLst/>
              <a:gdLst/>
              <a:ahLst/>
              <a:cxnLst/>
              <a:rect l="l" t="t" r="r" b="b"/>
              <a:pathLst>
                <a:path w="1094739" h="242570">
                  <a:moveTo>
                    <a:pt x="0" y="40386"/>
                  </a:moveTo>
                  <a:lnTo>
                    <a:pt x="3167" y="24645"/>
                  </a:lnTo>
                  <a:lnTo>
                    <a:pt x="11810" y="11811"/>
                  </a:lnTo>
                  <a:lnTo>
                    <a:pt x="24645" y="3167"/>
                  </a:lnTo>
                  <a:lnTo>
                    <a:pt x="40385" y="0"/>
                  </a:lnTo>
                  <a:lnTo>
                    <a:pt x="1053845" y="0"/>
                  </a:lnTo>
                  <a:lnTo>
                    <a:pt x="1069586" y="3167"/>
                  </a:lnTo>
                  <a:lnTo>
                    <a:pt x="1082420" y="11811"/>
                  </a:lnTo>
                  <a:lnTo>
                    <a:pt x="1091064" y="24645"/>
                  </a:lnTo>
                  <a:lnTo>
                    <a:pt x="1094232" y="40386"/>
                  </a:lnTo>
                  <a:lnTo>
                    <a:pt x="1094232" y="201930"/>
                  </a:lnTo>
                  <a:lnTo>
                    <a:pt x="1091064" y="217648"/>
                  </a:lnTo>
                  <a:lnTo>
                    <a:pt x="1082420" y="230485"/>
                  </a:lnTo>
                  <a:lnTo>
                    <a:pt x="1069586" y="239141"/>
                  </a:lnTo>
                  <a:lnTo>
                    <a:pt x="1053845" y="242316"/>
                  </a:lnTo>
                  <a:lnTo>
                    <a:pt x="40385" y="242316"/>
                  </a:lnTo>
                  <a:lnTo>
                    <a:pt x="24645" y="239141"/>
                  </a:lnTo>
                  <a:lnTo>
                    <a:pt x="11810" y="230485"/>
                  </a:lnTo>
                  <a:lnTo>
                    <a:pt x="3167" y="217648"/>
                  </a:lnTo>
                  <a:lnTo>
                    <a:pt x="0" y="201930"/>
                  </a:lnTo>
                  <a:lnTo>
                    <a:pt x="0" y="40386"/>
                  </a:lnTo>
                  <a:close/>
                </a:path>
              </a:pathLst>
            </a:custGeom>
            <a:ln w="9143">
              <a:solidFill>
                <a:srgbClr val="F762B8"/>
              </a:solidFill>
              <a:prstDash val="sysDashDot"/>
            </a:ln>
          </p:spPr>
          <p:txBody>
            <a:bodyPr wrap="square" lIns="0" tIns="0" rIns="0" bIns="0" rtlCol="0"/>
            <a:lstStyle/>
            <a:p>
              <a:pPr defTabSz="1219170"/>
              <a:endParaRPr sz="2400">
                <a:solidFill>
                  <a:prstClr val="black"/>
                </a:solidFill>
                <a:latin typeface="Calibri"/>
              </a:endParaRPr>
            </a:p>
          </p:txBody>
        </p:sp>
        <p:sp>
          <p:nvSpPr>
            <p:cNvPr id="19" name="object 19"/>
            <p:cNvSpPr/>
            <p:nvPr/>
          </p:nvSpPr>
          <p:spPr>
            <a:xfrm>
              <a:off x="6489191" y="1911095"/>
              <a:ext cx="1591310" cy="304800"/>
            </a:xfrm>
            <a:custGeom>
              <a:avLst/>
              <a:gdLst/>
              <a:ahLst/>
              <a:cxnLst/>
              <a:rect l="l" t="t" r="r" b="b"/>
              <a:pathLst>
                <a:path w="1591309" h="304800">
                  <a:moveTo>
                    <a:pt x="1540256" y="0"/>
                  </a:moveTo>
                  <a:lnTo>
                    <a:pt x="50800" y="0"/>
                  </a:lnTo>
                  <a:lnTo>
                    <a:pt x="31021" y="3990"/>
                  </a:lnTo>
                  <a:lnTo>
                    <a:pt x="14874" y="14874"/>
                  </a:lnTo>
                  <a:lnTo>
                    <a:pt x="3990" y="31021"/>
                  </a:lnTo>
                  <a:lnTo>
                    <a:pt x="0" y="50800"/>
                  </a:lnTo>
                  <a:lnTo>
                    <a:pt x="0" y="254000"/>
                  </a:lnTo>
                  <a:lnTo>
                    <a:pt x="3990" y="273778"/>
                  </a:lnTo>
                  <a:lnTo>
                    <a:pt x="14874" y="289925"/>
                  </a:lnTo>
                  <a:lnTo>
                    <a:pt x="31021" y="300809"/>
                  </a:lnTo>
                  <a:lnTo>
                    <a:pt x="50800" y="304800"/>
                  </a:lnTo>
                  <a:lnTo>
                    <a:pt x="1540256" y="304800"/>
                  </a:lnTo>
                  <a:lnTo>
                    <a:pt x="1560034" y="300809"/>
                  </a:lnTo>
                  <a:lnTo>
                    <a:pt x="1576181" y="289925"/>
                  </a:lnTo>
                  <a:lnTo>
                    <a:pt x="1587065" y="273778"/>
                  </a:lnTo>
                  <a:lnTo>
                    <a:pt x="1591056" y="254000"/>
                  </a:lnTo>
                  <a:lnTo>
                    <a:pt x="1591056" y="50800"/>
                  </a:lnTo>
                  <a:lnTo>
                    <a:pt x="1587065" y="31021"/>
                  </a:lnTo>
                  <a:lnTo>
                    <a:pt x="1576181" y="14874"/>
                  </a:lnTo>
                  <a:lnTo>
                    <a:pt x="1560034" y="3990"/>
                  </a:lnTo>
                  <a:lnTo>
                    <a:pt x="1540256" y="0"/>
                  </a:lnTo>
                  <a:close/>
                </a:path>
              </a:pathLst>
            </a:custGeom>
            <a:solidFill>
              <a:srgbClr val="1780C3">
                <a:alpha val="50195"/>
              </a:srgbClr>
            </a:solidFill>
          </p:spPr>
          <p:txBody>
            <a:bodyPr wrap="square" lIns="0" tIns="0" rIns="0" bIns="0" rtlCol="0"/>
            <a:lstStyle/>
            <a:p>
              <a:pPr defTabSz="1219170"/>
              <a:endParaRPr sz="2400">
                <a:solidFill>
                  <a:prstClr val="black"/>
                </a:solidFill>
                <a:latin typeface="Calibri"/>
              </a:endParaRPr>
            </a:p>
          </p:txBody>
        </p:sp>
        <p:sp>
          <p:nvSpPr>
            <p:cNvPr id="20" name="object 20"/>
            <p:cNvSpPr/>
            <p:nvPr/>
          </p:nvSpPr>
          <p:spPr>
            <a:xfrm>
              <a:off x="6489191" y="1911095"/>
              <a:ext cx="1591310" cy="304800"/>
            </a:xfrm>
            <a:custGeom>
              <a:avLst/>
              <a:gdLst/>
              <a:ahLst/>
              <a:cxnLst/>
              <a:rect l="l" t="t" r="r" b="b"/>
              <a:pathLst>
                <a:path w="1591309" h="304800">
                  <a:moveTo>
                    <a:pt x="0" y="50800"/>
                  </a:moveTo>
                  <a:lnTo>
                    <a:pt x="3990" y="31021"/>
                  </a:lnTo>
                  <a:lnTo>
                    <a:pt x="14874" y="14874"/>
                  </a:lnTo>
                  <a:lnTo>
                    <a:pt x="31021" y="3990"/>
                  </a:lnTo>
                  <a:lnTo>
                    <a:pt x="50800" y="0"/>
                  </a:lnTo>
                  <a:lnTo>
                    <a:pt x="1540256" y="0"/>
                  </a:lnTo>
                  <a:lnTo>
                    <a:pt x="1560034" y="3990"/>
                  </a:lnTo>
                  <a:lnTo>
                    <a:pt x="1576181" y="14874"/>
                  </a:lnTo>
                  <a:lnTo>
                    <a:pt x="1587065" y="31021"/>
                  </a:lnTo>
                  <a:lnTo>
                    <a:pt x="1591056" y="50800"/>
                  </a:lnTo>
                  <a:lnTo>
                    <a:pt x="1591056" y="254000"/>
                  </a:lnTo>
                  <a:lnTo>
                    <a:pt x="1587065" y="273778"/>
                  </a:lnTo>
                  <a:lnTo>
                    <a:pt x="1576181" y="289925"/>
                  </a:lnTo>
                  <a:lnTo>
                    <a:pt x="1560034" y="300809"/>
                  </a:lnTo>
                  <a:lnTo>
                    <a:pt x="1540256" y="304800"/>
                  </a:lnTo>
                  <a:lnTo>
                    <a:pt x="50800" y="304800"/>
                  </a:lnTo>
                  <a:lnTo>
                    <a:pt x="31021" y="300809"/>
                  </a:lnTo>
                  <a:lnTo>
                    <a:pt x="14874" y="289925"/>
                  </a:lnTo>
                  <a:lnTo>
                    <a:pt x="3990" y="273778"/>
                  </a:lnTo>
                  <a:lnTo>
                    <a:pt x="0" y="254000"/>
                  </a:lnTo>
                  <a:lnTo>
                    <a:pt x="0" y="50800"/>
                  </a:lnTo>
                  <a:close/>
                </a:path>
              </a:pathLst>
            </a:custGeom>
            <a:ln w="9144">
              <a:solidFill>
                <a:srgbClr val="F762B8"/>
              </a:solidFill>
            </a:ln>
          </p:spPr>
          <p:txBody>
            <a:bodyPr wrap="square" lIns="0" tIns="0" rIns="0" bIns="0" rtlCol="0"/>
            <a:lstStyle/>
            <a:p>
              <a:pPr defTabSz="1219170"/>
              <a:endParaRPr sz="2400">
                <a:solidFill>
                  <a:prstClr val="black"/>
                </a:solidFill>
                <a:latin typeface="Calibri"/>
              </a:endParaRPr>
            </a:p>
          </p:txBody>
        </p:sp>
        <p:sp>
          <p:nvSpPr>
            <p:cNvPr id="21" name="object 21"/>
            <p:cNvSpPr/>
            <p:nvPr/>
          </p:nvSpPr>
          <p:spPr>
            <a:xfrm>
              <a:off x="6489191" y="1906523"/>
              <a:ext cx="1591310" cy="304800"/>
            </a:xfrm>
            <a:custGeom>
              <a:avLst/>
              <a:gdLst/>
              <a:ahLst/>
              <a:cxnLst/>
              <a:rect l="l" t="t" r="r" b="b"/>
              <a:pathLst>
                <a:path w="1591309" h="304800">
                  <a:moveTo>
                    <a:pt x="0" y="50800"/>
                  </a:moveTo>
                  <a:lnTo>
                    <a:pt x="3990" y="31021"/>
                  </a:lnTo>
                  <a:lnTo>
                    <a:pt x="14874" y="14874"/>
                  </a:lnTo>
                  <a:lnTo>
                    <a:pt x="31021" y="3990"/>
                  </a:lnTo>
                  <a:lnTo>
                    <a:pt x="50800" y="0"/>
                  </a:lnTo>
                  <a:lnTo>
                    <a:pt x="1540256" y="0"/>
                  </a:lnTo>
                  <a:lnTo>
                    <a:pt x="1560034" y="3990"/>
                  </a:lnTo>
                  <a:lnTo>
                    <a:pt x="1576181" y="14874"/>
                  </a:lnTo>
                  <a:lnTo>
                    <a:pt x="1587065" y="31021"/>
                  </a:lnTo>
                  <a:lnTo>
                    <a:pt x="1591056" y="50800"/>
                  </a:lnTo>
                  <a:lnTo>
                    <a:pt x="1591056" y="254000"/>
                  </a:lnTo>
                  <a:lnTo>
                    <a:pt x="1587065" y="273778"/>
                  </a:lnTo>
                  <a:lnTo>
                    <a:pt x="1576181" y="289925"/>
                  </a:lnTo>
                  <a:lnTo>
                    <a:pt x="1560034" y="300809"/>
                  </a:lnTo>
                  <a:lnTo>
                    <a:pt x="1540256" y="304800"/>
                  </a:lnTo>
                  <a:lnTo>
                    <a:pt x="50800" y="304800"/>
                  </a:lnTo>
                  <a:lnTo>
                    <a:pt x="31021" y="300809"/>
                  </a:lnTo>
                  <a:lnTo>
                    <a:pt x="14874" y="289925"/>
                  </a:lnTo>
                  <a:lnTo>
                    <a:pt x="3990" y="273778"/>
                  </a:lnTo>
                  <a:lnTo>
                    <a:pt x="0" y="254000"/>
                  </a:lnTo>
                  <a:lnTo>
                    <a:pt x="0" y="50800"/>
                  </a:lnTo>
                  <a:close/>
                </a:path>
              </a:pathLst>
            </a:custGeom>
            <a:ln w="9144">
              <a:solidFill>
                <a:srgbClr val="483390"/>
              </a:solidFill>
              <a:prstDash val="sysDashDot"/>
            </a:ln>
          </p:spPr>
          <p:txBody>
            <a:bodyPr wrap="square" lIns="0" tIns="0" rIns="0" bIns="0" rtlCol="0"/>
            <a:lstStyle/>
            <a:p>
              <a:pPr defTabSz="1219170"/>
              <a:endParaRPr sz="2400">
                <a:solidFill>
                  <a:prstClr val="black"/>
                </a:solidFill>
                <a:latin typeface="Calibri"/>
              </a:endParaRPr>
            </a:p>
          </p:txBody>
        </p:sp>
        <p:sp>
          <p:nvSpPr>
            <p:cNvPr id="22" name="object 22"/>
            <p:cNvSpPr/>
            <p:nvPr/>
          </p:nvSpPr>
          <p:spPr>
            <a:xfrm>
              <a:off x="3354324" y="2063495"/>
              <a:ext cx="3136265" cy="1898014"/>
            </a:xfrm>
            <a:custGeom>
              <a:avLst/>
              <a:gdLst/>
              <a:ahLst/>
              <a:cxnLst/>
              <a:rect l="l" t="t" r="r" b="b"/>
              <a:pathLst>
                <a:path w="3136265" h="1898014">
                  <a:moveTo>
                    <a:pt x="3135756" y="0"/>
                  </a:moveTo>
                  <a:lnTo>
                    <a:pt x="0" y="1897519"/>
                  </a:lnTo>
                </a:path>
              </a:pathLst>
            </a:custGeom>
            <a:ln w="6095">
              <a:solidFill>
                <a:srgbClr val="F762B8"/>
              </a:solidFill>
              <a:prstDash val="sysDashDot"/>
            </a:ln>
          </p:spPr>
          <p:txBody>
            <a:bodyPr wrap="square" lIns="0" tIns="0" rIns="0" bIns="0" rtlCol="0"/>
            <a:lstStyle/>
            <a:p>
              <a:pPr defTabSz="1219170"/>
              <a:endParaRPr sz="2400">
                <a:solidFill>
                  <a:prstClr val="black"/>
                </a:solidFill>
                <a:latin typeface="Calibri"/>
              </a:endParaRPr>
            </a:p>
          </p:txBody>
        </p:sp>
      </p:grpSp>
      <p:grpSp>
        <p:nvGrpSpPr>
          <p:cNvPr id="23" name="object 23"/>
          <p:cNvGrpSpPr/>
          <p:nvPr/>
        </p:nvGrpSpPr>
        <p:grpSpPr>
          <a:xfrm>
            <a:off x="690879" y="6435344"/>
            <a:ext cx="4805680" cy="423333"/>
            <a:chOff x="518159" y="4826508"/>
            <a:chExt cx="3604260" cy="317500"/>
          </a:xfrm>
        </p:grpSpPr>
        <p:sp>
          <p:nvSpPr>
            <p:cNvPr id="24" name="object 24"/>
            <p:cNvSpPr/>
            <p:nvPr/>
          </p:nvSpPr>
          <p:spPr>
            <a:xfrm>
              <a:off x="518159" y="4826508"/>
              <a:ext cx="3604260" cy="316990"/>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5" name="object 25"/>
            <p:cNvSpPr/>
            <p:nvPr/>
          </p:nvSpPr>
          <p:spPr>
            <a:xfrm>
              <a:off x="676655" y="4834134"/>
              <a:ext cx="2910840" cy="309363"/>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6" name="object 26"/>
            <p:cNvSpPr/>
            <p:nvPr/>
          </p:nvSpPr>
          <p:spPr>
            <a:xfrm>
              <a:off x="577595" y="4866132"/>
              <a:ext cx="3489960" cy="248920"/>
            </a:xfrm>
            <a:custGeom>
              <a:avLst/>
              <a:gdLst/>
              <a:ahLst/>
              <a:cxnLst/>
              <a:rect l="l" t="t" r="r" b="b"/>
              <a:pathLst>
                <a:path w="3489960" h="248920">
                  <a:moveTo>
                    <a:pt x="3489960" y="0"/>
                  </a:moveTo>
                  <a:lnTo>
                    <a:pt x="0" y="0"/>
                  </a:lnTo>
                  <a:lnTo>
                    <a:pt x="0" y="248411"/>
                  </a:lnTo>
                  <a:lnTo>
                    <a:pt x="3489960" y="248411"/>
                  </a:lnTo>
                  <a:lnTo>
                    <a:pt x="3489960" y="0"/>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27" name="object 27"/>
          <p:cNvSpPr txBox="1"/>
          <p:nvPr/>
        </p:nvSpPr>
        <p:spPr>
          <a:xfrm>
            <a:off x="1066935" y="6525700"/>
            <a:ext cx="3558540" cy="223074"/>
          </a:xfrm>
          <a:prstGeom prst="rect">
            <a:avLst/>
          </a:prstGeom>
        </p:spPr>
        <p:txBody>
          <a:bodyPr vert="horz" wrap="square" lIns="0" tIns="17780" rIns="0" bIns="0" rtlCol="0">
            <a:spAutoFit/>
          </a:bodyPr>
          <a:lstStyle/>
          <a:p>
            <a:pPr marL="16933" defTabSz="1219170">
              <a:spcBef>
                <a:spcPts val="140"/>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80" dirty="0">
                <a:solidFill>
                  <a:srgbClr val="D9D9D9"/>
                </a:solidFill>
                <a:latin typeface="Arial"/>
                <a:cs typeface="Arial"/>
              </a:rPr>
              <a:t>–f</a:t>
            </a:r>
            <a:r>
              <a:rPr sz="1333" spc="-133" dirty="0">
                <a:solidFill>
                  <a:srgbClr val="D9D9D9"/>
                </a:solidFill>
                <a:latin typeface="Arial"/>
                <a:cs typeface="Arial"/>
              </a:rPr>
              <a:t> </a:t>
            </a:r>
            <a:r>
              <a:rPr sz="1333" spc="152" dirty="0">
                <a:solidFill>
                  <a:srgbClr val="D9D9D9"/>
                </a:solidFill>
                <a:latin typeface="Arial"/>
                <a:cs typeface="Arial"/>
              </a:rPr>
              <a:t>pod-definition.yaml</a:t>
            </a:r>
            <a:endParaRPr sz="1333" dirty="0">
              <a:solidFill>
                <a:prstClr val="black"/>
              </a:solidFill>
              <a:latin typeface="Arial"/>
              <a:cs typeface="Arial"/>
            </a:endParaRPr>
          </a:p>
        </p:txBody>
      </p:sp>
      <p:sp>
        <p:nvSpPr>
          <p:cNvPr id="28" name="object 28"/>
          <p:cNvSpPr/>
          <p:nvPr/>
        </p:nvSpPr>
        <p:spPr>
          <a:xfrm>
            <a:off x="794944" y="6504479"/>
            <a:ext cx="213360" cy="274320"/>
          </a:xfrm>
          <a:custGeom>
            <a:avLst/>
            <a:gdLst/>
            <a:ahLst/>
            <a:cxnLst/>
            <a:rect l="l" t="t" r="r" b="b"/>
            <a:pathLst>
              <a:path w="160020"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Tree>
    <p:extLst>
      <p:ext uri="{BB962C8B-B14F-4D97-AF65-F5344CB8AC3E}">
        <p14:creationId xmlns:p14="http://schemas.microsoft.com/office/powerpoint/2010/main" val="3571074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82430" y="326137"/>
            <a:ext cx="4360333" cy="694207"/>
          </a:xfrm>
          <a:prstGeom prst="rect">
            <a:avLst/>
          </a:prstGeom>
        </p:spPr>
        <p:txBody>
          <a:bodyPr vert="horz" wrap="square" lIns="0" tIns="16933" rIns="0" bIns="0" rtlCol="0">
            <a:spAutoFit/>
          </a:bodyPr>
          <a:lstStyle/>
          <a:p>
            <a:pPr marL="16933">
              <a:spcBef>
                <a:spcPts val="133"/>
              </a:spcBef>
            </a:pPr>
            <a:r>
              <a:rPr spc="13" dirty="0">
                <a:solidFill>
                  <a:schemeClr val="tx1"/>
                </a:solidFill>
              </a:rPr>
              <a:t>Secrets </a:t>
            </a:r>
            <a:r>
              <a:rPr spc="27" dirty="0">
                <a:solidFill>
                  <a:schemeClr val="tx1"/>
                </a:solidFill>
              </a:rPr>
              <a:t>in</a:t>
            </a:r>
            <a:r>
              <a:rPr spc="-820" dirty="0">
                <a:solidFill>
                  <a:schemeClr val="tx1"/>
                </a:solidFill>
              </a:rPr>
              <a:t> </a:t>
            </a:r>
            <a:r>
              <a:rPr spc="173" dirty="0">
                <a:solidFill>
                  <a:schemeClr val="tx1"/>
                </a:solidFill>
              </a:rPr>
              <a:t>Pods</a:t>
            </a:r>
          </a:p>
        </p:txBody>
      </p:sp>
      <p:sp>
        <p:nvSpPr>
          <p:cNvPr id="4" name="object 4"/>
          <p:cNvSpPr/>
          <p:nvPr/>
        </p:nvSpPr>
        <p:spPr>
          <a:xfrm>
            <a:off x="776225" y="1519937"/>
            <a:ext cx="5094393" cy="1231900"/>
          </a:xfrm>
          <a:custGeom>
            <a:avLst/>
            <a:gdLst/>
            <a:ahLst/>
            <a:cxnLst/>
            <a:rect l="l" t="t" r="r" b="b"/>
            <a:pathLst>
              <a:path w="3820795" h="923925">
                <a:moveTo>
                  <a:pt x="3820667" y="0"/>
                </a:moveTo>
                <a:lnTo>
                  <a:pt x="0" y="0"/>
                </a:lnTo>
                <a:lnTo>
                  <a:pt x="0" y="923544"/>
                </a:lnTo>
                <a:lnTo>
                  <a:pt x="3820667" y="923544"/>
                </a:lnTo>
                <a:lnTo>
                  <a:pt x="3820667"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5" name="object 5"/>
          <p:cNvSpPr txBox="1"/>
          <p:nvPr/>
        </p:nvSpPr>
        <p:spPr>
          <a:xfrm>
            <a:off x="776225" y="1519936"/>
            <a:ext cx="5094393" cy="781410"/>
          </a:xfrm>
          <a:prstGeom prst="rect">
            <a:avLst/>
          </a:prstGeom>
        </p:spPr>
        <p:txBody>
          <a:bodyPr vert="horz" wrap="square" lIns="0" tIns="42333" rIns="0" bIns="0" rtlCol="0">
            <a:spAutoFit/>
          </a:bodyPr>
          <a:lstStyle/>
          <a:p>
            <a:pPr marL="122764" defTabSz="1219170">
              <a:spcBef>
                <a:spcPts val="333"/>
              </a:spcBef>
            </a:pPr>
            <a:r>
              <a:rPr sz="1600" b="1" dirty="0">
                <a:solidFill>
                  <a:srgbClr val="CC7831"/>
                </a:solidFill>
                <a:latin typeface="Courier New"/>
                <a:cs typeface="Courier New"/>
              </a:rPr>
              <a:t>envFrom:</a:t>
            </a:r>
            <a:endParaRPr sz="1600">
              <a:solidFill>
                <a:prstClr val="black"/>
              </a:solidFill>
              <a:latin typeface="Courier New"/>
              <a:cs typeface="Courier New"/>
            </a:endParaRPr>
          </a:p>
          <a:p>
            <a:pPr marL="366598" defTabSz="1219170">
              <a:spcBef>
                <a:spcPts val="7"/>
              </a:spcBef>
            </a:pPr>
            <a:r>
              <a:rPr sz="1600" dirty="0">
                <a:solidFill>
                  <a:srgbClr val="A9B7C5"/>
                </a:solidFill>
                <a:latin typeface="Courier New"/>
                <a:cs typeface="Courier New"/>
              </a:rPr>
              <a:t>-</a:t>
            </a:r>
            <a:r>
              <a:rPr sz="1600" spc="7" dirty="0">
                <a:solidFill>
                  <a:srgbClr val="A9B7C5"/>
                </a:solidFill>
                <a:latin typeface="Courier New"/>
                <a:cs typeface="Courier New"/>
              </a:rPr>
              <a:t> </a:t>
            </a:r>
            <a:r>
              <a:rPr sz="1600" b="1" dirty="0">
                <a:solidFill>
                  <a:srgbClr val="CC7831"/>
                </a:solidFill>
                <a:latin typeface="Courier New"/>
                <a:cs typeface="Courier New"/>
              </a:rPr>
              <a:t>secretRef:</a:t>
            </a:r>
            <a:endParaRPr sz="1600">
              <a:solidFill>
                <a:prstClr val="black"/>
              </a:solidFill>
              <a:latin typeface="Courier New"/>
              <a:cs typeface="Courier New"/>
            </a:endParaRPr>
          </a:p>
          <a:p>
            <a:pPr marL="1104026" defTabSz="1219170"/>
            <a:r>
              <a:rPr sz="1600" b="1" spc="-7" dirty="0">
                <a:solidFill>
                  <a:srgbClr val="CC7831"/>
                </a:solidFill>
                <a:latin typeface="Courier New"/>
                <a:cs typeface="Courier New"/>
              </a:rPr>
              <a:t>name:</a:t>
            </a:r>
            <a:r>
              <a:rPr sz="1600" b="1" spc="7" dirty="0">
                <a:solidFill>
                  <a:srgbClr val="CC7831"/>
                </a:solidFill>
                <a:latin typeface="Courier New"/>
                <a:cs typeface="Courier New"/>
              </a:rPr>
              <a:t> </a:t>
            </a:r>
            <a:r>
              <a:rPr sz="1600" dirty="0">
                <a:solidFill>
                  <a:srgbClr val="A9B7C5"/>
                </a:solidFill>
                <a:latin typeface="Courier New"/>
                <a:cs typeface="Courier New"/>
              </a:rPr>
              <a:t>app-config</a:t>
            </a:r>
            <a:endParaRPr sz="1600">
              <a:solidFill>
                <a:prstClr val="black"/>
              </a:solidFill>
              <a:latin typeface="Courier New"/>
              <a:cs typeface="Courier New"/>
            </a:endParaRPr>
          </a:p>
        </p:txBody>
      </p:sp>
      <p:sp>
        <p:nvSpPr>
          <p:cNvPr id="6" name="object 6"/>
          <p:cNvSpPr/>
          <p:nvPr/>
        </p:nvSpPr>
        <p:spPr>
          <a:xfrm>
            <a:off x="2794001" y="3137407"/>
            <a:ext cx="5092700" cy="1601893"/>
          </a:xfrm>
          <a:custGeom>
            <a:avLst/>
            <a:gdLst/>
            <a:ahLst/>
            <a:cxnLst/>
            <a:rect l="l" t="t" r="r" b="b"/>
            <a:pathLst>
              <a:path w="3819525" h="1201420">
                <a:moveTo>
                  <a:pt x="3819144" y="0"/>
                </a:moveTo>
                <a:lnTo>
                  <a:pt x="0" y="0"/>
                </a:lnTo>
                <a:lnTo>
                  <a:pt x="0" y="1200912"/>
                </a:lnTo>
                <a:lnTo>
                  <a:pt x="3819144" y="1200912"/>
                </a:lnTo>
                <a:lnTo>
                  <a:pt x="3819144"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7" name="object 7"/>
          <p:cNvSpPr txBox="1"/>
          <p:nvPr/>
        </p:nvSpPr>
        <p:spPr>
          <a:xfrm>
            <a:off x="2794001" y="3137407"/>
            <a:ext cx="5092700" cy="1523494"/>
          </a:xfrm>
          <a:prstGeom prst="rect">
            <a:avLst/>
          </a:prstGeom>
        </p:spPr>
        <p:txBody>
          <a:bodyPr vert="horz" wrap="square" lIns="0" tIns="45720" rIns="0" bIns="0" rtlCol="0">
            <a:spAutoFit/>
          </a:bodyPr>
          <a:lstStyle/>
          <a:p>
            <a:pPr marL="121070" defTabSz="1219170">
              <a:spcBef>
                <a:spcPts val="360"/>
              </a:spcBef>
            </a:pPr>
            <a:r>
              <a:rPr sz="1600" b="1" dirty="0">
                <a:solidFill>
                  <a:srgbClr val="CC7831"/>
                </a:solidFill>
                <a:latin typeface="Courier New"/>
                <a:cs typeface="Courier New"/>
              </a:rPr>
              <a:t>env:</a:t>
            </a:r>
            <a:endParaRPr sz="1600">
              <a:solidFill>
                <a:prstClr val="black"/>
              </a:solidFill>
              <a:latin typeface="Courier New"/>
              <a:cs typeface="Courier New"/>
            </a:endParaRPr>
          </a:p>
          <a:p>
            <a:pPr marL="364904" defTabSz="1219170"/>
            <a:r>
              <a:rPr sz="1600" dirty="0">
                <a:solidFill>
                  <a:srgbClr val="A9B7C5"/>
                </a:solidFill>
                <a:latin typeface="Courier New"/>
                <a:cs typeface="Courier New"/>
              </a:rPr>
              <a:t>- </a:t>
            </a:r>
            <a:r>
              <a:rPr sz="1600" b="1" dirty="0">
                <a:solidFill>
                  <a:srgbClr val="CC7831"/>
                </a:solidFill>
                <a:latin typeface="Courier New"/>
                <a:cs typeface="Courier New"/>
              </a:rPr>
              <a:t>name:</a:t>
            </a:r>
            <a:r>
              <a:rPr sz="1600" b="1" spc="13" dirty="0">
                <a:solidFill>
                  <a:srgbClr val="CC7831"/>
                </a:solidFill>
                <a:latin typeface="Courier New"/>
                <a:cs typeface="Courier New"/>
              </a:rPr>
              <a:t> </a:t>
            </a:r>
            <a:r>
              <a:rPr sz="1600" dirty="0">
                <a:solidFill>
                  <a:srgbClr val="A9B7C5"/>
                </a:solidFill>
                <a:latin typeface="Courier New"/>
                <a:cs typeface="Courier New"/>
              </a:rPr>
              <a:t>DB_Password</a:t>
            </a:r>
            <a:endParaRPr sz="1600">
              <a:solidFill>
                <a:prstClr val="black"/>
              </a:solidFill>
              <a:latin typeface="Courier New"/>
              <a:cs typeface="Courier New"/>
            </a:endParaRPr>
          </a:p>
          <a:p>
            <a:pPr marL="610430" defTabSz="1219170"/>
            <a:r>
              <a:rPr sz="1600" b="1" dirty="0">
                <a:solidFill>
                  <a:srgbClr val="CC7831"/>
                </a:solidFill>
                <a:latin typeface="Courier New"/>
                <a:cs typeface="Courier New"/>
              </a:rPr>
              <a:t>valueFrom:</a:t>
            </a:r>
            <a:endParaRPr sz="1600">
              <a:solidFill>
                <a:prstClr val="black"/>
              </a:solidFill>
              <a:latin typeface="Courier New"/>
              <a:cs typeface="Courier New"/>
            </a:endParaRPr>
          </a:p>
          <a:p>
            <a:pPr marL="1102331" marR="2015863" indent="-246374" defTabSz="1219170">
              <a:spcBef>
                <a:spcPts val="7"/>
              </a:spcBef>
            </a:pPr>
            <a:r>
              <a:rPr sz="1600" b="1" dirty="0">
                <a:solidFill>
                  <a:srgbClr val="CC7831"/>
                </a:solidFill>
                <a:latin typeface="Courier New"/>
                <a:cs typeface="Courier New"/>
              </a:rPr>
              <a:t>secretKeyRef:  </a:t>
            </a:r>
            <a:r>
              <a:rPr sz="1600" b="1" spc="-7" dirty="0">
                <a:solidFill>
                  <a:srgbClr val="CC7831"/>
                </a:solidFill>
                <a:latin typeface="Courier New"/>
                <a:cs typeface="Courier New"/>
              </a:rPr>
              <a:t>name:</a:t>
            </a:r>
            <a:r>
              <a:rPr sz="1600" b="1" spc="-80" dirty="0">
                <a:solidFill>
                  <a:srgbClr val="CC7831"/>
                </a:solidFill>
                <a:latin typeface="Courier New"/>
                <a:cs typeface="Courier New"/>
              </a:rPr>
              <a:t> </a:t>
            </a:r>
            <a:r>
              <a:rPr sz="1600" dirty="0">
                <a:solidFill>
                  <a:srgbClr val="A9B7C5"/>
                </a:solidFill>
                <a:latin typeface="Courier New"/>
                <a:cs typeface="Courier New"/>
              </a:rPr>
              <a:t>app-secret</a:t>
            </a:r>
            <a:endParaRPr sz="1600">
              <a:solidFill>
                <a:prstClr val="black"/>
              </a:solidFill>
              <a:latin typeface="Courier New"/>
              <a:cs typeface="Courier New"/>
            </a:endParaRPr>
          </a:p>
          <a:p>
            <a:pPr marL="1102331" defTabSz="1219170">
              <a:spcBef>
                <a:spcPts val="27"/>
              </a:spcBef>
            </a:pPr>
            <a:r>
              <a:rPr sz="1600" b="1" dirty="0">
                <a:solidFill>
                  <a:srgbClr val="CC7831"/>
                </a:solidFill>
                <a:latin typeface="Courier New"/>
                <a:cs typeface="Courier New"/>
              </a:rPr>
              <a:t>key:</a:t>
            </a:r>
            <a:r>
              <a:rPr sz="1600" b="1" spc="-113" dirty="0">
                <a:solidFill>
                  <a:srgbClr val="CC7831"/>
                </a:solidFill>
                <a:latin typeface="Courier New"/>
                <a:cs typeface="Courier New"/>
              </a:rPr>
              <a:t> </a:t>
            </a:r>
            <a:r>
              <a:rPr sz="1600" dirty="0">
                <a:solidFill>
                  <a:srgbClr val="A9B7C5"/>
                </a:solidFill>
                <a:latin typeface="Courier New"/>
                <a:cs typeface="Courier New"/>
              </a:rPr>
              <a:t>DB_Password</a:t>
            </a:r>
            <a:endParaRPr sz="1600">
              <a:solidFill>
                <a:prstClr val="black"/>
              </a:solidFill>
              <a:latin typeface="Courier New"/>
              <a:cs typeface="Courier New"/>
            </a:endParaRPr>
          </a:p>
        </p:txBody>
      </p:sp>
      <p:sp>
        <p:nvSpPr>
          <p:cNvPr id="8" name="object 8"/>
          <p:cNvSpPr/>
          <p:nvPr/>
        </p:nvSpPr>
        <p:spPr>
          <a:xfrm>
            <a:off x="776225" y="5000752"/>
            <a:ext cx="5094393" cy="1292859"/>
          </a:xfrm>
          <a:custGeom>
            <a:avLst/>
            <a:gdLst/>
            <a:ahLst/>
            <a:cxnLst/>
            <a:rect l="l" t="t" r="r" b="b"/>
            <a:pathLst>
              <a:path w="3820795" h="969645">
                <a:moveTo>
                  <a:pt x="3820667" y="0"/>
                </a:moveTo>
                <a:lnTo>
                  <a:pt x="0" y="0"/>
                </a:lnTo>
                <a:lnTo>
                  <a:pt x="0" y="969264"/>
                </a:lnTo>
                <a:lnTo>
                  <a:pt x="3820667" y="969264"/>
                </a:lnTo>
                <a:lnTo>
                  <a:pt x="3820667"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9" name="object 9"/>
          <p:cNvSpPr txBox="1"/>
          <p:nvPr/>
        </p:nvSpPr>
        <p:spPr>
          <a:xfrm>
            <a:off x="776225" y="5000752"/>
            <a:ext cx="5094393" cy="1049860"/>
          </a:xfrm>
          <a:prstGeom prst="rect">
            <a:avLst/>
          </a:prstGeom>
        </p:spPr>
        <p:txBody>
          <a:bodyPr vert="horz" wrap="square" lIns="0" tIns="64347" rIns="0" bIns="0" rtlCol="0">
            <a:spAutoFit/>
          </a:bodyPr>
          <a:lstStyle/>
          <a:p>
            <a:pPr marL="122764" defTabSz="1219170">
              <a:spcBef>
                <a:spcPts val="507"/>
              </a:spcBef>
            </a:pPr>
            <a:r>
              <a:rPr sz="1600" b="1" spc="-7" dirty="0">
                <a:solidFill>
                  <a:srgbClr val="CC7831"/>
                </a:solidFill>
                <a:latin typeface="Courier New"/>
                <a:cs typeface="Courier New"/>
              </a:rPr>
              <a:t>volumes:</a:t>
            </a:r>
            <a:endParaRPr sz="1600">
              <a:solidFill>
                <a:prstClr val="black"/>
              </a:solidFill>
              <a:latin typeface="Courier New"/>
              <a:cs typeface="Courier New"/>
            </a:endParaRPr>
          </a:p>
          <a:p>
            <a:pPr marL="122764" defTabSz="1219170"/>
            <a:r>
              <a:rPr sz="1600" dirty="0">
                <a:solidFill>
                  <a:srgbClr val="A9B7C5"/>
                </a:solidFill>
                <a:latin typeface="Courier New"/>
                <a:cs typeface="Courier New"/>
              </a:rPr>
              <a:t>- </a:t>
            </a:r>
            <a:r>
              <a:rPr sz="1600" b="1" dirty="0">
                <a:solidFill>
                  <a:srgbClr val="CC7831"/>
                </a:solidFill>
                <a:latin typeface="Courier New"/>
                <a:cs typeface="Courier New"/>
              </a:rPr>
              <a:t>name:</a:t>
            </a:r>
            <a:r>
              <a:rPr sz="1600" b="1" spc="-7" dirty="0">
                <a:solidFill>
                  <a:srgbClr val="CC7831"/>
                </a:solidFill>
                <a:latin typeface="Courier New"/>
                <a:cs typeface="Courier New"/>
              </a:rPr>
              <a:t> </a:t>
            </a:r>
            <a:r>
              <a:rPr sz="1600" dirty="0">
                <a:solidFill>
                  <a:srgbClr val="A9B7C5"/>
                </a:solidFill>
                <a:latin typeface="Courier New"/>
                <a:cs typeface="Courier New"/>
              </a:rPr>
              <a:t>app-secret-volume</a:t>
            </a:r>
            <a:endParaRPr sz="1600">
              <a:solidFill>
                <a:prstClr val="black"/>
              </a:solidFill>
              <a:latin typeface="Courier New"/>
              <a:cs typeface="Courier New"/>
            </a:endParaRPr>
          </a:p>
          <a:p>
            <a:pPr marL="366598" defTabSz="1219170"/>
            <a:r>
              <a:rPr sz="1600" b="1" dirty="0">
                <a:solidFill>
                  <a:srgbClr val="CC7831"/>
                </a:solidFill>
                <a:latin typeface="Courier New"/>
                <a:cs typeface="Courier New"/>
              </a:rPr>
              <a:t>secret:</a:t>
            </a:r>
            <a:endParaRPr sz="1600">
              <a:solidFill>
                <a:prstClr val="black"/>
              </a:solidFill>
              <a:latin typeface="Courier New"/>
              <a:cs typeface="Courier New"/>
            </a:endParaRPr>
          </a:p>
          <a:p>
            <a:pPr marL="612125" defTabSz="1219170">
              <a:spcBef>
                <a:spcPts val="7"/>
              </a:spcBef>
            </a:pPr>
            <a:r>
              <a:rPr sz="1600" b="1" dirty="0">
                <a:solidFill>
                  <a:srgbClr val="CC7831"/>
                </a:solidFill>
                <a:latin typeface="Courier New"/>
                <a:cs typeface="Courier New"/>
              </a:rPr>
              <a:t>secretName:</a:t>
            </a:r>
            <a:r>
              <a:rPr sz="1600" b="1" spc="27" dirty="0">
                <a:solidFill>
                  <a:srgbClr val="CC7831"/>
                </a:solidFill>
                <a:latin typeface="Courier New"/>
                <a:cs typeface="Courier New"/>
              </a:rPr>
              <a:t> </a:t>
            </a:r>
            <a:r>
              <a:rPr sz="1600" spc="-7" dirty="0">
                <a:solidFill>
                  <a:srgbClr val="A9B7C5"/>
                </a:solidFill>
                <a:latin typeface="Courier New"/>
                <a:cs typeface="Courier New"/>
              </a:rPr>
              <a:t>app-secret</a:t>
            </a:r>
            <a:endParaRPr sz="1600">
              <a:solidFill>
                <a:prstClr val="black"/>
              </a:solidFill>
              <a:latin typeface="Courier New"/>
              <a:cs typeface="Courier New"/>
            </a:endParaRPr>
          </a:p>
        </p:txBody>
      </p:sp>
      <p:sp>
        <p:nvSpPr>
          <p:cNvPr id="10" name="object 10"/>
          <p:cNvSpPr/>
          <p:nvPr/>
        </p:nvSpPr>
        <p:spPr>
          <a:xfrm>
            <a:off x="776225" y="3137407"/>
            <a:ext cx="2186940" cy="1601893"/>
          </a:xfrm>
          <a:custGeom>
            <a:avLst/>
            <a:gdLst/>
            <a:ahLst/>
            <a:cxnLst/>
            <a:rect l="l" t="t" r="r" b="b"/>
            <a:pathLst>
              <a:path w="1640205" h="1201420">
                <a:moveTo>
                  <a:pt x="1519174" y="0"/>
                </a:moveTo>
                <a:lnTo>
                  <a:pt x="0" y="0"/>
                </a:lnTo>
                <a:lnTo>
                  <a:pt x="0" y="1200912"/>
                </a:lnTo>
                <a:lnTo>
                  <a:pt x="1519174" y="1200912"/>
                </a:lnTo>
                <a:lnTo>
                  <a:pt x="1519174" y="705993"/>
                </a:lnTo>
                <a:lnTo>
                  <a:pt x="1639824" y="600456"/>
                </a:lnTo>
                <a:lnTo>
                  <a:pt x="1519174" y="494919"/>
                </a:lnTo>
                <a:lnTo>
                  <a:pt x="1519174" y="0"/>
                </a:lnTo>
                <a:close/>
              </a:path>
            </a:pathLst>
          </a:custGeom>
          <a:solidFill>
            <a:srgbClr val="1780C3">
              <a:alpha val="92939"/>
            </a:srgbClr>
          </a:solidFill>
          <a:ln>
            <a:solidFill>
              <a:schemeClr val="tx1">
                <a:lumMod val="50000"/>
                <a:lumOff val="50000"/>
              </a:schemeClr>
            </a:solidFill>
          </a:ln>
        </p:spPr>
        <p:txBody>
          <a:bodyPr wrap="square" lIns="0" tIns="0" rIns="0" bIns="0" rtlCol="0"/>
          <a:lstStyle/>
          <a:p>
            <a:pPr defTabSz="1219170"/>
            <a:endParaRPr sz="2400">
              <a:solidFill>
                <a:prstClr val="black"/>
              </a:solidFill>
              <a:latin typeface="Calibri"/>
            </a:endParaRPr>
          </a:p>
        </p:txBody>
      </p:sp>
      <p:sp>
        <p:nvSpPr>
          <p:cNvPr id="11" name="object 11"/>
          <p:cNvSpPr txBox="1"/>
          <p:nvPr/>
        </p:nvSpPr>
        <p:spPr>
          <a:xfrm>
            <a:off x="1218116" y="3771053"/>
            <a:ext cx="1302173" cy="571951"/>
          </a:xfrm>
          <a:prstGeom prst="rect">
            <a:avLst/>
          </a:prstGeom>
        </p:spPr>
        <p:txBody>
          <a:bodyPr vert="horz" wrap="square" lIns="0" tIns="17780" rIns="0" bIns="0" rtlCol="0">
            <a:spAutoFit/>
          </a:bodyPr>
          <a:lstStyle/>
          <a:p>
            <a:pPr marL="16933" defTabSz="1219170">
              <a:spcBef>
                <a:spcPts val="140"/>
              </a:spcBef>
            </a:pPr>
            <a:r>
              <a:rPr spc="-20" dirty="0">
                <a:solidFill>
                  <a:srgbClr val="FFFFFF"/>
                </a:solidFill>
                <a:latin typeface="Noto Sans"/>
                <a:cs typeface="Noto Sans"/>
              </a:rPr>
              <a:t>SINGLE</a:t>
            </a:r>
            <a:r>
              <a:rPr spc="-133" dirty="0">
                <a:solidFill>
                  <a:srgbClr val="FFFFFF"/>
                </a:solidFill>
                <a:latin typeface="Noto Sans"/>
                <a:cs typeface="Noto Sans"/>
              </a:rPr>
              <a:t> </a:t>
            </a:r>
            <a:r>
              <a:rPr spc="-13" dirty="0">
                <a:solidFill>
                  <a:srgbClr val="FFFFFF"/>
                </a:solidFill>
                <a:latin typeface="Noto Sans"/>
                <a:cs typeface="Noto Sans"/>
              </a:rPr>
              <a:t>ENV</a:t>
            </a:r>
            <a:endParaRPr dirty="0">
              <a:solidFill>
                <a:prstClr val="black"/>
              </a:solidFill>
              <a:latin typeface="Noto Sans"/>
              <a:cs typeface="Noto Sans"/>
            </a:endParaRPr>
          </a:p>
        </p:txBody>
      </p:sp>
      <p:sp>
        <p:nvSpPr>
          <p:cNvPr id="12" name="object 12"/>
          <p:cNvSpPr/>
          <p:nvPr/>
        </p:nvSpPr>
        <p:spPr>
          <a:xfrm>
            <a:off x="5701792" y="5000752"/>
            <a:ext cx="2184400" cy="1292859"/>
          </a:xfrm>
          <a:custGeom>
            <a:avLst/>
            <a:gdLst/>
            <a:ahLst/>
            <a:cxnLst/>
            <a:rect l="l" t="t" r="r" b="b"/>
            <a:pathLst>
              <a:path w="1638300" h="969645">
                <a:moveTo>
                  <a:pt x="1638300" y="0"/>
                </a:moveTo>
                <a:lnTo>
                  <a:pt x="120650" y="0"/>
                </a:lnTo>
                <a:lnTo>
                  <a:pt x="120650" y="399427"/>
                </a:lnTo>
                <a:lnTo>
                  <a:pt x="0" y="484632"/>
                </a:lnTo>
                <a:lnTo>
                  <a:pt x="120650" y="569836"/>
                </a:lnTo>
                <a:lnTo>
                  <a:pt x="120650" y="969264"/>
                </a:lnTo>
                <a:lnTo>
                  <a:pt x="1638300" y="969264"/>
                </a:lnTo>
                <a:lnTo>
                  <a:pt x="1638300" y="0"/>
                </a:lnTo>
                <a:close/>
              </a:path>
            </a:pathLst>
          </a:custGeom>
          <a:solidFill>
            <a:srgbClr val="39B54A">
              <a:alpha val="92939"/>
            </a:srgbClr>
          </a:solidFill>
        </p:spPr>
        <p:txBody>
          <a:bodyPr wrap="square" lIns="0" tIns="0" rIns="0" bIns="0" rtlCol="0"/>
          <a:lstStyle/>
          <a:p>
            <a:pPr defTabSz="1219170"/>
            <a:endParaRPr sz="2400">
              <a:solidFill>
                <a:prstClr val="black"/>
              </a:solidFill>
              <a:latin typeface="Calibri"/>
            </a:endParaRPr>
          </a:p>
        </p:txBody>
      </p:sp>
      <p:sp>
        <p:nvSpPr>
          <p:cNvPr id="13" name="object 13"/>
          <p:cNvSpPr txBox="1"/>
          <p:nvPr/>
        </p:nvSpPr>
        <p:spPr>
          <a:xfrm>
            <a:off x="6311562" y="5480440"/>
            <a:ext cx="966893" cy="571951"/>
          </a:xfrm>
          <a:prstGeom prst="rect">
            <a:avLst/>
          </a:prstGeom>
        </p:spPr>
        <p:txBody>
          <a:bodyPr vert="horz" wrap="square" lIns="0" tIns="17780" rIns="0" bIns="0" rtlCol="0">
            <a:spAutoFit/>
          </a:bodyPr>
          <a:lstStyle/>
          <a:p>
            <a:pPr marL="16933" defTabSz="1219170">
              <a:spcBef>
                <a:spcPts val="140"/>
              </a:spcBef>
            </a:pPr>
            <a:r>
              <a:rPr spc="-13" dirty="0">
                <a:solidFill>
                  <a:srgbClr val="FFFFFF"/>
                </a:solidFill>
                <a:latin typeface="Noto Sans"/>
                <a:cs typeface="Noto Sans"/>
              </a:rPr>
              <a:t>VOLUME</a:t>
            </a:r>
            <a:endParaRPr>
              <a:solidFill>
                <a:prstClr val="black"/>
              </a:solidFill>
              <a:latin typeface="Noto Sans"/>
              <a:cs typeface="Noto Sans"/>
            </a:endParaRPr>
          </a:p>
        </p:txBody>
      </p:sp>
      <p:sp>
        <p:nvSpPr>
          <p:cNvPr id="14" name="object 14"/>
          <p:cNvSpPr/>
          <p:nvPr/>
        </p:nvSpPr>
        <p:spPr>
          <a:xfrm>
            <a:off x="5701792" y="1503681"/>
            <a:ext cx="2184400" cy="1264073"/>
          </a:xfrm>
          <a:custGeom>
            <a:avLst/>
            <a:gdLst/>
            <a:ahLst/>
            <a:cxnLst/>
            <a:rect l="l" t="t" r="r" b="b"/>
            <a:pathLst>
              <a:path w="1638300" h="948055">
                <a:moveTo>
                  <a:pt x="1638300" y="0"/>
                </a:moveTo>
                <a:lnTo>
                  <a:pt x="120650" y="0"/>
                </a:lnTo>
                <a:lnTo>
                  <a:pt x="120650" y="390651"/>
                </a:lnTo>
                <a:lnTo>
                  <a:pt x="0" y="473963"/>
                </a:lnTo>
                <a:lnTo>
                  <a:pt x="120650" y="557276"/>
                </a:lnTo>
                <a:lnTo>
                  <a:pt x="120650" y="947927"/>
                </a:lnTo>
                <a:lnTo>
                  <a:pt x="1638300" y="947927"/>
                </a:lnTo>
                <a:lnTo>
                  <a:pt x="1638300" y="0"/>
                </a:lnTo>
                <a:close/>
              </a:path>
            </a:pathLst>
          </a:custGeom>
          <a:solidFill>
            <a:srgbClr val="E10A87">
              <a:alpha val="92939"/>
            </a:srgbClr>
          </a:solidFill>
        </p:spPr>
        <p:txBody>
          <a:bodyPr wrap="square" lIns="0" tIns="0" rIns="0" bIns="0" rtlCol="0"/>
          <a:lstStyle/>
          <a:p>
            <a:pPr defTabSz="1219170"/>
            <a:endParaRPr sz="2400">
              <a:solidFill>
                <a:prstClr val="black"/>
              </a:solidFill>
              <a:latin typeface="Calibri"/>
            </a:endParaRPr>
          </a:p>
        </p:txBody>
      </p:sp>
      <p:sp>
        <p:nvSpPr>
          <p:cNvPr id="15" name="object 15"/>
          <p:cNvSpPr txBox="1"/>
          <p:nvPr/>
        </p:nvSpPr>
        <p:spPr>
          <a:xfrm>
            <a:off x="6559465" y="1967993"/>
            <a:ext cx="471593" cy="571951"/>
          </a:xfrm>
          <a:prstGeom prst="rect">
            <a:avLst/>
          </a:prstGeom>
        </p:spPr>
        <p:txBody>
          <a:bodyPr vert="horz" wrap="square" lIns="0" tIns="17780" rIns="0" bIns="0" rtlCol="0">
            <a:spAutoFit/>
          </a:bodyPr>
          <a:lstStyle/>
          <a:p>
            <a:pPr marL="16933" defTabSz="1219170">
              <a:spcBef>
                <a:spcPts val="140"/>
              </a:spcBef>
            </a:pPr>
            <a:r>
              <a:rPr spc="-13" dirty="0">
                <a:solidFill>
                  <a:srgbClr val="FFFFFF"/>
                </a:solidFill>
                <a:latin typeface="Noto Sans"/>
                <a:cs typeface="Noto Sans"/>
              </a:rPr>
              <a:t>ENV</a:t>
            </a:r>
            <a:endParaRPr>
              <a:solidFill>
                <a:prstClr val="black"/>
              </a:solidFill>
              <a:latin typeface="Noto Sans"/>
              <a:cs typeface="Noto Sans"/>
            </a:endParaRPr>
          </a:p>
        </p:txBody>
      </p:sp>
    </p:spTree>
    <p:extLst>
      <p:ext uri="{BB962C8B-B14F-4D97-AF65-F5344CB8AC3E}">
        <p14:creationId xmlns:p14="http://schemas.microsoft.com/office/powerpoint/2010/main" val="16430944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99007" y="526287"/>
            <a:ext cx="98213" cy="423333"/>
          </a:xfrm>
          <a:custGeom>
            <a:avLst/>
            <a:gdLst/>
            <a:ahLst/>
            <a:cxnLst/>
            <a:rect l="l" t="t" r="r" b="b"/>
            <a:pathLst>
              <a:path w="73659" h="317500">
                <a:moveTo>
                  <a:pt x="73151" y="0"/>
                </a:moveTo>
                <a:lnTo>
                  <a:pt x="0" y="0"/>
                </a:lnTo>
                <a:lnTo>
                  <a:pt x="0" y="316991"/>
                </a:lnTo>
                <a:lnTo>
                  <a:pt x="73151" y="316991"/>
                </a:lnTo>
                <a:lnTo>
                  <a:pt x="73151" y="0"/>
                </a:lnTo>
                <a:close/>
              </a:path>
            </a:pathLst>
          </a:custGeom>
          <a:solidFill>
            <a:srgbClr val="1780C3"/>
          </a:solidFill>
        </p:spPr>
        <p:txBody>
          <a:bodyPr wrap="square" lIns="0" tIns="0" rIns="0" bIns="0" rtlCol="0"/>
          <a:lstStyle/>
          <a:p>
            <a:pPr defTabSz="1219170"/>
            <a:endParaRPr sz="2400">
              <a:solidFill>
                <a:prstClr val="black"/>
              </a:solidFill>
              <a:latin typeface="Calibri"/>
            </a:endParaRPr>
          </a:p>
        </p:txBody>
      </p:sp>
      <p:sp>
        <p:nvSpPr>
          <p:cNvPr id="3" name="object 3"/>
          <p:cNvSpPr/>
          <p:nvPr/>
        </p:nvSpPr>
        <p:spPr>
          <a:xfrm>
            <a:off x="800607" y="2816352"/>
            <a:ext cx="6681893" cy="3036147"/>
          </a:xfrm>
          <a:custGeom>
            <a:avLst/>
            <a:gdLst/>
            <a:ahLst/>
            <a:cxnLst/>
            <a:rect l="l" t="t" r="r" b="b"/>
            <a:pathLst>
              <a:path w="5011420" h="2277110">
                <a:moveTo>
                  <a:pt x="0" y="379475"/>
                </a:moveTo>
                <a:lnTo>
                  <a:pt x="2956" y="331881"/>
                </a:lnTo>
                <a:lnTo>
                  <a:pt x="11589" y="286048"/>
                </a:lnTo>
                <a:lnTo>
                  <a:pt x="25543" y="242334"/>
                </a:lnTo>
                <a:lnTo>
                  <a:pt x="44462" y="201095"/>
                </a:lnTo>
                <a:lnTo>
                  <a:pt x="67991" y="162685"/>
                </a:lnTo>
                <a:lnTo>
                  <a:pt x="95773" y="127462"/>
                </a:lnTo>
                <a:lnTo>
                  <a:pt x="127454" y="95781"/>
                </a:lnTo>
                <a:lnTo>
                  <a:pt x="162677" y="67997"/>
                </a:lnTo>
                <a:lnTo>
                  <a:pt x="201088" y="44467"/>
                </a:lnTo>
                <a:lnTo>
                  <a:pt x="242330" y="25546"/>
                </a:lnTo>
                <a:lnTo>
                  <a:pt x="286047" y="11591"/>
                </a:lnTo>
                <a:lnTo>
                  <a:pt x="331885" y="2957"/>
                </a:lnTo>
                <a:lnTo>
                  <a:pt x="379488" y="0"/>
                </a:lnTo>
                <a:lnTo>
                  <a:pt x="4631435" y="0"/>
                </a:lnTo>
                <a:lnTo>
                  <a:pt x="4679030" y="2957"/>
                </a:lnTo>
                <a:lnTo>
                  <a:pt x="4724863" y="11591"/>
                </a:lnTo>
                <a:lnTo>
                  <a:pt x="4768577" y="25546"/>
                </a:lnTo>
                <a:lnTo>
                  <a:pt x="4809816" y="44467"/>
                </a:lnTo>
                <a:lnTo>
                  <a:pt x="4848226" y="67997"/>
                </a:lnTo>
                <a:lnTo>
                  <a:pt x="4883449" y="95781"/>
                </a:lnTo>
                <a:lnTo>
                  <a:pt x="4915130" y="127462"/>
                </a:lnTo>
                <a:lnTo>
                  <a:pt x="4942914" y="162685"/>
                </a:lnTo>
                <a:lnTo>
                  <a:pt x="4966444" y="201095"/>
                </a:lnTo>
                <a:lnTo>
                  <a:pt x="4985365" y="242334"/>
                </a:lnTo>
                <a:lnTo>
                  <a:pt x="4999320" y="286048"/>
                </a:lnTo>
                <a:lnTo>
                  <a:pt x="5007954" y="331881"/>
                </a:lnTo>
                <a:lnTo>
                  <a:pt x="5010911" y="379475"/>
                </a:lnTo>
                <a:lnTo>
                  <a:pt x="5010911" y="1897367"/>
                </a:lnTo>
                <a:lnTo>
                  <a:pt x="5007954" y="1944970"/>
                </a:lnTo>
                <a:lnTo>
                  <a:pt x="4999320" y="1990808"/>
                </a:lnTo>
                <a:lnTo>
                  <a:pt x="4985365" y="2034525"/>
                </a:lnTo>
                <a:lnTo>
                  <a:pt x="4966444" y="2075767"/>
                </a:lnTo>
                <a:lnTo>
                  <a:pt x="4942914" y="2114178"/>
                </a:lnTo>
                <a:lnTo>
                  <a:pt x="4915130" y="2149401"/>
                </a:lnTo>
                <a:lnTo>
                  <a:pt x="4883449" y="2181082"/>
                </a:lnTo>
                <a:lnTo>
                  <a:pt x="4848226" y="2208864"/>
                </a:lnTo>
                <a:lnTo>
                  <a:pt x="4809816" y="2232393"/>
                </a:lnTo>
                <a:lnTo>
                  <a:pt x="4768577" y="2251312"/>
                </a:lnTo>
                <a:lnTo>
                  <a:pt x="4724863" y="2265266"/>
                </a:lnTo>
                <a:lnTo>
                  <a:pt x="4679030" y="2273899"/>
                </a:lnTo>
                <a:lnTo>
                  <a:pt x="4631435" y="2276856"/>
                </a:lnTo>
                <a:lnTo>
                  <a:pt x="379488" y="2276856"/>
                </a:lnTo>
                <a:lnTo>
                  <a:pt x="331885" y="2273899"/>
                </a:lnTo>
                <a:lnTo>
                  <a:pt x="286047" y="2265266"/>
                </a:lnTo>
                <a:lnTo>
                  <a:pt x="242330" y="2251312"/>
                </a:lnTo>
                <a:lnTo>
                  <a:pt x="201088" y="2232393"/>
                </a:lnTo>
                <a:lnTo>
                  <a:pt x="162677" y="2208864"/>
                </a:lnTo>
                <a:lnTo>
                  <a:pt x="127454" y="2181082"/>
                </a:lnTo>
                <a:lnTo>
                  <a:pt x="95773" y="2149401"/>
                </a:lnTo>
                <a:lnTo>
                  <a:pt x="67991" y="2114178"/>
                </a:lnTo>
                <a:lnTo>
                  <a:pt x="44462" y="2075767"/>
                </a:lnTo>
                <a:lnTo>
                  <a:pt x="25543" y="2034525"/>
                </a:lnTo>
                <a:lnTo>
                  <a:pt x="11589" y="1990808"/>
                </a:lnTo>
                <a:lnTo>
                  <a:pt x="2956" y="1944970"/>
                </a:lnTo>
                <a:lnTo>
                  <a:pt x="0" y="1897367"/>
                </a:lnTo>
                <a:lnTo>
                  <a:pt x="0" y="379475"/>
                </a:lnTo>
                <a:close/>
              </a:path>
            </a:pathLst>
          </a:custGeom>
          <a:ln w="9144">
            <a:solidFill>
              <a:srgbClr val="1780C3"/>
            </a:solidFill>
            <a:prstDash val="sysDashDot"/>
          </a:ln>
        </p:spPr>
        <p:txBody>
          <a:bodyPr wrap="square" lIns="0" tIns="0" rIns="0" bIns="0" rtlCol="0"/>
          <a:lstStyle/>
          <a:p>
            <a:pPr defTabSz="1219170"/>
            <a:endParaRPr sz="2400">
              <a:solidFill>
                <a:prstClr val="black"/>
              </a:solidFill>
              <a:latin typeface="Calibri"/>
            </a:endParaRPr>
          </a:p>
        </p:txBody>
      </p:sp>
      <p:sp>
        <p:nvSpPr>
          <p:cNvPr id="4" name="object 4"/>
          <p:cNvSpPr txBox="1"/>
          <p:nvPr/>
        </p:nvSpPr>
        <p:spPr>
          <a:xfrm>
            <a:off x="3044443" y="5339825"/>
            <a:ext cx="2194560" cy="294953"/>
          </a:xfrm>
          <a:prstGeom prst="rect">
            <a:avLst/>
          </a:prstGeom>
        </p:spPr>
        <p:txBody>
          <a:bodyPr vert="horz" wrap="square" lIns="0" tIns="17780" rIns="0" bIns="0" rtlCol="0">
            <a:spAutoFit/>
          </a:bodyPr>
          <a:lstStyle/>
          <a:p>
            <a:pPr marL="16933" defTabSz="1219170">
              <a:spcBef>
                <a:spcPts val="140"/>
              </a:spcBef>
            </a:pPr>
            <a:r>
              <a:rPr spc="-27" dirty="0">
                <a:solidFill>
                  <a:srgbClr val="1780C3"/>
                </a:solidFill>
                <a:latin typeface="Noto Sans"/>
                <a:cs typeface="Noto Sans"/>
              </a:rPr>
              <a:t>Inside </a:t>
            </a:r>
            <a:r>
              <a:rPr spc="-7" dirty="0">
                <a:solidFill>
                  <a:srgbClr val="1780C3"/>
                </a:solidFill>
                <a:latin typeface="Noto Sans"/>
                <a:cs typeface="Noto Sans"/>
              </a:rPr>
              <a:t>the</a:t>
            </a:r>
            <a:r>
              <a:rPr spc="-100" dirty="0">
                <a:solidFill>
                  <a:srgbClr val="1780C3"/>
                </a:solidFill>
                <a:latin typeface="Noto Sans"/>
                <a:cs typeface="Noto Sans"/>
              </a:rPr>
              <a:t> </a:t>
            </a:r>
            <a:r>
              <a:rPr spc="-7" dirty="0">
                <a:solidFill>
                  <a:srgbClr val="1780C3"/>
                </a:solidFill>
                <a:latin typeface="Noto Sans"/>
                <a:cs typeface="Noto Sans"/>
              </a:rPr>
              <a:t>Container</a:t>
            </a:r>
            <a:endParaRPr>
              <a:solidFill>
                <a:prstClr val="black"/>
              </a:solidFill>
              <a:latin typeface="Noto Sans"/>
              <a:cs typeface="Noto Sans"/>
            </a:endParaRPr>
          </a:p>
        </p:txBody>
      </p:sp>
      <p:sp>
        <p:nvSpPr>
          <p:cNvPr id="5" name="object 5"/>
          <p:cNvSpPr txBox="1">
            <a:spLocks noGrp="1"/>
          </p:cNvSpPr>
          <p:nvPr>
            <p:ph type="title"/>
          </p:nvPr>
        </p:nvSpPr>
        <p:spPr>
          <a:xfrm>
            <a:off x="882430" y="326137"/>
            <a:ext cx="7739380" cy="694207"/>
          </a:xfrm>
          <a:prstGeom prst="rect">
            <a:avLst/>
          </a:prstGeom>
        </p:spPr>
        <p:txBody>
          <a:bodyPr vert="horz" wrap="square" lIns="0" tIns="16933" rIns="0" bIns="0" rtlCol="0">
            <a:spAutoFit/>
          </a:bodyPr>
          <a:lstStyle/>
          <a:p>
            <a:pPr marL="16933">
              <a:spcBef>
                <a:spcPts val="133"/>
              </a:spcBef>
            </a:pPr>
            <a:r>
              <a:rPr spc="13" dirty="0"/>
              <a:t>Secrets</a:t>
            </a:r>
            <a:r>
              <a:rPr spc="-387" dirty="0"/>
              <a:t> </a:t>
            </a:r>
            <a:r>
              <a:rPr spc="27" dirty="0"/>
              <a:t>in</a:t>
            </a:r>
            <a:r>
              <a:rPr spc="-367" dirty="0"/>
              <a:t> </a:t>
            </a:r>
            <a:r>
              <a:rPr spc="173" dirty="0"/>
              <a:t>Pods</a:t>
            </a:r>
            <a:r>
              <a:rPr spc="-367" dirty="0"/>
              <a:t> </a:t>
            </a:r>
            <a:r>
              <a:rPr spc="-67" dirty="0"/>
              <a:t>as</a:t>
            </a:r>
            <a:r>
              <a:rPr spc="-367" dirty="0"/>
              <a:t> </a:t>
            </a:r>
            <a:r>
              <a:rPr spc="73" dirty="0"/>
              <a:t>Volumes</a:t>
            </a:r>
          </a:p>
        </p:txBody>
      </p:sp>
      <p:sp>
        <p:nvSpPr>
          <p:cNvPr id="6" name="object 6"/>
          <p:cNvSpPr/>
          <p:nvPr/>
        </p:nvSpPr>
        <p:spPr>
          <a:xfrm>
            <a:off x="778255" y="1438655"/>
            <a:ext cx="5092700" cy="1292859"/>
          </a:xfrm>
          <a:custGeom>
            <a:avLst/>
            <a:gdLst/>
            <a:ahLst/>
            <a:cxnLst/>
            <a:rect l="l" t="t" r="r" b="b"/>
            <a:pathLst>
              <a:path w="3819525" h="969644">
                <a:moveTo>
                  <a:pt x="3819144" y="0"/>
                </a:moveTo>
                <a:lnTo>
                  <a:pt x="0" y="0"/>
                </a:lnTo>
                <a:lnTo>
                  <a:pt x="0" y="969263"/>
                </a:lnTo>
                <a:lnTo>
                  <a:pt x="3819144" y="969263"/>
                </a:lnTo>
                <a:lnTo>
                  <a:pt x="3819144" y="0"/>
                </a:lnTo>
                <a:close/>
              </a:path>
            </a:pathLst>
          </a:custGeom>
          <a:solidFill>
            <a:srgbClr val="2B2B2B"/>
          </a:solidFill>
        </p:spPr>
        <p:txBody>
          <a:bodyPr wrap="square" lIns="0" tIns="0" rIns="0" bIns="0" rtlCol="0"/>
          <a:lstStyle/>
          <a:p>
            <a:pPr defTabSz="1219170"/>
            <a:endParaRPr sz="2400">
              <a:solidFill>
                <a:prstClr val="black"/>
              </a:solidFill>
              <a:latin typeface="Calibri"/>
            </a:endParaRPr>
          </a:p>
        </p:txBody>
      </p:sp>
      <p:sp>
        <p:nvSpPr>
          <p:cNvPr id="7" name="object 7"/>
          <p:cNvSpPr txBox="1"/>
          <p:nvPr/>
        </p:nvSpPr>
        <p:spPr>
          <a:xfrm>
            <a:off x="778255" y="1438655"/>
            <a:ext cx="5092700" cy="1049005"/>
          </a:xfrm>
          <a:prstGeom prst="rect">
            <a:avLst/>
          </a:prstGeom>
        </p:spPr>
        <p:txBody>
          <a:bodyPr vert="horz" wrap="square" lIns="0" tIns="63500" rIns="0" bIns="0" rtlCol="0">
            <a:spAutoFit/>
          </a:bodyPr>
          <a:lstStyle/>
          <a:p>
            <a:pPr marL="121070" defTabSz="1219170">
              <a:spcBef>
                <a:spcPts val="500"/>
              </a:spcBef>
            </a:pPr>
            <a:r>
              <a:rPr sz="1600" b="1" spc="-7" dirty="0">
                <a:solidFill>
                  <a:srgbClr val="CC7831"/>
                </a:solidFill>
                <a:latin typeface="Courier New"/>
                <a:cs typeface="Courier New"/>
              </a:rPr>
              <a:t>volumes:</a:t>
            </a:r>
            <a:endParaRPr sz="1600">
              <a:solidFill>
                <a:prstClr val="black"/>
              </a:solidFill>
              <a:latin typeface="Courier New"/>
              <a:cs typeface="Courier New"/>
            </a:endParaRPr>
          </a:p>
          <a:p>
            <a:pPr marL="121070" defTabSz="1219170"/>
            <a:r>
              <a:rPr sz="1600" dirty="0">
                <a:solidFill>
                  <a:srgbClr val="A9B7C5"/>
                </a:solidFill>
                <a:latin typeface="Courier New"/>
                <a:cs typeface="Courier New"/>
              </a:rPr>
              <a:t>- </a:t>
            </a:r>
            <a:r>
              <a:rPr sz="1600" b="1" dirty="0">
                <a:solidFill>
                  <a:srgbClr val="CC7831"/>
                </a:solidFill>
                <a:latin typeface="Courier New"/>
                <a:cs typeface="Courier New"/>
              </a:rPr>
              <a:t>name:</a:t>
            </a:r>
            <a:r>
              <a:rPr sz="1600" b="1" spc="-7" dirty="0">
                <a:solidFill>
                  <a:srgbClr val="CC7831"/>
                </a:solidFill>
                <a:latin typeface="Courier New"/>
                <a:cs typeface="Courier New"/>
              </a:rPr>
              <a:t> </a:t>
            </a:r>
            <a:r>
              <a:rPr sz="1600" dirty="0">
                <a:solidFill>
                  <a:srgbClr val="A9B7C5"/>
                </a:solidFill>
                <a:latin typeface="Courier New"/>
                <a:cs typeface="Courier New"/>
              </a:rPr>
              <a:t>app-secret-volume</a:t>
            </a:r>
            <a:endParaRPr sz="1600">
              <a:solidFill>
                <a:prstClr val="black"/>
              </a:solidFill>
              <a:latin typeface="Courier New"/>
              <a:cs typeface="Courier New"/>
            </a:endParaRPr>
          </a:p>
          <a:p>
            <a:pPr marL="364904" defTabSz="1219170"/>
            <a:r>
              <a:rPr sz="1600" b="1" dirty="0">
                <a:solidFill>
                  <a:srgbClr val="CC7831"/>
                </a:solidFill>
                <a:latin typeface="Courier New"/>
                <a:cs typeface="Courier New"/>
              </a:rPr>
              <a:t>secret:</a:t>
            </a:r>
            <a:endParaRPr sz="1600">
              <a:solidFill>
                <a:prstClr val="black"/>
              </a:solidFill>
              <a:latin typeface="Courier New"/>
              <a:cs typeface="Courier New"/>
            </a:endParaRPr>
          </a:p>
          <a:p>
            <a:pPr marL="610430" defTabSz="1219170">
              <a:spcBef>
                <a:spcPts val="7"/>
              </a:spcBef>
            </a:pPr>
            <a:r>
              <a:rPr sz="1600" b="1" dirty="0">
                <a:solidFill>
                  <a:srgbClr val="CC7831"/>
                </a:solidFill>
                <a:latin typeface="Courier New"/>
                <a:cs typeface="Courier New"/>
              </a:rPr>
              <a:t>secretName:</a:t>
            </a:r>
            <a:r>
              <a:rPr sz="1600" b="1" spc="27" dirty="0">
                <a:solidFill>
                  <a:srgbClr val="CC7831"/>
                </a:solidFill>
                <a:latin typeface="Courier New"/>
                <a:cs typeface="Courier New"/>
              </a:rPr>
              <a:t> </a:t>
            </a:r>
            <a:r>
              <a:rPr sz="1600" spc="-7" dirty="0">
                <a:solidFill>
                  <a:srgbClr val="A9B7C5"/>
                </a:solidFill>
                <a:latin typeface="Courier New"/>
                <a:cs typeface="Courier New"/>
              </a:rPr>
              <a:t>app-secret</a:t>
            </a:r>
            <a:endParaRPr sz="1600">
              <a:solidFill>
                <a:prstClr val="black"/>
              </a:solidFill>
              <a:latin typeface="Courier New"/>
              <a:cs typeface="Courier New"/>
            </a:endParaRPr>
          </a:p>
        </p:txBody>
      </p:sp>
      <p:sp>
        <p:nvSpPr>
          <p:cNvPr id="8" name="object 8"/>
          <p:cNvSpPr/>
          <p:nvPr/>
        </p:nvSpPr>
        <p:spPr>
          <a:xfrm>
            <a:off x="5701792" y="1438655"/>
            <a:ext cx="2184400" cy="1292859"/>
          </a:xfrm>
          <a:custGeom>
            <a:avLst/>
            <a:gdLst/>
            <a:ahLst/>
            <a:cxnLst/>
            <a:rect l="l" t="t" r="r" b="b"/>
            <a:pathLst>
              <a:path w="1638300" h="969644">
                <a:moveTo>
                  <a:pt x="1638300" y="0"/>
                </a:moveTo>
                <a:lnTo>
                  <a:pt x="120650" y="0"/>
                </a:lnTo>
                <a:lnTo>
                  <a:pt x="120650" y="399415"/>
                </a:lnTo>
                <a:lnTo>
                  <a:pt x="0" y="484632"/>
                </a:lnTo>
                <a:lnTo>
                  <a:pt x="120650" y="569849"/>
                </a:lnTo>
                <a:lnTo>
                  <a:pt x="120650" y="969264"/>
                </a:lnTo>
                <a:lnTo>
                  <a:pt x="1638300" y="969264"/>
                </a:lnTo>
                <a:lnTo>
                  <a:pt x="1638300" y="0"/>
                </a:lnTo>
                <a:close/>
              </a:path>
            </a:pathLst>
          </a:custGeom>
          <a:solidFill>
            <a:srgbClr val="39B54A">
              <a:alpha val="92939"/>
            </a:srgbClr>
          </a:solidFill>
        </p:spPr>
        <p:txBody>
          <a:bodyPr wrap="square" lIns="0" tIns="0" rIns="0" bIns="0" rtlCol="0"/>
          <a:lstStyle/>
          <a:p>
            <a:pPr defTabSz="1219170"/>
            <a:endParaRPr sz="2400">
              <a:solidFill>
                <a:prstClr val="black"/>
              </a:solidFill>
              <a:latin typeface="Calibri"/>
            </a:endParaRPr>
          </a:p>
        </p:txBody>
      </p:sp>
      <p:sp>
        <p:nvSpPr>
          <p:cNvPr id="9" name="object 9"/>
          <p:cNvSpPr txBox="1"/>
          <p:nvPr/>
        </p:nvSpPr>
        <p:spPr>
          <a:xfrm>
            <a:off x="6311562" y="1917530"/>
            <a:ext cx="966893" cy="571951"/>
          </a:xfrm>
          <a:prstGeom prst="rect">
            <a:avLst/>
          </a:prstGeom>
        </p:spPr>
        <p:txBody>
          <a:bodyPr vert="horz" wrap="square" lIns="0" tIns="17780" rIns="0" bIns="0" rtlCol="0">
            <a:spAutoFit/>
          </a:bodyPr>
          <a:lstStyle/>
          <a:p>
            <a:pPr marL="16933" defTabSz="1219170">
              <a:spcBef>
                <a:spcPts val="140"/>
              </a:spcBef>
            </a:pPr>
            <a:r>
              <a:rPr spc="-13" dirty="0">
                <a:solidFill>
                  <a:srgbClr val="FFFFFF"/>
                </a:solidFill>
                <a:latin typeface="Noto Sans"/>
                <a:cs typeface="Noto Sans"/>
              </a:rPr>
              <a:t>VOLUME</a:t>
            </a:r>
            <a:endParaRPr>
              <a:solidFill>
                <a:prstClr val="black"/>
              </a:solidFill>
              <a:latin typeface="Noto Sans"/>
              <a:cs typeface="Noto Sans"/>
            </a:endParaRPr>
          </a:p>
        </p:txBody>
      </p:sp>
      <p:grpSp>
        <p:nvGrpSpPr>
          <p:cNvPr id="10" name="object 10"/>
          <p:cNvGrpSpPr/>
          <p:nvPr/>
        </p:nvGrpSpPr>
        <p:grpSpPr>
          <a:xfrm>
            <a:off x="1072897" y="3098749"/>
            <a:ext cx="5834380" cy="522393"/>
            <a:chOff x="804672" y="2324061"/>
            <a:chExt cx="4375785" cy="391795"/>
          </a:xfrm>
        </p:grpSpPr>
        <p:sp>
          <p:nvSpPr>
            <p:cNvPr id="11" name="object 11"/>
            <p:cNvSpPr/>
            <p:nvPr/>
          </p:nvSpPr>
          <p:spPr>
            <a:xfrm>
              <a:off x="804672" y="2324061"/>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2" name="object 12"/>
            <p:cNvSpPr/>
            <p:nvPr/>
          </p:nvSpPr>
          <p:spPr>
            <a:xfrm>
              <a:off x="961644" y="2331669"/>
              <a:ext cx="2124456" cy="384098"/>
            </a:xfrm>
            <a:prstGeom prst="rect">
              <a:avLst/>
            </a:prstGeom>
            <a:blipFill>
              <a:blip r:embed="rId3"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13" name="object 13"/>
            <p:cNvSpPr/>
            <p:nvPr/>
          </p:nvSpPr>
          <p:spPr>
            <a:xfrm>
              <a:off x="864108" y="2363723"/>
              <a:ext cx="4261485" cy="248920"/>
            </a:xfrm>
            <a:custGeom>
              <a:avLst/>
              <a:gdLst/>
              <a:ahLst/>
              <a:cxnLst/>
              <a:rect l="l" t="t" r="r" b="b"/>
              <a:pathLst>
                <a:path w="4261485" h="248919">
                  <a:moveTo>
                    <a:pt x="0" y="248412"/>
                  </a:moveTo>
                  <a:lnTo>
                    <a:pt x="4261104" y="248412"/>
                  </a:lnTo>
                  <a:lnTo>
                    <a:pt x="4261104" y="0"/>
                  </a:lnTo>
                  <a:lnTo>
                    <a:pt x="0" y="0"/>
                  </a:lnTo>
                  <a:lnTo>
                    <a:pt x="0" y="248412"/>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14" name="object 14"/>
          <p:cNvSpPr txBox="1"/>
          <p:nvPr/>
        </p:nvSpPr>
        <p:spPr>
          <a:xfrm>
            <a:off x="1144015" y="3151631"/>
            <a:ext cx="5698067" cy="260691"/>
          </a:xfrm>
          <a:prstGeom prst="rect">
            <a:avLst/>
          </a:prstGeom>
        </p:spPr>
        <p:txBody>
          <a:bodyPr vert="horz" wrap="square" lIns="0" tIns="55033" rIns="0" bIns="0" rtlCol="0">
            <a:spAutoFit/>
          </a:bodyPr>
          <a:lstStyle/>
          <a:p>
            <a:pPr marL="320031" defTabSz="1219170">
              <a:spcBef>
                <a:spcPts val="433"/>
              </a:spcBef>
            </a:pPr>
            <a:r>
              <a:rPr sz="1333" spc="253" dirty="0">
                <a:solidFill>
                  <a:srgbClr val="D9D9D9"/>
                </a:solidFill>
                <a:latin typeface="Arial"/>
                <a:cs typeface="Arial"/>
              </a:rPr>
              <a:t>ls</a:t>
            </a:r>
            <a:r>
              <a:rPr sz="1333" spc="380" dirty="0">
                <a:solidFill>
                  <a:srgbClr val="D9D9D9"/>
                </a:solidFill>
                <a:latin typeface="Arial"/>
                <a:cs typeface="Arial"/>
              </a:rPr>
              <a:t> </a:t>
            </a:r>
            <a:r>
              <a:rPr sz="1333" spc="120" dirty="0">
                <a:solidFill>
                  <a:srgbClr val="D9D9D9"/>
                </a:solidFill>
                <a:latin typeface="Arial"/>
                <a:cs typeface="Arial"/>
              </a:rPr>
              <a:t>/opt/app-secret-volumes</a:t>
            </a:r>
            <a:endParaRPr sz="1333">
              <a:solidFill>
                <a:prstClr val="black"/>
              </a:solidFill>
              <a:latin typeface="Arial"/>
              <a:cs typeface="Arial"/>
            </a:endParaRPr>
          </a:p>
        </p:txBody>
      </p:sp>
      <p:grpSp>
        <p:nvGrpSpPr>
          <p:cNvPr id="15" name="object 15"/>
          <p:cNvGrpSpPr/>
          <p:nvPr/>
        </p:nvGrpSpPr>
        <p:grpSpPr>
          <a:xfrm>
            <a:off x="1143678" y="3167937"/>
            <a:ext cx="5698913" cy="652779"/>
            <a:chOff x="857758" y="2375953"/>
            <a:chExt cx="4274185" cy="489584"/>
          </a:xfrm>
        </p:grpSpPr>
        <p:sp>
          <p:nvSpPr>
            <p:cNvPr id="16" name="object 16"/>
            <p:cNvSpPr/>
            <p:nvPr/>
          </p:nvSpPr>
          <p:spPr>
            <a:xfrm>
              <a:off x="881196" y="2375953"/>
              <a:ext cx="160020" cy="205740"/>
            </a:xfrm>
            <a:custGeom>
              <a:avLst/>
              <a:gdLst/>
              <a:ahLst/>
              <a:cxnLst/>
              <a:rect l="l" t="t" r="r" b="b"/>
              <a:pathLst>
                <a:path w="160019"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17" name="object 17"/>
            <p:cNvSpPr/>
            <p:nvPr/>
          </p:nvSpPr>
          <p:spPr>
            <a:xfrm>
              <a:off x="864108" y="2612136"/>
              <a:ext cx="4261485" cy="247015"/>
            </a:xfrm>
            <a:custGeom>
              <a:avLst/>
              <a:gdLst/>
              <a:ahLst/>
              <a:cxnLst/>
              <a:rect l="l" t="t" r="r" b="b"/>
              <a:pathLst>
                <a:path w="4261485" h="247014">
                  <a:moveTo>
                    <a:pt x="4261104" y="0"/>
                  </a:moveTo>
                  <a:lnTo>
                    <a:pt x="0" y="0"/>
                  </a:lnTo>
                  <a:lnTo>
                    <a:pt x="0" y="246887"/>
                  </a:lnTo>
                  <a:lnTo>
                    <a:pt x="4261104" y="246887"/>
                  </a:lnTo>
                  <a:lnTo>
                    <a:pt x="4261104"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18" name="object 18"/>
            <p:cNvSpPr/>
            <p:nvPr/>
          </p:nvSpPr>
          <p:spPr>
            <a:xfrm>
              <a:off x="864108" y="2612136"/>
              <a:ext cx="4261485" cy="247015"/>
            </a:xfrm>
            <a:custGeom>
              <a:avLst/>
              <a:gdLst/>
              <a:ahLst/>
              <a:cxnLst/>
              <a:rect l="l" t="t" r="r" b="b"/>
              <a:pathLst>
                <a:path w="4261485" h="247014">
                  <a:moveTo>
                    <a:pt x="0" y="246887"/>
                  </a:moveTo>
                  <a:lnTo>
                    <a:pt x="4261104" y="246887"/>
                  </a:lnTo>
                  <a:lnTo>
                    <a:pt x="4261104" y="0"/>
                  </a:lnTo>
                  <a:lnTo>
                    <a:pt x="0" y="0"/>
                  </a:lnTo>
                  <a:lnTo>
                    <a:pt x="0" y="246887"/>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19" name="object 19"/>
          <p:cNvSpPr txBox="1"/>
          <p:nvPr/>
        </p:nvSpPr>
        <p:spPr>
          <a:xfrm>
            <a:off x="1273251" y="3519593"/>
            <a:ext cx="3090333" cy="221365"/>
          </a:xfrm>
          <a:prstGeom prst="rect">
            <a:avLst/>
          </a:prstGeom>
        </p:spPr>
        <p:txBody>
          <a:bodyPr vert="horz" wrap="square" lIns="0" tIns="16087" rIns="0" bIns="0" rtlCol="0">
            <a:spAutoFit/>
          </a:bodyPr>
          <a:lstStyle/>
          <a:p>
            <a:pPr defTabSz="1219170">
              <a:spcBef>
                <a:spcPts val="127"/>
              </a:spcBef>
              <a:tabLst>
                <a:tab pos="1213243" algn="l"/>
                <a:tab pos="2422253" algn="l"/>
              </a:tabLst>
            </a:pPr>
            <a:r>
              <a:rPr sz="1333" spc="-33" dirty="0">
                <a:solidFill>
                  <a:srgbClr val="FFFFFF"/>
                </a:solidFill>
                <a:latin typeface="Arial"/>
                <a:cs typeface="Arial"/>
              </a:rPr>
              <a:t>DB_Host	</a:t>
            </a:r>
            <a:r>
              <a:rPr sz="1333" spc="-247" dirty="0">
                <a:solidFill>
                  <a:srgbClr val="FFFFFF"/>
                </a:solidFill>
                <a:latin typeface="Arial"/>
                <a:cs typeface="Arial"/>
              </a:rPr>
              <a:t>D</a:t>
            </a:r>
            <a:r>
              <a:rPr sz="1333" spc="-160" dirty="0">
                <a:solidFill>
                  <a:srgbClr val="FFFFFF"/>
                </a:solidFill>
                <a:latin typeface="Arial"/>
                <a:cs typeface="Arial"/>
              </a:rPr>
              <a:t>B</a:t>
            </a:r>
            <a:r>
              <a:rPr sz="1333" spc="-13" dirty="0">
                <a:solidFill>
                  <a:srgbClr val="FFFFFF"/>
                </a:solidFill>
                <a:latin typeface="Arial"/>
                <a:cs typeface="Arial"/>
              </a:rPr>
              <a:t>_</a:t>
            </a:r>
            <a:r>
              <a:rPr sz="1333" spc="-160" dirty="0">
                <a:solidFill>
                  <a:srgbClr val="FFFFFF"/>
                </a:solidFill>
                <a:latin typeface="Arial"/>
                <a:cs typeface="Arial"/>
              </a:rPr>
              <a:t>P</a:t>
            </a:r>
            <a:r>
              <a:rPr sz="1333" spc="-13" dirty="0">
                <a:solidFill>
                  <a:srgbClr val="FFFFFF"/>
                </a:solidFill>
                <a:latin typeface="Arial"/>
                <a:cs typeface="Arial"/>
              </a:rPr>
              <a:t>a</a:t>
            </a:r>
            <a:r>
              <a:rPr sz="1333" spc="60" dirty="0">
                <a:solidFill>
                  <a:srgbClr val="FFFFFF"/>
                </a:solidFill>
                <a:latin typeface="Arial"/>
                <a:cs typeface="Arial"/>
              </a:rPr>
              <a:t>s</a:t>
            </a:r>
            <a:r>
              <a:rPr sz="1333" spc="47" dirty="0">
                <a:solidFill>
                  <a:srgbClr val="FFFFFF"/>
                </a:solidFill>
                <a:latin typeface="Arial"/>
                <a:cs typeface="Arial"/>
              </a:rPr>
              <a:t>s</a:t>
            </a:r>
            <a:r>
              <a:rPr sz="1333" spc="-233" dirty="0">
                <a:solidFill>
                  <a:srgbClr val="FFFFFF"/>
                </a:solidFill>
                <a:latin typeface="Arial"/>
                <a:cs typeface="Arial"/>
              </a:rPr>
              <a:t>w</a:t>
            </a:r>
            <a:r>
              <a:rPr sz="1333" spc="-27" dirty="0">
                <a:solidFill>
                  <a:srgbClr val="FFFFFF"/>
                </a:solidFill>
                <a:latin typeface="Arial"/>
                <a:cs typeface="Arial"/>
              </a:rPr>
              <a:t>o</a:t>
            </a:r>
            <a:r>
              <a:rPr sz="1333" spc="280" dirty="0">
                <a:solidFill>
                  <a:srgbClr val="FFFFFF"/>
                </a:solidFill>
                <a:latin typeface="Arial"/>
                <a:cs typeface="Arial"/>
              </a:rPr>
              <a:t>r</a:t>
            </a:r>
            <a:r>
              <a:rPr sz="1333" spc="-13" dirty="0">
                <a:solidFill>
                  <a:srgbClr val="FFFFFF"/>
                </a:solidFill>
                <a:latin typeface="Arial"/>
                <a:cs typeface="Arial"/>
              </a:rPr>
              <a:t>d</a:t>
            </a:r>
            <a:r>
              <a:rPr sz="1333" dirty="0">
                <a:solidFill>
                  <a:srgbClr val="FFFFFF"/>
                </a:solidFill>
                <a:latin typeface="Arial"/>
                <a:cs typeface="Arial"/>
              </a:rPr>
              <a:t>	</a:t>
            </a:r>
            <a:r>
              <a:rPr sz="1333" spc="-233" dirty="0">
                <a:solidFill>
                  <a:srgbClr val="FFFFFF"/>
                </a:solidFill>
                <a:latin typeface="Arial"/>
                <a:cs typeface="Arial"/>
              </a:rPr>
              <a:t>D</a:t>
            </a:r>
            <a:r>
              <a:rPr sz="1333" spc="-160" dirty="0">
                <a:solidFill>
                  <a:srgbClr val="FFFFFF"/>
                </a:solidFill>
                <a:latin typeface="Arial"/>
                <a:cs typeface="Arial"/>
              </a:rPr>
              <a:t>B</a:t>
            </a:r>
            <a:r>
              <a:rPr sz="1333" spc="-13" dirty="0">
                <a:solidFill>
                  <a:srgbClr val="FFFFFF"/>
                </a:solidFill>
                <a:latin typeface="Arial"/>
                <a:cs typeface="Arial"/>
              </a:rPr>
              <a:t>_</a:t>
            </a:r>
            <a:r>
              <a:rPr sz="1333" spc="-247" dirty="0">
                <a:solidFill>
                  <a:srgbClr val="FFFFFF"/>
                </a:solidFill>
                <a:latin typeface="Arial"/>
                <a:cs typeface="Arial"/>
              </a:rPr>
              <a:t>U</a:t>
            </a:r>
            <a:r>
              <a:rPr sz="1333" spc="60" dirty="0">
                <a:solidFill>
                  <a:srgbClr val="FFFFFF"/>
                </a:solidFill>
                <a:latin typeface="Arial"/>
                <a:cs typeface="Arial"/>
              </a:rPr>
              <a:t>s</a:t>
            </a:r>
            <a:r>
              <a:rPr sz="1333" spc="-13" dirty="0">
                <a:solidFill>
                  <a:srgbClr val="FFFFFF"/>
                </a:solidFill>
                <a:latin typeface="Arial"/>
                <a:cs typeface="Arial"/>
              </a:rPr>
              <a:t>e</a:t>
            </a:r>
            <a:r>
              <a:rPr sz="1333" spc="280" dirty="0">
                <a:solidFill>
                  <a:srgbClr val="FFFFFF"/>
                </a:solidFill>
                <a:latin typeface="Arial"/>
                <a:cs typeface="Arial"/>
              </a:rPr>
              <a:t>r</a:t>
            </a:r>
            <a:endParaRPr sz="1333">
              <a:solidFill>
                <a:prstClr val="black"/>
              </a:solidFill>
              <a:latin typeface="Arial"/>
              <a:cs typeface="Arial"/>
            </a:endParaRPr>
          </a:p>
        </p:txBody>
      </p:sp>
      <p:grpSp>
        <p:nvGrpSpPr>
          <p:cNvPr id="20" name="object 20"/>
          <p:cNvGrpSpPr/>
          <p:nvPr/>
        </p:nvGrpSpPr>
        <p:grpSpPr>
          <a:xfrm>
            <a:off x="1072897" y="4305757"/>
            <a:ext cx="5834380" cy="522393"/>
            <a:chOff x="804672" y="3229317"/>
            <a:chExt cx="4375785" cy="391795"/>
          </a:xfrm>
        </p:grpSpPr>
        <p:sp>
          <p:nvSpPr>
            <p:cNvPr id="21" name="object 21"/>
            <p:cNvSpPr/>
            <p:nvPr/>
          </p:nvSpPr>
          <p:spPr>
            <a:xfrm>
              <a:off x="804672" y="3229317"/>
              <a:ext cx="4375404" cy="367322"/>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2" name="object 22"/>
            <p:cNvSpPr/>
            <p:nvPr/>
          </p:nvSpPr>
          <p:spPr>
            <a:xfrm>
              <a:off x="961644" y="3236925"/>
              <a:ext cx="3052572" cy="384098"/>
            </a:xfrm>
            <a:prstGeom prst="rect">
              <a:avLst/>
            </a:prstGeom>
            <a:blipFill>
              <a:blip r:embed="rId4" cstate="print"/>
              <a:stretch>
                <a:fillRect/>
              </a:stretch>
            </a:blipFill>
          </p:spPr>
          <p:txBody>
            <a:bodyPr wrap="square" lIns="0" tIns="0" rIns="0" bIns="0" rtlCol="0"/>
            <a:lstStyle/>
            <a:p>
              <a:pPr defTabSz="1219170"/>
              <a:endParaRPr sz="2400">
                <a:solidFill>
                  <a:prstClr val="black"/>
                </a:solidFill>
                <a:latin typeface="Calibri"/>
              </a:endParaRPr>
            </a:p>
          </p:txBody>
        </p:sp>
        <p:sp>
          <p:nvSpPr>
            <p:cNvPr id="23" name="object 23"/>
            <p:cNvSpPr/>
            <p:nvPr/>
          </p:nvSpPr>
          <p:spPr>
            <a:xfrm>
              <a:off x="864108" y="3268979"/>
              <a:ext cx="4261485" cy="248920"/>
            </a:xfrm>
            <a:custGeom>
              <a:avLst/>
              <a:gdLst/>
              <a:ahLst/>
              <a:cxnLst/>
              <a:rect l="l" t="t" r="r" b="b"/>
              <a:pathLst>
                <a:path w="4261485" h="248920">
                  <a:moveTo>
                    <a:pt x="0" y="248412"/>
                  </a:moveTo>
                  <a:lnTo>
                    <a:pt x="4261104" y="248412"/>
                  </a:lnTo>
                  <a:lnTo>
                    <a:pt x="4261104" y="0"/>
                  </a:lnTo>
                  <a:lnTo>
                    <a:pt x="0" y="0"/>
                  </a:lnTo>
                  <a:lnTo>
                    <a:pt x="0" y="248412"/>
                  </a:lnTo>
                  <a:close/>
                </a:path>
              </a:pathLst>
            </a:custGeom>
            <a:solidFill>
              <a:srgbClr val="404040"/>
            </a:solidFill>
          </p:spPr>
          <p:txBody>
            <a:bodyPr wrap="square" lIns="0" tIns="0" rIns="0" bIns="0" rtlCol="0"/>
            <a:lstStyle/>
            <a:p>
              <a:pPr defTabSz="1219170"/>
              <a:endParaRPr sz="2400">
                <a:solidFill>
                  <a:prstClr val="black"/>
                </a:solidFill>
                <a:latin typeface="Calibri"/>
              </a:endParaRPr>
            </a:p>
          </p:txBody>
        </p:sp>
      </p:grpSp>
      <p:sp>
        <p:nvSpPr>
          <p:cNvPr id="24" name="object 24"/>
          <p:cNvSpPr txBox="1"/>
          <p:nvPr/>
        </p:nvSpPr>
        <p:spPr>
          <a:xfrm>
            <a:off x="1144015" y="4358639"/>
            <a:ext cx="5698067" cy="261546"/>
          </a:xfrm>
          <a:prstGeom prst="rect">
            <a:avLst/>
          </a:prstGeom>
        </p:spPr>
        <p:txBody>
          <a:bodyPr vert="horz" wrap="square" lIns="0" tIns="55880" rIns="0" bIns="0" rtlCol="0">
            <a:spAutoFit/>
          </a:bodyPr>
          <a:lstStyle/>
          <a:p>
            <a:pPr marL="320031" defTabSz="1219170">
              <a:spcBef>
                <a:spcPts val="440"/>
              </a:spcBef>
            </a:pPr>
            <a:r>
              <a:rPr sz="1333" spc="147" dirty="0">
                <a:solidFill>
                  <a:srgbClr val="D9D9D9"/>
                </a:solidFill>
                <a:latin typeface="Arial"/>
                <a:cs typeface="Arial"/>
              </a:rPr>
              <a:t>cat</a:t>
            </a:r>
            <a:r>
              <a:rPr sz="1333" spc="387" dirty="0">
                <a:solidFill>
                  <a:srgbClr val="D9D9D9"/>
                </a:solidFill>
                <a:latin typeface="Arial"/>
                <a:cs typeface="Arial"/>
              </a:rPr>
              <a:t> </a:t>
            </a:r>
            <a:r>
              <a:rPr sz="1333" spc="80" dirty="0">
                <a:solidFill>
                  <a:srgbClr val="D9D9D9"/>
                </a:solidFill>
                <a:latin typeface="Arial"/>
                <a:cs typeface="Arial"/>
              </a:rPr>
              <a:t>/opt/app-secret-volumes/DB_Password</a:t>
            </a:r>
            <a:endParaRPr sz="1333">
              <a:solidFill>
                <a:prstClr val="black"/>
              </a:solidFill>
              <a:latin typeface="Arial"/>
              <a:cs typeface="Arial"/>
            </a:endParaRPr>
          </a:p>
        </p:txBody>
      </p:sp>
      <p:grpSp>
        <p:nvGrpSpPr>
          <p:cNvPr id="25" name="object 25"/>
          <p:cNvGrpSpPr/>
          <p:nvPr/>
        </p:nvGrpSpPr>
        <p:grpSpPr>
          <a:xfrm>
            <a:off x="1144015" y="4374945"/>
            <a:ext cx="5698067" cy="652779"/>
            <a:chOff x="858011" y="3281209"/>
            <a:chExt cx="4273550" cy="489584"/>
          </a:xfrm>
        </p:grpSpPr>
        <p:sp>
          <p:nvSpPr>
            <p:cNvPr id="26" name="object 26"/>
            <p:cNvSpPr/>
            <p:nvPr/>
          </p:nvSpPr>
          <p:spPr>
            <a:xfrm>
              <a:off x="881196" y="3281209"/>
              <a:ext cx="160020" cy="205740"/>
            </a:xfrm>
            <a:custGeom>
              <a:avLst/>
              <a:gdLst/>
              <a:ahLst/>
              <a:cxnLst/>
              <a:rect l="l" t="t" r="r" b="b"/>
              <a:pathLst>
                <a:path w="160019" h="205739">
                  <a:moveTo>
                    <a:pt x="0" y="0"/>
                  </a:moveTo>
                  <a:lnTo>
                    <a:pt x="0" y="205385"/>
                  </a:lnTo>
                  <a:lnTo>
                    <a:pt x="159603" y="102697"/>
                  </a:lnTo>
                  <a:lnTo>
                    <a:pt x="0" y="0"/>
                  </a:lnTo>
                  <a:close/>
                </a:path>
              </a:pathLst>
            </a:custGeom>
            <a:solidFill>
              <a:srgbClr val="39B54A"/>
            </a:solidFill>
          </p:spPr>
          <p:txBody>
            <a:bodyPr wrap="square" lIns="0" tIns="0" rIns="0" bIns="0" rtlCol="0"/>
            <a:lstStyle/>
            <a:p>
              <a:pPr defTabSz="1219170"/>
              <a:endParaRPr sz="2400">
                <a:solidFill>
                  <a:prstClr val="black"/>
                </a:solidFill>
                <a:latin typeface="Calibri"/>
              </a:endParaRPr>
            </a:p>
          </p:txBody>
        </p:sp>
        <p:sp>
          <p:nvSpPr>
            <p:cNvPr id="27" name="object 27"/>
            <p:cNvSpPr/>
            <p:nvPr/>
          </p:nvSpPr>
          <p:spPr>
            <a:xfrm>
              <a:off x="864107" y="3517391"/>
              <a:ext cx="4261485" cy="247015"/>
            </a:xfrm>
            <a:custGeom>
              <a:avLst/>
              <a:gdLst/>
              <a:ahLst/>
              <a:cxnLst/>
              <a:rect l="l" t="t" r="r" b="b"/>
              <a:pathLst>
                <a:path w="4261485" h="247014">
                  <a:moveTo>
                    <a:pt x="4261104" y="0"/>
                  </a:moveTo>
                  <a:lnTo>
                    <a:pt x="0" y="0"/>
                  </a:lnTo>
                  <a:lnTo>
                    <a:pt x="0" y="246887"/>
                  </a:lnTo>
                  <a:lnTo>
                    <a:pt x="4261104" y="246887"/>
                  </a:lnTo>
                  <a:lnTo>
                    <a:pt x="4261104" y="0"/>
                  </a:lnTo>
                  <a:close/>
                </a:path>
              </a:pathLst>
            </a:custGeom>
            <a:solidFill>
              <a:srgbClr val="000000"/>
            </a:solidFill>
          </p:spPr>
          <p:txBody>
            <a:bodyPr wrap="square" lIns="0" tIns="0" rIns="0" bIns="0" rtlCol="0"/>
            <a:lstStyle/>
            <a:p>
              <a:pPr defTabSz="1219170"/>
              <a:endParaRPr sz="2400">
                <a:solidFill>
                  <a:prstClr val="black"/>
                </a:solidFill>
                <a:latin typeface="Calibri"/>
              </a:endParaRPr>
            </a:p>
          </p:txBody>
        </p:sp>
        <p:sp>
          <p:nvSpPr>
            <p:cNvPr id="28" name="object 28"/>
            <p:cNvSpPr/>
            <p:nvPr/>
          </p:nvSpPr>
          <p:spPr>
            <a:xfrm>
              <a:off x="864107" y="3517391"/>
              <a:ext cx="4261485" cy="247015"/>
            </a:xfrm>
            <a:custGeom>
              <a:avLst/>
              <a:gdLst/>
              <a:ahLst/>
              <a:cxnLst/>
              <a:rect l="l" t="t" r="r" b="b"/>
              <a:pathLst>
                <a:path w="4261485" h="247014">
                  <a:moveTo>
                    <a:pt x="0" y="246887"/>
                  </a:moveTo>
                  <a:lnTo>
                    <a:pt x="4261104" y="246887"/>
                  </a:lnTo>
                  <a:lnTo>
                    <a:pt x="4261104" y="0"/>
                  </a:lnTo>
                  <a:lnTo>
                    <a:pt x="0" y="0"/>
                  </a:lnTo>
                  <a:lnTo>
                    <a:pt x="0" y="246887"/>
                  </a:lnTo>
                  <a:close/>
                </a:path>
              </a:pathLst>
            </a:custGeom>
            <a:ln w="12192">
              <a:solidFill>
                <a:srgbClr val="000000"/>
              </a:solidFill>
            </a:ln>
          </p:spPr>
          <p:txBody>
            <a:bodyPr wrap="square" lIns="0" tIns="0" rIns="0" bIns="0" rtlCol="0"/>
            <a:lstStyle/>
            <a:p>
              <a:pPr defTabSz="1219170"/>
              <a:endParaRPr sz="2400">
                <a:solidFill>
                  <a:prstClr val="black"/>
                </a:solidFill>
                <a:latin typeface="Calibri"/>
              </a:endParaRPr>
            </a:p>
          </p:txBody>
        </p:sp>
      </p:grpSp>
      <p:sp>
        <p:nvSpPr>
          <p:cNvPr id="29" name="object 29"/>
          <p:cNvSpPr txBox="1"/>
          <p:nvPr/>
        </p:nvSpPr>
        <p:spPr>
          <a:xfrm>
            <a:off x="1144015" y="4689855"/>
            <a:ext cx="5698067" cy="258982"/>
          </a:xfrm>
          <a:prstGeom prst="rect">
            <a:avLst/>
          </a:prstGeom>
        </p:spPr>
        <p:txBody>
          <a:bodyPr vert="horz" wrap="square" lIns="0" tIns="53340" rIns="0" bIns="0" rtlCol="0">
            <a:spAutoFit/>
          </a:bodyPr>
          <a:lstStyle/>
          <a:p>
            <a:pPr marL="128690" defTabSz="1219170">
              <a:spcBef>
                <a:spcPts val="420"/>
              </a:spcBef>
            </a:pPr>
            <a:r>
              <a:rPr sz="1333" spc="13" dirty="0">
                <a:solidFill>
                  <a:srgbClr val="FFFFFF"/>
                </a:solidFill>
                <a:latin typeface="Arial"/>
                <a:cs typeface="Arial"/>
              </a:rPr>
              <a:t>paswrd</a:t>
            </a:r>
            <a:endParaRPr sz="1333">
              <a:solidFill>
                <a:prstClr val="black"/>
              </a:solidFill>
              <a:latin typeface="Arial"/>
              <a:cs typeface="Arial"/>
            </a:endParaRPr>
          </a:p>
        </p:txBody>
      </p:sp>
    </p:spTree>
    <p:extLst>
      <p:ext uri="{BB962C8B-B14F-4D97-AF65-F5344CB8AC3E}">
        <p14:creationId xmlns:p14="http://schemas.microsoft.com/office/powerpoint/2010/main" val="42894165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Labels &amp; Selectors</a:t>
            </a:r>
          </a:p>
        </p:txBody>
      </p:sp>
      <p:sp>
        <p:nvSpPr>
          <p:cNvPr id="4" name="Content Placeholder 3"/>
          <p:cNvSpPr>
            <a:spLocks noGrp="1"/>
          </p:cNvSpPr>
          <p:nvPr>
            <p:ph sz="half" idx="2"/>
          </p:nvPr>
        </p:nvSpPr>
        <p:spPr/>
        <p:txBody>
          <a:bodyPr>
            <a:normAutofit/>
          </a:bodyPr>
          <a:lstStyle/>
          <a:p>
            <a:pPr marL="0" indent="0">
              <a:buNone/>
            </a:pPr>
            <a:r>
              <a:rPr lang="en-US" dirty="0"/>
              <a:t>Selectors:</a:t>
            </a:r>
          </a:p>
          <a:p>
            <a:pPr marL="0" indent="0">
              <a:buNone/>
            </a:pPr>
            <a:endParaRPr lang="en-US" sz="2200" dirty="0"/>
          </a:p>
          <a:p>
            <a:r>
              <a:rPr lang="en-US" sz="2200" dirty="0"/>
              <a:t>Functions in kubectl that can query API objects that use labels.</a:t>
            </a:r>
          </a:p>
          <a:p>
            <a:pPr marL="0" indent="0">
              <a:buNone/>
            </a:pPr>
            <a:endParaRPr lang="en-US" sz="2200" dirty="0"/>
          </a:p>
          <a:p>
            <a:r>
              <a:rPr lang="en-US" sz="2200" dirty="0"/>
              <a:t> Queries can be a simple get command or it can be an action such as delete that applies only to the labels that match the query.</a:t>
            </a:r>
          </a:p>
        </p:txBody>
      </p:sp>
      <p:sp>
        <p:nvSpPr>
          <p:cNvPr id="5" name="Content Placeholder 4"/>
          <p:cNvSpPr>
            <a:spLocks noGrp="1"/>
          </p:cNvSpPr>
          <p:nvPr>
            <p:ph sz="half" idx="1"/>
          </p:nvPr>
        </p:nvSpPr>
        <p:spPr/>
        <p:txBody>
          <a:bodyPr>
            <a:normAutofit/>
          </a:bodyPr>
          <a:lstStyle/>
          <a:p>
            <a:pPr marL="0" indent="0">
              <a:buNone/>
            </a:pPr>
            <a:r>
              <a:rPr lang="en-US" dirty="0"/>
              <a:t>Labels:</a:t>
            </a:r>
          </a:p>
          <a:p>
            <a:pPr marL="0" indent="0">
              <a:buNone/>
            </a:pPr>
            <a:endParaRPr lang="en-US" dirty="0"/>
          </a:p>
          <a:p>
            <a:r>
              <a:rPr lang="en-US" sz="2400" dirty="0"/>
              <a:t>Metadata that can be attached to API objects such as pods that generally represent identity.</a:t>
            </a:r>
          </a:p>
          <a:p>
            <a:endParaRPr lang="en-US" sz="2400" dirty="0"/>
          </a:p>
          <a:p>
            <a:r>
              <a:rPr lang="en-US" sz="2400" dirty="0"/>
              <a:t>They can be attributes in manifests or assigned manually.</a:t>
            </a:r>
          </a:p>
        </p:txBody>
      </p:sp>
    </p:spTree>
    <p:extLst>
      <p:ext uri="{BB962C8B-B14F-4D97-AF65-F5344CB8AC3E}">
        <p14:creationId xmlns:p14="http://schemas.microsoft.com/office/powerpoint/2010/main" val="31749372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Labels &amp; </a:t>
            </a:r>
            <a:r>
              <a:rPr lang="en-US" b="1" dirty="0" err="1"/>
              <a:t>Selctor</a:t>
            </a:r>
            <a:endParaRPr lang="en-US" b="1" dirty="0"/>
          </a:p>
        </p:txBody>
      </p:sp>
      <p:sp>
        <p:nvSpPr>
          <p:cNvPr id="3" name="Content Placeholder 2"/>
          <p:cNvSpPr>
            <a:spLocks noGrp="1"/>
          </p:cNvSpPr>
          <p:nvPr>
            <p:ph sz="half" idx="1"/>
          </p:nvPr>
        </p:nvSpPr>
        <p:spPr/>
        <p:txBody>
          <a:bodyPr>
            <a:normAutofit/>
          </a:bodyPr>
          <a:lstStyle/>
          <a:p>
            <a:r>
              <a:rPr lang="en-US" sz="1600" dirty="0">
                <a:solidFill>
                  <a:schemeClr val="accent5">
                    <a:lumMod val="75000"/>
                  </a:schemeClr>
                </a:solidFill>
              </a:rPr>
              <a:t>kubectl get pods --selector owner=</a:t>
            </a:r>
            <a:r>
              <a:rPr lang="en-US" sz="1600" dirty="0" err="1">
                <a:solidFill>
                  <a:schemeClr val="accent5">
                    <a:lumMod val="75000"/>
                  </a:schemeClr>
                </a:solidFill>
              </a:rPr>
              <a:t>beatle</a:t>
            </a:r>
            <a:endParaRPr lang="en-US" sz="1600" dirty="0">
              <a:solidFill>
                <a:schemeClr val="accent5">
                  <a:lumMod val="75000"/>
                </a:schemeClr>
              </a:solidFill>
            </a:endParaRPr>
          </a:p>
          <a:p>
            <a:r>
              <a:rPr lang="en-US" sz="1600" dirty="0">
                <a:solidFill>
                  <a:schemeClr val="accent5">
                    <a:lumMod val="75000"/>
                  </a:schemeClr>
                </a:solidFill>
              </a:rPr>
              <a:t>kubectl label pods pod5 surname=jones  </a:t>
            </a:r>
            <a:r>
              <a:rPr lang="en-US" sz="1600" dirty="0">
                <a:solidFill>
                  <a:schemeClr val="accent5">
                    <a:lumMod val="75000"/>
                  </a:schemeClr>
                </a:solidFill>
                <a:sym typeface="Wingdings" panose="05000000000000000000" pitchFamily="2" charset="2"/>
              </a:rPr>
              <a:t> add label to a pod</a:t>
            </a:r>
          </a:p>
          <a:p>
            <a:endParaRPr lang="en-US" sz="1600" dirty="0">
              <a:solidFill>
                <a:schemeClr val="accent5">
                  <a:lumMod val="75000"/>
                </a:schemeClr>
              </a:solidFill>
            </a:endParaRPr>
          </a:p>
          <a:p>
            <a:r>
              <a:rPr lang="en-US" sz="1600" dirty="0">
                <a:solidFill>
                  <a:schemeClr val="accent5">
                    <a:lumMod val="75000"/>
                  </a:schemeClr>
                </a:solidFill>
              </a:rPr>
              <a:t>kubectl get pods --show-labels</a:t>
            </a:r>
          </a:p>
          <a:p>
            <a:r>
              <a:rPr lang="en-US" sz="1600" dirty="0">
                <a:solidFill>
                  <a:schemeClr val="accent5">
                    <a:lumMod val="75000"/>
                  </a:schemeClr>
                </a:solidFill>
              </a:rPr>
              <a:t>kubectl delete pods --selector owner=</a:t>
            </a:r>
            <a:r>
              <a:rPr lang="en-US" sz="1600" dirty="0" err="1">
                <a:solidFill>
                  <a:schemeClr val="accent5">
                    <a:lumMod val="75000"/>
                  </a:schemeClr>
                </a:solidFill>
              </a:rPr>
              <a:t>beatle</a:t>
            </a:r>
            <a:r>
              <a:rPr lang="en-US" sz="1600" dirty="0">
                <a:solidFill>
                  <a:schemeClr val="accent5">
                    <a:lumMod val="75000"/>
                  </a:schemeClr>
                </a:solidFill>
              </a:rPr>
              <a:t> </a:t>
            </a:r>
          </a:p>
        </p:txBody>
      </p:sp>
      <p:pic>
        <p:nvPicPr>
          <p:cNvPr id="7" name="Content Placeholder 6"/>
          <p:cNvPicPr>
            <a:picLocks noGrp="1" noChangeAspect="1"/>
          </p:cNvPicPr>
          <p:nvPr>
            <p:ph sz="half" idx="2"/>
          </p:nvPr>
        </p:nvPicPr>
        <p:blipFill>
          <a:blip r:embed="rId2"/>
          <a:stretch>
            <a:fillRect/>
          </a:stretch>
        </p:blipFill>
        <p:spPr>
          <a:xfrm>
            <a:off x="6991927" y="2235201"/>
            <a:ext cx="4361872" cy="3786908"/>
          </a:xfrm>
          <a:prstGeom prst="rect">
            <a:avLst/>
          </a:prstGeom>
        </p:spPr>
      </p:pic>
    </p:spTree>
    <p:extLst>
      <p:ext uri="{BB962C8B-B14F-4D97-AF65-F5344CB8AC3E}">
        <p14:creationId xmlns:p14="http://schemas.microsoft.com/office/powerpoint/2010/main" val="35346211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Node Affinity</a:t>
            </a:r>
          </a:p>
        </p:txBody>
      </p:sp>
      <p:sp>
        <p:nvSpPr>
          <p:cNvPr id="3" name="Content Placeholder 2"/>
          <p:cNvSpPr>
            <a:spLocks noGrp="1"/>
          </p:cNvSpPr>
          <p:nvPr>
            <p:ph sz="half" idx="1"/>
          </p:nvPr>
        </p:nvSpPr>
        <p:spPr/>
        <p:txBody>
          <a:bodyPr>
            <a:normAutofit/>
          </a:bodyPr>
          <a:lstStyle/>
          <a:p>
            <a:r>
              <a:rPr lang="en-US" sz="2000" dirty="0"/>
              <a:t>Kubernetes provides a couple of options to create pod/node affinity.</a:t>
            </a:r>
          </a:p>
          <a:p>
            <a:endParaRPr lang="en-US" sz="2000" dirty="0"/>
          </a:p>
          <a:p>
            <a:r>
              <a:rPr lang="en-US" sz="2000" dirty="0"/>
              <a:t>Each option's approach is slightly different though the end results are similar.</a:t>
            </a:r>
          </a:p>
          <a:p>
            <a:endParaRPr lang="en-US" sz="2000" dirty="0"/>
          </a:p>
          <a:p>
            <a:endParaRPr lang="en-US" sz="2000" dirty="0"/>
          </a:p>
          <a:p>
            <a:pPr marL="0" indent="0">
              <a:buNone/>
            </a:pPr>
            <a:r>
              <a:rPr lang="en-US" sz="2000" dirty="0"/>
              <a:t>Options:</a:t>
            </a:r>
          </a:p>
          <a:p>
            <a:pPr marL="0" indent="0">
              <a:buNone/>
            </a:pPr>
            <a:r>
              <a:rPr lang="en-US" sz="2000" dirty="0"/>
              <a:t>– Node Selectors</a:t>
            </a:r>
          </a:p>
          <a:p>
            <a:pPr marL="0" indent="0">
              <a:buNone/>
            </a:pPr>
            <a:r>
              <a:rPr lang="en-US" sz="2000" dirty="0"/>
              <a:t>– Taints and Tolerations</a:t>
            </a:r>
          </a:p>
        </p:txBody>
      </p:sp>
      <p:pic>
        <p:nvPicPr>
          <p:cNvPr id="5" name="Content Placeholder 4"/>
          <p:cNvPicPr>
            <a:picLocks noGrp="1" noChangeAspect="1"/>
          </p:cNvPicPr>
          <p:nvPr>
            <p:ph sz="half" idx="2"/>
          </p:nvPr>
        </p:nvPicPr>
        <p:blipFill>
          <a:blip r:embed="rId2"/>
          <a:stretch>
            <a:fillRect/>
          </a:stretch>
        </p:blipFill>
        <p:spPr>
          <a:xfrm>
            <a:off x="6181436" y="1302327"/>
            <a:ext cx="5181600" cy="4618182"/>
          </a:xfrm>
          <a:prstGeom prst="rect">
            <a:avLst/>
          </a:prstGeom>
        </p:spPr>
      </p:pic>
    </p:spTree>
    <p:extLst>
      <p:ext uri="{BB962C8B-B14F-4D97-AF65-F5344CB8AC3E}">
        <p14:creationId xmlns:p14="http://schemas.microsoft.com/office/powerpoint/2010/main" val="20749388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NodeSelectors</a:t>
            </a:r>
            <a:endParaRPr lang="en-US" b="1" dirty="0"/>
          </a:p>
        </p:txBody>
      </p:sp>
      <p:sp>
        <p:nvSpPr>
          <p:cNvPr id="3" name="Content Placeholder 2"/>
          <p:cNvSpPr>
            <a:spLocks noGrp="1"/>
          </p:cNvSpPr>
          <p:nvPr>
            <p:ph sz="half" idx="1"/>
          </p:nvPr>
        </p:nvSpPr>
        <p:spPr/>
        <p:txBody>
          <a:bodyPr>
            <a:normAutofit fontScale="55000" lnSpcReduction="20000"/>
          </a:bodyPr>
          <a:lstStyle/>
          <a:p>
            <a:r>
              <a:rPr lang="en-US" sz="2000" dirty="0"/>
              <a:t> </a:t>
            </a:r>
            <a:r>
              <a:rPr lang="en-US" sz="3600" dirty="0"/>
              <a:t>Labels are applied to Nodes</a:t>
            </a:r>
          </a:p>
          <a:p>
            <a:pPr marL="0" indent="0">
              <a:buNone/>
            </a:pPr>
            <a:endParaRPr lang="en-US" sz="3600" dirty="0"/>
          </a:p>
          <a:p>
            <a:r>
              <a:rPr lang="en-US" sz="3600" dirty="0"/>
              <a:t> Pods specs are updated with </a:t>
            </a:r>
            <a:r>
              <a:rPr lang="en-US" sz="3600" dirty="0" err="1"/>
              <a:t>NodeSelectors</a:t>
            </a:r>
            <a:r>
              <a:rPr lang="en-US" sz="3600" dirty="0"/>
              <a:t> for the corresponding labels.</a:t>
            </a:r>
          </a:p>
          <a:p>
            <a:pPr marL="0" indent="0">
              <a:buNone/>
            </a:pPr>
            <a:endParaRPr lang="en-US" sz="3600" dirty="0"/>
          </a:p>
          <a:p>
            <a:r>
              <a:rPr lang="en-US" sz="3600" dirty="0"/>
              <a:t>Pods will prefer to be scheduled on nodes with labels that match their </a:t>
            </a:r>
            <a:r>
              <a:rPr lang="en-US" sz="3600" dirty="0" err="1"/>
              <a:t>nodeSelctor</a:t>
            </a:r>
            <a:r>
              <a:rPr lang="en-US" sz="3600" dirty="0"/>
              <a:t>.</a:t>
            </a:r>
          </a:p>
          <a:p>
            <a:endParaRPr lang="en-US" sz="3600" dirty="0"/>
          </a:p>
          <a:p>
            <a:r>
              <a:rPr lang="en-US" sz="3600" dirty="0"/>
              <a:t>Approach: Attraction vs Rejection</a:t>
            </a:r>
          </a:p>
        </p:txBody>
      </p:sp>
      <p:sp>
        <p:nvSpPr>
          <p:cNvPr id="4" name="Content Placeholder 3"/>
          <p:cNvSpPr>
            <a:spLocks noGrp="1"/>
          </p:cNvSpPr>
          <p:nvPr>
            <p:ph sz="half" idx="2"/>
          </p:nvPr>
        </p:nvSpPr>
        <p:spPr>
          <a:xfrm>
            <a:off x="6181436" y="1496291"/>
            <a:ext cx="5181600" cy="4680672"/>
          </a:xfrm>
        </p:spPr>
        <p:txBody>
          <a:bodyPr>
            <a:normAutofit fontScale="55000" lnSpcReduction="20000"/>
          </a:bodyPr>
          <a:lstStyle/>
          <a:p>
            <a:pPr marL="0" indent="0">
              <a:buNone/>
            </a:pPr>
            <a:r>
              <a:rPr lang="en-US" sz="2400" dirty="0">
                <a:latin typeface="RobotoMono-Regular"/>
              </a:rPr>
              <a:t>Command</a:t>
            </a:r>
          </a:p>
          <a:p>
            <a:pPr marL="0" indent="0">
              <a:buNone/>
            </a:pPr>
            <a:r>
              <a:rPr lang="en-US" sz="2400" dirty="0">
                <a:latin typeface="RobotoMono-Regular"/>
              </a:rPr>
              <a:t>kubectl label nodes worker01 </a:t>
            </a:r>
            <a:r>
              <a:rPr lang="en-US" sz="2400" dirty="0" err="1">
                <a:latin typeface="RobotoMono-Regular"/>
              </a:rPr>
              <a:t>disktype</a:t>
            </a:r>
            <a:r>
              <a:rPr lang="en-US" sz="2400" dirty="0">
                <a:latin typeface="RobotoMono-Regular"/>
              </a:rPr>
              <a:t>=</a:t>
            </a:r>
            <a:r>
              <a:rPr lang="en-US" sz="2400" dirty="0" err="1">
                <a:latin typeface="RobotoMono-Regular"/>
              </a:rPr>
              <a:t>ssd</a:t>
            </a:r>
            <a:endParaRPr lang="en-US" sz="2400" dirty="0">
              <a:latin typeface="RobotoMono-Regular"/>
            </a:endParaRPr>
          </a:p>
          <a:p>
            <a:pPr marL="0" indent="0">
              <a:buNone/>
            </a:pPr>
            <a:endParaRPr lang="en-US" dirty="0">
              <a:latin typeface="RobotoMono-Regular"/>
            </a:endParaRPr>
          </a:p>
          <a:p>
            <a:pPr marL="0" indent="0">
              <a:buNone/>
            </a:pPr>
            <a:r>
              <a:rPr lang="en-US" dirty="0" err="1">
                <a:latin typeface="RobotoMono-Regular"/>
              </a:rPr>
              <a:t>apiVersion</a:t>
            </a:r>
            <a:r>
              <a:rPr lang="en-US" dirty="0">
                <a:latin typeface="RobotoMono-Regular"/>
              </a:rPr>
              <a:t>: v1</a:t>
            </a:r>
          </a:p>
          <a:p>
            <a:pPr marL="0" indent="0">
              <a:buNone/>
            </a:pPr>
            <a:r>
              <a:rPr lang="en-US" dirty="0">
                <a:latin typeface="RobotoMono-Regular"/>
              </a:rPr>
              <a:t>kind: Pod</a:t>
            </a:r>
          </a:p>
          <a:p>
            <a:pPr marL="0" indent="0">
              <a:buNone/>
            </a:pPr>
            <a:r>
              <a:rPr lang="en-US" dirty="0">
                <a:latin typeface="RobotoMono-Regular"/>
              </a:rPr>
              <a:t>metadata:</a:t>
            </a:r>
          </a:p>
          <a:p>
            <a:pPr marL="0" indent="0">
              <a:buNone/>
            </a:pPr>
            <a:r>
              <a:rPr lang="en-US" dirty="0">
                <a:latin typeface="RobotoMono-Regular"/>
              </a:rPr>
              <a:t>     name: </a:t>
            </a:r>
            <a:r>
              <a:rPr lang="en-US" dirty="0" err="1">
                <a:latin typeface="RobotoMono-Regular"/>
              </a:rPr>
              <a:t>nginx</a:t>
            </a:r>
            <a:endParaRPr lang="en-US" dirty="0">
              <a:latin typeface="RobotoMono-Regular"/>
            </a:endParaRPr>
          </a:p>
          <a:p>
            <a:pPr marL="0" indent="0">
              <a:buNone/>
            </a:pPr>
            <a:r>
              <a:rPr lang="en-US" dirty="0">
                <a:latin typeface="RobotoMono-Regular"/>
              </a:rPr>
              <a:t>labels:</a:t>
            </a:r>
          </a:p>
          <a:p>
            <a:pPr marL="0" indent="0">
              <a:buNone/>
            </a:pPr>
            <a:r>
              <a:rPr lang="en-US" dirty="0">
                <a:latin typeface="RobotoMono-Regular"/>
              </a:rPr>
              <a:t>   </a:t>
            </a:r>
            <a:r>
              <a:rPr lang="en-US" dirty="0" err="1">
                <a:latin typeface="RobotoMono-Regular"/>
              </a:rPr>
              <a:t>env</a:t>
            </a:r>
            <a:r>
              <a:rPr lang="en-US" dirty="0">
                <a:latin typeface="RobotoMono-Regular"/>
              </a:rPr>
              <a:t>: test</a:t>
            </a:r>
          </a:p>
          <a:p>
            <a:pPr marL="0" indent="0">
              <a:buNone/>
            </a:pPr>
            <a:r>
              <a:rPr lang="en-US" dirty="0">
                <a:latin typeface="RobotoMono-Regular"/>
              </a:rPr>
              <a:t>spec:</a:t>
            </a:r>
          </a:p>
          <a:p>
            <a:pPr marL="0" indent="0">
              <a:buNone/>
            </a:pPr>
            <a:r>
              <a:rPr lang="en-US" dirty="0">
                <a:latin typeface="RobotoMono-Regular"/>
              </a:rPr>
              <a:t>   containers:</a:t>
            </a:r>
          </a:p>
          <a:p>
            <a:pPr marL="0" indent="0">
              <a:buNone/>
            </a:pPr>
            <a:r>
              <a:rPr lang="en-US" dirty="0">
                <a:latin typeface="RobotoMono-Regular"/>
              </a:rPr>
              <a:t>    - name: </a:t>
            </a:r>
            <a:r>
              <a:rPr lang="en-US" dirty="0" err="1">
                <a:latin typeface="RobotoMono-Regular"/>
              </a:rPr>
              <a:t>nginx</a:t>
            </a:r>
            <a:endParaRPr lang="en-US" dirty="0">
              <a:latin typeface="RobotoMono-Regular"/>
            </a:endParaRPr>
          </a:p>
          <a:p>
            <a:pPr marL="0" indent="0">
              <a:buNone/>
            </a:pPr>
            <a:r>
              <a:rPr lang="en-US" dirty="0">
                <a:latin typeface="RobotoMono-Regular"/>
              </a:rPr>
              <a:t>       image: </a:t>
            </a:r>
            <a:r>
              <a:rPr lang="en-US" dirty="0" err="1">
                <a:latin typeface="RobotoMono-Regular"/>
              </a:rPr>
              <a:t>nginx</a:t>
            </a:r>
            <a:endParaRPr lang="en-US" dirty="0">
              <a:latin typeface="RobotoMono-Regular"/>
            </a:endParaRPr>
          </a:p>
          <a:p>
            <a:pPr marL="0" indent="0">
              <a:buNone/>
            </a:pPr>
            <a:r>
              <a:rPr lang="en-US" dirty="0">
                <a:latin typeface="RobotoMono-Regular"/>
              </a:rPr>
              <a:t>       </a:t>
            </a:r>
            <a:r>
              <a:rPr lang="en-US" dirty="0" err="1">
                <a:latin typeface="RobotoMono-Regular"/>
              </a:rPr>
              <a:t>imagePullPolicy</a:t>
            </a:r>
            <a:r>
              <a:rPr lang="en-US" dirty="0">
                <a:latin typeface="RobotoMono-Regular"/>
              </a:rPr>
              <a:t>: </a:t>
            </a:r>
            <a:r>
              <a:rPr lang="en-US" dirty="0" err="1">
                <a:latin typeface="RobotoMono-Regular"/>
              </a:rPr>
              <a:t>IfNotPresent</a:t>
            </a:r>
            <a:endParaRPr lang="en-US" dirty="0">
              <a:latin typeface="RobotoMono-Regular"/>
            </a:endParaRPr>
          </a:p>
          <a:p>
            <a:pPr marL="0" indent="0">
              <a:buNone/>
            </a:pPr>
            <a:r>
              <a:rPr lang="en-US" dirty="0">
                <a:latin typeface="RobotoMono-Regular"/>
              </a:rPr>
              <a:t>   </a:t>
            </a:r>
            <a:r>
              <a:rPr lang="en-US" dirty="0" err="1">
                <a:latin typeface="RobotoMono-Regular"/>
              </a:rPr>
              <a:t>nodeSelector</a:t>
            </a:r>
            <a:r>
              <a:rPr lang="en-US" dirty="0">
                <a:latin typeface="RobotoMono-Regular"/>
              </a:rPr>
              <a:t>:</a:t>
            </a:r>
          </a:p>
          <a:p>
            <a:pPr marL="0" indent="0">
              <a:buNone/>
            </a:pPr>
            <a:r>
              <a:rPr lang="en-US" dirty="0">
                <a:latin typeface="RobotoMono-Regular"/>
              </a:rPr>
              <a:t>       </a:t>
            </a:r>
            <a:r>
              <a:rPr lang="en-US" dirty="0" err="1">
                <a:latin typeface="RobotoMono-Regular"/>
              </a:rPr>
              <a:t>disktype</a:t>
            </a:r>
            <a:r>
              <a:rPr lang="en-US" dirty="0">
                <a:latin typeface="RobotoMono-Regular"/>
              </a:rPr>
              <a:t>: </a:t>
            </a:r>
            <a:r>
              <a:rPr lang="en-US" dirty="0" err="1">
                <a:latin typeface="RobotoMono-Regular"/>
              </a:rPr>
              <a:t>ssd</a:t>
            </a:r>
            <a:endParaRPr lang="en-US" dirty="0"/>
          </a:p>
        </p:txBody>
      </p:sp>
    </p:spTree>
    <p:extLst>
      <p:ext uri="{BB962C8B-B14F-4D97-AF65-F5344CB8AC3E}">
        <p14:creationId xmlns:p14="http://schemas.microsoft.com/office/powerpoint/2010/main" val="14294126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Taints &amp; Tolerations</a:t>
            </a:r>
          </a:p>
        </p:txBody>
      </p:sp>
      <p:sp>
        <p:nvSpPr>
          <p:cNvPr id="3" name="Content Placeholder 2"/>
          <p:cNvSpPr>
            <a:spLocks noGrp="1"/>
          </p:cNvSpPr>
          <p:nvPr>
            <p:ph sz="half" idx="1"/>
          </p:nvPr>
        </p:nvSpPr>
        <p:spPr/>
        <p:txBody>
          <a:bodyPr>
            <a:normAutofit lnSpcReduction="10000"/>
          </a:bodyPr>
          <a:lstStyle/>
          <a:p>
            <a:r>
              <a:rPr lang="en-US" sz="2400" dirty="0"/>
              <a:t>Taints are applied to Nodes</a:t>
            </a:r>
          </a:p>
          <a:p>
            <a:pPr marL="0" indent="0">
              <a:buNone/>
            </a:pPr>
            <a:endParaRPr lang="en-US" sz="2400" dirty="0"/>
          </a:p>
          <a:p>
            <a:r>
              <a:rPr lang="en-US" sz="2400" dirty="0"/>
              <a:t>Pods specs are updated with tolerations for the corresponding taints.</a:t>
            </a:r>
          </a:p>
          <a:p>
            <a:pPr marL="0" indent="0">
              <a:buNone/>
            </a:pPr>
            <a:endParaRPr lang="en-US" sz="2400" dirty="0"/>
          </a:p>
          <a:p>
            <a:r>
              <a:rPr lang="en-US" sz="2400" dirty="0"/>
              <a:t>The nodes will only allow pods with tolerations for their nodes' taints to be scheduled on them.</a:t>
            </a:r>
          </a:p>
          <a:p>
            <a:pPr marL="0" indent="0">
              <a:buNone/>
            </a:pPr>
            <a:endParaRPr lang="en-US" sz="2400" dirty="0"/>
          </a:p>
          <a:p>
            <a:r>
              <a:rPr lang="en-US" sz="2400" dirty="0"/>
              <a:t>Approach: Rejection vs Attraction</a:t>
            </a:r>
          </a:p>
        </p:txBody>
      </p:sp>
      <p:pic>
        <p:nvPicPr>
          <p:cNvPr id="5" name="Content Placeholder 4"/>
          <p:cNvPicPr>
            <a:picLocks noGrp="1" noChangeAspect="1"/>
          </p:cNvPicPr>
          <p:nvPr>
            <p:ph sz="half" idx="2"/>
          </p:nvPr>
        </p:nvPicPr>
        <p:blipFill>
          <a:blip r:embed="rId2"/>
          <a:stretch>
            <a:fillRect/>
          </a:stretch>
        </p:blipFill>
        <p:spPr>
          <a:xfrm>
            <a:off x="6502400" y="1662546"/>
            <a:ext cx="5045364" cy="4165600"/>
          </a:xfrm>
          <a:prstGeom prst="rect">
            <a:avLst/>
          </a:prstGeom>
        </p:spPr>
      </p:pic>
    </p:spTree>
    <p:extLst>
      <p:ext uri="{BB962C8B-B14F-4D97-AF65-F5344CB8AC3E}">
        <p14:creationId xmlns:p14="http://schemas.microsoft.com/office/powerpoint/2010/main" val="19658538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Horizontal Scale </a:t>
            </a:r>
          </a:p>
        </p:txBody>
      </p:sp>
      <p:sp>
        <p:nvSpPr>
          <p:cNvPr id="3" name="Content Placeholder 2"/>
          <p:cNvSpPr>
            <a:spLocks noGrp="1"/>
          </p:cNvSpPr>
          <p:nvPr>
            <p:ph sz="half" idx="1"/>
          </p:nvPr>
        </p:nvSpPr>
        <p:spPr>
          <a:xfrm>
            <a:off x="838199" y="1825625"/>
            <a:ext cx="9358745" cy="4351338"/>
          </a:xfrm>
        </p:spPr>
        <p:txBody>
          <a:bodyPr>
            <a:normAutofit/>
          </a:bodyPr>
          <a:lstStyle/>
          <a:p>
            <a:r>
              <a:rPr lang="en-US" sz="2400" dirty="0"/>
              <a:t>When deploying or redeploying an application, the replica spec can be defined.</a:t>
            </a:r>
          </a:p>
          <a:p>
            <a:endParaRPr lang="en-US" sz="2400" dirty="0"/>
          </a:p>
          <a:p>
            <a:r>
              <a:rPr lang="en-US" sz="2400" dirty="0"/>
              <a:t>If the number is changed and the manifest is redeployed, then the matching number of pod replicas will change also.</a:t>
            </a:r>
          </a:p>
          <a:p>
            <a:endParaRPr lang="en-US" sz="2400" dirty="0"/>
          </a:p>
          <a:p>
            <a:r>
              <a:rPr lang="en-US" sz="2600" dirty="0"/>
              <a:t>Horizontal scaling is adding more pods. Vertical scaling is adding more nodes or a new Kubernetes cluster.</a:t>
            </a:r>
          </a:p>
          <a:p>
            <a:endParaRPr lang="en-US" sz="2600" dirty="0"/>
          </a:p>
          <a:p>
            <a:r>
              <a:rPr lang="en-US" sz="2600" dirty="0"/>
              <a:t>kubectl scale deployments nginx-deployment --replicas=4</a:t>
            </a:r>
          </a:p>
        </p:txBody>
      </p:sp>
    </p:spTree>
    <p:extLst>
      <p:ext uri="{BB962C8B-B14F-4D97-AF65-F5344CB8AC3E}">
        <p14:creationId xmlns:p14="http://schemas.microsoft.com/office/powerpoint/2010/main" val="277279063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HorizontalPodAutoScaler</a:t>
            </a:r>
          </a:p>
        </p:txBody>
      </p:sp>
      <p:sp>
        <p:nvSpPr>
          <p:cNvPr id="3" name="Content Placeholder 2"/>
          <p:cNvSpPr>
            <a:spLocks noGrp="1"/>
          </p:cNvSpPr>
          <p:nvPr>
            <p:ph sz="half" idx="1"/>
          </p:nvPr>
        </p:nvSpPr>
        <p:spPr/>
        <p:txBody>
          <a:bodyPr>
            <a:noAutofit/>
          </a:bodyPr>
          <a:lstStyle/>
          <a:p>
            <a:pPr marL="0" indent="0">
              <a:buNone/>
            </a:pPr>
            <a:r>
              <a:rPr lang="en-US" sz="1800" dirty="0"/>
              <a:t>Monitors metrics of the cluster and uses these to automatically scale pod replicas out and back.</a:t>
            </a:r>
          </a:p>
          <a:p>
            <a:pPr marL="0" indent="0">
              <a:buNone/>
            </a:pPr>
            <a:endParaRPr lang="en-US" sz="1800" dirty="0"/>
          </a:p>
          <a:p>
            <a:pPr marL="0" indent="0">
              <a:buNone/>
            </a:pPr>
            <a:r>
              <a:rPr lang="en-US" sz="1800" dirty="0"/>
              <a:t>Example:</a:t>
            </a:r>
          </a:p>
          <a:p>
            <a:pPr marL="0" indent="0">
              <a:buNone/>
            </a:pPr>
            <a:r>
              <a:rPr lang="en-US" sz="1800" dirty="0"/>
              <a:t> App to be scaled: </a:t>
            </a:r>
            <a:r>
              <a:rPr lang="en-US" sz="1800" dirty="0" err="1"/>
              <a:t>php</a:t>
            </a:r>
            <a:r>
              <a:rPr lang="en-US" sz="1800" dirty="0"/>
              <a:t>-apache</a:t>
            </a:r>
          </a:p>
          <a:p>
            <a:pPr marL="0" indent="0">
              <a:buNone/>
            </a:pPr>
            <a:r>
              <a:rPr lang="en-US" sz="1800" dirty="0"/>
              <a:t> The minimum number of pods: 1</a:t>
            </a:r>
          </a:p>
          <a:p>
            <a:pPr marL="0" indent="0">
              <a:buNone/>
            </a:pPr>
            <a:r>
              <a:rPr lang="en-US" sz="1800" dirty="0"/>
              <a:t> The maximum number: 10</a:t>
            </a:r>
          </a:p>
          <a:p>
            <a:pPr marL="0" indent="0">
              <a:buNone/>
            </a:pPr>
            <a:r>
              <a:rPr lang="en-US" sz="1800" dirty="0"/>
              <a:t> If the CPU Utilization of the node is ≥ 50%,</a:t>
            </a:r>
          </a:p>
          <a:p>
            <a:pPr marL="0" indent="0">
              <a:buNone/>
            </a:pPr>
            <a:r>
              <a:rPr lang="en-US" sz="1800" dirty="0"/>
              <a:t>then more pods will be created</a:t>
            </a:r>
          </a:p>
          <a:p>
            <a:pPr marL="0" indent="0">
              <a:buNone/>
            </a:pPr>
            <a:endParaRPr lang="en-US" sz="1800" dirty="0"/>
          </a:p>
          <a:p>
            <a:pPr marL="0" indent="0">
              <a:buNone/>
            </a:pPr>
            <a:r>
              <a:rPr lang="en-US" sz="1800" dirty="0"/>
              <a:t>Note: Other metrics can also be used with an </a:t>
            </a:r>
            <a:r>
              <a:rPr lang="en-US" sz="1800" dirty="0" err="1"/>
              <a:t>autoscale</a:t>
            </a:r>
            <a:endParaRPr lang="en-US" sz="1800" dirty="0"/>
          </a:p>
        </p:txBody>
      </p:sp>
      <p:sp>
        <p:nvSpPr>
          <p:cNvPr id="4" name="Content Placeholder 3"/>
          <p:cNvSpPr>
            <a:spLocks noGrp="1"/>
          </p:cNvSpPr>
          <p:nvPr>
            <p:ph sz="half" idx="2"/>
          </p:nvPr>
        </p:nvSpPr>
        <p:spPr/>
        <p:txBody>
          <a:bodyPr>
            <a:normAutofit fontScale="55000" lnSpcReduction="20000"/>
          </a:bodyPr>
          <a:lstStyle/>
          <a:p>
            <a:pPr marL="0" indent="0">
              <a:buNone/>
            </a:pPr>
            <a:r>
              <a:rPr lang="en-US" sz="2600" dirty="0"/>
              <a:t>Manifests:-</a:t>
            </a:r>
          </a:p>
          <a:p>
            <a:pPr marL="0" indent="0">
              <a:buNone/>
            </a:pPr>
            <a:endParaRPr lang="en-US" sz="2600" dirty="0"/>
          </a:p>
          <a:p>
            <a:pPr marL="0" indent="0">
              <a:buNone/>
            </a:pPr>
            <a:r>
              <a:rPr lang="en-US" sz="2600" dirty="0" err="1"/>
              <a:t>apiVersion</a:t>
            </a:r>
            <a:r>
              <a:rPr lang="en-US" sz="2600" dirty="0"/>
              <a:t>: </a:t>
            </a:r>
            <a:r>
              <a:rPr lang="en-US" sz="2600" dirty="0" err="1"/>
              <a:t>autoscaling</a:t>
            </a:r>
            <a:r>
              <a:rPr lang="en-US" sz="2600" dirty="0"/>
              <a:t>/v1</a:t>
            </a:r>
          </a:p>
          <a:p>
            <a:pPr marL="0" indent="0">
              <a:buNone/>
            </a:pPr>
            <a:r>
              <a:rPr lang="en-US" sz="2600" dirty="0"/>
              <a:t>kind: </a:t>
            </a:r>
            <a:r>
              <a:rPr lang="en-US" sz="2600" dirty="0" err="1"/>
              <a:t>HorizontalPodAutoscaler</a:t>
            </a:r>
            <a:endParaRPr lang="en-US" sz="2600" dirty="0"/>
          </a:p>
          <a:p>
            <a:pPr marL="0" indent="0">
              <a:buNone/>
            </a:pPr>
            <a:r>
              <a:rPr lang="en-US" sz="2600" dirty="0"/>
              <a:t>metadata:</a:t>
            </a:r>
          </a:p>
          <a:p>
            <a:pPr marL="0" indent="0">
              <a:buNone/>
            </a:pPr>
            <a:r>
              <a:rPr lang="en-US" sz="2600" dirty="0"/>
              <a:t>    name: </a:t>
            </a:r>
            <a:r>
              <a:rPr lang="en-US" sz="2600" dirty="0" err="1"/>
              <a:t>php</a:t>
            </a:r>
            <a:r>
              <a:rPr lang="en-US" sz="2600" dirty="0"/>
              <a:t>-apache</a:t>
            </a:r>
          </a:p>
          <a:p>
            <a:pPr marL="0" indent="0">
              <a:buNone/>
            </a:pPr>
            <a:r>
              <a:rPr lang="en-US" sz="2600" dirty="0"/>
              <a:t>    namespace: default</a:t>
            </a:r>
          </a:p>
          <a:p>
            <a:pPr marL="0" indent="0">
              <a:buNone/>
            </a:pPr>
            <a:r>
              <a:rPr lang="en-US" sz="2600" dirty="0"/>
              <a:t>spec:</a:t>
            </a:r>
          </a:p>
          <a:p>
            <a:pPr marL="0" indent="0">
              <a:buNone/>
            </a:pPr>
            <a:r>
              <a:rPr lang="en-US" sz="2600" dirty="0"/>
              <a:t>    </a:t>
            </a:r>
            <a:r>
              <a:rPr lang="en-US" sz="2600" dirty="0" err="1"/>
              <a:t>scaleTargetRef</a:t>
            </a:r>
            <a:r>
              <a:rPr lang="en-US" sz="2600" dirty="0"/>
              <a:t>:</a:t>
            </a:r>
          </a:p>
          <a:p>
            <a:pPr marL="0" indent="0">
              <a:buNone/>
            </a:pPr>
            <a:r>
              <a:rPr lang="en-US" sz="2600" dirty="0"/>
              <a:t>        </a:t>
            </a:r>
            <a:r>
              <a:rPr lang="en-US" sz="2600" dirty="0" err="1"/>
              <a:t>apiVersion</a:t>
            </a:r>
            <a:r>
              <a:rPr lang="en-US" sz="2600" dirty="0"/>
              <a:t>: apps/v1</a:t>
            </a:r>
          </a:p>
          <a:p>
            <a:pPr marL="0" indent="0">
              <a:buNone/>
            </a:pPr>
            <a:r>
              <a:rPr lang="en-US" sz="2600" dirty="0"/>
              <a:t>        kind: Deployment</a:t>
            </a:r>
          </a:p>
          <a:p>
            <a:pPr marL="0" indent="0">
              <a:buNone/>
            </a:pPr>
            <a:r>
              <a:rPr lang="en-US" sz="2600" dirty="0"/>
              <a:t>        name: </a:t>
            </a:r>
            <a:r>
              <a:rPr lang="en-US" sz="2600" dirty="0" err="1"/>
              <a:t>php</a:t>
            </a:r>
            <a:r>
              <a:rPr lang="en-US" sz="2600" dirty="0"/>
              <a:t>-apache</a:t>
            </a:r>
          </a:p>
          <a:p>
            <a:pPr marL="0" indent="0">
              <a:buNone/>
            </a:pPr>
            <a:r>
              <a:rPr lang="en-US" sz="2600" dirty="0"/>
              <a:t>    </a:t>
            </a:r>
            <a:r>
              <a:rPr lang="en-US" sz="2600" dirty="0" err="1"/>
              <a:t>minReplicas</a:t>
            </a:r>
            <a:r>
              <a:rPr lang="en-US" sz="2600" dirty="0"/>
              <a:t>: 1</a:t>
            </a:r>
          </a:p>
          <a:p>
            <a:pPr marL="0" indent="0">
              <a:buNone/>
            </a:pPr>
            <a:r>
              <a:rPr lang="en-US" sz="2600" dirty="0"/>
              <a:t>    </a:t>
            </a:r>
            <a:r>
              <a:rPr lang="en-US" sz="2600" dirty="0" err="1"/>
              <a:t>maxReplicas</a:t>
            </a:r>
            <a:r>
              <a:rPr lang="en-US" sz="2600" dirty="0"/>
              <a:t>: 10</a:t>
            </a:r>
          </a:p>
          <a:p>
            <a:pPr marL="0" indent="0">
              <a:buNone/>
            </a:pPr>
            <a:r>
              <a:rPr lang="en-US" sz="2600" dirty="0"/>
              <a:t>    </a:t>
            </a:r>
            <a:r>
              <a:rPr lang="en-US" sz="2600" dirty="0" err="1"/>
              <a:t>targetCPUUtilizationPercentage</a:t>
            </a:r>
            <a:r>
              <a:rPr lang="en-US" dirty="0"/>
              <a:t>: 50</a:t>
            </a:r>
          </a:p>
        </p:txBody>
      </p:sp>
    </p:spTree>
    <p:extLst>
      <p:ext uri="{BB962C8B-B14F-4D97-AF65-F5344CB8AC3E}">
        <p14:creationId xmlns:p14="http://schemas.microsoft.com/office/powerpoint/2010/main" val="28034300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Helm </a:t>
            </a:r>
          </a:p>
        </p:txBody>
      </p:sp>
      <p:sp>
        <p:nvSpPr>
          <p:cNvPr id="3" name="Content Placeholder 2"/>
          <p:cNvSpPr>
            <a:spLocks noGrp="1"/>
          </p:cNvSpPr>
          <p:nvPr>
            <p:ph sz="half" idx="1"/>
          </p:nvPr>
        </p:nvSpPr>
        <p:spPr>
          <a:xfrm>
            <a:off x="838199" y="1825625"/>
            <a:ext cx="10919691" cy="4351338"/>
          </a:xfrm>
        </p:spPr>
        <p:txBody>
          <a:bodyPr/>
          <a:lstStyle/>
          <a:p>
            <a:endParaRPr lang="en-US" dirty="0"/>
          </a:p>
          <a:p>
            <a:r>
              <a:rPr lang="en-US" dirty="0"/>
              <a:t>Helm is a tool for managing packages of preconfigured Kubernetes resources.</a:t>
            </a:r>
          </a:p>
          <a:p>
            <a:endParaRPr lang="en-US" dirty="0"/>
          </a:p>
          <a:p>
            <a:pPr marL="0" indent="0">
              <a:buNone/>
            </a:pPr>
            <a:r>
              <a:rPr lang="en-US" dirty="0"/>
              <a:t>“Helm installs charts into Kubernetes, creating a new release for each installation. And to find new charts, you search Helm chart repositories.”</a:t>
            </a:r>
          </a:p>
        </p:txBody>
      </p:sp>
      <p:pic>
        <p:nvPicPr>
          <p:cNvPr id="5" name="Content Placeholder 4"/>
          <p:cNvPicPr>
            <a:picLocks noGrp="1" noChangeAspect="1"/>
          </p:cNvPicPr>
          <p:nvPr>
            <p:ph sz="half" idx="2"/>
          </p:nvPr>
        </p:nvPicPr>
        <p:blipFill>
          <a:blip r:embed="rId2"/>
          <a:stretch>
            <a:fillRect/>
          </a:stretch>
        </p:blipFill>
        <p:spPr>
          <a:xfrm>
            <a:off x="9892146" y="249382"/>
            <a:ext cx="2299854" cy="1209963"/>
          </a:xfrm>
          <a:prstGeom prst="rect">
            <a:avLst/>
          </a:prstGeom>
        </p:spPr>
      </p:pic>
    </p:spTree>
    <p:extLst>
      <p:ext uri="{BB962C8B-B14F-4D97-AF65-F5344CB8AC3E}">
        <p14:creationId xmlns:p14="http://schemas.microsoft.com/office/powerpoint/2010/main" val="389327969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Helm</a:t>
            </a:r>
          </a:p>
        </p:txBody>
      </p:sp>
      <p:sp>
        <p:nvSpPr>
          <p:cNvPr id="3" name="Content Placeholder 2"/>
          <p:cNvSpPr>
            <a:spLocks noGrp="1"/>
          </p:cNvSpPr>
          <p:nvPr>
            <p:ph sz="half" idx="1"/>
          </p:nvPr>
        </p:nvSpPr>
        <p:spPr>
          <a:xfrm>
            <a:off x="838199" y="1825625"/>
            <a:ext cx="10559473" cy="4351338"/>
          </a:xfrm>
        </p:spPr>
        <p:txBody>
          <a:bodyPr>
            <a:normAutofit fontScale="92500" lnSpcReduction="10000"/>
          </a:bodyPr>
          <a:lstStyle/>
          <a:p>
            <a:r>
              <a:rPr lang="en-US" sz="2400" dirty="0"/>
              <a:t>Helm package, or chart, only contains the metadata that describes how to deploy the package.</a:t>
            </a:r>
          </a:p>
          <a:p>
            <a:pPr marL="0" indent="0">
              <a:buNone/>
            </a:pPr>
            <a:endParaRPr lang="en-US" sz="2400" dirty="0"/>
          </a:p>
          <a:p>
            <a:r>
              <a:rPr lang="en-US" sz="2400" dirty="0"/>
              <a:t>This metadata is similar to the metadata that is contained in the header of a RPM package.</a:t>
            </a:r>
          </a:p>
          <a:p>
            <a:pPr marL="0" indent="0">
              <a:buNone/>
            </a:pPr>
            <a:endParaRPr lang="en-US" sz="2400" dirty="0"/>
          </a:p>
          <a:p>
            <a:r>
              <a:rPr lang="en-US" sz="2400" dirty="0"/>
              <a:t> A Helm repository contains this metadata for all charts in the repository. The “files” that are installed when the chart is deployed are similar to the files/scrips/</a:t>
            </a:r>
            <a:r>
              <a:rPr lang="en-US" sz="2400" dirty="0" err="1"/>
              <a:t>config</a:t>
            </a:r>
            <a:r>
              <a:rPr lang="en-US" sz="2400" dirty="0"/>
              <a:t>/</a:t>
            </a:r>
            <a:r>
              <a:rPr lang="en-US" sz="2400" dirty="0" err="1"/>
              <a:t>etc</a:t>
            </a:r>
            <a:r>
              <a:rPr lang="en-US" sz="2400" dirty="0"/>
              <a:t> in a RPM package.</a:t>
            </a:r>
          </a:p>
          <a:p>
            <a:endParaRPr lang="en-US" sz="2400" dirty="0"/>
          </a:p>
          <a:p>
            <a:r>
              <a:rPr lang="en-US" sz="2400" dirty="0"/>
              <a:t> With Helm, these files are containers that reside in one or more separate container registries.</a:t>
            </a:r>
          </a:p>
        </p:txBody>
      </p:sp>
      <p:pic>
        <p:nvPicPr>
          <p:cNvPr id="5" name="Picture 4"/>
          <p:cNvPicPr>
            <a:picLocks noChangeAspect="1"/>
          </p:cNvPicPr>
          <p:nvPr/>
        </p:nvPicPr>
        <p:blipFill>
          <a:blip r:embed="rId2"/>
          <a:stretch>
            <a:fillRect/>
          </a:stretch>
        </p:blipFill>
        <p:spPr>
          <a:xfrm>
            <a:off x="9938328" y="350982"/>
            <a:ext cx="1958110" cy="1068443"/>
          </a:xfrm>
          <a:prstGeom prst="rect">
            <a:avLst/>
          </a:prstGeom>
        </p:spPr>
      </p:pic>
    </p:spTree>
    <p:extLst>
      <p:ext uri="{BB962C8B-B14F-4D97-AF65-F5344CB8AC3E}">
        <p14:creationId xmlns:p14="http://schemas.microsoft.com/office/powerpoint/2010/main" val="32711907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Three Central Concepts</a:t>
            </a:r>
          </a:p>
        </p:txBody>
      </p:sp>
      <p:sp>
        <p:nvSpPr>
          <p:cNvPr id="3" name="Content Placeholder 2"/>
          <p:cNvSpPr>
            <a:spLocks noGrp="1"/>
          </p:cNvSpPr>
          <p:nvPr>
            <p:ph sz="half" idx="1"/>
          </p:nvPr>
        </p:nvSpPr>
        <p:spPr>
          <a:xfrm>
            <a:off x="838200" y="1825625"/>
            <a:ext cx="10790382" cy="4351338"/>
          </a:xfrm>
        </p:spPr>
        <p:txBody>
          <a:bodyPr>
            <a:normAutofit/>
          </a:bodyPr>
          <a:lstStyle/>
          <a:p>
            <a:endParaRPr lang="en-US" sz="2400" dirty="0"/>
          </a:p>
          <a:p>
            <a:r>
              <a:rPr lang="en-US" sz="2400" dirty="0"/>
              <a:t>A Chart is a Helm package ,Charts contain all of the resource definitions necessary to run an application, tool, or service inside of a Kubernetes cluster.</a:t>
            </a:r>
          </a:p>
          <a:p>
            <a:endParaRPr lang="en-US" sz="2400" dirty="0"/>
          </a:p>
          <a:p>
            <a:r>
              <a:rPr lang="en-US" sz="2400" dirty="0"/>
              <a:t>A Repository is the place where charts can be collected and shared.</a:t>
            </a:r>
          </a:p>
          <a:p>
            <a:endParaRPr lang="en-US" sz="2400" dirty="0"/>
          </a:p>
          <a:p>
            <a:r>
              <a:rPr lang="en-US" sz="2400" dirty="0"/>
              <a:t> A Release is an instance of a chart running in a Kubernetes cluster  One chart can be installed multiple times into the same cluster  Each time it is installed, a new Release is created</a:t>
            </a:r>
          </a:p>
        </p:txBody>
      </p:sp>
      <p:pic>
        <p:nvPicPr>
          <p:cNvPr id="5" name="Picture 4"/>
          <p:cNvPicPr>
            <a:picLocks noChangeAspect="1"/>
          </p:cNvPicPr>
          <p:nvPr/>
        </p:nvPicPr>
        <p:blipFill>
          <a:blip r:embed="rId2"/>
          <a:stretch>
            <a:fillRect/>
          </a:stretch>
        </p:blipFill>
        <p:spPr>
          <a:xfrm>
            <a:off x="9864436" y="397165"/>
            <a:ext cx="1764146" cy="1216224"/>
          </a:xfrm>
          <a:prstGeom prst="rect">
            <a:avLst/>
          </a:prstGeom>
        </p:spPr>
      </p:pic>
    </p:spTree>
    <p:extLst>
      <p:ext uri="{BB962C8B-B14F-4D97-AF65-F5344CB8AC3E}">
        <p14:creationId xmlns:p14="http://schemas.microsoft.com/office/powerpoint/2010/main" val="208972294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Helm and Templates</a:t>
            </a:r>
          </a:p>
        </p:txBody>
      </p:sp>
      <p:sp>
        <p:nvSpPr>
          <p:cNvPr id="3" name="Content Placeholder 2"/>
          <p:cNvSpPr>
            <a:spLocks noGrp="1"/>
          </p:cNvSpPr>
          <p:nvPr>
            <p:ph sz="half" idx="1"/>
          </p:nvPr>
        </p:nvSpPr>
        <p:spPr>
          <a:xfrm>
            <a:off x="838200" y="1825625"/>
            <a:ext cx="6319982" cy="4351338"/>
          </a:xfrm>
        </p:spPr>
        <p:txBody>
          <a:bodyPr>
            <a:normAutofit/>
          </a:bodyPr>
          <a:lstStyle/>
          <a:p>
            <a:r>
              <a:rPr lang="en-US" sz="2400" dirty="0"/>
              <a:t>Helm uses </a:t>
            </a:r>
            <a:r>
              <a:rPr lang="en-US" sz="2400" dirty="0" err="1"/>
              <a:t>templating</a:t>
            </a:r>
            <a:r>
              <a:rPr lang="en-US" sz="2400" dirty="0"/>
              <a:t> to build the final manifest by replacing values in the template manifests with values provided on the CLI from the values file.</a:t>
            </a:r>
          </a:p>
          <a:p>
            <a:pPr marL="0" indent="0">
              <a:buNone/>
            </a:pPr>
            <a:endParaRPr lang="en-US" sz="2400" dirty="0"/>
          </a:p>
          <a:p>
            <a:pPr marL="0" indent="0">
              <a:buNone/>
            </a:pPr>
            <a:endParaRPr lang="en-US" sz="2400" dirty="0"/>
          </a:p>
          <a:p>
            <a:r>
              <a:rPr lang="en-US" sz="2400" dirty="0"/>
              <a:t>Templates are created using Go's </a:t>
            </a:r>
            <a:r>
              <a:rPr lang="en-US" sz="2400" dirty="0" err="1"/>
              <a:t>templating</a:t>
            </a:r>
            <a:r>
              <a:rPr lang="en-US" sz="2400" dirty="0"/>
              <a:t> syntax.</a:t>
            </a:r>
          </a:p>
        </p:txBody>
      </p:sp>
      <p:pic>
        <p:nvPicPr>
          <p:cNvPr id="5" name="Content Placeholder 4"/>
          <p:cNvPicPr>
            <a:picLocks noGrp="1" noChangeAspect="1"/>
          </p:cNvPicPr>
          <p:nvPr>
            <p:ph sz="half" idx="2"/>
          </p:nvPr>
        </p:nvPicPr>
        <p:blipFill>
          <a:blip r:embed="rId2"/>
          <a:stretch>
            <a:fillRect/>
          </a:stretch>
        </p:blipFill>
        <p:spPr>
          <a:xfrm>
            <a:off x="7906327" y="1570183"/>
            <a:ext cx="3909291" cy="4533260"/>
          </a:xfrm>
          <a:prstGeom prst="rect">
            <a:avLst/>
          </a:prstGeom>
        </p:spPr>
      </p:pic>
    </p:spTree>
    <p:extLst>
      <p:ext uri="{BB962C8B-B14F-4D97-AF65-F5344CB8AC3E}">
        <p14:creationId xmlns:p14="http://schemas.microsoft.com/office/powerpoint/2010/main" val="37169342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Helm Chart Structure</a:t>
            </a:r>
          </a:p>
        </p:txBody>
      </p:sp>
      <p:sp>
        <p:nvSpPr>
          <p:cNvPr id="3" name="Content Placeholder 2"/>
          <p:cNvSpPr>
            <a:spLocks noGrp="1"/>
          </p:cNvSpPr>
          <p:nvPr>
            <p:ph sz="half" idx="1"/>
          </p:nvPr>
        </p:nvSpPr>
        <p:spPr>
          <a:xfrm>
            <a:off x="838199" y="1825625"/>
            <a:ext cx="9654309" cy="4351338"/>
          </a:xfrm>
        </p:spPr>
        <p:txBody>
          <a:bodyPr>
            <a:normAutofit/>
          </a:bodyPr>
          <a:lstStyle/>
          <a:p>
            <a:pPr marL="0" indent="0">
              <a:buNone/>
            </a:pPr>
            <a:r>
              <a:rPr lang="en-US" sz="2400" dirty="0"/>
              <a:t>Helm charts are a directory structure stored in an archive file.</a:t>
            </a:r>
          </a:p>
          <a:p>
            <a:pPr marL="0" indent="0">
              <a:buNone/>
            </a:pPr>
            <a:endParaRPr lang="en-US" sz="2400" dirty="0"/>
          </a:p>
          <a:p>
            <a:r>
              <a:rPr lang="en-US" sz="2400" dirty="0" err="1"/>
              <a:t>Chart.yaml</a:t>
            </a:r>
            <a:r>
              <a:rPr lang="en-US" sz="2400" dirty="0"/>
              <a:t> provide description of the helm chart</a:t>
            </a:r>
          </a:p>
          <a:p>
            <a:pPr marL="0" indent="0">
              <a:buNone/>
            </a:pPr>
            <a:endParaRPr lang="en-US" sz="2400" dirty="0"/>
          </a:p>
          <a:p>
            <a:r>
              <a:rPr lang="en-US" sz="2400" dirty="0" err="1"/>
              <a:t>values.yaml</a:t>
            </a:r>
            <a:r>
              <a:rPr lang="en-US" sz="2400" dirty="0"/>
              <a:t> contains all possible values used in the templates</a:t>
            </a:r>
          </a:p>
          <a:p>
            <a:endParaRPr lang="en-US" sz="2400" dirty="0"/>
          </a:p>
          <a:p>
            <a:r>
              <a:rPr lang="en-US" sz="2400" dirty="0"/>
              <a:t>templates directory contains template </a:t>
            </a:r>
            <a:r>
              <a:rPr lang="en-US" sz="2400" dirty="0" err="1"/>
              <a:t>yaml</a:t>
            </a:r>
            <a:r>
              <a:rPr lang="en-US" sz="2400" dirty="0"/>
              <a:t> files used to generate the final </a:t>
            </a:r>
            <a:r>
              <a:rPr lang="en-US" sz="2400" dirty="0" err="1"/>
              <a:t>yaml</a:t>
            </a:r>
            <a:r>
              <a:rPr lang="en-US" sz="2400" dirty="0"/>
              <a:t> files</a:t>
            </a:r>
          </a:p>
        </p:txBody>
      </p:sp>
      <p:pic>
        <p:nvPicPr>
          <p:cNvPr id="5" name="Picture 4"/>
          <p:cNvPicPr>
            <a:picLocks noChangeAspect="1"/>
          </p:cNvPicPr>
          <p:nvPr/>
        </p:nvPicPr>
        <p:blipFill>
          <a:blip r:embed="rId2"/>
          <a:stretch>
            <a:fillRect/>
          </a:stretch>
        </p:blipFill>
        <p:spPr>
          <a:xfrm>
            <a:off x="10292003" y="307056"/>
            <a:ext cx="1767993" cy="1219306"/>
          </a:xfrm>
          <a:prstGeom prst="rect">
            <a:avLst/>
          </a:prstGeom>
        </p:spPr>
      </p:pic>
    </p:spTree>
    <p:extLst>
      <p:ext uri="{BB962C8B-B14F-4D97-AF65-F5344CB8AC3E}">
        <p14:creationId xmlns:p14="http://schemas.microsoft.com/office/powerpoint/2010/main" val="35313163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Helm repository </a:t>
            </a:r>
          </a:p>
        </p:txBody>
      </p:sp>
      <p:sp>
        <p:nvSpPr>
          <p:cNvPr id="3" name="Content Placeholder 2"/>
          <p:cNvSpPr>
            <a:spLocks noGrp="1"/>
          </p:cNvSpPr>
          <p:nvPr>
            <p:ph sz="half" idx="1"/>
          </p:nvPr>
        </p:nvSpPr>
        <p:spPr>
          <a:xfrm>
            <a:off x="838200" y="1825625"/>
            <a:ext cx="10439400" cy="4351338"/>
          </a:xfrm>
        </p:spPr>
        <p:txBody>
          <a:bodyPr/>
          <a:lstStyle/>
          <a:p>
            <a:pPr marL="1371600" lvl="3" indent="0">
              <a:buNone/>
            </a:pPr>
            <a:r>
              <a:rPr lang="fr-FR" dirty="0" err="1">
                <a:solidFill>
                  <a:srgbClr val="000000"/>
                </a:solidFill>
                <a:latin typeface="Poppins-Light"/>
              </a:rPr>
              <a:t>Syntax</a:t>
            </a:r>
            <a:r>
              <a:rPr lang="fr-FR" dirty="0">
                <a:solidFill>
                  <a:srgbClr val="000000"/>
                </a:solidFill>
                <a:latin typeface="Poppins-Light"/>
              </a:rPr>
              <a:t>: </a:t>
            </a:r>
            <a:r>
              <a:rPr lang="fr-FR" dirty="0" err="1">
                <a:solidFill>
                  <a:srgbClr val="2453FF"/>
                </a:solidFill>
                <a:latin typeface="RobotoMono-Regular"/>
              </a:rPr>
              <a:t>helm</a:t>
            </a:r>
            <a:r>
              <a:rPr lang="fr-FR" dirty="0">
                <a:solidFill>
                  <a:srgbClr val="2453FF"/>
                </a:solidFill>
                <a:latin typeface="RobotoMono-Regular"/>
              </a:rPr>
              <a:t> repo </a:t>
            </a:r>
            <a:r>
              <a:rPr lang="fr-FR" i="1" dirty="0">
                <a:solidFill>
                  <a:srgbClr val="000000"/>
                </a:solidFill>
                <a:latin typeface="Poppins-LightItalic"/>
              </a:rPr>
              <a:t>MODE OPTIONS</a:t>
            </a:r>
          </a:p>
          <a:p>
            <a:r>
              <a:rPr lang="en-US" sz="1800" dirty="0">
                <a:solidFill>
                  <a:srgbClr val="000000"/>
                </a:solidFill>
                <a:latin typeface="Poppins-Medium"/>
              </a:rPr>
              <a:t>Mode/Option Description</a:t>
            </a:r>
          </a:p>
          <a:p>
            <a:r>
              <a:rPr lang="en-US" sz="1800" dirty="0">
                <a:solidFill>
                  <a:srgbClr val="2453FF"/>
                </a:solidFill>
                <a:latin typeface="RobotoMono-Regular"/>
              </a:rPr>
              <a:t>add </a:t>
            </a:r>
            <a:r>
              <a:rPr lang="en-US" sz="1800" dirty="0">
                <a:solidFill>
                  <a:srgbClr val="000000"/>
                </a:solidFill>
                <a:latin typeface="Poppins-Light"/>
              </a:rPr>
              <a:t>-add a chart repository</a:t>
            </a:r>
          </a:p>
          <a:p>
            <a:r>
              <a:rPr lang="en-US" sz="1800" dirty="0">
                <a:solidFill>
                  <a:srgbClr val="2453FF"/>
                </a:solidFill>
                <a:latin typeface="RobotoMono-Regular"/>
              </a:rPr>
              <a:t>remove </a:t>
            </a:r>
            <a:r>
              <a:rPr lang="en-US" sz="1800" dirty="0">
                <a:solidFill>
                  <a:srgbClr val="000000"/>
                </a:solidFill>
                <a:latin typeface="Poppins-Light"/>
              </a:rPr>
              <a:t>-remove a chart repository</a:t>
            </a:r>
          </a:p>
          <a:p>
            <a:r>
              <a:rPr lang="en-US" sz="1800" dirty="0">
                <a:solidFill>
                  <a:srgbClr val="2453FF"/>
                </a:solidFill>
                <a:latin typeface="RobotoMono-Regular"/>
              </a:rPr>
              <a:t>list </a:t>
            </a:r>
            <a:r>
              <a:rPr lang="en-US" sz="1800" dirty="0">
                <a:solidFill>
                  <a:srgbClr val="000000"/>
                </a:solidFill>
                <a:latin typeface="Poppins-Light"/>
              </a:rPr>
              <a:t>-list chart repositories</a:t>
            </a:r>
          </a:p>
          <a:p>
            <a:r>
              <a:rPr lang="en-US" sz="1800" dirty="0">
                <a:solidFill>
                  <a:srgbClr val="2453FF"/>
                </a:solidFill>
                <a:latin typeface="RobotoMono-Regular"/>
              </a:rPr>
              <a:t>update </a:t>
            </a:r>
            <a:r>
              <a:rPr lang="en-US" sz="1800" dirty="0">
                <a:solidFill>
                  <a:srgbClr val="000000"/>
                </a:solidFill>
                <a:latin typeface="Poppins-Light"/>
              </a:rPr>
              <a:t>-update info of available charts</a:t>
            </a:r>
            <a:endParaRPr lang="en-US" sz="1800" dirty="0"/>
          </a:p>
        </p:txBody>
      </p:sp>
    </p:spTree>
    <p:extLst>
      <p:ext uri="{BB962C8B-B14F-4D97-AF65-F5344CB8AC3E}">
        <p14:creationId xmlns:p14="http://schemas.microsoft.com/office/powerpoint/2010/main" val="1654803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Helm Search</a:t>
            </a:r>
          </a:p>
        </p:txBody>
      </p:sp>
      <p:sp>
        <p:nvSpPr>
          <p:cNvPr id="3" name="Content Placeholder 2"/>
          <p:cNvSpPr>
            <a:spLocks noGrp="1"/>
          </p:cNvSpPr>
          <p:nvPr>
            <p:ph sz="half" idx="1"/>
          </p:nvPr>
        </p:nvSpPr>
        <p:spPr>
          <a:xfrm>
            <a:off x="838199" y="1825625"/>
            <a:ext cx="10365509" cy="4351338"/>
          </a:xfrm>
        </p:spPr>
        <p:txBody>
          <a:bodyPr>
            <a:normAutofit/>
          </a:bodyPr>
          <a:lstStyle/>
          <a:p>
            <a:r>
              <a:rPr lang="en-US" sz="2000" dirty="0">
                <a:solidFill>
                  <a:srgbClr val="000000"/>
                </a:solidFill>
                <a:latin typeface="Poppins-Light"/>
              </a:rPr>
              <a:t>Starting with Helm v3 you can search for a chart in either Helm Hub or repositories.</a:t>
            </a:r>
          </a:p>
          <a:p>
            <a:r>
              <a:rPr lang="en-US" sz="2000" dirty="0">
                <a:solidFill>
                  <a:srgbClr val="000000"/>
                </a:solidFill>
                <a:latin typeface="Poppins-Medium"/>
              </a:rPr>
              <a:t>Syntax: </a:t>
            </a:r>
            <a:r>
              <a:rPr lang="en-US" sz="2000" dirty="0">
                <a:solidFill>
                  <a:srgbClr val="2453FF"/>
                </a:solidFill>
                <a:latin typeface="RobotoMono-Regular"/>
              </a:rPr>
              <a:t>helm search </a:t>
            </a:r>
            <a:r>
              <a:rPr lang="en-US" sz="2000" i="1" dirty="0">
                <a:solidFill>
                  <a:srgbClr val="000000"/>
                </a:solidFill>
                <a:latin typeface="Poppins-LightItalic"/>
              </a:rPr>
              <a:t>MODE OPTIONS</a:t>
            </a:r>
          </a:p>
          <a:p>
            <a:r>
              <a:rPr lang="en-US" sz="2000" dirty="0">
                <a:solidFill>
                  <a:srgbClr val="000000"/>
                </a:solidFill>
                <a:latin typeface="Poppins-Medium"/>
              </a:rPr>
              <a:t>Mode/Option Description</a:t>
            </a:r>
          </a:p>
          <a:p>
            <a:r>
              <a:rPr lang="en-US" sz="2000" dirty="0">
                <a:solidFill>
                  <a:srgbClr val="2453FF"/>
                </a:solidFill>
                <a:latin typeface="RobotoMono-Regular"/>
              </a:rPr>
              <a:t>hub &lt;chart&gt; </a:t>
            </a:r>
            <a:r>
              <a:rPr lang="en-US" sz="2000" dirty="0">
                <a:solidFill>
                  <a:srgbClr val="000000"/>
                </a:solidFill>
                <a:latin typeface="Poppins-Light"/>
              </a:rPr>
              <a:t>-search the Helm Hub for a chart</a:t>
            </a:r>
          </a:p>
          <a:p>
            <a:r>
              <a:rPr lang="en-US" sz="2000" dirty="0">
                <a:solidFill>
                  <a:srgbClr val="2453FF"/>
                </a:solidFill>
                <a:latin typeface="RobotoMono-Regular"/>
              </a:rPr>
              <a:t>repo &lt;chart&gt; </a:t>
            </a:r>
            <a:r>
              <a:rPr lang="en-US" sz="2000" dirty="0">
                <a:solidFill>
                  <a:srgbClr val="000000"/>
                </a:solidFill>
                <a:latin typeface="Poppins-Light"/>
              </a:rPr>
              <a:t>-search the added repositories for a chart</a:t>
            </a:r>
            <a:endParaRPr lang="en-US" sz="2000" dirty="0"/>
          </a:p>
        </p:txBody>
      </p:sp>
    </p:spTree>
    <p:extLst>
      <p:ext uri="{BB962C8B-B14F-4D97-AF65-F5344CB8AC3E}">
        <p14:creationId xmlns:p14="http://schemas.microsoft.com/office/powerpoint/2010/main" val="15039623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about charts </a:t>
            </a:r>
          </a:p>
        </p:txBody>
      </p:sp>
      <p:sp>
        <p:nvSpPr>
          <p:cNvPr id="3" name="Content Placeholder 2"/>
          <p:cNvSpPr>
            <a:spLocks noGrp="1"/>
          </p:cNvSpPr>
          <p:nvPr>
            <p:ph sz="half" idx="1"/>
          </p:nvPr>
        </p:nvSpPr>
        <p:spPr>
          <a:xfrm>
            <a:off x="838199" y="1825625"/>
            <a:ext cx="10504055" cy="4351338"/>
          </a:xfrm>
        </p:spPr>
        <p:txBody>
          <a:bodyPr>
            <a:normAutofit/>
          </a:bodyPr>
          <a:lstStyle/>
          <a:p>
            <a:r>
              <a:rPr lang="en-US" sz="2000" dirty="0">
                <a:solidFill>
                  <a:srgbClr val="000000"/>
                </a:solidFill>
                <a:latin typeface="Poppins-Light"/>
              </a:rPr>
              <a:t>Syntax: </a:t>
            </a:r>
            <a:r>
              <a:rPr lang="en-US" sz="2000" dirty="0">
                <a:solidFill>
                  <a:srgbClr val="2453FF"/>
                </a:solidFill>
                <a:latin typeface="RobotoMono-Regular"/>
              </a:rPr>
              <a:t>helm show </a:t>
            </a:r>
            <a:r>
              <a:rPr lang="en-US" sz="2000" i="1" dirty="0">
                <a:solidFill>
                  <a:srgbClr val="000000"/>
                </a:solidFill>
                <a:latin typeface="Poppins-LightItalic"/>
              </a:rPr>
              <a:t>SUBCOMMAND REPO/CHART OPTIONS</a:t>
            </a:r>
          </a:p>
          <a:p>
            <a:r>
              <a:rPr lang="en-US" sz="2000" dirty="0">
                <a:solidFill>
                  <a:srgbClr val="000000"/>
                </a:solidFill>
                <a:latin typeface="Poppins-Medium"/>
              </a:rPr>
              <a:t>Subcommand/Option Description</a:t>
            </a:r>
          </a:p>
          <a:p>
            <a:r>
              <a:rPr lang="en-US" sz="2000" dirty="0">
                <a:solidFill>
                  <a:srgbClr val="2453FF"/>
                </a:solidFill>
                <a:latin typeface="RobotoMono-Regular"/>
              </a:rPr>
              <a:t>all </a:t>
            </a:r>
            <a:r>
              <a:rPr lang="en-US" sz="2000" dirty="0">
                <a:solidFill>
                  <a:srgbClr val="000000"/>
                </a:solidFill>
                <a:latin typeface="Poppins-Light"/>
              </a:rPr>
              <a:t>-show all info for a chart</a:t>
            </a:r>
          </a:p>
          <a:p>
            <a:r>
              <a:rPr lang="en-US" sz="2000" dirty="0">
                <a:solidFill>
                  <a:srgbClr val="2453FF"/>
                </a:solidFill>
                <a:latin typeface="RobotoMono-Regular"/>
              </a:rPr>
              <a:t>chart </a:t>
            </a:r>
            <a:r>
              <a:rPr lang="en-US" sz="2000" dirty="0">
                <a:solidFill>
                  <a:srgbClr val="000000"/>
                </a:solidFill>
                <a:latin typeface="Poppins-Light"/>
              </a:rPr>
              <a:t>-show chart’s definition</a:t>
            </a:r>
          </a:p>
          <a:p>
            <a:r>
              <a:rPr lang="en-US" sz="2000" dirty="0">
                <a:solidFill>
                  <a:srgbClr val="2453FF"/>
                </a:solidFill>
                <a:latin typeface="RobotoMono-Regular"/>
              </a:rPr>
              <a:t>readme </a:t>
            </a:r>
            <a:r>
              <a:rPr lang="en-US" sz="2000" dirty="0">
                <a:solidFill>
                  <a:srgbClr val="000000"/>
                </a:solidFill>
                <a:latin typeface="Poppins-Light"/>
              </a:rPr>
              <a:t>-show chart’s README</a:t>
            </a:r>
          </a:p>
          <a:p>
            <a:r>
              <a:rPr lang="en-US" sz="2000" dirty="0">
                <a:solidFill>
                  <a:srgbClr val="2453FF"/>
                </a:solidFill>
                <a:latin typeface="RobotoMono-Regular"/>
              </a:rPr>
              <a:t>values </a:t>
            </a:r>
            <a:r>
              <a:rPr lang="en-US" sz="2000" dirty="0">
                <a:solidFill>
                  <a:srgbClr val="000000"/>
                </a:solidFill>
                <a:latin typeface="Poppins-Light"/>
              </a:rPr>
              <a:t>-show chart’s values</a:t>
            </a:r>
            <a:endParaRPr lang="en-US" sz="2000" dirty="0"/>
          </a:p>
        </p:txBody>
      </p:sp>
    </p:spTree>
    <p:extLst>
      <p:ext uri="{BB962C8B-B14F-4D97-AF65-F5344CB8AC3E}">
        <p14:creationId xmlns:p14="http://schemas.microsoft.com/office/powerpoint/2010/main" val="272787533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 &amp; Uninstall  Charts </a:t>
            </a:r>
          </a:p>
        </p:txBody>
      </p:sp>
      <p:sp>
        <p:nvSpPr>
          <p:cNvPr id="3" name="Content Placeholder 2"/>
          <p:cNvSpPr>
            <a:spLocks noGrp="1"/>
          </p:cNvSpPr>
          <p:nvPr>
            <p:ph sz="half" idx="1"/>
          </p:nvPr>
        </p:nvSpPr>
        <p:spPr/>
        <p:txBody>
          <a:bodyPr>
            <a:normAutofit lnSpcReduction="10000"/>
          </a:bodyPr>
          <a:lstStyle/>
          <a:p>
            <a:pPr marL="0" indent="0">
              <a:buNone/>
            </a:pPr>
            <a:endParaRPr lang="en-US" sz="1800" dirty="0">
              <a:solidFill>
                <a:srgbClr val="0C322C"/>
              </a:solidFill>
              <a:latin typeface="Poppins-Medium"/>
            </a:endParaRPr>
          </a:p>
          <a:p>
            <a:r>
              <a:rPr lang="en-US" sz="1800" dirty="0">
                <a:solidFill>
                  <a:srgbClr val="000000"/>
                </a:solidFill>
                <a:latin typeface="Poppins-Light"/>
              </a:rPr>
              <a:t>Syntax: </a:t>
            </a:r>
            <a:r>
              <a:rPr lang="en-US" sz="1800" dirty="0">
                <a:solidFill>
                  <a:srgbClr val="2453FF"/>
                </a:solidFill>
                <a:latin typeface="RobotoMono-Regular"/>
              </a:rPr>
              <a:t>helm install </a:t>
            </a:r>
            <a:r>
              <a:rPr lang="en-US" sz="1800" i="1" dirty="0">
                <a:solidFill>
                  <a:srgbClr val="000000"/>
                </a:solidFill>
                <a:latin typeface="Poppins-LightItalic"/>
              </a:rPr>
              <a:t>NAME REPO/CHART OPTIONS</a:t>
            </a:r>
          </a:p>
          <a:p>
            <a:r>
              <a:rPr lang="en-US" sz="1800" dirty="0">
                <a:solidFill>
                  <a:srgbClr val="000000"/>
                </a:solidFill>
                <a:latin typeface="Poppins-Medium"/>
              </a:rPr>
              <a:t>Mode/Option Description</a:t>
            </a:r>
          </a:p>
          <a:p>
            <a:r>
              <a:rPr lang="en-US" sz="1800" dirty="0">
                <a:solidFill>
                  <a:srgbClr val="2453FF"/>
                </a:solidFill>
                <a:latin typeface="RobotoMono-Regular"/>
              </a:rPr>
              <a:t>-f / --values &lt;file&gt; </a:t>
            </a:r>
            <a:r>
              <a:rPr lang="en-US" sz="1800" dirty="0">
                <a:solidFill>
                  <a:srgbClr val="000000"/>
                </a:solidFill>
                <a:latin typeface="Poppins-Light"/>
              </a:rPr>
              <a:t>-specify values for the chart in a values file</a:t>
            </a:r>
          </a:p>
          <a:p>
            <a:r>
              <a:rPr lang="en-US" sz="1800" dirty="0">
                <a:solidFill>
                  <a:srgbClr val="2453FF"/>
                </a:solidFill>
                <a:latin typeface="RobotoMono-Regular"/>
              </a:rPr>
              <a:t>--set &lt;value&gt; </a:t>
            </a:r>
            <a:r>
              <a:rPr lang="en-US" sz="1800" dirty="0">
                <a:solidFill>
                  <a:srgbClr val="000000"/>
                </a:solidFill>
                <a:latin typeface="Poppins-Light"/>
              </a:rPr>
              <a:t>-specify values for the chart on the CLI</a:t>
            </a:r>
          </a:p>
          <a:p>
            <a:r>
              <a:rPr lang="en-US" sz="1800" dirty="0">
                <a:solidFill>
                  <a:srgbClr val="000000"/>
                </a:solidFill>
                <a:latin typeface="Poppins-Light"/>
              </a:rPr>
              <a:t>format: key=value[,key=value]</a:t>
            </a:r>
          </a:p>
          <a:p>
            <a:r>
              <a:rPr lang="en-US" sz="1800" dirty="0">
                <a:solidFill>
                  <a:srgbClr val="2453FF"/>
                </a:solidFill>
                <a:latin typeface="RobotoMono-Regular"/>
              </a:rPr>
              <a:t>--generate-name </a:t>
            </a:r>
            <a:r>
              <a:rPr lang="en-US" sz="1800" dirty="0">
                <a:solidFill>
                  <a:srgbClr val="000000"/>
                </a:solidFill>
                <a:latin typeface="Poppins-Light"/>
              </a:rPr>
              <a:t>-generate a release name if on is not provided</a:t>
            </a:r>
          </a:p>
          <a:p>
            <a:r>
              <a:rPr lang="en-US" sz="1800" dirty="0">
                <a:solidFill>
                  <a:srgbClr val="2453FF"/>
                </a:solidFill>
                <a:latin typeface="RobotoMono-Regular"/>
              </a:rPr>
              <a:t>--dry-run </a:t>
            </a:r>
            <a:r>
              <a:rPr lang="en-US" sz="1800" dirty="0">
                <a:solidFill>
                  <a:srgbClr val="000000"/>
                </a:solidFill>
                <a:latin typeface="Poppins-Light"/>
              </a:rPr>
              <a:t>-simulate an install</a:t>
            </a:r>
          </a:p>
          <a:p>
            <a:r>
              <a:rPr lang="en-US" sz="1800" dirty="0">
                <a:solidFill>
                  <a:srgbClr val="2453FF"/>
                </a:solidFill>
                <a:latin typeface="RobotoMono-Regular"/>
              </a:rPr>
              <a:t>-n / --namespace </a:t>
            </a:r>
            <a:r>
              <a:rPr lang="en-US" sz="1800" dirty="0">
                <a:solidFill>
                  <a:srgbClr val="000000"/>
                </a:solidFill>
                <a:latin typeface="Poppins-Light"/>
              </a:rPr>
              <a:t>-specify the namespace to install into</a:t>
            </a:r>
            <a:endParaRPr lang="en-US" sz="1800" dirty="0"/>
          </a:p>
        </p:txBody>
      </p:sp>
      <p:sp>
        <p:nvSpPr>
          <p:cNvPr id="5" name="Content Placeholder 4"/>
          <p:cNvSpPr>
            <a:spLocks noGrp="1"/>
          </p:cNvSpPr>
          <p:nvPr>
            <p:ph sz="half" idx="2"/>
          </p:nvPr>
        </p:nvSpPr>
        <p:spPr/>
        <p:txBody>
          <a:bodyPr>
            <a:normAutofit lnSpcReduction="10000"/>
          </a:bodyPr>
          <a:lstStyle/>
          <a:p>
            <a:pPr marL="0" indent="0">
              <a:buNone/>
            </a:pPr>
            <a:endParaRPr lang="en-US" sz="1800" dirty="0">
              <a:solidFill>
                <a:srgbClr val="0C322C"/>
              </a:solidFill>
              <a:latin typeface="Poppins-Medium"/>
            </a:endParaRPr>
          </a:p>
          <a:p>
            <a:r>
              <a:rPr lang="en-US" sz="1800" dirty="0">
                <a:solidFill>
                  <a:srgbClr val="000000"/>
                </a:solidFill>
                <a:latin typeface="Poppins-Light"/>
              </a:rPr>
              <a:t>Syntax: </a:t>
            </a:r>
            <a:r>
              <a:rPr lang="en-US" sz="1800" dirty="0">
                <a:solidFill>
                  <a:srgbClr val="2453FF"/>
                </a:solidFill>
                <a:latin typeface="RobotoMono-Regular"/>
              </a:rPr>
              <a:t>helm uninstall </a:t>
            </a:r>
            <a:r>
              <a:rPr lang="en-US" sz="1800" i="1" dirty="0">
                <a:solidFill>
                  <a:srgbClr val="000000"/>
                </a:solidFill>
                <a:latin typeface="Poppins-LightItalic"/>
              </a:rPr>
              <a:t>NAME OPTIONS</a:t>
            </a:r>
          </a:p>
          <a:p>
            <a:r>
              <a:rPr lang="en-US" sz="1800" dirty="0">
                <a:solidFill>
                  <a:srgbClr val="000000"/>
                </a:solidFill>
                <a:latin typeface="Poppins-Medium"/>
              </a:rPr>
              <a:t>Option Description</a:t>
            </a:r>
          </a:p>
          <a:p>
            <a:r>
              <a:rPr lang="en-US" sz="1800" dirty="0">
                <a:solidFill>
                  <a:srgbClr val="2453FF"/>
                </a:solidFill>
                <a:latin typeface="RobotoMono-Regular"/>
              </a:rPr>
              <a:t>--keep-history </a:t>
            </a:r>
            <a:r>
              <a:rPr lang="en-US" sz="1800" dirty="0">
                <a:solidFill>
                  <a:srgbClr val="000000"/>
                </a:solidFill>
                <a:latin typeface="Poppins-Light"/>
              </a:rPr>
              <a:t>-remove all resources and mark as deleted but</a:t>
            </a:r>
          </a:p>
          <a:p>
            <a:r>
              <a:rPr lang="en-US" sz="1800" dirty="0">
                <a:solidFill>
                  <a:srgbClr val="000000"/>
                </a:solidFill>
                <a:latin typeface="Poppins-Light"/>
              </a:rPr>
              <a:t>retain the release history</a:t>
            </a:r>
          </a:p>
          <a:p>
            <a:r>
              <a:rPr lang="en-US" sz="1800" dirty="0">
                <a:solidFill>
                  <a:srgbClr val="2453FF"/>
                </a:solidFill>
                <a:latin typeface="RobotoMono-Regular"/>
              </a:rPr>
              <a:t>--dry-run </a:t>
            </a:r>
            <a:r>
              <a:rPr lang="en-US" sz="1800" dirty="0">
                <a:solidFill>
                  <a:srgbClr val="000000"/>
                </a:solidFill>
                <a:latin typeface="Poppins-Light"/>
              </a:rPr>
              <a:t>-simulate an uninstall</a:t>
            </a:r>
          </a:p>
          <a:p>
            <a:r>
              <a:rPr lang="en-US" sz="1800" dirty="0">
                <a:solidFill>
                  <a:srgbClr val="2453FF"/>
                </a:solidFill>
                <a:latin typeface="RobotoMono-Regular"/>
              </a:rPr>
              <a:t>-n / --namespace </a:t>
            </a:r>
            <a:r>
              <a:rPr lang="en-US" sz="1800" dirty="0">
                <a:solidFill>
                  <a:srgbClr val="000000"/>
                </a:solidFill>
                <a:latin typeface="Poppins-Light"/>
              </a:rPr>
              <a:t>-specify the namespace the release is in</a:t>
            </a:r>
            <a:endParaRPr lang="en-US" sz="1800" dirty="0"/>
          </a:p>
        </p:txBody>
      </p:sp>
    </p:spTree>
    <p:extLst>
      <p:ext uri="{BB962C8B-B14F-4D97-AF65-F5344CB8AC3E}">
        <p14:creationId xmlns:p14="http://schemas.microsoft.com/office/powerpoint/2010/main" val="352404047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Upgrade &amp; Rollback</a:t>
            </a:r>
          </a:p>
        </p:txBody>
      </p:sp>
      <p:sp>
        <p:nvSpPr>
          <p:cNvPr id="3" name="Content Placeholder 2"/>
          <p:cNvSpPr>
            <a:spLocks noGrp="1"/>
          </p:cNvSpPr>
          <p:nvPr>
            <p:ph sz="half" idx="1"/>
          </p:nvPr>
        </p:nvSpPr>
        <p:spPr/>
        <p:txBody>
          <a:bodyPr>
            <a:normAutofit/>
          </a:bodyPr>
          <a:lstStyle/>
          <a:p>
            <a:r>
              <a:rPr lang="en-US" sz="1600" dirty="0">
                <a:solidFill>
                  <a:srgbClr val="000000"/>
                </a:solidFill>
                <a:latin typeface="Poppins-Light"/>
              </a:rPr>
              <a:t>Syntax: </a:t>
            </a:r>
            <a:r>
              <a:rPr lang="en-US" sz="1600" dirty="0">
                <a:solidFill>
                  <a:srgbClr val="2453FF"/>
                </a:solidFill>
                <a:latin typeface="RobotoMono-Regular"/>
              </a:rPr>
              <a:t>helm upgrade </a:t>
            </a:r>
            <a:r>
              <a:rPr lang="en-US" sz="1600" i="1" dirty="0">
                <a:solidFill>
                  <a:srgbClr val="000000"/>
                </a:solidFill>
                <a:latin typeface="Poppins-LightItalic"/>
              </a:rPr>
              <a:t>RELEASE REPO/CHART OPTIONS</a:t>
            </a:r>
          </a:p>
          <a:p>
            <a:r>
              <a:rPr lang="en-US" sz="1600" dirty="0">
                <a:solidFill>
                  <a:srgbClr val="000000"/>
                </a:solidFill>
                <a:latin typeface="Poppins-Medium"/>
              </a:rPr>
              <a:t>Option Description</a:t>
            </a:r>
          </a:p>
          <a:p>
            <a:r>
              <a:rPr lang="en-US" sz="1600" dirty="0">
                <a:solidFill>
                  <a:srgbClr val="2453FF"/>
                </a:solidFill>
                <a:latin typeface="RobotoMono-Regular"/>
              </a:rPr>
              <a:t>-f / --values &lt;file&gt; </a:t>
            </a:r>
            <a:r>
              <a:rPr lang="en-US" sz="1600" dirty="0">
                <a:solidFill>
                  <a:srgbClr val="000000"/>
                </a:solidFill>
                <a:latin typeface="Poppins-Light"/>
              </a:rPr>
              <a:t>-specify values for the chart</a:t>
            </a:r>
          </a:p>
          <a:p>
            <a:r>
              <a:rPr lang="en-US" sz="1600" dirty="0">
                <a:solidFill>
                  <a:srgbClr val="2453FF"/>
                </a:solidFill>
                <a:latin typeface="RobotoMono-Regular"/>
              </a:rPr>
              <a:t>--history-max </a:t>
            </a:r>
            <a:r>
              <a:rPr lang="en-US" sz="1600" dirty="0">
                <a:solidFill>
                  <a:srgbClr val="000000"/>
                </a:solidFill>
                <a:latin typeface="Poppins-Light"/>
              </a:rPr>
              <a:t>-limit number of revisions saved per release</a:t>
            </a:r>
          </a:p>
          <a:p>
            <a:r>
              <a:rPr lang="en-US" sz="1600" dirty="0">
                <a:solidFill>
                  <a:srgbClr val="000000"/>
                </a:solidFill>
                <a:latin typeface="Poppins-Light"/>
              </a:rPr>
              <a:t>(default=10)</a:t>
            </a:r>
          </a:p>
          <a:p>
            <a:r>
              <a:rPr lang="en-US" sz="1600" dirty="0">
                <a:solidFill>
                  <a:srgbClr val="2453FF"/>
                </a:solidFill>
                <a:latin typeface="RobotoMono-Regular"/>
              </a:rPr>
              <a:t>--dry-run </a:t>
            </a:r>
            <a:r>
              <a:rPr lang="en-US" sz="1600" dirty="0">
                <a:solidFill>
                  <a:srgbClr val="000000"/>
                </a:solidFill>
                <a:latin typeface="Poppins-Light"/>
              </a:rPr>
              <a:t>-simulate an install</a:t>
            </a:r>
          </a:p>
          <a:p>
            <a:r>
              <a:rPr lang="en-US" sz="1600" dirty="0">
                <a:solidFill>
                  <a:srgbClr val="2453FF"/>
                </a:solidFill>
                <a:latin typeface="RobotoMono-Regular"/>
              </a:rPr>
              <a:t>-n / --namespace </a:t>
            </a:r>
            <a:r>
              <a:rPr lang="en-US" sz="1600" dirty="0">
                <a:solidFill>
                  <a:srgbClr val="000000"/>
                </a:solidFill>
                <a:latin typeface="Poppins-Light"/>
              </a:rPr>
              <a:t>-specify the namespace to install into</a:t>
            </a:r>
            <a:endParaRPr lang="en-US" sz="1600" dirty="0"/>
          </a:p>
        </p:txBody>
      </p:sp>
      <p:sp>
        <p:nvSpPr>
          <p:cNvPr id="4" name="Content Placeholder 3"/>
          <p:cNvSpPr>
            <a:spLocks noGrp="1"/>
          </p:cNvSpPr>
          <p:nvPr>
            <p:ph sz="half" idx="2"/>
          </p:nvPr>
        </p:nvSpPr>
        <p:spPr/>
        <p:txBody>
          <a:bodyPr>
            <a:normAutofit/>
          </a:bodyPr>
          <a:lstStyle/>
          <a:p>
            <a:r>
              <a:rPr lang="en-US" sz="1600" dirty="0">
                <a:solidFill>
                  <a:srgbClr val="000000"/>
                </a:solidFill>
                <a:latin typeface="Poppins-Light"/>
              </a:rPr>
              <a:t>Syntax: </a:t>
            </a:r>
            <a:r>
              <a:rPr lang="en-US" sz="1600" dirty="0">
                <a:solidFill>
                  <a:srgbClr val="2453FF"/>
                </a:solidFill>
                <a:latin typeface="RobotoMono-Regular"/>
              </a:rPr>
              <a:t>helm rollback </a:t>
            </a:r>
            <a:r>
              <a:rPr lang="en-US" sz="1600" i="1" dirty="0">
                <a:solidFill>
                  <a:srgbClr val="000000"/>
                </a:solidFill>
                <a:latin typeface="Poppins-LightItalic"/>
              </a:rPr>
              <a:t>RELEASE REVISION OPTIONS</a:t>
            </a:r>
          </a:p>
          <a:p>
            <a:r>
              <a:rPr lang="en-US" sz="1600" dirty="0">
                <a:solidFill>
                  <a:srgbClr val="000000"/>
                </a:solidFill>
                <a:latin typeface="Poppins-Medium"/>
              </a:rPr>
              <a:t>Option Description</a:t>
            </a:r>
          </a:p>
          <a:p>
            <a:r>
              <a:rPr lang="en-US" sz="1600" dirty="0">
                <a:solidFill>
                  <a:srgbClr val="2453FF"/>
                </a:solidFill>
                <a:latin typeface="RobotoMono-Regular"/>
              </a:rPr>
              <a:t>--cleanup-on-fail </a:t>
            </a:r>
            <a:r>
              <a:rPr lang="en-US" sz="1600" dirty="0">
                <a:solidFill>
                  <a:srgbClr val="000000"/>
                </a:solidFill>
                <a:latin typeface="Poppins-Light"/>
              </a:rPr>
              <a:t>-allow deletion of new resource created in this</a:t>
            </a:r>
          </a:p>
          <a:p>
            <a:r>
              <a:rPr lang="en-US" sz="1600" dirty="0">
                <a:solidFill>
                  <a:srgbClr val="000000"/>
                </a:solidFill>
                <a:latin typeface="Poppins-Light"/>
              </a:rPr>
              <a:t>rollback when rollback fails</a:t>
            </a:r>
          </a:p>
          <a:p>
            <a:r>
              <a:rPr lang="en-US" sz="1600" dirty="0">
                <a:solidFill>
                  <a:srgbClr val="2453FF"/>
                </a:solidFill>
                <a:latin typeface="RobotoMono-Regular"/>
              </a:rPr>
              <a:t>--dry-run </a:t>
            </a:r>
            <a:r>
              <a:rPr lang="en-US" sz="1600" dirty="0">
                <a:solidFill>
                  <a:srgbClr val="000000"/>
                </a:solidFill>
                <a:latin typeface="Poppins-Light"/>
              </a:rPr>
              <a:t>-simulate an uninstall</a:t>
            </a:r>
          </a:p>
          <a:p>
            <a:r>
              <a:rPr lang="en-US" sz="1600" dirty="0">
                <a:solidFill>
                  <a:srgbClr val="2453FF"/>
                </a:solidFill>
                <a:latin typeface="RobotoMono-Regular"/>
              </a:rPr>
              <a:t>-n / --namespace </a:t>
            </a:r>
            <a:r>
              <a:rPr lang="en-US" sz="1600" dirty="0">
                <a:solidFill>
                  <a:srgbClr val="000000"/>
                </a:solidFill>
                <a:latin typeface="Poppins-Light"/>
              </a:rPr>
              <a:t>-specify the namespace the release is in</a:t>
            </a:r>
            <a:endParaRPr lang="en-US" sz="1600" dirty="0"/>
          </a:p>
        </p:txBody>
      </p:sp>
    </p:spTree>
    <p:extLst>
      <p:ext uri="{BB962C8B-B14F-4D97-AF65-F5344CB8AC3E}">
        <p14:creationId xmlns:p14="http://schemas.microsoft.com/office/powerpoint/2010/main" val="42424215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Ingress Networking </a:t>
            </a:r>
          </a:p>
        </p:txBody>
      </p:sp>
    </p:spTree>
    <p:extLst>
      <p:ext uri="{BB962C8B-B14F-4D97-AF65-F5344CB8AC3E}">
        <p14:creationId xmlns:p14="http://schemas.microsoft.com/office/powerpoint/2010/main" val="32214134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Ingress Controller</a:t>
            </a:r>
          </a:p>
        </p:txBody>
      </p:sp>
      <p:sp>
        <p:nvSpPr>
          <p:cNvPr id="3" name="Content Placeholder 2"/>
          <p:cNvSpPr>
            <a:spLocks noGrp="1"/>
          </p:cNvSpPr>
          <p:nvPr>
            <p:ph sz="half" idx="1"/>
          </p:nvPr>
        </p:nvSpPr>
        <p:spPr>
          <a:xfrm>
            <a:off x="838200" y="1825625"/>
            <a:ext cx="10134600" cy="4351338"/>
          </a:xfrm>
        </p:spPr>
        <p:txBody>
          <a:bodyPr>
            <a:normAutofit fontScale="92500" lnSpcReduction="10000"/>
          </a:bodyPr>
          <a:lstStyle/>
          <a:p>
            <a:r>
              <a:rPr lang="en-US" sz="2400" dirty="0"/>
              <a:t>Ingress exposes HTTP and HTTPS routes from outside the cluster to services within the cluster</a:t>
            </a:r>
          </a:p>
          <a:p>
            <a:endParaRPr lang="en-US" sz="2400" dirty="0"/>
          </a:p>
          <a:p>
            <a:r>
              <a:rPr lang="en-US" sz="2400" dirty="0"/>
              <a:t>Traffic routing is controlled by rules defined on the Ingress resource</a:t>
            </a:r>
          </a:p>
          <a:p>
            <a:pPr marL="0" indent="0">
              <a:buNone/>
            </a:pPr>
            <a:endParaRPr lang="en-US" sz="2400" dirty="0"/>
          </a:p>
          <a:p>
            <a:r>
              <a:rPr lang="en-US" sz="2400" dirty="0"/>
              <a:t>Ingress can provide load balancing, SSL termination and </a:t>
            </a:r>
            <a:r>
              <a:rPr lang="en-US" sz="2400" dirty="0" err="1"/>
              <a:t>namebased</a:t>
            </a:r>
            <a:r>
              <a:rPr lang="en-US" sz="2400" dirty="0"/>
              <a:t> virtual hosting</a:t>
            </a:r>
          </a:p>
          <a:p>
            <a:endParaRPr lang="en-US" sz="2400" dirty="0"/>
          </a:p>
          <a:p>
            <a:r>
              <a:rPr lang="en-US" sz="2400" dirty="0"/>
              <a:t>You have the choice of either using </a:t>
            </a:r>
            <a:r>
              <a:rPr lang="en-US" sz="2400" dirty="0" err="1"/>
              <a:t>NodePort</a:t>
            </a:r>
            <a:r>
              <a:rPr lang="en-US" sz="2400" dirty="0"/>
              <a:t> or an External IP address for your ingress</a:t>
            </a:r>
          </a:p>
          <a:p>
            <a:endParaRPr lang="en-US" sz="2400" dirty="0"/>
          </a:p>
          <a:p>
            <a:r>
              <a:rPr lang="en-US" sz="2400" dirty="0"/>
              <a:t> RKE provides an Ingress controller based on the NGINX ingress controller and K3s is based on the </a:t>
            </a:r>
            <a:r>
              <a:rPr lang="en-US" sz="2400" dirty="0" err="1"/>
              <a:t>Traefik</a:t>
            </a:r>
            <a:r>
              <a:rPr lang="en-US" sz="2400" dirty="0"/>
              <a:t> ingress </a:t>
            </a:r>
            <a:r>
              <a:rPr lang="en-US" sz="2400" dirty="0" err="1"/>
              <a:t>controlle</a:t>
            </a:r>
            <a:endParaRPr lang="en-US" sz="2400" dirty="0"/>
          </a:p>
        </p:txBody>
      </p:sp>
    </p:spTree>
    <p:extLst>
      <p:ext uri="{BB962C8B-B14F-4D97-AF65-F5344CB8AC3E}">
        <p14:creationId xmlns:p14="http://schemas.microsoft.com/office/powerpoint/2010/main" val="28515932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Node Port Controller Values</a:t>
            </a:r>
          </a:p>
        </p:txBody>
      </p:sp>
      <p:sp>
        <p:nvSpPr>
          <p:cNvPr id="3" name="Content Placeholder 2"/>
          <p:cNvSpPr>
            <a:spLocks noGrp="1"/>
          </p:cNvSpPr>
          <p:nvPr>
            <p:ph sz="half" idx="1"/>
          </p:nvPr>
        </p:nvSpPr>
        <p:spPr/>
        <p:txBody>
          <a:bodyPr>
            <a:normAutofit fontScale="47500" lnSpcReduction="20000"/>
          </a:bodyPr>
          <a:lstStyle/>
          <a:p>
            <a:r>
              <a:rPr lang="en-US" dirty="0"/>
              <a:t>The </a:t>
            </a:r>
            <a:r>
              <a:rPr lang="en-US" dirty="0" err="1"/>
              <a:t>NodePort</a:t>
            </a:r>
            <a:r>
              <a:rPr lang="en-US" dirty="0"/>
              <a:t> Values specify the </a:t>
            </a:r>
            <a:r>
              <a:rPr lang="en-US" dirty="0" err="1"/>
              <a:t>NodePort</a:t>
            </a:r>
            <a:r>
              <a:rPr lang="en-US" dirty="0"/>
              <a:t> port rather than letting a random one get chosen.</a:t>
            </a:r>
          </a:p>
          <a:p>
            <a:pPr marL="0" indent="0">
              <a:buNone/>
            </a:pPr>
            <a:r>
              <a:rPr lang="en-US" dirty="0"/>
              <a:t>(In this file, port 30443 is selected)</a:t>
            </a:r>
          </a:p>
        </p:txBody>
      </p:sp>
      <p:sp>
        <p:nvSpPr>
          <p:cNvPr id="4" name="Content Placeholder 3"/>
          <p:cNvSpPr>
            <a:spLocks noGrp="1"/>
          </p:cNvSpPr>
          <p:nvPr>
            <p:ph sz="half" idx="2"/>
          </p:nvPr>
        </p:nvSpPr>
        <p:spPr/>
        <p:txBody>
          <a:bodyPr>
            <a:normAutofit fontScale="47500" lnSpcReduction="20000"/>
          </a:bodyPr>
          <a:lstStyle/>
          <a:p>
            <a:pPr marL="0" indent="0">
              <a:buNone/>
            </a:pPr>
            <a:r>
              <a:rPr lang="en-US" dirty="0"/>
              <a:t># Enable the creation of pod security policy</a:t>
            </a:r>
          </a:p>
          <a:p>
            <a:pPr marL="0" indent="0">
              <a:buNone/>
            </a:pPr>
            <a:r>
              <a:rPr lang="en-US" dirty="0" err="1"/>
              <a:t>podSecurityPolicy</a:t>
            </a:r>
            <a:r>
              <a:rPr lang="en-US" dirty="0"/>
              <a:t>:</a:t>
            </a:r>
          </a:p>
          <a:p>
            <a:pPr marL="0" indent="0">
              <a:buNone/>
            </a:pPr>
            <a:r>
              <a:rPr lang="en-US" dirty="0"/>
              <a:t>enabled: false</a:t>
            </a:r>
          </a:p>
          <a:p>
            <a:pPr marL="0" indent="0">
              <a:buNone/>
            </a:pPr>
            <a:endParaRPr lang="en-US" dirty="0"/>
          </a:p>
          <a:p>
            <a:pPr marL="0" indent="0">
              <a:buNone/>
            </a:pPr>
            <a:r>
              <a:rPr lang="en-US" dirty="0"/>
              <a:t># Create a specific service account</a:t>
            </a:r>
          </a:p>
          <a:p>
            <a:pPr marL="0" indent="0">
              <a:buNone/>
            </a:pPr>
            <a:r>
              <a:rPr lang="en-US" dirty="0" err="1"/>
              <a:t>serviceAccount</a:t>
            </a:r>
            <a:r>
              <a:rPr lang="en-US" dirty="0"/>
              <a:t>:</a:t>
            </a:r>
          </a:p>
          <a:p>
            <a:pPr marL="0" indent="0">
              <a:buNone/>
            </a:pPr>
            <a:r>
              <a:rPr lang="en-US" dirty="0"/>
              <a:t>     create: true</a:t>
            </a:r>
          </a:p>
          <a:p>
            <a:pPr marL="0" indent="0">
              <a:buNone/>
            </a:pPr>
            <a:r>
              <a:rPr lang="en-US" dirty="0"/>
              <a:t>      name: </a:t>
            </a:r>
            <a:r>
              <a:rPr lang="en-US" dirty="0" err="1"/>
              <a:t>nginx</a:t>
            </a:r>
            <a:r>
              <a:rPr lang="en-US" dirty="0"/>
              <a:t>-ingress</a:t>
            </a:r>
          </a:p>
          <a:p>
            <a:pPr marL="0" indent="0">
              <a:buNone/>
            </a:pPr>
            <a:r>
              <a:rPr lang="en-US" dirty="0"/>
              <a:t># Publish services on port HTTPS/30443</a:t>
            </a:r>
          </a:p>
          <a:p>
            <a:pPr marL="0" indent="0">
              <a:buNone/>
            </a:pPr>
            <a:r>
              <a:rPr lang="en-US" dirty="0"/>
              <a:t># These services are exposed on each node</a:t>
            </a:r>
          </a:p>
          <a:p>
            <a:pPr marL="0" indent="0">
              <a:buNone/>
            </a:pPr>
            <a:r>
              <a:rPr lang="en-US" dirty="0"/>
              <a:t>controller:</a:t>
            </a:r>
          </a:p>
          <a:p>
            <a:pPr marL="0" indent="0">
              <a:buNone/>
            </a:pPr>
            <a:r>
              <a:rPr lang="en-US" dirty="0"/>
              <a:t>     </a:t>
            </a:r>
            <a:r>
              <a:rPr lang="en-US" dirty="0">
                <a:solidFill>
                  <a:srgbClr val="FF0000"/>
                </a:solidFill>
              </a:rPr>
              <a:t>service:</a:t>
            </a:r>
          </a:p>
          <a:p>
            <a:pPr marL="0" indent="0">
              <a:buNone/>
            </a:pPr>
            <a:r>
              <a:rPr lang="en-US" dirty="0">
                <a:solidFill>
                  <a:srgbClr val="FF0000"/>
                </a:solidFill>
              </a:rPr>
              <a:t>     </a:t>
            </a:r>
            <a:r>
              <a:rPr lang="en-US" dirty="0" err="1">
                <a:solidFill>
                  <a:srgbClr val="FF0000"/>
                </a:solidFill>
              </a:rPr>
              <a:t>enableHttp</a:t>
            </a:r>
            <a:r>
              <a:rPr lang="en-US" dirty="0">
                <a:solidFill>
                  <a:srgbClr val="FF0000"/>
                </a:solidFill>
              </a:rPr>
              <a:t>: false</a:t>
            </a:r>
          </a:p>
          <a:p>
            <a:pPr marL="0" indent="0">
              <a:buNone/>
            </a:pPr>
            <a:r>
              <a:rPr lang="en-US" dirty="0">
                <a:solidFill>
                  <a:srgbClr val="FF0000"/>
                </a:solidFill>
              </a:rPr>
              <a:t>     type: </a:t>
            </a:r>
            <a:r>
              <a:rPr lang="en-US" dirty="0" err="1">
                <a:solidFill>
                  <a:srgbClr val="FF0000"/>
                </a:solidFill>
              </a:rPr>
              <a:t>NodePort</a:t>
            </a:r>
            <a:endParaRPr lang="en-US" dirty="0">
              <a:solidFill>
                <a:srgbClr val="FF0000"/>
              </a:solidFill>
            </a:endParaRPr>
          </a:p>
          <a:p>
            <a:pPr marL="0" indent="0">
              <a:buNone/>
            </a:pPr>
            <a:r>
              <a:rPr lang="en-US" dirty="0">
                <a:solidFill>
                  <a:srgbClr val="FF0000"/>
                </a:solidFill>
              </a:rPr>
              <a:t>     </a:t>
            </a:r>
            <a:r>
              <a:rPr lang="en-US" dirty="0" err="1">
                <a:solidFill>
                  <a:srgbClr val="FF0000"/>
                </a:solidFill>
              </a:rPr>
              <a:t>nodePorts</a:t>
            </a:r>
            <a:r>
              <a:rPr lang="en-US" dirty="0">
                <a:solidFill>
                  <a:srgbClr val="FF0000"/>
                </a:solidFill>
              </a:rPr>
              <a:t>:</a:t>
            </a:r>
          </a:p>
          <a:p>
            <a:pPr marL="0" indent="0">
              <a:buNone/>
            </a:pPr>
            <a:r>
              <a:rPr lang="en-US" dirty="0">
                <a:solidFill>
                  <a:srgbClr val="FF0000"/>
                </a:solidFill>
              </a:rPr>
              <a:t>           https: 30443</a:t>
            </a:r>
          </a:p>
        </p:txBody>
      </p:sp>
    </p:spTree>
    <p:extLst>
      <p:ext uri="{BB962C8B-B14F-4D97-AF65-F5344CB8AC3E}">
        <p14:creationId xmlns:p14="http://schemas.microsoft.com/office/powerpoint/2010/main" val="277743590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IP Controller Values</a:t>
            </a:r>
          </a:p>
        </p:txBody>
      </p:sp>
      <p:sp>
        <p:nvSpPr>
          <p:cNvPr id="3" name="Content Placeholder 2"/>
          <p:cNvSpPr>
            <a:spLocks noGrp="1"/>
          </p:cNvSpPr>
          <p:nvPr>
            <p:ph sz="half" idx="1"/>
          </p:nvPr>
        </p:nvSpPr>
        <p:spPr>
          <a:xfrm>
            <a:off x="838200" y="1825625"/>
            <a:ext cx="4851400" cy="4351338"/>
          </a:xfrm>
        </p:spPr>
        <p:txBody>
          <a:bodyPr>
            <a:normAutofit fontScale="55000" lnSpcReduction="20000"/>
          </a:bodyPr>
          <a:lstStyle/>
          <a:p>
            <a:r>
              <a:rPr lang="en-US" sz="2000" dirty="0"/>
              <a:t>The External IP Values allow you to define the external IP that you would like the application to be able to use.</a:t>
            </a:r>
          </a:p>
          <a:p>
            <a:endParaRPr lang="en-US" sz="2000" dirty="0"/>
          </a:p>
          <a:p>
            <a:r>
              <a:rPr lang="en-US" sz="2000" dirty="0"/>
              <a:t>This is a great resource for users with smaller installations that want to assign a single IP to a group of applications in a production environment.</a:t>
            </a:r>
          </a:p>
        </p:txBody>
      </p:sp>
      <p:sp>
        <p:nvSpPr>
          <p:cNvPr id="4" name="Content Placeholder 3"/>
          <p:cNvSpPr>
            <a:spLocks noGrp="1"/>
          </p:cNvSpPr>
          <p:nvPr>
            <p:ph sz="half" idx="2"/>
          </p:nvPr>
        </p:nvSpPr>
        <p:spPr/>
        <p:txBody>
          <a:bodyPr>
            <a:normAutofit fontScale="55000" lnSpcReduction="20000"/>
          </a:bodyPr>
          <a:lstStyle/>
          <a:p>
            <a:r>
              <a:rPr lang="en-US" dirty="0"/>
              <a:t># Enable the creation of pod security policy</a:t>
            </a:r>
          </a:p>
          <a:p>
            <a:pPr marL="0" indent="0">
              <a:buNone/>
            </a:pPr>
            <a:r>
              <a:rPr lang="en-US" dirty="0" err="1"/>
              <a:t>podSecurityPolicy</a:t>
            </a:r>
            <a:r>
              <a:rPr lang="en-US" dirty="0"/>
              <a:t>:</a:t>
            </a:r>
          </a:p>
          <a:p>
            <a:pPr marL="0" indent="0">
              <a:buNone/>
            </a:pPr>
            <a:r>
              <a:rPr lang="en-US" dirty="0"/>
              <a:t>enabled: false</a:t>
            </a:r>
          </a:p>
          <a:p>
            <a:pPr marL="0" indent="0">
              <a:buNone/>
            </a:pPr>
            <a:r>
              <a:rPr lang="en-US" dirty="0"/>
              <a:t># Create a specific service account</a:t>
            </a:r>
          </a:p>
          <a:p>
            <a:pPr marL="0" indent="0">
              <a:buNone/>
            </a:pPr>
            <a:r>
              <a:rPr lang="en-US" dirty="0" err="1"/>
              <a:t>serviceAccount</a:t>
            </a:r>
            <a:r>
              <a:rPr lang="en-US" dirty="0"/>
              <a:t>:</a:t>
            </a:r>
          </a:p>
          <a:p>
            <a:pPr marL="0" indent="0">
              <a:buNone/>
            </a:pPr>
            <a:r>
              <a:rPr lang="en-US" dirty="0"/>
              <a:t>     create: true</a:t>
            </a:r>
          </a:p>
          <a:p>
            <a:pPr marL="0" indent="0">
              <a:buNone/>
            </a:pPr>
            <a:r>
              <a:rPr lang="en-US" dirty="0"/>
              <a:t>     name: </a:t>
            </a:r>
            <a:r>
              <a:rPr lang="en-US" dirty="0" err="1"/>
              <a:t>nginx</a:t>
            </a:r>
            <a:r>
              <a:rPr lang="en-US" dirty="0"/>
              <a:t>-ingress</a:t>
            </a:r>
          </a:p>
          <a:p>
            <a:pPr marL="0" indent="0">
              <a:buNone/>
            </a:pPr>
            <a:r>
              <a:rPr lang="en-US" dirty="0"/>
              <a:t># Publish services on port HTTPS/443</a:t>
            </a:r>
          </a:p>
          <a:p>
            <a:pPr marL="0" indent="0">
              <a:buNone/>
            </a:pPr>
            <a:r>
              <a:rPr lang="en-US" dirty="0"/>
              <a:t># These services are exposed on the node with</a:t>
            </a:r>
          </a:p>
          <a:p>
            <a:pPr marL="0" indent="0">
              <a:buNone/>
            </a:pPr>
            <a:r>
              <a:rPr lang="en-US" dirty="0"/>
              <a:t>IP10.86.4.158</a:t>
            </a:r>
          </a:p>
          <a:p>
            <a:pPr marL="0" indent="0">
              <a:buNone/>
            </a:pPr>
            <a:r>
              <a:rPr lang="en-US" dirty="0">
                <a:solidFill>
                  <a:srgbClr val="FF0000"/>
                </a:solidFill>
              </a:rPr>
              <a:t>controller:</a:t>
            </a:r>
          </a:p>
          <a:p>
            <a:pPr marL="0" indent="0">
              <a:buNone/>
            </a:pPr>
            <a:r>
              <a:rPr lang="en-US" dirty="0">
                <a:solidFill>
                  <a:srgbClr val="FF0000"/>
                </a:solidFill>
              </a:rPr>
              <a:t>    service:</a:t>
            </a:r>
          </a:p>
          <a:p>
            <a:pPr marL="0" indent="0">
              <a:buNone/>
            </a:pPr>
            <a:r>
              <a:rPr lang="en-US" dirty="0">
                <a:solidFill>
                  <a:srgbClr val="FF0000"/>
                </a:solidFill>
              </a:rPr>
              <a:t>        </a:t>
            </a:r>
            <a:r>
              <a:rPr lang="en-US" dirty="0" err="1">
                <a:solidFill>
                  <a:srgbClr val="FF0000"/>
                </a:solidFill>
              </a:rPr>
              <a:t>enableHttp</a:t>
            </a:r>
            <a:r>
              <a:rPr lang="en-US" dirty="0">
                <a:solidFill>
                  <a:srgbClr val="FF0000"/>
                </a:solidFill>
              </a:rPr>
              <a:t>: false</a:t>
            </a:r>
          </a:p>
          <a:p>
            <a:pPr marL="0" indent="0">
              <a:buNone/>
            </a:pPr>
            <a:r>
              <a:rPr lang="en-US" dirty="0">
                <a:solidFill>
                  <a:srgbClr val="FF0000"/>
                </a:solidFill>
              </a:rPr>
              <a:t>        </a:t>
            </a:r>
            <a:r>
              <a:rPr lang="en-US" dirty="0" err="1">
                <a:solidFill>
                  <a:srgbClr val="FF0000"/>
                </a:solidFill>
              </a:rPr>
              <a:t>externalIPs</a:t>
            </a:r>
            <a:r>
              <a:rPr lang="en-US" dirty="0">
                <a:solidFill>
                  <a:srgbClr val="FF0000"/>
                </a:solidFill>
              </a:rPr>
              <a:t>:</a:t>
            </a:r>
          </a:p>
          <a:p>
            <a:pPr marL="0" indent="0">
              <a:buNone/>
            </a:pPr>
            <a:r>
              <a:rPr lang="en-US" dirty="0">
                <a:solidFill>
                  <a:srgbClr val="FF0000"/>
                </a:solidFill>
              </a:rPr>
              <a:t>            -  10.86.4.158</a:t>
            </a:r>
          </a:p>
          <a:p>
            <a:endParaRPr lang="en-US" dirty="0"/>
          </a:p>
        </p:txBody>
      </p:sp>
    </p:spTree>
    <p:extLst>
      <p:ext uri="{BB962C8B-B14F-4D97-AF65-F5344CB8AC3E}">
        <p14:creationId xmlns:p14="http://schemas.microsoft.com/office/powerpoint/2010/main" val="2775277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Port Values</a:t>
            </a:r>
          </a:p>
        </p:txBody>
      </p:sp>
      <p:sp>
        <p:nvSpPr>
          <p:cNvPr id="3" name="Content Placeholder 2"/>
          <p:cNvSpPr>
            <a:spLocks noGrp="1"/>
          </p:cNvSpPr>
          <p:nvPr>
            <p:ph sz="half" idx="1"/>
          </p:nvPr>
        </p:nvSpPr>
        <p:spPr/>
        <p:txBody>
          <a:bodyPr>
            <a:normAutofit/>
          </a:bodyPr>
          <a:lstStyle/>
          <a:p>
            <a:r>
              <a:rPr lang="en-US" sz="2400" dirty="0"/>
              <a:t>When configuring an app that will use an ingress, it is important that the service related to that app be configured to listen on a specific internal port.</a:t>
            </a:r>
          </a:p>
          <a:p>
            <a:pPr marL="0" indent="0">
              <a:buNone/>
            </a:pPr>
            <a:endParaRPr lang="en-US" sz="2400" dirty="0"/>
          </a:p>
          <a:p>
            <a:r>
              <a:rPr lang="en-US" sz="2400" dirty="0"/>
              <a:t>(In this example, it will be expecting </a:t>
            </a:r>
            <a:r>
              <a:rPr lang="en-US" sz="2400" dirty="0" err="1"/>
              <a:t>internaltraffic</a:t>
            </a:r>
            <a:r>
              <a:rPr lang="en-US" sz="2400" dirty="0"/>
              <a:t> on port 1234)</a:t>
            </a:r>
          </a:p>
        </p:txBody>
      </p:sp>
      <p:sp>
        <p:nvSpPr>
          <p:cNvPr id="4" name="Content Placeholder 3"/>
          <p:cNvSpPr>
            <a:spLocks noGrp="1"/>
          </p:cNvSpPr>
          <p:nvPr>
            <p:ph sz="half" idx="2"/>
          </p:nvPr>
        </p:nvSpPr>
        <p:spPr/>
        <p:txBody>
          <a:bodyPr>
            <a:normAutofit/>
          </a:bodyPr>
          <a:lstStyle/>
          <a:p>
            <a:pPr marL="0" indent="0">
              <a:buNone/>
            </a:pPr>
            <a:r>
              <a:rPr lang="en-US" sz="1800" dirty="0"/>
              <a:t>kind: Service</a:t>
            </a:r>
          </a:p>
          <a:p>
            <a:pPr marL="0" indent="0">
              <a:buNone/>
            </a:pPr>
            <a:r>
              <a:rPr lang="en-US" sz="1800" dirty="0" err="1"/>
              <a:t>apiVersion</a:t>
            </a:r>
            <a:r>
              <a:rPr lang="en-US" sz="1800" dirty="0"/>
              <a:t>: v1</a:t>
            </a:r>
          </a:p>
          <a:p>
            <a:pPr marL="0" indent="0">
              <a:buNone/>
            </a:pPr>
            <a:r>
              <a:rPr lang="en-US" sz="1800" dirty="0"/>
              <a:t>metadata:</a:t>
            </a:r>
          </a:p>
          <a:p>
            <a:pPr marL="0" indent="0">
              <a:buNone/>
            </a:pPr>
            <a:r>
              <a:rPr lang="en-US" sz="1800" dirty="0"/>
              <a:t>     name: example-service</a:t>
            </a:r>
          </a:p>
          <a:p>
            <a:pPr marL="0" indent="0">
              <a:buNone/>
            </a:pPr>
            <a:r>
              <a:rPr lang="en-US" sz="1800" dirty="0"/>
              <a:t>spec:</a:t>
            </a:r>
          </a:p>
          <a:p>
            <a:pPr marL="0" indent="0">
              <a:buNone/>
            </a:pPr>
            <a:r>
              <a:rPr lang="en-US" sz="1800" dirty="0">
                <a:solidFill>
                  <a:srgbClr val="FF0000"/>
                </a:solidFill>
              </a:rPr>
              <a:t>     selector:</a:t>
            </a:r>
          </a:p>
          <a:p>
            <a:pPr marL="0" indent="0">
              <a:buNone/>
            </a:pPr>
            <a:r>
              <a:rPr lang="en-US" sz="1800" dirty="0">
                <a:solidFill>
                  <a:srgbClr val="FF0000"/>
                </a:solidFill>
              </a:rPr>
              <a:t>         app: example</a:t>
            </a:r>
          </a:p>
          <a:p>
            <a:pPr marL="0" indent="0">
              <a:buNone/>
            </a:pPr>
            <a:r>
              <a:rPr lang="en-US" sz="1800" dirty="0">
                <a:solidFill>
                  <a:srgbClr val="FF0000"/>
                </a:solidFill>
              </a:rPr>
              <a:t>      ports:</a:t>
            </a:r>
          </a:p>
          <a:p>
            <a:pPr marL="0" indent="0">
              <a:buNone/>
            </a:pPr>
            <a:r>
              <a:rPr lang="en-US" sz="1800" dirty="0">
                <a:solidFill>
                  <a:srgbClr val="FF0000"/>
                </a:solidFill>
              </a:rPr>
              <a:t>           - port: 1234</a:t>
            </a:r>
          </a:p>
        </p:txBody>
      </p:sp>
    </p:spTree>
    <p:extLst>
      <p:ext uri="{BB962C8B-B14F-4D97-AF65-F5344CB8AC3E}">
        <p14:creationId xmlns:p14="http://schemas.microsoft.com/office/powerpoint/2010/main" val="30964516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Ingress rules </a:t>
            </a:r>
          </a:p>
        </p:txBody>
      </p:sp>
      <p:sp>
        <p:nvSpPr>
          <p:cNvPr id="3" name="Content Placeholder 2"/>
          <p:cNvSpPr>
            <a:spLocks noGrp="1"/>
          </p:cNvSpPr>
          <p:nvPr>
            <p:ph sz="half" idx="1"/>
          </p:nvPr>
        </p:nvSpPr>
        <p:spPr/>
        <p:txBody>
          <a:bodyPr>
            <a:normAutofit/>
          </a:bodyPr>
          <a:lstStyle/>
          <a:p>
            <a:r>
              <a:rPr lang="en-US" sz="2400" dirty="0"/>
              <a:t>After the ingress controller has been successfully deployed, the ingress rules can be defined in a separate manifest.</a:t>
            </a:r>
          </a:p>
          <a:p>
            <a:endParaRPr lang="en-US" sz="2400" dirty="0"/>
          </a:p>
          <a:p>
            <a:pPr marL="0" indent="0">
              <a:buNone/>
            </a:pPr>
            <a:r>
              <a:rPr lang="en-US" sz="2400" dirty="0"/>
              <a:t>(Each service specified in this manifest will send traffic on that internal port 1234 on which the application services will be listening.)</a:t>
            </a:r>
          </a:p>
        </p:txBody>
      </p:sp>
      <p:pic>
        <p:nvPicPr>
          <p:cNvPr id="7" name="Content Placeholder 6"/>
          <p:cNvPicPr>
            <a:picLocks noGrp="1" noChangeAspect="1"/>
          </p:cNvPicPr>
          <p:nvPr>
            <p:ph sz="half" idx="2"/>
          </p:nvPr>
        </p:nvPicPr>
        <p:blipFill>
          <a:blip r:embed="rId2"/>
          <a:stretch>
            <a:fillRect/>
          </a:stretch>
        </p:blipFill>
        <p:spPr>
          <a:xfrm>
            <a:off x="6144491" y="1847273"/>
            <a:ext cx="5181600" cy="3393924"/>
          </a:xfrm>
          <a:prstGeom prst="rect">
            <a:avLst/>
          </a:prstGeom>
        </p:spPr>
      </p:pic>
    </p:spTree>
    <p:extLst>
      <p:ext uri="{BB962C8B-B14F-4D97-AF65-F5344CB8AC3E}">
        <p14:creationId xmlns:p14="http://schemas.microsoft.com/office/powerpoint/2010/main" val="230319718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sz="5400" b="1"/>
              <a:t>What is CSI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B71BD3F-CF28-E952-D4D3-81AE3A75597E}"/>
              </a:ext>
            </a:extLst>
          </p:cNvPr>
          <p:cNvSpPr>
            <a:spLocks noGrp="1"/>
          </p:cNvSpPr>
          <p:nvPr>
            <p:ph idx="1"/>
          </p:nvPr>
        </p:nvSpPr>
        <p:spPr>
          <a:xfrm>
            <a:off x="838200" y="1929384"/>
            <a:ext cx="10515600" cy="4251960"/>
          </a:xfrm>
        </p:spPr>
        <p:txBody>
          <a:bodyPr>
            <a:normAutofit/>
          </a:bodyPr>
          <a:lstStyle/>
          <a:p>
            <a:pPr marL="0" indent="0">
              <a:buNone/>
            </a:pPr>
            <a:r>
              <a:rPr lang="en-US" sz="2200"/>
              <a:t>In Kubernetes, CSI (Container Storage Interface) is a standard interface that allows third-party storage providers (like AWS, Azure, NetApp, etc.) to develop their own volume plugins that work natively with Kubernetes without modifying the core Kubernetes code.</a:t>
            </a:r>
          </a:p>
          <a:p>
            <a:endParaRPr lang="en-US" sz="2200"/>
          </a:p>
          <a:p>
            <a:pPr marL="0" indent="0">
              <a:buNone/>
            </a:pPr>
            <a:r>
              <a:rPr lang="en-US" sz="2200"/>
              <a:t>CSI (Container Storage Interface) is a specification developed by the Cloud Native Computing Foundation (CNCF) in collaboration with Kubernetes, Mesos, and Docker. It defines how container orchestrators (like Kubernetes) can interact with storage systems.</a:t>
            </a:r>
          </a:p>
          <a:p>
            <a:endParaRPr lang="en-US" sz="2200"/>
          </a:p>
        </p:txBody>
      </p:sp>
    </p:spTree>
    <p:extLst>
      <p:ext uri="{BB962C8B-B14F-4D97-AF65-F5344CB8AC3E}">
        <p14:creationId xmlns:p14="http://schemas.microsoft.com/office/powerpoint/2010/main" val="12172573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589503-8D1A-E6E8-7A69-5D72FED82660}"/>
              </a:ext>
            </a:extLst>
          </p:cNvPr>
          <p:cNvSpPr>
            <a:spLocks noGrp="1"/>
          </p:cNvSpPr>
          <p:nvPr>
            <p:ph type="title"/>
          </p:nvPr>
        </p:nvSpPr>
        <p:spPr>
          <a:xfrm>
            <a:off x="838200" y="365125"/>
            <a:ext cx="10515600" cy="1325563"/>
          </a:xfrm>
        </p:spPr>
        <p:txBody>
          <a:bodyPr>
            <a:normAutofit/>
          </a:bodyPr>
          <a:lstStyle/>
          <a:p>
            <a:r>
              <a:rPr lang="en-US" sz="5400"/>
              <a:t>Why CSI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6D0841-5232-7871-CDEA-FE2FB5B9D2EA}"/>
              </a:ext>
            </a:extLst>
          </p:cNvPr>
          <p:cNvSpPr>
            <a:spLocks noGrp="1"/>
          </p:cNvSpPr>
          <p:nvPr>
            <p:ph idx="1"/>
          </p:nvPr>
        </p:nvSpPr>
        <p:spPr>
          <a:xfrm>
            <a:off x="838200" y="1929384"/>
            <a:ext cx="10515600" cy="4251960"/>
          </a:xfrm>
        </p:spPr>
        <p:txBody>
          <a:bodyPr>
            <a:normAutofit/>
          </a:bodyPr>
          <a:lstStyle/>
          <a:p>
            <a:pPr marL="0" indent="0">
              <a:buNone/>
            </a:pPr>
            <a:r>
              <a:rPr lang="en-US" sz="2200" dirty="0"/>
              <a:t>Before CSI, Kubernetes used </a:t>
            </a:r>
            <a:r>
              <a:rPr lang="en-US" sz="2200" i="1" dirty="0"/>
              <a:t>in-tree volume plugins</a:t>
            </a:r>
            <a:r>
              <a:rPr lang="en-US" sz="2200" dirty="0"/>
              <a:t>, which were:</a:t>
            </a:r>
          </a:p>
          <a:p>
            <a:r>
              <a:rPr lang="en-US" sz="2200" dirty="0"/>
              <a:t>Difficult to maintain</a:t>
            </a:r>
          </a:p>
          <a:p>
            <a:r>
              <a:rPr lang="en-US" sz="2200" dirty="0"/>
              <a:t>Tied to Kubernetes release cycles</a:t>
            </a:r>
          </a:p>
          <a:p>
            <a:r>
              <a:rPr lang="en-US" sz="2200" dirty="0"/>
              <a:t>Risky, since bugs in a storage driver could crash the entire </a:t>
            </a:r>
            <a:r>
              <a:rPr lang="en-US" sz="2200" dirty="0" err="1"/>
              <a:t>kubelet</a:t>
            </a:r>
            <a:r>
              <a:rPr lang="en-US" sz="2200" dirty="0"/>
              <a:t>.</a:t>
            </a:r>
          </a:p>
          <a:p>
            <a:endParaRPr lang="en-US" sz="2200" dirty="0"/>
          </a:p>
          <a:p>
            <a:pPr marL="0" indent="0">
              <a:buNone/>
            </a:pPr>
            <a:r>
              <a:rPr lang="en-US" sz="2200" b="1" dirty="0"/>
              <a:t>CSI decouples storage drivers from Kubernetes</a:t>
            </a:r>
            <a:r>
              <a:rPr lang="en-US" sz="2200" dirty="0"/>
              <a:t>, enabling:</a:t>
            </a:r>
          </a:p>
          <a:p>
            <a:r>
              <a:rPr lang="en-US" sz="2200" dirty="0"/>
              <a:t>External (out-of-tree) drivers</a:t>
            </a:r>
          </a:p>
          <a:p>
            <a:r>
              <a:rPr lang="en-US" sz="2200" dirty="0"/>
              <a:t>Independent updates from Kubernetes releases</a:t>
            </a:r>
          </a:p>
          <a:p>
            <a:r>
              <a:rPr lang="en-US" sz="2200" dirty="0"/>
              <a:t>Better security and stability</a:t>
            </a:r>
          </a:p>
          <a:p>
            <a:endParaRPr lang="en-US" sz="2200" dirty="0"/>
          </a:p>
        </p:txBody>
      </p:sp>
    </p:spTree>
    <p:extLst>
      <p:ext uri="{BB962C8B-B14F-4D97-AF65-F5344CB8AC3E}">
        <p14:creationId xmlns:p14="http://schemas.microsoft.com/office/powerpoint/2010/main" val="327186296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860449-E19C-1564-7930-82D65F04E016}"/>
              </a:ext>
            </a:extLst>
          </p:cNvPr>
          <p:cNvSpPr>
            <a:spLocks noGrp="1"/>
          </p:cNvSpPr>
          <p:nvPr>
            <p:ph type="title"/>
          </p:nvPr>
        </p:nvSpPr>
        <p:spPr>
          <a:xfrm>
            <a:off x="838200" y="365125"/>
            <a:ext cx="10515600" cy="1325563"/>
          </a:xfrm>
        </p:spPr>
        <p:txBody>
          <a:bodyPr>
            <a:normAutofit/>
          </a:bodyPr>
          <a:lstStyle/>
          <a:p>
            <a:r>
              <a:rPr lang="en-US" sz="5400" b="1"/>
              <a:t>Key Components of CSI in Kubernetes</a:t>
            </a:r>
          </a:p>
        </p:txBody>
      </p:sp>
      <p:sp>
        <p:nvSpPr>
          <p:cNvPr id="25"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9670EA4F-6C9A-C96B-7F7B-1DADF11461BE}"/>
              </a:ext>
            </a:extLst>
          </p:cNvPr>
          <p:cNvGraphicFramePr>
            <a:graphicFrameLocks noGrp="1"/>
          </p:cNvGraphicFramePr>
          <p:nvPr>
            <p:ph idx="1"/>
            <p:extLst>
              <p:ext uri="{D42A27DB-BD31-4B8C-83A1-F6EECF244321}">
                <p14:modId xmlns:p14="http://schemas.microsoft.com/office/powerpoint/2010/main" val="1198512652"/>
              </p:ext>
            </p:extLst>
          </p:nvPr>
        </p:nvGraphicFramePr>
        <p:xfrm>
          <a:off x="1082051" y="2228087"/>
          <a:ext cx="10027898" cy="3948878"/>
        </p:xfrm>
        <a:graphic>
          <a:graphicData uri="http://schemas.openxmlformats.org/drawingml/2006/table">
            <a:tbl>
              <a:tblPr/>
              <a:tblGrid>
                <a:gridCol w="4036341">
                  <a:extLst>
                    <a:ext uri="{9D8B030D-6E8A-4147-A177-3AD203B41FA5}">
                      <a16:colId xmlns:a16="http://schemas.microsoft.com/office/drawing/2014/main" val="1178117433"/>
                    </a:ext>
                  </a:extLst>
                </a:gridCol>
                <a:gridCol w="5991557">
                  <a:extLst>
                    <a:ext uri="{9D8B030D-6E8A-4147-A177-3AD203B41FA5}">
                      <a16:colId xmlns:a16="http://schemas.microsoft.com/office/drawing/2014/main" val="3298405496"/>
                    </a:ext>
                  </a:extLst>
                </a:gridCol>
              </a:tblGrid>
              <a:tr h="451451">
                <a:tc>
                  <a:txBody>
                    <a:bodyPr/>
                    <a:lstStyle/>
                    <a:p>
                      <a:r>
                        <a:rPr lang="en-US" sz="2000" b="1" dirty="0"/>
                        <a:t>Component</a:t>
                      </a:r>
                    </a:p>
                  </a:txBody>
                  <a:tcPr marL="104201" marR="104201" marT="52101" marB="52101" anchor="ctr">
                    <a:lnL>
                      <a:noFill/>
                    </a:lnL>
                    <a:lnR>
                      <a:noFill/>
                    </a:lnR>
                    <a:lnT>
                      <a:noFill/>
                    </a:lnT>
                    <a:lnB>
                      <a:noFill/>
                    </a:lnB>
                    <a:noFill/>
                  </a:tcPr>
                </a:tc>
                <a:tc>
                  <a:txBody>
                    <a:bodyPr/>
                    <a:lstStyle/>
                    <a:p>
                      <a:r>
                        <a:rPr lang="en-US" sz="2000" b="1" dirty="0"/>
                        <a:t>Description</a:t>
                      </a:r>
                    </a:p>
                  </a:txBody>
                  <a:tcPr marL="104201" marR="104201" marT="52101" marB="52101" anchor="ctr">
                    <a:lnL>
                      <a:noFill/>
                    </a:lnL>
                    <a:lnR>
                      <a:noFill/>
                    </a:lnR>
                    <a:lnT>
                      <a:noFill/>
                    </a:lnT>
                    <a:lnB>
                      <a:noFill/>
                    </a:lnB>
                    <a:noFill/>
                  </a:tcPr>
                </a:tc>
                <a:extLst>
                  <a:ext uri="{0D108BD9-81ED-4DB2-BD59-A6C34878D82A}">
                    <a16:rowId xmlns:a16="http://schemas.microsoft.com/office/drawing/2014/main" val="2138258318"/>
                  </a:ext>
                </a:extLst>
              </a:tr>
              <a:tr h="761494">
                <a:tc>
                  <a:txBody>
                    <a:bodyPr/>
                    <a:lstStyle/>
                    <a:p>
                      <a:r>
                        <a:rPr lang="en-US" sz="2000" b="1"/>
                        <a:t>CSI Driver</a:t>
                      </a:r>
                      <a:endParaRPr lang="en-US" sz="2000"/>
                    </a:p>
                  </a:txBody>
                  <a:tcPr marL="104201" marR="104201" marT="52101" marB="52101" anchor="ctr">
                    <a:lnL>
                      <a:noFill/>
                    </a:lnL>
                    <a:lnR>
                      <a:noFill/>
                    </a:lnR>
                    <a:lnT>
                      <a:noFill/>
                    </a:lnT>
                    <a:lnB>
                      <a:noFill/>
                    </a:lnB>
                    <a:noFill/>
                  </a:tcPr>
                </a:tc>
                <a:tc>
                  <a:txBody>
                    <a:bodyPr/>
                    <a:lstStyle/>
                    <a:p>
                      <a:r>
                        <a:rPr lang="en-US" sz="2000"/>
                        <a:t>The plugin implemented by the storage vendor (e.g., CSI for AWS EBS, NFS).</a:t>
                      </a:r>
                    </a:p>
                  </a:txBody>
                  <a:tcPr marL="104201" marR="104201" marT="52101" marB="52101" anchor="ctr">
                    <a:lnL>
                      <a:noFill/>
                    </a:lnL>
                    <a:lnR>
                      <a:noFill/>
                    </a:lnR>
                    <a:lnT>
                      <a:noFill/>
                    </a:lnT>
                    <a:lnB>
                      <a:noFill/>
                    </a:lnB>
                    <a:noFill/>
                  </a:tcPr>
                </a:tc>
                <a:extLst>
                  <a:ext uri="{0D108BD9-81ED-4DB2-BD59-A6C34878D82A}">
                    <a16:rowId xmlns:a16="http://schemas.microsoft.com/office/drawing/2014/main" val="392389789"/>
                  </a:ext>
                </a:extLst>
              </a:tr>
              <a:tr h="761494">
                <a:tc>
                  <a:txBody>
                    <a:bodyPr/>
                    <a:lstStyle/>
                    <a:p>
                      <a:r>
                        <a:rPr lang="en-US" sz="2000" b="1"/>
                        <a:t>External Provisioner</a:t>
                      </a:r>
                      <a:endParaRPr lang="en-US" sz="2000"/>
                    </a:p>
                  </a:txBody>
                  <a:tcPr marL="104201" marR="104201" marT="52101" marB="52101" anchor="ctr">
                    <a:lnL>
                      <a:noFill/>
                    </a:lnL>
                    <a:lnR>
                      <a:noFill/>
                    </a:lnR>
                    <a:lnT>
                      <a:noFill/>
                    </a:lnT>
                    <a:lnB>
                      <a:noFill/>
                    </a:lnB>
                    <a:noFill/>
                  </a:tcPr>
                </a:tc>
                <a:tc>
                  <a:txBody>
                    <a:bodyPr/>
                    <a:lstStyle/>
                    <a:p>
                      <a:r>
                        <a:rPr lang="en-US" sz="2000"/>
                        <a:t>Creates volumes dynamically when PVCs are requested.</a:t>
                      </a:r>
                    </a:p>
                  </a:txBody>
                  <a:tcPr marL="104201" marR="104201" marT="52101" marB="52101" anchor="ctr">
                    <a:lnL>
                      <a:noFill/>
                    </a:lnL>
                    <a:lnR>
                      <a:noFill/>
                    </a:lnR>
                    <a:lnT>
                      <a:noFill/>
                    </a:lnT>
                    <a:lnB>
                      <a:noFill/>
                    </a:lnB>
                    <a:noFill/>
                  </a:tcPr>
                </a:tc>
                <a:extLst>
                  <a:ext uri="{0D108BD9-81ED-4DB2-BD59-A6C34878D82A}">
                    <a16:rowId xmlns:a16="http://schemas.microsoft.com/office/drawing/2014/main" val="1764280720"/>
                  </a:ext>
                </a:extLst>
              </a:tr>
              <a:tr h="451451">
                <a:tc>
                  <a:txBody>
                    <a:bodyPr/>
                    <a:lstStyle/>
                    <a:p>
                      <a:r>
                        <a:rPr lang="en-US" sz="2000" b="1"/>
                        <a:t>External Attacher</a:t>
                      </a:r>
                      <a:endParaRPr lang="en-US" sz="2000"/>
                    </a:p>
                  </a:txBody>
                  <a:tcPr marL="104201" marR="104201" marT="52101" marB="52101" anchor="ctr">
                    <a:lnL>
                      <a:noFill/>
                    </a:lnL>
                    <a:lnR>
                      <a:noFill/>
                    </a:lnR>
                    <a:lnT>
                      <a:noFill/>
                    </a:lnT>
                    <a:lnB>
                      <a:noFill/>
                    </a:lnB>
                    <a:noFill/>
                  </a:tcPr>
                </a:tc>
                <a:tc>
                  <a:txBody>
                    <a:bodyPr/>
                    <a:lstStyle/>
                    <a:p>
                      <a:r>
                        <a:rPr lang="en-US" sz="2000"/>
                        <a:t>Handles volume attachment to nodes.</a:t>
                      </a:r>
                    </a:p>
                  </a:txBody>
                  <a:tcPr marL="104201" marR="104201" marT="52101" marB="52101" anchor="ctr">
                    <a:lnL>
                      <a:noFill/>
                    </a:lnL>
                    <a:lnR>
                      <a:noFill/>
                    </a:lnR>
                    <a:lnT>
                      <a:noFill/>
                    </a:lnT>
                    <a:lnB>
                      <a:noFill/>
                    </a:lnB>
                    <a:noFill/>
                  </a:tcPr>
                </a:tc>
                <a:extLst>
                  <a:ext uri="{0D108BD9-81ED-4DB2-BD59-A6C34878D82A}">
                    <a16:rowId xmlns:a16="http://schemas.microsoft.com/office/drawing/2014/main" val="1088425621"/>
                  </a:ext>
                </a:extLst>
              </a:tr>
              <a:tr h="761494">
                <a:tc>
                  <a:txBody>
                    <a:bodyPr/>
                    <a:lstStyle/>
                    <a:p>
                      <a:r>
                        <a:rPr lang="en-US" sz="2000" b="1"/>
                        <a:t>Node Plugin</a:t>
                      </a:r>
                      <a:endParaRPr lang="en-US" sz="2000"/>
                    </a:p>
                  </a:txBody>
                  <a:tcPr marL="104201" marR="104201" marT="52101" marB="52101" anchor="ctr">
                    <a:lnL>
                      <a:noFill/>
                    </a:lnL>
                    <a:lnR>
                      <a:noFill/>
                    </a:lnR>
                    <a:lnT>
                      <a:noFill/>
                    </a:lnT>
                    <a:lnB>
                      <a:noFill/>
                    </a:lnB>
                    <a:noFill/>
                  </a:tcPr>
                </a:tc>
                <a:tc>
                  <a:txBody>
                    <a:bodyPr/>
                    <a:lstStyle/>
                    <a:p>
                      <a:r>
                        <a:rPr lang="en-US" sz="2000"/>
                        <a:t>Runs on each node, mounts and unmounts volumes.</a:t>
                      </a:r>
                    </a:p>
                  </a:txBody>
                  <a:tcPr marL="104201" marR="104201" marT="52101" marB="52101" anchor="ctr">
                    <a:lnL>
                      <a:noFill/>
                    </a:lnL>
                    <a:lnR>
                      <a:noFill/>
                    </a:lnR>
                    <a:lnT>
                      <a:noFill/>
                    </a:lnT>
                    <a:lnB>
                      <a:noFill/>
                    </a:lnB>
                    <a:noFill/>
                  </a:tcPr>
                </a:tc>
                <a:extLst>
                  <a:ext uri="{0D108BD9-81ED-4DB2-BD59-A6C34878D82A}">
                    <a16:rowId xmlns:a16="http://schemas.microsoft.com/office/drawing/2014/main" val="2702085687"/>
                  </a:ext>
                </a:extLst>
              </a:tr>
              <a:tr h="761494">
                <a:tc>
                  <a:txBody>
                    <a:bodyPr/>
                    <a:lstStyle/>
                    <a:p>
                      <a:r>
                        <a:rPr lang="en-US" sz="2000" b="1"/>
                        <a:t>Controller Plugin</a:t>
                      </a:r>
                      <a:endParaRPr lang="en-US" sz="2000"/>
                    </a:p>
                  </a:txBody>
                  <a:tcPr marL="104201" marR="104201" marT="52101" marB="52101" anchor="ctr">
                    <a:lnL>
                      <a:noFill/>
                    </a:lnL>
                    <a:lnR>
                      <a:noFill/>
                    </a:lnR>
                    <a:lnT>
                      <a:noFill/>
                    </a:lnT>
                    <a:lnB>
                      <a:noFill/>
                    </a:lnB>
                    <a:noFill/>
                  </a:tcPr>
                </a:tc>
                <a:tc>
                  <a:txBody>
                    <a:bodyPr/>
                    <a:lstStyle/>
                    <a:p>
                      <a:r>
                        <a:rPr lang="en-US" sz="2000" dirty="0"/>
                        <a:t>Runs in the control plane, handles provisioning and attaching volumes.</a:t>
                      </a:r>
                    </a:p>
                  </a:txBody>
                  <a:tcPr marL="104201" marR="104201" marT="52101" marB="52101" anchor="ctr">
                    <a:lnL>
                      <a:noFill/>
                    </a:lnL>
                    <a:lnR>
                      <a:noFill/>
                    </a:lnR>
                    <a:lnT>
                      <a:noFill/>
                    </a:lnT>
                    <a:lnB>
                      <a:noFill/>
                    </a:lnB>
                    <a:noFill/>
                  </a:tcPr>
                </a:tc>
                <a:extLst>
                  <a:ext uri="{0D108BD9-81ED-4DB2-BD59-A6C34878D82A}">
                    <a16:rowId xmlns:a16="http://schemas.microsoft.com/office/drawing/2014/main" val="389114210"/>
                  </a:ext>
                </a:extLst>
              </a:tr>
            </a:tbl>
          </a:graphicData>
        </a:graphic>
      </p:graphicFrame>
    </p:spTree>
    <p:extLst>
      <p:ext uri="{BB962C8B-B14F-4D97-AF65-F5344CB8AC3E}">
        <p14:creationId xmlns:p14="http://schemas.microsoft.com/office/powerpoint/2010/main" val="298969765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15A626-C8D5-6BCA-768F-A17F19C3F56F}"/>
              </a:ext>
            </a:extLst>
          </p:cNvPr>
          <p:cNvSpPr>
            <a:spLocks noGrp="1"/>
          </p:cNvSpPr>
          <p:nvPr>
            <p:ph type="title"/>
          </p:nvPr>
        </p:nvSpPr>
        <p:spPr>
          <a:xfrm>
            <a:off x="838200" y="365125"/>
            <a:ext cx="10515600" cy="1325563"/>
          </a:xfrm>
        </p:spPr>
        <p:txBody>
          <a:bodyPr>
            <a:normAutofit/>
          </a:bodyPr>
          <a:lstStyle/>
          <a:p>
            <a:r>
              <a:rPr lang="en-US" sz="5400"/>
              <a:t>Benefits of CSI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8CDAB6A-197F-E70B-D985-D0DDBC9265AB}"/>
              </a:ext>
            </a:extLst>
          </p:cNvPr>
          <p:cNvSpPr>
            <a:spLocks noGrp="1"/>
          </p:cNvSpPr>
          <p:nvPr>
            <p:ph idx="1"/>
          </p:nvPr>
        </p:nvSpPr>
        <p:spPr>
          <a:xfrm>
            <a:off x="838200" y="1929384"/>
            <a:ext cx="10515600" cy="4251960"/>
          </a:xfrm>
        </p:spPr>
        <p:txBody>
          <a:bodyPr>
            <a:normAutofit/>
          </a:bodyPr>
          <a:lstStyle/>
          <a:p>
            <a:pPr marL="0" indent="0">
              <a:buNone/>
            </a:pPr>
            <a:endParaRPr lang="en-US" sz="2200" b="1" dirty="0"/>
          </a:p>
          <a:p>
            <a:r>
              <a:rPr lang="en-US" sz="2200" dirty="0"/>
              <a:t>Vendor-neutral: One API works across different vendors</a:t>
            </a:r>
          </a:p>
          <a:p>
            <a:r>
              <a:rPr lang="en-US" sz="2200" dirty="0"/>
              <a:t>Supports dynamic provisioning, expansion, and snapshots</a:t>
            </a:r>
          </a:p>
          <a:p>
            <a:r>
              <a:rPr lang="en-US" sz="2200" dirty="0"/>
              <a:t>Independent of Kubernetes release cycle</a:t>
            </a:r>
          </a:p>
          <a:p>
            <a:r>
              <a:rPr lang="en-US" sz="2200" dirty="0"/>
              <a:t>More secure and modular</a:t>
            </a:r>
          </a:p>
          <a:p>
            <a:endParaRPr lang="en-US" sz="2200" dirty="0"/>
          </a:p>
        </p:txBody>
      </p:sp>
    </p:spTree>
    <p:extLst>
      <p:ext uri="{BB962C8B-B14F-4D97-AF65-F5344CB8AC3E}">
        <p14:creationId xmlns:p14="http://schemas.microsoft.com/office/powerpoint/2010/main" val="29715221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are volumes?</a:t>
            </a:r>
          </a:p>
        </p:txBody>
      </p:sp>
      <p:sp>
        <p:nvSpPr>
          <p:cNvPr id="3" name="Content Placeholder 2"/>
          <p:cNvSpPr>
            <a:spLocks noGrp="1"/>
          </p:cNvSpPr>
          <p:nvPr>
            <p:ph sz="half" idx="1"/>
          </p:nvPr>
        </p:nvSpPr>
        <p:spPr>
          <a:xfrm>
            <a:off x="838199" y="1825625"/>
            <a:ext cx="9709727" cy="4351338"/>
          </a:xfrm>
        </p:spPr>
        <p:txBody>
          <a:bodyPr>
            <a:normAutofit/>
          </a:bodyPr>
          <a:lstStyle/>
          <a:p>
            <a:pPr marL="0" indent="0">
              <a:buNone/>
            </a:pPr>
            <a:r>
              <a:rPr lang="en-US" sz="2000" dirty="0"/>
              <a:t>A volume is storage that is ready to be used</a:t>
            </a:r>
          </a:p>
          <a:p>
            <a:pPr marL="0" indent="0">
              <a:buNone/>
            </a:pPr>
            <a:r>
              <a:rPr lang="en-US" sz="2000" dirty="0"/>
              <a:t>For example:</a:t>
            </a:r>
          </a:p>
          <a:p>
            <a:pPr marL="0" indent="0">
              <a:buNone/>
            </a:pPr>
            <a:r>
              <a:rPr lang="en-US" sz="2000" dirty="0"/>
              <a:t>    . A database needs data for its data</a:t>
            </a:r>
          </a:p>
          <a:p>
            <a:pPr marL="0" indent="0">
              <a:buNone/>
            </a:pPr>
            <a:r>
              <a:rPr lang="en-US" sz="2000" dirty="0"/>
              <a:t>    . An application needs a place to store logs</a:t>
            </a:r>
          </a:p>
          <a:p>
            <a:pPr marL="0" indent="0">
              <a:buNone/>
            </a:pPr>
            <a:r>
              <a:rPr lang="en-US" sz="2000" dirty="0"/>
              <a:t>    . A web server needs content to display</a:t>
            </a:r>
          </a:p>
          <a:p>
            <a:pPr marL="0" indent="0">
              <a:buNone/>
            </a:pPr>
            <a:endParaRPr lang="en-US" sz="2000" dirty="0"/>
          </a:p>
          <a:p>
            <a:pPr marL="0" indent="0">
              <a:buNone/>
            </a:pPr>
            <a:r>
              <a:rPr lang="en-US" sz="2000" dirty="0"/>
              <a:t>A Persistent Volume should be available as long as the application needs it.</a:t>
            </a:r>
          </a:p>
          <a:p>
            <a:pPr marL="0" indent="0">
              <a:buNone/>
            </a:pPr>
            <a:r>
              <a:rPr lang="en-US" sz="2000" dirty="0"/>
              <a:t>A Persistent Volume Claim is used by an application to reach out to the Persistent Volume.</a:t>
            </a:r>
          </a:p>
        </p:txBody>
      </p:sp>
    </p:spTree>
    <p:extLst>
      <p:ext uri="{BB962C8B-B14F-4D97-AF65-F5344CB8AC3E}">
        <p14:creationId xmlns:p14="http://schemas.microsoft.com/office/powerpoint/2010/main" val="390188678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9EC26-394D-3FEF-B861-8875DD2437EB}"/>
              </a:ext>
            </a:extLst>
          </p:cNvPr>
          <p:cNvSpPr>
            <a:spLocks noGrp="1"/>
          </p:cNvSpPr>
          <p:nvPr>
            <p:ph type="title"/>
          </p:nvPr>
        </p:nvSpPr>
        <p:spPr/>
        <p:txBody>
          <a:bodyPr/>
          <a:lstStyle/>
          <a:p>
            <a:r>
              <a:rPr lang="en-US" b="1" dirty="0"/>
              <a:t>Types of storage in k8s</a:t>
            </a:r>
          </a:p>
        </p:txBody>
      </p:sp>
      <p:sp>
        <p:nvSpPr>
          <p:cNvPr id="3" name="Content Placeholder 2">
            <a:extLst>
              <a:ext uri="{FF2B5EF4-FFF2-40B4-BE49-F238E27FC236}">
                <a16:creationId xmlns:a16="http://schemas.microsoft.com/office/drawing/2014/main" id="{72849DE4-D050-1CEE-78E8-47BE7CCFBA60}"/>
              </a:ext>
            </a:extLst>
          </p:cNvPr>
          <p:cNvSpPr>
            <a:spLocks noGrp="1"/>
          </p:cNvSpPr>
          <p:nvPr>
            <p:ph idx="1"/>
          </p:nvPr>
        </p:nvSpPr>
        <p:spPr/>
        <p:txBody>
          <a:bodyPr>
            <a:normAutofit/>
          </a:bodyPr>
          <a:lstStyle/>
          <a:p>
            <a:endParaRPr lang="en-US" sz="2400" dirty="0"/>
          </a:p>
          <a:p>
            <a:r>
              <a:rPr lang="en-US" sz="2400" b="1" dirty="0"/>
              <a:t>Ephemeral storage </a:t>
            </a:r>
            <a:r>
              <a:rPr lang="en-US" sz="2400" dirty="0"/>
              <a:t>is created and deleted along with the pod lifecycle, meaning data is lost when the pod is deleted or restarted.</a:t>
            </a:r>
          </a:p>
          <a:p>
            <a:endParaRPr lang="en-US" sz="2400" dirty="0"/>
          </a:p>
          <a:p>
            <a:r>
              <a:rPr lang="en-US" sz="2400" b="1" dirty="0"/>
              <a:t>Persistent storage </a:t>
            </a:r>
            <a:r>
              <a:rPr lang="en-US" sz="2400" dirty="0"/>
              <a:t>uses resources that remain available even after pods are deleted, ensuring data durability and application state preservation across restarts or redeployments.</a:t>
            </a:r>
          </a:p>
        </p:txBody>
      </p:sp>
    </p:spTree>
    <p:extLst>
      <p:ext uri="{BB962C8B-B14F-4D97-AF65-F5344CB8AC3E}">
        <p14:creationId xmlns:p14="http://schemas.microsoft.com/office/powerpoint/2010/main" val="282801935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CBA3-2598-453C-BDD7-47E5BB3DD65C}"/>
              </a:ext>
            </a:extLst>
          </p:cNvPr>
          <p:cNvSpPr>
            <a:spLocks noGrp="1"/>
          </p:cNvSpPr>
          <p:nvPr>
            <p:ph type="title"/>
          </p:nvPr>
        </p:nvSpPr>
        <p:spPr/>
        <p:txBody>
          <a:bodyPr>
            <a:normAutofit/>
          </a:bodyPr>
          <a:lstStyle/>
          <a:p>
            <a:r>
              <a:rPr lang="en-US" sz="3600" b="1" dirty="0"/>
              <a:t>Why Use Storage in Kubernetes?</a:t>
            </a:r>
          </a:p>
        </p:txBody>
      </p:sp>
      <p:sp>
        <p:nvSpPr>
          <p:cNvPr id="3" name="Content Placeholder 2">
            <a:extLst>
              <a:ext uri="{FF2B5EF4-FFF2-40B4-BE49-F238E27FC236}">
                <a16:creationId xmlns:a16="http://schemas.microsoft.com/office/drawing/2014/main" id="{9AF5AF66-8057-EB6F-3CC1-13772260CC83}"/>
              </a:ext>
            </a:extLst>
          </p:cNvPr>
          <p:cNvSpPr>
            <a:spLocks noGrp="1"/>
          </p:cNvSpPr>
          <p:nvPr>
            <p:ph idx="1"/>
          </p:nvPr>
        </p:nvSpPr>
        <p:spPr/>
        <p:txBody>
          <a:bodyPr/>
          <a:lstStyle/>
          <a:p>
            <a:endParaRPr lang="en-US" dirty="0"/>
          </a:p>
          <a:p>
            <a:endParaRPr lang="en-US" sz="2400" dirty="0"/>
          </a:p>
          <a:p>
            <a:r>
              <a:rPr lang="en-US" sz="2400" b="1" dirty="0"/>
              <a:t>Data persistence </a:t>
            </a:r>
            <a:r>
              <a:rPr lang="en-US" sz="2400" dirty="0"/>
              <a:t>for stateful applications (like databases).</a:t>
            </a:r>
          </a:p>
          <a:p>
            <a:endParaRPr lang="en-US" sz="2400" dirty="0"/>
          </a:p>
          <a:p>
            <a:r>
              <a:rPr lang="en-US" sz="2400" b="1" dirty="0"/>
              <a:t>Scalability</a:t>
            </a:r>
            <a:r>
              <a:rPr lang="en-US" sz="2400" dirty="0"/>
              <a:t> to handle growing data requirements.</a:t>
            </a:r>
          </a:p>
          <a:p>
            <a:endParaRPr lang="en-US" sz="2400" dirty="0"/>
          </a:p>
          <a:p>
            <a:r>
              <a:rPr lang="en-US" sz="2400" b="1" dirty="0"/>
              <a:t>Separation of concerns: </a:t>
            </a:r>
            <a:r>
              <a:rPr lang="en-US" sz="2400" dirty="0"/>
              <a:t>Developers use PVCs and don’t need to know the storage backend details.</a:t>
            </a:r>
          </a:p>
          <a:p>
            <a:endParaRPr lang="en-US" dirty="0"/>
          </a:p>
        </p:txBody>
      </p:sp>
    </p:spTree>
    <p:extLst>
      <p:ext uri="{BB962C8B-B14F-4D97-AF65-F5344CB8AC3E}">
        <p14:creationId xmlns:p14="http://schemas.microsoft.com/office/powerpoint/2010/main" val="379624004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73999-9CE5-655F-603C-E7C25D7B8E07}"/>
              </a:ext>
            </a:extLst>
          </p:cNvPr>
          <p:cNvSpPr>
            <a:spLocks noGrp="1"/>
          </p:cNvSpPr>
          <p:nvPr>
            <p:ph type="title"/>
          </p:nvPr>
        </p:nvSpPr>
        <p:spPr/>
        <p:txBody>
          <a:bodyPr/>
          <a:lstStyle/>
          <a:p>
            <a:r>
              <a:rPr lang="en-US" b="1" dirty="0"/>
              <a:t>Core storage concepts</a:t>
            </a:r>
          </a:p>
        </p:txBody>
      </p:sp>
      <p:sp>
        <p:nvSpPr>
          <p:cNvPr id="3" name="Content Placeholder 2">
            <a:extLst>
              <a:ext uri="{FF2B5EF4-FFF2-40B4-BE49-F238E27FC236}">
                <a16:creationId xmlns:a16="http://schemas.microsoft.com/office/drawing/2014/main" id="{99562F48-87BC-A1FB-845C-CAB28271DD81}"/>
              </a:ext>
            </a:extLst>
          </p:cNvPr>
          <p:cNvSpPr>
            <a:spLocks noGrp="1"/>
          </p:cNvSpPr>
          <p:nvPr>
            <p:ph idx="1"/>
          </p:nvPr>
        </p:nvSpPr>
        <p:spPr/>
        <p:txBody>
          <a:bodyPr>
            <a:normAutofit fontScale="70000" lnSpcReduction="20000"/>
          </a:bodyPr>
          <a:lstStyle/>
          <a:p>
            <a:endParaRPr lang="en-US" b="1" dirty="0"/>
          </a:p>
          <a:p>
            <a:r>
              <a:rPr lang="en-US" b="1" dirty="0"/>
              <a:t>Volumes: </a:t>
            </a:r>
            <a:r>
              <a:rPr lang="en-US" dirty="0"/>
              <a:t>The fundamental unit of storage in Kubernetes. Volumes can be using local disk, network attached storage (like NFS, iSCSI), or cloud storage backends. Volumes allow sharing data between containers in a pod.</a:t>
            </a:r>
          </a:p>
          <a:p>
            <a:endParaRPr lang="en-US" dirty="0"/>
          </a:p>
          <a:p>
            <a:r>
              <a:rPr lang="en-US" b="1" dirty="0"/>
              <a:t>Persistent Volumes (PV): </a:t>
            </a:r>
            <a:r>
              <a:rPr lang="en-US" dirty="0"/>
              <a:t>Cluster-wide storage resources abstracted from the specific implementation details (e.g., EBS, NFS). These are provisioned by admins or dynamically via Storage Classes.</a:t>
            </a:r>
          </a:p>
          <a:p>
            <a:endParaRPr lang="en-US" b="1" dirty="0"/>
          </a:p>
          <a:p>
            <a:r>
              <a:rPr lang="en-US" b="1" dirty="0"/>
              <a:t>Persistent Volume Claims (PVC): </a:t>
            </a:r>
            <a:r>
              <a:rPr lang="en-US" dirty="0"/>
              <a:t>Requests for storage made by users or applications, specifying the size, access mode, and storage class required. PVCs are bound to matching PVs.</a:t>
            </a:r>
          </a:p>
          <a:p>
            <a:endParaRPr lang="en-US" dirty="0"/>
          </a:p>
          <a:p>
            <a:r>
              <a:rPr lang="en-US" b="1" dirty="0"/>
              <a:t>Storage Classes:</a:t>
            </a:r>
            <a:r>
              <a:rPr lang="en-US" dirty="0"/>
              <a:t> Define classes or types of storage with different characteristics (e.g., SSD, HDD, high IOPS, backup policies) and enable dynamic provisioning of storage by Kubernetes.</a:t>
            </a:r>
          </a:p>
        </p:txBody>
      </p:sp>
    </p:spTree>
    <p:extLst>
      <p:ext uri="{BB962C8B-B14F-4D97-AF65-F5344CB8AC3E}">
        <p14:creationId xmlns:p14="http://schemas.microsoft.com/office/powerpoint/2010/main" val="393383978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Persistent Volume &amp; Persistent Volume Claim </a:t>
            </a:r>
          </a:p>
        </p:txBody>
      </p:sp>
      <p:sp>
        <p:nvSpPr>
          <p:cNvPr id="3" name="Content Placeholder 2"/>
          <p:cNvSpPr>
            <a:spLocks noGrp="1"/>
          </p:cNvSpPr>
          <p:nvPr>
            <p:ph sz="half" idx="1"/>
          </p:nvPr>
        </p:nvSpPr>
        <p:spPr>
          <a:xfrm>
            <a:off x="838199" y="1825625"/>
            <a:ext cx="5802745" cy="4351338"/>
          </a:xfrm>
        </p:spPr>
        <p:txBody>
          <a:bodyPr>
            <a:normAutofit/>
          </a:bodyPr>
          <a:lstStyle/>
          <a:p>
            <a:r>
              <a:rPr lang="en-US" sz="2400" dirty="0"/>
              <a:t>The persistent volume is storage that is ready to be used.</a:t>
            </a:r>
          </a:p>
          <a:p>
            <a:endParaRPr lang="en-US" sz="2400" dirty="0"/>
          </a:p>
          <a:p>
            <a:endParaRPr lang="en-US" sz="2400" dirty="0"/>
          </a:p>
          <a:p>
            <a:r>
              <a:rPr lang="en-US" sz="2400" dirty="0"/>
              <a:t>The persistent volume claim is how the storage is connected to the application. It is the hand that utilizes the storage.</a:t>
            </a:r>
          </a:p>
          <a:p>
            <a:pPr marL="0" indent="0">
              <a:buNone/>
            </a:pPr>
            <a:endParaRPr lang="en-US" dirty="0"/>
          </a:p>
        </p:txBody>
      </p:sp>
      <p:pic>
        <p:nvPicPr>
          <p:cNvPr id="5" name="Picture 4"/>
          <p:cNvPicPr>
            <a:picLocks noChangeAspect="1"/>
          </p:cNvPicPr>
          <p:nvPr/>
        </p:nvPicPr>
        <p:blipFill>
          <a:blip r:embed="rId2"/>
          <a:stretch>
            <a:fillRect/>
          </a:stretch>
        </p:blipFill>
        <p:spPr>
          <a:xfrm>
            <a:off x="7222835" y="1948872"/>
            <a:ext cx="4433454" cy="4265902"/>
          </a:xfrm>
          <a:prstGeom prst="rect">
            <a:avLst/>
          </a:prstGeom>
        </p:spPr>
      </p:pic>
    </p:spTree>
    <p:extLst>
      <p:ext uri="{BB962C8B-B14F-4D97-AF65-F5344CB8AC3E}">
        <p14:creationId xmlns:p14="http://schemas.microsoft.com/office/powerpoint/2010/main" val="146076802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CCD8E1B-887D-D9C1-F58C-D04487E32419}"/>
              </a:ext>
            </a:extLst>
          </p:cNvPr>
          <p:cNvSpPr>
            <a:spLocks noGrp="1"/>
          </p:cNvSpPr>
          <p:nvPr>
            <p:ph type="title"/>
          </p:nvPr>
        </p:nvSpPr>
        <p:spPr/>
        <p:txBody>
          <a:bodyPr/>
          <a:lstStyle/>
          <a:p>
            <a:r>
              <a:rPr lang="en-US" b="1" dirty="0"/>
              <a:t>Reclaim Policy </a:t>
            </a:r>
          </a:p>
        </p:txBody>
      </p:sp>
      <p:sp>
        <p:nvSpPr>
          <p:cNvPr id="6" name="Content Placeholder 5">
            <a:extLst>
              <a:ext uri="{FF2B5EF4-FFF2-40B4-BE49-F238E27FC236}">
                <a16:creationId xmlns:a16="http://schemas.microsoft.com/office/drawing/2014/main" id="{CCCD4D6B-0EF7-3EED-C47E-582F40AC3F61}"/>
              </a:ext>
            </a:extLst>
          </p:cNvPr>
          <p:cNvSpPr>
            <a:spLocks noGrp="1"/>
          </p:cNvSpPr>
          <p:nvPr>
            <p:ph idx="1"/>
          </p:nvPr>
        </p:nvSpPr>
        <p:spPr/>
        <p:txBody>
          <a:bodyPr>
            <a:normAutofit/>
          </a:bodyPr>
          <a:lstStyle/>
          <a:p>
            <a:pPr marL="0" indent="0">
              <a:buNone/>
            </a:pPr>
            <a:endParaRPr lang="en-US" sz="2000" b="1" dirty="0"/>
          </a:p>
          <a:p>
            <a:pPr marL="0" indent="0">
              <a:buNone/>
            </a:pPr>
            <a:r>
              <a:rPr lang="en-US" sz="2000" b="1" dirty="0"/>
              <a:t>In Kubernetes, the reclaim Policy of a Persistent Volume (PV) defines what happens to the volume after its Persistent </a:t>
            </a:r>
            <a:r>
              <a:rPr lang="en-US" sz="2000" b="1" dirty="0" err="1"/>
              <a:t>VolumeClaim</a:t>
            </a:r>
            <a:r>
              <a:rPr lang="en-US" sz="2000" b="1" dirty="0"/>
              <a:t> (PVC) is deleted:</a:t>
            </a:r>
          </a:p>
          <a:p>
            <a:endParaRPr lang="en-US" sz="2000" b="1" dirty="0"/>
          </a:p>
          <a:p>
            <a:r>
              <a:rPr lang="en-US" sz="2000" b="1" dirty="0"/>
              <a:t>Retain: </a:t>
            </a:r>
            <a:r>
              <a:rPr lang="en-US" sz="2000" dirty="0"/>
              <a:t>The volume is not deleted and remains in the cluster in a "Released" state. The data on the volume is preserved, and manual intervention is needed to clean up and reuse the volume. This policy is useful when data recovery or backup is critical.</a:t>
            </a:r>
          </a:p>
          <a:p>
            <a:endParaRPr lang="en-US" sz="2000" dirty="0"/>
          </a:p>
          <a:p>
            <a:r>
              <a:rPr lang="en-US" sz="2000" b="1" dirty="0"/>
              <a:t>Delete: </a:t>
            </a:r>
            <a:r>
              <a:rPr lang="en-US" sz="2000" dirty="0"/>
              <a:t>The volume and its associated storage asset are automatically deleted when the PVC is deleted. This is the default policy for dynamically provisioned volumes and is useful when automatic cleanup is desired to avoid orphaned volumes.</a:t>
            </a:r>
          </a:p>
        </p:txBody>
      </p:sp>
    </p:spTree>
    <p:extLst>
      <p:ext uri="{BB962C8B-B14F-4D97-AF65-F5344CB8AC3E}">
        <p14:creationId xmlns:p14="http://schemas.microsoft.com/office/powerpoint/2010/main" val="110557544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83E3-5142-7BA1-EE9D-F0CD86A26E93}"/>
              </a:ext>
            </a:extLst>
          </p:cNvPr>
          <p:cNvSpPr>
            <a:spLocks noGrp="1"/>
          </p:cNvSpPr>
          <p:nvPr>
            <p:ph type="title"/>
          </p:nvPr>
        </p:nvSpPr>
        <p:spPr/>
        <p:txBody>
          <a:bodyPr>
            <a:normAutofit/>
          </a:bodyPr>
          <a:lstStyle/>
          <a:p>
            <a:r>
              <a:rPr lang="en-US" sz="3600" b="1" dirty="0"/>
              <a:t>Access Modes</a:t>
            </a:r>
          </a:p>
        </p:txBody>
      </p:sp>
      <p:sp>
        <p:nvSpPr>
          <p:cNvPr id="3" name="Content Placeholder 2">
            <a:extLst>
              <a:ext uri="{FF2B5EF4-FFF2-40B4-BE49-F238E27FC236}">
                <a16:creationId xmlns:a16="http://schemas.microsoft.com/office/drawing/2014/main" id="{23DFD16A-A8C6-3BBA-C902-7C316C6AC65F}"/>
              </a:ext>
            </a:extLst>
          </p:cNvPr>
          <p:cNvSpPr>
            <a:spLocks noGrp="1"/>
          </p:cNvSpPr>
          <p:nvPr>
            <p:ph idx="1"/>
          </p:nvPr>
        </p:nvSpPr>
        <p:spPr/>
        <p:txBody>
          <a:bodyPr>
            <a:normAutofit fontScale="92500" lnSpcReduction="20000"/>
          </a:bodyPr>
          <a:lstStyle/>
          <a:p>
            <a:endParaRPr lang="en-US" sz="2000" b="1" dirty="0"/>
          </a:p>
          <a:p>
            <a:r>
              <a:rPr lang="en-US" sz="2000" b="1" dirty="0"/>
              <a:t>ReadWriteOnce (RWO): </a:t>
            </a:r>
            <a:r>
              <a:rPr lang="en-US" sz="2000" dirty="0"/>
              <a:t>The volume can be mounted as read-write by a single node. Multiple pods on the same node can access it, but only one node at a time. This mode is ideal for most stateful applications like databases requiring exclusive write access to maintain data integrity.</a:t>
            </a:r>
          </a:p>
          <a:p>
            <a:endParaRPr lang="en-US" sz="2000" dirty="0"/>
          </a:p>
          <a:p>
            <a:r>
              <a:rPr lang="en-US" sz="2000" b="1" dirty="0"/>
              <a:t>ReadOnlyMany (ROX): </a:t>
            </a:r>
            <a:r>
              <a:rPr lang="en-US" sz="2000" dirty="0"/>
              <a:t>The volume can be mounted as read-only by many nodes simultaneously. This suits use cases where multiple pods need to read the same data but never write, such as shared configuration files or static content.</a:t>
            </a:r>
          </a:p>
          <a:p>
            <a:endParaRPr lang="en-US" sz="2000" dirty="0"/>
          </a:p>
          <a:p>
            <a:r>
              <a:rPr lang="en-US" sz="2000" b="1" dirty="0"/>
              <a:t>ReadWriteMany (RWX): </a:t>
            </a:r>
            <a:r>
              <a:rPr lang="en-US" sz="2000" dirty="0"/>
              <a:t>The volume can be mounted as read-write by many nodes simultaneously. This is used for shared writable storage needs, but it requires storage backends that support concurrent access like NFS or certain cloud file systems.</a:t>
            </a:r>
          </a:p>
          <a:p>
            <a:endParaRPr lang="en-US" sz="2000" dirty="0"/>
          </a:p>
          <a:p>
            <a:r>
              <a:rPr lang="en-US" sz="2000" b="1" dirty="0"/>
              <a:t>ReadWriteOncePod (RWOP): </a:t>
            </a:r>
            <a:r>
              <a:rPr lang="en-US" sz="2000" dirty="0"/>
              <a:t>(Stable since Kubernetes v1.29) The volume can be mounted as read-write by a single pod, ensuring exclusive write access at the pod level across the cluster.</a:t>
            </a:r>
          </a:p>
        </p:txBody>
      </p:sp>
    </p:spTree>
    <p:extLst>
      <p:ext uri="{BB962C8B-B14F-4D97-AF65-F5344CB8AC3E}">
        <p14:creationId xmlns:p14="http://schemas.microsoft.com/office/powerpoint/2010/main" val="298054705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Storage Classes</a:t>
            </a:r>
          </a:p>
        </p:txBody>
      </p:sp>
      <p:sp>
        <p:nvSpPr>
          <p:cNvPr id="3" name="Content Placeholder 2"/>
          <p:cNvSpPr>
            <a:spLocks noGrp="1"/>
          </p:cNvSpPr>
          <p:nvPr>
            <p:ph sz="half" idx="1"/>
          </p:nvPr>
        </p:nvSpPr>
        <p:spPr>
          <a:xfrm>
            <a:off x="838200" y="1825625"/>
            <a:ext cx="10337800" cy="4351338"/>
          </a:xfrm>
        </p:spPr>
        <p:txBody>
          <a:bodyPr>
            <a:normAutofit fontScale="92500" lnSpcReduction="20000"/>
          </a:bodyPr>
          <a:lstStyle/>
          <a:p>
            <a:endParaRPr lang="en-US" sz="2400" dirty="0"/>
          </a:p>
          <a:p>
            <a:r>
              <a:rPr lang="en-US" sz="2000" dirty="0"/>
              <a:t>A Storage Class in Kubernetes is a way for administrators to define different types or "classes" of storage that are offered in a cluster.</a:t>
            </a:r>
          </a:p>
          <a:p>
            <a:endParaRPr lang="en-US" sz="2000" dirty="0"/>
          </a:p>
          <a:p>
            <a:r>
              <a:rPr lang="en-US" sz="2000" dirty="0"/>
              <a:t>Storage Classes enable users to request a specific type of storage in their Persistent Volume Claims (PVCs) without manually creating volumes. </a:t>
            </a:r>
          </a:p>
          <a:p>
            <a:endParaRPr lang="en-US" sz="2000" dirty="0"/>
          </a:p>
          <a:p>
            <a:r>
              <a:rPr lang="en-US" sz="2000" dirty="0"/>
              <a:t>They also allow cluster admins to configure multiple classes for different use cases, such as standard storage for general workloads or high-performance storage for latency-sensitive applications. </a:t>
            </a:r>
          </a:p>
          <a:p>
            <a:endParaRPr lang="en-US" sz="2000" dirty="0"/>
          </a:p>
          <a:p>
            <a:r>
              <a:rPr lang="en-US" sz="2000" dirty="0"/>
              <a:t>There can be a default StorageClass applied if no specific class is requested by the user.</a:t>
            </a:r>
          </a:p>
          <a:p>
            <a:endParaRPr lang="en-US" sz="2000" dirty="0"/>
          </a:p>
          <a:p>
            <a:r>
              <a:rPr lang="en-US" sz="2000" dirty="0"/>
              <a:t>StorageClasses provide storage resource management and dynamic provisioning capabilities in Kubernetes, enhancing flexibility, automation, and efficiency of storage allocation in the cluster.</a:t>
            </a:r>
          </a:p>
        </p:txBody>
      </p:sp>
    </p:spTree>
    <p:extLst>
      <p:ext uri="{BB962C8B-B14F-4D97-AF65-F5344CB8AC3E}">
        <p14:creationId xmlns:p14="http://schemas.microsoft.com/office/powerpoint/2010/main" val="40545787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C2FC0C-59B4-E0AF-FB9B-31FFD24EA77C}"/>
              </a:ext>
            </a:extLst>
          </p:cNvPr>
          <p:cNvSpPr>
            <a:spLocks noGrp="1"/>
          </p:cNvSpPr>
          <p:nvPr>
            <p:ph type="title"/>
          </p:nvPr>
        </p:nvSpPr>
        <p:spPr/>
        <p:txBody>
          <a:bodyPr>
            <a:normAutofit/>
          </a:bodyPr>
          <a:lstStyle/>
          <a:p>
            <a:r>
              <a:rPr lang="en-US" sz="3200" b="1" dirty="0"/>
              <a:t>When to Use a Storage Class (Dynamic Provisioning)</a:t>
            </a:r>
          </a:p>
        </p:txBody>
      </p:sp>
      <p:sp>
        <p:nvSpPr>
          <p:cNvPr id="6" name="Content Placeholder 5">
            <a:extLst>
              <a:ext uri="{FF2B5EF4-FFF2-40B4-BE49-F238E27FC236}">
                <a16:creationId xmlns:a16="http://schemas.microsoft.com/office/drawing/2014/main" id="{11209B7C-999B-C3D4-5E7B-0E4AFDA81E7C}"/>
              </a:ext>
            </a:extLst>
          </p:cNvPr>
          <p:cNvSpPr>
            <a:spLocks noGrp="1"/>
          </p:cNvSpPr>
          <p:nvPr>
            <p:ph idx="1"/>
          </p:nvPr>
        </p:nvSpPr>
        <p:spPr>
          <a:xfrm>
            <a:off x="838200" y="1825624"/>
            <a:ext cx="10515600" cy="4853471"/>
          </a:xfrm>
        </p:spPr>
        <p:txBody>
          <a:bodyPr>
            <a:noAutofit/>
          </a:bodyPr>
          <a:lstStyle/>
          <a:p>
            <a:endParaRPr lang="en-US" sz="2000" dirty="0"/>
          </a:p>
          <a:p>
            <a:r>
              <a:rPr lang="en-US" sz="2000" dirty="0"/>
              <a:t>Applications require different performance, size, or backend types of storage that change over time.</a:t>
            </a:r>
          </a:p>
          <a:p>
            <a:pPr marL="0" indent="0">
              <a:buNone/>
            </a:pPr>
            <a:endParaRPr lang="en-US" sz="2000" dirty="0"/>
          </a:p>
          <a:p>
            <a:r>
              <a:rPr lang="en-US" sz="2000" dirty="0"/>
              <a:t>Clusters running in the cloud, or when automated, on-demand volume creation is needed.</a:t>
            </a:r>
          </a:p>
          <a:p>
            <a:endParaRPr lang="en-US" sz="2000" dirty="0"/>
          </a:p>
          <a:p>
            <a:r>
              <a:rPr lang="en-US" sz="2000" dirty="0"/>
              <a:t>Environments where administrators prefer not to manage storage resources manually.</a:t>
            </a:r>
          </a:p>
          <a:p>
            <a:endParaRPr lang="en-US" sz="2000" dirty="0"/>
          </a:p>
          <a:p>
            <a:r>
              <a:rPr lang="en-US" sz="2000" dirty="0"/>
              <a:t>Scalability and efficiency are priorities, especially for environments expecting frequent pod or PVC churn.</a:t>
            </a:r>
          </a:p>
        </p:txBody>
      </p:sp>
    </p:spTree>
    <p:extLst>
      <p:ext uri="{BB962C8B-B14F-4D97-AF65-F5344CB8AC3E}">
        <p14:creationId xmlns:p14="http://schemas.microsoft.com/office/powerpoint/2010/main" val="100112450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FDB8D-9633-F77B-1AF9-5CCD510FCFD9}"/>
              </a:ext>
            </a:extLst>
          </p:cNvPr>
          <p:cNvSpPr>
            <a:spLocks noGrp="1"/>
          </p:cNvSpPr>
          <p:nvPr>
            <p:ph type="title"/>
          </p:nvPr>
        </p:nvSpPr>
        <p:spPr/>
        <p:txBody>
          <a:bodyPr>
            <a:normAutofit/>
          </a:bodyPr>
          <a:lstStyle/>
          <a:p>
            <a:r>
              <a:rPr lang="en-US" sz="3600" b="1" dirty="0"/>
              <a:t>When to Use Static PV Provisioning</a:t>
            </a:r>
          </a:p>
        </p:txBody>
      </p:sp>
      <p:sp>
        <p:nvSpPr>
          <p:cNvPr id="3" name="Content Placeholder 2">
            <a:extLst>
              <a:ext uri="{FF2B5EF4-FFF2-40B4-BE49-F238E27FC236}">
                <a16:creationId xmlns:a16="http://schemas.microsoft.com/office/drawing/2014/main" id="{5697B28B-1CF9-5118-8341-8EA73C1E8C74}"/>
              </a:ext>
            </a:extLst>
          </p:cNvPr>
          <p:cNvSpPr>
            <a:spLocks noGrp="1"/>
          </p:cNvSpPr>
          <p:nvPr>
            <p:ph idx="1"/>
          </p:nvPr>
        </p:nvSpPr>
        <p:spPr/>
        <p:txBody>
          <a:bodyPr>
            <a:normAutofit/>
          </a:bodyPr>
          <a:lstStyle/>
          <a:p>
            <a:endParaRPr lang="en-US" sz="2000" dirty="0"/>
          </a:p>
          <a:p>
            <a:r>
              <a:rPr lang="en-US" sz="2000" dirty="0"/>
              <a:t>The underlying storage device must be set up, formatted, or initialized in a specific way before use.</a:t>
            </a:r>
          </a:p>
          <a:p>
            <a:endParaRPr lang="en-US" sz="2000" dirty="0"/>
          </a:p>
          <a:p>
            <a:r>
              <a:rPr lang="en-US" sz="2000" dirty="0"/>
              <a:t>Storage resources are tightly controlled, must be shared between multiple clusters, or managed outside of Kubernetes.</a:t>
            </a:r>
          </a:p>
          <a:p>
            <a:endParaRPr lang="en-US" sz="2000" dirty="0"/>
          </a:p>
          <a:p>
            <a:r>
              <a:rPr lang="en-US" sz="2000" dirty="0"/>
              <a:t>Security, compliance, or legacy reasons require manual intervention and storage lifecycle tracking.</a:t>
            </a:r>
          </a:p>
          <a:p>
            <a:endParaRPr lang="en-US" sz="2000" dirty="0"/>
          </a:p>
          <a:p>
            <a:r>
              <a:rPr lang="en-US" sz="2000" dirty="0"/>
              <a:t>Use cases where workload needs to attach to precisely pre-allocated storage.</a:t>
            </a:r>
          </a:p>
        </p:txBody>
      </p:sp>
    </p:spTree>
    <p:extLst>
      <p:ext uri="{BB962C8B-B14F-4D97-AF65-F5344CB8AC3E}">
        <p14:creationId xmlns:p14="http://schemas.microsoft.com/office/powerpoint/2010/main" val="216619701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507986" y="1367281"/>
            <a:ext cx="3166533" cy="4668520"/>
            <a:chOff x="5630989" y="1025461"/>
            <a:chExt cx="2374900" cy="3501390"/>
          </a:xfrm>
        </p:grpSpPr>
        <p:sp>
          <p:nvSpPr>
            <p:cNvPr id="3" name="object 3"/>
            <p:cNvSpPr/>
            <p:nvPr/>
          </p:nvSpPr>
          <p:spPr>
            <a:xfrm>
              <a:off x="5913120" y="1086612"/>
              <a:ext cx="1844039" cy="1844039"/>
            </a:xfrm>
            <a:custGeom>
              <a:avLst/>
              <a:gdLst/>
              <a:ahLst/>
              <a:cxnLst/>
              <a:rect l="l" t="t" r="r" b="b"/>
              <a:pathLst>
                <a:path w="1844040" h="1844039">
                  <a:moveTo>
                    <a:pt x="922020" y="0"/>
                  </a:moveTo>
                  <a:lnTo>
                    <a:pt x="874568" y="1199"/>
                  </a:lnTo>
                  <a:lnTo>
                    <a:pt x="827740" y="4759"/>
                  </a:lnTo>
                  <a:lnTo>
                    <a:pt x="781593" y="10622"/>
                  </a:lnTo>
                  <a:lnTo>
                    <a:pt x="736185" y="18730"/>
                  </a:lnTo>
                  <a:lnTo>
                    <a:pt x="691575" y="29024"/>
                  </a:lnTo>
                  <a:lnTo>
                    <a:pt x="647819" y="41447"/>
                  </a:lnTo>
                  <a:lnTo>
                    <a:pt x="604977" y="55942"/>
                  </a:lnTo>
                  <a:lnTo>
                    <a:pt x="563106" y="72449"/>
                  </a:lnTo>
                  <a:lnTo>
                    <a:pt x="522263" y="90912"/>
                  </a:lnTo>
                  <a:lnTo>
                    <a:pt x="482507" y="111272"/>
                  </a:lnTo>
                  <a:lnTo>
                    <a:pt x="443895" y="133471"/>
                  </a:lnTo>
                  <a:lnTo>
                    <a:pt x="406486" y="157452"/>
                  </a:lnTo>
                  <a:lnTo>
                    <a:pt x="370338" y="183157"/>
                  </a:lnTo>
                  <a:lnTo>
                    <a:pt x="335507" y="210527"/>
                  </a:lnTo>
                  <a:lnTo>
                    <a:pt x="302053" y="239505"/>
                  </a:lnTo>
                  <a:lnTo>
                    <a:pt x="270033" y="270033"/>
                  </a:lnTo>
                  <a:lnTo>
                    <a:pt x="239505" y="302053"/>
                  </a:lnTo>
                  <a:lnTo>
                    <a:pt x="210527" y="335507"/>
                  </a:lnTo>
                  <a:lnTo>
                    <a:pt x="183157" y="370338"/>
                  </a:lnTo>
                  <a:lnTo>
                    <a:pt x="157452" y="406486"/>
                  </a:lnTo>
                  <a:lnTo>
                    <a:pt x="133471" y="443895"/>
                  </a:lnTo>
                  <a:lnTo>
                    <a:pt x="111272" y="482507"/>
                  </a:lnTo>
                  <a:lnTo>
                    <a:pt x="90912" y="522263"/>
                  </a:lnTo>
                  <a:lnTo>
                    <a:pt x="72449" y="563106"/>
                  </a:lnTo>
                  <a:lnTo>
                    <a:pt x="55942" y="604977"/>
                  </a:lnTo>
                  <a:lnTo>
                    <a:pt x="41447" y="647819"/>
                  </a:lnTo>
                  <a:lnTo>
                    <a:pt x="29024" y="691575"/>
                  </a:lnTo>
                  <a:lnTo>
                    <a:pt x="18730" y="736185"/>
                  </a:lnTo>
                  <a:lnTo>
                    <a:pt x="10622" y="781593"/>
                  </a:lnTo>
                  <a:lnTo>
                    <a:pt x="4759" y="827740"/>
                  </a:lnTo>
                  <a:lnTo>
                    <a:pt x="1199" y="874568"/>
                  </a:lnTo>
                  <a:lnTo>
                    <a:pt x="0" y="922019"/>
                  </a:lnTo>
                  <a:lnTo>
                    <a:pt x="1199" y="969471"/>
                  </a:lnTo>
                  <a:lnTo>
                    <a:pt x="4759" y="1016299"/>
                  </a:lnTo>
                  <a:lnTo>
                    <a:pt x="10622" y="1062446"/>
                  </a:lnTo>
                  <a:lnTo>
                    <a:pt x="18730" y="1107854"/>
                  </a:lnTo>
                  <a:lnTo>
                    <a:pt x="29024" y="1152464"/>
                  </a:lnTo>
                  <a:lnTo>
                    <a:pt x="41447" y="1196220"/>
                  </a:lnTo>
                  <a:lnTo>
                    <a:pt x="55942" y="1239062"/>
                  </a:lnTo>
                  <a:lnTo>
                    <a:pt x="72449" y="1280933"/>
                  </a:lnTo>
                  <a:lnTo>
                    <a:pt x="90912" y="1321776"/>
                  </a:lnTo>
                  <a:lnTo>
                    <a:pt x="111272" y="1361532"/>
                  </a:lnTo>
                  <a:lnTo>
                    <a:pt x="133471" y="1400144"/>
                  </a:lnTo>
                  <a:lnTo>
                    <a:pt x="157452" y="1437553"/>
                  </a:lnTo>
                  <a:lnTo>
                    <a:pt x="183157" y="1473701"/>
                  </a:lnTo>
                  <a:lnTo>
                    <a:pt x="210527" y="1508532"/>
                  </a:lnTo>
                  <a:lnTo>
                    <a:pt x="239505" y="1541986"/>
                  </a:lnTo>
                  <a:lnTo>
                    <a:pt x="270033" y="1574006"/>
                  </a:lnTo>
                  <a:lnTo>
                    <a:pt x="302053" y="1604534"/>
                  </a:lnTo>
                  <a:lnTo>
                    <a:pt x="335507" y="1633512"/>
                  </a:lnTo>
                  <a:lnTo>
                    <a:pt x="370338" y="1660882"/>
                  </a:lnTo>
                  <a:lnTo>
                    <a:pt x="406486" y="1686587"/>
                  </a:lnTo>
                  <a:lnTo>
                    <a:pt x="443895" y="1710568"/>
                  </a:lnTo>
                  <a:lnTo>
                    <a:pt x="482507" y="1732767"/>
                  </a:lnTo>
                  <a:lnTo>
                    <a:pt x="522263" y="1753127"/>
                  </a:lnTo>
                  <a:lnTo>
                    <a:pt x="563106" y="1771590"/>
                  </a:lnTo>
                  <a:lnTo>
                    <a:pt x="604977" y="1788097"/>
                  </a:lnTo>
                  <a:lnTo>
                    <a:pt x="647819" y="1802592"/>
                  </a:lnTo>
                  <a:lnTo>
                    <a:pt x="691575" y="1815015"/>
                  </a:lnTo>
                  <a:lnTo>
                    <a:pt x="736185" y="1825309"/>
                  </a:lnTo>
                  <a:lnTo>
                    <a:pt x="781593" y="1833417"/>
                  </a:lnTo>
                  <a:lnTo>
                    <a:pt x="827740" y="1839280"/>
                  </a:lnTo>
                  <a:lnTo>
                    <a:pt x="874568" y="1842840"/>
                  </a:lnTo>
                  <a:lnTo>
                    <a:pt x="922020" y="1844039"/>
                  </a:lnTo>
                  <a:lnTo>
                    <a:pt x="969471" y="1842840"/>
                  </a:lnTo>
                  <a:lnTo>
                    <a:pt x="1016299" y="1839280"/>
                  </a:lnTo>
                  <a:lnTo>
                    <a:pt x="1062446" y="1833417"/>
                  </a:lnTo>
                  <a:lnTo>
                    <a:pt x="1107854" y="1825309"/>
                  </a:lnTo>
                  <a:lnTo>
                    <a:pt x="1152464" y="1815015"/>
                  </a:lnTo>
                  <a:lnTo>
                    <a:pt x="1196220" y="1802592"/>
                  </a:lnTo>
                  <a:lnTo>
                    <a:pt x="1239062" y="1788097"/>
                  </a:lnTo>
                  <a:lnTo>
                    <a:pt x="1280933" y="1771590"/>
                  </a:lnTo>
                  <a:lnTo>
                    <a:pt x="1321776" y="1753127"/>
                  </a:lnTo>
                  <a:lnTo>
                    <a:pt x="1361532" y="1732767"/>
                  </a:lnTo>
                  <a:lnTo>
                    <a:pt x="1400144" y="1710568"/>
                  </a:lnTo>
                  <a:lnTo>
                    <a:pt x="1437553" y="1686587"/>
                  </a:lnTo>
                  <a:lnTo>
                    <a:pt x="1473701" y="1660882"/>
                  </a:lnTo>
                  <a:lnTo>
                    <a:pt x="1508532" y="1633512"/>
                  </a:lnTo>
                  <a:lnTo>
                    <a:pt x="1541986" y="1604534"/>
                  </a:lnTo>
                  <a:lnTo>
                    <a:pt x="1574006" y="1574006"/>
                  </a:lnTo>
                  <a:lnTo>
                    <a:pt x="1604534" y="1541986"/>
                  </a:lnTo>
                  <a:lnTo>
                    <a:pt x="1633512" y="1508532"/>
                  </a:lnTo>
                  <a:lnTo>
                    <a:pt x="1660882" y="1473701"/>
                  </a:lnTo>
                  <a:lnTo>
                    <a:pt x="1686587" y="1437553"/>
                  </a:lnTo>
                  <a:lnTo>
                    <a:pt x="1710568" y="1400144"/>
                  </a:lnTo>
                  <a:lnTo>
                    <a:pt x="1732767" y="1361532"/>
                  </a:lnTo>
                  <a:lnTo>
                    <a:pt x="1753127" y="1321776"/>
                  </a:lnTo>
                  <a:lnTo>
                    <a:pt x="1771590" y="1280933"/>
                  </a:lnTo>
                  <a:lnTo>
                    <a:pt x="1788097" y="1239062"/>
                  </a:lnTo>
                  <a:lnTo>
                    <a:pt x="1802592" y="1196220"/>
                  </a:lnTo>
                  <a:lnTo>
                    <a:pt x="1815015" y="1152464"/>
                  </a:lnTo>
                  <a:lnTo>
                    <a:pt x="1825309" y="1107854"/>
                  </a:lnTo>
                  <a:lnTo>
                    <a:pt x="1833417" y="1062446"/>
                  </a:lnTo>
                  <a:lnTo>
                    <a:pt x="1839280" y="1016299"/>
                  </a:lnTo>
                  <a:lnTo>
                    <a:pt x="1842840" y="969471"/>
                  </a:lnTo>
                  <a:lnTo>
                    <a:pt x="1844039" y="922019"/>
                  </a:lnTo>
                  <a:lnTo>
                    <a:pt x="1842840" y="874568"/>
                  </a:lnTo>
                  <a:lnTo>
                    <a:pt x="1839280" y="827740"/>
                  </a:lnTo>
                  <a:lnTo>
                    <a:pt x="1833417" y="781593"/>
                  </a:lnTo>
                  <a:lnTo>
                    <a:pt x="1825309" y="736185"/>
                  </a:lnTo>
                  <a:lnTo>
                    <a:pt x="1815015" y="691575"/>
                  </a:lnTo>
                  <a:lnTo>
                    <a:pt x="1802592" y="647819"/>
                  </a:lnTo>
                  <a:lnTo>
                    <a:pt x="1788097" y="604977"/>
                  </a:lnTo>
                  <a:lnTo>
                    <a:pt x="1771590" y="563106"/>
                  </a:lnTo>
                  <a:lnTo>
                    <a:pt x="1753127" y="522263"/>
                  </a:lnTo>
                  <a:lnTo>
                    <a:pt x="1732767" y="482507"/>
                  </a:lnTo>
                  <a:lnTo>
                    <a:pt x="1710568" y="443895"/>
                  </a:lnTo>
                  <a:lnTo>
                    <a:pt x="1686587" y="406486"/>
                  </a:lnTo>
                  <a:lnTo>
                    <a:pt x="1660882" y="370338"/>
                  </a:lnTo>
                  <a:lnTo>
                    <a:pt x="1633512" y="335507"/>
                  </a:lnTo>
                  <a:lnTo>
                    <a:pt x="1604534" y="302053"/>
                  </a:lnTo>
                  <a:lnTo>
                    <a:pt x="1574006" y="270033"/>
                  </a:lnTo>
                  <a:lnTo>
                    <a:pt x="1541986" y="239505"/>
                  </a:lnTo>
                  <a:lnTo>
                    <a:pt x="1508532" y="210527"/>
                  </a:lnTo>
                  <a:lnTo>
                    <a:pt x="1473701" y="183157"/>
                  </a:lnTo>
                  <a:lnTo>
                    <a:pt x="1437553" y="157452"/>
                  </a:lnTo>
                  <a:lnTo>
                    <a:pt x="1400144" y="133471"/>
                  </a:lnTo>
                  <a:lnTo>
                    <a:pt x="1361532" y="111272"/>
                  </a:lnTo>
                  <a:lnTo>
                    <a:pt x="1321776" y="90912"/>
                  </a:lnTo>
                  <a:lnTo>
                    <a:pt x="1280933" y="72449"/>
                  </a:lnTo>
                  <a:lnTo>
                    <a:pt x="1239062" y="55942"/>
                  </a:lnTo>
                  <a:lnTo>
                    <a:pt x="1196220" y="41447"/>
                  </a:lnTo>
                  <a:lnTo>
                    <a:pt x="1152464" y="29024"/>
                  </a:lnTo>
                  <a:lnTo>
                    <a:pt x="1107854" y="18730"/>
                  </a:lnTo>
                  <a:lnTo>
                    <a:pt x="1062446" y="10622"/>
                  </a:lnTo>
                  <a:lnTo>
                    <a:pt x="1016299" y="4759"/>
                  </a:lnTo>
                  <a:lnTo>
                    <a:pt x="969471" y="1199"/>
                  </a:lnTo>
                  <a:lnTo>
                    <a:pt x="922020" y="0"/>
                  </a:lnTo>
                  <a:close/>
                </a:path>
              </a:pathLst>
            </a:custGeom>
            <a:solidFill>
              <a:srgbClr val="483390"/>
            </a:solidFill>
          </p:spPr>
          <p:txBody>
            <a:bodyPr wrap="square" lIns="0" tIns="0" rIns="0" bIns="0" rtlCol="0"/>
            <a:lstStyle/>
            <a:p>
              <a:endParaRPr sz="2400"/>
            </a:p>
          </p:txBody>
        </p:sp>
        <p:sp>
          <p:nvSpPr>
            <p:cNvPr id="4" name="object 4"/>
            <p:cNvSpPr/>
            <p:nvPr/>
          </p:nvSpPr>
          <p:spPr>
            <a:xfrm>
              <a:off x="5913120" y="1086612"/>
              <a:ext cx="1844039" cy="1844039"/>
            </a:xfrm>
            <a:custGeom>
              <a:avLst/>
              <a:gdLst/>
              <a:ahLst/>
              <a:cxnLst/>
              <a:rect l="l" t="t" r="r" b="b"/>
              <a:pathLst>
                <a:path w="1844040" h="1844039">
                  <a:moveTo>
                    <a:pt x="0" y="922019"/>
                  </a:moveTo>
                  <a:lnTo>
                    <a:pt x="1199" y="874568"/>
                  </a:lnTo>
                  <a:lnTo>
                    <a:pt x="4759" y="827740"/>
                  </a:lnTo>
                  <a:lnTo>
                    <a:pt x="10622" y="781593"/>
                  </a:lnTo>
                  <a:lnTo>
                    <a:pt x="18730" y="736185"/>
                  </a:lnTo>
                  <a:lnTo>
                    <a:pt x="29024" y="691575"/>
                  </a:lnTo>
                  <a:lnTo>
                    <a:pt x="41447" y="647819"/>
                  </a:lnTo>
                  <a:lnTo>
                    <a:pt x="55942" y="604977"/>
                  </a:lnTo>
                  <a:lnTo>
                    <a:pt x="72449" y="563106"/>
                  </a:lnTo>
                  <a:lnTo>
                    <a:pt x="90912" y="522263"/>
                  </a:lnTo>
                  <a:lnTo>
                    <a:pt x="111272" y="482507"/>
                  </a:lnTo>
                  <a:lnTo>
                    <a:pt x="133471" y="443895"/>
                  </a:lnTo>
                  <a:lnTo>
                    <a:pt x="157452" y="406486"/>
                  </a:lnTo>
                  <a:lnTo>
                    <a:pt x="183157" y="370338"/>
                  </a:lnTo>
                  <a:lnTo>
                    <a:pt x="210527" y="335507"/>
                  </a:lnTo>
                  <a:lnTo>
                    <a:pt x="239505" y="302053"/>
                  </a:lnTo>
                  <a:lnTo>
                    <a:pt x="270033" y="270033"/>
                  </a:lnTo>
                  <a:lnTo>
                    <a:pt x="302053" y="239505"/>
                  </a:lnTo>
                  <a:lnTo>
                    <a:pt x="335507" y="210527"/>
                  </a:lnTo>
                  <a:lnTo>
                    <a:pt x="370338" y="183157"/>
                  </a:lnTo>
                  <a:lnTo>
                    <a:pt x="406486" y="157452"/>
                  </a:lnTo>
                  <a:lnTo>
                    <a:pt x="443895" y="133471"/>
                  </a:lnTo>
                  <a:lnTo>
                    <a:pt x="482507" y="111272"/>
                  </a:lnTo>
                  <a:lnTo>
                    <a:pt x="522263" y="90912"/>
                  </a:lnTo>
                  <a:lnTo>
                    <a:pt x="563106" y="72449"/>
                  </a:lnTo>
                  <a:lnTo>
                    <a:pt x="604977" y="55942"/>
                  </a:lnTo>
                  <a:lnTo>
                    <a:pt x="647819" y="41447"/>
                  </a:lnTo>
                  <a:lnTo>
                    <a:pt x="691575" y="29024"/>
                  </a:lnTo>
                  <a:lnTo>
                    <a:pt x="736185" y="18730"/>
                  </a:lnTo>
                  <a:lnTo>
                    <a:pt x="781593" y="10622"/>
                  </a:lnTo>
                  <a:lnTo>
                    <a:pt x="827740" y="4759"/>
                  </a:lnTo>
                  <a:lnTo>
                    <a:pt x="874568" y="1199"/>
                  </a:lnTo>
                  <a:lnTo>
                    <a:pt x="922020" y="0"/>
                  </a:lnTo>
                  <a:lnTo>
                    <a:pt x="969471" y="1199"/>
                  </a:lnTo>
                  <a:lnTo>
                    <a:pt x="1016299" y="4759"/>
                  </a:lnTo>
                  <a:lnTo>
                    <a:pt x="1062446" y="10622"/>
                  </a:lnTo>
                  <a:lnTo>
                    <a:pt x="1107854" y="18730"/>
                  </a:lnTo>
                  <a:lnTo>
                    <a:pt x="1152464" y="29024"/>
                  </a:lnTo>
                  <a:lnTo>
                    <a:pt x="1196220" y="41447"/>
                  </a:lnTo>
                  <a:lnTo>
                    <a:pt x="1239062" y="55942"/>
                  </a:lnTo>
                  <a:lnTo>
                    <a:pt x="1280933" y="72449"/>
                  </a:lnTo>
                  <a:lnTo>
                    <a:pt x="1321776" y="90912"/>
                  </a:lnTo>
                  <a:lnTo>
                    <a:pt x="1361532" y="111272"/>
                  </a:lnTo>
                  <a:lnTo>
                    <a:pt x="1400144" y="133471"/>
                  </a:lnTo>
                  <a:lnTo>
                    <a:pt x="1437553" y="157452"/>
                  </a:lnTo>
                  <a:lnTo>
                    <a:pt x="1473701" y="183157"/>
                  </a:lnTo>
                  <a:lnTo>
                    <a:pt x="1508532" y="210527"/>
                  </a:lnTo>
                  <a:lnTo>
                    <a:pt x="1541986" y="239505"/>
                  </a:lnTo>
                  <a:lnTo>
                    <a:pt x="1574006" y="270033"/>
                  </a:lnTo>
                  <a:lnTo>
                    <a:pt x="1604534" y="302053"/>
                  </a:lnTo>
                  <a:lnTo>
                    <a:pt x="1633512" y="335507"/>
                  </a:lnTo>
                  <a:lnTo>
                    <a:pt x="1660882" y="370338"/>
                  </a:lnTo>
                  <a:lnTo>
                    <a:pt x="1686587" y="406486"/>
                  </a:lnTo>
                  <a:lnTo>
                    <a:pt x="1710568" y="443895"/>
                  </a:lnTo>
                  <a:lnTo>
                    <a:pt x="1732767" y="482507"/>
                  </a:lnTo>
                  <a:lnTo>
                    <a:pt x="1753127" y="522263"/>
                  </a:lnTo>
                  <a:lnTo>
                    <a:pt x="1771590" y="563106"/>
                  </a:lnTo>
                  <a:lnTo>
                    <a:pt x="1788097" y="604977"/>
                  </a:lnTo>
                  <a:lnTo>
                    <a:pt x="1802592" y="647819"/>
                  </a:lnTo>
                  <a:lnTo>
                    <a:pt x="1815015" y="691575"/>
                  </a:lnTo>
                  <a:lnTo>
                    <a:pt x="1825309" y="736185"/>
                  </a:lnTo>
                  <a:lnTo>
                    <a:pt x="1833417" y="781593"/>
                  </a:lnTo>
                  <a:lnTo>
                    <a:pt x="1839280" y="827740"/>
                  </a:lnTo>
                  <a:lnTo>
                    <a:pt x="1842840" y="874568"/>
                  </a:lnTo>
                  <a:lnTo>
                    <a:pt x="1844039" y="922019"/>
                  </a:lnTo>
                  <a:lnTo>
                    <a:pt x="1842840" y="969471"/>
                  </a:lnTo>
                  <a:lnTo>
                    <a:pt x="1839280" y="1016299"/>
                  </a:lnTo>
                  <a:lnTo>
                    <a:pt x="1833417" y="1062446"/>
                  </a:lnTo>
                  <a:lnTo>
                    <a:pt x="1825309" y="1107854"/>
                  </a:lnTo>
                  <a:lnTo>
                    <a:pt x="1815015" y="1152464"/>
                  </a:lnTo>
                  <a:lnTo>
                    <a:pt x="1802592" y="1196220"/>
                  </a:lnTo>
                  <a:lnTo>
                    <a:pt x="1788097" y="1239062"/>
                  </a:lnTo>
                  <a:lnTo>
                    <a:pt x="1771590" y="1280933"/>
                  </a:lnTo>
                  <a:lnTo>
                    <a:pt x="1753127" y="1321776"/>
                  </a:lnTo>
                  <a:lnTo>
                    <a:pt x="1732767" y="1361532"/>
                  </a:lnTo>
                  <a:lnTo>
                    <a:pt x="1710568" y="1400144"/>
                  </a:lnTo>
                  <a:lnTo>
                    <a:pt x="1686587" y="1437553"/>
                  </a:lnTo>
                  <a:lnTo>
                    <a:pt x="1660882" y="1473701"/>
                  </a:lnTo>
                  <a:lnTo>
                    <a:pt x="1633512" y="1508532"/>
                  </a:lnTo>
                  <a:lnTo>
                    <a:pt x="1604534" y="1541986"/>
                  </a:lnTo>
                  <a:lnTo>
                    <a:pt x="1574006" y="1574006"/>
                  </a:lnTo>
                  <a:lnTo>
                    <a:pt x="1541986" y="1604534"/>
                  </a:lnTo>
                  <a:lnTo>
                    <a:pt x="1508532" y="1633512"/>
                  </a:lnTo>
                  <a:lnTo>
                    <a:pt x="1473701" y="1660882"/>
                  </a:lnTo>
                  <a:lnTo>
                    <a:pt x="1437553" y="1686587"/>
                  </a:lnTo>
                  <a:lnTo>
                    <a:pt x="1400144" y="1710568"/>
                  </a:lnTo>
                  <a:lnTo>
                    <a:pt x="1361532" y="1732767"/>
                  </a:lnTo>
                  <a:lnTo>
                    <a:pt x="1321776" y="1753127"/>
                  </a:lnTo>
                  <a:lnTo>
                    <a:pt x="1280933" y="1771590"/>
                  </a:lnTo>
                  <a:lnTo>
                    <a:pt x="1239062" y="1788097"/>
                  </a:lnTo>
                  <a:lnTo>
                    <a:pt x="1196220" y="1802592"/>
                  </a:lnTo>
                  <a:lnTo>
                    <a:pt x="1152464" y="1815015"/>
                  </a:lnTo>
                  <a:lnTo>
                    <a:pt x="1107854" y="1825309"/>
                  </a:lnTo>
                  <a:lnTo>
                    <a:pt x="1062446" y="1833417"/>
                  </a:lnTo>
                  <a:lnTo>
                    <a:pt x="1016299" y="1839280"/>
                  </a:lnTo>
                  <a:lnTo>
                    <a:pt x="969471" y="1842840"/>
                  </a:lnTo>
                  <a:lnTo>
                    <a:pt x="922020" y="1844039"/>
                  </a:lnTo>
                  <a:lnTo>
                    <a:pt x="874568" y="1842840"/>
                  </a:lnTo>
                  <a:lnTo>
                    <a:pt x="827740" y="1839280"/>
                  </a:lnTo>
                  <a:lnTo>
                    <a:pt x="781593" y="1833417"/>
                  </a:lnTo>
                  <a:lnTo>
                    <a:pt x="736185" y="1825309"/>
                  </a:lnTo>
                  <a:lnTo>
                    <a:pt x="691575" y="1815015"/>
                  </a:lnTo>
                  <a:lnTo>
                    <a:pt x="647819" y="1802592"/>
                  </a:lnTo>
                  <a:lnTo>
                    <a:pt x="604977" y="1788097"/>
                  </a:lnTo>
                  <a:lnTo>
                    <a:pt x="563106" y="1771590"/>
                  </a:lnTo>
                  <a:lnTo>
                    <a:pt x="522263" y="1753127"/>
                  </a:lnTo>
                  <a:lnTo>
                    <a:pt x="482507" y="1732767"/>
                  </a:lnTo>
                  <a:lnTo>
                    <a:pt x="443895" y="1710568"/>
                  </a:lnTo>
                  <a:lnTo>
                    <a:pt x="406486" y="1686587"/>
                  </a:lnTo>
                  <a:lnTo>
                    <a:pt x="370338" y="1660882"/>
                  </a:lnTo>
                  <a:lnTo>
                    <a:pt x="335507" y="1633512"/>
                  </a:lnTo>
                  <a:lnTo>
                    <a:pt x="302053" y="1604534"/>
                  </a:lnTo>
                  <a:lnTo>
                    <a:pt x="270033" y="1574006"/>
                  </a:lnTo>
                  <a:lnTo>
                    <a:pt x="239505" y="1541986"/>
                  </a:lnTo>
                  <a:lnTo>
                    <a:pt x="210527" y="1508532"/>
                  </a:lnTo>
                  <a:lnTo>
                    <a:pt x="183157" y="1473701"/>
                  </a:lnTo>
                  <a:lnTo>
                    <a:pt x="157452" y="1437553"/>
                  </a:lnTo>
                  <a:lnTo>
                    <a:pt x="133471" y="1400144"/>
                  </a:lnTo>
                  <a:lnTo>
                    <a:pt x="111272" y="1361532"/>
                  </a:lnTo>
                  <a:lnTo>
                    <a:pt x="90912" y="1321776"/>
                  </a:lnTo>
                  <a:lnTo>
                    <a:pt x="72449" y="1280933"/>
                  </a:lnTo>
                  <a:lnTo>
                    <a:pt x="55942" y="1239062"/>
                  </a:lnTo>
                  <a:lnTo>
                    <a:pt x="41447" y="1196220"/>
                  </a:lnTo>
                  <a:lnTo>
                    <a:pt x="29024" y="1152464"/>
                  </a:lnTo>
                  <a:lnTo>
                    <a:pt x="18730" y="1107854"/>
                  </a:lnTo>
                  <a:lnTo>
                    <a:pt x="10622" y="1062446"/>
                  </a:lnTo>
                  <a:lnTo>
                    <a:pt x="4759" y="1016299"/>
                  </a:lnTo>
                  <a:lnTo>
                    <a:pt x="1199" y="969471"/>
                  </a:lnTo>
                  <a:lnTo>
                    <a:pt x="0" y="922019"/>
                  </a:lnTo>
                  <a:close/>
                </a:path>
              </a:pathLst>
            </a:custGeom>
            <a:ln w="12192">
              <a:solidFill>
                <a:srgbClr val="332268"/>
              </a:solidFill>
            </a:ln>
          </p:spPr>
          <p:txBody>
            <a:bodyPr wrap="square" lIns="0" tIns="0" rIns="0" bIns="0" rtlCol="0"/>
            <a:lstStyle/>
            <a:p>
              <a:endParaRPr sz="2400"/>
            </a:p>
          </p:txBody>
        </p:sp>
        <p:sp>
          <p:nvSpPr>
            <p:cNvPr id="5" name="object 5"/>
            <p:cNvSpPr/>
            <p:nvPr/>
          </p:nvSpPr>
          <p:spPr>
            <a:xfrm>
              <a:off x="5635752" y="1030224"/>
              <a:ext cx="2365375" cy="3491865"/>
            </a:xfrm>
            <a:custGeom>
              <a:avLst/>
              <a:gdLst/>
              <a:ahLst/>
              <a:cxnLst/>
              <a:rect l="l" t="t" r="r" b="b"/>
              <a:pathLst>
                <a:path w="2365375" h="3491865">
                  <a:moveTo>
                    <a:pt x="0" y="394208"/>
                  </a:moveTo>
                  <a:lnTo>
                    <a:pt x="3072" y="344766"/>
                  </a:lnTo>
                  <a:lnTo>
                    <a:pt x="12041" y="297155"/>
                  </a:lnTo>
                  <a:lnTo>
                    <a:pt x="26539" y="251745"/>
                  </a:lnTo>
                  <a:lnTo>
                    <a:pt x="46194" y="208905"/>
                  </a:lnTo>
                  <a:lnTo>
                    <a:pt x="70639" y="169004"/>
                  </a:lnTo>
                  <a:lnTo>
                    <a:pt x="99501" y="132413"/>
                  </a:lnTo>
                  <a:lnTo>
                    <a:pt x="132413" y="99501"/>
                  </a:lnTo>
                  <a:lnTo>
                    <a:pt x="169004" y="70639"/>
                  </a:lnTo>
                  <a:lnTo>
                    <a:pt x="208905" y="46194"/>
                  </a:lnTo>
                  <a:lnTo>
                    <a:pt x="251745" y="26539"/>
                  </a:lnTo>
                  <a:lnTo>
                    <a:pt x="297155" y="12041"/>
                  </a:lnTo>
                  <a:lnTo>
                    <a:pt x="344766" y="3072"/>
                  </a:lnTo>
                  <a:lnTo>
                    <a:pt x="394208" y="0"/>
                  </a:lnTo>
                  <a:lnTo>
                    <a:pt x="1971040" y="0"/>
                  </a:lnTo>
                  <a:lnTo>
                    <a:pt x="2020481" y="3072"/>
                  </a:lnTo>
                  <a:lnTo>
                    <a:pt x="2068092" y="12041"/>
                  </a:lnTo>
                  <a:lnTo>
                    <a:pt x="2113502" y="26539"/>
                  </a:lnTo>
                  <a:lnTo>
                    <a:pt x="2156342" y="46194"/>
                  </a:lnTo>
                  <a:lnTo>
                    <a:pt x="2196243" y="70639"/>
                  </a:lnTo>
                  <a:lnTo>
                    <a:pt x="2232834" y="99501"/>
                  </a:lnTo>
                  <a:lnTo>
                    <a:pt x="2265746" y="132413"/>
                  </a:lnTo>
                  <a:lnTo>
                    <a:pt x="2294608" y="169004"/>
                  </a:lnTo>
                  <a:lnTo>
                    <a:pt x="2319053" y="208905"/>
                  </a:lnTo>
                  <a:lnTo>
                    <a:pt x="2338708" y="251745"/>
                  </a:lnTo>
                  <a:lnTo>
                    <a:pt x="2353206" y="297155"/>
                  </a:lnTo>
                  <a:lnTo>
                    <a:pt x="2362175" y="344766"/>
                  </a:lnTo>
                  <a:lnTo>
                    <a:pt x="2365248" y="394208"/>
                  </a:lnTo>
                  <a:lnTo>
                    <a:pt x="2365248" y="3097263"/>
                  </a:lnTo>
                  <a:lnTo>
                    <a:pt x="2362175" y="3146714"/>
                  </a:lnTo>
                  <a:lnTo>
                    <a:pt x="2353206" y="3194332"/>
                  </a:lnTo>
                  <a:lnTo>
                    <a:pt x="2338708" y="3239748"/>
                  </a:lnTo>
                  <a:lnTo>
                    <a:pt x="2319053" y="3282591"/>
                  </a:lnTo>
                  <a:lnTo>
                    <a:pt x="2294608" y="3322493"/>
                  </a:lnTo>
                  <a:lnTo>
                    <a:pt x="2265746" y="3359083"/>
                  </a:lnTo>
                  <a:lnTo>
                    <a:pt x="2232834" y="3391993"/>
                  </a:lnTo>
                  <a:lnTo>
                    <a:pt x="2196243" y="3420854"/>
                  </a:lnTo>
                  <a:lnTo>
                    <a:pt x="2156342" y="3445296"/>
                  </a:lnTo>
                  <a:lnTo>
                    <a:pt x="2113502" y="3464949"/>
                  </a:lnTo>
                  <a:lnTo>
                    <a:pt x="2068092" y="3479444"/>
                  </a:lnTo>
                  <a:lnTo>
                    <a:pt x="2020481" y="3488412"/>
                  </a:lnTo>
                  <a:lnTo>
                    <a:pt x="1971040" y="3491484"/>
                  </a:lnTo>
                  <a:lnTo>
                    <a:pt x="394208" y="3491484"/>
                  </a:lnTo>
                  <a:lnTo>
                    <a:pt x="344766" y="3488412"/>
                  </a:lnTo>
                  <a:lnTo>
                    <a:pt x="297155" y="3479444"/>
                  </a:lnTo>
                  <a:lnTo>
                    <a:pt x="251745" y="3464949"/>
                  </a:lnTo>
                  <a:lnTo>
                    <a:pt x="208905" y="3445296"/>
                  </a:lnTo>
                  <a:lnTo>
                    <a:pt x="169004" y="3420854"/>
                  </a:lnTo>
                  <a:lnTo>
                    <a:pt x="132413" y="3391993"/>
                  </a:lnTo>
                  <a:lnTo>
                    <a:pt x="99501" y="3359083"/>
                  </a:lnTo>
                  <a:lnTo>
                    <a:pt x="70639" y="3322493"/>
                  </a:lnTo>
                  <a:lnTo>
                    <a:pt x="46194" y="3282591"/>
                  </a:lnTo>
                  <a:lnTo>
                    <a:pt x="26539" y="3239748"/>
                  </a:lnTo>
                  <a:lnTo>
                    <a:pt x="12041" y="3194332"/>
                  </a:lnTo>
                  <a:lnTo>
                    <a:pt x="3072" y="3146714"/>
                  </a:lnTo>
                  <a:lnTo>
                    <a:pt x="0" y="3097263"/>
                  </a:lnTo>
                  <a:lnTo>
                    <a:pt x="0" y="394208"/>
                  </a:lnTo>
                  <a:close/>
                </a:path>
              </a:pathLst>
            </a:custGeom>
            <a:ln w="9144">
              <a:solidFill>
                <a:srgbClr val="433D66"/>
              </a:solidFill>
            </a:ln>
          </p:spPr>
          <p:txBody>
            <a:bodyPr wrap="square" lIns="0" tIns="0" rIns="0" bIns="0" rtlCol="0"/>
            <a:lstStyle/>
            <a:p>
              <a:endParaRPr sz="2400"/>
            </a:p>
          </p:txBody>
        </p:sp>
      </p:grpSp>
      <p:sp>
        <p:nvSpPr>
          <p:cNvPr id="6" name="object 6"/>
          <p:cNvSpPr txBox="1">
            <a:spLocks noGrp="1"/>
          </p:cNvSpPr>
          <p:nvPr>
            <p:ph type="title"/>
          </p:nvPr>
        </p:nvSpPr>
        <p:spPr>
          <a:xfrm>
            <a:off x="882430" y="331247"/>
            <a:ext cx="5343313" cy="694207"/>
          </a:xfrm>
          <a:prstGeom prst="rect">
            <a:avLst/>
          </a:prstGeom>
        </p:spPr>
        <p:txBody>
          <a:bodyPr vert="horz" wrap="square" lIns="0" tIns="16933" rIns="0" bIns="0" rtlCol="0" anchor="ctr">
            <a:spAutoFit/>
          </a:bodyPr>
          <a:lstStyle/>
          <a:p>
            <a:pPr marL="16933">
              <a:lnSpc>
                <a:spcPct val="100000"/>
              </a:lnSpc>
              <a:spcBef>
                <a:spcPts val="133"/>
              </a:spcBef>
            </a:pPr>
            <a:r>
              <a:rPr spc="73" dirty="0"/>
              <a:t>Volumes </a:t>
            </a:r>
            <a:r>
              <a:rPr spc="-147" dirty="0"/>
              <a:t>&amp;</a:t>
            </a:r>
            <a:r>
              <a:rPr spc="-860" dirty="0"/>
              <a:t> </a:t>
            </a:r>
            <a:r>
              <a:rPr spc="160" dirty="0"/>
              <a:t>Mounts</a:t>
            </a:r>
            <a:endParaRPr dirty="0"/>
          </a:p>
        </p:txBody>
      </p:sp>
      <p:sp>
        <p:nvSpPr>
          <p:cNvPr id="7" name="object 7"/>
          <p:cNvSpPr txBox="1"/>
          <p:nvPr/>
        </p:nvSpPr>
        <p:spPr>
          <a:xfrm>
            <a:off x="8838524" y="5607643"/>
            <a:ext cx="507153" cy="201764"/>
          </a:xfrm>
          <a:prstGeom prst="rect">
            <a:avLst/>
          </a:prstGeom>
        </p:spPr>
        <p:txBody>
          <a:bodyPr vert="horz" wrap="square" lIns="0" tIns="16933" rIns="0" bIns="0" rtlCol="0">
            <a:spAutoFit/>
          </a:bodyPr>
          <a:lstStyle/>
          <a:p>
            <a:pPr marL="16933">
              <a:spcBef>
                <a:spcPts val="133"/>
              </a:spcBef>
            </a:pPr>
            <a:r>
              <a:rPr sz="1200" spc="-7" dirty="0">
                <a:solidFill>
                  <a:srgbClr val="433D66"/>
                </a:solidFill>
                <a:latin typeface="Noto Sans"/>
                <a:cs typeface="Noto Sans"/>
              </a:rPr>
              <a:t>N</a:t>
            </a:r>
            <a:r>
              <a:rPr sz="1200" spc="-13" dirty="0">
                <a:solidFill>
                  <a:srgbClr val="433D66"/>
                </a:solidFill>
                <a:latin typeface="Noto Sans"/>
                <a:cs typeface="Noto Sans"/>
              </a:rPr>
              <a:t>o</a:t>
            </a:r>
            <a:r>
              <a:rPr sz="1200" spc="-7" dirty="0">
                <a:solidFill>
                  <a:srgbClr val="433D66"/>
                </a:solidFill>
                <a:latin typeface="Noto Sans"/>
                <a:cs typeface="Noto Sans"/>
              </a:rPr>
              <a:t>d</a:t>
            </a:r>
            <a:r>
              <a:rPr sz="1200" spc="-13" dirty="0">
                <a:solidFill>
                  <a:srgbClr val="433D66"/>
                </a:solidFill>
                <a:latin typeface="Noto Sans"/>
                <a:cs typeface="Noto Sans"/>
              </a:rPr>
              <a:t>e</a:t>
            </a:r>
            <a:r>
              <a:rPr sz="1200" dirty="0">
                <a:solidFill>
                  <a:srgbClr val="433D66"/>
                </a:solidFill>
                <a:latin typeface="Noto Sans"/>
                <a:cs typeface="Noto Sans"/>
              </a:rPr>
              <a:t>1</a:t>
            </a:r>
            <a:endParaRPr sz="1200">
              <a:latin typeface="Noto Sans"/>
              <a:cs typeface="Noto Sans"/>
            </a:endParaRPr>
          </a:p>
        </p:txBody>
      </p:sp>
      <p:grpSp>
        <p:nvGrpSpPr>
          <p:cNvPr id="8" name="object 8"/>
          <p:cNvGrpSpPr/>
          <p:nvPr/>
        </p:nvGrpSpPr>
        <p:grpSpPr>
          <a:xfrm>
            <a:off x="7875694" y="1440349"/>
            <a:ext cx="2475652" cy="2475652"/>
            <a:chOff x="5906770" y="1080261"/>
            <a:chExt cx="1856739" cy="1856739"/>
          </a:xfrm>
        </p:grpSpPr>
        <p:sp>
          <p:nvSpPr>
            <p:cNvPr id="9" name="object 9"/>
            <p:cNvSpPr/>
            <p:nvPr/>
          </p:nvSpPr>
          <p:spPr>
            <a:xfrm>
              <a:off x="5913120" y="1086611"/>
              <a:ext cx="1844039" cy="1844039"/>
            </a:xfrm>
            <a:custGeom>
              <a:avLst/>
              <a:gdLst/>
              <a:ahLst/>
              <a:cxnLst/>
              <a:rect l="l" t="t" r="r" b="b"/>
              <a:pathLst>
                <a:path w="1844040" h="1844039">
                  <a:moveTo>
                    <a:pt x="922020" y="0"/>
                  </a:moveTo>
                  <a:lnTo>
                    <a:pt x="874568" y="1199"/>
                  </a:lnTo>
                  <a:lnTo>
                    <a:pt x="827740" y="4759"/>
                  </a:lnTo>
                  <a:lnTo>
                    <a:pt x="781593" y="10622"/>
                  </a:lnTo>
                  <a:lnTo>
                    <a:pt x="736185" y="18730"/>
                  </a:lnTo>
                  <a:lnTo>
                    <a:pt x="691575" y="29024"/>
                  </a:lnTo>
                  <a:lnTo>
                    <a:pt x="647819" y="41447"/>
                  </a:lnTo>
                  <a:lnTo>
                    <a:pt x="604977" y="55942"/>
                  </a:lnTo>
                  <a:lnTo>
                    <a:pt x="563106" y="72449"/>
                  </a:lnTo>
                  <a:lnTo>
                    <a:pt x="522263" y="90912"/>
                  </a:lnTo>
                  <a:lnTo>
                    <a:pt x="482507" y="111272"/>
                  </a:lnTo>
                  <a:lnTo>
                    <a:pt x="443895" y="133471"/>
                  </a:lnTo>
                  <a:lnTo>
                    <a:pt x="406486" y="157452"/>
                  </a:lnTo>
                  <a:lnTo>
                    <a:pt x="370338" y="183157"/>
                  </a:lnTo>
                  <a:lnTo>
                    <a:pt x="335507" y="210527"/>
                  </a:lnTo>
                  <a:lnTo>
                    <a:pt x="302053" y="239505"/>
                  </a:lnTo>
                  <a:lnTo>
                    <a:pt x="270033" y="270033"/>
                  </a:lnTo>
                  <a:lnTo>
                    <a:pt x="239505" y="302053"/>
                  </a:lnTo>
                  <a:lnTo>
                    <a:pt x="210527" y="335507"/>
                  </a:lnTo>
                  <a:lnTo>
                    <a:pt x="183157" y="370338"/>
                  </a:lnTo>
                  <a:lnTo>
                    <a:pt x="157452" y="406486"/>
                  </a:lnTo>
                  <a:lnTo>
                    <a:pt x="133471" y="443895"/>
                  </a:lnTo>
                  <a:lnTo>
                    <a:pt x="111272" y="482507"/>
                  </a:lnTo>
                  <a:lnTo>
                    <a:pt x="90912" y="522263"/>
                  </a:lnTo>
                  <a:lnTo>
                    <a:pt x="72449" y="563106"/>
                  </a:lnTo>
                  <a:lnTo>
                    <a:pt x="55942" y="604977"/>
                  </a:lnTo>
                  <a:lnTo>
                    <a:pt x="41447" y="647819"/>
                  </a:lnTo>
                  <a:lnTo>
                    <a:pt x="29024" y="691575"/>
                  </a:lnTo>
                  <a:lnTo>
                    <a:pt x="18730" y="736185"/>
                  </a:lnTo>
                  <a:lnTo>
                    <a:pt x="10622" y="781593"/>
                  </a:lnTo>
                  <a:lnTo>
                    <a:pt x="4759" y="827740"/>
                  </a:lnTo>
                  <a:lnTo>
                    <a:pt x="1199" y="874568"/>
                  </a:lnTo>
                  <a:lnTo>
                    <a:pt x="0" y="922019"/>
                  </a:lnTo>
                  <a:lnTo>
                    <a:pt x="1199" y="969471"/>
                  </a:lnTo>
                  <a:lnTo>
                    <a:pt x="4759" y="1016299"/>
                  </a:lnTo>
                  <a:lnTo>
                    <a:pt x="10622" y="1062446"/>
                  </a:lnTo>
                  <a:lnTo>
                    <a:pt x="18730" y="1107854"/>
                  </a:lnTo>
                  <a:lnTo>
                    <a:pt x="29024" y="1152464"/>
                  </a:lnTo>
                  <a:lnTo>
                    <a:pt x="41447" y="1196220"/>
                  </a:lnTo>
                  <a:lnTo>
                    <a:pt x="55942" y="1239062"/>
                  </a:lnTo>
                  <a:lnTo>
                    <a:pt x="72449" y="1280933"/>
                  </a:lnTo>
                  <a:lnTo>
                    <a:pt x="90912" y="1321776"/>
                  </a:lnTo>
                  <a:lnTo>
                    <a:pt x="111272" y="1361532"/>
                  </a:lnTo>
                  <a:lnTo>
                    <a:pt x="133471" y="1400144"/>
                  </a:lnTo>
                  <a:lnTo>
                    <a:pt x="157452" y="1437553"/>
                  </a:lnTo>
                  <a:lnTo>
                    <a:pt x="183157" y="1473701"/>
                  </a:lnTo>
                  <a:lnTo>
                    <a:pt x="210527" y="1508532"/>
                  </a:lnTo>
                  <a:lnTo>
                    <a:pt x="239505" y="1541986"/>
                  </a:lnTo>
                  <a:lnTo>
                    <a:pt x="270033" y="1574006"/>
                  </a:lnTo>
                  <a:lnTo>
                    <a:pt x="302053" y="1604534"/>
                  </a:lnTo>
                  <a:lnTo>
                    <a:pt x="335507" y="1633512"/>
                  </a:lnTo>
                  <a:lnTo>
                    <a:pt x="370338" y="1660882"/>
                  </a:lnTo>
                  <a:lnTo>
                    <a:pt x="406486" y="1686587"/>
                  </a:lnTo>
                  <a:lnTo>
                    <a:pt x="443895" y="1710568"/>
                  </a:lnTo>
                  <a:lnTo>
                    <a:pt x="482507" y="1732767"/>
                  </a:lnTo>
                  <a:lnTo>
                    <a:pt x="522263" y="1753127"/>
                  </a:lnTo>
                  <a:lnTo>
                    <a:pt x="563106" y="1771590"/>
                  </a:lnTo>
                  <a:lnTo>
                    <a:pt x="604977" y="1788097"/>
                  </a:lnTo>
                  <a:lnTo>
                    <a:pt x="647819" y="1802592"/>
                  </a:lnTo>
                  <a:lnTo>
                    <a:pt x="691575" y="1815015"/>
                  </a:lnTo>
                  <a:lnTo>
                    <a:pt x="736185" y="1825309"/>
                  </a:lnTo>
                  <a:lnTo>
                    <a:pt x="781593" y="1833417"/>
                  </a:lnTo>
                  <a:lnTo>
                    <a:pt x="827740" y="1839280"/>
                  </a:lnTo>
                  <a:lnTo>
                    <a:pt x="874568" y="1842840"/>
                  </a:lnTo>
                  <a:lnTo>
                    <a:pt x="922020" y="1844039"/>
                  </a:lnTo>
                  <a:lnTo>
                    <a:pt x="969471" y="1842840"/>
                  </a:lnTo>
                  <a:lnTo>
                    <a:pt x="1016299" y="1839280"/>
                  </a:lnTo>
                  <a:lnTo>
                    <a:pt x="1062446" y="1833417"/>
                  </a:lnTo>
                  <a:lnTo>
                    <a:pt x="1107854" y="1825309"/>
                  </a:lnTo>
                  <a:lnTo>
                    <a:pt x="1152464" y="1815015"/>
                  </a:lnTo>
                  <a:lnTo>
                    <a:pt x="1196220" y="1802592"/>
                  </a:lnTo>
                  <a:lnTo>
                    <a:pt x="1239062" y="1788097"/>
                  </a:lnTo>
                  <a:lnTo>
                    <a:pt x="1280933" y="1771590"/>
                  </a:lnTo>
                  <a:lnTo>
                    <a:pt x="1321776" y="1753127"/>
                  </a:lnTo>
                  <a:lnTo>
                    <a:pt x="1361532" y="1732767"/>
                  </a:lnTo>
                  <a:lnTo>
                    <a:pt x="1400144" y="1710568"/>
                  </a:lnTo>
                  <a:lnTo>
                    <a:pt x="1437553" y="1686587"/>
                  </a:lnTo>
                  <a:lnTo>
                    <a:pt x="1473701" y="1660882"/>
                  </a:lnTo>
                  <a:lnTo>
                    <a:pt x="1508532" y="1633512"/>
                  </a:lnTo>
                  <a:lnTo>
                    <a:pt x="1541986" y="1604534"/>
                  </a:lnTo>
                  <a:lnTo>
                    <a:pt x="1574006" y="1574006"/>
                  </a:lnTo>
                  <a:lnTo>
                    <a:pt x="1604534" y="1541986"/>
                  </a:lnTo>
                  <a:lnTo>
                    <a:pt x="1633512" y="1508532"/>
                  </a:lnTo>
                  <a:lnTo>
                    <a:pt x="1660882" y="1473701"/>
                  </a:lnTo>
                  <a:lnTo>
                    <a:pt x="1686587" y="1437553"/>
                  </a:lnTo>
                  <a:lnTo>
                    <a:pt x="1710568" y="1400144"/>
                  </a:lnTo>
                  <a:lnTo>
                    <a:pt x="1732767" y="1361532"/>
                  </a:lnTo>
                  <a:lnTo>
                    <a:pt x="1753127" y="1321776"/>
                  </a:lnTo>
                  <a:lnTo>
                    <a:pt x="1771590" y="1280933"/>
                  </a:lnTo>
                  <a:lnTo>
                    <a:pt x="1788097" y="1239062"/>
                  </a:lnTo>
                  <a:lnTo>
                    <a:pt x="1802592" y="1196220"/>
                  </a:lnTo>
                  <a:lnTo>
                    <a:pt x="1815015" y="1152464"/>
                  </a:lnTo>
                  <a:lnTo>
                    <a:pt x="1825309" y="1107854"/>
                  </a:lnTo>
                  <a:lnTo>
                    <a:pt x="1833417" y="1062446"/>
                  </a:lnTo>
                  <a:lnTo>
                    <a:pt x="1839280" y="1016299"/>
                  </a:lnTo>
                  <a:lnTo>
                    <a:pt x="1842840" y="969471"/>
                  </a:lnTo>
                  <a:lnTo>
                    <a:pt x="1844039" y="922019"/>
                  </a:lnTo>
                  <a:lnTo>
                    <a:pt x="1842840" y="874568"/>
                  </a:lnTo>
                  <a:lnTo>
                    <a:pt x="1839280" y="827740"/>
                  </a:lnTo>
                  <a:lnTo>
                    <a:pt x="1833417" y="781593"/>
                  </a:lnTo>
                  <a:lnTo>
                    <a:pt x="1825309" y="736185"/>
                  </a:lnTo>
                  <a:lnTo>
                    <a:pt x="1815015" y="691575"/>
                  </a:lnTo>
                  <a:lnTo>
                    <a:pt x="1802592" y="647819"/>
                  </a:lnTo>
                  <a:lnTo>
                    <a:pt x="1788097" y="604977"/>
                  </a:lnTo>
                  <a:lnTo>
                    <a:pt x="1771590" y="563106"/>
                  </a:lnTo>
                  <a:lnTo>
                    <a:pt x="1753127" y="522263"/>
                  </a:lnTo>
                  <a:lnTo>
                    <a:pt x="1732767" y="482507"/>
                  </a:lnTo>
                  <a:lnTo>
                    <a:pt x="1710568" y="443895"/>
                  </a:lnTo>
                  <a:lnTo>
                    <a:pt x="1686587" y="406486"/>
                  </a:lnTo>
                  <a:lnTo>
                    <a:pt x="1660882" y="370338"/>
                  </a:lnTo>
                  <a:lnTo>
                    <a:pt x="1633512" y="335507"/>
                  </a:lnTo>
                  <a:lnTo>
                    <a:pt x="1604534" y="302053"/>
                  </a:lnTo>
                  <a:lnTo>
                    <a:pt x="1574006" y="270033"/>
                  </a:lnTo>
                  <a:lnTo>
                    <a:pt x="1541986" y="239505"/>
                  </a:lnTo>
                  <a:lnTo>
                    <a:pt x="1508532" y="210527"/>
                  </a:lnTo>
                  <a:lnTo>
                    <a:pt x="1473701" y="183157"/>
                  </a:lnTo>
                  <a:lnTo>
                    <a:pt x="1437553" y="157452"/>
                  </a:lnTo>
                  <a:lnTo>
                    <a:pt x="1400144" y="133471"/>
                  </a:lnTo>
                  <a:lnTo>
                    <a:pt x="1361532" y="111272"/>
                  </a:lnTo>
                  <a:lnTo>
                    <a:pt x="1321776" y="90912"/>
                  </a:lnTo>
                  <a:lnTo>
                    <a:pt x="1280933" y="72449"/>
                  </a:lnTo>
                  <a:lnTo>
                    <a:pt x="1239062" y="55942"/>
                  </a:lnTo>
                  <a:lnTo>
                    <a:pt x="1196220" y="41447"/>
                  </a:lnTo>
                  <a:lnTo>
                    <a:pt x="1152464" y="29024"/>
                  </a:lnTo>
                  <a:lnTo>
                    <a:pt x="1107854" y="18730"/>
                  </a:lnTo>
                  <a:lnTo>
                    <a:pt x="1062446" y="10622"/>
                  </a:lnTo>
                  <a:lnTo>
                    <a:pt x="1016299" y="4759"/>
                  </a:lnTo>
                  <a:lnTo>
                    <a:pt x="969471" y="1199"/>
                  </a:lnTo>
                  <a:lnTo>
                    <a:pt x="922020" y="0"/>
                  </a:lnTo>
                  <a:close/>
                </a:path>
              </a:pathLst>
            </a:custGeom>
            <a:solidFill>
              <a:srgbClr val="483390"/>
            </a:solidFill>
          </p:spPr>
          <p:txBody>
            <a:bodyPr wrap="square" lIns="0" tIns="0" rIns="0" bIns="0" rtlCol="0"/>
            <a:lstStyle/>
            <a:p>
              <a:endParaRPr sz="2400"/>
            </a:p>
          </p:txBody>
        </p:sp>
        <p:sp>
          <p:nvSpPr>
            <p:cNvPr id="10" name="object 10"/>
            <p:cNvSpPr/>
            <p:nvPr/>
          </p:nvSpPr>
          <p:spPr>
            <a:xfrm>
              <a:off x="5913120" y="1086611"/>
              <a:ext cx="1844039" cy="1844039"/>
            </a:xfrm>
            <a:custGeom>
              <a:avLst/>
              <a:gdLst/>
              <a:ahLst/>
              <a:cxnLst/>
              <a:rect l="l" t="t" r="r" b="b"/>
              <a:pathLst>
                <a:path w="1844040" h="1844039">
                  <a:moveTo>
                    <a:pt x="0" y="922019"/>
                  </a:moveTo>
                  <a:lnTo>
                    <a:pt x="1199" y="874568"/>
                  </a:lnTo>
                  <a:lnTo>
                    <a:pt x="4759" y="827740"/>
                  </a:lnTo>
                  <a:lnTo>
                    <a:pt x="10622" y="781593"/>
                  </a:lnTo>
                  <a:lnTo>
                    <a:pt x="18730" y="736185"/>
                  </a:lnTo>
                  <a:lnTo>
                    <a:pt x="29024" y="691575"/>
                  </a:lnTo>
                  <a:lnTo>
                    <a:pt x="41447" y="647819"/>
                  </a:lnTo>
                  <a:lnTo>
                    <a:pt x="55942" y="604977"/>
                  </a:lnTo>
                  <a:lnTo>
                    <a:pt x="72449" y="563106"/>
                  </a:lnTo>
                  <a:lnTo>
                    <a:pt x="90912" y="522263"/>
                  </a:lnTo>
                  <a:lnTo>
                    <a:pt x="111272" y="482507"/>
                  </a:lnTo>
                  <a:lnTo>
                    <a:pt x="133471" y="443895"/>
                  </a:lnTo>
                  <a:lnTo>
                    <a:pt x="157452" y="406486"/>
                  </a:lnTo>
                  <a:lnTo>
                    <a:pt x="183157" y="370338"/>
                  </a:lnTo>
                  <a:lnTo>
                    <a:pt x="210527" y="335507"/>
                  </a:lnTo>
                  <a:lnTo>
                    <a:pt x="239505" y="302053"/>
                  </a:lnTo>
                  <a:lnTo>
                    <a:pt x="270033" y="270033"/>
                  </a:lnTo>
                  <a:lnTo>
                    <a:pt x="302053" y="239505"/>
                  </a:lnTo>
                  <a:lnTo>
                    <a:pt x="335507" y="210527"/>
                  </a:lnTo>
                  <a:lnTo>
                    <a:pt x="370338" y="183157"/>
                  </a:lnTo>
                  <a:lnTo>
                    <a:pt x="406486" y="157452"/>
                  </a:lnTo>
                  <a:lnTo>
                    <a:pt x="443895" y="133471"/>
                  </a:lnTo>
                  <a:lnTo>
                    <a:pt x="482507" y="111272"/>
                  </a:lnTo>
                  <a:lnTo>
                    <a:pt x="522263" y="90912"/>
                  </a:lnTo>
                  <a:lnTo>
                    <a:pt x="563106" y="72449"/>
                  </a:lnTo>
                  <a:lnTo>
                    <a:pt x="604977" y="55942"/>
                  </a:lnTo>
                  <a:lnTo>
                    <a:pt x="647819" y="41447"/>
                  </a:lnTo>
                  <a:lnTo>
                    <a:pt x="691575" y="29024"/>
                  </a:lnTo>
                  <a:lnTo>
                    <a:pt x="736185" y="18730"/>
                  </a:lnTo>
                  <a:lnTo>
                    <a:pt x="781593" y="10622"/>
                  </a:lnTo>
                  <a:lnTo>
                    <a:pt x="827740" y="4759"/>
                  </a:lnTo>
                  <a:lnTo>
                    <a:pt x="874568" y="1199"/>
                  </a:lnTo>
                  <a:lnTo>
                    <a:pt x="922020" y="0"/>
                  </a:lnTo>
                  <a:lnTo>
                    <a:pt x="969471" y="1199"/>
                  </a:lnTo>
                  <a:lnTo>
                    <a:pt x="1016299" y="4759"/>
                  </a:lnTo>
                  <a:lnTo>
                    <a:pt x="1062446" y="10622"/>
                  </a:lnTo>
                  <a:lnTo>
                    <a:pt x="1107854" y="18730"/>
                  </a:lnTo>
                  <a:lnTo>
                    <a:pt x="1152464" y="29024"/>
                  </a:lnTo>
                  <a:lnTo>
                    <a:pt x="1196220" y="41447"/>
                  </a:lnTo>
                  <a:lnTo>
                    <a:pt x="1239062" y="55942"/>
                  </a:lnTo>
                  <a:lnTo>
                    <a:pt x="1280933" y="72449"/>
                  </a:lnTo>
                  <a:lnTo>
                    <a:pt x="1321776" y="90912"/>
                  </a:lnTo>
                  <a:lnTo>
                    <a:pt x="1361532" y="111272"/>
                  </a:lnTo>
                  <a:lnTo>
                    <a:pt x="1400144" y="133471"/>
                  </a:lnTo>
                  <a:lnTo>
                    <a:pt x="1437553" y="157452"/>
                  </a:lnTo>
                  <a:lnTo>
                    <a:pt x="1473701" y="183157"/>
                  </a:lnTo>
                  <a:lnTo>
                    <a:pt x="1508532" y="210527"/>
                  </a:lnTo>
                  <a:lnTo>
                    <a:pt x="1541986" y="239505"/>
                  </a:lnTo>
                  <a:lnTo>
                    <a:pt x="1574006" y="270033"/>
                  </a:lnTo>
                  <a:lnTo>
                    <a:pt x="1604534" y="302053"/>
                  </a:lnTo>
                  <a:lnTo>
                    <a:pt x="1633512" y="335507"/>
                  </a:lnTo>
                  <a:lnTo>
                    <a:pt x="1660882" y="370338"/>
                  </a:lnTo>
                  <a:lnTo>
                    <a:pt x="1686587" y="406486"/>
                  </a:lnTo>
                  <a:lnTo>
                    <a:pt x="1710568" y="443895"/>
                  </a:lnTo>
                  <a:lnTo>
                    <a:pt x="1732767" y="482507"/>
                  </a:lnTo>
                  <a:lnTo>
                    <a:pt x="1753127" y="522263"/>
                  </a:lnTo>
                  <a:lnTo>
                    <a:pt x="1771590" y="563106"/>
                  </a:lnTo>
                  <a:lnTo>
                    <a:pt x="1788097" y="604977"/>
                  </a:lnTo>
                  <a:lnTo>
                    <a:pt x="1802592" y="647819"/>
                  </a:lnTo>
                  <a:lnTo>
                    <a:pt x="1815015" y="691575"/>
                  </a:lnTo>
                  <a:lnTo>
                    <a:pt x="1825309" y="736185"/>
                  </a:lnTo>
                  <a:lnTo>
                    <a:pt x="1833417" y="781593"/>
                  </a:lnTo>
                  <a:lnTo>
                    <a:pt x="1839280" y="827740"/>
                  </a:lnTo>
                  <a:lnTo>
                    <a:pt x="1842840" y="874568"/>
                  </a:lnTo>
                  <a:lnTo>
                    <a:pt x="1844039" y="922019"/>
                  </a:lnTo>
                  <a:lnTo>
                    <a:pt x="1842840" y="969471"/>
                  </a:lnTo>
                  <a:lnTo>
                    <a:pt x="1839280" y="1016299"/>
                  </a:lnTo>
                  <a:lnTo>
                    <a:pt x="1833417" y="1062446"/>
                  </a:lnTo>
                  <a:lnTo>
                    <a:pt x="1825309" y="1107854"/>
                  </a:lnTo>
                  <a:lnTo>
                    <a:pt x="1815015" y="1152464"/>
                  </a:lnTo>
                  <a:lnTo>
                    <a:pt x="1802592" y="1196220"/>
                  </a:lnTo>
                  <a:lnTo>
                    <a:pt x="1788097" y="1239062"/>
                  </a:lnTo>
                  <a:lnTo>
                    <a:pt x="1771590" y="1280933"/>
                  </a:lnTo>
                  <a:lnTo>
                    <a:pt x="1753127" y="1321776"/>
                  </a:lnTo>
                  <a:lnTo>
                    <a:pt x="1732767" y="1361532"/>
                  </a:lnTo>
                  <a:lnTo>
                    <a:pt x="1710568" y="1400144"/>
                  </a:lnTo>
                  <a:lnTo>
                    <a:pt x="1686587" y="1437553"/>
                  </a:lnTo>
                  <a:lnTo>
                    <a:pt x="1660882" y="1473701"/>
                  </a:lnTo>
                  <a:lnTo>
                    <a:pt x="1633512" y="1508532"/>
                  </a:lnTo>
                  <a:lnTo>
                    <a:pt x="1604534" y="1541986"/>
                  </a:lnTo>
                  <a:lnTo>
                    <a:pt x="1574006" y="1574006"/>
                  </a:lnTo>
                  <a:lnTo>
                    <a:pt x="1541986" y="1604534"/>
                  </a:lnTo>
                  <a:lnTo>
                    <a:pt x="1508532" y="1633512"/>
                  </a:lnTo>
                  <a:lnTo>
                    <a:pt x="1473701" y="1660882"/>
                  </a:lnTo>
                  <a:lnTo>
                    <a:pt x="1437553" y="1686587"/>
                  </a:lnTo>
                  <a:lnTo>
                    <a:pt x="1400144" y="1710568"/>
                  </a:lnTo>
                  <a:lnTo>
                    <a:pt x="1361532" y="1732767"/>
                  </a:lnTo>
                  <a:lnTo>
                    <a:pt x="1321776" y="1753127"/>
                  </a:lnTo>
                  <a:lnTo>
                    <a:pt x="1280933" y="1771590"/>
                  </a:lnTo>
                  <a:lnTo>
                    <a:pt x="1239062" y="1788097"/>
                  </a:lnTo>
                  <a:lnTo>
                    <a:pt x="1196220" y="1802592"/>
                  </a:lnTo>
                  <a:lnTo>
                    <a:pt x="1152464" y="1815015"/>
                  </a:lnTo>
                  <a:lnTo>
                    <a:pt x="1107854" y="1825309"/>
                  </a:lnTo>
                  <a:lnTo>
                    <a:pt x="1062446" y="1833417"/>
                  </a:lnTo>
                  <a:lnTo>
                    <a:pt x="1016299" y="1839280"/>
                  </a:lnTo>
                  <a:lnTo>
                    <a:pt x="969471" y="1842840"/>
                  </a:lnTo>
                  <a:lnTo>
                    <a:pt x="922020" y="1844039"/>
                  </a:lnTo>
                  <a:lnTo>
                    <a:pt x="874568" y="1842840"/>
                  </a:lnTo>
                  <a:lnTo>
                    <a:pt x="827740" y="1839280"/>
                  </a:lnTo>
                  <a:lnTo>
                    <a:pt x="781593" y="1833417"/>
                  </a:lnTo>
                  <a:lnTo>
                    <a:pt x="736185" y="1825309"/>
                  </a:lnTo>
                  <a:lnTo>
                    <a:pt x="691575" y="1815015"/>
                  </a:lnTo>
                  <a:lnTo>
                    <a:pt x="647819" y="1802592"/>
                  </a:lnTo>
                  <a:lnTo>
                    <a:pt x="604977" y="1788097"/>
                  </a:lnTo>
                  <a:lnTo>
                    <a:pt x="563106" y="1771590"/>
                  </a:lnTo>
                  <a:lnTo>
                    <a:pt x="522263" y="1753127"/>
                  </a:lnTo>
                  <a:lnTo>
                    <a:pt x="482507" y="1732767"/>
                  </a:lnTo>
                  <a:lnTo>
                    <a:pt x="443895" y="1710568"/>
                  </a:lnTo>
                  <a:lnTo>
                    <a:pt x="406486" y="1686587"/>
                  </a:lnTo>
                  <a:lnTo>
                    <a:pt x="370338" y="1660882"/>
                  </a:lnTo>
                  <a:lnTo>
                    <a:pt x="335507" y="1633512"/>
                  </a:lnTo>
                  <a:lnTo>
                    <a:pt x="302053" y="1604534"/>
                  </a:lnTo>
                  <a:lnTo>
                    <a:pt x="270033" y="1574006"/>
                  </a:lnTo>
                  <a:lnTo>
                    <a:pt x="239505" y="1541986"/>
                  </a:lnTo>
                  <a:lnTo>
                    <a:pt x="210527" y="1508532"/>
                  </a:lnTo>
                  <a:lnTo>
                    <a:pt x="183157" y="1473701"/>
                  </a:lnTo>
                  <a:lnTo>
                    <a:pt x="157452" y="1437553"/>
                  </a:lnTo>
                  <a:lnTo>
                    <a:pt x="133471" y="1400144"/>
                  </a:lnTo>
                  <a:lnTo>
                    <a:pt x="111272" y="1361532"/>
                  </a:lnTo>
                  <a:lnTo>
                    <a:pt x="90912" y="1321776"/>
                  </a:lnTo>
                  <a:lnTo>
                    <a:pt x="72449" y="1280933"/>
                  </a:lnTo>
                  <a:lnTo>
                    <a:pt x="55942" y="1239062"/>
                  </a:lnTo>
                  <a:lnTo>
                    <a:pt x="41447" y="1196220"/>
                  </a:lnTo>
                  <a:lnTo>
                    <a:pt x="29024" y="1152464"/>
                  </a:lnTo>
                  <a:lnTo>
                    <a:pt x="18730" y="1107854"/>
                  </a:lnTo>
                  <a:lnTo>
                    <a:pt x="10622" y="1062446"/>
                  </a:lnTo>
                  <a:lnTo>
                    <a:pt x="4759" y="1016299"/>
                  </a:lnTo>
                  <a:lnTo>
                    <a:pt x="1199" y="969471"/>
                  </a:lnTo>
                  <a:lnTo>
                    <a:pt x="0" y="922019"/>
                  </a:lnTo>
                  <a:close/>
                </a:path>
              </a:pathLst>
            </a:custGeom>
            <a:ln w="12192">
              <a:solidFill>
                <a:srgbClr val="332268"/>
              </a:solidFill>
            </a:ln>
          </p:spPr>
          <p:txBody>
            <a:bodyPr wrap="square" lIns="0" tIns="0" rIns="0" bIns="0" rtlCol="0"/>
            <a:lstStyle/>
            <a:p>
              <a:endParaRPr sz="2400"/>
            </a:p>
          </p:txBody>
        </p:sp>
      </p:grpSp>
      <p:sp>
        <p:nvSpPr>
          <p:cNvPr id="11" name="object 11"/>
          <p:cNvSpPr txBox="1"/>
          <p:nvPr/>
        </p:nvSpPr>
        <p:spPr>
          <a:xfrm>
            <a:off x="8964844" y="1898905"/>
            <a:ext cx="298027" cy="294953"/>
          </a:xfrm>
          <a:prstGeom prst="rect">
            <a:avLst/>
          </a:prstGeom>
        </p:spPr>
        <p:txBody>
          <a:bodyPr vert="horz" wrap="square" lIns="0" tIns="17780" rIns="0" bIns="0" rtlCol="0">
            <a:spAutoFit/>
          </a:bodyPr>
          <a:lstStyle/>
          <a:p>
            <a:pPr marL="16933">
              <a:spcBef>
                <a:spcPts val="140"/>
              </a:spcBef>
            </a:pPr>
            <a:r>
              <a:rPr dirty="0">
                <a:solidFill>
                  <a:srgbClr val="FFFFFF"/>
                </a:solidFill>
                <a:latin typeface="Noto Sans"/>
                <a:cs typeface="Noto Sans"/>
              </a:rPr>
              <a:t>56</a:t>
            </a:r>
            <a:endParaRPr>
              <a:latin typeface="Noto Sans"/>
              <a:cs typeface="Noto Sans"/>
            </a:endParaRPr>
          </a:p>
        </p:txBody>
      </p:sp>
      <p:grpSp>
        <p:nvGrpSpPr>
          <p:cNvPr id="12" name="object 12"/>
          <p:cNvGrpSpPr/>
          <p:nvPr/>
        </p:nvGrpSpPr>
        <p:grpSpPr>
          <a:xfrm>
            <a:off x="8507645" y="1712713"/>
            <a:ext cx="1264920" cy="3439160"/>
            <a:chOff x="6380734" y="1284535"/>
            <a:chExt cx="948690" cy="2579370"/>
          </a:xfrm>
        </p:grpSpPr>
        <p:sp>
          <p:nvSpPr>
            <p:cNvPr id="13" name="object 13"/>
            <p:cNvSpPr/>
            <p:nvPr/>
          </p:nvSpPr>
          <p:spPr>
            <a:xfrm>
              <a:off x="6629605" y="1284535"/>
              <a:ext cx="401320" cy="516890"/>
            </a:xfrm>
            <a:custGeom>
              <a:avLst/>
              <a:gdLst/>
              <a:ahLst/>
              <a:cxnLst/>
              <a:rect l="l" t="t" r="r" b="b"/>
              <a:pathLst>
                <a:path w="401320" h="516889">
                  <a:moveTo>
                    <a:pt x="258667" y="0"/>
                  </a:moveTo>
                  <a:lnTo>
                    <a:pt x="0" y="0"/>
                  </a:lnTo>
                  <a:lnTo>
                    <a:pt x="0" y="516387"/>
                  </a:lnTo>
                  <a:lnTo>
                    <a:pt x="400933" y="516387"/>
                  </a:lnTo>
                  <a:lnTo>
                    <a:pt x="400933" y="477660"/>
                  </a:lnTo>
                  <a:lnTo>
                    <a:pt x="38800" y="477660"/>
                  </a:lnTo>
                  <a:lnTo>
                    <a:pt x="38800" y="38748"/>
                  </a:lnTo>
                  <a:lnTo>
                    <a:pt x="297482" y="38748"/>
                  </a:lnTo>
                  <a:lnTo>
                    <a:pt x="258667" y="0"/>
                  </a:lnTo>
                  <a:close/>
                </a:path>
                <a:path w="401320" h="516889">
                  <a:moveTo>
                    <a:pt x="297482" y="38748"/>
                  </a:moveTo>
                  <a:lnTo>
                    <a:pt x="219866" y="38748"/>
                  </a:lnTo>
                  <a:lnTo>
                    <a:pt x="219866" y="174295"/>
                  </a:lnTo>
                  <a:lnTo>
                    <a:pt x="362133" y="174295"/>
                  </a:lnTo>
                  <a:lnTo>
                    <a:pt x="362133" y="477660"/>
                  </a:lnTo>
                  <a:lnTo>
                    <a:pt x="400933" y="477660"/>
                  </a:lnTo>
                  <a:lnTo>
                    <a:pt x="400933" y="142022"/>
                  </a:lnTo>
                  <a:lnTo>
                    <a:pt x="394468" y="135567"/>
                  </a:lnTo>
                  <a:lnTo>
                    <a:pt x="258667" y="135567"/>
                  </a:lnTo>
                  <a:lnTo>
                    <a:pt x="258667" y="54885"/>
                  </a:lnTo>
                  <a:lnTo>
                    <a:pt x="313647" y="54885"/>
                  </a:lnTo>
                  <a:lnTo>
                    <a:pt x="297482" y="38748"/>
                  </a:lnTo>
                  <a:close/>
                </a:path>
                <a:path w="401320" h="516889">
                  <a:moveTo>
                    <a:pt x="313647" y="54885"/>
                  </a:moveTo>
                  <a:lnTo>
                    <a:pt x="258667" y="54885"/>
                  </a:lnTo>
                  <a:lnTo>
                    <a:pt x="339500" y="135567"/>
                  </a:lnTo>
                  <a:lnTo>
                    <a:pt x="394468" y="135567"/>
                  </a:lnTo>
                  <a:lnTo>
                    <a:pt x="313647" y="54885"/>
                  </a:lnTo>
                  <a:close/>
                </a:path>
              </a:pathLst>
            </a:custGeom>
            <a:solidFill>
              <a:srgbClr val="FFFFFF"/>
            </a:solidFill>
          </p:spPr>
          <p:txBody>
            <a:bodyPr wrap="square" lIns="0" tIns="0" rIns="0" bIns="0" rtlCol="0"/>
            <a:lstStyle/>
            <a:p>
              <a:endParaRPr sz="2400"/>
            </a:p>
          </p:txBody>
        </p:sp>
        <p:sp>
          <p:nvSpPr>
            <p:cNvPr id="14" name="object 14"/>
            <p:cNvSpPr/>
            <p:nvPr/>
          </p:nvSpPr>
          <p:spPr>
            <a:xfrm>
              <a:off x="6412992" y="2063495"/>
              <a:ext cx="909955" cy="675640"/>
            </a:xfrm>
            <a:custGeom>
              <a:avLst/>
              <a:gdLst/>
              <a:ahLst/>
              <a:cxnLst/>
              <a:rect l="l" t="t" r="r" b="b"/>
              <a:pathLst>
                <a:path w="909954" h="675639">
                  <a:moveTo>
                    <a:pt x="0" y="112522"/>
                  </a:moveTo>
                  <a:lnTo>
                    <a:pt x="8848" y="68740"/>
                  </a:lnTo>
                  <a:lnTo>
                    <a:pt x="32972" y="32972"/>
                  </a:lnTo>
                  <a:lnTo>
                    <a:pt x="68740" y="8848"/>
                  </a:lnTo>
                  <a:lnTo>
                    <a:pt x="112522" y="0"/>
                  </a:lnTo>
                  <a:lnTo>
                    <a:pt x="797306" y="0"/>
                  </a:lnTo>
                  <a:lnTo>
                    <a:pt x="841087" y="8848"/>
                  </a:lnTo>
                  <a:lnTo>
                    <a:pt x="876855" y="32972"/>
                  </a:lnTo>
                  <a:lnTo>
                    <a:pt x="900979" y="68740"/>
                  </a:lnTo>
                  <a:lnTo>
                    <a:pt x="909828" y="112522"/>
                  </a:lnTo>
                  <a:lnTo>
                    <a:pt x="909828" y="562610"/>
                  </a:lnTo>
                  <a:lnTo>
                    <a:pt x="900979" y="606391"/>
                  </a:lnTo>
                  <a:lnTo>
                    <a:pt x="876855" y="642159"/>
                  </a:lnTo>
                  <a:lnTo>
                    <a:pt x="841087" y="666283"/>
                  </a:lnTo>
                  <a:lnTo>
                    <a:pt x="797306" y="675132"/>
                  </a:lnTo>
                  <a:lnTo>
                    <a:pt x="112522" y="675132"/>
                  </a:lnTo>
                  <a:lnTo>
                    <a:pt x="68740" y="666283"/>
                  </a:lnTo>
                  <a:lnTo>
                    <a:pt x="32972" y="642159"/>
                  </a:lnTo>
                  <a:lnTo>
                    <a:pt x="8848" y="606391"/>
                  </a:lnTo>
                  <a:lnTo>
                    <a:pt x="0" y="562610"/>
                  </a:lnTo>
                  <a:lnTo>
                    <a:pt x="0" y="112522"/>
                  </a:lnTo>
                  <a:close/>
                </a:path>
              </a:pathLst>
            </a:custGeom>
            <a:ln w="12192">
              <a:solidFill>
                <a:srgbClr val="FFFFFF"/>
              </a:solidFill>
            </a:ln>
          </p:spPr>
          <p:txBody>
            <a:bodyPr wrap="square" lIns="0" tIns="0" rIns="0" bIns="0" rtlCol="0"/>
            <a:lstStyle/>
            <a:p>
              <a:endParaRPr sz="2400"/>
            </a:p>
          </p:txBody>
        </p:sp>
        <p:sp>
          <p:nvSpPr>
            <p:cNvPr id="15" name="object 15"/>
            <p:cNvSpPr/>
            <p:nvPr/>
          </p:nvSpPr>
          <p:spPr>
            <a:xfrm>
              <a:off x="7046951" y="3622043"/>
              <a:ext cx="224319" cy="160748"/>
            </a:xfrm>
            <a:prstGeom prst="rect">
              <a:avLst/>
            </a:prstGeom>
            <a:blipFill>
              <a:blip r:embed="rId2" cstate="print"/>
              <a:stretch>
                <a:fillRect/>
              </a:stretch>
            </a:blipFill>
          </p:spPr>
          <p:txBody>
            <a:bodyPr wrap="square" lIns="0" tIns="0" rIns="0" bIns="0" rtlCol="0"/>
            <a:lstStyle/>
            <a:p>
              <a:endParaRPr sz="2400"/>
            </a:p>
          </p:txBody>
        </p:sp>
        <p:sp>
          <p:nvSpPr>
            <p:cNvPr id="16" name="object 16"/>
            <p:cNvSpPr/>
            <p:nvPr/>
          </p:nvSpPr>
          <p:spPr>
            <a:xfrm>
              <a:off x="6387084" y="3182112"/>
              <a:ext cx="909955" cy="675640"/>
            </a:xfrm>
            <a:custGeom>
              <a:avLst/>
              <a:gdLst/>
              <a:ahLst/>
              <a:cxnLst/>
              <a:rect l="l" t="t" r="r" b="b"/>
              <a:pathLst>
                <a:path w="909954" h="675639">
                  <a:moveTo>
                    <a:pt x="0" y="112521"/>
                  </a:moveTo>
                  <a:lnTo>
                    <a:pt x="8848" y="68740"/>
                  </a:lnTo>
                  <a:lnTo>
                    <a:pt x="32972" y="32972"/>
                  </a:lnTo>
                  <a:lnTo>
                    <a:pt x="68740" y="8848"/>
                  </a:lnTo>
                  <a:lnTo>
                    <a:pt x="112521" y="0"/>
                  </a:lnTo>
                  <a:lnTo>
                    <a:pt x="797306" y="0"/>
                  </a:lnTo>
                  <a:lnTo>
                    <a:pt x="841087" y="8848"/>
                  </a:lnTo>
                  <a:lnTo>
                    <a:pt x="876855" y="32972"/>
                  </a:lnTo>
                  <a:lnTo>
                    <a:pt x="900979" y="68740"/>
                  </a:lnTo>
                  <a:lnTo>
                    <a:pt x="909827" y="112521"/>
                  </a:lnTo>
                  <a:lnTo>
                    <a:pt x="909827" y="562610"/>
                  </a:lnTo>
                  <a:lnTo>
                    <a:pt x="900979" y="606391"/>
                  </a:lnTo>
                  <a:lnTo>
                    <a:pt x="876855" y="642159"/>
                  </a:lnTo>
                  <a:lnTo>
                    <a:pt x="841087" y="666283"/>
                  </a:lnTo>
                  <a:lnTo>
                    <a:pt x="797306" y="675132"/>
                  </a:lnTo>
                  <a:lnTo>
                    <a:pt x="112521" y="675132"/>
                  </a:lnTo>
                  <a:lnTo>
                    <a:pt x="68740" y="666283"/>
                  </a:lnTo>
                  <a:lnTo>
                    <a:pt x="32972" y="642159"/>
                  </a:lnTo>
                  <a:lnTo>
                    <a:pt x="8848" y="606391"/>
                  </a:lnTo>
                  <a:lnTo>
                    <a:pt x="0" y="562610"/>
                  </a:lnTo>
                  <a:lnTo>
                    <a:pt x="0" y="112521"/>
                  </a:lnTo>
                  <a:close/>
                </a:path>
              </a:pathLst>
            </a:custGeom>
            <a:ln w="12192">
              <a:solidFill>
                <a:srgbClr val="000000"/>
              </a:solidFill>
            </a:ln>
          </p:spPr>
          <p:txBody>
            <a:bodyPr wrap="square" lIns="0" tIns="0" rIns="0" bIns="0" rtlCol="0"/>
            <a:lstStyle/>
            <a:p>
              <a:endParaRPr sz="2400"/>
            </a:p>
          </p:txBody>
        </p:sp>
        <p:sp>
          <p:nvSpPr>
            <p:cNvPr id="17" name="object 17"/>
            <p:cNvSpPr/>
            <p:nvPr/>
          </p:nvSpPr>
          <p:spPr>
            <a:xfrm>
              <a:off x="6825996" y="3144012"/>
              <a:ext cx="68579" cy="68579"/>
            </a:xfrm>
            <a:prstGeom prst="rect">
              <a:avLst/>
            </a:prstGeom>
            <a:blipFill>
              <a:blip r:embed="rId3" cstate="print"/>
              <a:stretch>
                <a:fillRect/>
              </a:stretch>
            </a:blipFill>
          </p:spPr>
          <p:txBody>
            <a:bodyPr wrap="square" lIns="0" tIns="0" rIns="0" bIns="0" rtlCol="0"/>
            <a:lstStyle/>
            <a:p>
              <a:endParaRPr sz="2400"/>
            </a:p>
          </p:txBody>
        </p:sp>
        <p:sp>
          <p:nvSpPr>
            <p:cNvPr id="18" name="object 18"/>
            <p:cNvSpPr/>
            <p:nvPr/>
          </p:nvSpPr>
          <p:spPr>
            <a:xfrm>
              <a:off x="6825996" y="2686811"/>
              <a:ext cx="68579" cy="70103"/>
            </a:xfrm>
            <a:prstGeom prst="rect">
              <a:avLst/>
            </a:prstGeom>
            <a:blipFill>
              <a:blip r:embed="rId4" cstate="print"/>
              <a:stretch>
                <a:fillRect/>
              </a:stretch>
            </a:blipFill>
          </p:spPr>
          <p:txBody>
            <a:bodyPr wrap="square" lIns="0" tIns="0" rIns="0" bIns="0" rtlCol="0"/>
            <a:lstStyle/>
            <a:p>
              <a:endParaRPr sz="2400"/>
            </a:p>
          </p:txBody>
        </p:sp>
        <p:sp>
          <p:nvSpPr>
            <p:cNvPr id="19" name="object 19"/>
            <p:cNvSpPr/>
            <p:nvPr/>
          </p:nvSpPr>
          <p:spPr>
            <a:xfrm>
              <a:off x="6861048" y="2692908"/>
              <a:ext cx="0" cy="513080"/>
            </a:xfrm>
            <a:custGeom>
              <a:avLst/>
              <a:gdLst/>
              <a:ahLst/>
              <a:cxnLst/>
              <a:rect l="l" t="t" r="r" b="b"/>
              <a:pathLst>
                <a:path h="513080">
                  <a:moveTo>
                    <a:pt x="0" y="513080"/>
                  </a:moveTo>
                  <a:lnTo>
                    <a:pt x="0" y="0"/>
                  </a:lnTo>
                </a:path>
              </a:pathLst>
            </a:custGeom>
            <a:ln w="6096">
              <a:solidFill>
                <a:srgbClr val="1780C3"/>
              </a:solidFill>
              <a:prstDash val="sysDot"/>
            </a:ln>
          </p:spPr>
          <p:txBody>
            <a:bodyPr wrap="square" lIns="0" tIns="0" rIns="0" bIns="0" rtlCol="0"/>
            <a:lstStyle/>
            <a:p>
              <a:endParaRPr sz="2400"/>
            </a:p>
          </p:txBody>
        </p:sp>
        <p:sp>
          <p:nvSpPr>
            <p:cNvPr id="20" name="object 20"/>
            <p:cNvSpPr/>
            <p:nvPr/>
          </p:nvSpPr>
          <p:spPr>
            <a:xfrm>
              <a:off x="7076491" y="2456900"/>
              <a:ext cx="163719" cy="221784"/>
            </a:xfrm>
            <a:prstGeom prst="rect">
              <a:avLst/>
            </a:prstGeom>
            <a:blipFill>
              <a:blip r:embed="rId5" cstate="print"/>
              <a:stretch>
                <a:fillRect/>
              </a:stretch>
            </a:blipFill>
          </p:spPr>
          <p:txBody>
            <a:bodyPr wrap="square" lIns="0" tIns="0" rIns="0" bIns="0" rtlCol="0"/>
            <a:lstStyle/>
            <a:p>
              <a:endParaRPr sz="2400"/>
            </a:p>
          </p:txBody>
        </p:sp>
        <p:sp>
          <p:nvSpPr>
            <p:cNvPr id="21" name="object 21"/>
            <p:cNvSpPr/>
            <p:nvPr/>
          </p:nvSpPr>
          <p:spPr>
            <a:xfrm>
              <a:off x="6626419" y="2292044"/>
              <a:ext cx="283845" cy="365760"/>
            </a:xfrm>
            <a:custGeom>
              <a:avLst/>
              <a:gdLst/>
              <a:ahLst/>
              <a:cxnLst/>
              <a:rect l="l" t="t" r="r" b="b"/>
              <a:pathLst>
                <a:path w="283845" h="365760">
                  <a:moveTo>
                    <a:pt x="183038" y="0"/>
                  </a:moveTo>
                  <a:lnTo>
                    <a:pt x="0" y="0"/>
                  </a:lnTo>
                  <a:lnTo>
                    <a:pt x="0" y="365406"/>
                  </a:lnTo>
                  <a:lnTo>
                    <a:pt x="283708" y="365406"/>
                  </a:lnTo>
                  <a:lnTo>
                    <a:pt x="283708" y="338002"/>
                  </a:lnTo>
                  <a:lnTo>
                    <a:pt x="27455" y="338002"/>
                  </a:lnTo>
                  <a:lnTo>
                    <a:pt x="27455" y="27419"/>
                  </a:lnTo>
                  <a:lnTo>
                    <a:pt x="210504" y="27419"/>
                  </a:lnTo>
                  <a:lnTo>
                    <a:pt x="183038" y="0"/>
                  </a:lnTo>
                  <a:close/>
                </a:path>
                <a:path w="283845" h="365760">
                  <a:moveTo>
                    <a:pt x="210504" y="27419"/>
                  </a:moveTo>
                  <a:lnTo>
                    <a:pt x="155582" y="27419"/>
                  </a:lnTo>
                  <a:lnTo>
                    <a:pt x="155582" y="123334"/>
                  </a:lnTo>
                  <a:lnTo>
                    <a:pt x="256253" y="123334"/>
                  </a:lnTo>
                  <a:lnTo>
                    <a:pt x="256253" y="338002"/>
                  </a:lnTo>
                  <a:lnTo>
                    <a:pt x="283708" y="338002"/>
                  </a:lnTo>
                  <a:lnTo>
                    <a:pt x="283708" y="100497"/>
                  </a:lnTo>
                  <a:lnTo>
                    <a:pt x="279133" y="95930"/>
                  </a:lnTo>
                  <a:lnTo>
                    <a:pt x="183038" y="95930"/>
                  </a:lnTo>
                  <a:lnTo>
                    <a:pt x="183038" y="38838"/>
                  </a:lnTo>
                  <a:lnTo>
                    <a:pt x="221942" y="38838"/>
                  </a:lnTo>
                  <a:lnTo>
                    <a:pt x="210504" y="27419"/>
                  </a:lnTo>
                  <a:close/>
                </a:path>
                <a:path w="283845" h="365760">
                  <a:moveTo>
                    <a:pt x="221942" y="38838"/>
                  </a:moveTo>
                  <a:lnTo>
                    <a:pt x="183038" y="38838"/>
                  </a:lnTo>
                  <a:lnTo>
                    <a:pt x="240237" y="95930"/>
                  </a:lnTo>
                  <a:lnTo>
                    <a:pt x="279133" y="95930"/>
                  </a:lnTo>
                  <a:lnTo>
                    <a:pt x="221942" y="38838"/>
                  </a:lnTo>
                  <a:close/>
                </a:path>
              </a:pathLst>
            </a:custGeom>
            <a:solidFill>
              <a:srgbClr val="FFFFFF"/>
            </a:solidFill>
          </p:spPr>
          <p:txBody>
            <a:bodyPr wrap="square" lIns="0" tIns="0" rIns="0" bIns="0" rtlCol="0"/>
            <a:lstStyle/>
            <a:p>
              <a:endParaRPr sz="2400"/>
            </a:p>
          </p:txBody>
        </p:sp>
        <p:sp>
          <p:nvSpPr>
            <p:cNvPr id="22" name="object 22"/>
            <p:cNvSpPr/>
            <p:nvPr/>
          </p:nvSpPr>
          <p:spPr>
            <a:xfrm>
              <a:off x="6666043" y="3281120"/>
              <a:ext cx="283845" cy="365760"/>
            </a:xfrm>
            <a:custGeom>
              <a:avLst/>
              <a:gdLst/>
              <a:ahLst/>
              <a:cxnLst/>
              <a:rect l="l" t="t" r="r" b="b"/>
              <a:pathLst>
                <a:path w="283845" h="365760">
                  <a:moveTo>
                    <a:pt x="183038" y="0"/>
                  </a:moveTo>
                  <a:lnTo>
                    <a:pt x="0" y="0"/>
                  </a:lnTo>
                  <a:lnTo>
                    <a:pt x="0" y="365406"/>
                  </a:lnTo>
                  <a:lnTo>
                    <a:pt x="283708" y="365406"/>
                  </a:lnTo>
                  <a:lnTo>
                    <a:pt x="283708" y="338002"/>
                  </a:lnTo>
                  <a:lnTo>
                    <a:pt x="27455" y="338002"/>
                  </a:lnTo>
                  <a:lnTo>
                    <a:pt x="27455" y="27419"/>
                  </a:lnTo>
                  <a:lnTo>
                    <a:pt x="210504" y="27419"/>
                  </a:lnTo>
                  <a:lnTo>
                    <a:pt x="183038" y="0"/>
                  </a:lnTo>
                  <a:close/>
                </a:path>
                <a:path w="283845" h="365760">
                  <a:moveTo>
                    <a:pt x="210504" y="27419"/>
                  </a:moveTo>
                  <a:lnTo>
                    <a:pt x="155582" y="27419"/>
                  </a:lnTo>
                  <a:lnTo>
                    <a:pt x="155582" y="123334"/>
                  </a:lnTo>
                  <a:lnTo>
                    <a:pt x="256253" y="123334"/>
                  </a:lnTo>
                  <a:lnTo>
                    <a:pt x="256253" y="338002"/>
                  </a:lnTo>
                  <a:lnTo>
                    <a:pt x="283708" y="338002"/>
                  </a:lnTo>
                  <a:lnTo>
                    <a:pt x="283708" y="100497"/>
                  </a:lnTo>
                  <a:lnTo>
                    <a:pt x="279133" y="95930"/>
                  </a:lnTo>
                  <a:lnTo>
                    <a:pt x="183038" y="95930"/>
                  </a:lnTo>
                  <a:lnTo>
                    <a:pt x="183038" y="38838"/>
                  </a:lnTo>
                  <a:lnTo>
                    <a:pt x="221942" y="38838"/>
                  </a:lnTo>
                  <a:lnTo>
                    <a:pt x="210504" y="27419"/>
                  </a:lnTo>
                  <a:close/>
                </a:path>
                <a:path w="283845" h="365760">
                  <a:moveTo>
                    <a:pt x="221942" y="38838"/>
                  </a:moveTo>
                  <a:lnTo>
                    <a:pt x="183038" y="38838"/>
                  </a:lnTo>
                  <a:lnTo>
                    <a:pt x="240237" y="95930"/>
                  </a:lnTo>
                  <a:lnTo>
                    <a:pt x="279133" y="95930"/>
                  </a:lnTo>
                  <a:lnTo>
                    <a:pt x="221942" y="38838"/>
                  </a:lnTo>
                  <a:close/>
                </a:path>
              </a:pathLst>
            </a:custGeom>
            <a:solidFill>
              <a:srgbClr val="000000"/>
            </a:solidFill>
          </p:spPr>
          <p:txBody>
            <a:bodyPr wrap="square" lIns="0" tIns="0" rIns="0" bIns="0" rtlCol="0"/>
            <a:lstStyle/>
            <a:p>
              <a:endParaRPr sz="2400"/>
            </a:p>
          </p:txBody>
        </p:sp>
      </p:grpSp>
      <p:sp>
        <p:nvSpPr>
          <p:cNvPr id="23" name="object 23"/>
          <p:cNvSpPr txBox="1"/>
          <p:nvPr/>
        </p:nvSpPr>
        <p:spPr>
          <a:xfrm>
            <a:off x="8628888" y="4402225"/>
            <a:ext cx="552873" cy="649687"/>
          </a:xfrm>
          <a:prstGeom prst="rect">
            <a:avLst/>
          </a:prstGeom>
        </p:spPr>
        <p:txBody>
          <a:bodyPr vert="horz" wrap="square" lIns="0" tIns="125307" rIns="0" bIns="0" rtlCol="0">
            <a:spAutoFit/>
          </a:bodyPr>
          <a:lstStyle/>
          <a:p>
            <a:pPr marL="331885">
              <a:spcBef>
                <a:spcPts val="987"/>
              </a:spcBef>
            </a:pPr>
            <a:r>
              <a:rPr sz="1400" spc="-7" dirty="0">
                <a:latin typeface="Noto Sans"/>
                <a:cs typeface="Noto Sans"/>
              </a:rPr>
              <a:t>56</a:t>
            </a:r>
            <a:endParaRPr sz="1400">
              <a:latin typeface="Noto Sans"/>
              <a:cs typeface="Noto Sans"/>
            </a:endParaRPr>
          </a:p>
          <a:p>
            <a:pPr marL="16933">
              <a:spcBef>
                <a:spcPts val="813"/>
              </a:spcBef>
            </a:pPr>
            <a:r>
              <a:rPr sz="1333" spc="-7" dirty="0">
                <a:latin typeface="Noto Sans"/>
                <a:cs typeface="Noto Sans"/>
              </a:rPr>
              <a:t>/data</a:t>
            </a:r>
            <a:endParaRPr sz="1333">
              <a:latin typeface="Noto Sans"/>
              <a:cs typeface="Noto Sans"/>
            </a:endParaRPr>
          </a:p>
        </p:txBody>
      </p:sp>
      <p:sp>
        <p:nvSpPr>
          <p:cNvPr id="24" name="object 24"/>
          <p:cNvSpPr txBox="1"/>
          <p:nvPr/>
        </p:nvSpPr>
        <p:spPr>
          <a:xfrm>
            <a:off x="689034" y="2099055"/>
            <a:ext cx="5397500" cy="3759747"/>
          </a:xfrm>
          <a:prstGeom prst="rect">
            <a:avLst/>
          </a:prstGeom>
          <a:solidFill>
            <a:srgbClr val="2B2B2B"/>
          </a:solidFill>
        </p:spPr>
        <p:txBody>
          <a:bodyPr vert="horz" wrap="square" lIns="0" tIns="66040" rIns="0" bIns="0" rtlCol="0">
            <a:spAutoFit/>
          </a:bodyPr>
          <a:lstStyle/>
          <a:p>
            <a:pPr marL="121070" marR="3987700">
              <a:spcBef>
                <a:spcPts val="520"/>
              </a:spcBef>
            </a:pPr>
            <a:r>
              <a:rPr sz="1200" b="1" spc="-7" dirty="0">
                <a:solidFill>
                  <a:srgbClr val="CC7831"/>
                </a:solidFill>
                <a:latin typeface="Courier New"/>
                <a:cs typeface="Courier New"/>
              </a:rPr>
              <a:t>apiVersion:</a:t>
            </a:r>
            <a:r>
              <a:rPr sz="1200" b="1" spc="-140" dirty="0">
                <a:solidFill>
                  <a:srgbClr val="CC7831"/>
                </a:solidFill>
                <a:latin typeface="Courier New"/>
                <a:cs typeface="Courier New"/>
              </a:rPr>
              <a:t> </a:t>
            </a:r>
            <a:r>
              <a:rPr sz="1200" spc="-7" dirty="0">
                <a:solidFill>
                  <a:srgbClr val="A9B7C5"/>
                </a:solidFill>
                <a:latin typeface="Courier New"/>
                <a:cs typeface="Courier New"/>
              </a:rPr>
              <a:t>v1  </a:t>
            </a:r>
            <a:r>
              <a:rPr sz="1200" b="1" spc="-7" dirty="0">
                <a:solidFill>
                  <a:srgbClr val="CC7831"/>
                </a:solidFill>
                <a:latin typeface="Courier New"/>
                <a:cs typeface="Courier New"/>
              </a:rPr>
              <a:t>kind: </a:t>
            </a:r>
            <a:r>
              <a:rPr sz="1200" spc="-13" dirty="0">
                <a:solidFill>
                  <a:srgbClr val="A9B7C5"/>
                </a:solidFill>
                <a:latin typeface="Courier New"/>
                <a:cs typeface="Courier New"/>
              </a:rPr>
              <a:t>Pod  </a:t>
            </a:r>
            <a:r>
              <a:rPr sz="1200" b="1" spc="-13" dirty="0">
                <a:solidFill>
                  <a:srgbClr val="CC7831"/>
                </a:solidFill>
                <a:latin typeface="Courier New"/>
                <a:cs typeface="Courier New"/>
              </a:rPr>
              <a:t>metadata:</a:t>
            </a:r>
            <a:endParaRPr sz="1200" dirty="0">
              <a:latin typeface="Courier New"/>
              <a:cs typeface="Courier New"/>
            </a:endParaRPr>
          </a:p>
          <a:p>
            <a:pPr marL="304792"/>
            <a:r>
              <a:rPr sz="1200" b="1" spc="-7" dirty="0">
                <a:solidFill>
                  <a:srgbClr val="CC7831"/>
                </a:solidFill>
                <a:latin typeface="Courier New"/>
                <a:cs typeface="Courier New"/>
              </a:rPr>
              <a:t>name:</a:t>
            </a:r>
            <a:r>
              <a:rPr sz="1200" b="1" spc="-20" dirty="0">
                <a:solidFill>
                  <a:srgbClr val="CC7831"/>
                </a:solidFill>
                <a:latin typeface="Courier New"/>
                <a:cs typeface="Courier New"/>
              </a:rPr>
              <a:t> </a:t>
            </a:r>
            <a:r>
              <a:rPr sz="1200" spc="-13" dirty="0">
                <a:solidFill>
                  <a:srgbClr val="A9B7C5"/>
                </a:solidFill>
                <a:latin typeface="Courier New"/>
                <a:cs typeface="Courier New"/>
              </a:rPr>
              <a:t>random-number-generator</a:t>
            </a:r>
            <a:endParaRPr sz="1200" dirty="0">
              <a:latin typeface="Courier New"/>
              <a:cs typeface="Courier New"/>
            </a:endParaRPr>
          </a:p>
          <a:p>
            <a:pPr marL="121070">
              <a:spcBef>
                <a:spcPts val="7"/>
              </a:spcBef>
            </a:pPr>
            <a:r>
              <a:rPr sz="1200" b="1" spc="-7" dirty="0">
                <a:solidFill>
                  <a:srgbClr val="CC7831"/>
                </a:solidFill>
                <a:latin typeface="Courier New"/>
                <a:cs typeface="Courier New"/>
              </a:rPr>
              <a:t>spec:</a:t>
            </a:r>
            <a:endParaRPr sz="1200" dirty="0">
              <a:latin typeface="Courier New"/>
              <a:cs typeface="Courier New"/>
            </a:endParaRPr>
          </a:p>
          <a:p>
            <a:pPr marL="304792"/>
            <a:r>
              <a:rPr sz="1200" b="1" spc="-13" dirty="0">
                <a:solidFill>
                  <a:srgbClr val="CC7831"/>
                </a:solidFill>
                <a:latin typeface="Courier New"/>
                <a:cs typeface="Courier New"/>
              </a:rPr>
              <a:t>containers:</a:t>
            </a:r>
            <a:endParaRPr sz="1200" dirty="0">
              <a:latin typeface="Courier New"/>
              <a:cs typeface="Courier New"/>
            </a:endParaRPr>
          </a:p>
          <a:p>
            <a:pPr marL="304792"/>
            <a:r>
              <a:rPr sz="1200" dirty="0">
                <a:solidFill>
                  <a:srgbClr val="A9B7C5"/>
                </a:solidFill>
                <a:latin typeface="Courier New"/>
                <a:cs typeface="Courier New"/>
              </a:rPr>
              <a:t>- </a:t>
            </a:r>
            <a:r>
              <a:rPr sz="1200" b="1" spc="-13" dirty="0">
                <a:solidFill>
                  <a:srgbClr val="CC7831"/>
                </a:solidFill>
                <a:latin typeface="Courier New"/>
                <a:cs typeface="Courier New"/>
              </a:rPr>
              <a:t>image:</a:t>
            </a:r>
            <a:r>
              <a:rPr sz="1200" b="1" spc="-27" dirty="0">
                <a:solidFill>
                  <a:srgbClr val="CC7831"/>
                </a:solidFill>
                <a:latin typeface="Courier New"/>
                <a:cs typeface="Courier New"/>
              </a:rPr>
              <a:t> </a:t>
            </a:r>
            <a:r>
              <a:rPr sz="1200" spc="-13" dirty="0">
                <a:solidFill>
                  <a:srgbClr val="A9B7C5"/>
                </a:solidFill>
                <a:latin typeface="Courier New"/>
                <a:cs typeface="Courier New"/>
              </a:rPr>
              <a:t>alpine</a:t>
            </a:r>
            <a:endParaRPr sz="1200" dirty="0">
              <a:latin typeface="Courier New"/>
              <a:cs typeface="Courier New"/>
            </a:endParaRPr>
          </a:p>
          <a:p>
            <a:pPr marL="486821"/>
            <a:r>
              <a:rPr sz="1200" b="1" spc="-13" dirty="0">
                <a:solidFill>
                  <a:srgbClr val="CC7831"/>
                </a:solidFill>
                <a:latin typeface="Courier New"/>
                <a:cs typeface="Courier New"/>
              </a:rPr>
              <a:t>name:</a:t>
            </a:r>
            <a:r>
              <a:rPr sz="1200" b="1" spc="-7" dirty="0">
                <a:solidFill>
                  <a:srgbClr val="CC7831"/>
                </a:solidFill>
                <a:latin typeface="Courier New"/>
                <a:cs typeface="Courier New"/>
              </a:rPr>
              <a:t> </a:t>
            </a:r>
            <a:r>
              <a:rPr sz="1200" spc="-13" dirty="0">
                <a:solidFill>
                  <a:srgbClr val="A9B7C5"/>
                </a:solidFill>
                <a:latin typeface="Courier New"/>
                <a:cs typeface="Courier New"/>
              </a:rPr>
              <a:t>alpine</a:t>
            </a:r>
            <a:endParaRPr sz="1200" dirty="0">
              <a:latin typeface="Courier New"/>
              <a:cs typeface="Courier New"/>
            </a:endParaRPr>
          </a:p>
          <a:p>
            <a:pPr marL="486821"/>
            <a:r>
              <a:rPr sz="1200" b="1" spc="-13" dirty="0">
                <a:solidFill>
                  <a:srgbClr val="CC7831"/>
                </a:solidFill>
                <a:latin typeface="Courier New"/>
                <a:cs typeface="Courier New"/>
              </a:rPr>
              <a:t>command:</a:t>
            </a:r>
            <a:r>
              <a:rPr sz="1200" b="1" spc="-7" dirty="0">
                <a:solidFill>
                  <a:srgbClr val="CC7831"/>
                </a:solidFill>
                <a:latin typeface="Courier New"/>
                <a:cs typeface="Courier New"/>
              </a:rPr>
              <a:t> </a:t>
            </a:r>
            <a:r>
              <a:rPr sz="1200" spc="-13" dirty="0">
                <a:solidFill>
                  <a:srgbClr val="A9B7C5"/>
                </a:solidFill>
                <a:latin typeface="Courier New"/>
                <a:cs typeface="Courier New"/>
              </a:rPr>
              <a:t>[</a:t>
            </a:r>
            <a:r>
              <a:rPr sz="1200" spc="-13" dirty="0">
                <a:solidFill>
                  <a:srgbClr val="6A8658"/>
                </a:solidFill>
                <a:latin typeface="Courier New"/>
                <a:cs typeface="Courier New"/>
              </a:rPr>
              <a:t>"/bin/sh"</a:t>
            </a:r>
            <a:r>
              <a:rPr sz="1200" spc="-13" dirty="0">
                <a:solidFill>
                  <a:srgbClr val="A9B7C5"/>
                </a:solidFill>
                <a:latin typeface="Courier New"/>
                <a:cs typeface="Courier New"/>
              </a:rPr>
              <a:t>,</a:t>
            </a:r>
            <a:r>
              <a:rPr sz="1200" spc="-13" dirty="0">
                <a:solidFill>
                  <a:srgbClr val="6A8658"/>
                </a:solidFill>
                <a:latin typeface="Courier New"/>
                <a:cs typeface="Courier New"/>
              </a:rPr>
              <a:t>"-c"</a:t>
            </a:r>
            <a:r>
              <a:rPr sz="1200" spc="-13" dirty="0">
                <a:solidFill>
                  <a:srgbClr val="A9B7C5"/>
                </a:solidFill>
                <a:latin typeface="Courier New"/>
                <a:cs typeface="Courier New"/>
              </a:rPr>
              <a:t>]</a:t>
            </a:r>
            <a:endParaRPr sz="1200" dirty="0">
              <a:latin typeface="Courier New"/>
              <a:cs typeface="Courier New"/>
            </a:endParaRPr>
          </a:p>
          <a:p>
            <a:pPr marL="486821"/>
            <a:r>
              <a:rPr sz="1200" b="1" spc="-13" dirty="0">
                <a:solidFill>
                  <a:srgbClr val="CC7831"/>
                </a:solidFill>
                <a:latin typeface="Courier New"/>
                <a:cs typeface="Courier New"/>
              </a:rPr>
              <a:t>args: </a:t>
            </a:r>
            <a:r>
              <a:rPr sz="1200" spc="-13" dirty="0">
                <a:solidFill>
                  <a:srgbClr val="A9B7C5"/>
                </a:solidFill>
                <a:latin typeface="Courier New"/>
                <a:cs typeface="Courier New"/>
              </a:rPr>
              <a:t>[</a:t>
            </a:r>
            <a:r>
              <a:rPr sz="1200" spc="-13" dirty="0">
                <a:solidFill>
                  <a:srgbClr val="6A8658"/>
                </a:solidFill>
                <a:latin typeface="Courier New"/>
                <a:cs typeface="Courier New"/>
              </a:rPr>
              <a:t>"shuf </a:t>
            </a:r>
            <a:r>
              <a:rPr sz="1200" spc="-7" dirty="0">
                <a:solidFill>
                  <a:srgbClr val="6A8658"/>
                </a:solidFill>
                <a:latin typeface="Courier New"/>
                <a:cs typeface="Courier New"/>
              </a:rPr>
              <a:t>-i </a:t>
            </a:r>
            <a:r>
              <a:rPr sz="1200" spc="-13" dirty="0">
                <a:solidFill>
                  <a:srgbClr val="6A8658"/>
                </a:solidFill>
                <a:latin typeface="Courier New"/>
                <a:cs typeface="Courier New"/>
              </a:rPr>
              <a:t>0-100 </a:t>
            </a:r>
            <a:r>
              <a:rPr sz="1200" spc="-7" dirty="0">
                <a:solidFill>
                  <a:srgbClr val="6A8658"/>
                </a:solidFill>
                <a:latin typeface="Courier New"/>
                <a:cs typeface="Courier New"/>
              </a:rPr>
              <a:t>-n </a:t>
            </a:r>
            <a:r>
              <a:rPr sz="1200" dirty="0">
                <a:solidFill>
                  <a:srgbClr val="6A8658"/>
                </a:solidFill>
                <a:latin typeface="Courier New"/>
                <a:cs typeface="Courier New"/>
              </a:rPr>
              <a:t>1 </a:t>
            </a:r>
            <a:r>
              <a:rPr sz="1200" spc="-7" dirty="0">
                <a:solidFill>
                  <a:srgbClr val="6A8658"/>
                </a:solidFill>
                <a:latin typeface="Courier New"/>
                <a:cs typeface="Courier New"/>
              </a:rPr>
              <a:t>&gt;&gt;</a:t>
            </a:r>
            <a:r>
              <a:rPr sz="1200" dirty="0">
                <a:solidFill>
                  <a:srgbClr val="6A8658"/>
                </a:solidFill>
                <a:latin typeface="Courier New"/>
                <a:cs typeface="Courier New"/>
              </a:rPr>
              <a:t> </a:t>
            </a:r>
            <a:r>
              <a:rPr sz="1200" spc="-13" dirty="0">
                <a:solidFill>
                  <a:srgbClr val="6A8658"/>
                </a:solidFill>
                <a:latin typeface="Courier New"/>
                <a:cs typeface="Courier New"/>
              </a:rPr>
              <a:t>/opt/number.out;"</a:t>
            </a:r>
            <a:r>
              <a:rPr sz="1200" spc="-13" dirty="0">
                <a:solidFill>
                  <a:srgbClr val="A9B7C5"/>
                </a:solidFill>
                <a:latin typeface="Courier New"/>
                <a:cs typeface="Courier New"/>
              </a:rPr>
              <a:t>]</a:t>
            </a:r>
            <a:endParaRPr sz="1200" dirty="0">
              <a:latin typeface="Courier New"/>
              <a:cs typeface="Courier New"/>
            </a:endParaRPr>
          </a:p>
          <a:p>
            <a:pPr marL="486821">
              <a:spcBef>
                <a:spcPts val="407"/>
              </a:spcBef>
            </a:pPr>
            <a:r>
              <a:rPr sz="1200" b="1" spc="-13" dirty="0">
                <a:solidFill>
                  <a:srgbClr val="CC7831"/>
                </a:solidFill>
                <a:latin typeface="Courier New"/>
                <a:cs typeface="Courier New"/>
              </a:rPr>
              <a:t>volumeMounts:</a:t>
            </a:r>
            <a:endParaRPr sz="1200" dirty="0">
              <a:latin typeface="Courier New"/>
              <a:cs typeface="Courier New"/>
            </a:endParaRPr>
          </a:p>
          <a:p>
            <a:pPr marL="486821"/>
            <a:r>
              <a:rPr sz="1200" dirty="0">
                <a:solidFill>
                  <a:srgbClr val="A9B7C5"/>
                </a:solidFill>
                <a:latin typeface="Courier New"/>
                <a:cs typeface="Courier New"/>
              </a:rPr>
              <a:t>- </a:t>
            </a:r>
            <a:r>
              <a:rPr sz="1200" b="1" spc="-13" dirty="0">
                <a:solidFill>
                  <a:srgbClr val="CC7831"/>
                </a:solidFill>
                <a:latin typeface="Courier New"/>
                <a:cs typeface="Courier New"/>
              </a:rPr>
              <a:t>mountPath:</a:t>
            </a:r>
            <a:r>
              <a:rPr sz="1200" b="1" spc="-20" dirty="0">
                <a:solidFill>
                  <a:srgbClr val="CC7831"/>
                </a:solidFill>
                <a:latin typeface="Courier New"/>
                <a:cs typeface="Courier New"/>
              </a:rPr>
              <a:t> </a:t>
            </a:r>
            <a:r>
              <a:rPr sz="1200" spc="-13" dirty="0">
                <a:solidFill>
                  <a:srgbClr val="A9B7C5"/>
                </a:solidFill>
                <a:latin typeface="Courier New"/>
                <a:cs typeface="Courier New"/>
              </a:rPr>
              <a:t>/opt</a:t>
            </a:r>
            <a:endParaRPr sz="1200" dirty="0">
              <a:latin typeface="Courier New"/>
              <a:cs typeface="Courier New"/>
            </a:endParaRPr>
          </a:p>
          <a:p>
            <a:pPr marL="670543">
              <a:spcBef>
                <a:spcPts val="33"/>
              </a:spcBef>
            </a:pPr>
            <a:r>
              <a:rPr sz="1200" b="1" spc="-7" dirty="0">
                <a:solidFill>
                  <a:srgbClr val="CC7831"/>
                </a:solidFill>
                <a:latin typeface="Courier New"/>
                <a:cs typeface="Courier New"/>
              </a:rPr>
              <a:t>name:</a:t>
            </a:r>
            <a:r>
              <a:rPr sz="1200" b="1" spc="-20" dirty="0">
                <a:solidFill>
                  <a:srgbClr val="CC7831"/>
                </a:solidFill>
                <a:latin typeface="Courier New"/>
                <a:cs typeface="Courier New"/>
              </a:rPr>
              <a:t> </a:t>
            </a:r>
            <a:r>
              <a:rPr sz="1200" spc="-13" dirty="0">
                <a:solidFill>
                  <a:srgbClr val="A9B7C5"/>
                </a:solidFill>
                <a:latin typeface="Courier New"/>
                <a:cs typeface="Courier New"/>
              </a:rPr>
              <a:t>data-volume</a:t>
            </a:r>
            <a:endParaRPr sz="1200" dirty="0">
              <a:latin typeface="Courier New"/>
              <a:cs typeface="Courier New"/>
            </a:endParaRPr>
          </a:p>
          <a:p>
            <a:pPr>
              <a:spcBef>
                <a:spcPts val="47"/>
              </a:spcBef>
            </a:pPr>
            <a:endParaRPr sz="1067" dirty="0">
              <a:latin typeface="Courier New"/>
              <a:cs typeface="Courier New"/>
            </a:endParaRPr>
          </a:p>
          <a:p>
            <a:pPr marL="317492"/>
            <a:r>
              <a:rPr sz="1333" b="1" spc="-7" dirty="0">
                <a:solidFill>
                  <a:srgbClr val="CC7831"/>
                </a:solidFill>
                <a:latin typeface="Courier New"/>
                <a:cs typeface="Courier New"/>
              </a:rPr>
              <a:t>volumes:</a:t>
            </a:r>
            <a:endParaRPr sz="1333" dirty="0">
              <a:latin typeface="Courier New"/>
              <a:cs typeface="Courier New"/>
            </a:endParaRPr>
          </a:p>
          <a:p>
            <a:pPr marL="317492"/>
            <a:r>
              <a:rPr sz="1333" spc="-7" dirty="0">
                <a:solidFill>
                  <a:srgbClr val="A9B7C5"/>
                </a:solidFill>
                <a:latin typeface="Courier New"/>
                <a:cs typeface="Courier New"/>
              </a:rPr>
              <a:t>- </a:t>
            </a:r>
            <a:r>
              <a:rPr sz="1333" b="1" spc="-7" dirty="0">
                <a:solidFill>
                  <a:srgbClr val="CC7831"/>
                </a:solidFill>
                <a:latin typeface="Courier New"/>
                <a:cs typeface="Courier New"/>
              </a:rPr>
              <a:t>name:</a:t>
            </a:r>
            <a:r>
              <a:rPr sz="1333" b="1" dirty="0">
                <a:solidFill>
                  <a:srgbClr val="CC7831"/>
                </a:solidFill>
                <a:latin typeface="Courier New"/>
                <a:cs typeface="Courier New"/>
              </a:rPr>
              <a:t> </a:t>
            </a:r>
            <a:r>
              <a:rPr sz="1333" spc="-7" dirty="0">
                <a:solidFill>
                  <a:srgbClr val="A9B7C5"/>
                </a:solidFill>
                <a:latin typeface="Courier New"/>
                <a:cs typeface="Courier New"/>
              </a:rPr>
              <a:t>data-volume</a:t>
            </a:r>
            <a:endParaRPr sz="1333" dirty="0">
              <a:latin typeface="Courier New"/>
              <a:cs typeface="Courier New"/>
            </a:endParaRPr>
          </a:p>
          <a:p>
            <a:pPr marL="524920">
              <a:spcBef>
                <a:spcPts val="447"/>
              </a:spcBef>
            </a:pPr>
            <a:r>
              <a:rPr sz="1333" b="1" spc="-7" dirty="0">
                <a:solidFill>
                  <a:srgbClr val="CC7831"/>
                </a:solidFill>
                <a:latin typeface="Courier New"/>
                <a:cs typeface="Courier New"/>
              </a:rPr>
              <a:t>hostPath:</a:t>
            </a:r>
            <a:endParaRPr sz="1333" dirty="0">
              <a:latin typeface="Courier New"/>
              <a:cs typeface="Courier New"/>
            </a:endParaRPr>
          </a:p>
          <a:p>
            <a:pPr marL="829713"/>
            <a:r>
              <a:rPr sz="1333" b="1" spc="-7" dirty="0">
                <a:solidFill>
                  <a:srgbClr val="CC7831"/>
                </a:solidFill>
                <a:latin typeface="Courier New"/>
                <a:cs typeface="Courier New"/>
              </a:rPr>
              <a:t>path: </a:t>
            </a:r>
            <a:r>
              <a:rPr sz="1333" spc="-7" dirty="0">
                <a:solidFill>
                  <a:srgbClr val="A9B7C5"/>
                </a:solidFill>
                <a:latin typeface="Courier New"/>
                <a:cs typeface="Courier New"/>
              </a:rPr>
              <a:t>/data</a:t>
            </a:r>
            <a:endParaRPr sz="1333" dirty="0">
              <a:latin typeface="Courier New"/>
              <a:cs typeface="Courier New"/>
            </a:endParaRPr>
          </a:p>
          <a:p>
            <a:pPr marL="829713">
              <a:spcBef>
                <a:spcPts val="33"/>
              </a:spcBef>
            </a:pPr>
            <a:r>
              <a:rPr sz="1333" b="1" spc="-7" dirty="0">
                <a:solidFill>
                  <a:srgbClr val="CC7831"/>
                </a:solidFill>
                <a:latin typeface="Courier New"/>
                <a:cs typeface="Courier New"/>
              </a:rPr>
              <a:t>type: </a:t>
            </a:r>
            <a:r>
              <a:rPr sz="1333" spc="-7" dirty="0">
                <a:solidFill>
                  <a:srgbClr val="A9B7C5"/>
                </a:solidFill>
                <a:latin typeface="Courier New"/>
                <a:cs typeface="Courier New"/>
              </a:rPr>
              <a:t>Directory</a:t>
            </a:r>
            <a:endParaRPr sz="1333" dirty="0">
              <a:latin typeface="Courier New"/>
              <a:cs typeface="Courier New"/>
            </a:endParaRPr>
          </a:p>
        </p:txBody>
      </p:sp>
      <p:sp>
        <p:nvSpPr>
          <p:cNvPr id="25" name="object 25"/>
          <p:cNvSpPr txBox="1"/>
          <p:nvPr/>
        </p:nvSpPr>
        <p:spPr>
          <a:xfrm>
            <a:off x="8658520" y="3191257"/>
            <a:ext cx="927947" cy="623248"/>
          </a:xfrm>
          <a:prstGeom prst="rect">
            <a:avLst/>
          </a:prstGeom>
        </p:spPr>
        <p:txBody>
          <a:bodyPr vert="horz" wrap="square" lIns="0" tIns="17780" rIns="0" bIns="0" rtlCol="0">
            <a:spAutoFit/>
          </a:bodyPr>
          <a:lstStyle/>
          <a:p>
            <a:pPr marL="248914">
              <a:spcBef>
                <a:spcPts val="140"/>
              </a:spcBef>
            </a:pPr>
            <a:r>
              <a:rPr sz="1400" spc="-7" dirty="0">
                <a:solidFill>
                  <a:srgbClr val="FFFFFF"/>
                </a:solidFill>
                <a:latin typeface="Noto Sans"/>
                <a:cs typeface="Noto Sans"/>
              </a:rPr>
              <a:t>56</a:t>
            </a:r>
            <a:endParaRPr sz="1400">
              <a:latin typeface="Noto Sans"/>
              <a:cs typeface="Noto Sans"/>
            </a:endParaRPr>
          </a:p>
          <a:p>
            <a:pPr marL="16933">
              <a:spcBef>
                <a:spcPts val="1627"/>
              </a:spcBef>
            </a:pPr>
            <a:r>
              <a:rPr sz="1200" spc="-13" dirty="0">
                <a:solidFill>
                  <a:srgbClr val="FFFFFF"/>
                </a:solidFill>
                <a:latin typeface="Noto Sans"/>
                <a:cs typeface="Noto Sans"/>
              </a:rPr>
              <a:t>data-volume</a:t>
            </a:r>
            <a:endParaRPr sz="1200">
              <a:latin typeface="Noto Sans"/>
              <a:cs typeface="Noto Sans"/>
            </a:endParaRPr>
          </a:p>
        </p:txBody>
      </p:sp>
      <p:sp>
        <p:nvSpPr>
          <p:cNvPr id="26" name="object 26"/>
          <p:cNvSpPr/>
          <p:nvPr/>
        </p:nvSpPr>
        <p:spPr>
          <a:xfrm>
            <a:off x="8603488" y="1744911"/>
            <a:ext cx="844973" cy="851747"/>
          </a:xfrm>
          <a:custGeom>
            <a:avLst/>
            <a:gdLst/>
            <a:ahLst/>
            <a:cxnLst/>
            <a:rect l="l" t="t" r="r" b="b"/>
            <a:pathLst>
              <a:path w="633729" h="638810">
                <a:moveTo>
                  <a:pt x="633501" y="200190"/>
                </a:moveTo>
                <a:lnTo>
                  <a:pt x="471436" y="298488"/>
                </a:lnTo>
                <a:lnTo>
                  <a:pt x="471436" y="340398"/>
                </a:lnTo>
                <a:lnTo>
                  <a:pt x="471436" y="397116"/>
                </a:lnTo>
                <a:lnTo>
                  <a:pt x="437388" y="416585"/>
                </a:lnTo>
                <a:lnTo>
                  <a:pt x="437388" y="359854"/>
                </a:lnTo>
                <a:lnTo>
                  <a:pt x="471436" y="340398"/>
                </a:lnTo>
                <a:lnTo>
                  <a:pt x="471436" y="298488"/>
                </a:lnTo>
                <a:lnTo>
                  <a:pt x="437388" y="319138"/>
                </a:lnTo>
                <a:lnTo>
                  <a:pt x="437388" y="309803"/>
                </a:lnTo>
                <a:lnTo>
                  <a:pt x="389788" y="309803"/>
                </a:lnTo>
                <a:lnTo>
                  <a:pt x="487641" y="250444"/>
                </a:lnTo>
                <a:lnTo>
                  <a:pt x="220230" y="88366"/>
                </a:lnTo>
                <a:lnTo>
                  <a:pt x="98679" y="162102"/>
                </a:lnTo>
                <a:lnTo>
                  <a:pt x="342366" y="309803"/>
                </a:lnTo>
                <a:lnTo>
                  <a:pt x="279400" y="309803"/>
                </a:lnTo>
                <a:lnTo>
                  <a:pt x="98679" y="200190"/>
                </a:lnTo>
                <a:lnTo>
                  <a:pt x="98679" y="309803"/>
                </a:lnTo>
                <a:lnTo>
                  <a:pt x="0" y="309803"/>
                </a:lnTo>
                <a:lnTo>
                  <a:pt x="0" y="558215"/>
                </a:lnTo>
                <a:lnTo>
                  <a:pt x="217297" y="558215"/>
                </a:lnTo>
                <a:lnTo>
                  <a:pt x="349885" y="638619"/>
                </a:lnTo>
                <a:lnTo>
                  <a:pt x="349885" y="558215"/>
                </a:lnTo>
                <a:lnTo>
                  <a:pt x="382295" y="558215"/>
                </a:lnTo>
                <a:lnTo>
                  <a:pt x="382295" y="638619"/>
                </a:lnTo>
                <a:lnTo>
                  <a:pt x="633501" y="486270"/>
                </a:lnTo>
                <a:lnTo>
                  <a:pt x="633501" y="429539"/>
                </a:lnTo>
                <a:lnTo>
                  <a:pt x="633501" y="340398"/>
                </a:lnTo>
                <a:lnTo>
                  <a:pt x="633501" y="200190"/>
                </a:lnTo>
                <a:close/>
              </a:path>
              <a:path w="633729" h="638810">
                <a:moveTo>
                  <a:pt x="633501" y="162102"/>
                </a:moveTo>
                <a:lnTo>
                  <a:pt x="366090" y="0"/>
                </a:lnTo>
                <a:lnTo>
                  <a:pt x="251028" y="69723"/>
                </a:lnTo>
                <a:lnTo>
                  <a:pt x="518426" y="231800"/>
                </a:lnTo>
                <a:lnTo>
                  <a:pt x="633501" y="162102"/>
                </a:lnTo>
                <a:close/>
              </a:path>
            </a:pathLst>
          </a:custGeom>
          <a:solidFill>
            <a:srgbClr val="39B54A"/>
          </a:solidFill>
        </p:spPr>
        <p:txBody>
          <a:bodyPr wrap="square" lIns="0" tIns="0" rIns="0" bIns="0" rtlCol="0"/>
          <a:lstStyle/>
          <a:p>
            <a:endParaRPr sz="2400"/>
          </a:p>
        </p:txBody>
      </p:sp>
      <p:sp>
        <p:nvSpPr>
          <p:cNvPr id="27" name="object 27"/>
          <p:cNvSpPr txBox="1"/>
          <p:nvPr/>
        </p:nvSpPr>
        <p:spPr>
          <a:xfrm>
            <a:off x="8603488" y="2157984"/>
            <a:ext cx="583353" cy="261546"/>
          </a:xfrm>
          <a:prstGeom prst="rect">
            <a:avLst/>
          </a:prstGeom>
          <a:ln w="9144">
            <a:solidFill>
              <a:srgbClr val="D5F1DA"/>
            </a:solidFill>
          </a:ln>
        </p:spPr>
        <p:txBody>
          <a:bodyPr vert="horz" wrap="square" lIns="0" tIns="55880" rIns="0" bIns="0" rtlCol="0">
            <a:spAutoFit/>
          </a:bodyPr>
          <a:lstStyle/>
          <a:p>
            <a:pPr marL="122764">
              <a:spcBef>
                <a:spcPts val="440"/>
              </a:spcBef>
            </a:pPr>
            <a:r>
              <a:rPr sz="1333" spc="-7" dirty="0">
                <a:latin typeface="Noto Sans"/>
                <a:cs typeface="Noto Sans"/>
              </a:rPr>
              <a:t>/opt</a:t>
            </a:r>
            <a:endParaRPr sz="1333">
              <a:latin typeface="Noto Sans"/>
              <a:cs typeface="Noto Sans"/>
            </a:endParaRPr>
          </a:p>
        </p:txBody>
      </p:sp>
      <p:sp>
        <p:nvSpPr>
          <p:cNvPr id="28" name="object 28"/>
          <p:cNvSpPr/>
          <p:nvPr/>
        </p:nvSpPr>
        <p:spPr>
          <a:xfrm>
            <a:off x="8849359" y="2442465"/>
            <a:ext cx="93471" cy="349503"/>
          </a:xfrm>
          <a:prstGeom prst="rect">
            <a:avLst/>
          </a:prstGeom>
          <a:blipFill>
            <a:blip r:embed="rId6"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46845879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82430" y="331247"/>
            <a:ext cx="4030133" cy="694207"/>
          </a:xfrm>
          <a:prstGeom prst="rect">
            <a:avLst/>
          </a:prstGeom>
        </p:spPr>
        <p:txBody>
          <a:bodyPr vert="horz" wrap="square" lIns="0" tIns="16933" rIns="0" bIns="0" rtlCol="0" anchor="ctr">
            <a:spAutoFit/>
          </a:bodyPr>
          <a:lstStyle/>
          <a:p>
            <a:pPr marL="16933">
              <a:lnSpc>
                <a:spcPct val="100000"/>
              </a:lnSpc>
              <a:spcBef>
                <a:spcPts val="133"/>
              </a:spcBef>
            </a:pPr>
            <a:r>
              <a:rPr spc="93" dirty="0"/>
              <a:t>Volume</a:t>
            </a:r>
            <a:r>
              <a:rPr spc="-420" dirty="0"/>
              <a:t> </a:t>
            </a:r>
            <a:r>
              <a:rPr spc="20" dirty="0"/>
              <a:t>Types</a:t>
            </a:r>
            <a:endParaRPr dirty="0"/>
          </a:p>
        </p:txBody>
      </p:sp>
      <p:sp>
        <p:nvSpPr>
          <p:cNvPr id="3" name="object 3"/>
          <p:cNvSpPr txBox="1"/>
          <p:nvPr/>
        </p:nvSpPr>
        <p:spPr>
          <a:xfrm>
            <a:off x="560831" y="3675889"/>
            <a:ext cx="3959013" cy="1144438"/>
          </a:xfrm>
          <a:prstGeom prst="rect">
            <a:avLst/>
          </a:prstGeom>
          <a:solidFill>
            <a:srgbClr val="2B2B2B"/>
          </a:solidFill>
        </p:spPr>
        <p:txBody>
          <a:bodyPr vert="horz" wrap="square" lIns="0" tIns="66887" rIns="0" bIns="0" rtlCol="0">
            <a:spAutoFit/>
          </a:bodyPr>
          <a:lstStyle/>
          <a:p>
            <a:pPr marL="122764">
              <a:spcBef>
                <a:spcPts val="527"/>
              </a:spcBef>
            </a:pPr>
            <a:r>
              <a:rPr sz="1333" b="1" spc="-7" dirty="0">
                <a:solidFill>
                  <a:srgbClr val="CC7831"/>
                </a:solidFill>
                <a:latin typeface="Courier New"/>
                <a:cs typeface="Courier New"/>
              </a:rPr>
              <a:t>volumes:</a:t>
            </a:r>
            <a:endParaRPr sz="1333" dirty="0">
              <a:latin typeface="Courier New"/>
              <a:cs typeface="Courier New"/>
            </a:endParaRPr>
          </a:p>
          <a:p>
            <a:pPr marL="122764"/>
            <a:r>
              <a:rPr sz="1333" spc="-7" dirty="0">
                <a:solidFill>
                  <a:srgbClr val="A9B7C5"/>
                </a:solidFill>
                <a:latin typeface="Courier New"/>
                <a:cs typeface="Courier New"/>
              </a:rPr>
              <a:t>- </a:t>
            </a:r>
            <a:r>
              <a:rPr sz="1333" b="1" spc="-7" dirty="0">
                <a:solidFill>
                  <a:srgbClr val="CC7831"/>
                </a:solidFill>
                <a:latin typeface="Courier New"/>
                <a:cs typeface="Courier New"/>
              </a:rPr>
              <a:t>name: </a:t>
            </a:r>
            <a:r>
              <a:rPr sz="1333" spc="-7" dirty="0">
                <a:solidFill>
                  <a:srgbClr val="A9B7C5"/>
                </a:solidFill>
                <a:latin typeface="Courier New"/>
                <a:cs typeface="Courier New"/>
              </a:rPr>
              <a:t>data-volume</a:t>
            </a:r>
            <a:endParaRPr sz="1333" dirty="0">
              <a:latin typeface="Courier New"/>
              <a:cs typeface="Courier New"/>
            </a:endParaRPr>
          </a:p>
          <a:p>
            <a:pPr marL="330192">
              <a:spcBef>
                <a:spcPts val="447"/>
              </a:spcBef>
            </a:pPr>
            <a:r>
              <a:rPr sz="1333" b="1" spc="-7" dirty="0">
                <a:solidFill>
                  <a:srgbClr val="CC7831"/>
                </a:solidFill>
                <a:latin typeface="Courier New"/>
                <a:cs typeface="Courier New"/>
              </a:rPr>
              <a:t>hostPath:</a:t>
            </a:r>
            <a:endParaRPr sz="1333" dirty="0">
              <a:latin typeface="Courier New"/>
              <a:cs typeface="Courier New"/>
            </a:endParaRPr>
          </a:p>
          <a:p>
            <a:pPr marL="634984"/>
            <a:r>
              <a:rPr sz="1333" b="1" spc="-7" dirty="0">
                <a:solidFill>
                  <a:srgbClr val="CC7831"/>
                </a:solidFill>
                <a:latin typeface="Courier New"/>
                <a:cs typeface="Courier New"/>
              </a:rPr>
              <a:t>path: </a:t>
            </a:r>
            <a:r>
              <a:rPr sz="1333" spc="-7" dirty="0">
                <a:solidFill>
                  <a:srgbClr val="A9B7C5"/>
                </a:solidFill>
                <a:latin typeface="Courier New"/>
                <a:cs typeface="Courier New"/>
              </a:rPr>
              <a:t>/data</a:t>
            </a:r>
            <a:endParaRPr sz="1333" dirty="0">
              <a:latin typeface="Courier New"/>
              <a:cs typeface="Courier New"/>
            </a:endParaRPr>
          </a:p>
          <a:p>
            <a:pPr marL="634984">
              <a:spcBef>
                <a:spcPts val="33"/>
              </a:spcBef>
            </a:pPr>
            <a:r>
              <a:rPr sz="1333" b="1" spc="-7" dirty="0">
                <a:solidFill>
                  <a:srgbClr val="CC7831"/>
                </a:solidFill>
                <a:latin typeface="Courier New"/>
                <a:cs typeface="Courier New"/>
              </a:rPr>
              <a:t>type: </a:t>
            </a:r>
            <a:r>
              <a:rPr sz="1333" spc="-7" dirty="0">
                <a:solidFill>
                  <a:srgbClr val="A9B7C5"/>
                </a:solidFill>
                <a:latin typeface="Courier New"/>
                <a:cs typeface="Courier New"/>
              </a:rPr>
              <a:t>Directory</a:t>
            </a:r>
            <a:endParaRPr sz="1333" dirty="0">
              <a:latin typeface="Courier New"/>
              <a:cs typeface="Courier New"/>
            </a:endParaRPr>
          </a:p>
        </p:txBody>
      </p:sp>
      <p:sp>
        <p:nvSpPr>
          <p:cNvPr id="4" name="object 4"/>
          <p:cNvSpPr/>
          <p:nvPr/>
        </p:nvSpPr>
        <p:spPr>
          <a:xfrm>
            <a:off x="6551169" y="916432"/>
            <a:ext cx="1689100" cy="2493433"/>
          </a:xfrm>
          <a:custGeom>
            <a:avLst/>
            <a:gdLst/>
            <a:ahLst/>
            <a:cxnLst/>
            <a:rect l="l" t="t" r="r" b="b"/>
            <a:pathLst>
              <a:path w="1266825" h="1870075">
                <a:moveTo>
                  <a:pt x="0" y="211074"/>
                </a:moveTo>
                <a:lnTo>
                  <a:pt x="5573" y="162672"/>
                </a:lnTo>
                <a:lnTo>
                  <a:pt x="21451" y="118243"/>
                </a:lnTo>
                <a:lnTo>
                  <a:pt x="46366" y="79052"/>
                </a:lnTo>
                <a:lnTo>
                  <a:pt x="79052" y="46366"/>
                </a:lnTo>
                <a:lnTo>
                  <a:pt x="118243" y="21451"/>
                </a:lnTo>
                <a:lnTo>
                  <a:pt x="162672" y="5573"/>
                </a:lnTo>
                <a:lnTo>
                  <a:pt x="211074" y="0"/>
                </a:lnTo>
                <a:lnTo>
                  <a:pt x="1055370" y="0"/>
                </a:lnTo>
                <a:lnTo>
                  <a:pt x="1103771" y="5573"/>
                </a:lnTo>
                <a:lnTo>
                  <a:pt x="1148200" y="21451"/>
                </a:lnTo>
                <a:lnTo>
                  <a:pt x="1187391" y="46366"/>
                </a:lnTo>
                <a:lnTo>
                  <a:pt x="1220077" y="79052"/>
                </a:lnTo>
                <a:lnTo>
                  <a:pt x="1244992" y="118243"/>
                </a:lnTo>
                <a:lnTo>
                  <a:pt x="1260870" y="162672"/>
                </a:lnTo>
                <a:lnTo>
                  <a:pt x="1266444" y="211074"/>
                </a:lnTo>
                <a:lnTo>
                  <a:pt x="1266444" y="1658874"/>
                </a:lnTo>
                <a:lnTo>
                  <a:pt x="1260870" y="1707275"/>
                </a:lnTo>
                <a:lnTo>
                  <a:pt x="1244992" y="1751704"/>
                </a:lnTo>
                <a:lnTo>
                  <a:pt x="1220077" y="1790895"/>
                </a:lnTo>
                <a:lnTo>
                  <a:pt x="1187391" y="1823581"/>
                </a:lnTo>
                <a:lnTo>
                  <a:pt x="1148200" y="1848496"/>
                </a:lnTo>
                <a:lnTo>
                  <a:pt x="1103771" y="1864374"/>
                </a:lnTo>
                <a:lnTo>
                  <a:pt x="1055370" y="1869948"/>
                </a:lnTo>
                <a:lnTo>
                  <a:pt x="211074" y="1869948"/>
                </a:lnTo>
                <a:lnTo>
                  <a:pt x="162672" y="1864374"/>
                </a:lnTo>
                <a:lnTo>
                  <a:pt x="118243" y="1848496"/>
                </a:lnTo>
                <a:lnTo>
                  <a:pt x="79052" y="1823581"/>
                </a:lnTo>
                <a:lnTo>
                  <a:pt x="46366" y="1790895"/>
                </a:lnTo>
                <a:lnTo>
                  <a:pt x="21451" y="1751704"/>
                </a:lnTo>
                <a:lnTo>
                  <a:pt x="5573" y="1707275"/>
                </a:lnTo>
                <a:lnTo>
                  <a:pt x="0" y="1658874"/>
                </a:lnTo>
                <a:lnTo>
                  <a:pt x="0" y="211074"/>
                </a:lnTo>
                <a:close/>
              </a:path>
            </a:pathLst>
          </a:custGeom>
          <a:ln w="9144">
            <a:solidFill>
              <a:srgbClr val="433D66"/>
            </a:solidFill>
          </a:ln>
        </p:spPr>
        <p:txBody>
          <a:bodyPr wrap="square" lIns="0" tIns="0" rIns="0" bIns="0" rtlCol="0"/>
          <a:lstStyle/>
          <a:p>
            <a:endParaRPr sz="2400"/>
          </a:p>
        </p:txBody>
      </p:sp>
      <p:sp>
        <p:nvSpPr>
          <p:cNvPr id="5" name="object 5"/>
          <p:cNvSpPr txBox="1"/>
          <p:nvPr/>
        </p:nvSpPr>
        <p:spPr>
          <a:xfrm>
            <a:off x="7142988" y="3058668"/>
            <a:ext cx="507153" cy="201764"/>
          </a:xfrm>
          <a:prstGeom prst="rect">
            <a:avLst/>
          </a:prstGeom>
        </p:spPr>
        <p:txBody>
          <a:bodyPr vert="horz" wrap="square" lIns="0" tIns="16933" rIns="0" bIns="0" rtlCol="0">
            <a:spAutoFit/>
          </a:bodyPr>
          <a:lstStyle/>
          <a:p>
            <a:pPr marL="16933">
              <a:spcBef>
                <a:spcPts val="133"/>
              </a:spcBef>
            </a:pPr>
            <a:r>
              <a:rPr sz="1200" spc="-13" dirty="0">
                <a:solidFill>
                  <a:srgbClr val="433D66"/>
                </a:solidFill>
                <a:latin typeface="Noto Sans"/>
                <a:cs typeface="Noto Sans"/>
              </a:rPr>
              <a:t>No</a:t>
            </a:r>
            <a:r>
              <a:rPr sz="1200" spc="-7" dirty="0">
                <a:solidFill>
                  <a:srgbClr val="433D66"/>
                </a:solidFill>
                <a:latin typeface="Noto Sans"/>
                <a:cs typeface="Noto Sans"/>
              </a:rPr>
              <a:t>de1</a:t>
            </a:r>
            <a:endParaRPr sz="1200">
              <a:latin typeface="Noto Sans"/>
              <a:cs typeface="Noto Sans"/>
            </a:endParaRPr>
          </a:p>
        </p:txBody>
      </p:sp>
      <p:sp>
        <p:nvSpPr>
          <p:cNvPr id="6" name="object 6"/>
          <p:cNvSpPr/>
          <p:nvPr/>
        </p:nvSpPr>
        <p:spPr>
          <a:xfrm>
            <a:off x="4750815" y="2991103"/>
            <a:ext cx="1229360" cy="916431"/>
          </a:xfrm>
          <a:prstGeom prst="rect">
            <a:avLst/>
          </a:prstGeom>
          <a:blipFill>
            <a:blip r:embed="rId2" cstate="print"/>
            <a:stretch>
              <a:fillRect/>
            </a:stretch>
          </a:blipFill>
        </p:spPr>
        <p:txBody>
          <a:bodyPr wrap="square" lIns="0" tIns="0" rIns="0" bIns="0" rtlCol="0"/>
          <a:lstStyle/>
          <a:p>
            <a:endParaRPr sz="2400"/>
          </a:p>
        </p:txBody>
      </p:sp>
      <p:sp>
        <p:nvSpPr>
          <p:cNvPr id="7" name="object 7"/>
          <p:cNvSpPr txBox="1"/>
          <p:nvPr/>
        </p:nvSpPr>
        <p:spPr>
          <a:xfrm>
            <a:off x="4854618" y="3912108"/>
            <a:ext cx="1128607" cy="242866"/>
          </a:xfrm>
          <a:prstGeom prst="rect">
            <a:avLst/>
          </a:prstGeom>
        </p:spPr>
        <p:txBody>
          <a:bodyPr vert="horz" wrap="square" lIns="0" tIns="16933" rIns="0" bIns="0" rtlCol="0">
            <a:spAutoFit/>
          </a:bodyPr>
          <a:lstStyle/>
          <a:p>
            <a:pPr marL="16933">
              <a:spcBef>
                <a:spcPts val="133"/>
              </a:spcBef>
            </a:pPr>
            <a:r>
              <a:rPr sz="1467" spc="-13" dirty="0">
                <a:latin typeface="Noto Sans"/>
                <a:cs typeface="Noto Sans"/>
              </a:rPr>
              <a:t>data-volume</a:t>
            </a:r>
            <a:endParaRPr sz="1467">
              <a:latin typeface="Noto Sans"/>
              <a:cs typeface="Noto Sans"/>
            </a:endParaRPr>
          </a:p>
        </p:txBody>
      </p:sp>
      <p:sp>
        <p:nvSpPr>
          <p:cNvPr id="8" name="object 8"/>
          <p:cNvSpPr/>
          <p:nvPr/>
        </p:nvSpPr>
        <p:spPr>
          <a:xfrm>
            <a:off x="8444993" y="896112"/>
            <a:ext cx="1689100" cy="2493433"/>
          </a:xfrm>
          <a:custGeom>
            <a:avLst/>
            <a:gdLst/>
            <a:ahLst/>
            <a:cxnLst/>
            <a:rect l="l" t="t" r="r" b="b"/>
            <a:pathLst>
              <a:path w="1266825" h="1870075">
                <a:moveTo>
                  <a:pt x="0" y="211074"/>
                </a:moveTo>
                <a:lnTo>
                  <a:pt x="5573" y="162672"/>
                </a:lnTo>
                <a:lnTo>
                  <a:pt x="21451" y="118243"/>
                </a:lnTo>
                <a:lnTo>
                  <a:pt x="46366" y="79052"/>
                </a:lnTo>
                <a:lnTo>
                  <a:pt x="79052" y="46366"/>
                </a:lnTo>
                <a:lnTo>
                  <a:pt x="118243" y="21451"/>
                </a:lnTo>
                <a:lnTo>
                  <a:pt x="162672" y="5573"/>
                </a:lnTo>
                <a:lnTo>
                  <a:pt x="211074" y="0"/>
                </a:lnTo>
                <a:lnTo>
                  <a:pt x="1055370" y="0"/>
                </a:lnTo>
                <a:lnTo>
                  <a:pt x="1103771" y="5573"/>
                </a:lnTo>
                <a:lnTo>
                  <a:pt x="1148200" y="21451"/>
                </a:lnTo>
                <a:lnTo>
                  <a:pt x="1187391" y="46366"/>
                </a:lnTo>
                <a:lnTo>
                  <a:pt x="1220077" y="79052"/>
                </a:lnTo>
                <a:lnTo>
                  <a:pt x="1244992" y="118243"/>
                </a:lnTo>
                <a:lnTo>
                  <a:pt x="1260870" y="162672"/>
                </a:lnTo>
                <a:lnTo>
                  <a:pt x="1266444" y="211074"/>
                </a:lnTo>
                <a:lnTo>
                  <a:pt x="1266444" y="1658873"/>
                </a:lnTo>
                <a:lnTo>
                  <a:pt x="1260870" y="1707275"/>
                </a:lnTo>
                <a:lnTo>
                  <a:pt x="1244992" y="1751704"/>
                </a:lnTo>
                <a:lnTo>
                  <a:pt x="1220077" y="1790895"/>
                </a:lnTo>
                <a:lnTo>
                  <a:pt x="1187391" y="1823581"/>
                </a:lnTo>
                <a:lnTo>
                  <a:pt x="1148200" y="1848496"/>
                </a:lnTo>
                <a:lnTo>
                  <a:pt x="1103771" y="1864374"/>
                </a:lnTo>
                <a:lnTo>
                  <a:pt x="1055370" y="1869947"/>
                </a:lnTo>
                <a:lnTo>
                  <a:pt x="211074" y="1869947"/>
                </a:lnTo>
                <a:lnTo>
                  <a:pt x="162672" y="1864374"/>
                </a:lnTo>
                <a:lnTo>
                  <a:pt x="118243" y="1848496"/>
                </a:lnTo>
                <a:lnTo>
                  <a:pt x="79052" y="1823581"/>
                </a:lnTo>
                <a:lnTo>
                  <a:pt x="46366" y="1790895"/>
                </a:lnTo>
                <a:lnTo>
                  <a:pt x="21451" y="1751704"/>
                </a:lnTo>
                <a:lnTo>
                  <a:pt x="5573" y="1707275"/>
                </a:lnTo>
                <a:lnTo>
                  <a:pt x="0" y="1658873"/>
                </a:lnTo>
                <a:lnTo>
                  <a:pt x="0" y="211074"/>
                </a:lnTo>
                <a:close/>
              </a:path>
            </a:pathLst>
          </a:custGeom>
          <a:ln w="9144">
            <a:solidFill>
              <a:srgbClr val="433D66"/>
            </a:solidFill>
          </a:ln>
        </p:spPr>
        <p:txBody>
          <a:bodyPr wrap="square" lIns="0" tIns="0" rIns="0" bIns="0" rtlCol="0"/>
          <a:lstStyle/>
          <a:p>
            <a:endParaRPr sz="2400"/>
          </a:p>
        </p:txBody>
      </p:sp>
      <p:sp>
        <p:nvSpPr>
          <p:cNvPr id="9" name="object 9"/>
          <p:cNvSpPr txBox="1"/>
          <p:nvPr/>
        </p:nvSpPr>
        <p:spPr>
          <a:xfrm>
            <a:off x="9037321" y="3039534"/>
            <a:ext cx="507153" cy="201764"/>
          </a:xfrm>
          <a:prstGeom prst="rect">
            <a:avLst/>
          </a:prstGeom>
        </p:spPr>
        <p:txBody>
          <a:bodyPr vert="horz" wrap="square" lIns="0" tIns="16933" rIns="0" bIns="0" rtlCol="0">
            <a:spAutoFit/>
          </a:bodyPr>
          <a:lstStyle/>
          <a:p>
            <a:pPr marL="16933">
              <a:spcBef>
                <a:spcPts val="133"/>
              </a:spcBef>
            </a:pPr>
            <a:r>
              <a:rPr sz="1200" spc="-13" dirty="0">
                <a:solidFill>
                  <a:srgbClr val="433D66"/>
                </a:solidFill>
                <a:latin typeface="Noto Sans"/>
                <a:cs typeface="Noto Sans"/>
              </a:rPr>
              <a:t>No</a:t>
            </a:r>
            <a:r>
              <a:rPr sz="1200" spc="-7" dirty="0">
                <a:solidFill>
                  <a:srgbClr val="433D66"/>
                </a:solidFill>
                <a:latin typeface="Noto Sans"/>
                <a:cs typeface="Noto Sans"/>
              </a:rPr>
              <a:t>de2</a:t>
            </a:r>
            <a:endParaRPr sz="1200">
              <a:latin typeface="Noto Sans"/>
              <a:cs typeface="Noto Sans"/>
            </a:endParaRPr>
          </a:p>
        </p:txBody>
      </p:sp>
      <p:sp>
        <p:nvSpPr>
          <p:cNvPr id="10" name="object 10"/>
          <p:cNvSpPr/>
          <p:nvPr/>
        </p:nvSpPr>
        <p:spPr>
          <a:xfrm>
            <a:off x="10251441" y="896112"/>
            <a:ext cx="1689100" cy="2493433"/>
          </a:xfrm>
          <a:custGeom>
            <a:avLst/>
            <a:gdLst/>
            <a:ahLst/>
            <a:cxnLst/>
            <a:rect l="l" t="t" r="r" b="b"/>
            <a:pathLst>
              <a:path w="1266825" h="1870075">
                <a:moveTo>
                  <a:pt x="0" y="211074"/>
                </a:moveTo>
                <a:lnTo>
                  <a:pt x="5573" y="162672"/>
                </a:lnTo>
                <a:lnTo>
                  <a:pt x="21451" y="118243"/>
                </a:lnTo>
                <a:lnTo>
                  <a:pt x="46366" y="79052"/>
                </a:lnTo>
                <a:lnTo>
                  <a:pt x="79052" y="46366"/>
                </a:lnTo>
                <a:lnTo>
                  <a:pt x="118243" y="21451"/>
                </a:lnTo>
                <a:lnTo>
                  <a:pt x="162672" y="5573"/>
                </a:lnTo>
                <a:lnTo>
                  <a:pt x="211074" y="0"/>
                </a:lnTo>
                <a:lnTo>
                  <a:pt x="1055370" y="0"/>
                </a:lnTo>
                <a:lnTo>
                  <a:pt x="1103771" y="5573"/>
                </a:lnTo>
                <a:lnTo>
                  <a:pt x="1148200" y="21451"/>
                </a:lnTo>
                <a:lnTo>
                  <a:pt x="1187391" y="46366"/>
                </a:lnTo>
                <a:lnTo>
                  <a:pt x="1220077" y="79052"/>
                </a:lnTo>
                <a:lnTo>
                  <a:pt x="1244992" y="118243"/>
                </a:lnTo>
                <a:lnTo>
                  <a:pt x="1260870" y="162672"/>
                </a:lnTo>
                <a:lnTo>
                  <a:pt x="1266444" y="211074"/>
                </a:lnTo>
                <a:lnTo>
                  <a:pt x="1266444" y="1658873"/>
                </a:lnTo>
                <a:lnTo>
                  <a:pt x="1260870" y="1707275"/>
                </a:lnTo>
                <a:lnTo>
                  <a:pt x="1244992" y="1751704"/>
                </a:lnTo>
                <a:lnTo>
                  <a:pt x="1220077" y="1790895"/>
                </a:lnTo>
                <a:lnTo>
                  <a:pt x="1187391" y="1823581"/>
                </a:lnTo>
                <a:lnTo>
                  <a:pt x="1148200" y="1848496"/>
                </a:lnTo>
                <a:lnTo>
                  <a:pt x="1103771" y="1864374"/>
                </a:lnTo>
                <a:lnTo>
                  <a:pt x="1055370" y="1869947"/>
                </a:lnTo>
                <a:lnTo>
                  <a:pt x="211074" y="1869947"/>
                </a:lnTo>
                <a:lnTo>
                  <a:pt x="162672" y="1864374"/>
                </a:lnTo>
                <a:lnTo>
                  <a:pt x="118243" y="1848496"/>
                </a:lnTo>
                <a:lnTo>
                  <a:pt x="79052" y="1823581"/>
                </a:lnTo>
                <a:lnTo>
                  <a:pt x="46366" y="1790895"/>
                </a:lnTo>
                <a:lnTo>
                  <a:pt x="21451" y="1751704"/>
                </a:lnTo>
                <a:lnTo>
                  <a:pt x="5573" y="1707275"/>
                </a:lnTo>
                <a:lnTo>
                  <a:pt x="0" y="1658873"/>
                </a:lnTo>
                <a:lnTo>
                  <a:pt x="0" y="211074"/>
                </a:lnTo>
                <a:close/>
              </a:path>
            </a:pathLst>
          </a:custGeom>
          <a:ln w="9144">
            <a:solidFill>
              <a:srgbClr val="433D66"/>
            </a:solidFill>
          </a:ln>
        </p:spPr>
        <p:txBody>
          <a:bodyPr wrap="square" lIns="0" tIns="0" rIns="0" bIns="0" rtlCol="0"/>
          <a:lstStyle/>
          <a:p>
            <a:endParaRPr sz="2400"/>
          </a:p>
        </p:txBody>
      </p:sp>
      <p:sp>
        <p:nvSpPr>
          <p:cNvPr id="11" name="object 11"/>
          <p:cNvSpPr txBox="1"/>
          <p:nvPr/>
        </p:nvSpPr>
        <p:spPr>
          <a:xfrm>
            <a:off x="10844108" y="3039534"/>
            <a:ext cx="507153" cy="201764"/>
          </a:xfrm>
          <a:prstGeom prst="rect">
            <a:avLst/>
          </a:prstGeom>
        </p:spPr>
        <p:txBody>
          <a:bodyPr vert="horz" wrap="square" lIns="0" tIns="16933" rIns="0" bIns="0" rtlCol="0">
            <a:spAutoFit/>
          </a:bodyPr>
          <a:lstStyle/>
          <a:p>
            <a:pPr marL="16933">
              <a:spcBef>
                <a:spcPts val="133"/>
              </a:spcBef>
            </a:pPr>
            <a:r>
              <a:rPr sz="1200" spc="-13" dirty="0">
                <a:solidFill>
                  <a:srgbClr val="433D66"/>
                </a:solidFill>
                <a:latin typeface="Noto Sans"/>
                <a:cs typeface="Noto Sans"/>
              </a:rPr>
              <a:t>No</a:t>
            </a:r>
            <a:r>
              <a:rPr sz="1200" spc="-7" dirty="0">
                <a:solidFill>
                  <a:srgbClr val="433D66"/>
                </a:solidFill>
                <a:latin typeface="Noto Sans"/>
                <a:cs typeface="Noto Sans"/>
              </a:rPr>
              <a:t>de3</a:t>
            </a:r>
            <a:endParaRPr sz="1200">
              <a:latin typeface="Noto Sans"/>
              <a:cs typeface="Noto Sans"/>
            </a:endParaRPr>
          </a:p>
        </p:txBody>
      </p:sp>
      <p:grpSp>
        <p:nvGrpSpPr>
          <p:cNvPr id="12" name="object 12"/>
          <p:cNvGrpSpPr/>
          <p:nvPr/>
        </p:nvGrpSpPr>
        <p:grpSpPr>
          <a:xfrm>
            <a:off x="6733710" y="2177965"/>
            <a:ext cx="1230207" cy="710353"/>
            <a:chOff x="5050282" y="1633473"/>
            <a:chExt cx="922655" cy="532765"/>
          </a:xfrm>
        </p:grpSpPr>
        <p:sp>
          <p:nvSpPr>
            <p:cNvPr id="13" name="object 13"/>
            <p:cNvSpPr/>
            <p:nvPr/>
          </p:nvSpPr>
          <p:spPr>
            <a:xfrm>
              <a:off x="5056632" y="1639823"/>
              <a:ext cx="909955" cy="520065"/>
            </a:xfrm>
            <a:custGeom>
              <a:avLst/>
              <a:gdLst/>
              <a:ahLst/>
              <a:cxnLst/>
              <a:rect l="l" t="t" r="r" b="b"/>
              <a:pathLst>
                <a:path w="909954" h="520064">
                  <a:moveTo>
                    <a:pt x="823213" y="0"/>
                  </a:moveTo>
                  <a:lnTo>
                    <a:pt x="86613" y="0"/>
                  </a:lnTo>
                  <a:lnTo>
                    <a:pt x="52881" y="6800"/>
                  </a:lnTo>
                  <a:lnTo>
                    <a:pt x="25352" y="25352"/>
                  </a:lnTo>
                  <a:lnTo>
                    <a:pt x="6800" y="52881"/>
                  </a:lnTo>
                  <a:lnTo>
                    <a:pt x="0" y="86613"/>
                  </a:lnTo>
                  <a:lnTo>
                    <a:pt x="0" y="433069"/>
                  </a:lnTo>
                  <a:lnTo>
                    <a:pt x="6800" y="466802"/>
                  </a:lnTo>
                  <a:lnTo>
                    <a:pt x="25352" y="494331"/>
                  </a:lnTo>
                  <a:lnTo>
                    <a:pt x="52881" y="512883"/>
                  </a:lnTo>
                  <a:lnTo>
                    <a:pt x="86613" y="519683"/>
                  </a:lnTo>
                  <a:lnTo>
                    <a:pt x="823213" y="519683"/>
                  </a:lnTo>
                  <a:lnTo>
                    <a:pt x="856946" y="512883"/>
                  </a:lnTo>
                  <a:lnTo>
                    <a:pt x="884475" y="494331"/>
                  </a:lnTo>
                  <a:lnTo>
                    <a:pt x="903027" y="466802"/>
                  </a:lnTo>
                  <a:lnTo>
                    <a:pt x="909827" y="433069"/>
                  </a:lnTo>
                  <a:lnTo>
                    <a:pt x="909827" y="86613"/>
                  </a:lnTo>
                  <a:lnTo>
                    <a:pt x="903027" y="52881"/>
                  </a:lnTo>
                  <a:lnTo>
                    <a:pt x="884475" y="25352"/>
                  </a:lnTo>
                  <a:lnTo>
                    <a:pt x="856946" y="6800"/>
                  </a:lnTo>
                  <a:lnTo>
                    <a:pt x="823213" y="0"/>
                  </a:lnTo>
                  <a:close/>
                </a:path>
              </a:pathLst>
            </a:custGeom>
            <a:solidFill>
              <a:schemeClr val="tx1"/>
            </a:solidFill>
          </p:spPr>
          <p:txBody>
            <a:bodyPr wrap="square" lIns="0" tIns="0" rIns="0" bIns="0" rtlCol="0"/>
            <a:lstStyle/>
            <a:p>
              <a:endParaRPr sz="2400"/>
            </a:p>
          </p:txBody>
        </p:sp>
        <p:sp>
          <p:nvSpPr>
            <p:cNvPr id="14" name="object 14"/>
            <p:cNvSpPr/>
            <p:nvPr/>
          </p:nvSpPr>
          <p:spPr>
            <a:xfrm>
              <a:off x="5056632" y="1639823"/>
              <a:ext cx="909955" cy="520065"/>
            </a:xfrm>
            <a:custGeom>
              <a:avLst/>
              <a:gdLst/>
              <a:ahLst/>
              <a:cxnLst/>
              <a:rect l="l" t="t" r="r" b="b"/>
              <a:pathLst>
                <a:path w="909954" h="520064">
                  <a:moveTo>
                    <a:pt x="0" y="86613"/>
                  </a:moveTo>
                  <a:lnTo>
                    <a:pt x="6800" y="52881"/>
                  </a:lnTo>
                  <a:lnTo>
                    <a:pt x="25352" y="25352"/>
                  </a:lnTo>
                  <a:lnTo>
                    <a:pt x="52881" y="6800"/>
                  </a:lnTo>
                  <a:lnTo>
                    <a:pt x="86613" y="0"/>
                  </a:lnTo>
                  <a:lnTo>
                    <a:pt x="823213" y="0"/>
                  </a:lnTo>
                  <a:lnTo>
                    <a:pt x="856946" y="6800"/>
                  </a:lnTo>
                  <a:lnTo>
                    <a:pt x="884475" y="25352"/>
                  </a:lnTo>
                  <a:lnTo>
                    <a:pt x="903027" y="52881"/>
                  </a:lnTo>
                  <a:lnTo>
                    <a:pt x="909827" y="86613"/>
                  </a:lnTo>
                  <a:lnTo>
                    <a:pt x="909827" y="433069"/>
                  </a:lnTo>
                  <a:lnTo>
                    <a:pt x="903027" y="466802"/>
                  </a:lnTo>
                  <a:lnTo>
                    <a:pt x="884475" y="494331"/>
                  </a:lnTo>
                  <a:lnTo>
                    <a:pt x="856946" y="512883"/>
                  </a:lnTo>
                  <a:lnTo>
                    <a:pt x="823213" y="519683"/>
                  </a:lnTo>
                  <a:lnTo>
                    <a:pt x="86613" y="519683"/>
                  </a:lnTo>
                  <a:lnTo>
                    <a:pt x="52881" y="512883"/>
                  </a:lnTo>
                  <a:lnTo>
                    <a:pt x="25352" y="494331"/>
                  </a:lnTo>
                  <a:lnTo>
                    <a:pt x="6800" y="466802"/>
                  </a:lnTo>
                  <a:lnTo>
                    <a:pt x="0" y="433069"/>
                  </a:lnTo>
                  <a:lnTo>
                    <a:pt x="0" y="86613"/>
                  </a:lnTo>
                  <a:close/>
                </a:path>
              </a:pathLst>
            </a:custGeom>
            <a:ln w="12192">
              <a:solidFill>
                <a:srgbClr val="0D5C8F"/>
              </a:solidFill>
            </a:ln>
          </p:spPr>
          <p:txBody>
            <a:bodyPr wrap="square" lIns="0" tIns="0" rIns="0" bIns="0" rtlCol="0"/>
            <a:lstStyle/>
            <a:p>
              <a:endParaRPr sz="2400"/>
            </a:p>
          </p:txBody>
        </p:sp>
      </p:grpSp>
      <p:sp>
        <p:nvSpPr>
          <p:cNvPr id="15" name="object 15"/>
          <p:cNvSpPr txBox="1"/>
          <p:nvPr/>
        </p:nvSpPr>
        <p:spPr>
          <a:xfrm>
            <a:off x="7123513" y="2405548"/>
            <a:ext cx="452120" cy="223074"/>
          </a:xfrm>
          <a:prstGeom prst="rect">
            <a:avLst/>
          </a:prstGeom>
        </p:spPr>
        <p:txBody>
          <a:bodyPr vert="horz" wrap="square" lIns="0" tIns="17780" rIns="0" bIns="0" rtlCol="0">
            <a:spAutoFit/>
          </a:bodyPr>
          <a:lstStyle/>
          <a:p>
            <a:pPr marL="16933">
              <a:spcBef>
                <a:spcPts val="140"/>
              </a:spcBef>
            </a:pPr>
            <a:r>
              <a:rPr sz="1333" spc="-7" dirty="0">
                <a:solidFill>
                  <a:srgbClr val="FFFFFF"/>
                </a:solidFill>
                <a:latin typeface="Noto Sans"/>
                <a:cs typeface="Noto Sans"/>
              </a:rPr>
              <a:t>/data</a:t>
            </a:r>
            <a:endParaRPr sz="1333" dirty="0">
              <a:latin typeface="Noto Sans"/>
              <a:cs typeface="Noto Sans"/>
            </a:endParaRPr>
          </a:p>
        </p:txBody>
      </p:sp>
      <p:grpSp>
        <p:nvGrpSpPr>
          <p:cNvPr id="16" name="object 16"/>
          <p:cNvGrpSpPr/>
          <p:nvPr/>
        </p:nvGrpSpPr>
        <p:grpSpPr>
          <a:xfrm>
            <a:off x="7582009" y="2177965"/>
            <a:ext cx="2335107" cy="710353"/>
            <a:chOff x="5686507" y="1633473"/>
            <a:chExt cx="1751330" cy="532765"/>
          </a:xfrm>
        </p:grpSpPr>
        <p:sp>
          <p:nvSpPr>
            <p:cNvPr id="17" name="object 17"/>
            <p:cNvSpPr/>
            <p:nvPr/>
          </p:nvSpPr>
          <p:spPr>
            <a:xfrm>
              <a:off x="5686507" y="1905509"/>
              <a:ext cx="230940" cy="166333"/>
            </a:xfrm>
            <a:prstGeom prst="rect">
              <a:avLst/>
            </a:prstGeom>
            <a:blipFill>
              <a:blip r:embed="rId3" cstate="print"/>
              <a:stretch>
                <a:fillRect/>
              </a:stretch>
            </a:blipFill>
          </p:spPr>
          <p:txBody>
            <a:bodyPr wrap="square" lIns="0" tIns="0" rIns="0" bIns="0" rtlCol="0"/>
            <a:lstStyle/>
            <a:p>
              <a:endParaRPr sz="2400"/>
            </a:p>
          </p:txBody>
        </p:sp>
        <p:sp>
          <p:nvSpPr>
            <p:cNvPr id="18" name="object 18"/>
            <p:cNvSpPr/>
            <p:nvPr/>
          </p:nvSpPr>
          <p:spPr>
            <a:xfrm>
              <a:off x="6521196" y="1639823"/>
              <a:ext cx="909955" cy="520065"/>
            </a:xfrm>
            <a:custGeom>
              <a:avLst/>
              <a:gdLst/>
              <a:ahLst/>
              <a:cxnLst/>
              <a:rect l="l" t="t" r="r" b="b"/>
              <a:pathLst>
                <a:path w="909954" h="520064">
                  <a:moveTo>
                    <a:pt x="823213" y="0"/>
                  </a:moveTo>
                  <a:lnTo>
                    <a:pt x="86613" y="0"/>
                  </a:lnTo>
                  <a:lnTo>
                    <a:pt x="52881" y="6800"/>
                  </a:lnTo>
                  <a:lnTo>
                    <a:pt x="25352" y="25352"/>
                  </a:lnTo>
                  <a:lnTo>
                    <a:pt x="6800" y="52881"/>
                  </a:lnTo>
                  <a:lnTo>
                    <a:pt x="0" y="86613"/>
                  </a:lnTo>
                  <a:lnTo>
                    <a:pt x="0" y="433069"/>
                  </a:lnTo>
                  <a:lnTo>
                    <a:pt x="6800" y="466802"/>
                  </a:lnTo>
                  <a:lnTo>
                    <a:pt x="25352" y="494331"/>
                  </a:lnTo>
                  <a:lnTo>
                    <a:pt x="52881" y="512883"/>
                  </a:lnTo>
                  <a:lnTo>
                    <a:pt x="86613" y="519683"/>
                  </a:lnTo>
                  <a:lnTo>
                    <a:pt x="823213" y="519683"/>
                  </a:lnTo>
                  <a:lnTo>
                    <a:pt x="856946" y="512883"/>
                  </a:lnTo>
                  <a:lnTo>
                    <a:pt x="884475" y="494331"/>
                  </a:lnTo>
                  <a:lnTo>
                    <a:pt x="903027" y="466802"/>
                  </a:lnTo>
                  <a:lnTo>
                    <a:pt x="909827" y="433069"/>
                  </a:lnTo>
                  <a:lnTo>
                    <a:pt x="909827" y="86613"/>
                  </a:lnTo>
                  <a:lnTo>
                    <a:pt x="903027" y="52881"/>
                  </a:lnTo>
                  <a:lnTo>
                    <a:pt x="884475" y="25352"/>
                  </a:lnTo>
                  <a:lnTo>
                    <a:pt x="856946" y="6800"/>
                  </a:lnTo>
                  <a:lnTo>
                    <a:pt x="823213" y="0"/>
                  </a:lnTo>
                  <a:close/>
                </a:path>
              </a:pathLst>
            </a:custGeom>
            <a:solidFill>
              <a:schemeClr val="tx2"/>
            </a:solidFill>
          </p:spPr>
          <p:txBody>
            <a:bodyPr wrap="square" lIns="0" tIns="0" rIns="0" bIns="0" rtlCol="0"/>
            <a:lstStyle/>
            <a:p>
              <a:endParaRPr sz="2400"/>
            </a:p>
          </p:txBody>
        </p:sp>
        <p:sp>
          <p:nvSpPr>
            <p:cNvPr id="19" name="object 19"/>
            <p:cNvSpPr/>
            <p:nvPr/>
          </p:nvSpPr>
          <p:spPr>
            <a:xfrm>
              <a:off x="6521196" y="1639823"/>
              <a:ext cx="909955" cy="520065"/>
            </a:xfrm>
            <a:custGeom>
              <a:avLst/>
              <a:gdLst/>
              <a:ahLst/>
              <a:cxnLst/>
              <a:rect l="l" t="t" r="r" b="b"/>
              <a:pathLst>
                <a:path w="909954" h="520064">
                  <a:moveTo>
                    <a:pt x="0" y="86613"/>
                  </a:moveTo>
                  <a:lnTo>
                    <a:pt x="6800" y="52881"/>
                  </a:lnTo>
                  <a:lnTo>
                    <a:pt x="25352" y="25352"/>
                  </a:lnTo>
                  <a:lnTo>
                    <a:pt x="52881" y="6800"/>
                  </a:lnTo>
                  <a:lnTo>
                    <a:pt x="86613" y="0"/>
                  </a:lnTo>
                  <a:lnTo>
                    <a:pt x="823213" y="0"/>
                  </a:lnTo>
                  <a:lnTo>
                    <a:pt x="856946" y="6800"/>
                  </a:lnTo>
                  <a:lnTo>
                    <a:pt x="884475" y="25352"/>
                  </a:lnTo>
                  <a:lnTo>
                    <a:pt x="903027" y="52881"/>
                  </a:lnTo>
                  <a:lnTo>
                    <a:pt x="909827" y="86613"/>
                  </a:lnTo>
                  <a:lnTo>
                    <a:pt x="909827" y="433069"/>
                  </a:lnTo>
                  <a:lnTo>
                    <a:pt x="903027" y="466802"/>
                  </a:lnTo>
                  <a:lnTo>
                    <a:pt x="884475" y="494331"/>
                  </a:lnTo>
                  <a:lnTo>
                    <a:pt x="856946" y="512883"/>
                  </a:lnTo>
                  <a:lnTo>
                    <a:pt x="823213" y="519683"/>
                  </a:lnTo>
                  <a:lnTo>
                    <a:pt x="86613" y="519683"/>
                  </a:lnTo>
                  <a:lnTo>
                    <a:pt x="52881" y="512883"/>
                  </a:lnTo>
                  <a:lnTo>
                    <a:pt x="25352" y="494331"/>
                  </a:lnTo>
                  <a:lnTo>
                    <a:pt x="6800" y="466802"/>
                  </a:lnTo>
                  <a:lnTo>
                    <a:pt x="0" y="433069"/>
                  </a:lnTo>
                  <a:lnTo>
                    <a:pt x="0" y="86613"/>
                  </a:lnTo>
                  <a:close/>
                </a:path>
              </a:pathLst>
            </a:custGeom>
            <a:ln w="12192">
              <a:solidFill>
                <a:srgbClr val="B15616"/>
              </a:solidFill>
            </a:ln>
          </p:spPr>
          <p:txBody>
            <a:bodyPr wrap="square" lIns="0" tIns="0" rIns="0" bIns="0" rtlCol="0"/>
            <a:lstStyle/>
            <a:p>
              <a:endParaRPr sz="2400"/>
            </a:p>
          </p:txBody>
        </p:sp>
      </p:grpSp>
      <p:sp>
        <p:nvSpPr>
          <p:cNvPr id="20" name="object 20"/>
          <p:cNvSpPr txBox="1"/>
          <p:nvPr/>
        </p:nvSpPr>
        <p:spPr>
          <a:xfrm>
            <a:off x="9076267" y="2405548"/>
            <a:ext cx="452120" cy="223074"/>
          </a:xfrm>
          <a:prstGeom prst="rect">
            <a:avLst/>
          </a:prstGeom>
        </p:spPr>
        <p:txBody>
          <a:bodyPr vert="horz" wrap="square" lIns="0" tIns="17780" rIns="0" bIns="0" rtlCol="0">
            <a:spAutoFit/>
          </a:bodyPr>
          <a:lstStyle/>
          <a:p>
            <a:pPr marL="16933">
              <a:spcBef>
                <a:spcPts val="140"/>
              </a:spcBef>
            </a:pPr>
            <a:r>
              <a:rPr sz="1333" spc="-7" dirty="0">
                <a:solidFill>
                  <a:srgbClr val="FFFFFF"/>
                </a:solidFill>
                <a:latin typeface="Noto Sans"/>
                <a:cs typeface="Noto Sans"/>
              </a:rPr>
              <a:t>/data</a:t>
            </a:r>
            <a:endParaRPr sz="1333" dirty="0">
              <a:latin typeface="Noto Sans"/>
              <a:cs typeface="Noto Sans"/>
            </a:endParaRPr>
          </a:p>
        </p:txBody>
      </p:sp>
      <p:grpSp>
        <p:nvGrpSpPr>
          <p:cNvPr id="21" name="object 21"/>
          <p:cNvGrpSpPr/>
          <p:nvPr/>
        </p:nvGrpSpPr>
        <p:grpSpPr>
          <a:xfrm>
            <a:off x="10478686" y="2177965"/>
            <a:ext cx="1228513" cy="710353"/>
            <a:chOff x="7859014" y="1633473"/>
            <a:chExt cx="921385" cy="532765"/>
          </a:xfrm>
        </p:grpSpPr>
        <p:sp>
          <p:nvSpPr>
            <p:cNvPr id="22" name="object 22"/>
            <p:cNvSpPr/>
            <p:nvPr/>
          </p:nvSpPr>
          <p:spPr>
            <a:xfrm>
              <a:off x="7865364" y="1639823"/>
              <a:ext cx="908685" cy="520065"/>
            </a:xfrm>
            <a:custGeom>
              <a:avLst/>
              <a:gdLst/>
              <a:ahLst/>
              <a:cxnLst/>
              <a:rect l="l" t="t" r="r" b="b"/>
              <a:pathLst>
                <a:path w="908684" h="520064">
                  <a:moveTo>
                    <a:pt x="821689" y="0"/>
                  </a:moveTo>
                  <a:lnTo>
                    <a:pt x="86613" y="0"/>
                  </a:lnTo>
                  <a:lnTo>
                    <a:pt x="52881" y="6800"/>
                  </a:lnTo>
                  <a:lnTo>
                    <a:pt x="25352" y="25352"/>
                  </a:lnTo>
                  <a:lnTo>
                    <a:pt x="6800" y="52881"/>
                  </a:lnTo>
                  <a:lnTo>
                    <a:pt x="0" y="86613"/>
                  </a:lnTo>
                  <a:lnTo>
                    <a:pt x="0" y="433069"/>
                  </a:lnTo>
                  <a:lnTo>
                    <a:pt x="6800" y="466802"/>
                  </a:lnTo>
                  <a:lnTo>
                    <a:pt x="25352" y="494331"/>
                  </a:lnTo>
                  <a:lnTo>
                    <a:pt x="52881" y="512883"/>
                  </a:lnTo>
                  <a:lnTo>
                    <a:pt x="86613" y="519683"/>
                  </a:lnTo>
                  <a:lnTo>
                    <a:pt x="821689" y="519683"/>
                  </a:lnTo>
                  <a:lnTo>
                    <a:pt x="855422" y="512883"/>
                  </a:lnTo>
                  <a:lnTo>
                    <a:pt x="882951" y="494331"/>
                  </a:lnTo>
                  <a:lnTo>
                    <a:pt x="901503" y="466802"/>
                  </a:lnTo>
                  <a:lnTo>
                    <a:pt x="908303" y="433069"/>
                  </a:lnTo>
                  <a:lnTo>
                    <a:pt x="908303" y="86613"/>
                  </a:lnTo>
                  <a:lnTo>
                    <a:pt x="901503" y="52881"/>
                  </a:lnTo>
                  <a:lnTo>
                    <a:pt x="882951" y="25352"/>
                  </a:lnTo>
                  <a:lnTo>
                    <a:pt x="855422" y="6800"/>
                  </a:lnTo>
                  <a:lnTo>
                    <a:pt x="821689" y="0"/>
                  </a:lnTo>
                  <a:close/>
                </a:path>
              </a:pathLst>
            </a:custGeom>
            <a:solidFill>
              <a:schemeClr val="bg2">
                <a:lumMod val="50000"/>
              </a:schemeClr>
            </a:solidFill>
          </p:spPr>
          <p:txBody>
            <a:bodyPr wrap="square" lIns="0" tIns="0" rIns="0" bIns="0" rtlCol="0"/>
            <a:lstStyle/>
            <a:p>
              <a:endParaRPr sz="2400"/>
            </a:p>
          </p:txBody>
        </p:sp>
        <p:sp>
          <p:nvSpPr>
            <p:cNvPr id="23" name="object 23"/>
            <p:cNvSpPr/>
            <p:nvPr/>
          </p:nvSpPr>
          <p:spPr>
            <a:xfrm>
              <a:off x="7865364" y="1639823"/>
              <a:ext cx="908685" cy="520065"/>
            </a:xfrm>
            <a:custGeom>
              <a:avLst/>
              <a:gdLst/>
              <a:ahLst/>
              <a:cxnLst/>
              <a:rect l="l" t="t" r="r" b="b"/>
              <a:pathLst>
                <a:path w="908684" h="520064">
                  <a:moveTo>
                    <a:pt x="0" y="86613"/>
                  </a:moveTo>
                  <a:lnTo>
                    <a:pt x="6800" y="52881"/>
                  </a:lnTo>
                  <a:lnTo>
                    <a:pt x="25352" y="25352"/>
                  </a:lnTo>
                  <a:lnTo>
                    <a:pt x="52881" y="6800"/>
                  </a:lnTo>
                  <a:lnTo>
                    <a:pt x="86613" y="0"/>
                  </a:lnTo>
                  <a:lnTo>
                    <a:pt x="821689" y="0"/>
                  </a:lnTo>
                  <a:lnTo>
                    <a:pt x="855422" y="6800"/>
                  </a:lnTo>
                  <a:lnTo>
                    <a:pt x="882951" y="25352"/>
                  </a:lnTo>
                  <a:lnTo>
                    <a:pt x="901503" y="52881"/>
                  </a:lnTo>
                  <a:lnTo>
                    <a:pt x="908303" y="86613"/>
                  </a:lnTo>
                  <a:lnTo>
                    <a:pt x="908303" y="433069"/>
                  </a:lnTo>
                  <a:lnTo>
                    <a:pt x="901503" y="466802"/>
                  </a:lnTo>
                  <a:lnTo>
                    <a:pt x="882951" y="494331"/>
                  </a:lnTo>
                  <a:lnTo>
                    <a:pt x="855422" y="512883"/>
                  </a:lnTo>
                  <a:lnTo>
                    <a:pt x="821689" y="519683"/>
                  </a:lnTo>
                  <a:lnTo>
                    <a:pt x="86613" y="519683"/>
                  </a:lnTo>
                  <a:lnTo>
                    <a:pt x="52881" y="512883"/>
                  </a:lnTo>
                  <a:lnTo>
                    <a:pt x="25352" y="494331"/>
                  </a:lnTo>
                  <a:lnTo>
                    <a:pt x="6800" y="466802"/>
                  </a:lnTo>
                  <a:lnTo>
                    <a:pt x="0" y="433069"/>
                  </a:lnTo>
                  <a:lnTo>
                    <a:pt x="0" y="86613"/>
                  </a:lnTo>
                  <a:close/>
                </a:path>
              </a:pathLst>
            </a:custGeom>
            <a:ln w="12192">
              <a:solidFill>
                <a:srgbClr val="A60561"/>
              </a:solidFill>
            </a:ln>
          </p:spPr>
          <p:txBody>
            <a:bodyPr wrap="square" lIns="0" tIns="0" rIns="0" bIns="0" rtlCol="0"/>
            <a:lstStyle/>
            <a:p>
              <a:endParaRPr sz="2400"/>
            </a:p>
          </p:txBody>
        </p:sp>
      </p:grpSp>
      <p:grpSp>
        <p:nvGrpSpPr>
          <p:cNvPr id="24" name="object 24"/>
          <p:cNvGrpSpPr/>
          <p:nvPr/>
        </p:nvGrpSpPr>
        <p:grpSpPr>
          <a:xfrm>
            <a:off x="6933184" y="2540679"/>
            <a:ext cx="4864947" cy="4318000"/>
            <a:chOff x="5199888" y="1905509"/>
            <a:chExt cx="3648710" cy="3238500"/>
          </a:xfrm>
        </p:grpSpPr>
        <p:sp>
          <p:nvSpPr>
            <p:cNvPr id="25" name="object 25"/>
            <p:cNvSpPr/>
            <p:nvPr/>
          </p:nvSpPr>
          <p:spPr>
            <a:xfrm>
              <a:off x="7151071" y="1905509"/>
              <a:ext cx="230940" cy="166333"/>
            </a:xfrm>
            <a:prstGeom prst="rect">
              <a:avLst/>
            </a:prstGeom>
            <a:blipFill>
              <a:blip r:embed="rId4" cstate="print"/>
              <a:stretch>
                <a:fillRect/>
              </a:stretch>
            </a:blipFill>
          </p:spPr>
          <p:txBody>
            <a:bodyPr wrap="square" lIns="0" tIns="0" rIns="0" bIns="0" rtlCol="0"/>
            <a:lstStyle/>
            <a:p>
              <a:endParaRPr sz="2400"/>
            </a:p>
          </p:txBody>
        </p:sp>
        <p:sp>
          <p:nvSpPr>
            <p:cNvPr id="26" name="object 26"/>
            <p:cNvSpPr/>
            <p:nvPr/>
          </p:nvSpPr>
          <p:spPr>
            <a:xfrm>
              <a:off x="6039612" y="2510028"/>
              <a:ext cx="1226819" cy="1226820"/>
            </a:xfrm>
            <a:prstGeom prst="rect">
              <a:avLst/>
            </a:prstGeom>
            <a:blipFill>
              <a:blip r:embed="rId5" cstate="print"/>
              <a:stretch>
                <a:fillRect/>
              </a:stretch>
            </a:blipFill>
          </p:spPr>
          <p:txBody>
            <a:bodyPr wrap="square" lIns="0" tIns="0" rIns="0" bIns="0" rtlCol="0"/>
            <a:lstStyle/>
            <a:p>
              <a:endParaRPr sz="2400"/>
            </a:p>
          </p:txBody>
        </p:sp>
        <p:sp>
          <p:nvSpPr>
            <p:cNvPr id="27" name="object 27"/>
            <p:cNvSpPr/>
            <p:nvPr/>
          </p:nvSpPr>
          <p:spPr>
            <a:xfrm>
              <a:off x="7290816" y="2889504"/>
              <a:ext cx="1235964" cy="562356"/>
            </a:xfrm>
            <a:prstGeom prst="rect">
              <a:avLst/>
            </a:prstGeom>
            <a:blipFill>
              <a:blip r:embed="rId6" cstate="print"/>
              <a:stretch>
                <a:fillRect/>
              </a:stretch>
            </a:blipFill>
          </p:spPr>
          <p:txBody>
            <a:bodyPr wrap="square" lIns="0" tIns="0" rIns="0" bIns="0" rtlCol="0"/>
            <a:lstStyle/>
            <a:p>
              <a:endParaRPr sz="2400"/>
            </a:p>
          </p:txBody>
        </p:sp>
        <p:sp>
          <p:nvSpPr>
            <p:cNvPr id="28" name="object 28"/>
            <p:cNvSpPr/>
            <p:nvPr/>
          </p:nvSpPr>
          <p:spPr>
            <a:xfrm>
              <a:off x="5199888" y="3573780"/>
              <a:ext cx="923543" cy="1149095"/>
            </a:xfrm>
            <a:prstGeom prst="rect">
              <a:avLst/>
            </a:prstGeom>
            <a:blipFill>
              <a:blip r:embed="rId7" cstate="print"/>
              <a:stretch>
                <a:fillRect/>
              </a:stretch>
            </a:blipFill>
          </p:spPr>
          <p:txBody>
            <a:bodyPr wrap="square" lIns="0" tIns="0" rIns="0" bIns="0" rtlCol="0"/>
            <a:lstStyle/>
            <a:p>
              <a:endParaRPr sz="2400"/>
            </a:p>
          </p:txBody>
        </p:sp>
        <p:sp>
          <p:nvSpPr>
            <p:cNvPr id="29" name="object 29"/>
            <p:cNvSpPr/>
            <p:nvPr/>
          </p:nvSpPr>
          <p:spPr>
            <a:xfrm>
              <a:off x="6060948" y="3814572"/>
              <a:ext cx="1274063" cy="513588"/>
            </a:xfrm>
            <a:prstGeom prst="rect">
              <a:avLst/>
            </a:prstGeom>
            <a:blipFill>
              <a:blip r:embed="rId8" cstate="print"/>
              <a:stretch>
                <a:fillRect/>
              </a:stretch>
            </a:blipFill>
          </p:spPr>
          <p:txBody>
            <a:bodyPr wrap="square" lIns="0" tIns="0" rIns="0" bIns="0" rtlCol="0"/>
            <a:lstStyle/>
            <a:p>
              <a:endParaRPr sz="2400"/>
            </a:p>
          </p:txBody>
        </p:sp>
        <p:sp>
          <p:nvSpPr>
            <p:cNvPr id="30" name="object 30"/>
            <p:cNvSpPr/>
            <p:nvPr/>
          </p:nvSpPr>
          <p:spPr>
            <a:xfrm>
              <a:off x="7136892" y="3563111"/>
              <a:ext cx="1059179" cy="1059180"/>
            </a:xfrm>
            <a:prstGeom prst="rect">
              <a:avLst/>
            </a:prstGeom>
            <a:blipFill>
              <a:blip r:embed="rId9" cstate="print"/>
              <a:stretch>
                <a:fillRect/>
              </a:stretch>
            </a:blipFill>
          </p:spPr>
          <p:txBody>
            <a:bodyPr wrap="square" lIns="0" tIns="0" rIns="0" bIns="0" rtlCol="0"/>
            <a:lstStyle/>
            <a:p>
              <a:endParaRPr sz="2400"/>
            </a:p>
          </p:txBody>
        </p:sp>
        <p:sp>
          <p:nvSpPr>
            <p:cNvPr id="31" name="object 31"/>
            <p:cNvSpPr/>
            <p:nvPr/>
          </p:nvSpPr>
          <p:spPr>
            <a:xfrm>
              <a:off x="8127492" y="3732276"/>
              <a:ext cx="720851" cy="722376"/>
            </a:xfrm>
            <a:prstGeom prst="rect">
              <a:avLst/>
            </a:prstGeom>
            <a:blipFill>
              <a:blip r:embed="rId10" cstate="print"/>
              <a:stretch>
                <a:fillRect/>
              </a:stretch>
            </a:blipFill>
          </p:spPr>
          <p:txBody>
            <a:bodyPr wrap="square" lIns="0" tIns="0" rIns="0" bIns="0" rtlCol="0"/>
            <a:lstStyle/>
            <a:p>
              <a:endParaRPr sz="2400"/>
            </a:p>
          </p:txBody>
        </p:sp>
        <p:sp>
          <p:nvSpPr>
            <p:cNvPr id="32" name="object 32"/>
            <p:cNvSpPr/>
            <p:nvPr/>
          </p:nvSpPr>
          <p:spPr>
            <a:xfrm>
              <a:off x="6358127" y="4012692"/>
              <a:ext cx="1219200" cy="1130806"/>
            </a:xfrm>
            <a:prstGeom prst="rect">
              <a:avLst/>
            </a:prstGeom>
            <a:blipFill>
              <a:blip r:embed="rId11" cstate="print"/>
              <a:stretch>
                <a:fillRect/>
              </a:stretch>
            </a:blipFill>
          </p:spPr>
          <p:txBody>
            <a:bodyPr wrap="square" lIns="0" tIns="0" rIns="0" bIns="0" rtlCol="0"/>
            <a:lstStyle/>
            <a:p>
              <a:endParaRPr sz="2400"/>
            </a:p>
          </p:txBody>
        </p:sp>
        <p:sp>
          <p:nvSpPr>
            <p:cNvPr id="33" name="object 33"/>
            <p:cNvSpPr/>
            <p:nvPr/>
          </p:nvSpPr>
          <p:spPr>
            <a:xfrm>
              <a:off x="8203692" y="4436364"/>
              <a:ext cx="541020" cy="541020"/>
            </a:xfrm>
            <a:prstGeom prst="rect">
              <a:avLst/>
            </a:prstGeom>
            <a:blipFill>
              <a:blip r:embed="rId12" cstate="print"/>
              <a:stretch>
                <a:fillRect/>
              </a:stretch>
            </a:blipFill>
          </p:spPr>
          <p:txBody>
            <a:bodyPr wrap="square" lIns="0" tIns="0" rIns="0" bIns="0" rtlCol="0"/>
            <a:lstStyle/>
            <a:p>
              <a:endParaRPr sz="2400"/>
            </a:p>
          </p:txBody>
        </p:sp>
      </p:grpSp>
      <p:sp>
        <p:nvSpPr>
          <p:cNvPr id="34" name="object 34"/>
          <p:cNvSpPr txBox="1"/>
          <p:nvPr/>
        </p:nvSpPr>
        <p:spPr>
          <a:xfrm>
            <a:off x="10867305" y="2405548"/>
            <a:ext cx="452120" cy="223074"/>
          </a:xfrm>
          <a:prstGeom prst="rect">
            <a:avLst/>
          </a:prstGeom>
        </p:spPr>
        <p:txBody>
          <a:bodyPr vert="horz" wrap="square" lIns="0" tIns="17780" rIns="0" bIns="0" rtlCol="0">
            <a:spAutoFit/>
          </a:bodyPr>
          <a:lstStyle/>
          <a:p>
            <a:pPr marL="16933">
              <a:spcBef>
                <a:spcPts val="140"/>
              </a:spcBef>
            </a:pPr>
            <a:r>
              <a:rPr sz="1333" spc="-7" dirty="0">
                <a:solidFill>
                  <a:srgbClr val="FFFFFF"/>
                </a:solidFill>
                <a:latin typeface="Noto Sans"/>
                <a:cs typeface="Noto Sans"/>
              </a:rPr>
              <a:t>/data</a:t>
            </a:r>
            <a:endParaRPr sz="1333">
              <a:latin typeface="Noto Sans"/>
              <a:cs typeface="Noto Sans"/>
            </a:endParaRPr>
          </a:p>
        </p:txBody>
      </p:sp>
      <p:sp>
        <p:nvSpPr>
          <p:cNvPr id="35" name="object 35"/>
          <p:cNvSpPr/>
          <p:nvPr/>
        </p:nvSpPr>
        <p:spPr>
          <a:xfrm>
            <a:off x="11326985" y="2540680"/>
            <a:ext cx="307920" cy="221777"/>
          </a:xfrm>
          <a:prstGeom prst="rect">
            <a:avLst/>
          </a:prstGeom>
          <a:blipFill>
            <a:blip r:embed="rId13" cstate="print"/>
            <a:stretch>
              <a:fillRect/>
            </a:stretch>
          </a:blipFill>
        </p:spPr>
        <p:txBody>
          <a:bodyPr wrap="square" lIns="0" tIns="0" rIns="0" bIns="0" rtlCol="0"/>
          <a:lstStyle/>
          <a:p>
            <a:endParaRPr sz="2400"/>
          </a:p>
        </p:txBody>
      </p:sp>
      <p:grpSp>
        <p:nvGrpSpPr>
          <p:cNvPr id="36" name="object 36"/>
          <p:cNvGrpSpPr/>
          <p:nvPr/>
        </p:nvGrpSpPr>
        <p:grpSpPr>
          <a:xfrm>
            <a:off x="7117171" y="3824767"/>
            <a:ext cx="728133" cy="524933"/>
            <a:chOff x="5337878" y="2868575"/>
            <a:chExt cx="546100" cy="393700"/>
          </a:xfrm>
        </p:grpSpPr>
        <p:sp>
          <p:nvSpPr>
            <p:cNvPr id="37" name="object 37"/>
            <p:cNvSpPr/>
            <p:nvPr/>
          </p:nvSpPr>
          <p:spPr>
            <a:xfrm>
              <a:off x="5341340" y="2872030"/>
              <a:ext cx="483870" cy="365760"/>
            </a:xfrm>
            <a:custGeom>
              <a:avLst/>
              <a:gdLst/>
              <a:ahLst/>
              <a:cxnLst/>
              <a:rect l="l" t="t" r="r" b="b"/>
              <a:pathLst>
                <a:path w="483870" h="365760">
                  <a:moveTo>
                    <a:pt x="163113" y="0"/>
                  </a:moveTo>
                  <a:lnTo>
                    <a:pt x="27646" y="0"/>
                  </a:lnTo>
                  <a:lnTo>
                    <a:pt x="16911" y="2177"/>
                  </a:lnTo>
                  <a:lnTo>
                    <a:pt x="8121" y="8105"/>
                  </a:lnTo>
                  <a:lnTo>
                    <a:pt x="2181" y="16880"/>
                  </a:lnTo>
                  <a:lnTo>
                    <a:pt x="0" y="27594"/>
                  </a:lnTo>
                  <a:lnTo>
                    <a:pt x="0" y="365629"/>
                  </a:lnTo>
                  <a:lnTo>
                    <a:pt x="89159" y="149701"/>
                  </a:lnTo>
                  <a:lnTo>
                    <a:pt x="97205" y="136485"/>
                  </a:lnTo>
                  <a:lnTo>
                    <a:pt x="108425" y="126245"/>
                  </a:lnTo>
                  <a:lnTo>
                    <a:pt x="122108" y="119627"/>
                  </a:lnTo>
                  <a:lnTo>
                    <a:pt x="137540" y="117277"/>
                  </a:lnTo>
                  <a:lnTo>
                    <a:pt x="483811" y="117277"/>
                  </a:lnTo>
                  <a:lnTo>
                    <a:pt x="483811" y="82783"/>
                  </a:lnTo>
                  <a:lnTo>
                    <a:pt x="481629" y="72069"/>
                  </a:lnTo>
                  <a:lnTo>
                    <a:pt x="475690" y="63295"/>
                  </a:lnTo>
                  <a:lnTo>
                    <a:pt x="466899" y="57366"/>
                  </a:lnTo>
                  <a:lnTo>
                    <a:pt x="456165" y="55189"/>
                  </a:lnTo>
                  <a:lnTo>
                    <a:pt x="248817" y="55189"/>
                  </a:lnTo>
                  <a:lnTo>
                    <a:pt x="167951" y="2069"/>
                  </a:lnTo>
                  <a:lnTo>
                    <a:pt x="163113" y="0"/>
                  </a:lnTo>
                  <a:close/>
                </a:path>
              </a:pathLst>
            </a:custGeom>
            <a:solidFill>
              <a:srgbClr val="FFFFFF"/>
            </a:solidFill>
          </p:spPr>
          <p:txBody>
            <a:bodyPr wrap="square" lIns="0" tIns="0" rIns="0" bIns="0" rtlCol="0"/>
            <a:lstStyle/>
            <a:p>
              <a:endParaRPr sz="2400"/>
            </a:p>
          </p:txBody>
        </p:sp>
        <p:sp>
          <p:nvSpPr>
            <p:cNvPr id="38" name="object 38"/>
            <p:cNvSpPr/>
            <p:nvPr/>
          </p:nvSpPr>
          <p:spPr>
            <a:xfrm>
              <a:off x="5337878" y="2868575"/>
              <a:ext cx="490855" cy="370840"/>
            </a:xfrm>
            <a:custGeom>
              <a:avLst/>
              <a:gdLst/>
              <a:ahLst/>
              <a:cxnLst/>
              <a:rect l="l" t="t" r="r" b="b"/>
              <a:pathLst>
                <a:path w="490854" h="370839">
                  <a:moveTo>
                    <a:pt x="161420" y="0"/>
                  </a:moveTo>
                  <a:lnTo>
                    <a:pt x="30768" y="0"/>
                  </a:lnTo>
                  <a:lnTo>
                    <a:pt x="18920" y="2368"/>
                  </a:lnTo>
                  <a:lnTo>
                    <a:pt x="9186" y="9169"/>
                  </a:lnTo>
                  <a:lnTo>
                    <a:pt x="2372" y="18885"/>
                  </a:lnTo>
                  <a:lnTo>
                    <a:pt x="0" y="30704"/>
                  </a:lnTo>
                  <a:lnTo>
                    <a:pt x="0" y="369084"/>
                  </a:lnTo>
                  <a:lnTo>
                    <a:pt x="6675" y="370366"/>
                  </a:lnTo>
                  <a:lnTo>
                    <a:pt x="7189" y="369084"/>
                  </a:lnTo>
                  <a:lnTo>
                    <a:pt x="6923" y="369084"/>
                  </a:lnTo>
                  <a:lnTo>
                    <a:pt x="247" y="367802"/>
                  </a:lnTo>
                  <a:lnTo>
                    <a:pt x="1151" y="365554"/>
                  </a:lnTo>
                  <a:lnTo>
                    <a:pt x="4206" y="359000"/>
                  </a:lnTo>
                  <a:lnTo>
                    <a:pt x="6923" y="352222"/>
                  </a:lnTo>
                  <a:lnTo>
                    <a:pt x="6853" y="31728"/>
                  </a:lnTo>
                  <a:lnTo>
                    <a:pt x="6923" y="31049"/>
                  </a:lnTo>
                  <a:lnTo>
                    <a:pt x="8753" y="22248"/>
                  </a:lnTo>
                  <a:lnTo>
                    <a:pt x="8455" y="22248"/>
                  </a:lnTo>
                  <a:lnTo>
                    <a:pt x="9013" y="20948"/>
                  </a:lnTo>
                  <a:lnTo>
                    <a:pt x="9366" y="20948"/>
                  </a:lnTo>
                  <a:lnTo>
                    <a:pt x="13906" y="14475"/>
                  </a:lnTo>
                  <a:lnTo>
                    <a:pt x="13650" y="14475"/>
                  </a:lnTo>
                  <a:lnTo>
                    <a:pt x="14502" y="13624"/>
                  </a:lnTo>
                  <a:lnTo>
                    <a:pt x="14868" y="13624"/>
                  </a:lnTo>
                  <a:lnTo>
                    <a:pt x="21491" y="8997"/>
                  </a:lnTo>
                  <a:lnTo>
                    <a:pt x="20988" y="8997"/>
                  </a:lnTo>
                  <a:lnTo>
                    <a:pt x="22289" y="8439"/>
                  </a:lnTo>
                  <a:lnTo>
                    <a:pt x="23781" y="8439"/>
                  </a:lnTo>
                  <a:lnTo>
                    <a:pt x="31441" y="6910"/>
                  </a:lnTo>
                  <a:lnTo>
                    <a:pt x="31107" y="6910"/>
                  </a:lnTo>
                  <a:lnTo>
                    <a:pt x="31787" y="6841"/>
                  </a:lnTo>
                  <a:lnTo>
                    <a:pt x="179814" y="6841"/>
                  </a:lnTo>
                  <a:lnTo>
                    <a:pt x="178013" y="5656"/>
                  </a:lnTo>
                  <a:lnTo>
                    <a:pt x="170030" y="1431"/>
                  </a:lnTo>
                  <a:lnTo>
                    <a:pt x="161420" y="0"/>
                  </a:lnTo>
                  <a:close/>
                </a:path>
                <a:path w="490854" h="370839">
                  <a:moveTo>
                    <a:pt x="6923" y="359000"/>
                  </a:moveTo>
                  <a:lnTo>
                    <a:pt x="4216" y="359000"/>
                  </a:lnTo>
                  <a:lnTo>
                    <a:pt x="1151" y="365554"/>
                  </a:lnTo>
                  <a:lnTo>
                    <a:pt x="247" y="367802"/>
                  </a:lnTo>
                  <a:lnTo>
                    <a:pt x="6923" y="369084"/>
                  </a:lnTo>
                  <a:lnTo>
                    <a:pt x="6923" y="359000"/>
                  </a:lnTo>
                  <a:close/>
                </a:path>
                <a:path w="490854" h="370839">
                  <a:moveTo>
                    <a:pt x="52232" y="260838"/>
                  </a:moveTo>
                  <a:lnTo>
                    <a:pt x="44753" y="260849"/>
                  </a:lnTo>
                  <a:lnTo>
                    <a:pt x="14088" y="334999"/>
                  </a:lnTo>
                  <a:lnTo>
                    <a:pt x="8466" y="348371"/>
                  </a:lnTo>
                  <a:lnTo>
                    <a:pt x="6923" y="352222"/>
                  </a:lnTo>
                  <a:lnTo>
                    <a:pt x="6923" y="369084"/>
                  </a:lnTo>
                  <a:lnTo>
                    <a:pt x="7189" y="369084"/>
                  </a:lnTo>
                  <a:lnTo>
                    <a:pt x="7467" y="368388"/>
                  </a:lnTo>
                  <a:lnTo>
                    <a:pt x="10522" y="361834"/>
                  </a:lnTo>
                  <a:lnTo>
                    <a:pt x="14862" y="351015"/>
                  </a:lnTo>
                  <a:lnTo>
                    <a:pt x="20481" y="337643"/>
                  </a:lnTo>
                  <a:lnTo>
                    <a:pt x="52232" y="260838"/>
                  </a:lnTo>
                  <a:close/>
                </a:path>
                <a:path w="490854" h="370839">
                  <a:moveTo>
                    <a:pt x="6923" y="352222"/>
                  </a:moveTo>
                  <a:lnTo>
                    <a:pt x="4151" y="359138"/>
                  </a:lnTo>
                  <a:lnTo>
                    <a:pt x="4216" y="359000"/>
                  </a:lnTo>
                  <a:lnTo>
                    <a:pt x="6923" y="359000"/>
                  </a:lnTo>
                  <a:lnTo>
                    <a:pt x="6923" y="352222"/>
                  </a:lnTo>
                  <a:close/>
                </a:path>
                <a:path w="490854" h="370839">
                  <a:moveTo>
                    <a:pt x="83307" y="186212"/>
                  </a:moveTo>
                  <a:lnTo>
                    <a:pt x="75872" y="186212"/>
                  </a:lnTo>
                  <a:lnTo>
                    <a:pt x="61179" y="220728"/>
                  </a:lnTo>
                  <a:lnTo>
                    <a:pt x="44752" y="260849"/>
                  </a:lnTo>
                  <a:lnTo>
                    <a:pt x="52232" y="260838"/>
                  </a:lnTo>
                  <a:lnTo>
                    <a:pt x="67574" y="223361"/>
                  </a:lnTo>
                  <a:lnTo>
                    <a:pt x="82259" y="188868"/>
                  </a:lnTo>
                  <a:lnTo>
                    <a:pt x="83307" y="186212"/>
                  </a:lnTo>
                  <a:close/>
                </a:path>
                <a:path w="490854" h="370839">
                  <a:moveTo>
                    <a:pt x="96113" y="154702"/>
                  </a:moveTo>
                  <a:lnTo>
                    <a:pt x="88848" y="154702"/>
                  </a:lnTo>
                  <a:lnTo>
                    <a:pt x="85813" y="161629"/>
                  </a:lnTo>
                  <a:lnTo>
                    <a:pt x="81464" y="172035"/>
                  </a:lnTo>
                  <a:lnTo>
                    <a:pt x="75864" y="186229"/>
                  </a:lnTo>
                  <a:lnTo>
                    <a:pt x="83307" y="186212"/>
                  </a:lnTo>
                  <a:lnTo>
                    <a:pt x="87867" y="174662"/>
                  </a:lnTo>
                  <a:lnTo>
                    <a:pt x="92185" y="164314"/>
                  </a:lnTo>
                  <a:lnTo>
                    <a:pt x="95247" y="157329"/>
                  </a:lnTo>
                  <a:lnTo>
                    <a:pt x="95949" y="155231"/>
                  </a:lnTo>
                  <a:lnTo>
                    <a:pt x="96113" y="154702"/>
                  </a:lnTo>
                  <a:close/>
                </a:path>
                <a:path w="490854" h="370839">
                  <a:moveTo>
                    <a:pt x="96163" y="154593"/>
                  </a:moveTo>
                  <a:lnTo>
                    <a:pt x="95869" y="155231"/>
                  </a:lnTo>
                  <a:lnTo>
                    <a:pt x="96006" y="154995"/>
                  </a:lnTo>
                  <a:lnTo>
                    <a:pt x="96163" y="154593"/>
                  </a:lnTo>
                  <a:close/>
                </a:path>
                <a:path w="490854" h="370839">
                  <a:moveTo>
                    <a:pt x="96058" y="154906"/>
                  </a:moveTo>
                  <a:lnTo>
                    <a:pt x="95869" y="155231"/>
                  </a:lnTo>
                  <a:lnTo>
                    <a:pt x="96058" y="154906"/>
                  </a:lnTo>
                  <a:close/>
                </a:path>
                <a:path w="490854" h="370839">
                  <a:moveTo>
                    <a:pt x="96240" y="154593"/>
                  </a:moveTo>
                  <a:lnTo>
                    <a:pt x="96058" y="154906"/>
                  </a:lnTo>
                  <a:lnTo>
                    <a:pt x="96240" y="154593"/>
                  </a:lnTo>
                  <a:close/>
                </a:path>
                <a:path w="490854" h="370839">
                  <a:moveTo>
                    <a:pt x="483811" y="117277"/>
                  </a:moveTo>
                  <a:lnTo>
                    <a:pt x="140973" y="117277"/>
                  </a:lnTo>
                  <a:lnTo>
                    <a:pt x="124673" y="119990"/>
                  </a:lnTo>
                  <a:lnTo>
                    <a:pt x="109934" y="126889"/>
                  </a:lnTo>
                  <a:lnTo>
                    <a:pt x="97925" y="137950"/>
                  </a:lnTo>
                  <a:lnTo>
                    <a:pt x="89712" y="152075"/>
                  </a:lnTo>
                  <a:lnTo>
                    <a:pt x="88776" y="154866"/>
                  </a:lnTo>
                  <a:lnTo>
                    <a:pt x="88848" y="154702"/>
                  </a:lnTo>
                  <a:lnTo>
                    <a:pt x="96113" y="154702"/>
                  </a:lnTo>
                  <a:lnTo>
                    <a:pt x="96240" y="154593"/>
                  </a:lnTo>
                  <a:lnTo>
                    <a:pt x="103176" y="142670"/>
                  </a:lnTo>
                  <a:lnTo>
                    <a:pt x="102999" y="142670"/>
                  </a:lnTo>
                  <a:lnTo>
                    <a:pt x="103645" y="141865"/>
                  </a:lnTo>
                  <a:lnTo>
                    <a:pt x="103873" y="141865"/>
                  </a:lnTo>
                  <a:lnTo>
                    <a:pt x="113588" y="132914"/>
                  </a:lnTo>
                  <a:lnTo>
                    <a:pt x="113355" y="132914"/>
                  </a:lnTo>
                  <a:lnTo>
                    <a:pt x="114231" y="132322"/>
                  </a:lnTo>
                  <a:lnTo>
                    <a:pt x="114621" y="132322"/>
                  </a:lnTo>
                  <a:lnTo>
                    <a:pt x="126589" y="126722"/>
                  </a:lnTo>
                  <a:lnTo>
                    <a:pt x="126280" y="126722"/>
                  </a:lnTo>
                  <a:lnTo>
                    <a:pt x="127179" y="126446"/>
                  </a:lnTo>
                  <a:lnTo>
                    <a:pt x="127939" y="126446"/>
                  </a:lnTo>
                  <a:lnTo>
                    <a:pt x="141555" y="124181"/>
                  </a:lnTo>
                  <a:lnTo>
                    <a:pt x="141261" y="124181"/>
                  </a:lnTo>
                  <a:lnTo>
                    <a:pt x="141831" y="124135"/>
                  </a:lnTo>
                  <a:lnTo>
                    <a:pt x="490734" y="124135"/>
                  </a:lnTo>
                  <a:lnTo>
                    <a:pt x="490734" y="120732"/>
                  </a:lnTo>
                  <a:lnTo>
                    <a:pt x="483811" y="120732"/>
                  </a:lnTo>
                  <a:lnTo>
                    <a:pt x="483811" y="117277"/>
                  </a:lnTo>
                  <a:close/>
                </a:path>
                <a:path w="490854" h="370839">
                  <a:moveTo>
                    <a:pt x="103645" y="141865"/>
                  </a:moveTo>
                  <a:lnTo>
                    <a:pt x="102999" y="142670"/>
                  </a:lnTo>
                  <a:lnTo>
                    <a:pt x="103381" y="142318"/>
                  </a:lnTo>
                  <a:lnTo>
                    <a:pt x="103645" y="141865"/>
                  </a:lnTo>
                  <a:close/>
                </a:path>
                <a:path w="490854" h="370839">
                  <a:moveTo>
                    <a:pt x="103381" y="142318"/>
                  </a:moveTo>
                  <a:lnTo>
                    <a:pt x="102999" y="142670"/>
                  </a:lnTo>
                  <a:lnTo>
                    <a:pt x="103176" y="142670"/>
                  </a:lnTo>
                  <a:lnTo>
                    <a:pt x="103381" y="142318"/>
                  </a:lnTo>
                  <a:close/>
                </a:path>
                <a:path w="490854" h="370839">
                  <a:moveTo>
                    <a:pt x="103873" y="141865"/>
                  </a:moveTo>
                  <a:lnTo>
                    <a:pt x="103645" y="141865"/>
                  </a:lnTo>
                  <a:lnTo>
                    <a:pt x="103381" y="142318"/>
                  </a:lnTo>
                  <a:lnTo>
                    <a:pt x="103873" y="141865"/>
                  </a:lnTo>
                  <a:close/>
                </a:path>
                <a:path w="490854" h="370839">
                  <a:moveTo>
                    <a:pt x="114231" y="132322"/>
                  </a:moveTo>
                  <a:lnTo>
                    <a:pt x="113355" y="132914"/>
                  </a:lnTo>
                  <a:lnTo>
                    <a:pt x="113828" y="132692"/>
                  </a:lnTo>
                  <a:lnTo>
                    <a:pt x="114231" y="132322"/>
                  </a:lnTo>
                  <a:close/>
                </a:path>
                <a:path w="490854" h="370839">
                  <a:moveTo>
                    <a:pt x="113828" y="132692"/>
                  </a:moveTo>
                  <a:lnTo>
                    <a:pt x="113355" y="132914"/>
                  </a:lnTo>
                  <a:lnTo>
                    <a:pt x="113588" y="132914"/>
                  </a:lnTo>
                  <a:lnTo>
                    <a:pt x="113828" y="132692"/>
                  </a:lnTo>
                  <a:close/>
                </a:path>
                <a:path w="490854" h="370839">
                  <a:moveTo>
                    <a:pt x="114621" y="132322"/>
                  </a:moveTo>
                  <a:lnTo>
                    <a:pt x="114231" y="132322"/>
                  </a:lnTo>
                  <a:lnTo>
                    <a:pt x="113828" y="132692"/>
                  </a:lnTo>
                  <a:lnTo>
                    <a:pt x="114621" y="132322"/>
                  </a:lnTo>
                  <a:close/>
                </a:path>
                <a:path w="490854" h="370839">
                  <a:moveTo>
                    <a:pt x="127179" y="126446"/>
                  </a:moveTo>
                  <a:lnTo>
                    <a:pt x="126280" y="126722"/>
                  </a:lnTo>
                  <a:lnTo>
                    <a:pt x="126759" y="126643"/>
                  </a:lnTo>
                  <a:lnTo>
                    <a:pt x="127179" y="126446"/>
                  </a:lnTo>
                  <a:close/>
                </a:path>
                <a:path w="490854" h="370839">
                  <a:moveTo>
                    <a:pt x="126759" y="126643"/>
                  </a:moveTo>
                  <a:lnTo>
                    <a:pt x="126280" y="126722"/>
                  </a:lnTo>
                  <a:lnTo>
                    <a:pt x="126589" y="126722"/>
                  </a:lnTo>
                  <a:lnTo>
                    <a:pt x="126759" y="126643"/>
                  </a:lnTo>
                  <a:close/>
                </a:path>
                <a:path w="490854" h="370839">
                  <a:moveTo>
                    <a:pt x="127939" y="126446"/>
                  </a:moveTo>
                  <a:lnTo>
                    <a:pt x="127179" y="126446"/>
                  </a:lnTo>
                  <a:lnTo>
                    <a:pt x="126759" y="126643"/>
                  </a:lnTo>
                  <a:lnTo>
                    <a:pt x="127939" y="126446"/>
                  </a:lnTo>
                  <a:close/>
                </a:path>
                <a:path w="490854" h="370839">
                  <a:moveTo>
                    <a:pt x="141831" y="124135"/>
                  </a:moveTo>
                  <a:lnTo>
                    <a:pt x="141261" y="124181"/>
                  </a:lnTo>
                  <a:lnTo>
                    <a:pt x="141555" y="124181"/>
                  </a:lnTo>
                  <a:lnTo>
                    <a:pt x="141831" y="124135"/>
                  </a:lnTo>
                  <a:close/>
                </a:path>
                <a:path w="490854" h="370839">
                  <a:moveTo>
                    <a:pt x="490734" y="124135"/>
                  </a:moveTo>
                  <a:lnTo>
                    <a:pt x="141831" y="124135"/>
                  </a:lnTo>
                  <a:lnTo>
                    <a:pt x="141555" y="124181"/>
                  </a:lnTo>
                  <a:lnTo>
                    <a:pt x="490734" y="124181"/>
                  </a:lnTo>
                  <a:close/>
                </a:path>
                <a:path w="490854" h="370839">
                  <a:moveTo>
                    <a:pt x="490734" y="86239"/>
                  </a:moveTo>
                  <a:lnTo>
                    <a:pt x="483811" y="86239"/>
                  </a:lnTo>
                  <a:lnTo>
                    <a:pt x="483880" y="86917"/>
                  </a:lnTo>
                  <a:lnTo>
                    <a:pt x="483811" y="120732"/>
                  </a:lnTo>
                  <a:lnTo>
                    <a:pt x="487272" y="117277"/>
                  </a:lnTo>
                  <a:lnTo>
                    <a:pt x="490734" y="117277"/>
                  </a:lnTo>
                  <a:lnTo>
                    <a:pt x="490734" y="86239"/>
                  </a:lnTo>
                  <a:close/>
                </a:path>
                <a:path w="490854" h="370839">
                  <a:moveTo>
                    <a:pt x="490734" y="117277"/>
                  </a:moveTo>
                  <a:lnTo>
                    <a:pt x="487272" y="117277"/>
                  </a:lnTo>
                  <a:lnTo>
                    <a:pt x="483811" y="120732"/>
                  </a:lnTo>
                  <a:lnTo>
                    <a:pt x="490734" y="120732"/>
                  </a:lnTo>
                  <a:lnTo>
                    <a:pt x="490734" y="117277"/>
                  </a:lnTo>
                  <a:close/>
                </a:path>
                <a:path w="490854" h="370839">
                  <a:moveTo>
                    <a:pt x="483811" y="86572"/>
                  </a:moveTo>
                  <a:lnTo>
                    <a:pt x="483811" y="86917"/>
                  </a:lnTo>
                  <a:lnTo>
                    <a:pt x="483811" y="86572"/>
                  </a:lnTo>
                  <a:close/>
                </a:path>
                <a:path w="490854" h="370839">
                  <a:moveTo>
                    <a:pt x="488775" y="76138"/>
                  </a:moveTo>
                  <a:lnTo>
                    <a:pt x="481720" y="76138"/>
                  </a:lnTo>
                  <a:lnTo>
                    <a:pt x="482210" y="77339"/>
                  </a:lnTo>
                  <a:lnTo>
                    <a:pt x="481961" y="77339"/>
                  </a:lnTo>
                  <a:lnTo>
                    <a:pt x="483811" y="86572"/>
                  </a:lnTo>
                  <a:lnTo>
                    <a:pt x="483811" y="86239"/>
                  </a:lnTo>
                  <a:lnTo>
                    <a:pt x="490734" y="86239"/>
                  </a:lnTo>
                  <a:lnTo>
                    <a:pt x="490734" y="85894"/>
                  </a:lnTo>
                  <a:lnTo>
                    <a:pt x="489017" y="77339"/>
                  </a:lnTo>
                  <a:lnTo>
                    <a:pt x="482210" y="77339"/>
                  </a:lnTo>
                  <a:lnTo>
                    <a:pt x="481850" y="76787"/>
                  </a:lnTo>
                  <a:lnTo>
                    <a:pt x="488906" y="76787"/>
                  </a:lnTo>
                  <a:lnTo>
                    <a:pt x="488775" y="76138"/>
                  </a:lnTo>
                  <a:close/>
                </a:path>
                <a:path w="490854" h="370839">
                  <a:moveTo>
                    <a:pt x="481720" y="76138"/>
                  </a:moveTo>
                  <a:lnTo>
                    <a:pt x="481850" y="76787"/>
                  </a:lnTo>
                  <a:lnTo>
                    <a:pt x="482210" y="77339"/>
                  </a:lnTo>
                  <a:lnTo>
                    <a:pt x="481720" y="76138"/>
                  </a:lnTo>
                  <a:close/>
                </a:path>
                <a:path w="490854" h="370839">
                  <a:moveTo>
                    <a:pt x="476984" y="69315"/>
                  </a:moveTo>
                  <a:lnTo>
                    <a:pt x="481850" y="76787"/>
                  </a:lnTo>
                  <a:lnTo>
                    <a:pt x="481720" y="76138"/>
                  </a:lnTo>
                  <a:lnTo>
                    <a:pt x="488775" y="76138"/>
                  </a:lnTo>
                  <a:lnTo>
                    <a:pt x="488373" y="74131"/>
                  </a:lnTo>
                  <a:lnTo>
                    <a:pt x="485494" y="69710"/>
                  </a:lnTo>
                  <a:lnTo>
                    <a:pt x="477579" y="69710"/>
                  </a:lnTo>
                  <a:lnTo>
                    <a:pt x="476984" y="69315"/>
                  </a:lnTo>
                  <a:close/>
                </a:path>
                <a:path w="490854" h="370839">
                  <a:moveTo>
                    <a:pt x="476594" y="68716"/>
                  </a:moveTo>
                  <a:lnTo>
                    <a:pt x="476984" y="69315"/>
                  </a:lnTo>
                  <a:lnTo>
                    <a:pt x="477579" y="69710"/>
                  </a:lnTo>
                  <a:lnTo>
                    <a:pt x="476594" y="68716"/>
                  </a:lnTo>
                  <a:close/>
                </a:path>
                <a:path w="490854" h="370839">
                  <a:moveTo>
                    <a:pt x="484846" y="68716"/>
                  </a:moveTo>
                  <a:lnTo>
                    <a:pt x="476594" y="68716"/>
                  </a:lnTo>
                  <a:lnTo>
                    <a:pt x="477579" y="69710"/>
                  </a:lnTo>
                  <a:lnTo>
                    <a:pt x="485494" y="69710"/>
                  </a:lnTo>
                  <a:lnTo>
                    <a:pt x="484846" y="68716"/>
                  </a:lnTo>
                  <a:close/>
                </a:path>
                <a:path w="490854" h="370839">
                  <a:moveTo>
                    <a:pt x="469075" y="64052"/>
                  </a:moveTo>
                  <a:lnTo>
                    <a:pt x="476984" y="69315"/>
                  </a:lnTo>
                  <a:lnTo>
                    <a:pt x="476594" y="68716"/>
                  </a:lnTo>
                  <a:lnTo>
                    <a:pt x="484846" y="68716"/>
                  </a:lnTo>
                  <a:lnTo>
                    <a:pt x="482008" y="64358"/>
                  </a:lnTo>
                  <a:lnTo>
                    <a:pt x="481749" y="64186"/>
                  </a:lnTo>
                  <a:lnTo>
                    <a:pt x="469746" y="64186"/>
                  </a:lnTo>
                  <a:lnTo>
                    <a:pt x="469075" y="64052"/>
                  </a:lnTo>
                  <a:close/>
                </a:path>
                <a:path w="490854" h="370839">
                  <a:moveTo>
                    <a:pt x="468508" y="63674"/>
                  </a:moveTo>
                  <a:lnTo>
                    <a:pt x="469075" y="64052"/>
                  </a:lnTo>
                  <a:lnTo>
                    <a:pt x="469746" y="64186"/>
                  </a:lnTo>
                  <a:lnTo>
                    <a:pt x="468508" y="63674"/>
                  </a:lnTo>
                  <a:close/>
                </a:path>
                <a:path w="490854" h="370839">
                  <a:moveTo>
                    <a:pt x="480980" y="63674"/>
                  </a:moveTo>
                  <a:lnTo>
                    <a:pt x="468508" y="63674"/>
                  </a:lnTo>
                  <a:lnTo>
                    <a:pt x="469746" y="64186"/>
                  </a:lnTo>
                  <a:lnTo>
                    <a:pt x="481749" y="64186"/>
                  </a:lnTo>
                  <a:lnTo>
                    <a:pt x="480980" y="63674"/>
                  </a:lnTo>
                  <a:close/>
                </a:path>
                <a:path w="490854" h="370839">
                  <a:moveTo>
                    <a:pt x="458946" y="62030"/>
                  </a:moveTo>
                  <a:lnTo>
                    <a:pt x="469075" y="64052"/>
                  </a:lnTo>
                  <a:lnTo>
                    <a:pt x="468508" y="63674"/>
                  </a:lnTo>
                  <a:lnTo>
                    <a:pt x="480980" y="63674"/>
                  </a:lnTo>
                  <a:lnTo>
                    <a:pt x="478614" y="62099"/>
                  </a:lnTo>
                  <a:lnTo>
                    <a:pt x="459626" y="62099"/>
                  </a:lnTo>
                  <a:lnTo>
                    <a:pt x="458946" y="62030"/>
                  </a:lnTo>
                  <a:close/>
                </a:path>
                <a:path w="490854" h="370839">
                  <a:moveTo>
                    <a:pt x="186911" y="11509"/>
                  </a:moveTo>
                  <a:lnTo>
                    <a:pt x="174344" y="11509"/>
                  </a:lnTo>
                  <a:lnTo>
                    <a:pt x="174632" y="11681"/>
                  </a:lnTo>
                  <a:lnTo>
                    <a:pt x="251242" y="62099"/>
                  </a:lnTo>
                  <a:lnTo>
                    <a:pt x="459292" y="62099"/>
                  </a:lnTo>
                  <a:lnTo>
                    <a:pt x="458946" y="62030"/>
                  </a:lnTo>
                  <a:lnTo>
                    <a:pt x="478510" y="62030"/>
                  </a:lnTo>
                  <a:lnTo>
                    <a:pt x="471773" y="57546"/>
                  </a:lnTo>
                  <a:lnTo>
                    <a:pt x="462817" y="55758"/>
                  </a:lnTo>
                  <a:lnTo>
                    <a:pt x="254185" y="55758"/>
                  </a:lnTo>
                  <a:lnTo>
                    <a:pt x="252278" y="55189"/>
                  </a:lnTo>
                  <a:lnTo>
                    <a:pt x="253320" y="55189"/>
                  </a:lnTo>
                  <a:lnTo>
                    <a:pt x="186911" y="11509"/>
                  </a:lnTo>
                  <a:close/>
                </a:path>
                <a:path w="490854" h="370839">
                  <a:moveTo>
                    <a:pt x="478510" y="62030"/>
                  </a:moveTo>
                  <a:lnTo>
                    <a:pt x="458946" y="62030"/>
                  </a:lnTo>
                  <a:lnTo>
                    <a:pt x="459626" y="62099"/>
                  </a:lnTo>
                  <a:lnTo>
                    <a:pt x="478614" y="62099"/>
                  </a:lnTo>
                  <a:close/>
                </a:path>
                <a:path w="490854" h="370839">
                  <a:moveTo>
                    <a:pt x="253320" y="55189"/>
                  </a:moveTo>
                  <a:lnTo>
                    <a:pt x="252278" y="55189"/>
                  </a:lnTo>
                  <a:lnTo>
                    <a:pt x="254185" y="55758"/>
                  </a:lnTo>
                  <a:lnTo>
                    <a:pt x="253320" y="55189"/>
                  </a:lnTo>
                  <a:close/>
                </a:path>
                <a:path w="490854" h="370839">
                  <a:moveTo>
                    <a:pt x="459966" y="55189"/>
                  </a:moveTo>
                  <a:lnTo>
                    <a:pt x="253320" y="55189"/>
                  </a:lnTo>
                  <a:lnTo>
                    <a:pt x="254185" y="55758"/>
                  </a:lnTo>
                  <a:lnTo>
                    <a:pt x="462817" y="55758"/>
                  </a:lnTo>
                  <a:lnTo>
                    <a:pt x="459966" y="55189"/>
                  </a:lnTo>
                  <a:close/>
                </a:path>
                <a:path w="490854" h="370839">
                  <a:moveTo>
                    <a:pt x="6923" y="31383"/>
                  </a:moveTo>
                  <a:lnTo>
                    <a:pt x="6853" y="31728"/>
                  </a:lnTo>
                  <a:lnTo>
                    <a:pt x="6923" y="31383"/>
                  </a:lnTo>
                  <a:close/>
                </a:path>
                <a:path w="490854" h="370839">
                  <a:moveTo>
                    <a:pt x="6989" y="31049"/>
                  </a:moveTo>
                  <a:lnTo>
                    <a:pt x="6923" y="31383"/>
                  </a:lnTo>
                  <a:lnTo>
                    <a:pt x="6989" y="31049"/>
                  </a:lnTo>
                  <a:close/>
                </a:path>
                <a:path w="490854" h="370839">
                  <a:moveTo>
                    <a:pt x="9013" y="20948"/>
                  </a:moveTo>
                  <a:lnTo>
                    <a:pt x="8455" y="22248"/>
                  </a:lnTo>
                  <a:lnTo>
                    <a:pt x="8872" y="21652"/>
                  </a:lnTo>
                  <a:lnTo>
                    <a:pt x="9013" y="20948"/>
                  </a:lnTo>
                  <a:close/>
                </a:path>
                <a:path w="490854" h="370839">
                  <a:moveTo>
                    <a:pt x="8872" y="21652"/>
                  </a:moveTo>
                  <a:lnTo>
                    <a:pt x="8455" y="22248"/>
                  </a:lnTo>
                  <a:lnTo>
                    <a:pt x="8753" y="22248"/>
                  </a:lnTo>
                  <a:lnTo>
                    <a:pt x="8872" y="21652"/>
                  </a:lnTo>
                  <a:close/>
                </a:path>
                <a:path w="490854" h="370839">
                  <a:moveTo>
                    <a:pt x="9366" y="20948"/>
                  </a:moveTo>
                  <a:lnTo>
                    <a:pt x="9013" y="20948"/>
                  </a:lnTo>
                  <a:lnTo>
                    <a:pt x="8872" y="21652"/>
                  </a:lnTo>
                  <a:lnTo>
                    <a:pt x="9366" y="20948"/>
                  </a:lnTo>
                  <a:close/>
                </a:path>
                <a:path w="490854" h="370839">
                  <a:moveTo>
                    <a:pt x="14502" y="13624"/>
                  </a:moveTo>
                  <a:lnTo>
                    <a:pt x="13650" y="14475"/>
                  </a:lnTo>
                  <a:lnTo>
                    <a:pt x="14151" y="14125"/>
                  </a:lnTo>
                  <a:lnTo>
                    <a:pt x="14502" y="13624"/>
                  </a:lnTo>
                  <a:close/>
                </a:path>
                <a:path w="490854" h="370839">
                  <a:moveTo>
                    <a:pt x="14151" y="14125"/>
                  </a:moveTo>
                  <a:lnTo>
                    <a:pt x="13650" y="14475"/>
                  </a:lnTo>
                  <a:lnTo>
                    <a:pt x="13906" y="14475"/>
                  </a:lnTo>
                  <a:lnTo>
                    <a:pt x="14151" y="14125"/>
                  </a:lnTo>
                  <a:close/>
                </a:path>
                <a:path w="490854" h="370839">
                  <a:moveTo>
                    <a:pt x="14868" y="13624"/>
                  </a:moveTo>
                  <a:lnTo>
                    <a:pt x="14502" y="13624"/>
                  </a:lnTo>
                  <a:lnTo>
                    <a:pt x="14151" y="14125"/>
                  </a:lnTo>
                  <a:lnTo>
                    <a:pt x="14868" y="13624"/>
                  </a:lnTo>
                  <a:close/>
                </a:path>
                <a:path w="490854" h="370839">
                  <a:moveTo>
                    <a:pt x="174501" y="11612"/>
                  </a:moveTo>
                  <a:lnTo>
                    <a:pt x="174632" y="11681"/>
                  </a:lnTo>
                  <a:lnTo>
                    <a:pt x="174501" y="11612"/>
                  </a:lnTo>
                  <a:close/>
                </a:path>
                <a:path w="490854" h="370839">
                  <a:moveTo>
                    <a:pt x="167776" y="8058"/>
                  </a:moveTo>
                  <a:lnTo>
                    <a:pt x="174501" y="11612"/>
                  </a:lnTo>
                  <a:lnTo>
                    <a:pt x="174344" y="11509"/>
                  </a:lnTo>
                  <a:lnTo>
                    <a:pt x="186911" y="11509"/>
                  </a:lnTo>
                  <a:lnTo>
                    <a:pt x="181807" y="8151"/>
                  </a:lnTo>
                  <a:lnTo>
                    <a:pt x="168337" y="8151"/>
                  </a:lnTo>
                  <a:lnTo>
                    <a:pt x="167776" y="8058"/>
                  </a:lnTo>
                  <a:close/>
                </a:path>
                <a:path w="490854" h="370839">
                  <a:moveTo>
                    <a:pt x="22289" y="8439"/>
                  </a:moveTo>
                  <a:lnTo>
                    <a:pt x="20988" y="8997"/>
                  </a:lnTo>
                  <a:lnTo>
                    <a:pt x="21693" y="8856"/>
                  </a:lnTo>
                  <a:lnTo>
                    <a:pt x="22289" y="8439"/>
                  </a:lnTo>
                  <a:close/>
                </a:path>
                <a:path w="490854" h="370839">
                  <a:moveTo>
                    <a:pt x="21693" y="8856"/>
                  </a:moveTo>
                  <a:lnTo>
                    <a:pt x="20988" y="8997"/>
                  </a:lnTo>
                  <a:lnTo>
                    <a:pt x="21491" y="8997"/>
                  </a:lnTo>
                  <a:lnTo>
                    <a:pt x="21693" y="8856"/>
                  </a:lnTo>
                  <a:close/>
                </a:path>
                <a:path w="490854" h="370839">
                  <a:moveTo>
                    <a:pt x="23781" y="8439"/>
                  </a:moveTo>
                  <a:lnTo>
                    <a:pt x="22289" y="8439"/>
                  </a:lnTo>
                  <a:lnTo>
                    <a:pt x="21693" y="8856"/>
                  </a:lnTo>
                  <a:lnTo>
                    <a:pt x="23781" y="8439"/>
                  </a:lnTo>
                  <a:close/>
                </a:path>
                <a:path w="490854" h="370839">
                  <a:moveTo>
                    <a:pt x="167289" y="7801"/>
                  </a:moveTo>
                  <a:lnTo>
                    <a:pt x="167776" y="8058"/>
                  </a:lnTo>
                  <a:lnTo>
                    <a:pt x="168337" y="8151"/>
                  </a:lnTo>
                  <a:lnTo>
                    <a:pt x="167289" y="7801"/>
                  </a:lnTo>
                  <a:close/>
                </a:path>
                <a:path w="490854" h="370839">
                  <a:moveTo>
                    <a:pt x="181273" y="7801"/>
                  </a:moveTo>
                  <a:lnTo>
                    <a:pt x="167289" y="7801"/>
                  </a:lnTo>
                  <a:lnTo>
                    <a:pt x="168337" y="8151"/>
                  </a:lnTo>
                  <a:lnTo>
                    <a:pt x="181807" y="8151"/>
                  </a:lnTo>
                  <a:lnTo>
                    <a:pt x="181273" y="7801"/>
                  </a:lnTo>
                  <a:close/>
                </a:path>
                <a:path w="490854" h="370839">
                  <a:moveTo>
                    <a:pt x="160562" y="6858"/>
                  </a:moveTo>
                  <a:lnTo>
                    <a:pt x="167776" y="8058"/>
                  </a:lnTo>
                  <a:lnTo>
                    <a:pt x="167289" y="7801"/>
                  </a:lnTo>
                  <a:lnTo>
                    <a:pt x="181273" y="7801"/>
                  </a:lnTo>
                  <a:lnTo>
                    <a:pt x="179919" y="6910"/>
                  </a:lnTo>
                  <a:lnTo>
                    <a:pt x="161132" y="6910"/>
                  </a:lnTo>
                  <a:lnTo>
                    <a:pt x="160562" y="6858"/>
                  </a:lnTo>
                  <a:close/>
                </a:path>
                <a:path w="490854" h="370839">
                  <a:moveTo>
                    <a:pt x="31787" y="6841"/>
                  </a:moveTo>
                  <a:lnTo>
                    <a:pt x="31107" y="6910"/>
                  </a:lnTo>
                  <a:lnTo>
                    <a:pt x="31441" y="6910"/>
                  </a:lnTo>
                  <a:lnTo>
                    <a:pt x="31787" y="6841"/>
                  </a:lnTo>
                  <a:close/>
                </a:path>
                <a:path w="490854" h="370839">
                  <a:moveTo>
                    <a:pt x="179814" y="6841"/>
                  </a:moveTo>
                  <a:lnTo>
                    <a:pt x="31787" y="6841"/>
                  </a:lnTo>
                  <a:lnTo>
                    <a:pt x="31441" y="6910"/>
                  </a:lnTo>
                  <a:lnTo>
                    <a:pt x="160873" y="6910"/>
                  </a:lnTo>
                  <a:lnTo>
                    <a:pt x="160562" y="6858"/>
                  </a:lnTo>
                  <a:lnTo>
                    <a:pt x="179840" y="6858"/>
                  </a:lnTo>
                  <a:close/>
                </a:path>
                <a:path w="490854" h="370839">
                  <a:moveTo>
                    <a:pt x="179840" y="6858"/>
                  </a:moveTo>
                  <a:lnTo>
                    <a:pt x="160562" y="6858"/>
                  </a:lnTo>
                  <a:lnTo>
                    <a:pt x="161132" y="6910"/>
                  </a:lnTo>
                  <a:lnTo>
                    <a:pt x="179919" y="6910"/>
                  </a:lnTo>
                  <a:close/>
                </a:path>
              </a:pathLst>
            </a:custGeom>
            <a:solidFill>
              <a:srgbClr val="000000"/>
            </a:solidFill>
          </p:spPr>
          <p:txBody>
            <a:bodyPr wrap="square" lIns="0" tIns="0" rIns="0" bIns="0" rtlCol="0"/>
            <a:lstStyle/>
            <a:p>
              <a:endParaRPr sz="2400"/>
            </a:p>
          </p:txBody>
        </p:sp>
        <p:sp>
          <p:nvSpPr>
            <p:cNvPr id="39" name="object 39"/>
            <p:cNvSpPr/>
            <p:nvPr/>
          </p:nvSpPr>
          <p:spPr>
            <a:xfrm>
              <a:off x="5362075" y="3016902"/>
              <a:ext cx="518795" cy="241935"/>
            </a:xfrm>
            <a:custGeom>
              <a:avLst/>
              <a:gdLst/>
              <a:ahLst/>
              <a:cxnLst/>
              <a:rect l="l" t="t" r="r" b="b"/>
              <a:pathLst>
                <a:path w="518795" h="241935">
                  <a:moveTo>
                    <a:pt x="493487" y="0"/>
                  </a:moveTo>
                  <a:lnTo>
                    <a:pt x="116805" y="0"/>
                  </a:lnTo>
                  <a:lnTo>
                    <a:pt x="109343" y="1110"/>
                  </a:lnTo>
                  <a:lnTo>
                    <a:pt x="102723" y="4225"/>
                  </a:lnTo>
                  <a:lnTo>
                    <a:pt x="97269" y="9022"/>
                  </a:lnTo>
                  <a:lnTo>
                    <a:pt x="93306" y="15177"/>
                  </a:lnTo>
                  <a:lnTo>
                    <a:pt x="0" y="241453"/>
                  </a:lnTo>
                  <a:lnTo>
                    <a:pt x="421607" y="241453"/>
                  </a:lnTo>
                  <a:lnTo>
                    <a:pt x="515604" y="40012"/>
                  </a:lnTo>
                  <a:lnTo>
                    <a:pt x="517678" y="35873"/>
                  </a:lnTo>
                  <a:lnTo>
                    <a:pt x="518369" y="31733"/>
                  </a:lnTo>
                  <a:lnTo>
                    <a:pt x="518369" y="27594"/>
                  </a:lnTo>
                  <a:lnTo>
                    <a:pt x="516522" y="17365"/>
                  </a:lnTo>
                  <a:lnTo>
                    <a:pt x="511371" y="8882"/>
                  </a:lnTo>
                  <a:lnTo>
                    <a:pt x="503498" y="2856"/>
                  </a:lnTo>
                  <a:lnTo>
                    <a:pt x="493487" y="0"/>
                  </a:lnTo>
                  <a:close/>
                </a:path>
              </a:pathLst>
            </a:custGeom>
            <a:solidFill>
              <a:srgbClr val="FFFFFF"/>
            </a:solidFill>
          </p:spPr>
          <p:txBody>
            <a:bodyPr wrap="square" lIns="0" tIns="0" rIns="0" bIns="0" rtlCol="0"/>
            <a:lstStyle/>
            <a:p>
              <a:endParaRPr sz="2400"/>
            </a:p>
          </p:txBody>
        </p:sp>
        <p:sp>
          <p:nvSpPr>
            <p:cNvPr id="40" name="object 40"/>
            <p:cNvSpPr/>
            <p:nvPr/>
          </p:nvSpPr>
          <p:spPr>
            <a:xfrm>
              <a:off x="5356908" y="3013447"/>
              <a:ext cx="527050" cy="248920"/>
            </a:xfrm>
            <a:custGeom>
              <a:avLst/>
              <a:gdLst/>
              <a:ahLst/>
              <a:cxnLst/>
              <a:rect l="l" t="t" r="r" b="b"/>
              <a:pathLst>
                <a:path w="527050" h="248920">
                  <a:moveTo>
                    <a:pt x="499402" y="0"/>
                  </a:moveTo>
                  <a:lnTo>
                    <a:pt x="121718" y="0"/>
                  </a:lnTo>
                  <a:lnTo>
                    <a:pt x="105995" y="4760"/>
                  </a:lnTo>
                  <a:lnTo>
                    <a:pt x="95483" y="17160"/>
                  </a:lnTo>
                  <a:lnTo>
                    <a:pt x="0" y="248357"/>
                  </a:lnTo>
                  <a:lnTo>
                    <a:pt x="428973" y="248357"/>
                  </a:lnTo>
                  <a:lnTo>
                    <a:pt x="429971" y="246224"/>
                  </a:lnTo>
                  <a:lnTo>
                    <a:pt x="8363" y="246224"/>
                  </a:lnTo>
                  <a:lnTo>
                    <a:pt x="5166" y="241453"/>
                  </a:lnTo>
                  <a:lnTo>
                    <a:pt x="10333" y="241453"/>
                  </a:lnTo>
                  <a:lnTo>
                    <a:pt x="101292" y="21207"/>
                  </a:lnTo>
                  <a:lnTo>
                    <a:pt x="101110" y="21207"/>
                  </a:lnTo>
                  <a:lnTo>
                    <a:pt x="101669" y="20293"/>
                  </a:lnTo>
                  <a:lnTo>
                    <a:pt x="101885" y="20293"/>
                  </a:lnTo>
                  <a:lnTo>
                    <a:pt x="109702" y="11072"/>
                  </a:lnTo>
                  <a:lnTo>
                    <a:pt x="108978" y="11072"/>
                  </a:lnTo>
                  <a:lnTo>
                    <a:pt x="110614" y="9997"/>
                  </a:lnTo>
                  <a:lnTo>
                    <a:pt x="112532" y="9997"/>
                  </a:lnTo>
                  <a:lnTo>
                    <a:pt x="122758" y="6904"/>
                  </a:lnTo>
                  <a:lnTo>
                    <a:pt x="122231" y="6904"/>
                  </a:lnTo>
                  <a:lnTo>
                    <a:pt x="123233" y="6760"/>
                  </a:lnTo>
                  <a:lnTo>
                    <a:pt x="497924" y="6760"/>
                  </a:lnTo>
                  <a:lnTo>
                    <a:pt x="514848" y="6754"/>
                  </a:lnTo>
                  <a:lnTo>
                    <a:pt x="510461" y="3357"/>
                  </a:lnTo>
                  <a:lnTo>
                    <a:pt x="499402" y="0"/>
                  </a:lnTo>
                  <a:close/>
                </a:path>
                <a:path w="527050" h="248920">
                  <a:moveTo>
                    <a:pt x="10333" y="241453"/>
                  </a:moveTo>
                  <a:lnTo>
                    <a:pt x="5166" y="241453"/>
                  </a:lnTo>
                  <a:lnTo>
                    <a:pt x="8363" y="246224"/>
                  </a:lnTo>
                  <a:lnTo>
                    <a:pt x="10333" y="241453"/>
                  </a:lnTo>
                  <a:close/>
                </a:path>
                <a:path w="527050" h="248920">
                  <a:moveTo>
                    <a:pt x="424573" y="241453"/>
                  </a:moveTo>
                  <a:lnTo>
                    <a:pt x="10333" y="241453"/>
                  </a:lnTo>
                  <a:lnTo>
                    <a:pt x="8363" y="246224"/>
                  </a:lnTo>
                  <a:lnTo>
                    <a:pt x="429971" y="246224"/>
                  </a:lnTo>
                  <a:lnTo>
                    <a:pt x="431269" y="243448"/>
                  </a:lnTo>
                  <a:lnTo>
                    <a:pt x="423640" y="243448"/>
                  </a:lnTo>
                  <a:lnTo>
                    <a:pt x="424573" y="241453"/>
                  </a:lnTo>
                  <a:close/>
                </a:path>
                <a:path w="527050" h="248920">
                  <a:moveTo>
                    <a:pt x="524759" y="42093"/>
                  </a:moveTo>
                  <a:lnTo>
                    <a:pt x="517833" y="42093"/>
                  </a:lnTo>
                  <a:lnTo>
                    <a:pt x="517545" y="42852"/>
                  </a:lnTo>
                  <a:lnTo>
                    <a:pt x="423640" y="243448"/>
                  </a:lnTo>
                  <a:lnTo>
                    <a:pt x="426773" y="241453"/>
                  </a:lnTo>
                  <a:lnTo>
                    <a:pt x="432202" y="241453"/>
                  </a:lnTo>
                  <a:lnTo>
                    <a:pt x="524226" y="44645"/>
                  </a:lnTo>
                  <a:lnTo>
                    <a:pt x="524759" y="42093"/>
                  </a:lnTo>
                  <a:close/>
                </a:path>
                <a:path w="527050" h="248920">
                  <a:moveTo>
                    <a:pt x="432202" y="241453"/>
                  </a:moveTo>
                  <a:lnTo>
                    <a:pt x="426773" y="241453"/>
                  </a:lnTo>
                  <a:lnTo>
                    <a:pt x="423640" y="243448"/>
                  </a:lnTo>
                  <a:lnTo>
                    <a:pt x="431269" y="243448"/>
                  </a:lnTo>
                  <a:lnTo>
                    <a:pt x="432202" y="241453"/>
                  </a:lnTo>
                  <a:close/>
                </a:path>
                <a:path w="527050" h="248920">
                  <a:moveTo>
                    <a:pt x="517599" y="42594"/>
                  </a:moveTo>
                  <a:lnTo>
                    <a:pt x="517478" y="42852"/>
                  </a:lnTo>
                  <a:lnTo>
                    <a:pt x="517599" y="42594"/>
                  </a:lnTo>
                  <a:close/>
                </a:path>
                <a:path w="527050" h="248920">
                  <a:moveTo>
                    <a:pt x="517833" y="42093"/>
                  </a:moveTo>
                  <a:lnTo>
                    <a:pt x="517599" y="42594"/>
                  </a:lnTo>
                  <a:lnTo>
                    <a:pt x="517545" y="42852"/>
                  </a:lnTo>
                  <a:lnTo>
                    <a:pt x="517833" y="42093"/>
                  </a:lnTo>
                  <a:close/>
                </a:path>
                <a:path w="527050" h="248920">
                  <a:moveTo>
                    <a:pt x="520015" y="30939"/>
                  </a:moveTo>
                  <a:lnTo>
                    <a:pt x="517599" y="42594"/>
                  </a:lnTo>
                  <a:lnTo>
                    <a:pt x="517833" y="42093"/>
                  </a:lnTo>
                  <a:lnTo>
                    <a:pt x="524759" y="42093"/>
                  </a:lnTo>
                  <a:lnTo>
                    <a:pt x="526937" y="31641"/>
                  </a:lnTo>
                  <a:lnTo>
                    <a:pt x="520137" y="31641"/>
                  </a:lnTo>
                  <a:lnTo>
                    <a:pt x="520015" y="30939"/>
                  </a:lnTo>
                  <a:close/>
                </a:path>
                <a:path w="527050" h="248920">
                  <a:moveTo>
                    <a:pt x="526916" y="30348"/>
                  </a:moveTo>
                  <a:lnTo>
                    <a:pt x="520137" y="30348"/>
                  </a:lnTo>
                  <a:lnTo>
                    <a:pt x="520137" y="31641"/>
                  </a:lnTo>
                  <a:lnTo>
                    <a:pt x="526937" y="31641"/>
                  </a:lnTo>
                  <a:lnTo>
                    <a:pt x="526916" y="30348"/>
                  </a:lnTo>
                  <a:close/>
                </a:path>
                <a:path w="527050" h="248920">
                  <a:moveTo>
                    <a:pt x="525408" y="21725"/>
                  </a:moveTo>
                  <a:lnTo>
                    <a:pt x="518409" y="21725"/>
                  </a:lnTo>
                  <a:lnTo>
                    <a:pt x="518812" y="22909"/>
                  </a:lnTo>
                  <a:lnTo>
                    <a:pt x="518616" y="22909"/>
                  </a:lnTo>
                  <a:lnTo>
                    <a:pt x="520015" y="30939"/>
                  </a:lnTo>
                  <a:lnTo>
                    <a:pt x="520137" y="30348"/>
                  </a:lnTo>
                  <a:lnTo>
                    <a:pt x="526916" y="30348"/>
                  </a:lnTo>
                  <a:lnTo>
                    <a:pt x="525615" y="22909"/>
                  </a:lnTo>
                  <a:lnTo>
                    <a:pt x="518812" y="22909"/>
                  </a:lnTo>
                  <a:lnTo>
                    <a:pt x="518535" y="22448"/>
                  </a:lnTo>
                  <a:lnTo>
                    <a:pt x="525535" y="22448"/>
                  </a:lnTo>
                  <a:lnTo>
                    <a:pt x="525408" y="21725"/>
                  </a:lnTo>
                  <a:close/>
                </a:path>
                <a:path w="527050" h="248920">
                  <a:moveTo>
                    <a:pt x="518409" y="21725"/>
                  </a:moveTo>
                  <a:lnTo>
                    <a:pt x="518535" y="22448"/>
                  </a:lnTo>
                  <a:lnTo>
                    <a:pt x="518812" y="22909"/>
                  </a:lnTo>
                  <a:lnTo>
                    <a:pt x="518409" y="21725"/>
                  </a:lnTo>
                  <a:close/>
                </a:path>
                <a:path w="527050" h="248920">
                  <a:moveTo>
                    <a:pt x="513942" y="14806"/>
                  </a:moveTo>
                  <a:lnTo>
                    <a:pt x="518535" y="22448"/>
                  </a:lnTo>
                  <a:lnTo>
                    <a:pt x="518409" y="21725"/>
                  </a:lnTo>
                  <a:lnTo>
                    <a:pt x="525408" y="21725"/>
                  </a:lnTo>
                  <a:lnTo>
                    <a:pt x="525090" y="19908"/>
                  </a:lnTo>
                  <a:lnTo>
                    <a:pt x="522295" y="15234"/>
                  </a:lnTo>
                  <a:lnTo>
                    <a:pt x="514493" y="15234"/>
                  </a:lnTo>
                  <a:lnTo>
                    <a:pt x="513942" y="14806"/>
                  </a:lnTo>
                  <a:close/>
                </a:path>
                <a:path w="527050" h="248920">
                  <a:moveTo>
                    <a:pt x="101669" y="20293"/>
                  </a:moveTo>
                  <a:lnTo>
                    <a:pt x="101110" y="21207"/>
                  </a:lnTo>
                  <a:lnTo>
                    <a:pt x="101464" y="20790"/>
                  </a:lnTo>
                  <a:lnTo>
                    <a:pt x="101669" y="20293"/>
                  </a:lnTo>
                  <a:close/>
                </a:path>
                <a:path w="527050" h="248920">
                  <a:moveTo>
                    <a:pt x="101464" y="20790"/>
                  </a:moveTo>
                  <a:lnTo>
                    <a:pt x="101110" y="21207"/>
                  </a:lnTo>
                  <a:lnTo>
                    <a:pt x="101292" y="21207"/>
                  </a:lnTo>
                  <a:lnTo>
                    <a:pt x="101464" y="20790"/>
                  </a:lnTo>
                  <a:close/>
                </a:path>
                <a:path w="527050" h="248920">
                  <a:moveTo>
                    <a:pt x="101885" y="20293"/>
                  </a:moveTo>
                  <a:lnTo>
                    <a:pt x="101669" y="20293"/>
                  </a:lnTo>
                  <a:lnTo>
                    <a:pt x="101464" y="20790"/>
                  </a:lnTo>
                  <a:lnTo>
                    <a:pt x="101885" y="20293"/>
                  </a:lnTo>
                  <a:close/>
                </a:path>
                <a:path w="527050" h="248920">
                  <a:moveTo>
                    <a:pt x="513629" y="14285"/>
                  </a:moveTo>
                  <a:lnTo>
                    <a:pt x="513942" y="14806"/>
                  </a:lnTo>
                  <a:lnTo>
                    <a:pt x="514493" y="15234"/>
                  </a:lnTo>
                  <a:lnTo>
                    <a:pt x="513629" y="14285"/>
                  </a:lnTo>
                  <a:close/>
                </a:path>
                <a:path w="527050" h="248920">
                  <a:moveTo>
                    <a:pt x="521728" y="14285"/>
                  </a:moveTo>
                  <a:lnTo>
                    <a:pt x="513629" y="14285"/>
                  </a:lnTo>
                  <a:lnTo>
                    <a:pt x="514493" y="15234"/>
                  </a:lnTo>
                  <a:lnTo>
                    <a:pt x="522295" y="15234"/>
                  </a:lnTo>
                  <a:lnTo>
                    <a:pt x="521728" y="14285"/>
                  </a:lnTo>
                  <a:close/>
                </a:path>
                <a:path w="527050" h="248920">
                  <a:moveTo>
                    <a:pt x="507194" y="9568"/>
                  </a:moveTo>
                  <a:lnTo>
                    <a:pt x="513942" y="14806"/>
                  </a:lnTo>
                  <a:lnTo>
                    <a:pt x="513629" y="14285"/>
                  </a:lnTo>
                  <a:lnTo>
                    <a:pt x="521728" y="14285"/>
                  </a:lnTo>
                  <a:lnTo>
                    <a:pt x="519273" y="10181"/>
                  </a:lnTo>
                  <a:lnTo>
                    <a:pt x="518746" y="9773"/>
                  </a:lnTo>
                  <a:lnTo>
                    <a:pt x="507869" y="9773"/>
                  </a:lnTo>
                  <a:lnTo>
                    <a:pt x="507194" y="9568"/>
                  </a:lnTo>
                  <a:close/>
                </a:path>
                <a:path w="527050" h="248920">
                  <a:moveTo>
                    <a:pt x="110614" y="9997"/>
                  </a:moveTo>
                  <a:lnTo>
                    <a:pt x="108978" y="11072"/>
                  </a:lnTo>
                  <a:lnTo>
                    <a:pt x="109952" y="10777"/>
                  </a:lnTo>
                  <a:lnTo>
                    <a:pt x="110614" y="9997"/>
                  </a:lnTo>
                  <a:close/>
                </a:path>
                <a:path w="527050" h="248920">
                  <a:moveTo>
                    <a:pt x="109952" y="10777"/>
                  </a:moveTo>
                  <a:lnTo>
                    <a:pt x="108978" y="11072"/>
                  </a:lnTo>
                  <a:lnTo>
                    <a:pt x="109702" y="11072"/>
                  </a:lnTo>
                  <a:lnTo>
                    <a:pt x="109952" y="10777"/>
                  </a:lnTo>
                  <a:close/>
                </a:path>
                <a:path w="527050" h="248920">
                  <a:moveTo>
                    <a:pt x="112532" y="9997"/>
                  </a:moveTo>
                  <a:lnTo>
                    <a:pt x="110614" y="9997"/>
                  </a:lnTo>
                  <a:lnTo>
                    <a:pt x="109952" y="10777"/>
                  </a:lnTo>
                  <a:lnTo>
                    <a:pt x="112532" y="9997"/>
                  </a:lnTo>
                  <a:close/>
                </a:path>
                <a:path w="527050" h="248920">
                  <a:moveTo>
                    <a:pt x="506717" y="9198"/>
                  </a:moveTo>
                  <a:lnTo>
                    <a:pt x="507194" y="9568"/>
                  </a:lnTo>
                  <a:lnTo>
                    <a:pt x="507869" y="9773"/>
                  </a:lnTo>
                  <a:lnTo>
                    <a:pt x="506717" y="9198"/>
                  </a:lnTo>
                  <a:close/>
                </a:path>
                <a:path w="527050" h="248920">
                  <a:moveTo>
                    <a:pt x="518004" y="9198"/>
                  </a:moveTo>
                  <a:lnTo>
                    <a:pt x="506717" y="9198"/>
                  </a:lnTo>
                  <a:lnTo>
                    <a:pt x="507869" y="9773"/>
                  </a:lnTo>
                  <a:lnTo>
                    <a:pt x="518746" y="9773"/>
                  </a:lnTo>
                  <a:lnTo>
                    <a:pt x="518004" y="9198"/>
                  </a:lnTo>
                  <a:close/>
                </a:path>
                <a:path w="527050" h="248920">
                  <a:moveTo>
                    <a:pt x="497905" y="6754"/>
                  </a:moveTo>
                  <a:lnTo>
                    <a:pt x="507194" y="9568"/>
                  </a:lnTo>
                  <a:lnTo>
                    <a:pt x="506717" y="9198"/>
                  </a:lnTo>
                  <a:lnTo>
                    <a:pt x="518004" y="9198"/>
                  </a:lnTo>
                  <a:lnTo>
                    <a:pt x="515041" y="6904"/>
                  </a:lnTo>
                  <a:lnTo>
                    <a:pt x="498942" y="6904"/>
                  </a:lnTo>
                  <a:lnTo>
                    <a:pt x="497905" y="6754"/>
                  </a:lnTo>
                  <a:close/>
                </a:path>
                <a:path w="527050" h="248920">
                  <a:moveTo>
                    <a:pt x="123233" y="6760"/>
                  </a:moveTo>
                  <a:lnTo>
                    <a:pt x="122231" y="6904"/>
                  </a:lnTo>
                  <a:lnTo>
                    <a:pt x="122758" y="6904"/>
                  </a:lnTo>
                  <a:lnTo>
                    <a:pt x="123233" y="6760"/>
                  </a:lnTo>
                  <a:close/>
                </a:path>
                <a:path w="527050" h="248920">
                  <a:moveTo>
                    <a:pt x="497924" y="6760"/>
                  </a:moveTo>
                  <a:lnTo>
                    <a:pt x="123233" y="6760"/>
                  </a:lnTo>
                  <a:lnTo>
                    <a:pt x="122758" y="6904"/>
                  </a:lnTo>
                  <a:lnTo>
                    <a:pt x="498398" y="6904"/>
                  </a:lnTo>
                  <a:lnTo>
                    <a:pt x="497924" y="6760"/>
                  </a:lnTo>
                  <a:close/>
                </a:path>
                <a:path w="527050" h="248920">
                  <a:moveTo>
                    <a:pt x="514848" y="6754"/>
                  </a:moveTo>
                  <a:lnTo>
                    <a:pt x="497905" y="6754"/>
                  </a:lnTo>
                  <a:lnTo>
                    <a:pt x="498942" y="6904"/>
                  </a:lnTo>
                  <a:lnTo>
                    <a:pt x="515041" y="6904"/>
                  </a:lnTo>
                  <a:lnTo>
                    <a:pt x="514848" y="6754"/>
                  </a:lnTo>
                  <a:close/>
                </a:path>
              </a:pathLst>
            </a:custGeom>
            <a:solidFill>
              <a:srgbClr val="000000"/>
            </a:solidFill>
          </p:spPr>
          <p:txBody>
            <a:bodyPr wrap="square" lIns="0" tIns="0" rIns="0" bIns="0" rtlCol="0"/>
            <a:lstStyle/>
            <a:p>
              <a:endParaRPr sz="2400"/>
            </a:p>
          </p:txBody>
        </p:sp>
      </p:grpSp>
      <p:sp>
        <p:nvSpPr>
          <p:cNvPr id="41" name="object 41"/>
          <p:cNvSpPr txBox="1"/>
          <p:nvPr/>
        </p:nvSpPr>
        <p:spPr>
          <a:xfrm>
            <a:off x="7203947" y="4360841"/>
            <a:ext cx="450427" cy="571951"/>
          </a:xfrm>
          <a:prstGeom prst="rect">
            <a:avLst/>
          </a:prstGeom>
        </p:spPr>
        <p:txBody>
          <a:bodyPr vert="horz" wrap="square" lIns="0" tIns="17780" rIns="0" bIns="0" rtlCol="0">
            <a:spAutoFit/>
          </a:bodyPr>
          <a:lstStyle/>
          <a:p>
            <a:pPr marL="16933">
              <a:spcBef>
                <a:spcPts val="140"/>
              </a:spcBef>
            </a:pPr>
            <a:r>
              <a:rPr spc="-7" dirty="0">
                <a:latin typeface="Noto Sans"/>
                <a:cs typeface="Noto Sans"/>
              </a:rPr>
              <a:t>N</a:t>
            </a:r>
            <a:r>
              <a:rPr spc="-20" dirty="0">
                <a:latin typeface="Noto Sans"/>
                <a:cs typeface="Noto Sans"/>
              </a:rPr>
              <a:t>F</a:t>
            </a:r>
            <a:r>
              <a:rPr dirty="0">
                <a:latin typeface="Noto Sans"/>
                <a:cs typeface="Noto Sans"/>
              </a:rPr>
              <a:t>S</a:t>
            </a:r>
            <a:endParaRPr>
              <a:latin typeface="Noto Sans"/>
              <a:cs typeface="Noto Sans"/>
            </a:endParaRPr>
          </a:p>
        </p:txBody>
      </p:sp>
      <p:pic>
        <p:nvPicPr>
          <p:cNvPr id="42" name="Picture 41"/>
          <p:cNvPicPr>
            <a:picLocks noChangeAspect="1"/>
          </p:cNvPicPr>
          <p:nvPr/>
        </p:nvPicPr>
        <p:blipFill>
          <a:blip r:embed="rId14"/>
          <a:stretch>
            <a:fillRect/>
          </a:stretch>
        </p:blipFill>
        <p:spPr>
          <a:xfrm>
            <a:off x="591127" y="2020781"/>
            <a:ext cx="3768437" cy="1396674"/>
          </a:xfrm>
          <a:prstGeom prst="rect">
            <a:avLst/>
          </a:prstGeom>
        </p:spPr>
      </p:pic>
    </p:spTree>
    <p:extLst>
      <p:ext uri="{BB962C8B-B14F-4D97-AF65-F5344CB8AC3E}">
        <p14:creationId xmlns:p14="http://schemas.microsoft.com/office/powerpoint/2010/main" val="182627541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82430" y="331247"/>
            <a:ext cx="5207847" cy="694207"/>
          </a:xfrm>
          <a:prstGeom prst="rect">
            <a:avLst/>
          </a:prstGeom>
        </p:spPr>
        <p:txBody>
          <a:bodyPr vert="horz" wrap="square" lIns="0" tIns="16933" rIns="0" bIns="0" rtlCol="0" anchor="ctr">
            <a:spAutoFit/>
          </a:bodyPr>
          <a:lstStyle/>
          <a:p>
            <a:pPr marL="16933">
              <a:lnSpc>
                <a:spcPct val="100000"/>
              </a:lnSpc>
              <a:spcBef>
                <a:spcPts val="133"/>
              </a:spcBef>
            </a:pPr>
            <a:r>
              <a:rPr spc="53" dirty="0">
                <a:solidFill>
                  <a:srgbClr val="000000"/>
                </a:solidFill>
              </a:rPr>
              <a:t>Persistent</a:t>
            </a:r>
            <a:r>
              <a:rPr spc="-420" dirty="0">
                <a:solidFill>
                  <a:srgbClr val="000000"/>
                </a:solidFill>
              </a:rPr>
              <a:t> </a:t>
            </a:r>
            <a:r>
              <a:rPr spc="93" dirty="0">
                <a:solidFill>
                  <a:srgbClr val="000000"/>
                </a:solidFill>
              </a:rPr>
              <a:t>Volume</a:t>
            </a:r>
            <a:endParaRPr/>
          </a:p>
        </p:txBody>
      </p:sp>
      <p:grpSp>
        <p:nvGrpSpPr>
          <p:cNvPr id="3" name="object 3"/>
          <p:cNvGrpSpPr/>
          <p:nvPr/>
        </p:nvGrpSpPr>
        <p:grpSpPr>
          <a:xfrm>
            <a:off x="8298687" y="4082289"/>
            <a:ext cx="2843107" cy="1668780"/>
            <a:chOff x="6224015" y="3061716"/>
            <a:chExt cx="2132330" cy="1251585"/>
          </a:xfrm>
        </p:grpSpPr>
        <p:sp>
          <p:nvSpPr>
            <p:cNvPr id="4" name="object 4"/>
            <p:cNvSpPr/>
            <p:nvPr/>
          </p:nvSpPr>
          <p:spPr>
            <a:xfrm>
              <a:off x="6230111" y="3067812"/>
              <a:ext cx="2120265" cy="1239520"/>
            </a:xfrm>
            <a:custGeom>
              <a:avLst/>
              <a:gdLst/>
              <a:ahLst/>
              <a:cxnLst/>
              <a:rect l="l" t="t" r="r" b="b"/>
              <a:pathLst>
                <a:path w="2120265" h="1239520">
                  <a:moveTo>
                    <a:pt x="0" y="206501"/>
                  </a:moveTo>
                  <a:lnTo>
                    <a:pt x="5453" y="159153"/>
                  </a:lnTo>
                  <a:lnTo>
                    <a:pt x="20989" y="115688"/>
                  </a:lnTo>
                  <a:lnTo>
                    <a:pt x="45366" y="77346"/>
                  </a:lnTo>
                  <a:lnTo>
                    <a:pt x="77346" y="45366"/>
                  </a:lnTo>
                  <a:lnTo>
                    <a:pt x="115688" y="20989"/>
                  </a:lnTo>
                  <a:lnTo>
                    <a:pt x="159153" y="5453"/>
                  </a:lnTo>
                  <a:lnTo>
                    <a:pt x="206501" y="0"/>
                  </a:lnTo>
                  <a:lnTo>
                    <a:pt x="1913382" y="0"/>
                  </a:lnTo>
                  <a:lnTo>
                    <a:pt x="1960730" y="5453"/>
                  </a:lnTo>
                  <a:lnTo>
                    <a:pt x="2004195" y="20989"/>
                  </a:lnTo>
                  <a:lnTo>
                    <a:pt x="2042537" y="45366"/>
                  </a:lnTo>
                  <a:lnTo>
                    <a:pt x="2074517" y="77346"/>
                  </a:lnTo>
                  <a:lnTo>
                    <a:pt x="2098894" y="115688"/>
                  </a:lnTo>
                  <a:lnTo>
                    <a:pt x="2114430" y="159153"/>
                  </a:lnTo>
                  <a:lnTo>
                    <a:pt x="2119884" y="206501"/>
                  </a:lnTo>
                  <a:lnTo>
                    <a:pt x="2119884" y="1032510"/>
                  </a:lnTo>
                  <a:lnTo>
                    <a:pt x="2114430" y="1079858"/>
                  </a:lnTo>
                  <a:lnTo>
                    <a:pt x="2098894" y="1123323"/>
                  </a:lnTo>
                  <a:lnTo>
                    <a:pt x="2074517" y="1161665"/>
                  </a:lnTo>
                  <a:lnTo>
                    <a:pt x="2042537" y="1193645"/>
                  </a:lnTo>
                  <a:lnTo>
                    <a:pt x="2004195" y="1218022"/>
                  </a:lnTo>
                  <a:lnTo>
                    <a:pt x="1960730" y="1233558"/>
                  </a:lnTo>
                  <a:lnTo>
                    <a:pt x="1913382" y="1239012"/>
                  </a:lnTo>
                  <a:lnTo>
                    <a:pt x="206501" y="1239012"/>
                  </a:lnTo>
                  <a:lnTo>
                    <a:pt x="159153" y="1233558"/>
                  </a:lnTo>
                  <a:lnTo>
                    <a:pt x="115688" y="1218022"/>
                  </a:lnTo>
                  <a:lnTo>
                    <a:pt x="77346" y="1193645"/>
                  </a:lnTo>
                  <a:lnTo>
                    <a:pt x="45366" y="1161665"/>
                  </a:lnTo>
                  <a:lnTo>
                    <a:pt x="20989" y="1123323"/>
                  </a:lnTo>
                  <a:lnTo>
                    <a:pt x="5453" y="1079858"/>
                  </a:lnTo>
                  <a:lnTo>
                    <a:pt x="0" y="1032510"/>
                  </a:lnTo>
                  <a:lnTo>
                    <a:pt x="0" y="206501"/>
                  </a:lnTo>
                  <a:close/>
                </a:path>
              </a:pathLst>
            </a:custGeom>
            <a:ln w="12192">
              <a:solidFill>
                <a:srgbClr val="000000"/>
              </a:solidFill>
            </a:ln>
          </p:spPr>
          <p:txBody>
            <a:bodyPr wrap="square" lIns="0" tIns="0" rIns="0" bIns="0" rtlCol="0"/>
            <a:lstStyle/>
            <a:p>
              <a:endParaRPr sz="2400"/>
            </a:p>
          </p:txBody>
        </p:sp>
        <p:sp>
          <p:nvSpPr>
            <p:cNvPr id="5" name="object 5"/>
            <p:cNvSpPr/>
            <p:nvPr/>
          </p:nvSpPr>
          <p:spPr>
            <a:xfrm>
              <a:off x="8055151" y="4061041"/>
              <a:ext cx="160158" cy="216960"/>
            </a:xfrm>
            <a:prstGeom prst="rect">
              <a:avLst/>
            </a:prstGeom>
            <a:blipFill>
              <a:blip r:embed="rId2" cstate="print"/>
              <a:stretch>
                <a:fillRect/>
              </a:stretch>
            </a:blipFill>
          </p:spPr>
          <p:txBody>
            <a:bodyPr wrap="square" lIns="0" tIns="0" rIns="0" bIns="0" rtlCol="0"/>
            <a:lstStyle/>
            <a:p>
              <a:endParaRPr sz="2400"/>
            </a:p>
          </p:txBody>
        </p:sp>
      </p:grpSp>
      <p:sp>
        <p:nvSpPr>
          <p:cNvPr id="6" name="object 6"/>
          <p:cNvSpPr txBox="1"/>
          <p:nvPr/>
        </p:nvSpPr>
        <p:spPr>
          <a:xfrm>
            <a:off x="8491389" y="5774267"/>
            <a:ext cx="2526452" cy="305276"/>
          </a:xfrm>
          <a:prstGeom prst="rect">
            <a:avLst/>
          </a:prstGeom>
        </p:spPr>
        <p:txBody>
          <a:bodyPr vert="horz" wrap="square" lIns="0" tIns="17780" rIns="0" bIns="0" rtlCol="0">
            <a:spAutoFit/>
          </a:bodyPr>
          <a:lstStyle/>
          <a:p>
            <a:pPr marL="16933">
              <a:spcBef>
                <a:spcPts val="140"/>
              </a:spcBef>
            </a:pPr>
            <a:r>
              <a:rPr sz="1867" spc="-13" dirty="0">
                <a:latin typeface="Noto Sans"/>
                <a:cs typeface="Noto Sans"/>
              </a:rPr>
              <a:t>Persistent </a:t>
            </a:r>
            <a:r>
              <a:rPr sz="1867" spc="-7" dirty="0">
                <a:latin typeface="Noto Sans"/>
                <a:cs typeface="Noto Sans"/>
              </a:rPr>
              <a:t>Volume</a:t>
            </a:r>
            <a:r>
              <a:rPr sz="1867" spc="-147" dirty="0">
                <a:latin typeface="Noto Sans"/>
                <a:cs typeface="Noto Sans"/>
              </a:rPr>
              <a:t> </a:t>
            </a:r>
            <a:r>
              <a:rPr sz="1867" spc="-7" dirty="0">
                <a:latin typeface="Noto Sans"/>
                <a:cs typeface="Noto Sans"/>
              </a:rPr>
              <a:t>(PV)</a:t>
            </a:r>
            <a:endParaRPr sz="1867">
              <a:latin typeface="Noto Sans"/>
              <a:cs typeface="Noto Sans"/>
            </a:endParaRPr>
          </a:p>
        </p:txBody>
      </p:sp>
      <p:sp>
        <p:nvSpPr>
          <p:cNvPr id="7" name="object 7"/>
          <p:cNvSpPr/>
          <p:nvPr/>
        </p:nvSpPr>
        <p:spPr>
          <a:xfrm>
            <a:off x="778255" y="1757680"/>
            <a:ext cx="4895427" cy="3342640"/>
          </a:xfrm>
          <a:custGeom>
            <a:avLst/>
            <a:gdLst/>
            <a:ahLst/>
            <a:cxnLst/>
            <a:rect l="l" t="t" r="r" b="b"/>
            <a:pathLst>
              <a:path w="3671570" h="2506979">
                <a:moveTo>
                  <a:pt x="3671316" y="0"/>
                </a:moveTo>
                <a:lnTo>
                  <a:pt x="0" y="0"/>
                </a:lnTo>
                <a:lnTo>
                  <a:pt x="0" y="2506979"/>
                </a:lnTo>
                <a:lnTo>
                  <a:pt x="3671316" y="2506979"/>
                </a:lnTo>
                <a:lnTo>
                  <a:pt x="3671316" y="0"/>
                </a:lnTo>
                <a:close/>
              </a:path>
            </a:pathLst>
          </a:custGeom>
          <a:solidFill>
            <a:srgbClr val="2B2B2B"/>
          </a:solidFill>
        </p:spPr>
        <p:txBody>
          <a:bodyPr wrap="square" lIns="0" tIns="0" rIns="0" bIns="0" rtlCol="0"/>
          <a:lstStyle/>
          <a:p>
            <a:endParaRPr sz="2400"/>
          </a:p>
        </p:txBody>
      </p:sp>
      <p:graphicFrame>
        <p:nvGraphicFramePr>
          <p:cNvPr id="8" name="object 8"/>
          <p:cNvGraphicFramePr>
            <a:graphicFrameLocks noGrp="1"/>
          </p:cNvGraphicFramePr>
          <p:nvPr/>
        </p:nvGraphicFramePr>
        <p:xfrm>
          <a:off x="6087534" y="2597911"/>
          <a:ext cx="1987973" cy="1483358"/>
        </p:xfrm>
        <a:graphic>
          <a:graphicData uri="http://schemas.openxmlformats.org/drawingml/2006/table">
            <a:tbl>
              <a:tblPr firstRow="1" bandRow="1">
                <a:tableStyleId>{2D5ABB26-0587-4C30-8999-92F81FD0307C}</a:tableStyleId>
              </a:tblPr>
              <a:tblGrid>
                <a:gridCol w="1987973">
                  <a:extLst>
                    <a:ext uri="{9D8B030D-6E8A-4147-A177-3AD203B41FA5}">
                      <a16:colId xmlns:a16="http://schemas.microsoft.com/office/drawing/2014/main" val="20000"/>
                    </a:ext>
                  </a:extLst>
                </a:gridCol>
              </a:tblGrid>
              <a:tr h="494453">
                <a:tc>
                  <a:txBody>
                    <a:bodyPr/>
                    <a:lstStyle/>
                    <a:p>
                      <a:pPr marL="92075">
                        <a:lnSpc>
                          <a:spcPct val="100000"/>
                        </a:lnSpc>
                        <a:spcBef>
                          <a:spcPts val="285"/>
                        </a:spcBef>
                      </a:pPr>
                      <a:r>
                        <a:rPr sz="1800" spc="-5" dirty="0">
                          <a:latin typeface="Noto Sans"/>
                          <a:cs typeface="Noto Sans"/>
                        </a:rPr>
                        <a:t>ReadOnlyMany</a:t>
                      </a:r>
                      <a:endParaRPr sz="1800">
                        <a:latin typeface="Noto Sans"/>
                        <a:cs typeface="Noto Sans"/>
                      </a:endParaRPr>
                    </a:p>
                  </a:txBody>
                  <a:tcPr marL="0" marR="0" marT="48260" marB="0">
                    <a:lnL w="12700">
                      <a:solidFill>
                        <a:srgbClr val="1780C3"/>
                      </a:solidFill>
                      <a:prstDash val="solid"/>
                    </a:lnL>
                    <a:lnR w="12700">
                      <a:solidFill>
                        <a:srgbClr val="1780C3"/>
                      </a:solidFill>
                      <a:prstDash val="solid"/>
                    </a:lnR>
                    <a:lnT w="12700">
                      <a:solidFill>
                        <a:srgbClr val="1780C3"/>
                      </a:solidFill>
                      <a:prstDash val="solid"/>
                    </a:lnT>
                    <a:solidFill>
                      <a:srgbClr val="D0E5F3"/>
                    </a:solidFill>
                  </a:tcPr>
                </a:tc>
                <a:extLst>
                  <a:ext uri="{0D108BD9-81ED-4DB2-BD59-A6C34878D82A}">
                    <a16:rowId xmlns:a16="http://schemas.microsoft.com/office/drawing/2014/main" val="10000"/>
                  </a:ext>
                </a:extLst>
              </a:tr>
              <a:tr h="494452">
                <a:tc>
                  <a:txBody>
                    <a:bodyPr/>
                    <a:lstStyle/>
                    <a:p>
                      <a:pPr marL="92075">
                        <a:lnSpc>
                          <a:spcPct val="100000"/>
                        </a:lnSpc>
                        <a:spcBef>
                          <a:spcPts val="285"/>
                        </a:spcBef>
                      </a:pPr>
                      <a:r>
                        <a:rPr sz="1800" spc="-10" dirty="0">
                          <a:latin typeface="Noto Sans"/>
                          <a:cs typeface="Noto Sans"/>
                        </a:rPr>
                        <a:t>ReadWriteOnce</a:t>
                      </a:r>
                      <a:endParaRPr sz="1800" dirty="0">
                        <a:latin typeface="Noto Sans"/>
                        <a:cs typeface="Noto Sans"/>
                      </a:endParaRPr>
                    </a:p>
                  </a:txBody>
                  <a:tcPr marL="0" marR="0" marT="48260" marB="0">
                    <a:lnL w="12700">
                      <a:solidFill>
                        <a:srgbClr val="1780C3"/>
                      </a:solidFill>
                      <a:prstDash val="solid"/>
                    </a:lnL>
                    <a:lnR w="12700">
                      <a:solidFill>
                        <a:srgbClr val="1780C3"/>
                      </a:solidFill>
                      <a:prstDash val="solid"/>
                    </a:lnR>
                    <a:lnB w="12700">
                      <a:solidFill>
                        <a:srgbClr val="1780C3"/>
                      </a:solidFill>
                      <a:prstDash val="solid"/>
                    </a:lnB>
                  </a:tcPr>
                </a:tc>
                <a:extLst>
                  <a:ext uri="{0D108BD9-81ED-4DB2-BD59-A6C34878D82A}">
                    <a16:rowId xmlns:a16="http://schemas.microsoft.com/office/drawing/2014/main" val="10001"/>
                  </a:ext>
                </a:extLst>
              </a:tr>
              <a:tr h="494453">
                <a:tc>
                  <a:txBody>
                    <a:bodyPr/>
                    <a:lstStyle/>
                    <a:p>
                      <a:pPr marL="92075">
                        <a:lnSpc>
                          <a:spcPct val="100000"/>
                        </a:lnSpc>
                        <a:spcBef>
                          <a:spcPts val="290"/>
                        </a:spcBef>
                      </a:pPr>
                      <a:r>
                        <a:rPr sz="1800" spc="-10" dirty="0">
                          <a:latin typeface="Noto Sans"/>
                          <a:cs typeface="Noto Sans"/>
                        </a:rPr>
                        <a:t>ReadWriteMany</a:t>
                      </a:r>
                      <a:endParaRPr sz="1800" dirty="0">
                        <a:latin typeface="Noto Sans"/>
                        <a:cs typeface="Noto Sans"/>
                      </a:endParaRPr>
                    </a:p>
                  </a:txBody>
                  <a:tcPr marL="0" marR="0" marT="49107" marB="0">
                    <a:lnL w="12700">
                      <a:solidFill>
                        <a:srgbClr val="1780C3"/>
                      </a:solidFill>
                      <a:prstDash val="solid"/>
                    </a:lnL>
                    <a:lnR w="12700">
                      <a:solidFill>
                        <a:srgbClr val="1780C3"/>
                      </a:solidFill>
                      <a:prstDash val="solid"/>
                    </a:lnR>
                    <a:lnT w="12700" cap="flat" cmpd="sng" algn="ctr">
                      <a:solidFill>
                        <a:srgbClr val="1780C3"/>
                      </a:solidFill>
                      <a:prstDash val="solid"/>
                      <a:round/>
                      <a:headEnd type="none" w="med" len="med"/>
                      <a:tailEnd type="none" w="med" len="med"/>
                    </a:lnT>
                    <a:lnB w="12700">
                      <a:solidFill>
                        <a:srgbClr val="1780C3"/>
                      </a:solidFill>
                      <a:prstDash val="solid"/>
                    </a:lnB>
                    <a:solidFill>
                      <a:srgbClr val="D0E5F3"/>
                    </a:solidFill>
                  </a:tcPr>
                </a:tc>
                <a:extLst>
                  <a:ext uri="{0D108BD9-81ED-4DB2-BD59-A6C34878D82A}">
                    <a16:rowId xmlns:a16="http://schemas.microsoft.com/office/drawing/2014/main" val="10002"/>
                  </a:ext>
                </a:extLst>
              </a:tr>
            </a:tbl>
          </a:graphicData>
        </a:graphic>
      </p:graphicFrame>
      <p:sp>
        <p:nvSpPr>
          <p:cNvPr id="9" name="object 9"/>
          <p:cNvSpPr txBox="1"/>
          <p:nvPr/>
        </p:nvSpPr>
        <p:spPr>
          <a:xfrm>
            <a:off x="1094435" y="3910736"/>
            <a:ext cx="2020147" cy="418128"/>
          </a:xfrm>
          <a:prstGeom prst="rect">
            <a:avLst/>
          </a:prstGeom>
        </p:spPr>
        <p:txBody>
          <a:bodyPr vert="horz" wrap="square" lIns="0" tIns="0" rIns="0" bIns="0" rtlCol="0">
            <a:spAutoFit/>
          </a:bodyPr>
          <a:lstStyle/>
          <a:p>
            <a:pPr>
              <a:lnSpc>
                <a:spcPts val="1520"/>
              </a:lnSpc>
            </a:pPr>
            <a:r>
              <a:rPr sz="1467" b="1" spc="-7" dirty="0">
                <a:solidFill>
                  <a:srgbClr val="CC7831"/>
                </a:solidFill>
                <a:latin typeface="Courier New"/>
                <a:cs typeface="Courier New"/>
              </a:rPr>
              <a:t>hostPath:</a:t>
            </a:r>
            <a:endParaRPr sz="1467">
              <a:latin typeface="Courier New"/>
              <a:cs typeface="Courier New"/>
            </a:endParaRPr>
          </a:p>
          <a:p>
            <a:pPr marL="334425">
              <a:spcBef>
                <a:spcPts val="13"/>
              </a:spcBef>
            </a:pPr>
            <a:r>
              <a:rPr sz="1467" b="1" dirty="0">
                <a:solidFill>
                  <a:srgbClr val="CC7831"/>
                </a:solidFill>
                <a:latin typeface="Courier New"/>
                <a:cs typeface="Courier New"/>
              </a:rPr>
              <a:t>path:</a:t>
            </a:r>
            <a:r>
              <a:rPr sz="1467" b="1" spc="-120" dirty="0">
                <a:solidFill>
                  <a:srgbClr val="CC7831"/>
                </a:solidFill>
                <a:latin typeface="Courier New"/>
                <a:cs typeface="Courier New"/>
              </a:rPr>
              <a:t> </a:t>
            </a:r>
            <a:r>
              <a:rPr sz="1467" dirty="0">
                <a:solidFill>
                  <a:srgbClr val="A9B7C5"/>
                </a:solidFill>
                <a:latin typeface="Courier New"/>
                <a:cs typeface="Courier New"/>
              </a:rPr>
              <a:t>/tmp/data</a:t>
            </a:r>
            <a:endParaRPr sz="1467">
              <a:latin typeface="Courier New"/>
              <a:cs typeface="Courier New"/>
            </a:endParaRPr>
          </a:p>
        </p:txBody>
      </p:sp>
      <p:grpSp>
        <p:nvGrpSpPr>
          <p:cNvPr id="10" name="object 10"/>
          <p:cNvGrpSpPr/>
          <p:nvPr/>
        </p:nvGrpSpPr>
        <p:grpSpPr>
          <a:xfrm>
            <a:off x="699007" y="5185664"/>
            <a:ext cx="5001260" cy="522393"/>
            <a:chOff x="524255" y="3889247"/>
            <a:chExt cx="3750945" cy="391795"/>
          </a:xfrm>
        </p:grpSpPr>
        <p:sp>
          <p:nvSpPr>
            <p:cNvPr id="11" name="object 11"/>
            <p:cNvSpPr/>
            <p:nvPr/>
          </p:nvSpPr>
          <p:spPr>
            <a:xfrm>
              <a:off x="524255" y="3889247"/>
              <a:ext cx="3750564" cy="361188"/>
            </a:xfrm>
            <a:prstGeom prst="rect">
              <a:avLst/>
            </a:prstGeom>
            <a:blipFill>
              <a:blip r:embed="rId3" cstate="print"/>
              <a:stretch>
                <a:fillRect/>
              </a:stretch>
            </a:blipFill>
          </p:spPr>
          <p:txBody>
            <a:bodyPr wrap="square" lIns="0" tIns="0" rIns="0" bIns="0" rtlCol="0"/>
            <a:lstStyle/>
            <a:p>
              <a:endParaRPr sz="2400"/>
            </a:p>
          </p:txBody>
        </p:sp>
        <p:sp>
          <p:nvSpPr>
            <p:cNvPr id="12" name="object 12"/>
            <p:cNvSpPr/>
            <p:nvPr/>
          </p:nvSpPr>
          <p:spPr>
            <a:xfrm>
              <a:off x="681227" y="3896867"/>
              <a:ext cx="2839212" cy="384098"/>
            </a:xfrm>
            <a:prstGeom prst="rect">
              <a:avLst/>
            </a:prstGeom>
            <a:blipFill>
              <a:blip r:embed="rId4" cstate="print"/>
              <a:stretch>
                <a:fillRect/>
              </a:stretch>
            </a:blipFill>
          </p:spPr>
          <p:txBody>
            <a:bodyPr wrap="square" lIns="0" tIns="0" rIns="0" bIns="0" rtlCol="0"/>
            <a:lstStyle/>
            <a:p>
              <a:endParaRPr sz="2400"/>
            </a:p>
          </p:txBody>
        </p:sp>
        <p:sp>
          <p:nvSpPr>
            <p:cNvPr id="13" name="object 13"/>
            <p:cNvSpPr/>
            <p:nvPr/>
          </p:nvSpPr>
          <p:spPr>
            <a:xfrm>
              <a:off x="583691" y="3928871"/>
              <a:ext cx="3636645" cy="248920"/>
            </a:xfrm>
            <a:custGeom>
              <a:avLst/>
              <a:gdLst/>
              <a:ahLst/>
              <a:cxnLst/>
              <a:rect l="l" t="t" r="r" b="b"/>
              <a:pathLst>
                <a:path w="3636645" h="248920">
                  <a:moveTo>
                    <a:pt x="3636264" y="0"/>
                  </a:moveTo>
                  <a:lnTo>
                    <a:pt x="0" y="0"/>
                  </a:lnTo>
                  <a:lnTo>
                    <a:pt x="0" y="248411"/>
                  </a:lnTo>
                  <a:lnTo>
                    <a:pt x="3636264" y="248411"/>
                  </a:lnTo>
                  <a:lnTo>
                    <a:pt x="3636264" y="0"/>
                  </a:lnTo>
                  <a:close/>
                </a:path>
              </a:pathLst>
            </a:custGeom>
            <a:solidFill>
              <a:srgbClr val="404040"/>
            </a:solidFill>
          </p:spPr>
          <p:txBody>
            <a:bodyPr wrap="square" lIns="0" tIns="0" rIns="0" bIns="0" rtlCol="0"/>
            <a:lstStyle/>
            <a:p>
              <a:endParaRPr sz="2400"/>
            </a:p>
          </p:txBody>
        </p:sp>
      </p:grpSp>
      <p:sp>
        <p:nvSpPr>
          <p:cNvPr id="14" name="object 14"/>
          <p:cNvSpPr txBox="1"/>
          <p:nvPr/>
        </p:nvSpPr>
        <p:spPr>
          <a:xfrm>
            <a:off x="778255" y="5238495"/>
            <a:ext cx="4848860" cy="260691"/>
          </a:xfrm>
          <a:prstGeom prst="rect">
            <a:avLst/>
          </a:prstGeom>
        </p:spPr>
        <p:txBody>
          <a:bodyPr vert="horz" wrap="square" lIns="0" tIns="55033" rIns="0" bIns="0" rtlCol="0">
            <a:spAutoFit/>
          </a:bodyPr>
          <a:lstStyle/>
          <a:p>
            <a:pPr marL="311564">
              <a:spcBef>
                <a:spcPts val="433"/>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52" dirty="0">
                <a:solidFill>
                  <a:srgbClr val="D9D9D9"/>
                </a:solidFill>
                <a:latin typeface="Courier New"/>
                <a:cs typeface="Courier New"/>
              </a:rPr>
              <a:t>–</a:t>
            </a:r>
            <a:r>
              <a:rPr sz="1333" spc="152" dirty="0">
                <a:solidFill>
                  <a:srgbClr val="D9D9D9"/>
                </a:solidFill>
                <a:latin typeface="Arial"/>
                <a:cs typeface="Arial"/>
              </a:rPr>
              <a:t>f</a:t>
            </a:r>
            <a:r>
              <a:rPr sz="1333" spc="-107" dirty="0">
                <a:solidFill>
                  <a:srgbClr val="D9D9D9"/>
                </a:solidFill>
                <a:latin typeface="Arial"/>
                <a:cs typeface="Arial"/>
              </a:rPr>
              <a:t> </a:t>
            </a:r>
            <a:r>
              <a:rPr sz="1333" spc="167" dirty="0">
                <a:solidFill>
                  <a:srgbClr val="D9D9D9"/>
                </a:solidFill>
                <a:latin typeface="Arial"/>
                <a:cs typeface="Arial"/>
              </a:rPr>
              <a:t>pv-definition.yaml</a:t>
            </a:r>
            <a:endParaRPr sz="1333" dirty="0">
              <a:latin typeface="Arial"/>
              <a:cs typeface="Arial"/>
            </a:endParaRPr>
          </a:p>
        </p:txBody>
      </p:sp>
      <p:grpSp>
        <p:nvGrpSpPr>
          <p:cNvPr id="16" name="object 16"/>
          <p:cNvGrpSpPr/>
          <p:nvPr/>
        </p:nvGrpSpPr>
        <p:grpSpPr>
          <a:xfrm>
            <a:off x="699007" y="5842001"/>
            <a:ext cx="5001260" cy="522393"/>
            <a:chOff x="524255" y="4381500"/>
            <a:chExt cx="3750945" cy="391795"/>
          </a:xfrm>
        </p:grpSpPr>
        <p:sp>
          <p:nvSpPr>
            <p:cNvPr id="17" name="object 17"/>
            <p:cNvSpPr/>
            <p:nvPr/>
          </p:nvSpPr>
          <p:spPr>
            <a:xfrm>
              <a:off x="524255" y="4381500"/>
              <a:ext cx="3750564" cy="361188"/>
            </a:xfrm>
            <a:prstGeom prst="rect">
              <a:avLst/>
            </a:prstGeom>
            <a:blipFill>
              <a:blip r:embed="rId3" cstate="print"/>
              <a:stretch>
                <a:fillRect/>
              </a:stretch>
            </a:blipFill>
          </p:spPr>
          <p:txBody>
            <a:bodyPr wrap="square" lIns="0" tIns="0" rIns="0" bIns="0" rtlCol="0"/>
            <a:lstStyle/>
            <a:p>
              <a:endParaRPr sz="2400"/>
            </a:p>
          </p:txBody>
        </p:sp>
        <p:sp>
          <p:nvSpPr>
            <p:cNvPr id="18" name="object 18"/>
            <p:cNvSpPr/>
            <p:nvPr/>
          </p:nvSpPr>
          <p:spPr>
            <a:xfrm>
              <a:off x="681227" y="4390644"/>
              <a:ext cx="2267712" cy="382485"/>
            </a:xfrm>
            <a:prstGeom prst="rect">
              <a:avLst/>
            </a:prstGeom>
            <a:blipFill>
              <a:blip r:embed="rId5" cstate="print"/>
              <a:stretch>
                <a:fillRect/>
              </a:stretch>
            </a:blipFill>
          </p:spPr>
          <p:txBody>
            <a:bodyPr wrap="square" lIns="0" tIns="0" rIns="0" bIns="0" rtlCol="0"/>
            <a:lstStyle/>
            <a:p>
              <a:endParaRPr sz="2400"/>
            </a:p>
          </p:txBody>
        </p:sp>
        <p:sp>
          <p:nvSpPr>
            <p:cNvPr id="19" name="object 19"/>
            <p:cNvSpPr/>
            <p:nvPr/>
          </p:nvSpPr>
          <p:spPr>
            <a:xfrm>
              <a:off x="583691" y="4421123"/>
              <a:ext cx="3636645" cy="248920"/>
            </a:xfrm>
            <a:custGeom>
              <a:avLst/>
              <a:gdLst/>
              <a:ahLst/>
              <a:cxnLst/>
              <a:rect l="l" t="t" r="r" b="b"/>
              <a:pathLst>
                <a:path w="3636645" h="248920">
                  <a:moveTo>
                    <a:pt x="3636264" y="0"/>
                  </a:moveTo>
                  <a:lnTo>
                    <a:pt x="0" y="0"/>
                  </a:lnTo>
                  <a:lnTo>
                    <a:pt x="0" y="248411"/>
                  </a:lnTo>
                  <a:lnTo>
                    <a:pt x="3636264" y="248411"/>
                  </a:lnTo>
                  <a:lnTo>
                    <a:pt x="3636264" y="0"/>
                  </a:lnTo>
                  <a:close/>
                </a:path>
              </a:pathLst>
            </a:custGeom>
            <a:solidFill>
              <a:srgbClr val="404040"/>
            </a:solidFill>
          </p:spPr>
          <p:txBody>
            <a:bodyPr wrap="square" lIns="0" tIns="0" rIns="0" bIns="0" rtlCol="0"/>
            <a:lstStyle/>
            <a:p>
              <a:endParaRPr sz="2400"/>
            </a:p>
          </p:txBody>
        </p:sp>
      </p:grpSp>
      <p:grpSp>
        <p:nvGrpSpPr>
          <p:cNvPr id="20" name="object 20"/>
          <p:cNvGrpSpPr/>
          <p:nvPr/>
        </p:nvGrpSpPr>
        <p:grpSpPr>
          <a:xfrm>
            <a:off x="778256" y="1349248"/>
            <a:ext cx="3367193" cy="3229187"/>
            <a:chOff x="583691" y="1011936"/>
            <a:chExt cx="2525395" cy="2421890"/>
          </a:xfrm>
        </p:grpSpPr>
        <p:sp>
          <p:nvSpPr>
            <p:cNvPr id="21" name="object 21"/>
            <p:cNvSpPr/>
            <p:nvPr/>
          </p:nvSpPr>
          <p:spPr>
            <a:xfrm>
              <a:off x="583691" y="1011936"/>
              <a:ext cx="1632585" cy="300355"/>
            </a:xfrm>
            <a:custGeom>
              <a:avLst/>
              <a:gdLst/>
              <a:ahLst/>
              <a:cxnLst/>
              <a:rect l="l" t="t" r="r" b="b"/>
              <a:pathLst>
                <a:path w="1632585" h="300355">
                  <a:moveTo>
                    <a:pt x="1632204" y="0"/>
                  </a:moveTo>
                  <a:lnTo>
                    <a:pt x="0" y="0"/>
                  </a:lnTo>
                  <a:lnTo>
                    <a:pt x="0" y="300227"/>
                  </a:lnTo>
                  <a:lnTo>
                    <a:pt x="1632204" y="300227"/>
                  </a:lnTo>
                  <a:lnTo>
                    <a:pt x="1632204" y="0"/>
                  </a:lnTo>
                  <a:close/>
                </a:path>
              </a:pathLst>
            </a:custGeom>
            <a:solidFill>
              <a:srgbClr val="000000">
                <a:alpha val="50195"/>
              </a:srgbClr>
            </a:solidFill>
          </p:spPr>
          <p:txBody>
            <a:bodyPr wrap="square" lIns="0" tIns="0" rIns="0" bIns="0" rtlCol="0"/>
            <a:lstStyle/>
            <a:p>
              <a:endParaRPr sz="2400"/>
            </a:p>
          </p:txBody>
        </p:sp>
        <p:sp>
          <p:nvSpPr>
            <p:cNvPr id="22" name="object 22"/>
            <p:cNvSpPr/>
            <p:nvPr/>
          </p:nvSpPr>
          <p:spPr>
            <a:xfrm>
              <a:off x="716279" y="2880359"/>
              <a:ext cx="2392680" cy="553720"/>
            </a:xfrm>
            <a:custGeom>
              <a:avLst/>
              <a:gdLst/>
              <a:ahLst/>
              <a:cxnLst/>
              <a:rect l="l" t="t" r="r" b="b"/>
              <a:pathLst>
                <a:path w="2392680" h="553720">
                  <a:moveTo>
                    <a:pt x="2392680" y="0"/>
                  </a:moveTo>
                  <a:lnTo>
                    <a:pt x="0" y="0"/>
                  </a:lnTo>
                  <a:lnTo>
                    <a:pt x="0" y="553212"/>
                  </a:lnTo>
                  <a:lnTo>
                    <a:pt x="2392680" y="553212"/>
                  </a:lnTo>
                  <a:lnTo>
                    <a:pt x="2392680" y="0"/>
                  </a:lnTo>
                  <a:close/>
                </a:path>
              </a:pathLst>
            </a:custGeom>
            <a:solidFill>
              <a:srgbClr val="2B2B2B"/>
            </a:solidFill>
          </p:spPr>
          <p:txBody>
            <a:bodyPr wrap="square" lIns="0" tIns="0" rIns="0" bIns="0" rtlCol="0"/>
            <a:lstStyle/>
            <a:p>
              <a:endParaRPr sz="2400"/>
            </a:p>
          </p:txBody>
        </p:sp>
      </p:grpSp>
      <p:sp>
        <p:nvSpPr>
          <p:cNvPr id="23" name="object 23"/>
          <p:cNvSpPr txBox="1"/>
          <p:nvPr/>
        </p:nvSpPr>
        <p:spPr>
          <a:xfrm>
            <a:off x="1073437" y="5933168"/>
            <a:ext cx="2697480" cy="223074"/>
          </a:xfrm>
          <a:prstGeom prst="rect">
            <a:avLst/>
          </a:prstGeom>
        </p:spPr>
        <p:txBody>
          <a:bodyPr vert="horz" wrap="square" lIns="0" tIns="17780" rIns="0" bIns="0" rtlCol="0">
            <a:spAutoFit/>
          </a:bodyPr>
          <a:lstStyle/>
          <a:p>
            <a:pPr marL="16933">
              <a:spcBef>
                <a:spcPts val="140"/>
              </a:spcBef>
            </a:pPr>
            <a:r>
              <a:rPr sz="1333" spc="140" dirty="0">
                <a:solidFill>
                  <a:srgbClr val="D9D9D9"/>
                </a:solidFill>
                <a:latin typeface="Arial"/>
                <a:cs typeface="Arial"/>
              </a:rPr>
              <a:t>kubectl </a:t>
            </a:r>
            <a:r>
              <a:rPr sz="1333" spc="120" dirty="0">
                <a:solidFill>
                  <a:srgbClr val="D9D9D9"/>
                </a:solidFill>
                <a:latin typeface="Arial"/>
                <a:cs typeface="Arial"/>
              </a:rPr>
              <a:t>get</a:t>
            </a:r>
            <a:r>
              <a:rPr sz="1333" spc="47" dirty="0">
                <a:solidFill>
                  <a:srgbClr val="D9D9D9"/>
                </a:solidFill>
                <a:latin typeface="Arial"/>
                <a:cs typeface="Arial"/>
              </a:rPr>
              <a:t> </a:t>
            </a:r>
            <a:r>
              <a:rPr sz="1333" spc="113" dirty="0">
                <a:solidFill>
                  <a:srgbClr val="D9D9D9"/>
                </a:solidFill>
                <a:latin typeface="Arial"/>
                <a:cs typeface="Arial"/>
              </a:rPr>
              <a:t>persistentvolume</a:t>
            </a:r>
            <a:endParaRPr sz="1333" dirty="0">
              <a:latin typeface="Arial"/>
              <a:cs typeface="Arial"/>
            </a:endParaRPr>
          </a:p>
        </p:txBody>
      </p:sp>
      <p:grpSp>
        <p:nvGrpSpPr>
          <p:cNvPr id="24" name="object 24"/>
          <p:cNvGrpSpPr/>
          <p:nvPr/>
        </p:nvGrpSpPr>
        <p:grpSpPr>
          <a:xfrm>
            <a:off x="802639" y="6226044"/>
            <a:ext cx="10491894" cy="535093"/>
            <a:chOff x="601979" y="4669535"/>
            <a:chExt cx="7868920" cy="401320"/>
          </a:xfrm>
        </p:grpSpPr>
        <p:sp>
          <p:nvSpPr>
            <p:cNvPr id="26" name="object 26"/>
            <p:cNvSpPr/>
            <p:nvPr/>
          </p:nvSpPr>
          <p:spPr>
            <a:xfrm>
              <a:off x="601979" y="4669535"/>
              <a:ext cx="7868920" cy="401320"/>
            </a:xfrm>
            <a:custGeom>
              <a:avLst/>
              <a:gdLst/>
              <a:ahLst/>
              <a:cxnLst/>
              <a:rect l="l" t="t" r="r" b="b"/>
              <a:pathLst>
                <a:path w="7868920" h="401320">
                  <a:moveTo>
                    <a:pt x="7868411" y="0"/>
                  </a:moveTo>
                  <a:lnTo>
                    <a:pt x="0" y="0"/>
                  </a:lnTo>
                  <a:lnTo>
                    <a:pt x="0" y="400811"/>
                  </a:lnTo>
                  <a:lnTo>
                    <a:pt x="7868411" y="400811"/>
                  </a:lnTo>
                  <a:lnTo>
                    <a:pt x="7868411" y="0"/>
                  </a:lnTo>
                  <a:close/>
                </a:path>
              </a:pathLst>
            </a:custGeom>
            <a:solidFill>
              <a:srgbClr val="000000"/>
            </a:solidFill>
          </p:spPr>
          <p:txBody>
            <a:bodyPr wrap="square" lIns="0" tIns="0" rIns="0" bIns="0" rtlCol="0"/>
            <a:lstStyle/>
            <a:p>
              <a:endParaRPr sz="2400"/>
            </a:p>
          </p:txBody>
        </p:sp>
        <p:sp>
          <p:nvSpPr>
            <p:cNvPr id="27" name="object 27"/>
            <p:cNvSpPr/>
            <p:nvPr/>
          </p:nvSpPr>
          <p:spPr>
            <a:xfrm>
              <a:off x="601979" y="4669535"/>
              <a:ext cx="7868920" cy="401320"/>
            </a:xfrm>
            <a:custGeom>
              <a:avLst/>
              <a:gdLst/>
              <a:ahLst/>
              <a:cxnLst/>
              <a:rect l="l" t="t" r="r" b="b"/>
              <a:pathLst>
                <a:path w="7868920" h="401320">
                  <a:moveTo>
                    <a:pt x="0" y="400811"/>
                  </a:moveTo>
                  <a:lnTo>
                    <a:pt x="7868411" y="400811"/>
                  </a:lnTo>
                  <a:lnTo>
                    <a:pt x="7868411" y="0"/>
                  </a:lnTo>
                  <a:lnTo>
                    <a:pt x="0" y="0"/>
                  </a:lnTo>
                  <a:lnTo>
                    <a:pt x="0" y="400811"/>
                  </a:lnTo>
                  <a:close/>
                </a:path>
              </a:pathLst>
            </a:custGeom>
            <a:ln w="12191">
              <a:solidFill>
                <a:srgbClr val="000000"/>
              </a:solidFill>
            </a:ln>
          </p:spPr>
          <p:txBody>
            <a:bodyPr wrap="square" lIns="0" tIns="0" rIns="0" bIns="0" rtlCol="0"/>
            <a:lstStyle/>
            <a:p>
              <a:endParaRPr sz="2400"/>
            </a:p>
          </p:txBody>
        </p:sp>
      </p:grpSp>
      <p:sp>
        <p:nvSpPr>
          <p:cNvPr id="28" name="object 28"/>
          <p:cNvSpPr txBox="1"/>
          <p:nvPr/>
        </p:nvSpPr>
        <p:spPr>
          <a:xfrm>
            <a:off x="6961428" y="6263979"/>
            <a:ext cx="499533" cy="221365"/>
          </a:xfrm>
          <a:prstGeom prst="rect">
            <a:avLst/>
          </a:prstGeom>
        </p:spPr>
        <p:txBody>
          <a:bodyPr vert="horz" wrap="square" lIns="0" tIns="16087" rIns="0" bIns="0" rtlCol="0">
            <a:spAutoFit/>
          </a:bodyPr>
          <a:lstStyle/>
          <a:p>
            <a:pPr marL="16933">
              <a:spcBef>
                <a:spcPts val="127"/>
              </a:spcBef>
            </a:pPr>
            <a:r>
              <a:rPr sz="1333" spc="-93" dirty="0">
                <a:solidFill>
                  <a:srgbClr val="FFFFFF"/>
                </a:solidFill>
                <a:latin typeface="Arial"/>
                <a:cs typeface="Arial"/>
              </a:rPr>
              <a:t>CLAIM</a:t>
            </a:r>
            <a:endParaRPr sz="1333">
              <a:latin typeface="Arial"/>
              <a:cs typeface="Arial"/>
            </a:endParaRPr>
          </a:p>
        </p:txBody>
      </p:sp>
      <p:sp>
        <p:nvSpPr>
          <p:cNvPr id="29" name="object 29"/>
          <p:cNvSpPr txBox="1"/>
          <p:nvPr/>
        </p:nvSpPr>
        <p:spPr>
          <a:xfrm>
            <a:off x="7892232" y="6263979"/>
            <a:ext cx="1991360" cy="221365"/>
          </a:xfrm>
          <a:prstGeom prst="rect">
            <a:avLst/>
          </a:prstGeom>
        </p:spPr>
        <p:txBody>
          <a:bodyPr vert="horz" wrap="square" lIns="0" tIns="16087" rIns="0" bIns="0" rtlCol="0">
            <a:spAutoFit/>
          </a:bodyPr>
          <a:lstStyle/>
          <a:p>
            <a:pPr marL="16933">
              <a:spcBef>
                <a:spcPts val="127"/>
              </a:spcBef>
              <a:tabLst>
                <a:tab pos="1412205" algn="l"/>
              </a:tabLst>
            </a:pPr>
            <a:r>
              <a:rPr sz="1333" spc="-180" dirty="0">
                <a:solidFill>
                  <a:srgbClr val="FFFFFF"/>
                </a:solidFill>
                <a:latin typeface="Arial"/>
                <a:cs typeface="Arial"/>
              </a:rPr>
              <a:t>STORAGECLASS	</a:t>
            </a:r>
            <a:r>
              <a:rPr sz="1333" spc="-213" dirty="0">
                <a:solidFill>
                  <a:srgbClr val="FFFFFF"/>
                </a:solidFill>
                <a:latin typeface="Arial"/>
                <a:cs typeface="Arial"/>
              </a:rPr>
              <a:t>REASON</a:t>
            </a:r>
            <a:endParaRPr sz="1333" dirty="0">
              <a:latin typeface="Arial"/>
              <a:cs typeface="Arial"/>
            </a:endParaRPr>
          </a:p>
        </p:txBody>
      </p:sp>
      <p:sp>
        <p:nvSpPr>
          <p:cNvPr id="30" name="object 30"/>
          <p:cNvSpPr txBox="1"/>
          <p:nvPr/>
        </p:nvSpPr>
        <p:spPr>
          <a:xfrm>
            <a:off x="907220" y="6263979"/>
            <a:ext cx="687493" cy="426485"/>
          </a:xfrm>
          <a:prstGeom prst="rect">
            <a:avLst/>
          </a:prstGeom>
        </p:spPr>
        <p:txBody>
          <a:bodyPr vert="horz" wrap="square" lIns="0" tIns="16087" rIns="0" bIns="0" rtlCol="0">
            <a:spAutoFit/>
          </a:bodyPr>
          <a:lstStyle/>
          <a:p>
            <a:pPr marL="16933">
              <a:spcBef>
                <a:spcPts val="127"/>
              </a:spcBef>
            </a:pPr>
            <a:r>
              <a:rPr sz="1333" spc="-233" dirty="0">
                <a:solidFill>
                  <a:srgbClr val="FFFFFF"/>
                </a:solidFill>
                <a:latin typeface="Arial"/>
                <a:cs typeface="Arial"/>
              </a:rPr>
              <a:t>NAME</a:t>
            </a:r>
            <a:endParaRPr sz="1333">
              <a:latin typeface="Arial"/>
              <a:cs typeface="Arial"/>
            </a:endParaRPr>
          </a:p>
          <a:p>
            <a:pPr marL="16933"/>
            <a:r>
              <a:rPr sz="1333" spc="113" dirty="0">
                <a:solidFill>
                  <a:srgbClr val="FFFFFF"/>
                </a:solidFill>
                <a:latin typeface="Arial"/>
                <a:cs typeface="Arial"/>
              </a:rPr>
              <a:t>pv-vol1</a:t>
            </a:r>
            <a:endParaRPr sz="1333">
              <a:latin typeface="Arial"/>
              <a:cs typeface="Arial"/>
            </a:endParaRPr>
          </a:p>
        </p:txBody>
      </p:sp>
      <p:sp>
        <p:nvSpPr>
          <p:cNvPr id="31" name="object 31"/>
          <p:cNvSpPr txBox="1"/>
          <p:nvPr/>
        </p:nvSpPr>
        <p:spPr>
          <a:xfrm>
            <a:off x="1839056" y="6263979"/>
            <a:ext cx="781473" cy="426485"/>
          </a:xfrm>
          <a:prstGeom prst="rect">
            <a:avLst/>
          </a:prstGeom>
        </p:spPr>
        <p:txBody>
          <a:bodyPr vert="horz" wrap="square" lIns="0" tIns="16087" rIns="0" bIns="0" rtlCol="0">
            <a:spAutoFit/>
          </a:bodyPr>
          <a:lstStyle/>
          <a:p>
            <a:pPr marL="17780">
              <a:spcBef>
                <a:spcPts val="127"/>
              </a:spcBef>
            </a:pPr>
            <a:r>
              <a:rPr sz="1333" spc="-107" dirty="0">
                <a:solidFill>
                  <a:srgbClr val="FFFFFF"/>
                </a:solidFill>
                <a:latin typeface="Arial"/>
                <a:cs typeface="Arial"/>
              </a:rPr>
              <a:t>CAPACITY</a:t>
            </a:r>
            <a:endParaRPr sz="1333">
              <a:latin typeface="Arial"/>
              <a:cs typeface="Arial"/>
            </a:endParaRPr>
          </a:p>
          <a:p>
            <a:pPr marL="16933"/>
            <a:r>
              <a:rPr sz="1333" spc="33" dirty="0">
                <a:solidFill>
                  <a:srgbClr val="FFFFFF"/>
                </a:solidFill>
                <a:latin typeface="Arial"/>
                <a:cs typeface="Arial"/>
              </a:rPr>
              <a:t>1Gi</a:t>
            </a:r>
            <a:endParaRPr sz="1333">
              <a:latin typeface="Arial"/>
              <a:cs typeface="Arial"/>
            </a:endParaRPr>
          </a:p>
        </p:txBody>
      </p:sp>
      <p:sp>
        <p:nvSpPr>
          <p:cNvPr id="32" name="object 32"/>
          <p:cNvSpPr txBox="1"/>
          <p:nvPr/>
        </p:nvSpPr>
        <p:spPr>
          <a:xfrm>
            <a:off x="2861279" y="6263979"/>
            <a:ext cx="1154853" cy="426485"/>
          </a:xfrm>
          <a:prstGeom prst="rect">
            <a:avLst/>
          </a:prstGeom>
        </p:spPr>
        <p:txBody>
          <a:bodyPr vert="horz" wrap="square" lIns="0" tIns="16087" rIns="0" bIns="0" rtlCol="0">
            <a:spAutoFit/>
          </a:bodyPr>
          <a:lstStyle/>
          <a:p>
            <a:pPr marL="16933" marR="6773" indent="2540">
              <a:spcBef>
                <a:spcPts val="127"/>
              </a:spcBef>
            </a:pPr>
            <a:r>
              <a:rPr sz="1333" spc="-187" dirty="0">
                <a:solidFill>
                  <a:srgbClr val="FFFFFF"/>
                </a:solidFill>
                <a:latin typeface="Arial"/>
                <a:cs typeface="Arial"/>
              </a:rPr>
              <a:t>ACCESS </a:t>
            </a:r>
            <a:r>
              <a:rPr sz="1333" spc="-253" dirty="0">
                <a:solidFill>
                  <a:srgbClr val="FFFFFF"/>
                </a:solidFill>
                <a:latin typeface="Arial"/>
                <a:cs typeface="Arial"/>
              </a:rPr>
              <a:t>MODES  </a:t>
            </a:r>
            <a:r>
              <a:rPr sz="1333" spc="-367" dirty="0">
                <a:solidFill>
                  <a:srgbClr val="FFFFFF"/>
                </a:solidFill>
                <a:latin typeface="Arial"/>
                <a:cs typeface="Arial"/>
              </a:rPr>
              <a:t>RWO</a:t>
            </a:r>
            <a:endParaRPr sz="1333">
              <a:latin typeface="Arial"/>
              <a:cs typeface="Arial"/>
            </a:endParaRPr>
          </a:p>
        </p:txBody>
      </p:sp>
      <p:sp>
        <p:nvSpPr>
          <p:cNvPr id="33" name="object 33"/>
          <p:cNvSpPr txBox="1"/>
          <p:nvPr/>
        </p:nvSpPr>
        <p:spPr>
          <a:xfrm>
            <a:off x="4254716" y="6263979"/>
            <a:ext cx="1345353" cy="426485"/>
          </a:xfrm>
          <a:prstGeom prst="rect">
            <a:avLst/>
          </a:prstGeom>
        </p:spPr>
        <p:txBody>
          <a:bodyPr vert="horz" wrap="square" lIns="0" tIns="16087" rIns="0" bIns="0" rtlCol="0">
            <a:spAutoFit/>
          </a:bodyPr>
          <a:lstStyle/>
          <a:p>
            <a:pPr marL="22013">
              <a:spcBef>
                <a:spcPts val="127"/>
              </a:spcBef>
            </a:pPr>
            <a:r>
              <a:rPr sz="1333" spc="-120" dirty="0">
                <a:solidFill>
                  <a:srgbClr val="FFFFFF"/>
                </a:solidFill>
                <a:latin typeface="Arial"/>
                <a:cs typeface="Arial"/>
              </a:rPr>
              <a:t>RECLAIM</a:t>
            </a:r>
            <a:r>
              <a:rPr sz="1333" spc="13" dirty="0">
                <a:solidFill>
                  <a:srgbClr val="FFFFFF"/>
                </a:solidFill>
                <a:latin typeface="Arial"/>
                <a:cs typeface="Arial"/>
              </a:rPr>
              <a:t> </a:t>
            </a:r>
            <a:r>
              <a:rPr sz="1333" spc="-87" dirty="0">
                <a:solidFill>
                  <a:srgbClr val="FFFFFF"/>
                </a:solidFill>
                <a:latin typeface="Arial"/>
                <a:cs typeface="Arial"/>
              </a:rPr>
              <a:t>POLICY</a:t>
            </a:r>
            <a:endParaRPr sz="1333">
              <a:latin typeface="Arial"/>
              <a:cs typeface="Arial"/>
            </a:endParaRPr>
          </a:p>
          <a:p>
            <a:pPr marL="16933"/>
            <a:r>
              <a:rPr sz="1333" spc="87" dirty="0">
                <a:solidFill>
                  <a:srgbClr val="FFFFFF"/>
                </a:solidFill>
                <a:latin typeface="Arial"/>
                <a:cs typeface="Arial"/>
              </a:rPr>
              <a:t>Retain</a:t>
            </a:r>
            <a:endParaRPr sz="1333">
              <a:latin typeface="Arial"/>
              <a:cs typeface="Arial"/>
            </a:endParaRPr>
          </a:p>
        </p:txBody>
      </p:sp>
      <p:sp>
        <p:nvSpPr>
          <p:cNvPr id="34" name="object 34"/>
          <p:cNvSpPr txBox="1"/>
          <p:nvPr/>
        </p:nvSpPr>
        <p:spPr>
          <a:xfrm>
            <a:off x="5834685" y="6263979"/>
            <a:ext cx="871220" cy="426485"/>
          </a:xfrm>
          <a:prstGeom prst="rect">
            <a:avLst/>
          </a:prstGeom>
        </p:spPr>
        <p:txBody>
          <a:bodyPr vert="horz" wrap="square" lIns="0" tIns="16087" rIns="0" bIns="0" rtlCol="0">
            <a:spAutoFit/>
          </a:bodyPr>
          <a:lstStyle/>
          <a:p>
            <a:pPr marL="25399">
              <a:spcBef>
                <a:spcPts val="127"/>
              </a:spcBef>
            </a:pPr>
            <a:r>
              <a:rPr sz="1333" spc="-152" dirty="0">
                <a:solidFill>
                  <a:srgbClr val="FFFFFF"/>
                </a:solidFill>
                <a:latin typeface="Arial"/>
                <a:cs typeface="Arial"/>
              </a:rPr>
              <a:t>STATUS</a:t>
            </a:r>
            <a:endParaRPr sz="1333">
              <a:latin typeface="Arial"/>
              <a:cs typeface="Arial"/>
            </a:endParaRPr>
          </a:p>
          <a:p>
            <a:pPr marL="16933"/>
            <a:r>
              <a:rPr sz="1333" spc="-160" dirty="0">
                <a:solidFill>
                  <a:srgbClr val="FFFFFF"/>
                </a:solidFill>
                <a:latin typeface="Arial"/>
                <a:cs typeface="Arial"/>
              </a:rPr>
              <a:t>A</a:t>
            </a:r>
            <a:r>
              <a:rPr sz="1333" spc="60" dirty="0">
                <a:solidFill>
                  <a:srgbClr val="FFFFFF"/>
                </a:solidFill>
                <a:latin typeface="Arial"/>
                <a:cs typeface="Arial"/>
              </a:rPr>
              <a:t>v</a:t>
            </a:r>
            <a:r>
              <a:rPr sz="1333" spc="-13" dirty="0">
                <a:solidFill>
                  <a:srgbClr val="FFFFFF"/>
                </a:solidFill>
                <a:latin typeface="Arial"/>
                <a:cs typeface="Arial"/>
              </a:rPr>
              <a:t>a</a:t>
            </a:r>
            <a:r>
              <a:rPr sz="1333" spc="433" dirty="0">
                <a:solidFill>
                  <a:srgbClr val="FFFFFF"/>
                </a:solidFill>
                <a:latin typeface="Arial"/>
                <a:cs typeface="Arial"/>
              </a:rPr>
              <a:t>i</a:t>
            </a:r>
            <a:r>
              <a:rPr sz="1333" spc="420" dirty="0">
                <a:solidFill>
                  <a:srgbClr val="FFFFFF"/>
                </a:solidFill>
                <a:latin typeface="Arial"/>
                <a:cs typeface="Arial"/>
              </a:rPr>
              <a:t>l</a:t>
            </a:r>
            <a:r>
              <a:rPr sz="1333" spc="-13" dirty="0">
                <a:solidFill>
                  <a:srgbClr val="FFFFFF"/>
                </a:solidFill>
                <a:latin typeface="Arial"/>
                <a:cs typeface="Arial"/>
              </a:rPr>
              <a:t>ab</a:t>
            </a:r>
            <a:r>
              <a:rPr sz="1333" spc="433" dirty="0">
                <a:solidFill>
                  <a:srgbClr val="FFFFFF"/>
                </a:solidFill>
                <a:latin typeface="Arial"/>
                <a:cs typeface="Arial"/>
              </a:rPr>
              <a:t>l</a:t>
            </a:r>
            <a:r>
              <a:rPr sz="1333" spc="-13" dirty="0">
                <a:solidFill>
                  <a:srgbClr val="FFFFFF"/>
                </a:solidFill>
                <a:latin typeface="Arial"/>
                <a:cs typeface="Arial"/>
              </a:rPr>
              <a:t>e</a:t>
            </a:r>
            <a:endParaRPr sz="1333">
              <a:latin typeface="Arial"/>
              <a:cs typeface="Arial"/>
            </a:endParaRPr>
          </a:p>
        </p:txBody>
      </p:sp>
      <p:sp>
        <p:nvSpPr>
          <p:cNvPr id="35" name="object 35"/>
          <p:cNvSpPr txBox="1"/>
          <p:nvPr/>
        </p:nvSpPr>
        <p:spPr>
          <a:xfrm>
            <a:off x="10203381" y="6263979"/>
            <a:ext cx="329353" cy="426485"/>
          </a:xfrm>
          <a:prstGeom prst="rect">
            <a:avLst/>
          </a:prstGeom>
        </p:spPr>
        <p:txBody>
          <a:bodyPr vert="horz" wrap="square" lIns="0" tIns="16087" rIns="0" bIns="0" rtlCol="0">
            <a:spAutoFit/>
          </a:bodyPr>
          <a:lstStyle/>
          <a:p>
            <a:pPr marL="33866">
              <a:spcBef>
                <a:spcPts val="127"/>
              </a:spcBef>
            </a:pPr>
            <a:r>
              <a:rPr sz="1333" spc="-220" dirty="0">
                <a:solidFill>
                  <a:srgbClr val="FFFFFF"/>
                </a:solidFill>
                <a:latin typeface="Arial"/>
                <a:cs typeface="Arial"/>
              </a:rPr>
              <a:t>A</a:t>
            </a:r>
            <a:r>
              <a:rPr sz="1333" spc="-267" dirty="0">
                <a:solidFill>
                  <a:srgbClr val="FFFFFF"/>
                </a:solidFill>
                <a:latin typeface="Arial"/>
                <a:cs typeface="Arial"/>
              </a:rPr>
              <a:t>G</a:t>
            </a:r>
            <a:r>
              <a:rPr sz="1333" spc="-160" dirty="0">
                <a:solidFill>
                  <a:srgbClr val="FFFFFF"/>
                </a:solidFill>
                <a:latin typeface="Arial"/>
                <a:cs typeface="Arial"/>
              </a:rPr>
              <a:t>E</a:t>
            </a:r>
            <a:endParaRPr sz="1333">
              <a:latin typeface="Arial"/>
              <a:cs typeface="Arial"/>
            </a:endParaRPr>
          </a:p>
          <a:p>
            <a:pPr marL="16933"/>
            <a:r>
              <a:rPr sz="1333" spc="-200" dirty="0">
                <a:solidFill>
                  <a:srgbClr val="FFFFFF"/>
                </a:solidFill>
                <a:latin typeface="Arial"/>
                <a:cs typeface="Arial"/>
              </a:rPr>
              <a:t>3m</a:t>
            </a:r>
            <a:endParaRPr sz="1333">
              <a:latin typeface="Arial"/>
              <a:cs typeface="Arial"/>
            </a:endParaRPr>
          </a:p>
        </p:txBody>
      </p:sp>
      <p:sp>
        <p:nvSpPr>
          <p:cNvPr id="36" name="object 36"/>
          <p:cNvSpPr txBox="1"/>
          <p:nvPr/>
        </p:nvSpPr>
        <p:spPr>
          <a:xfrm>
            <a:off x="882429" y="1379052"/>
            <a:ext cx="2550160" cy="3160994"/>
          </a:xfrm>
          <a:prstGeom prst="rect">
            <a:avLst/>
          </a:prstGeom>
        </p:spPr>
        <p:txBody>
          <a:bodyPr vert="horz" wrap="square" lIns="0" tIns="17780" rIns="0" bIns="0" rtlCol="0">
            <a:spAutoFit/>
          </a:bodyPr>
          <a:lstStyle/>
          <a:p>
            <a:pPr marL="17780">
              <a:spcBef>
                <a:spcPts val="140"/>
              </a:spcBef>
            </a:pPr>
            <a:r>
              <a:rPr spc="-13" dirty="0">
                <a:solidFill>
                  <a:srgbClr val="FFFFFF"/>
                </a:solidFill>
                <a:latin typeface="Noto Sans"/>
                <a:cs typeface="Noto Sans"/>
              </a:rPr>
              <a:t>pv-definition.yaml</a:t>
            </a:r>
            <a:endParaRPr dirty="0">
              <a:latin typeface="Noto Sans"/>
              <a:cs typeface="Noto Sans"/>
            </a:endParaRPr>
          </a:p>
          <a:p>
            <a:pPr marL="16933">
              <a:spcBef>
                <a:spcPts val="1113"/>
              </a:spcBef>
            </a:pPr>
            <a:r>
              <a:rPr sz="1467" b="1" spc="-7" dirty="0">
                <a:solidFill>
                  <a:srgbClr val="CC7831"/>
                </a:solidFill>
                <a:latin typeface="Courier New"/>
                <a:cs typeface="Courier New"/>
              </a:rPr>
              <a:t>apiVersion:</a:t>
            </a:r>
            <a:r>
              <a:rPr sz="1467" b="1" spc="-133" dirty="0">
                <a:solidFill>
                  <a:srgbClr val="CC7831"/>
                </a:solidFill>
                <a:latin typeface="Courier New"/>
                <a:cs typeface="Courier New"/>
              </a:rPr>
              <a:t> </a:t>
            </a:r>
            <a:r>
              <a:rPr sz="2200" spc="-9" baseline="2525" dirty="0">
                <a:solidFill>
                  <a:srgbClr val="A9B7C5"/>
                </a:solidFill>
                <a:latin typeface="Courier New"/>
                <a:cs typeface="Courier New"/>
              </a:rPr>
              <a:t>v1</a:t>
            </a:r>
            <a:endParaRPr sz="2200" baseline="2525" dirty="0">
              <a:latin typeface="Courier New"/>
              <a:cs typeface="Courier New"/>
            </a:endParaRPr>
          </a:p>
          <a:p>
            <a:pPr marL="16933"/>
            <a:r>
              <a:rPr sz="1467" b="1" spc="-7" dirty="0">
                <a:solidFill>
                  <a:srgbClr val="CC7831"/>
                </a:solidFill>
                <a:latin typeface="Courier New"/>
                <a:cs typeface="Courier New"/>
              </a:rPr>
              <a:t>kind:</a:t>
            </a:r>
            <a:r>
              <a:rPr sz="1467" b="1" spc="100" dirty="0">
                <a:solidFill>
                  <a:srgbClr val="CC7831"/>
                </a:solidFill>
                <a:latin typeface="Courier New"/>
                <a:cs typeface="Courier New"/>
              </a:rPr>
              <a:t> </a:t>
            </a:r>
            <a:r>
              <a:rPr sz="2200" spc="-9" baseline="2525" dirty="0">
                <a:solidFill>
                  <a:srgbClr val="A9B7C5"/>
                </a:solidFill>
                <a:latin typeface="Courier New"/>
                <a:cs typeface="Courier New"/>
              </a:rPr>
              <a:t>PersistentVolume</a:t>
            </a:r>
            <a:endParaRPr sz="2200" baseline="2525" dirty="0">
              <a:latin typeface="Courier New"/>
              <a:cs typeface="Courier New"/>
            </a:endParaRPr>
          </a:p>
          <a:p>
            <a:pPr marL="16933">
              <a:lnSpc>
                <a:spcPts val="1753"/>
              </a:lnSpc>
            </a:pPr>
            <a:r>
              <a:rPr sz="1467" b="1" spc="-7" dirty="0">
                <a:solidFill>
                  <a:srgbClr val="CC7831"/>
                </a:solidFill>
                <a:latin typeface="Courier New"/>
                <a:cs typeface="Courier New"/>
              </a:rPr>
              <a:t>metadata:</a:t>
            </a:r>
            <a:endParaRPr sz="1467" dirty="0">
              <a:latin typeface="Courier New"/>
              <a:cs typeface="Courier New"/>
            </a:endParaRPr>
          </a:p>
          <a:p>
            <a:pPr marL="309026">
              <a:lnSpc>
                <a:spcPts val="1753"/>
              </a:lnSpc>
            </a:pPr>
            <a:r>
              <a:rPr sz="1467" b="1" spc="-7" dirty="0">
                <a:solidFill>
                  <a:srgbClr val="CC7831"/>
                </a:solidFill>
                <a:latin typeface="Courier New"/>
                <a:cs typeface="Courier New"/>
              </a:rPr>
              <a:t>name:</a:t>
            </a:r>
            <a:r>
              <a:rPr sz="1467" b="1" spc="-20" dirty="0">
                <a:solidFill>
                  <a:srgbClr val="CC7831"/>
                </a:solidFill>
                <a:latin typeface="Courier New"/>
                <a:cs typeface="Courier New"/>
              </a:rPr>
              <a:t> </a:t>
            </a:r>
            <a:r>
              <a:rPr sz="1467" dirty="0">
                <a:solidFill>
                  <a:srgbClr val="A9B7C5"/>
                </a:solidFill>
                <a:latin typeface="Courier New"/>
                <a:cs typeface="Courier New"/>
              </a:rPr>
              <a:t>pv-vol1</a:t>
            </a:r>
            <a:endParaRPr sz="1467" dirty="0">
              <a:latin typeface="Courier New"/>
              <a:cs typeface="Courier New"/>
            </a:endParaRPr>
          </a:p>
          <a:p>
            <a:pPr marL="16933">
              <a:lnSpc>
                <a:spcPts val="1560"/>
              </a:lnSpc>
              <a:spcBef>
                <a:spcPts val="20"/>
              </a:spcBef>
            </a:pPr>
            <a:r>
              <a:rPr sz="1467" b="1" spc="-7" dirty="0">
                <a:solidFill>
                  <a:srgbClr val="CC7831"/>
                </a:solidFill>
                <a:latin typeface="Courier New"/>
                <a:cs typeface="Courier New"/>
              </a:rPr>
              <a:t>spec:</a:t>
            </a:r>
            <a:endParaRPr sz="1467" dirty="0">
              <a:latin typeface="Courier New"/>
              <a:cs typeface="Courier New"/>
            </a:endParaRPr>
          </a:p>
          <a:p>
            <a:pPr marL="232828">
              <a:lnSpc>
                <a:spcPts val="1560"/>
              </a:lnSpc>
            </a:pPr>
            <a:r>
              <a:rPr sz="1467" b="1" spc="-7" dirty="0">
                <a:solidFill>
                  <a:srgbClr val="CC7831"/>
                </a:solidFill>
                <a:latin typeface="Courier New"/>
                <a:cs typeface="Courier New"/>
              </a:rPr>
              <a:t>accessModes:</a:t>
            </a:r>
            <a:endParaRPr sz="1467" dirty="0">
              <a:latin typeface="Courier New"/>
              <a:cs typeface="Courier New"/>
            </a:endParaRPr>
          </a:p>
          <a:p>
            <a:pPr marL="679856">
              <a:spcBef>
                <a:spcPts val="13"/>
              </a:spcBef>
            </a:pPr>
            <a:r>
              <a:rPr sz="1467" dirty="0">
                <a:solidFill>
                  <a:srgbClr val="A9B7C5"/>
                </a:solidFill>
                <a:latin typeface="Courier New"/>
                <a:cs typeface="Courier New"/>
              </a:rPr>
              <a:t>-</a:t>
            </a:r>
            <a:r>
              <a:rPr sz="1467" spc="-53" dirty="0">
                <a:solidFill>
                  <a:srgbClr val="A9B7C5"/>
                </a:solidFill>
                <a:latin typeface="Courier New"/>
                <a:cs typeface="Courier New"/>
              </a:rPr>
              <a:t> </a:t>
            </a:r>
            <a:r>
              <a:rPr sz="1467" dirty="0">
                <a:solidFill>
                  <a:srgbClr val="A9B7C5"/>
                </a:solidFill>
                <a:latin typeface="Courier New"/>
                <a:cs typeface="Courier New"/>
              </a:rPr>
              <a:t>ReadWriteOnce</a:t>
            </a:r>
            <a:endParaRPr sz="1467" dirty="0">
              <a:latin typeface="Courier New"/>
              <a:cs typeface="Courier New"/>
            </a:endParaRPr>
          </a:p>
          <a:p>
            <a:pPr marL="232828">
              <a:spcBef>
                <a:spcPts val="20"/>
              </a:spcBef>
            </a:pPr>
            <a:r>
              <a:rPr sz="1467" b="1" spc="-7" dirty="0">
                <a:solidFill>
                  <a:srgbClr val="CC7831"/>
                </a:solidFill>
                <a:latin typeface="Courier New"/>
                <a:cs typeface="Courier New"/>
              </a:rPr>
              <a:t>capacity:</a:t>
            </a:r>
            <a:endParaRPr sz="1467" dirty="0">
              <a:latin typeface="Courier New"/>
              <a:cs typeface="Courier New"/>
            </a:endParaRPr>
          </a:p>
          <a:p>
            <a:pPr marL="679856">
              <a:spcBef>
                <a:spcPts val="13"/>
              </a:spcBef>
            </a:pPr>
            <a:r>
              <a:rPr sz="1467" b="1" dirty="0">
                <a:solidFill>
                  <a:srgbClr val="CC7831"/>
                </a:solidFill>
                <a:latin typeface="Courier New"/>
                <a:cs typeface="Courier New"/>
              </a:rPr>
              <a:t>storage:</a:t>
            </a:r>
            <a:r>
              <a:rPr sz="1467" b="1" spc="-13" dirty="0">
                <a:solidFill>
                  <a:srgbClr val="CC7831"/>
                </a:solidFill>
                <a:latin typeface="Courier New"/>
                <a:cs typeface="Courier New"/>
              </a:rPr>
              <a:t> </a:t>
            </a:r>
            <a:r>
              <a:rPr sz="1467" spc="-7" dirty="0">
                <a:solidFill>
                  <a:srgbClr val="A9B7C5"/>
                </a:solidFill>
                <a:latin typeface="Courier New"/>
                <a:cs typeface="Courier New"/>
              </a:rPr>
              <a:t>1Gi</a:t>
            </a:r>
            <a:endParaRPr sz="1467" dirty="0">
              <a:latin typeface="Courier New"/>
              <a:cs typeface="Courier New"/>
            </a:endParaRPr>
          </a:p>
          <a:p>
            <a:pPr marL="398770" marR="6773" indent="-203195">
              <a:lnSpc>
                <a:spcPct val="101000"/>
              </a:lnSpc>
              <a:spcBef>
                <a:spcPts val="807"/>
              </a:spcBef>
            </a:pPr>
            <a:r>
              <a:rPr sz="1333" b="1" spc="-7" dirty="0">
                <a:solidFill>
                  <a:srgbClr val="CC7831"/>
                </a:solidFill>
                <a:latin typeface="Courier New"/>
                <a:cs typeface="Courier New"/>
              </a:rPr>
              <a:t>awsElasticBlockStore:  volumeID: </a:t>
            </a:r>
            <a:r>
              <a:rPr sz="1333" spc="-7" dirty="0">
                <a:solidFill>
                  <a:srgbClr val="A9B7C5"/>
                </a:solidFill>
                <a:latin typeface="Courier New"/>
                <a:cs typeface="Courier New"/>
              </a:rPr>
              <a:t>&lt;volume-id&gt;  </a:t>
            </a:r>
            <a:r>
              <a:rPr sz="1333" b="1" spc="-7" dirty="0">
                <a:solidFill>
                  <a:srgbClr val="CC7831"/>
                </a:solidFill>
                <a:latin typeface="Courier New"/>
                <a:cs typeface="Courier New"/>
              </a:rPr>
              <a:t>fsType:</a:t>
            </a:r>
            <a:r>
              <a:rPr sz="1333" b="1" spc="-13" dirty="0">
                <a:solidFill>
                  <a:srgbClr val="CC7831"/>
                </a:solidFill>
                <a:latin typeface="Courier New"/>
                <a:cs typeface="Courier New"/>
              </a:rPr>
              <a:t> </a:t>
            </a:r>
            <a:r>
              <a:rPr sz="1333" spc="-7" dirty="0">
                <a:solidFill>
                  <a:srgbClr val="A9B7C5"/>
                </a:solidFill>
                <a:latin typeface="Courier New"/>
                <a:cs typeface="Courier New"/>
              </a:rPr>
              <a:t>ext4</a:t>
            </a:r>
            <a:endParaRPr sz="1333" dirty="0">
              <a:latin typeface="Courier New"/>
              <a:cs typeface="Courier New"/>
            </a:endParaRPr>
          </a:p>
        </p:txBody>
      </p:sp>
    </p:spTree>
    <p:extLst>
      <p:ext uri="{BB962C8B-B14F-4D97-AF65-F5344CB8AC3E}">
        <p14:creationId xmlns:p14="http://schemas.microsoft.com/office/powerpoint/2010/main" val="396043523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82429" y="331247"/>
            <a:ext cx="6973147" cy="694207"/>
          </a:xfrm>
          <a:prstGeom prst="rect">
            <a:avLst/>
          </a:prstGeom>
        </p:spPr>
        <p:txBody>
          <a:bodyPr vert="horz" wrap="square" lIns="0" tIns="16933" rIns="0" bIns="0" rtlCol="0" anchor="ctr">
            <a:spAutoFit/>
          </a:bodyPr>
          <a:lstStyle/>
          <a:p>
            <a:pPr marL="16933">
              <a:lnSpc>
                <a:spcPct val="100000"/>
              </a:lnSpc>
              <a:spcBef>
                <a:spcPts val="133"/>
              </a:spcBef>
            </a:pPr>
            <a:r>
              <a:rPr b="1" spc="53" dirty="0"/>
              <a:t>Persistent </a:t>
            </a:r>
            <a:r>
              <a:rPr b="1" spc="93" dirty="0"/>
              <a:t>Volume</a:t>
            </a:r>
            <a:r>
              <a:rPr b="1" spc="-787" dirty="0"/>
              <a:t> </a:t>
            </a:r>
            <a:r>
              <a:rPr b="1" spc="47" dirty="0"/>
              <a:t>Claim</a:t>
            </a:r>
            <a:endParaRPr b="1" dirty="0"/>
          </a:p>
        </p:txBody>
      </p:sp>
      <p:sp>
        <p:nvSpPr>
          <p:cNvPr id="3" name="object 3"/>
          <p:cNvSpPr txBox="1"/>
          <p:nvPr/>
        </p:nvSpPr>
        <p:spPr>
          <a:xfrm>
            <a:off x="991616" y="1747519"/>
            <a:ext cx="2284307" cy="325730"/>
          </a:xfrm>
          <a:prstGeom prst="rect">
            <a:avLst/>
          </a:prstGeom>
          <a:solidFill>
            <a:srgbClr val="000000">
              <a:alpha val="50195"/>
            </a:srgbClr>
          </a:solidFill>
        </p:spPr>
        <p:txBody>
          <a:bodyPr vert="horz" wrap="square" lIns="0" tIns="48260" rIns="0" bIns="0" rtlCol="0">
            <a:spAutoFit/>
          </a:bodyPr>
          <a:lstStyle/>
          <a:p>
            <a:pPr marL="121070">
              <a:spcBef>
                <a:spcPts val="380"/>
              </a:spcBef>
            </a:pPr>
            <a:r>
              <a:rPr spc="-13" dirty="0">
                <a:solidFill>
                  <a:srgbClr val="FFFFFF"/>
                </a:solidFill>
                <a:latin typeface="Noto Sans"/>
                <a:cs typeface="Noto Sans"/>
              </a:rPr>
              <a:t>pvc-definition.yaml</a:t>
            </a:r>
            <a:endParaRPr>
              <a:latin typeface="Noto Sans"/>
              <a:cs typeface="Noto Sans"/>
            </a:endParaRPr>
          </a:p>
        </p:txBody>
      </p:sp>
      <p:sp>
        <p:nvSpPr>
          <p:cNvPr id="4" name="object 4"/>
          <p:cNvSpPr txBox="1"/>
          <p:nvPr/>
        </p:nvSpPr>
        <p:spPr>
          <a:xfrm>
            <a:off x="991617" y="2151888"/>
            <a:ext cx="4765039" cy="3137868"/>
          </a:xfrm>
          <a:prstGeom prst="rect">
            <a:avLst/>
          </a:prstGeom>
          <a:solidFill>
            <a:srgbClr val="2B2B2B"/>
          </a:solidFill>
        </p:spPr>
        <p:txBody>
          <a:bodyPr vert="horz" wrap="square" lIns="0" tIns="64347" rIns="0" bIns="0" rtlCol="0">
            <a:spAutoFit/>
          </a:bodyPr>
          <a:lstStyle/>
          <a:p>
            <a:pPr marL="121070">
              <a:lnSpc>
                <a:spcPts val="2193"/>
              </a:lnSpc>
              <a:spcBef>
                <a:spcPts val="507"/>
              </a:spcBef>
            </a:pPr>
            <a:r>
              <a:rPr sz="2800" b="1" spc="-9" baseline="1984" dirty="0">
                <a:solidFill>
                  <a:srgbClr val="CC7831"/>
                </a:solidFill>
                <a:latin typeface="Courier New"/>
                <a:cs typeface="Courier New"/>
              </a:rPr>
              <a:t>apiVersion:</a:t>
            </a:r>
            <a:r>
              <a:rPr sz="2800" b="1" spc="-1049" baseline="1984" dirty="0">
                <a:solidFill>
                  <a:srgbClr val="CC7831"/>
                </a:solidFill>
                <a:latin typeface="Courier New"/>
                <a:cs typeface="Courier New"/>
              </a:rPr>
              <a:t> </a:t>
            </a:r>
            <a:r>
              <a:rPr sz="1867" spc="-7" dirty="0">
                <a:solidFill>
                  <a:srgbClr val="A9B7C5"/>
                </a:solidFill>
                <a:latin typeface="Courier New"/>
                <a:cs typeface="Courier New"/>
              </a:rPr>
              <a:t>v1</a:t>
            </a:r>
            <a:endParaRPr sz="1867" dirty="0">
              <a:latin typeface="Courier New"/>
              <a:cs typeface="Courier New"/>
            </a:endParaRPr>
          </a:p>
          <a:p>
            <a:pPr marL="121070">
              <a:lnSpc>
                <a:spcPts val="2193"/>
              </a:lnSpc>
            </a:pPr>
            <a:r>
              <a:rPr sz="1867" b="1" spc="-7" dirty="0">
                <a:solidFill>
                  <a:srgbClr val="CC7831"/>
                </a:solidFill>
                <a:latin typeface="Courier New"/>
                <a:cs typeface="Courier New"/>
              </a:rPr>
              <a:t>kind:</a:t>
            </a:r>
            <a:r>
              <a:rPr sz="1867" b="1" spc="-780" dirty="0">
                <a:solidFill>
                  <a:srgbClr val="CC7831"/>
                </a:solidFill>
                <a:latin typeface="Courier New"/>
                <a:cs typeface="Courier New"/>
              </a:rPr>
              <a:t> </a:t>
            </a:r>
            <a:r>
              <a:rPr sz="2800" spc="-9" baseline="3968" dirty="0">
                <a:solidFill>
                  <a:srgbClr val="A9B7C5"/>
                </a:solidFill>
                <a:latin typeface="Courier New"/>
                <a:cs typeface="Courier New"/>
              </a:rPr>
              <a:t>PersistentVolumeClaim</a:t>
            </a:r>
            <a:endParaRPr sz="2800" baseline="3968" dirty="0">
              <a:latin typeface="Courier New"/>
              <a:cs typeface="Courier New"/>
            </a:endParaRPr>
          </a:p>
          <a:p>
            <a:pPr marL="121070"/>
            <a:r>
              <a:rPr sz="1867" b="1" spc="-7" dirty="0">
                <a:solidFill>
                  <a:srgbClr val="CC7831"/>
                </a:solidFill>
                <a:latin typeface="Courier New"/>
                <a:cs typeface="Courier New"/>
              </a:rPr>
              <a:t>metadata:</a:t>
            </a:r>
            <a:endParaRPr sz="1867" dirty="0">
              <a:latin typeface="Courier New"/>
              <a:cs typeface="Courier New"/>
            </a:endParaRPr>
          </a:p>
          <a:p>
            <a:pPr marL="374217">
              <a:lnSpc>
                <a:spcPts val="2087"/>
              </a:lnSpc>
              <a:spcBef>
                <a:spcPts val="305"/>
              </a:spcBef>
            </a:pPr>
            <a:r>
              <a:rPr sz="1867" b="1" spc="-7" dirty="0">
                <a:solidFill>
                  <a:srgbClr val="CC7831"/>
                </a:solidFill>
                <a:latin typeface="Courier New"/>
                <a:cs typeface="Courier New"/>
              </a:rPr>
              <a:t>name: </a:t>
            </a:r>
            <a:r>
              <a:rPr sz="1867" spc="-13" dirty="0">
                <a:solidFill>
                  <a:srgbClr val="A9B7C5"/>
                </a:solidFill>
                <a:latin typeface="Courier New"/>
                <a:cs typeface="Courier New"/>
              </a:rPr>
              <a:t>myclaim</a:t>
            </a:r>
            <a:endParaRPr sz="1867" dirty="0">
              <a:latin typeface="Courier New"/>
              <a:cs typeface="Courier New"/>
            </a:endParaRPr>
          </a:p>
          <a:p>
            <a:pPr marL="121070">
              <a:lnSpc>
                <a:spcPts val="2087"/>
              </a:lnSpc>
            </a:pPr>
            <a:r>
              <a:rPr sz="1867" b="1" spc="-7" dirty="0">
                <a:solidFill>
                  <a:srgbClr val="CC7831"/>
                </a:solidFill>
                <a:latin typeface="Courier New"/>
                <a:cs typeface="Courier New"/>
              </a:rPr>
              <a:t>spec:</a:t>
            </a:r>
            <a:endParaRPr sz="1867" dirty="0">
              <a:latin typeface="Courier New"/>
              <a:cs typeface="Courier New"/>
            </a:endParaRPr>
          </a:p>
          <a:p>
            <a:pPr marL="354744">
              <a:spcBef>
                <a:spcPts val="247"/>
              </a:spcBef>
            </a:pPr>
            <a:r>
              <a:rPr sz="1867" b="1" spc="-7" dirty="0">
                <a:solidFill>
                  <a:srgbClr val="CC7831"/>
                </a:solidFill>
                <a:latin typeface="Courier New"/>
                <a:cs typeface="Courier New"/>
              </a:rPr>
              <a:t>accessModes:</a:t>
            </a:r>
            <a:endParaRPr sz="1867" dirty="0">
              <a:latin typeface="Courier New"/>
              <a:cs typeface="Courier New"/>
            </a:endParaRPr>
          </a:p>
          <a:p>
            <a:pPr marL="780607">
              <a:spcBef>
                <a:spcPts val="33"/>
              </a:spcBef>
            </a:pPr>
            <a:r>
              <a:rPr sz="1867" dirty="0">
                <a:solidFill>
                  <a:srgbClr val="A9B7C5"/>
                </a:solidFill>
                <a:latin typeface="Courier New"/>
                <a:cs typeface="Courier New"/>
              </a:rPr>
              <a:t>-</a:t>
            </a:r>
            <a:r>
              <a:rPr sz="1867" spc="-20" dirty="0">
                <a:solidFill>
                  <a:srgbClr val="A9B7C5"/>
                </a:solidFill>
                <a:latin typeface="Courier New"/>
                <a:cs typeface="Courier New"/>
              </a:rPr>
              <a:t> </a:t>
            </a:r>
            <a:r>
              <a:rPr sz="1867" spc="-7" dirty="0">
                <a:solidFill>
                  <a:srgbClr val="A9B7C5"/>
                </a:solidFill>
                <a:latin typeface="Courier New"/>
                <a:cs typeface="Courier New"/>
              </a:rPr>
              <a:t>ReadWriteOnce</a:t>
            </a:r>
            <a:endParaRPr sz="1867" dirty="0">
              <a:latin typeface="Courier New"/>
              <a:cs typeface="Courier New"/>
            </a:endParaRPr>
          </a:p>
          <a:p>
            <a:pPr marL="392844">
              <a:spcBef>
                <a:spcPts val="1173"/>
              </a:spcBef>
            </a:pPr>
            <a:r>
              <a:rPr sz="1867" b="1" spc="-7" dirty="0">
                <a:solidFill>
                  <a:srgbClr val="CC7831"/>
                </a:solidFill>
                <a:latin typeface="Courier New"/>
                <a:cs typeface="Courier New"/>
              </a:rPr>
              <a:t>resources:</a:t>
            </a:r>
            <a:endParaRPr sz="1867" dirty="0">
              <a:latin typeface="Courier New"/>
              <a:cs typeface="Courier New"/>
            </a:endParaRPr>
          </a:p>
          <a:p>
            <a:pPr marL="1104872" marR="1665352" indent="-284473">
              <a:lnSpc>
                <a:spcPts val="2267"/>
              </a:lnSpc>
              <a:spcBef>
                <a:spcPts val="53"/>
              </a:spcBef>
            </a:pPr>
            <a:r>
              <a:rPr sz="1867" b="1" spc="-13" dirty="0">
                <a:solidFill>
                  <a:srgbClr val="CC7831"/>
                </a:solidFill>
                <a:latin typeface="Courier New"/>
                <a:cs typeface="Courier New"/>
              </a:rPr>
              <a:t>requests:  storage:</a:t>
            </a:r>
            <a:r>
              <a:rPr sz="1867" b="1" spc="-93" dirty="0">
                <a:solidFill>
                  <a:srgbClr val="CC7831"/>
                </a:solidFill>
                <a:latin typeface="Courier New"/>
                <a:cs typeface="Courier New"/>
              </a:rPr>
              <a:t> </a:t>
            </a:r>
            <a:r>
              <a:rPr sz="1867" spc="-7" dirty="0">
                <a:solidFill>
                  <a:srgbClr val="A9B7C5"/>
                </a:solidFill>
                <a:latin typeface="Courier New"/>
                <a:cs typeface="Courier New"/>
              </a:rPr>
              <a:t>500Mi</a:t>
            </a:r>
            <a:endParaRPr sz="1867" dirty="0">
              <a:latin typeface="Courier New"/>
              <a:cs typeface="Courier New"/>
            </a:endParaRPr>
          </a:p>
        </p:txBody>
      </p:sp>
      <p:grpSp>
        <p:nvGrpSpPr>
          <p:cNvPr id="5" name="object 5"/>
          <p:cNvGrpSpPr/>
          <p:nvPr/>
        </p:nvGrpSpPr>
        <p:grpSpPr>
          <a:xfrm>
            <a:off x="912369" y="6209793"/>
            <a:ext cx="5001260" cy="522393"/>
            <a:chOff x="684276" y="4657344"/>
            <a:chExt cx="3750945" cy="391795"/>
          </a:xfrm>
        </p:grpSpPr>
        <p:sp>
          <p:nvSpPr>
            <p:cNvPr id="6" name="object 6"/>
            <p:cNvSpPr/>
            <p:nvPr/>
          </p:nvSpPr>
          <p:spPr>
            <a:xfrm>
              <a:off x="684276" y="4657344"/>
              <a:ext cx="3750564" cy="361188"/>
            </a:xfrm>
            <a:prstGeom prst="rect">
              <a:avLst/>
            </a:prstGeom>
            <a:blipFill>
              <a:blip r:embed="rId2" cstate="print"/>
              <a:stretch>
                <a:fillRect/>
              </a:stretch>
            </a:blipFill>
          </p:spPr>
          <p:txBody>
            <a:bodyPr wrap="square" lIns="0" tIns="0" rIns="0" bIns="0" rtlCol="0"/>
            <a:lstStyle/>
            <a:p>
              <a:endParaRPr sz="2400"/>
            </a:p>
          </p:txBody>
        </p:sp>
        <p:sp>
          <p:nvSpPr>
            <p:cNvPr id="7" name="object 7"/>
            <p:cNvSpPr/>
            <p:nvPr/>
          </p:nvSpPr>
          <p:spPr>
            <a:xfrm>
              <a:off x="841248" y="4664965"/>
              <a:ext cx="2910840" cy="384098"/>
            </a:xfrm>
            <a:prstGeom prst="rect">
              <a:avLst/>
            </a:prstGeom>
            <a:blipFill>
              <a:blip r:embed="rId3" cstate="print"/>
              <a:stretch>
                <a:fillRect/>
              </a:stretch>
            </a:blipFill>
          </p:spPr>
          <p:txBody>
            <a:bodyPr wrap="square" lIns="0" tIns="0" rIns="0" bIns="0" rtlCol="0"/>
            <a:lstStyle/>
            <a:p>
              <a:endParaRPr sz="2400"/>
            </a:p>
          </p:txBody>
        </p:sp>
        <p:sp>
          <p:nvSpPr>
            <p:cNvPr id="8" name="object 8"/>
            <p:cNvSpPr/>
            <p:nvPr/>
          </p:nvSpPr>
          <p:spPr>
            <a:xfrm>
              <a:off x="743712" y="4696968"/>
              <a:ext cx="3636645" cy="248920"/>
            </a:xfrm>
            <a:custGeom>
              <a:avLst/>
              <a:gdLst/>
              <a:ahLst/>
              <a:cxnLst/>
              <a:rect l="l" t="t" r="r" b="b"/>
              <a:pathLst>
                <a:path w="3636645" h="248920">
                  <a:moveTo>
                    <a:pt x="3636264" y="0"/>
                  </a:moveTo>
                  <a:lnTo>
                    <a:pt x="0" y="0"/>
                  </a:lnTo>
                  <a:lnTo>
                    <a:pt x="0" y="248411"/>
                  </a:lnTo>
                  <a:lnTo>
                    <a:pt x="3636264" y="248411"/>
                  </a:lnTo>
                  <a:lnTo>
                    <a:pt x="3636264" y="0"/>
                  </a:lnTo>
                  <a:close/>
                </a:path>
              </a:pathLst>
            </a:custGeom>
            <a:solidFill>
              <a:srgbClr val="404040"/>
            </a:solidFill>
          </p:spPr>
          <p:txBody>
            <a:bodyPr wrap="square" lIns="0" tIns="0" rIns="0" bIns="0" rtlCol="0"/>
            <a:lstStyle/>
            <a:p>
              <a:endParaRPr sz="2400"/>
            </a:p>
          </p:txBody>
        </p:sp>
      </p:grpSp>
      <p:sp>
        <p:nvSpPr>
          <p:cNvPr id="9" name="object 9"/>
          <p:cNvSpPr txBox="1"/>
          <p:nvPr/>
        </p:nvSpPr>
        <p:spPr>
          <a:xfrm>
            <a:off x="991617" y="6262623"/>
            <a:ext cx="4848860" cy="260691"/>
          </a:xfrm>
          <a:prstGeom prst="rect">
            <a:avLst/>
          </a:prstGeom>
        </p:spPr>
        <p:txBody>
          <a:bodyPr vert="horz" wrap="square" lIns="0" tIns="55033" rIns="0" bIns="0" rtlCol="0">
            <a:spAutoFit/>
          </a:bodyPr>
          <a:lstStyle/>
          <a:p>
            <a:pPr marL="311564">
              <a:spcBef>
                <a:spcPts val="433"/>
              </a:spcBef>
            </a:pPr>
            <a:r>
              <a:rPr sz="1333" spc="140" dirty="0">
                <a:solidFill>
                  <a:srgbClr val="D9D9D9"/>
                </a:solidFill>
                <a:latin typeface="Arial"/>
                <a:cs typeface="Arial"/>
              </a:rPr>
              <a:t>kubectl </a:t>
            </a:r>
            <a:r>
              <a:rPr sz="1333" spc="120" dirty="0">
                <a:solidFill>
                  <a:srgbClr val="D9D9D9"/>
                </a:solidFill>
                <a:latin typeface="Arial"/>
                <a:cs typeface="Arial"/>
              </a:rPr>
              <a:t>create </a:t>
            </a:r>
            <a:r>
              <a:rPr sz="1333" spc="152" dirty="0">
                <a:solidFill>
                  <a:srgbClr val="D9D9D9"/>
                </a:solidFill>
                <a:latin typeface="Courier New"/>
                <a:cs typeface="Courier New"/>
              </a:rPr>
              <a:t>–</a:t>
            </a:r>
            <a:r>
              <a:rPr sz="1333" spc="152" dirty="0">
                <a:solidFill>
                  <a:srgbClr val="D9D9D9"/>
                </a:solidFill>
                <a:latin typeface="Arial"/>
                <a:cs typeface="Arial"/>
              </a:rPr>
              <a:t>f</a:t>
            </a:r>
            <a:r>
              <a:rPr sz="1333" spc="-100" dirty="0">
                <a:solidFill>
                  <a:srgbClr val="D9D9D9"/>
                </a:solidFill>
                <a:latin typeface="Arial"/>
                <a:cs typeface="Arial"/>
              </a:rPr>
              <a:t> </a:t>
            </a:r>
            <a:r>
              <a:rPr sz="1333" spc="160" dirty="0">
                <a:solidFill>
                  <a:srgbClr val="D9D9D9"/>
                </a:solidFill>
                <a:latin typeface="Arial"/>
                <a:cs typeface="Arial"/>
              </a:rPr>
              <a:t>pvc-definition.yaml</a:t>
            </a:r>
            <a:endParaRPr sz="1333" dirty="0">
              <a:latin typeface="Arial"/>
              <a:cs typeface="Arial"/>
            </a:endParaRPr>
          </a:p>
        </p:txBody>
      </p:sp>
      <p:sp>
        <p:nvSpPr>
          <p:cNvPr id="10" name="object 10"/>
          <p:cNvSpPr/>
          <p:nvPr/>
        </p:nvSpPr>
        <p:spPr>
          <a:xfrm>
            <a:off x="1014400" y="6278929"/>
            <a:ext cx="213360" cy="274320"/>
          </a:xfrm>
          <a:custGeom>
            <a:avLst/>
            <a:gdLst/>
            <a:ahLst/>
            <a:cxnLst/>
            <a:rect l="l" t="t" r="r" b="b"/>
            <a:pathLst>
              <a:path w="160019" h="205739">
                <a:moveTo>
                  <a:pt x="0" y="0"/>
                </a:moveTo>
                <a:lnTo>
                  <a:pt x="0" y="205385"/>
                </a:lnTo>
                <a:lnTo>
                  <a:pt x="159603" y="102697"/>
                </a:lnTo>
                <a:lnTo>
                  <a:pt x="0" y="0"/>
                </a:lnTo>
                <a:close/>
              </a:path>
            </a:pathLst>
          </a:custGeom>
          <a:solidFill>
            <a:srgbClr val="39B54A"/>
          </a:solidFill>
        </p:spPr>
        <p:txBody>
          <a:bodyPr wrap="square" lIns="0" tIns="0" rIns="0" bIns="0" rtlCol="0"/>
          <a:lstStyle/>
          <a:p>
            <a:endParaRPr sz="2400"/>
          </a:p>
        </p:txBody>
      </p:sp>
      <p:sp>
        <p:nvSpPr>
          <p:cNvPr id="11" name="object 11"/>
          <p:cNvSpPr txBox="1"/>
          <p:nvPr/>
        </p:nvSpPr>
        <p:spPr>
          <a:xfrm>
            <a:off x="6965696" y="4653305"/>
            <a:ext cx="2554393" cy="530979"/>
          </a:xfrm>
          <a:prstGeom prst="rect">
            <a:avLst/>
          </a:prstGeom>
        </p:spPr>
        <p:txBody>
          <a:bodyPr vert="horz" wrap="square" lIns="0" tIns="0" rIns="0" bIns="0" rtlCol="0">
            <a:spAutoFit/>
          </a:bodyPr>
          <a:lstStyle/>
          <a:p>
            <a:pPr>
              <a:lnSpc>
                <a:spcPts val="1933"/>
              </a:lnSpc>
            </a:pPr>
            <a:r>
              <a:rPr sz="1867" b="1" spc="-7" dirty="0">
                <a:solidFill>
                  <a:srgbClr val="CC7831"/>
                </a:solidFill>
                <a:latin typeface="Courier New"/>
                <a:cs typeface="Courier New"/>
              </a:rPr>
              <a:t>hostPath:</a:t>
            </a:r>
            <a:endParaRPr sz="1867">
              <a:latin typeface="Courier New"/>
              <a:cs typeface="Courier New"/>
            </a:endParaRPr>
          </a:p>
          <a:p>
            <a:pPr marL="425863">
              <a:spcBef>
                <a:spcPts val="33"/>
              </a:spcBef>
            </a:pPr>
            <a:r>
              <a:rPr sz="1867" b="1" spc="-7" dirty="0">
                <a:solidFill>
                  <a:srgbClr val="CC7831"/>
                </a:solidFill>
                <a:latin typeface="Courier New"/>
                <a:cs typeface="Courier New"/>
              </a:rPr>
              <a:t>path:</a:t>
            </a:r>
            <a:r>
              <a:rPr sz="1867" b="1" spc="-133" dirty="0">
                <a:solidFill>
                  <a:srgbClr val="CC7831"/>
                </a:solidFill>
                <a:latin typeface="Courier New"/>
                <a:cs typeface="Courier New"/>
              </a:rPr>
              <a:t> </a:t>
            </a:r>
            <a:r>
              <a:rPr sz="1867" spc="-7" dirty="0">
                <a:solidFill>
                  <a:srgbClr val="A9B7C5"/>
                </a:solidFill>
                <a:latin typeface="Courier New"/>
                <a:cs typeface="Courier New"/>
              </a:rPr>
              <a:t>/tmp/data</a:t>
            </a:r>
            <a:endParaRPr sz="1867">
              <a:latin typeface="Courier New"/>
              <a:cs typeface="Courier New"/>
            </a:endParaRPr>
          </a:p>
        </p:txBody>
      </p:sp>
      <p:sp>
        <p:nvSpPr>
          <p:cNvPr id="12" name="object 12"/>
          <p:cNvSpPr txBox="1"/>
          <p:nvPr/>
        </p:nvSpPr>
        <p:spPr>
          <a:xfrm>
            <a:off x="6616193" y="1684528"/>
            <a:ext cx="2176780" cy="325730"/>
          </a:xfrm>
          <a:prstGeom prst="rect">
            <a:avLst/>
          </a:prstGeom>
          <a:solidFill>
            <a:srgbClr val="000000">
              <a:alpha val="50195"/>
            </a:srgbClr>
          </a:solidFill>
        </p:spPr>
        <p:txBody>
          <a:bodyPr vert="horz" wrap="square" lIns="0" tIns="48260" rIns="0" bIns="0" rtlCol="0">
            <a:spAutoFit/>
          </a:bodyPr>
          <a:lstStyle/>
          <a:p>
            <a:pPr marL="123610">
              <a:spcBef>
                <a:spcPts val="380"/>
              </a:spcBef>
            </a:pPr>
            <a:r>
              <a:rPr spc="-13" dirty="0">
                <a:solidFill>
                  <a:srgbClr val="FFFFFF"/>
                </a:solidFill>
                <a:latin typeface="Noto Sans"/>
                <a:cs typeface="Noto Sans"/>
              </a:rPr>
              <a:t>pv-definition.yaml</a:t>
            </a:r>
            <a:endParaRPr>
              <a:latin typeface="Noto Sans"/>
              <a:cs typeface="Noto Sans"/>
            </a:endParaRPr>
          </a:p>
        </p:txBody>
      </p:sp>
      <p:sp>
        <p:nvSpPr>
          <p:cNvPr id="13" name="object 13"/>
          <p:cNvSpPr txBox="1"/>
          <p:nvPr/>
        </p:nvSpPr>
        <p:spPr>
          <a:xfrm>
            <a:off x="6616192" y="2084832"/>
            <a:ext cx="4897120" cy="3506708"/>
          </a:xfrm>
          <a:prstGeom prst="rect">
            <a:avLst/>
          </a:prstGeom>
          <a:solidFill>
            <a:srgbClr val="2B2B2B"/>
          </a:solidFill>
        </p:spPr>
        <p:txBody>
          <a:bodyPr vert="horz" wrap="square" lIns="0" tIns="44873" rIns="0" bIns="0" rtlCol="0">
            <a:spAutoFit/>
          </a:bodyPr>
          <a:lstStyle/>
          <a:p>
            <a:pPr marL="123610">
              <a:spcBef>
                <a:spcPts val="353"/>
              </a:spcBef>
            </a:pPr>
            <a:r>
              <a:rPr sz="1867" b="1" spc="-7" dirty="0">
                <a:solidFill>
                  <a:srgbClr val="CC7831"/>
                </a:solidFill>
                <a:latin typeface="Courier New"/>
                <a:cs typeface="Courier New"/>
              </a:rPr>
              <a:t>apiVersion:</a:t>
            </a:r>
            <a:r>
              <a:rPr sz="1867" b="1" spc="-493" dirty="0">
                <a:solidFill>
                  <a:srgbClr val="CC7831"/>
                </a:solidFill>
                <a:latin typeface="Courier New"/>
                <a:cs typeface="Courier New"/>
              </a:rPr>
              <a:t> </a:t>
            </a:r>
            <a:r>
              <a:rPr sz="1867" spc="-7" dirty="0">
                <a:solidFill>
                  <a:srgbClr val="A9B7C5"/>
                </a:solidFill>
                <a:latin typeface="Courier New"/>
                <a:cs typeface="Courier New"/>
              </a:rPr>
              <a:t>v1</a:t>
            </a:r>
            <a:endParaRPr sz="1867" dirty="0">
              <a:latin typeface="Courier New"/>
              <a:cs typeface="Courier New"/>
            </a:endParaRPr>
          </a:p>
          <a:p>
            <a:pPr marL="123610"/>
            <a:r>
              <a:rPr sz="1867" b="1" spc="-7" dirty="0">
                <a:solidFill>
                  <a:srgbClr val="CC7831"/>
                </a:solidFill>
                <a:latin typeface="Courier New"/>
                <a:cs typeface="Courier New"/>
              </a:rPr>
              <a:t>kind:</a:t>
            </a:r>
            <a:r>
              <a:rPr sz="1867" b="1" spc="-773" dirty="0">
                <a:solidFill>
                  <a:srgbClr val="CC7831"/>
                </a:solidFill>
                <a:latin typeface="Courier New"/>
                <a:cs typeface="Courier New"/>
              </a:rPr>
              <a:t> </a:t>
            </a:r>
            <a:r>
              <a:rPr sz="2800" spc="-9" baseline="3968" dirty="0">
                <a:solidFill>
                  <a:srgbClr val="A9B7C5"/>
                </a:solidFill>
                <a:latin typeface="Courier New"/>
                <a:cs typeface="Courier New"/>
              </a:rPr>
              <a:t>PersistentVolume</a:t>
            </a:r>
            <a:endParaRPr sz="2800" baseline="3968" dirty="0">
              <a:latin typeface="Courier New"/>
              <a:cs typeface="Courier New"/>
            </a:endParaRPr>
          </a:p>
          <a:p>
            <a:pPr marL="123610">
              <a:lnSpc>
                <a:spcPts val="2233"/>
              </a:lnSpc>
            </a:pPr>
            <a:r>
              <a:rPr sz="1867" b="1" spc="-7" dirty="0">
                <a:solidFill>
                  <a:srgbClr val="CC7831"/>
                </a:solidFill>
                <a:latin typeface="Courier New"/>
                <a:cs typeface="Courier New"/>
              </a:rPr>
              <a:t>metadata:</a:t>
            </a:r>
            <a:endParaRPr sz="1867" dirty="0">
              <a:latin typeface="Courier New"/>
              <a:cs typeface="Courier New"/>
            </a:endParaRPr>
          </a:p>
          <a:p>
            <a:pPr marL="337812">
              <a:lnSpc>
                <a:spcPts val="2233"/>
              </a:lnSpc>
            </a:pPr>
            <a:r>
              <a:rPr sz="1867" b="1" spc="-7" dirty="0">
                <a:solidFill>
                  <a:srgbClr val="CC7831"/>
                </a:solidFill>
                <a:latin typeface="Courier New"/>
                <a:cs typeface="Courier New"/>
              </a:rPr>
              <a:t>name:</a:t>
            </a:r>
            <a:r>
              <a:rPr sz="1867" b="1" spc="-13" dirty="0">
                <a:solidFill>
                  <a:srgbClr val="CC7831"/>
                </a:solidFill>
                <a:latin typeface="Courier New"/>
                <a:cs typeface="Courier New"/>
              </a:rPr>
              <a:t> </a:t>
            </a:r>
            <a:r>
              <a:rPr sz="1867" spc="-13" dirty="0">
                <a:solidFill>
                  <a:srgbClr val="A9B7C5"/>
                </a:solidFill>
                <a:latin typeface="Courier New"/>
                <a:cs typeface="Courier New"/>
              </a:rPr>
              <a:t>pv-vol1</a:t>
            </a:r>
            <a:endParaRPr sz="1867" dirty="0">
              <a:latin typeface="Courier New"/>
              <a:cs typeface="Courier New"/>
            </a:endParaRPr>
          </a:p>
          <a:p>
            <a:pPr marL="123610">
              <a:lnSpc>
                <a:spcPts val="1967"/>
              </a:lnSpc>
              <a:spcBef>
                <a:spcPts val="20"/>
              </a:spcBef>
            </a:pPr>
            <a:r>
              <a:rPr sz="1867" b="1" spc="-7" dirty="0">
                <a:solidFill>
                  <a:srgbClr val="CC7831"/>
                </a:solidFill>
                <a:latin typeface="Courier New"/>
                <a:cs typeface="Courier New"/>
              </a:rPr>
              <a:t>spec:</a:t>
            </a:r>
            <a:endParaRPr sz="1867" dirty="0">
              <a:latin typeface="Courier New"/>
              <a:cs typeface="Courier New"/>
            </a:endParaRPr>
          </a:p>
          <a:p>
            <a:pPr marL="351358">
              <a:lnSpc>
                <a:spcPts val="1967"/>
              </a:lnSpc>
            </a:pPr>
            <a:r>
              <a:rPr sz="1867" b="1" spc="-7" dirty="0">
                <a:solidFill>
                  <a:srgbClr val="CC7831"/>
                </a:solidFill>
                <a:latin typeface="Courier New"/>
                <a:cs typeface="Courier New"/>
              </a:rPr>
              <a:t>accessModes:</a:t>
            </a:r>
            <a:endParaRPr sz="1867" dirty="0">
              <a:latin typeface="Courier New"/>
              <a:cs typeface="Courier New"/>
            </a:endParaRPr>
          </a:p>
          <a:p>
            <a:pPr marL="920304">
              <a:spcBef>
                <a:spcPts val="33"/>
              </a:spcBef>
            </a:pPr>
            <a:r>
              <a:rPr sz="1867" dirty="0">
                <a:solidFill>
                  <a:srgbClr val="A9B7C5"/>
                </a:solidFill>
                <a:latin typeface="Courier New"/>
                <a:cs typeface="Courier New"/>
              </a:rPr>
              <a:t>-</a:t>
            </a:r>
            <a:r>
              <a:rPr sz="1867" spc="-13" dirty="0">
                <a:solidFill>
                  <a:srgbClr val="A9B7C5"/>
                </a:solidFill>
                <a:latin typeface="Courier New"/>
                <a:cs typeface="Courier New"/>
              </a:rPr>
              <a:t> ReadWriteOnce</a:t>
            </a:r>
            <a:endParaRPr sz="1867" dirty="0">
              <a:latin typeface="Courier New"/>
              <a:cs typeface="Courier New"/>
            </a:endParaRPr>
          </a:p>
          <a:p>
            <a:pPr marL="340351">
              <a:spcBef>
                <a:spcPts val="67"/>
              </a:spcBef>
            </a:pPr>
            <a:r>
              <a:rPr sz="1867" b="1" spc="-7" dirty="0">
                <a:solidFill>
                  <a:srgbClr val="CC7831"/>
                </a:solidFill>
                <a:latin typeface="Courier New"/>
                <a:cs typeface="Courier New"/>
              </a:rPr>
              <a:t>capacity:</a:t>
            </a:r>
            <a:endParaRPr sz="1867" dirty="0">
              <a:latin typeface="Courier New"/>
              <a:cs typeface="Courier New"/>
            </a:endParaRPr>
          </a:p>
          <a:p>
            <a:pPr marL="909297">
              <a:spcBef>
                <a:spcPts val="27"/>
              </a:spcBef>
            </a:pPr>
            <a:r>
              <a:rPr sz="1867" b="1" spc="-13" dirty="0">
                <a:solidFill>
                  <a:srgbClr val="CC7831"/>
                </a:solidFill>
                <a:latin typeface="Courier New"/>
                <a:cs typeface="Courier New"/>
              </a:rPr>
              <a:t>storage: </a:t>
            </a:r>
            <a:r>
              <a:rPr sz="1867" spc="-13" dirty="0">
                <a:solidFill>
                  <a:srgbClr val="A9B7C5"/>
                </a:solidFill>
                <a:latin typeface="Courier New"/>
                <a:cs typeface="Courier New"/>
              </a:rPr>
              <a:t>1Gi</a:t>
            </a:r>
            <a:endParaRPr sz="1867" dirty="0">
              <a:latin typeface="Courier New"/>
              <a:cs typeface="Courier New"/>
            </a:endParaRPr>
          </a:p>
          <a:p>
            <a:pPr marL="538467" marR="1367332" indent="-284473">
              <a:lnSpc>
                <a:spcPct val="101200"/>
              </a:lnSpc>
              <a:spcBef>
                <a:spcPts val="520"/>
              </a:spcBef>
            </a:pPr>
            <a:r>
              <a:rPr sz="1867" b="1" spc="-13" dirty="0">
                <a:solidFill>
                  <a:srgbClr val="CC7831"/>
                </a:solidFill>
                <a:latin typeface="Courier New"/>
                <a:cs typeface="Courier New"/>
              </a:rPr>
              <a:t>awsElasticBlockStore:  </a:t>
            </a:r>
            <a:r>
              <a:rPr sz="1867" b="1" spc="-7" dirty="0">
                <a:solidFill>
                  <a:srgbClr val="CC7831"/>
                </a:solidFill>
                <a:latin typeface="Courier New"/>
                <a:cs typeface="Courier New"/>
              </a:rPr>
              <a:t>volumeID:</a:t>
            </a:r>
            <a:r>
              <a:rPr sz="1867" b="1" spc="-127" dirty="0">
                <a:solidFill>
                  <a:srgbClr val="CC7831"/>
                </a:solidFill>
                <a:latin typeface="Courier New"/>
                <a:cs typeface="Courier New"/>
              </a:rPr>
              <a:t> </a:t>
            </a:r>
            <a:r>
              <a:rPr sz="1867" spc="-7" dirty="0">
                <a:solidFill>
                  <a:srgbClr val="A9B7C5"/>
                </a:solidFill>
                <a:latin typeface="Courier New"/>
                <a:cs typeface="Courier New"/>
              </a:rPr>
              <a:t>&lt;volume-id&gt;  </a:t>
            </a:r>
            <a:r>
              <a:rPr sz="1867" b="1" spc="-7" dirty="0">
                <a:solidFill>
                  <a:srgbClr val="CC7831"/>
                </a:solidFill>
                <a:latin typeface="Courier New"/>
                <a:cs typeface="Courier New"/>
              </a:rPr>
              <a:t>fsType:</a:t>
            </a:r>
            <a:r>
              <a:rPr sz="1867" b="1" spc="-20" dirty="0">
                <a:solidFill>
                  <a:srgbClr val="CC7831"/>
                </a:solidFill>
                <a:latin typeface="Courier New"/>
                <a:cs typeface="Courier New"/>
              </a:rPr>
              <a:t> </a:t>
            </a:r>
            <a:r>
              <a:rPr sz="1867" spc="-7" dirty="0">
                <a:solidFill>
                  <a:srgbClr val="A9B7C5"/>
                </a:solidFill>
                <a:latin typeface="Courier New"/>
                <a:cs typeface="Courier New"/>
              </a:rPr>
              <a:t>ext4</a:t>
            </a:r>
            <a:endParaRPr sz="1867" dirty="0">
              <a:latin typeface="Courier New"/>
              <a:cs typeface="Courier New"/>
            </a:endParaRPr>
          </a:p>
        </p:txBody>
      </p:sp>
    </p:spTree>
    <p:extLst>
      <p:ext uri="{BB962C8B-B14F-4D97-AF65-F5344CB8AC3E}">
        <p14:creationId xmlns:p14="http://schemas.microsoft.com/office/powerpoint/2010/main" val="36791549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 Usage in Kubernetes </a:t>
            </a:r>
          </a:p>
        </p:txBody>
      </p:sp>
    </p:spTree>
    <p:extLst>
      <p:ext uri="{BB962C8B-B14F-4D97-AF65-F5344CB8AC3E}">
        <p14:creationId xmlns:p14="http://schemas.microsoft.com/office/powerpoint/2010/main" val="35530200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Based Access Control in Kubernetes</a:t>
            </a:r>
          </a:p>
        </p:txBody>
      </p:sp>
    </p:spTree>
    <p:extLst>
      <p:ext uri="{BB962C8B-B14F-4D97-AF65-F5344CB8AC3E}">
        <p14:creationId xmlns:p14="http://schemas.microsoft.com/office/powerpoint/2010/main" val="28185239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Secure Cluster Communication</a:t>
            </a:r>
          </a:p>
        </p:txBody>
      </p:sp>
      <p:sp>
        <p:nvSpPr>
          <p:cNvPr id="3" name="Content Placeholder 2"/>
          <p:cNvSpPr>
            <a:spLocks noGrp="1"/>
          </p:cNvSpPr>
          <p:nvPr>
            <p:ph idx="1"/>
          </p:nvPr>
        </p:nvSpPr>
        <p:spPr/>
        <p:txBody>
          <a:bodyPr/>
          <a:lstStyle/>
          <a:p>
            <a:r>
              <a:rPr lang="en-US" dirty="0"/>
              <a:t>Kubernetes is a complex platform and requires extensive configuration and management.</a:t>
            </a:r>
          </a:p>
          <a:p>
            <a:r>
              <a:rPr lang="en-US" dirty="0"/>
              <a:t> To keep Kubernetes workloads safe, especially in a production environment, you need to address key architectural vulnerabilities and platform dependencies, by implementing security best practices.</a:t>
            </a:r>
          </a:p>
        </p:txBody>
      </p:sp>
    </p:spTree>
    <p:extLst>
      <p:ext uri="{BB962C8B-B14F-4D97-AF65-F5344CB8AC3E}">
        <p14:creationId xmlns:p14="http://schemas.microsoft.com/office/powerpoint/2010/main" val="294428949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20190"/>
            <a:ext cx="10515600" cy="4766310"/>
          </a:xfrm>
        </p:spPr>
        <p:txBody>
          <a:bodyPr>
            <a:normAutofit/>
          </a:bodyPr>
          <a:lstStyle/>
          <a:p>
            <a:r>
              <a:rPr lang="en-US" sz="2400" dirty="0"/>
              <a:t> RBAC can help you define who has access to the Kubernetes API and what permissions they have.</a:t>
            </a:r>
          </a:p>
          <a:p>
            <a:r>
              <a:rPr lang="en-US" sz="2400" dirty="0"/>
              <a:t> RBAC is usually enabled by default on Kubernetes 1.6 and higher (later on some hosted Kubernetes providers). </a:t>
            </a:r>
          </a:p>
          <a:p>
            <a:r>
              <a:rPr lang="en-US" sz="2400" dirty="0"/>
              <a:t>Because Kubernetes combines authorization controllers, when you enable RBAC, you must also disable the legacy Attribute Based Access Control (ABAC).</a:t>
            </a:r>
          </a:p>
          <a:p>
            <a:r>
              <a:rPr lang="en-US" sz="2400" dirty="0"/>
              <a:t>When using RBAC, prefer namespace-specific permissions instead of cluster-wide permissions. </a:t>
            </a:r>
          </a:p>
          <a:p>
            <a:r>
              <a:rPr lang="en-US" sz="2400" dirty="0"/>
              <a:t>Even when debugging, do not grant cluster administrator privileges. It is safer to allow access only when necessary for your specific situation.</a:t>
            </a:r>
          </a:p>
        </p:txBody>
      </p:sp>
      <p:sp>
        <p:nvSpPr>
          <p:cNvPr id="4" name="Title 3"/>
          <p:cNvSpPr>
            <a:spLocks noGrp="1"/>
          </p:cNvSpPr>
          <p:nvPr>
            <p:ph type="title"/>
          </p:nvPr>
        </p:nvSpPr>
        <p:spPr>
          <a:xfrm>
            <a:off x="838200" y="857249"/>
            <a:ext cx="10515600" cy="320041"/>
          </a:xfrm>
        </p:spPr>
        <p:txBody>
          <a:bodyPr>
            <a:normAutofit fontScale="90000"/>
          </a:bodyPr>
          <a:lstStyle/>
          <a:p>
            <a:r>
              <a:rPr lang="en-US" b="1" dirty="0"/>
              <a:t> </a:t>
            </a:r>
            <a:r>
              <a:rPr lang="en-US" sz="4000" b="1" dirty="0"/>
              <a:t>Enable Kubernetes Role-Based Access Control (RBAC)</a:t>
            </a:r>
            <a:br>
              <a:rPr lang="en-US" b="1" dirty="0"/>
            </a:br>
            <a:endParaRPr lang="en-US" dirty="0"/>
          </a:p>
        </p:txBody>
      </p:sp>
    </p:spTree>
    <p:extLst>
      <p:ext uri="{BB962C8B-B14F-4D97-AF65-F5344CB8AC3E}">
        <p14:creationId xmlns:p14="http://schemas.microsoft.com/office/powerpoint/2010/main" val="363723102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5780" y="1519238"/>
            <a:ext cx="10828020" cy="5030152"/>
          </a:xfrm>
        </p:spPr>
        <p:txBody>
          <a:bodyPr>
            <a:noAutofit/>
          </a:bodyPr>
          <a:lstStyle/>
          <a:p>
            <a:r>
              <a:rPr lang="en-US" sz="2400" dirty="0"/>
              <a:t>Since </a:t>
            </a:r>
            <a:r>
              <a:rPr lang="en-US" sz="2400" dirty="0" err="1"/>
              <a:t>etcd</a:t>
            </a:r>
            <a:r>
              <a:rPr lang="en-US" sz="2400" dirty="0"/>
              <a:t> stores the state of the cluster and its secrets, it is a sensitive resource and an attractive target for attackers. </a:t>
            </a:r>
          </a:p>
          <a:p>
            <a:r>
              <a:rPr lang="en-US" sz="2400" dirty="0"/>
              <a:t>If unauthorized users gain access to </a:t>
            </a:r>
            <a:r>
              <a:rPr lang="en-US" sz="2400" dirty="0" err="1"/>
              <a:t>etcd</a:t>
            </a:r>
            <a:r>
              <a:rPr lang="en-US" sz="2400" dirty="0"/>
              <a:t> they can take over the entire cluster. Read access is also dangerous because malicious users can use it to elevate privileges.</a:t>
            </a:r>
          </a:p>
          <a:p>
            <a:pPr marL="0" indent="0">
              <a:buNone/>
            </a:pPr>
            <a:r>
              <a:rPr lang="en-US" sz="2400" dirty="0"/>
              <a:t>To configure TLS for </a:t>
            </a:r>
            <a:r>
              <a:rPr lang="en-US" sz="2400" dirty="0" err="1"/>
              <a:t>etcd</a:t>
            </a:r>
            <a:r>
              <a:rPr lang="en-US" sz="2400" dirty="0"/>
              <a:t> for client-server communication, use the following configuration options:</a:t>
            </a:r>
          </a:p>
          <a:p>
            <a:r>
              <a:rPr lang="en-US" sz="2400" dirty="0"/>
              <a:t>cert-file=: Certificate used for SSL/TLS connection with </a:t>
            </a:r>
            <a:r>
              <a:rPr lang="en-US" sz="2400" dirty="0" err="1"/>
              <a:t>etcd</a:t>
            </a:r>
            <a:endParaRPr lang="en-US" sz="2400" dirty="0"/>
          </a:p>
          <a:p>
            <a:r>
              <a:rPr lang="en-US" sz="2400" dirty="0"/>
              <a:t>--key-file=: Certificate key (not encrypted)</a:t>
            </a:r>
          </a:p>
          <a:p>
            <a:r>
              <a:rPr lang="en-US" sz="2400" dirty="0"/>
              <a:t>--client-cert-</a:t>
            </a:r>
            <a:r>
              <a:rPr lang="en-US" sz="2400" dirty="0" err="1"/>
              <a:t>auth</a:t>
            </a:r>
            <a:r>
              <a:rPr lang="en-US" sz="2400" dirty="0"/>
              <a:t>: Specify that </a:t>
            </a:r>
            <a:r>
              <a:rPr lang="en-US" sz="2400" dirty="0" err="1"/>
              <a:t>etcd</a:t>
            </a:r>
            <a:r>
              <a:rPr lang="en-US" sz="2400" dirty="0"/>
              <a:t> should check incoming HTTPS requests to find a client certificate signed by a trusted CA</a:t>
            </a:r>
          </a:p>
          <a:p>
            <a:r>
              <a:rPr lang="en-US" sz="2400" dirty="0"/>
              <a:t>--trusted-ca-file=&lt;path&gt;: Trusted certification authority</a:t>
            </a:r>
          </a:p>
        </p:txBody>
      </p:sp>
      <p:sp>
        <p:nvSpPr>
          <p:cNvPr id="4" name="Title 3"/>
          <p:cNvSpPr>
            <a:spLocks noGrp="1"/>
          </p:cNvSpPr>
          <p:nvPr>
            <p:ph type="title"/>
          </p:nvPr>
        </p:nvSpPr>
        <p:spPr>
          <a:xfrm>
            <a:off x="392430" y="193675"/>
            <a:ext cx="10515600" cy="1325563"/>
          </a:xfrm>
        </p:spPr>
        <p:txBody>
          <a:bodyPr>
            <a:normAutofit/>
          </a:bodyPr>
          <a:lstStyle/>
          <a:p>
            <a:r>
              <a:rPr lang="en-US" sz="4000" b="1" dirty="0"/>
              <a:t>Protect </a:t>
            </a:r>
            <a:r>
              <a:rPr lang="en-US" sz="4000" b="1" dirty="0" err="1"/>
              <a:t>etcd</a:t>
            </a:r>
            <a:r>
              <a:rPr lang="en-US" sz="4000" b="1" dirty="0"/>
              <a:t> with TLS, Firewall and Encryption</a:t>
            </a:r>
          </a:p>
        </p:txBody>
      </p:sp>
    </p:spTree>
    <p:extLst>
      <p:ext uri="{BB962C8B-B14F-4D97-AF65-F5344CB8AC3E}">
        <p14:creationId xmlns:p14="http://schemas.microsoft.com/office/powerpoint/2010/main" val="166577026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12215"/>
          </a:xfrm>
        </p:spPr>
        <p:txBody>
          <a:bodyPr>
            <a:normAutofit fontScale="90000"/>
          </a:bodyPr>
          <a:lstStyle/>
          <a:p>
            <a:r>
              <a:rPr lang="en-US" b="1" dirty="0"/>
              <a:t>Isolate Kubernetes Nodes</a:t>
            </a:r>
            <a:br>
              <a:rPr lang="en-US" b="1" dirty="0"/>
            </a:br>
            <a:endParaRPr lang="en-US" dirty="0"/>
          </a:p>
        </p:txBody>
      </p:sp>
      <p:sp>
        <p:nvSpPr>
          <p:cNvPr id="3" name="Content Placeholder 2"/>
          <p:cNvSpPr>
            <a:spLocks noGrp="1"/>
          </p:cNvSpPr>
          <p:nvPr>
            <p:ph idx="1"/>
          </p:nvPr>
        </p:nvSpPr>
        <p:spPr>
          <a:xfrm>
            <a:off x="838200" y="1794511"/>
            <a:ext cx="10515600" cy="4880610"/>
          </a:xfrm>
        </p:spPr>
        <p:txBody>
          <a:bodyPr>
            <a:normAutofit/>
          </a:bodyPr>
          <a:lstStyle/>
          <a:p>
            <a:r>
              <a:rPr lang="en-US" dirty="0"/>
              <a:t>Kubernetes nodes must be on a separate network and should not be exposed directly to public networks.</a:t>
            </a:r>
          </a:p>
          <a:p>
            <a:r>
              <a:rPr lang="en-US" dirty="0"/>
              <a:t> If possible, you should even avoid direct connections to the general corporate network. </a:t>
            </a:r>
          </a:p>
          <a:p>
            <a:r>
              <a:rPr lang="en-US" dirty="0"/>
              <a:t>This is only possible if Kubernetes control and data traffic are isolated. Otherwise, both flow through the same pipe, and open access to the data plane implies open access to the control plane.</a:t>
            </a:r>
          </a:p>
          <a:p>
            <a:r>
              <a:rPr lang="en-US" dirty="0"/>
              <a:t> Ideally, nodes should be configured with an ingress controller, set to only allow connections from the master node on the specified port through the network access control list (ACL).</a:t>
            </a:r>
          </a:p>
        </p:txBody>
      </p:sp>
    </p:spTree>
    <p:extLst>
      <p:ext uri="{BB962C8B-B14F-4D97-AF65-F5344CB8AC3E}">
        <p14:creationId xmlns:p14="http://schemas.microsoft.com/office/powerpoint/2010/main" val="12725592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Monitor Network Traffic to Limit Communications</a:t>
            </a:r>
            <a:br>
              <a:rPr lang="en-US" b="1" dirty="0"/>
            </a:br>
            <a:endParaRPr lang="en-US" dirty="0"/>
          </a:p>
        </p:txBody>
      </p:sp>
      <p:sp>
        <p:nvSpPr>
          <p:cNvPr id="3" name="Content Placeholder 2"/>
          <p:cNvSpPr>
            <a:spLocks noGrp="1"/>
          </p:cNvSpPr>
          <p:nvPr>
            <p:ph idx="1"/>
          </p:nvPr>
        </p:nvSpPr>
        <p:spPr>
          <a:xfrm>
            <a:off x="838200" y="1554480"/>
            <a:ext cx="10515600" cy="5074920"/>
          </a:xfrm>
        </p:spPr>
        <p:txBody>
          <a:bodyPr>
            <a:normAutofit/>
          </a:bodyPr>
          <a:lstStyle/>
          <a:p>
            <a:r>
              <a:rPr lang="en-US" dirty="0"/>
              <a:t>Containerized applications generally make extensive use of cluster networks. </a:t>
            </a:r>
          </a:p>
          <a:p>
            <a:r>
              <a:rPr lang="en-US" dirty="0"/>
              <a:t>Observe active network traffic and compare it to the traffic allowed by Kubernetes network policy, to understand how your application interacts and identify anomalous communications.</a:t>
            </a:r>
          </a:p>
          <a:p>
            <a:r>
              <a:rPr lang="en-US" dirty="0"/>
              <a:t>At the same time, if you compare active traffic to allowed traffic, you can identify network policies that are not actively used by cluster workloads. </a:t>
            </a:r>
          </a:p>
          <a:p>
            <a:r>
              <a:rPr lang="en-US" dirty="0"/>
              <a:t>This information can be used to further strengthen the allowed network policy, removing unneeded connections to reduce the attack surface.</a:t>
            </a:r>
          </a:p>
        </p:txBody>
      </p:sp>
    </p:spTree>
    <p:extLst>
      <p:ext uri="{BB962C8B-B14F-4D97-AF65-F5344CB8AC3E}">
        <p14:creationId xmlns:p14="http://schemas.microsoft.com/office/powerpoint/2010/main" val="189589232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 Process Whitelisting</a:t>
            </a:r>
            <a:br>
              <a:rPr lang="en-US" b="1" dirty="0"/>
            </a:br>
            <a:endParaRPr lang="en-US" dirty="0"/>
          </a:p>
        </p:txBody>
      </p:sp>
      <p:sp>
        <p:nvSpPr>
          <p:cNvPr id="3" name="Content Placeholder 2"/>
          <p:cNvSpPr>
            <a:spLocks noGrp="1"/>
          </p:cNvSpPr>
          <p:nvPr>
            <p:ph idx="1"/>
          </p:nvPr>
        </p:nvSpPr>
        <p:spPr>
          <a:xfrm>
            <a:off x="838200" y="1451610"/>
            <a:ext cx="10515600" cy="5223510"/>
          </a:xfrm>
        </p:spPr>
        <p:txBody>
          <a:bodyPr/>
          <a:lstStyle/>
          <a:p>
            <a:endParaRPr lang="en-US" dirty="0"/>
          </a:p>
          <a:p>
            <a:r>
              <a:rPr lang="en-US" dirty="0"/>
              <a:t>Process whitelisting is an effective way to identify unexpected running processes. </a:t>
            </a:r>
          </a:p>
          <a:p>
            <a:r>
              <a:rPr lang="en-US" dirty="0"/>
              <a:t>First, observe the application over a period of time to identify all processes running during normal application behavior. </a:t>
            </a:r>
          </a:p>
          <a:p>
            <a:r>
              <a:rPr lang="en-US" dirty="0"/>
              <a:t>Then use this list as your whitelist for future application behavior.</a:t>
            </a:r>
          </a:p>
          <a:p>
            <a:r>
              <a:rPr lang="en-US" dirty="0"/>
              <a:t>It is difficult to do runtime analysis at the process level. </a:t>
            </a:r>
          </a:p>
          <a:p>
            <a:r>
              <a:rPr lang="en-US" dirty="0"/>
              <a:t>Several commercial security solutions are available that can help analyze and identify anomalies in running processes across clusters.</a:t>
            </a:r>
          </a:p>
        </p:txBody>
      </p:sp>
    </p:spTree>
    <p:extLst>
      <p:ext uri="{BB962C8B-B14F-4D97-AF65-F5344CB8AC3E}">
        <p14:creationId xmlns:p14="http://schemas.microsoft.com/office/powerpoint/2010/main" val="337891749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Turn on Audit Logging</a:t>
            </a:r>
            <a:br>
              <a:rPr lang="en-US" b="1" dirty="0"/>
            </a:br>
            <a:endParaRPr lang="en-US" dirty="0"/>
          </a:p>
        </p:txBody>
      </p:sp>
      <p:sp>
        <p:nvSpPr>
          <p:cNvPr id="3" name="Content Placeholder 2"/>
          <p:cNvSpPr>
            <a:spLocks noGrp="1"/>
          </p:cNvSpPr>
          <p:nvPr>
            <p:ph idx="1"/>
          </p:nvPr>
        </p:nvSpPr>
        <p:spPr/>
        <p:txBody>
          <a:bodyPr/>
          <a:lstStyle/>
          <a:p>
            <a:r>
              <a:rPr lang="en-US" dirty="0"/>
              <a:t>Make sure that audit logging is enabled and you are monitoring unusual or unwanted API calls, especially authentication failures. </a:t>
            </a:r>
          </a:p>
          <a:p>
            <a:r>
              <a:rPr lang="en-US" dirty="0"/>
              <a:t>These log entries display a “Forbidden” status message. Failure to authorize could mean that an attacker is trying to use stolen credentials. </a:t>
            </a:r>
          </a:p>
          <a:p>
            <a:r>
              <a:rPr lang="en-US" dirty="0"/>
              <a:t>When passing files to </a:t>
            </a:r>
            <a:r>
              <a:rPr lang="en-US" dirty="0" err="1"/>
              <a:t>kube-apiserver</a:t>
            </a:r>
            <a:r>
              <a:rPr lang="en-US" dirty="0"/>
              <a:t>, you can use the –audit-policy-file flag to turn on audit logging, and also define exactly which events should be logged</a:t>
            </a:r>
          </a:p>
        </p:txBody>
      </p:sp>
    </p:spTree>
    <p:extLst>
      <p:ext uri="{BB962C8B-B14F-4D97-AF65-F5344CB8AC3E}">
        <p14:creationId xmlns:p14="http://schemas.microsoft.com/office/powerpoint/2010/main" val="235822835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Keep Kubernetes Version Up to Date</a:t>
            </a:r>
            <a:endParaRPr lang="en-US" dirty="0"/>
          </a:p>
        </p:txBody>
      </p:sp>
      <p:sp>
        <p:nvSpPr>
          <p:cNvPr id="3" name="Content Placeholder 2"/>
          <p:cNvSpPr>
            <a:spLocks noGrp="1"/>
          </p:cNvSpPr>
          <p:nvPr>
            <p:ph idx="1"/>
          </p:nvPr>
        </p:nvSpPr>
        <p:spPr/>
        <p:txBody>
          <a:bodyPr/>
          <a:lstStyle/>
          <a:p>
            <a:endParaRPr lang="en-US" dirty="0"/>
          </a:p>
          <a:p>
            <a:r>
              <a:rPr lang="en-US" dirty="0"/>
              <a:t>You should always run the latest version of Kubernetes. A list of known Kubernetes vulnerabilities with severity scores can be found.</a:t>
            </a:r>
          </a:p>
          <a:p>
            <a:r>
              <a:rPr lang="en-US" dirty="0"/>
              <a:t>Always plan to upgrade your Kubernetes version to the latest available version. </a:t>
            </a:r>
          </a:p>
          <a:p>
            <a:r>
              <a:rPr lang="en-US" dirty="0"/>
              <a:t>Upgrading Kubernetes can be a complex process; if you are using a hosted Kubernetes provider, check if your provider handles automatic upgrades.</a:t>
            </a:r>
          </a:p>
          <a:p>
            <a:endParaRPr lang="en-US" dirty="0"/>
          </a:p>
        </p:txBody>
      </p:sp>
    </p:spTree>
    <p:extLst>
      <p:ext uri="{BB962C8B-B14F-4D97-AF65-F5344CB8AC3E}">
        <p14:creationId xmlns:p14="http://schemas.microsoft.com/office/powerpoint/2010/main" val="27695322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kubelet</a:t>
            </a:r>
          </a:p>
        </p:txBody>
      </p:sp>
      <p:sp>
        <p:nvSpPr>
          <p:cNvPr id="3" name="Content Placeholder 2"/>
          <p:cNvSpPr>
            <a:spLocks noGrp="1"/>
          </p:cNvSpPr>
          <p:nvPr>
            <p:ph idx="1"/>
          </p:nvPr>
        </p:nvSpPr>
        <p:spPr/>
        <p:txBody>
          <a:bodyPr>
            <a:normAutofit fontScale="85000" lnSpcReduction="20000"/>
          </a:bodyPr>
          <a:lstStyle/>
          <a:p>
            <a:r>
              <a:rPr lang="en-US" dirty="0"/>
              <a:t>Here are configuration options you can use to lock the kubelet and reduce the attack surface:</a:t>
            </a:r>
          </a:p>
          <a:p>
            <a:pPr marL="0" indent="0">
              <a:buNone/>
            </a:pPr>
            <a:endParaRPr lang="en-US" dirty="0"/>
          </a:p>
          <a:p>
            <a:r>
              <a:rPr lang="en-US" b="1" dirty="0"/>
              <a:t>Disable anonymous access </a:t>
            </a:r>
            <a:r>
              <a:rPr lang="en-US" dirty="0"/>
              <a:t>with --anonymous-</a:t>
            </a:r>
            <a:r>
              <a:rPr lang="en-US" dirty="0" err="1"/>
              <a:t>auth</a:t>
            </a:r>
            <a:r>
              <a:rPr lang="en-US" dirty="0"/>
              <a:t>=false so that unauthenticated requests get an error response. To do this, the API server needs to identify itself to the kubelet. This can be set by adding the flags -kubelet-clientcertificate and --kubelet-client-key.</a:t>
            </a:r>
          </a:p>
          <a:p>
            <a:r>
              <a:rPr lang="en-US" b="1" dirty="0"/>
              <a:t>Set </a:t>
            </a:r>
            <a:r>
              <a:rPr lang="en-US" dirty="0"/>
              <a:t>--authorization mode to a value other than AlwaysAllow to verify that requests are authorized. By default, the kubeadm installation tool sets this as a webhook, ensuring that kubelet calls SubjectAccessReview on the API server for authentication.</a:t>
            </a:r>
          </a:p>
          <a:p>
            <a:r>
              <a:rPr lang="en-US" b="1" dirty="0"/>
              <a:t>Include NodeRestriction </a:t>
            </a:r>
            <a:r>
              <a:rPr lang="en-US" dirty="0"/>
              <a:t>in the API server –admission-control setting, to restrict kubelet permissions. This only allows the kubelet to modify pods bound to its own node object.</a:t>
            </a:r>
          </a:p>
          <a:p>
            <a:pPr marL="0" indent="0">
              <a:buNone/>
            </a:pPr>
            <a:endParaRPr lang="en-US" dirty="0"/>
          </a:p>
        </p:txBody>
      </p:sp>
    </p:spTree>
    <p:extLst>
      <p:ext uri="{BB962C8B-B14F-4D97-AF65-F5344CB8AC3E}">
        <p14:creationId xmlns:p14="http://schemas.microsoft.com/office/powerpoint/2010/main" val="263629664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kubelet</a:t>
            </a:r>
          </a:p>
        </p:txBody>
      </p:sp>
      <p:sp>
        <p:nvSpPr>
          <p:cNvPr id="3" name="Content Placeholder 2"/>
          <p:cNvSpPr>
            <a:spLocks noGrp="1"/>
          </p:cNvSpPr>
          <p:nvPr>
            <p:ph idx="1"/>
          </p:nvPr>
        </p:nvSpPr>
        <p:spPr/>
        <p:txBody>
          <a:bodyPr>
            <a:normAutofit lnSpcReduction="10000"/>
          </a:bodyPr>
          <a:lstStyle/>
          <a:p>
            <a:r>
              <a:rPr lang="en-US" b="1" dirty="0"/>
              <a:t>Set </a:t>
            </a:r>
            <a:r>
              <a:rPr lang="en-US" dirty="0"/>
              <a:t>--read-only-port=0 to close read-only ports. This prevents anonymous users from accessing information about running workloads. </a:t>
            </a:r>
          </a:p>
          <a:p>
            <a:r>
              <a:rPr lang="en-US" dirty="0"/>
              <a:t>This port does not allow hackers to control the cluster, but can be used during the reconnaissance phase of an attack.</a:t>
            </a:r>
          </a:p>
          <a:p>
            <a:r>
              <a:rPr lang="en-US" b="1" dirty="0"/>
              <a:t>Turn off </a:t>
            </a:r>
            <a:r>
              <a:rPr lang="en-US" b="1" dirty="0" err="1"/>
              <a:t>cAdvisor</a:t>
            </a:r>
            <a:r>
              <a:rPr lang="en-US" dirty="0"/>
              <a:t>, which was used in old versions of Kubernetes to provide metrics, and has been replaced by Kubernetes API statistics. Set -</a:t>
            </a:r>
            <a:r>
              <a:rPr lang="en-US" dirty="0" err="1"/>
              <a:t>cadvisor</a:t>
            </a:r>
            <a:r>
              <a:rPr lang="en-US" dirty="0"/>
              <a:t>-port=0 to avoid exposing information about running workloads.</a:t>
            </a:r>
          </a:p>
          <a:p>
            <a:r>
              <a:rPr lang="en-US" dirty="0"/>
              <a:t> This is the default setting for Kubernetes v1.11. If you need to run </a:t>
            </a:r>
            <a:r>
              <a:rPr lang="en-US" dirty="0" err="1"/>
              <a:t>cAdvisor</a:t>
            </a:r>
            <a:r>
              <a:rPr lang="en-US" dirty="0"/>
              <a:t>, do so using a </a:t>
            </a:r>
            <a:r>
              <a:rPr lang="en-US" dirty="0" err="1"/>
              <a:t>DaemonSet</a:t>
            </a:r>
            <a:r>
              <a:rPr lang="en-US" dirty="0"/>
              <a:t>.</a:t>
            </a:r>
          </a:p>
        </p:txBody>
      </p:sp>
    </p:spTree>
    <p:extLst>
      <p:ext uri="{BB962C8B-B14F-4D97-AF65-F5344CB8AC3E}">
        <p14:creationId xmlns:p14="http://schemas.microsoft.com/office/powerpoint/2010/main" val="224613844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 Third-Party Authentication for API Server</a:t>
            </a:r>
            <a:endParaRPr lang="en-US" dirty="0"/>
          </a:p>
        </p:txBody>
      </p:sp>
      <p:sp>
        <p:nvSpPr>
          <p:cNvPr id="3" name="Content Placeholder 2"/>
          <p:cNvSpPr>
            <a:spLocks noGrp="1"/>
          </p:cNvSpPr>
          <p:nvPr>
            <p:ph idx="1"/>
          </p:nvPr>
        </p:nvSpPr>
        <p:spPr>
          <a:xfrm>
            <a:off x="838200" y="1577340"/>
            <a:ext cx="10515600" cy="4599623"/>
          </a:xfrm>
        </p:spPr>
        <p:txBody>
          <a:bodyPr>
            <a:normAutofit lnSpcReduction="10000"/>
          </a:bodyPr>
          <a:lstStyle/>
          <a:p>
            <a:endParaRPr lang="en-US" sz="2400" dirty="0"/>
          </a:p>
          <a:p>
            <a:r>
              <a:rPr lang="en-US" sz="2400" dirty="0"/>
              <a:t>This provides additional security features such as multi-factor authentication, and ensures that </a:t>
            </a:r>
            <a:r>
              <a:rPr lang="en-US" sz="2400" dirty="0" err="1"/>
              <a:t>kube-apiserver</a:t>
            </a:r>
            <a:r>
              <a:rPr lang="en-US" sz="2400" dirty="0"/>
              <a:t> does not change when users are added or removed.</a:t>
            </a:r>
          </a:p>
          <a:p>
            <a:r>
              <a:rPr lang="en-US" sz="2400" dirty="0"/>
              <a:t> If possible, make sure that users are not managed at the API server level. You can also use OAuth 2.0 connectors like </a:t>
            </a:r>
            <a:r>
              <a:rPr lang="en-US" sz="2400" dirty="0" err="1"/>
              <a:t>Dex</a:t>
            </a:r>
            <a:r>
              <a:rPr lang="en-US" sz="2400" dirty="0"/>
              <a:t>.</a:t>
            </a:r>
          </a:p>
          <a:p>
            <a:endParaRPr lang="en-US" sz="2400" dirty="0"/>
          </a:p>
          <a:p>
            <a:pPr marL="0" indent="0">
              <a:buNone/>
            </a:pPr>
            <a:r>
              <a:rPr lang="en-US" sz="2400" b="1" dirty="0"/>
              <a:t>Secure Kubernetes with Aqua</a:t>
            </a:r>
          </a:p>
          <a:p>
            <a:r>
              <a:rPr lang="en-US" sz="2400" dirty="0"/>
              <a:t>Aqua tames the complexity of Kubernetes security with KSPM (Kubernetes Security Posture Management) and advanced agentless Kubernetes Runtime Protection. </a:t>
            </a:r>
          </a:p>
          <a:p>
            <a:r>
              <a:rPr lang="en-US" sz="2400" dirty="0"/>
              <a:t>Aqua provides Kubernetes-native capabilities to achieve policy-driven, full-lifecycle protection and compliance for K8s applications</a:t>
            </a:r>
          </a:p>
        </p:txBody>
      </p:sp>
    </p:spTree>
    <p:extLst>
      <p:ext uri="{BB962C8B-B14F-4D97-AF65-F5344CB8AC3E}">
        <p14:creationId xmlns:p14="http://schemas.microsoft.com/office/powerpoint/2010/main" val="713438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Secure Cluster </a:t>
            </a:r>
          </a:p>
        </p:txBody>
      </p:sp>
      <p:sp>
        <p:nvSpPr>
          <p:cNvPr id="3" name="Content Placeholder 2"/>
          <p:cNvSpPr>
            <a:spLocks noGrp="1"/>
          </p:cNvSpPr>
          <p:nvPr>
            <p:ph idx="1"/>
          </p:nvPr>
        </p:nvSpPr>
        <p:spPr/>
        <p:txBody>
          <a:bodyPr/>
          <a:lstStyle/>
          <a:p>
            <a:pPr marL="0" indent="0">
              <a:buNone/>
            </a:pPr>
            <a:r>
              <a:rPr lang="en-US" b="1" dirty="0"/>
              <a:t>Limiting resource usage on a cluster</a:t>
            </a:r>
          </a:p>
          <a:p>
            <a:pPr marL="0" indent="0">
              <a:buNone/>
            </a:pPr>
            <a:r>
              <a:rPr lang="en-US" b="1" dirty="0"/>
              <a:t>Controlling what privileges containers run with </a:t>
            </a:r>
          </a:p>
          <a:p>
            <a:pPr marL="0" indent="0">
              <a:buNone/>
            </a:pPr>
            <a:r>
              <a:rPr lang="en-US" b="1" dirty="0"/>
              <a:t>Preventing containers from loading unwanted kernel modules</a:t>
            </a:r>
          </a:p>
          <a:p>
            <a:pPr marL="0" indent="0">
              <a:buNone/>
            </a:pPr>
            <a:r>
              <a:rPr lang="en-US" b="1" dirty="0"/>
              <a:t>Restricting network access </a:t>
            </a:r>
          </a:p>
          <a:p>
            <a:pPr marL="0" indent="0">
              <a:buNone/>
            </a:pPr>
            <a:r>
              <a:rPr lang="en-US" b="1" dirty="0"/>
              <a:t>Controlling which nodes pods may access </a:t>
            </a:r>
          </a:p>
          <a:p>
            <a:pPr marL="0" indent="0">
              <a:buNone/>
            </a:pPr>
            <a:r>
              <a:rPr lang="en-US" b="1" dirty="0"/>
              <a:t>Rotate infrastructure credentials frequently</a:t>
            </a:r>
          </a:p>
        </p:txBody>
      </p:sp>
    </p:spTree>
    <p:extLst>
      <p:ext uri="{BB962C8B-B14F-4D97-AF65-F5344CB8AC3E}">
        <p14:creationId xmlns:p14="http://schemas.microsoft.com/office/powerpoint/2010/main" val="257101053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Security</a:t>
            </a:r>
          </a:p>
        </p:txBody>
      </p:sp>
      <p:sp>
        <p:nvSpPr>
          <p:cNvPr id="3" name="Content Placeholder 2"/>
          <p:cNvSpPr>
            <a:spLocks noGrp="1"/>
          </p:cNvSpPr>
          <p:nvPr>
            <p:ph sz="half" idx="1"/>
          </p:nvPr>
        </p:nvSpPr>
        <p:spPr/>
        <p:txBody>
          <a:bodyPr/>
          <a:lstStyle/>
          <a:p>
            <a:pPr marL="0" indent="0">
              <a:buNone/>
            </a:pPr>
            <a:r>
              <a:rPr lang="en-US" dirty="0"/>
              <a:t>Secure Hosts</a:t>
            </a:r>
          </a:p>
          <a:p>
            <a:pPr marL="0" indent="0">
              <a:buNone/>
            </a:pPr>
            <a:endParaRPr lang="en-US" dirty="0"/>
          </a:p>
          <a:p>
            <a:pPr marL="0" indent="0">
              <a:buNone/>
            </a:pPr>
            <a:r>
              <a:rPr lang="en-US" dirty="0"/>
              <a:t>Password based authentication</a:t>
            </a:r>
          </a:p>
          <a:p>
            <a:pPr marL="0" indent="0">
              <a:buNone/>
            </a:pPr>
            <a:r>
              <a:rPr lang="en-US" dirty="0"/>
              <a:t>.SSH key based authentication</a:t>
            </a:r>
          </a:p>
        </p:txBody>
      </p:sp>
      <p:sp>
        <p:nvSpPr>
          <p:cNvPr id="5" name="Content Placeholder 4"/>
          <p:cNvSpPr>
            <a:spLocks noGrp="1"/>
          </p:cNvSpPr>
          <p:nvPr>
            <p:ph sz="half" idx="2"/>
          </p:nvPr>
        </p:nvSpPr>
        <p:spPr>
          <a:xfrm>
            <a:off x="6410036" y="1690688"/>
            <a:ext cx="4943764" cy="4351338"/>
          </a:xfrm>
        </p:spPr>
        <p:txBody>
          <a:bodyPr/>
          <a:lstStyle/>
          <a:p>
            <a:pPr marL="0" indent="0">
              <a:buNone/>
            </a:pPr>
            <a:r>
              <a:rPr lang="en-US" dirty="0"/>
              <a:t>Secure Kubernetes </a:t>
            </a:r>
          </a:p>
          <a:p>
            <a:endParaRPr lang="en-US" dirty="0"/>
          </a:p>
          <a:p>
            <a:r>
              <a:rPr lang="en-US" dirty="0"/>
              <a:t>Kube-apiserver</a:t>
            </a:r>
          </a:p>
          <a:p>
            <a:endParaRPr lang="en-US" dirty="0"/>
          </a:p>
          <a:p>
            <a:r>
              <a:rPr lang="en-US" dirty="0"/>
              <a:t>Who can access ?</a:t>
            </a:r>
          </a:p>
          <a:p>
            <a:r>
              <a:rPr lang="en-US" dirty="0"/>
              <a:t>What they can do ?</a:t>
            </a:r>
          </a:p>
        </p:txBody>
      </p:sp>
    </p:spTree>
    <p:extLst>
      <p:ext uri="{BB962C8B-B14F-4D97-AF65-F5344CB8AC3E}">
        <p14:creationId xmlns:p14="http://schemas.microsoft.com/office/powerpoint/2010/main" val="183023657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Security</a:t>
            </a:r>
          </a:p>
        </p:txBody>
      </p:sp>
      <p:sp>
        <p:nvSpPr>
          <p:cNvPr id="3" name="Content Placeholder 2"/>
          <p:cNvSpPr>
            <a:spLocks noGrp="1"/>
          </p:cNvSpPr>
          <p:nvPr>
            <p:ph sz="half" idx="1"/>
          </p:nvPr>
        </p:nvSpPr>
        <p:spPr>
          <a:xfrm>
            <a:off x="838200" y="1893455"/>
            <a:ext cx="5181600" cy="4283508"/>
          </a:xfrm>
        </p:spPr>
        <p:txBody>
          <a:bodyPr>
            <a:normAutofit lnSpcReduction="10000"/>
          </a:bodyPr>
          <a:lstStyle/>
          <a:p>
            <a:r>
              <a:rPr lang="en-US" dirty="0"/>
              <a:t>Authentication</a:t>
            </a:r>
          </a:p>
          <a:p>
            <a:pPr marL="0" indent="0">
              <a:buNone/>
            </a:pPr>
            <a:endParaRPr lang="en-US" dirty="0"/>
          </a:p>
          <a:p>
            <a:pPr marL="0" indent="0">
              <a:buNone/>
            </a:pPr>
            <a:r>
              <a:rPr lang="en-US" dirty="0"/>
              <a:t>Who Can Access ?</a:t>
            </a:r>
          </a:p>
          <a:p>
            <a:endParaRPr lang="en-US" dirty="0"/>
          </a:p>
          <a:p>
            <a:r>
              <a:rPr lang="en-US" dirty="0"/>
              <a:t>Files username and password</a:t>
            </a:r>
          </a:p>
          <a:p>
            <a:r>
              <a:rPr lang="en-US" dirty="0"/>
              <a:t>Files username and token </a:t>
            </a:r>
          </a:p>
          <a:p>
            <a:r>
              <a:rPr lang="en-US" dirty="0"/>
              <a:t>Certificates </a:t>
            </a:r>
          </a:p>
          <a:p>
            <a:r>
              <a:rPr lang="en-US" dirty="0"/>
              <a:t>External Authentication-LDAP</a:t>
            </a:r>
          </a:p>
          <a:p>
            <a:r>
              <a:rPr lang="en-US" dirty="0"/>
              <a:t>Service Accounts</a:t>
            </a:r>
          </a:p>
          <a:p>
            <a:pPr marL="0" indent="0">
              <a:buNone/>
            </a:pPr>
            <a:endParaRPr lang="en-US" dirty="0"/>
          </a:p>
        </p:txBody>
      </p:sp>
      <p:sp>
        <p:nvSpPr>
          <p:cNvPr id="4" name="Content Placeholder 3"/>
          <p:cNvSpPr>
            <a:spLocks noGrp="1"/>
          </p:cNvSpPr>
          <p:nvPr>
            <p:ph sz="half" idx="2"/>
          </p:nvPr>
        </p:nvSpPr>
        <p:spPr>
          <a:xfrm>
            <a:off x="6172200" y="1413164"/>
            <a:ext cx="5181600" cy="4763799"/>
          </a:xfrm>
        </p:spPr>
        <p:txBody>
          <a:bodyPr>
            <a:normAutofit lnSpcReduction="10000"/>
          </a:bodyPr>
          <a:lstStyle/>
          <a:p>
            <a:endParaRPr lang="en-US" dirty="0"/>
          </a:p>
          <a:p>
            <a:r>
              <a:rPr lang="en-US" dirty="0"/>
              <a:t>Authorization</a:t>
            </a:r>
          </a:p>
          <a:p>
            <a:pPr marL="0" indent="0">
              <a:buNone/>
            </a:pPr>
            <a:endParaRPr lang="en-US" dirty="0"/>
          </a:p>
          <a:p>
            <a:pPr marL="0" indent="0">
              <a:buNone/>
            </a:pPr>
            <a:r>
              <a:rPr lang="en-US" dirty="0"/>
              <a:t>What they can do ?</a:t>
            </a:r>
          </a:p>
          <a:p>
            <a:pPr marL="0" indent="0">
              <a:buNone/>
            </a:pPr>
            <a:endParaRPr lang="en-US" dirty="0"/>
          </a:p>
          <a:p>
            <a:pPr marL="0" indent="0">
              <a:buNone/>
            </a:pPr>
            <a:r>
              <a:rPr lang="en-US" dirty="0"/>
              <a:t>RBAC authorization</a:t>
            </a:r>
          </a:p>
          <a:p>
            <a:pPr marL="0" indent="0">
              <a:buNone/>
            </a:pPr>
            <a:r>
              <a:rPr lang="en-US" dirty="0"/>
              <a:t>ABAC authorization</a:t>
            </a:r>
          </a:p>
          <a:p>
            <a:pPr marL="0" indent="0">
              <a:buNone/>
            </a:pPr>
            <a:r>
              <a:rPr lang="en-US" dirty="0"/>
              <a:t>Node Authorization</a:t>
            </a:r>
          </a:p>
        </p:txBody>
      </p:sp>
    </p:spTree>
    <p:extLst>
      <p:ext uri="{BB962C8B-B14F-4D97-AF65-F5344CB8AC3E}">
        <p14:creationId xmlns:p14="http://schemas.microsoft.com/office/powerpoint/2010/main" val="384473359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TLS Certificates </a:t>
            </a:r>
          </a:p>
        </p:txBody>
      </p:sp>
      <p:pic>
        <p:nvPicPr>
          <p:cNvPr id="5" name="Content Placeholder 4"/>
          <p:cNvPicPr>
            <a:picLocks noGrp="1" noChangeAspect="1"/>
          </p:cNvPicPr>
          <p:nvPr>
            <p:ph sz="half" idx="1"/>
          </p:nvPr>
        </p:nvPicPr>
        <p:blipFill>
          <a:blip r:embed="rId2"/>
          <a:stretch>
            <a:fillRect/>
          </a:stretch>
        </p:blipFill>
        <p:spPr>
          <a:xfrm>
            <a:off x="1625601" y="2022764"/>
            <a:ext cx="6733308" cy="4322617"/>
          </a:xfrm>
          <a:prstGeom prst="rect">
            <a:avLst/>
          </a:prstGeom>
        </p:spPr>
      </p:pic>
    </p:spTree>
    <p:extLst>
      <p:ext uri="{BB962C8B-B14F-4D97-AF65-F5344CB8AC3E}">
        <p14:creationId xmlns:p14="http://schemas.microsoft.com/office/powerpoint/2010/main" val="219657508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Images Secure</a:t>
            </a:r>
          </a:p>
        </p:txBody>
      </p:sp>
      <p:sp>
        <p:nvSpPr>
          <p:cNvPr id="3" name="Content Placeholder 2"/>
          <p:cNvSpPr>
            <a:spLocks noGrp="1"/>
          </p:cNvSpPr>
          <p:nvPr>
            <p:ph sz="half" idx="1"/>
          </p:nvPr>
        </p:nvSpPr>
        <p:spPr/>
        <p:txBody>
          <a:bodyPr>
            <a:normAutofit/>
          </a:bodyPr>
          <a:lstStyle/>
          <a:p>
            <a:r>
              <a:rPr lang="en-US" sz="2000" dirty="0"/>
              <a:t>Docker login private </a:t>
            </a:r>
          </a:p>
          <a:p>
            <a:r>
              <a:rPr lang="en-US" sz="2000" dirty="0"/>
              <a:t>Docker run private.registry.io/apps/internal-app</a:t>
            </a:r>
          </a:p>
          <a:p>
            <a:endParaRPr lang="en-US" sz="2000" dirty="0"/>
          </a:p>
          <a:p>
            <a:r>
              <a:rPr lang="en-US" sz="1600" dirty="0"/>
              <a:t>Kubectl create secret docker-registry </a:t>
            </a:r>
            <a:r>
              <a:rPr lang="en-US" sz="1600" dirty="0" err="1"/>
              <a:t>regcred</a:t>
            </a:r>
            <a:r>
              <a:rPr lang="en-US" sz="1600" dirty="0"/>
              <a:t> </a:t>
            </a:r>
          </a:p>
          <a:p>
            <a:pPr marL="0" indent="0">
              <a:buNone/>
            </a:pPr>
            <a:r>
              <a:rPr lang="en-US" sz="1600" dirty="0"/>
              <a:t>–</a:t>
            </a:r>
            <a:r>
              <a:rPr lang="en-US" sz="1600" dirty="0" err="1"/>
              <a:t>docker</a:t>
            </a:r>
            <a:r>
              <a:rPr lang="en-US" sz="1600" dirty="0"/>
              <a:t>-server=</a:t>
            </a:r>
            <a:r>
              <a:rPr lang="en-US" sz="1600" dirty="0" err="1"/>
              <a:t>private.registry</a:t>
            </a:r>
            <a:r>
              <a:rPr lang="en-US" sz="1600" dirty="0"/>
              <a:t> </a:t>
            </a:r>
          </a:p>
          <a:p>
            <a:pPr marL="0" indent="0">
              <a:buNone/>
            </a:pPr>
            <a:r>
              <a:rPr lang="en-US" sz="1600" dirty="0"/>
              <a:t>–</a:t>
            </a:r>
            <a:r>
              <a:rPr lang="en-US" sz="1600" dirty="0" err="1"/>
              <a:t>docker</a:t>
            </a:r>
            <a:r>
              <a:rPr lang="en-US" sz="1600" dirty="0"/>
              <a:t>-username=</a:t>
            </a:r>
            <a:r>
              <a:rPr lang="en-US" sz="1600" dirty="0" err="1"/>
              <a:t>registryuser</a:t>
            </a:r>
            <a:endParaRPr lang="en-US" sz="1600" dirty="0"/>
          </a:p>
          <a:p>
            <a:pPr marL="0" indent="0">
              <a:buNone/>
            </a:pPr>
            <a:r>
              <a:rPr lang="en-US" sz="1600" dirty="0"/>
              <a:t> –</a:t>
            </a:r>
            <a:r>
              <a:rPr lang="en-US" sz="1600" dirty="0" err="1"/>
              <a:t>dokcer</a:t>
            </a:r>
            <a:r>
              <a:rPr lang="en-US" sz="1600" dirty="0"/>
              <a:t>-password=password</a:t>
            </a:r>
          </a:p>
          <a:p>
            <a:pPr marL="0" indent="0">
              <a:buNone/>
            </a:pPr>
            <a:r>
              <a:rPr lang="en-US" sz="1600" dirty="0"/>
              <a:t> –docker-email=admin@Xyz.com</a:t>
            </a:r>
          </a:p>
        </p:txBody>
      </p:sp>
      <p:sp>
        <p:nvSpPr>
          <p:cNvPr id="4" name="Content Placeholder 3"/>
          <p:cNvSpPr>
            <a:spLocks noGrp="1"/>
          </p:cNvSpPr>
          <p:nvPr>
            <p:ph sz="half" idx="2"/>
          </p:nvPr>
        </p:nvSpPr>
        <p:spPr/>
        <p:txBody>
          <a:bodyPr>
            <a:normAutofit/>
          </a:bodyPr>
          <a:lstStyle/>
          <a:p>
            <a:r>
              <a:rPr lang="en-US" sz="1600" dirty="0" err="1"/>
              <a:t>Apiversion</a:t>
            </a:r>
            <a:r>
              <a:rPr lang="en-US" sz="1600" dirty="0"/>
              <a:t>: v1</a:t>
            </a:r>
          </a:p>
          <a:p>
            <a:r>
              <a:rPr lang="en-US" sz="1600" dirty="0"/>
              <a:t>Kind: Pod</a:t>
            </a:r>
          </a:p>
          <a:p>
            <a:r>
              <a:rPr lang="en-US" sz="1600" dirty="0"/>
              <a:t>Metadata: </a:t>
            </a:r>
          </a:p>
          <a:p>
            <a:r>
              <a:rPr lang="en-US" sz="1600" dirty="0"/>
              <a:t>     name: </a:t>
            </a:r>
            <a:r>
              <a:rPr lang="en-US" sz="1600" dirty="0" err="1"/>
              <a:t>nginx</a:t>
            </a:r>
            <a:r>
              <a:rPr lang="en-US" sz="1600" dirty="0"/>
              <a:t>-pod</a:t>
            </a:r>
          </a:p>
          <a:p>
            <a:r>
              <a:rPr lang="en-US" sz="1600" dirty="0"/>
              <a:t>Spec:</a:t>
            </a:r>
          </a:p>
          <a:p>
            <a:r>
              <a:rPr lang="en-US" sz="1600" dirty="0"/>
              <a:t>     containers:</a:t>
            </a:r>
          </a:p>
          <a:p>
            <a:r>
              <a:rPr lang="en-US" sz="1600" dirty="0"/>
              <a:t>      - name: </a:t>
            </a:r>
            <a:r>
              <a:rPr lang="en-US" sz="1600" dirty="0" err="1"/>
              <a:t>nginx</a:t>
            </a:r>
            <a:endParaRPr lang="en-US" sz="1600" dirty="0"/>
          </a:p>
          <a:p>
            <a:r>
              <a:rPr lang="en-US" sz="1600" dirty="0"/>
              <a:t>         image: private.registry.io/apps/</a:t>
            </a:r>
            <a:r>
              <a:rPr lang="en-US" sz="1600" dirty="0" err="1"/>
              <a:t>nginx</a:t>
            </a:r>
            <a:endParaRPr lang="en-US" sz="1600" dirty="0"/>
          </a:p>
          <a:p>
            <a:r>
              <a:rPr lang="en-US" sz="1600" dirty="0"/>
              <a:t>  </a:t>
            </a:r>
            <a:r>
              <a:rPr lang="en-US" sz="1600" dirty="0" err="1"/>
              <a:t>imagePullSecrets</a:t>
            </a:r>
            <a:r>
              <a:rPr lang="en-US" sz="1600" dirty="0"/>
              <a:t>: </a:t>
            </a:r>
            <a:r>
              <a:rPr lang="en-US" sz="1600" dirty="0" err="1"/>
              <a:t>regcred</a:t>
            </a:r>
            <a:endParaRPr lang="en-US" sz="1600" dirty="0"/>
          </a:p>
          <a:p>
            <a:endParaRPr lang="en-US" dirty="0"/>
          </a:p>
        </p:txBody>
      </p:sp>
    </p:spTree>
    <p:extLst>
      <p:ext uri="{BB962C8B-B14F-4D97-AF65-F5344CB8AC3E}">
        <p14:creationId xmlns:p14="http://schemas.microsoft.com/office/powerpoint/2010/main" val="248196873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RBAC ?</a:t>
            </a:r>
          </a:p>
        </p:txBody>
      </p:sp>
      <p:sp>
        <p:nvSpPr>
          <p:cNvPr id="3" name="Content Placeholder 2"/>
          <p:cNvSpPr>
            <a:spLocks noGrp="1"/>
          </p:cNvSpPr>
          <p:nvPr>
            <p:ph sz="half" idx="1"/>
          </p:nvPr>
        </p:nvSpPr>
        <p:spPr>
          <a:xfrm>
            <a:off x="847436" y="2158134"/>
            <a:ext cx="10725727" cy="4351338"/>
          </a:xfrm>
        </p:spPr>
        <p:txBody>
          <a:bodyPr>
            <a:normAutofit/>
          </a:bodyPr>
          <a:lstStyle/>
          <a:p>
            <a:r>
              <a:rPr lang="en-US" sz="2400" dirty="0"/>
              <a:t>Role Based Access Control (RBAC) is a set of functions in Kubernetes that controls who/what is allowed to perform specific actions in Kubernetes.</a:t>
            </a:r>
          </a:p>
          <a:p>
            <a:endParaRPr lang="en-US" sz="2400" dirty="0"/>
          </a:p>
          <a:p>
            <a:pPr marL="0" indent="0">
              <a:buNone/>
            </a:pPr>
            <a:r>
              <a:rPr lang="en-US" sz="2400" dirty="0"/>
              <a:t>Example Use Cases:</a:t>
            </a:r>
          </a:p>
          <a:p>
            <a:pPr marL="0" indent="0">
              <a:buNone/>
            </a:pPr>
            <a:r>
              <a:rPr lang="en-US" sz="2400" dirty="0"/>
              <a:t>  . Users who want to deploy new applications</a:t>
            </a:r>
          </a:p>
          <a:p>
            <a:pPr marL="0" indent="0">
              <a:buNone/>
            </a:pPr>
            <a:r>
              <a:rPr lang="en-US" sz="2400" dirty="0"/>
              <a:t>  . Applications who need to access specific resources</a:t>
            </a:r>
          </a:p>
          <a:p>
            <a:pPr marL="0" indent="0">
              <a:buNone/>
            </a:pPr>
            <a:r>
              <a:rPr lang="en-US" sz="2400" dirty="0"/>
              <a:t>   . Services that need to be accessed by multiple applications</a:t>
            </a:r>
          </a:p>
          <a:p>
            <a:pPr marL="0" indent="0">
              <a:buNone/>
            </a:pPr>
            <a:r>
              <a:rPr lang="en-US" sz="2400" dirty="0"/>
              <a:t>   . System-wide application and user permissions</a:t>
            </a:r>
          </a:p>
        </p:txBody>
      </p:sp>
    </p:spTree>
    <p:extLst>
      <p:ext uri="{BB962C8B-B14F-4D97-AF65-F5344CB8AC3E}">
        <p14:creationId xmlns:p14="http://schemas.microsoft.com/office/powerpoint/2010/main" val="363588510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Three Elements Of RBAC</a:t>
            </a:r>
          </a:p>
        </p:txBody>
      </p:sp>
      <p:sp>
        <p:nvSpPr>
          <p:cNvPr id="3" name="Content Placeholder 2"/>
          <p:cNvSpPr>
            <a:spLocks noGrp="1"/>
          </p:cNvSpPr>
          <p:nvPr>
            <p:ph sz="half" idx="1"/>
          </p:nvPr>
        </p:nvSpPr>
        <p:spPr>
          <a:xfrm>
            <a:off x="856672" y="2506662"/>
            <a:ext cx="10522527" cy="4351338"/>
          </a:xfrm>
        </p:spPr>
        <p:txBody>
          <a:bodyPr>
            <a:normAutofit/>
          </a:bodyPr>
          <a:lstStyle/>
          <a:p>
            <a:r>
              <a:rPr lang="en-US" sz="2400" b="1" dirty="0"/>
              <a:t>Subjects:  </a:t>
            </a:r>
            <a:r>
              <a:rPr lang="en-US" sz="2400" dirty="0"/>
              <a:t>users/groups , Service Account , Processes in pods or Host OS</a:t>
            </a:r>
          </a:p>
          <a:p>
            <a:endParaRPr lang="en-US" sz="2400" dirty="0"/>
          </a:p>
          <a:p>
            <a:r>
              <a:rPr lang="en-US" sz="2400" b="1" dirty="0"/>
              <a:t>Resources: </a:t>
            </a:r>
            <a:r>
              <a:rPr lang="en-US" sz="2400" dirty="0"/>
              <a:t>pod, deployment, namespace, service, </a:t>
            </a:r>
            <a:r>
              <a:rPr lang="en-US" sz="2400" dirty="0" err="1"/>
              <a:t>configmap</a:t>
            </a:r>
            <a:r>
              <a:rPr lang="en-US" sz="2400" dirty="0"/>
              <a:t>, secret ..</a:t>
            </a:r>
          </a:p>
          <a:p>
            <a:pPr marL="0" indent="0">
              <a:buNone/>
            </a:pPr>
            <a:endParaRPr lang="en-US" sz="2400" dirty="0"/>
          </a:p>
          <a:p>
            <a:r>
              <a:rPr lang="en-US" sz="2400" b="1" dirty="0"/>
              <a:t>Operations (verbs): </a:t>
            </a:r>
            <a:r>
              <a:rPr lang="en-US" sz="2400" dirty="0"/>
              <a:t>list, get , describe, create, delete, patch ..</a:t>
            </a:r>
          </a:p>
        </p:txBody>
      </p:sp>
    </p:spTree>
    <p:extLst>
      <p:ext uri="{BB962C8B-B14F-4D97-AF65-F5344CB8AC3E}">
        <p14:creationId xmlns:p14="http://schemas.microsoft.com/office/powerpoint/2010/main" val="197466965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are Users?</a:t>
            </a:r>
          </a:p>
        </p:txBody>
      </p:sp>
      <p:sp>
        <p:nvSpPr>
          <p:cNvPr id="3" name="Content Placeholder 2"/>
          <p:cNvSpPr>
            <a:spLocks noGrp="1"/>
          </p:cNvSpPr>
          <p:nvPr>
            <p:ph sz="half" idx="1"/>
          </p:nvPr>
        </p:nvSpPr>
        <p:spPr>
          <a:xfrm>
            <a:off x="838199" y="1825625"/>
            <a:ext cx="9589655" cy="4351338"/>
          </a:xfrm>
        </p:spPr>
        <p:txBody>
          <a:bodyPr>
            <a:normAutofit/>
          </a:bodyPr>
          <a:lstStyle/>
          <a:p>
            <a:r>
              <a:rPr lang="en-US" sz="2400" dirty="0"/>
              <a:t>Subjects that correlate to humans (or applications external to the cluster)</a:t>
            </a:r>
          </a:p>
          <a:p>
            <a:endParaRPr lang="en-US" sz="2400" dirty="0"/>
          </a:p>
          <a:p>
            <a:r>
              <a:rPr lang="en-US" sz="2400" dirty="0"/>
              <a:t>User/Group accounts are defined externally to the K8s Cluster:</a:t>
            </a:r>
          </a:p>
          <a:p>
            <a:pPr marL="0" indent="0">
              <a:buNone/>
            </a:pPr>
            <a:r>
              <a:rPr lang="en-US" sz="2400" dirty="0"/>
              <a:t>	– Certificate based</a:t>
            </a:r>
          </a:p>
          <a:p>
            <a:pPr marL="0" indent="0">
              <a:buNone/>
            </a:pPr>
            <a:r>
              <a:rPr lang="en-US" sz="2400" dirty="0"/>
              <a:t>	– Token based</a:t>
            </a:r>
          </a:p>
          <a:p>
            <a:pPr marL="0" indent="0">
              <a:buNone/>
            </a:pPr>
            <a:r>
              <a:rPr lang="en-US" sz="2400" dirty="0"/>
              <a:t>	– OAuth2</a:t>
            </a:r>
          </a:p>
          <a:p>
            <a:pPr marL="0" indent="0">
              <a:buNone/>
            </a:pPr>
            <a:r>
              <a:rPr lang="en-US" sz="2400" dirty="0"/>
              <a:t>	– Basic Authentication</a:t>
            </a:r>
          </a:p>
        </p:txBody>
      </p:sp>
    </p:spTree>
    <p:extLst>
      <p:ext uri="{BB962C8B-B14F-4D97-AF65-F5344CB8AC3E}">
        <p14:creationId xmlns:p14="http://schemas.microsoft.com/office/powerpoint/2010/main" val="172575027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are service accounts ?</a:t>
            </a:r>
          </a:p>
        </p:txBody>
      </p:sp>
      <p:sp>
        <p:nvSpPr>
          <p:cNvPr id="3" name="Content Placeholder 2"/>
          <p:cNvSpPr>
            <a:spLocks noGrp="1"/>
          </p:cNvSpPr>
          <p:nvPr>
            <p:ph sz="half" idx="1"/>
          </p:nvPr>
        </p:nvSpPr>
        <p:spPr>
          <a:xfrm>
            <a:off x="838200" y="1825625"/>
            <a:ext cx="10439400" cy="4351338"/>
          </a:xfrm>
        </p:spPr>
        <p:txBody>
          <a:bodyPr>
            <a:normAutofit fontScale="92500" lnSpcReduction="10000"/>
          </a:bodyPr>
          <a:lstStyle/>
          <a:p>
            <a:r>
              <a:rPr lang="en-US" sz="2400" dirty="0"/>
              <a:t>Subjects that correlate accounts created in the K8s cluster</a:t>
            </a:r>
          </a:p>
          <a:p>
            <a:pPr marL="0" indent="0">
              <a:buNone/>
            </a:pPr>
            <a:endParaRPr lang="en-US" sz="2400" dirty="0"/>
          </a:p>
          <a:p>
            <a:r>
              <a:rPr lang="en-US" sz="2400" dirty="0"/>
              <a:t>Service Accounts can be created for and used by applications or by human users.</a:t>
            </a:r>
          </a:p>
          <a:p>
            <a:pPr marL="0" indent="0">
              <a:buNone/>
            </a:pPr>
            <a:endParaRPr lang="en-US" sz="2400" dirty="0"/>
          </a:p>
          <a:p>
            <a:r>
              <a:rPr lang="en-US" sz="2400" dirty="0"/>
              <a:t>Service Accounts are defined internally to the cluster. They can be used for users or "services" to access resources in the cluster. </a:t>
            </a:r>
          </a:p>
          <a:p>
            <a:pPr marL="0" indent="0">
              <a:buNone/>
            </a:pPr>
            <a:endParaRPr lang="en-US" sz="2400" dirty="0"/>
          </a:p>
          <a:p>
            <a:r>
              <a:rPr lang="en-US" sz="2400" dirty="0"/>
              <a:t>The Service Account will have an access token that it presents to have its access "authorized". </a:t>
            </a:r>
          </a:p>
          <a:p>
            <a:pPr marL="0" indent="0">
              <a:buNone/>
            </a:pPr>
            <a:endParaRPr lang="en-US" sz="2400" dirty="0"/>
          </a:p>
          <a:p>
            <a:r>
              <a:rPr lang="en-US" sz="2400" dirty="0"/>
              <a:t>This token can be placed in a standard </a:t>
            </a:r>
            <a:r>
              <a:rPr lang="en-US" sz="2400" dirty="0" err="1"/>
              <a:t>kubeconfg</a:t>
            </a:r>
            <a:r>
              <a:rPr lang="en-US" sz="2400" dirty="0"/>
              <a:t> file or passed to the API with the access request.</a:t>
            </a:r>
          </a:p>
        </p:txBody>
      </p:sp>
    </p:spTree>
    <p:extLst>
      <p:ext uri="{BB962C8B-B14F-4D97-AF65-F5344CB8AC3E}">
        <p14:creationId xmlns:p14="http://schemas.microsoft.com/office/powerpoint/2010/main" val="275254394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are Roles? </a:t>
            </a:r>
          </a:p>
        </p:txBody>
      </p:sp>
      <p:sp>
        <p:nvSpPr>
          <p:cNvPr id="3" name="Content Placeholder 2"/>
          <p:cNvSpPr>
            <a:spLocks noGrp="1"/>
          </p:cNvSpPr>
          <p:nvPr>
            <p:ph sz="half" idx="1"/>
          </p:nvPr>
        </p:nvSpPr>
        <p:spPr>
          <a:xfrm>
            <a:off x="838199" y="1825625"/>
            <a:ext cx="9691256" cy="4351338"/>
          </a:xfrm>
        </p:spPr>
        <p:txBody>
          <a:bodyPr>
            <a:normAutofit lnSpcReduction="10000"/>
          </a:bodyPr>
          <a:lstStyle/>
          <a:p>
            <a:endParaRPr lang="en-US" dirty="0"/>
          </a:p>
          <a:p>
            <a:pPr marL="0" indent="0">
              <a:buNone/>
            </a:pPr>
            <a:r>
              <a:rPr lang="en-US" dirty="0"/>
              <a:t>Roles are the mechanism that is used to link actions with resources. They are effectively the "permissions“ that are assigned to subjects</a:t>
            </a:r>
          </a:p>
          <a:p>
            <a:pPr marL="0" indent="0">
              <a:buNone/>
            </a:pPr>
            <a:endParaRPr lang="en-US" dirty="0"/>
          </a:p>
          <a:p>
            <a:pPr marL="0" indent="0">
              <a:buNone/>
            </a:pPr>
            <a:r>
              <a:rPr lang="en-US" sz="2600" dirty="0"/>
              <a:t>Link Operations with Resources Act as sets of permissions</a:t>
            </a:r>
          </a:p>
          <a:p>
            <a:pPr marL="0" indent="0">
              <a:buNone/>
            </a:pPr>
            <a:endParaRPr lang="en-US" sz="2600" dirty="0"/>
          </a:p>
          <a:p>
            <a:pPr marL="0" indent="0">
              <a:buNone/>
            </a:pPr>
            <a:r>
              <a:rPr lang="en-US" sz="2600" dirty="0"/>
              <a:t>Permissions add abilities but can not remove abilities</a:t>
            </a:r>
          </a:p>
          <a:p>
            <a:endParaRPr lang="en-US" sz="2600" dirty="0"/>
          </a:p>
          <a:p>
            <a:pPr marL="0" indent="0">
              <a:buNone/>
            </a:pPr>
            <a:r>
              <a:rPr lang="en-US" sz="2600" dirty="0"/>
              <a:t>Can be namespace scoped (Roles) or cluster scoped (</a:t>
            </a:r>
            <a:r>
              <a:rPr lang="en-US" sz="2600" dirty="0" err="1"/>
              <a:t>ClusterRoles</a:t>
            </a:r>
            <a:r>
              <a:rPr lang="en-US" sz="2600" dirty="0"/>
              <a:t>)</a:t>
            </a:r>
          </a:p>
        </p:txBody>
      </p:sp>
    </p:spTree>
    <p:extLst>
      <p:ext uri="{BB962C8B-B14F-4D97-AF65-F5344CB8AC3E}">
        <p14:creationId xmlns:p14="http://schemas.microsoft.com/office/powerpoint/2010/main" val="398292705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What are </a:t>
            </a:r>
            <a:r>
              <a:rPr lang="en-US" sz="4000" b="1" dirty="0" err="1"/>
              <a:t>RoleBindings</a:t>
            </a:r>
            <a:r>
              <a:rPr lang="en-US" sz="4000" b="1" dirty="0"/>
              <a:t>/</a:t>
            </a:r>
            <a:r>
              <a:rPr lang="en-US" sz="4000" b="1" dirty="0" err="1"/>
              <a:t>ClusterRoleBindings</a:t>
            </a:r>
            <a:r>
              <a:rPr lang="en-US" sz="4000" b="1" dirty="0"/>
              <a:t>?</a:t>
            </a:r>
          </a:p>
        </p:txBody>
      </p:sp>
      <p:sp>
        <p:nvSpPr>
          <p:cNvPr id="3" name="Content Placeholder 2"/>
          <p:cNvSpPr>
            <a:spLocks noGrp="1"/>
          </p:cNvSpPr>
          <p:nvPr>
            <p:ph sz="half" idx="1"/>
          </p:nvPr>
        </p:nvSpPr>
        <p:spPr>
          <a:xfrm>
            <a:off x="718128" y="2093479"/>
            <a:ext cx="10790382" cy="4351338"/>
          </a:xfrm>
        </p:spPr>
        <p:txBody>
          <a:bodyPr>
            <a:normAutofit lnSpcReduction="10000"/>
          </a:bodyPr>
          <a:lstStyle/>
          <a:p>
            <a:r>
              <a:rPr lang="en-US" sz="2400" dirty="0" err="1"/>
              <a:t>RoleBindings</a:t>
            </a:r>
            <a:r>
              <a:rPr lang="en-US" sz="2400" dirty="0"/>
              <a:t> are the mechanism that is used to link, or bind, a Role to a Subject thereby granting the Subject the permission defined by the Role.</a:t>
            </a:r>
          </a:p>
          <a:p>
            <a:pPr marL="0" indent="0">
              <a:buNone/>
            </a:pPr>
            <a:endParaRPr lang="en-US" sz="2400" dirty="0"/>
          </a:p>
          <a:p>
            <a:r>
              <a:rPr lang="en-US" sz="2400" dirty="0"/>
              <a:t>Role bindings come in two different types that an be assigned at the namespace level or at the cluster level.</a:t>
            </a:r>
          </a:p>
          <a:p>
            <a:endParaRPr lang="en-US" sz="2400" dirty="0"/>
          </a:p>
          <a:p>
            <a:r>
              <a:rPr lang="en-US" sz="2400" dirty="0"/>
              <a:t>Cluster scoped role bindings are defined as an object of kind </a:t>
            </a:r>
            <a:r>
              <a:rPr lang="en-US" sz="2400" dirty="0" err="1"/>
              <a:t>ClusterRoleBinding</a:t>
            </a:r>
            <a:r>
              <a:rPr lang="en-US" sz="2400" dirty="0"/>
              <a:t> and can only reference.</a:t>
            </a:r>
          </a:p>
          <a:p>
            <a:endParaRPr lang="en-US" sz="2400" dirty="0"/>
          </a:p>
          <a:p>
            <a:r>
              <a:rPr lang="en-US" sz="2400" dirty="0" err="1"/>
              <a:t>ClusterRoles</a:t>
            </a:r>
            <a:r>
              <a:rPr lang="en-US" sz="2400" dirty="0"/>
              <a:t> where namespace scoped role bindings are of kind </a:t>
            </a:r>
            <a:r>
              <a:rPr lang="en-US" sz="2400" dirty="0" err="1"/>
              <a:t>RoleBinding</a:t>
            </a:r>
            <a:r>
              <a:rPr lang="en-US" sz="2400" dirty="0"/>
              <a:t> and can only reference Roles</a:t>
            </a:r>
          </a:p>
        </p:txBody>
      </p:sp>
    </p:spTree>
    <p:extLst>
      <p:ext uri="{BB962C8B-B14F-4D97-AF65-F5344CB8AC3E}">
        <p14:creationId xmlns:p14="http://schemas.microsoft.com/office/powerpoint/2010/main" val="51357603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Topology </a:t>
            </a:r>
            <a:r>
              <a:rPr lang="en-US"/>
              <a:t>aware traffic </a:t>
            </a:r>
            <a:endParaRPr lang="en-US" dirty="0"/>
          </a:p>
        </p:txBody>
      </p:sp>
      <p:pic>
        <p:nvPicPr>
          <p:cNvPr id="5" name="Content Placeholder 4"/>
          <p:cNvPicPr>
            <a:picLocks noGrp="1" noChangeAspect="1"/>
          </p:cNvPicPr>
          <p:nvPr>
            <p:ph sz="half" idx="1"/>
          </p:nvPr>
        </p:nvPicPr>
        <p:blipFill>
          <a:blip r:embed="rId2"/>
          <a:stretch>
            <a:fillRect/>
          </a:stretch>
        </p:blipFill>
        <p:spPr>
          <a:xfrm>
            <a:off x="1589428" y="1825625"/>
            <a:ext cx="7314427" cy="4944630"/>
          </a:xfrm>
          <a:prstGeom prst="rect">
            <a:avLst/>
          </a:prstGeom>
        </p:spPr>
      </p:pic>
    </p:spTree>
    <p:extLst>
      <p:ext uri="{BB962C8B-B14F-4D97-AF65-F5344CB8AC3E}">
        <p14:creationId xmlns:p14="http://schemas.microsoft.com/office/powerpoint/2010/main" val="124566789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Topology</a:t>
            </a:r>
          </a:p>
        </p:txBody>
      </p:sp>
      <p:pic>
        <p:nvPicPr>
          <p:cNvPr id="5" name="Content Placeholder 4"/>
          <p:cNvPicPr>
            <a:picLocks noGrp="1" noChangeAspect="1"/>
          </p:cNvPicPr>
          <p:nvPr>
            <p:ph sz="half" idx="1"/>
          </p:nvPr>
        </p:nvPicPr>
        <p:blipFill>
          <a:blip r:embed="rId2"/>
          <a:stretch>
            <a:fillRect/>
          </a:stretch>
        </p:blipFill>
        <p:spPr>
          <a:xfrm>
            <a:off x="1253331" y="1825625"/>
            <a:ext cx="5470742" cy="4351338"/>
          </a:xfrm>
          <a:prstGeom prst="rect">
            <a:avLst/>
          </a:prstGeom>
        </p:spPr>
      </p:pic>
    </p:spTree>
    <p:extLst>
      <p:ext uri="{BB962C8B-B14F-4D97-AF65-F5344CB8AC3E}">
        <p14:creationId xmlns:p14="http://schemas.microsoft.com/office/powerpoint/2010/main" val="385870366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Endpoint Slice </a:t>
            </a:r>
          </a:p>
        </p:txBody>
      </p:sp>
      <p:pic>
        <p:nvPicPr>
          <p:cNvPr id="7" name="Content Placeholder 6"/>
          <p:cNvPicPr>
            <a:picLocks noGrp="1" noChangeAspect="1"/>
          </p:cNvPicPr>
          <p:nvPr>
            <p:ph sz="half" idx="1"/>
          </p:nvPr>
        </p:nvPicPr>
        <p:blipFill>
          <a:blip r:embed="rId2"/>
          <a:stretch>
            <a:fillRect/>
          </a:stretch>
        </p:blipFill>
        <p:spPr>
          <a:xfrm>
            <a:off x="1697181" y="2114331"/>
            <a:ext cx="7520709" cy="3953959"/>
          </a:xfrm>
          <a:prstGeom prst="rect">
            <a:avLst/>
          </a:prstGeom>
        </p:spPr>
      </p:pic>
    </p:spTree>
    <p:extLst>
      <p:ext uri="{BB962C8B-B14F-4D97-AF65-F5344CB8AC3E}">
        <p14:creationId xmlns:p14="http://schemas.microsoft.com/office/powerpoint/2010/main" val="148028973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Endpoint slice </a:t>
            </a:r>
          </a:p>
        </p:txBody>
      </p:sp>
      <p:pic>
        <p:nvPicPr>
          <p:cNvPr id="5" name="Content Placeholder 4"/>
          <p:cNvPicPr>
            <a:picLocks noGrp="1" noChangeAspect="1"/>
          </p:cNvPicPr>
          <p:nvPr>
            <p:ph sz="half" idx="1"/>
          </p:nvPr>
        </p:nvPicPr>
        <p:blipFill>
          <a:blip r:embed="rId2"/>
          <a:stretch>
            <a:fillRect/>
          </a:stretch>
        </p:blipFill>
        <p:spPr>
          <a:xfrm>
            <a:off x="1078345" y="2810236"/>
            <a:ext cx="5181600" cy="2683906"/>
          </a:xfrm>
          <a:prstGeom prst="rect">
            <a:avLst/>
          </a:prstGeom>
        </p:spPr>
      </p:pic>
      <p:sp>
        <p:nvSpPr>
          <p:cNvPr id="4" name="Content Placeholder 3"/>
          <p:cNvSpPr>
            <a:spLocks noGrp="1"/>
          </p:cNvSpPr>
          <p:nvPr>
            <p:ph sz="half" idx="2"/>
          </p:nvPr>
        </p:nvSpPr>
        <p:spPr/>
        <p:txBody>
          <a:bodyPr>
            <a:normAutofit/>
          </a:bodyPr>
          <a:lstStyle/>
          <a:p>
            <a:r>
              <a:rPr lang="en-US" sz="1800" dirty="0"/>
              <a:t>https://kubernetes.io/blog/2020/09/02/scaling-kubernetes-networking-with-endpointslices/</a:t>
            </a:r>
          </a:p>
        </p:txBody>
      </p:sp>
    </p:spTree>
    <p:extLst>
      <p:ext uri="{BB962C8B-B14F-4D97-AF65-F5344CB8AC3E}">
        <p14:creationId xmlns:p14="http://schemas.microsoft.com/office/powerpoint/2010/main" val="376401993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tretch>
            <a:fillRect/>
          </a:stretch>
        </p:blipFill>
        <p:spPr>
          <a:xfrm>
            <a:off x="801253" y="350982"/>
            <a:ext cx="9321801" cy="5698836"/>
          </a:xfrm>
          <a:prstGeom prst="rect">
            <a:avLst/>
          </a:prstGeom>
        </p:spPr>
      </p:pic>
    </p:spTree>
    <p:extLst>
      <p:ext uri="{BB962C8B-B14F-4D97-AF65-F5344CB8AC3E}">
        <p14:creationId xmlns:p14="http://schemas.microsoft.com/office/powerpoint/2010/main" val="94800610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tretch>
            <a:fillRect/>
          </a:stretch>
        </p:blipFill>
        <p:spPr>
          <a:xfrm>
            <a:off x="1198417" y="600364"/>
            <a:ext cx="8878455" cy="5671127"/>
          </a:xfrm>
          <a:prstGeom prst="rect">
            <a:avLst/>
          </a:prstGeom>
        </p:spPr>
      </p:pic>
    </p:spTree>
    <p:extLst>
      <p:ext uri="{BB962C8B-B14F-4D97-AF65-F5344CB8AC3E}">
        <p14:creationId xmlns:p14="http://schemas.microsoft.com/office/powerpoint/2010/main" val="409363705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5" name="Content Placeholder 4"/>
          <p:cNvPicPr>
            <a:picLocks noGrp="1" noChangeAspect="1"/>
          </p:cNvPicPr>
          <p:nvPr>
            <p:ph sz="half" idx="1"/>
          </p:nvPr>
        </p:nvPicPr>
        <p:blipFill>
          <a:blip r:embed="rId2"/>
          <a:stretch>
            <a:fillRect/>
          </a:stretch>
        </p:blipFill>
        <p:spPr>
          <a:xfrm>
            <a:off x="692727" y="1690688"/>
            <a:ext cx="7303654" cy="4839421"/>
          </a:xfrm>
          <a:prstGeom prst="rect">
            <a:avLst/>
          </a:prstGeom>
        </p:spPr>
      </p:pic>
    </p:spTree>
    <p:extLst>
      <p:ext uri="{BB962C8B-B14F-4D97-AF65-F5344CB8AC3E}">
        <p14:creationId xmlns:p14="http://schemas.microsoft.com/office/powerpoint/2010/main" val="289742395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tretch>
            <a:fillRect/>
          </a:stretch>
        </p:blipFill>
        <p:spPr>
          <a:xfrm>
            <a:off x="838200" y="443346"/>
            <a:ext cx="7483764" cy="5318658"/>
          </a:xfrm>
          <a:prstGeom prst="rect">
            <a:avLst/>
          </a:prstGeom>
        </p:spPr>
      </p:pic>
    </p:spTree>
    <p:extLst>
      <p:ext uri="{BB962C8B-B14F-4D97-AF65-F5344CB8AC3E}">
        <p14:creationId xmlns:p14="http://schemas.microsoft.com/office/powerpoint/2010/main" val="226343185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tretch>
            <a:fillRect/>
          </a:stretch>
        </p:blipFill>
        <p:spPr>
          <a:xfrm>
            <a:off x="838199" y="618837"/>
            <a:ext cx="8176491" cy="5310908"/>
          </a:xfrm>
          <a:prstGeom prst="rect">
            <a:avLst/>
          </a:prstGeom>
        </p:spPr>
      </p:pic>
    </p:spTree>
    <p:extLst>
      <p:ext uri="{BB962C8B-B14F-4D97-AF65-F5344CB8AC3E}">
        <p14:creationId xmlns:p14="http://schemas.microsoft.com/office/powerpoint/2010/main" val="132495575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tretch>
            <a:fillRect/>
          </a:stretch>
        </p:blipFill>
        <p:spPr>
          <a:xfrm>
            <a:off x="838200" y="563417"/>
            <a:ext cx="8619836" cy="5661891"/>
          </a:xfrm>
          <a:prstGeom prst="rect">
            <a:avLst/>
          </a:prstGeom>
        </p:spPr>
      </p:pic>
    </p:spTree>
    <p:extLst>
      <p:ext uri="{BB962C8B-B14F-4D97-AF65-F5344CB8AC3E}">
        <p14:creationId xmlns:p14="http://schemas.microsoft.com/office/powerpoint/2010/main" val="148154579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tretch>
            <a:fillRect/>
          </a:stretch>
        </p:blipFill>
        <p:spPr>
          <a:xfrm>
            <a:off x="838199" y="775855"/>
            <a:ext cx="8185727" cy="5301671"/>
          </a:xfrm>
          <a:prstGeom prst="rect">
            <a:avLst/>
          </a:prstGeom>
        </p:spPr>
      </p:pic>
    </p:spTree>
    <p:extLst>
      <p:ext uri="{BB962C8B-B14F-4D97-AF65-F5344CB8AC3E}">
        <p14:creationId xmlns:p14="http://schemas.microsoft.com/office/powerpoint/2010/main" val="325905203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Terraform</a:t>
            </a:r>
          </a:p>
        </p:txBody>
      </p:sp>
      <p:sp>
        <p:nvSpPr>
          <p:cNvPr id="3" name="Content Placeholder 2"/>
          <p:cNvSpPr>
            <a:spLocks noGrp="1"/>
          </p:cNvSpPr>
          <p:nvPr>
            <p:ph sz="half" idx="1"/>
          </p:nvPr>
        </p:nvSpPr>
        <p:spPr>
          <a:xfrm>
            <a:off x="838199" y="1825625"/>
            <a:ext cx="9949874" cy="4351338"/>
          </a:xfrm>
        </p:spPr>
        <p:txBody>
          <a:bodyPr>
            <a:normAutofit lnSpcReduction="10000"/>
          </a:bodyPr>
          <a:lstStyle/>
          <a:p>
            <a:r>
              <a:rPr lang="en-US" dirty="0"/>
              <a:t>Terraform is an infrastructure as code tool that lets you define both cloud and on-</a:t>
            </a:r>
            <a:r>
              <a:rPr lang="en-US" dirty="0" err="1"/>
              <a:t>prem</a:t>
            </a:r>
            <a:r>
              <a:rPr lang="en-US" dirty="0"/>
              <a:t> resources in human-readable configuration files that you can version, reuse, and share.</a:t>
            </a:r>
          </a:p>
          <a:p>
            <a:endParaRPr lang="en-US" dirty="0"/>
          </a:p>
          <a:p>
            <a:r>
              <a:rPr lang="en-US" dirty="0"/>
              <a:t>You can then use a consistent workflow to provision and manage all of your infrastructure throughout its lifecycle.</a:t>
            </a:r>
          </a:p>
          <a:p>
            <a:endParaRPr lang="en-US" dirty="0"/>
          </a:p>
          <a:p>
            <a:r>
              <a:rPr lang="en-US" dirty="0"/>
              <a:t>Terraform can manage low-level components like compute, storage, and networking resources, as well as high-level components like DNS entries and SaaS features.</a:t>
            </a:r>
          </a:p>
        </p:txBody>
      </p:sp>
    </p:spTree>
    <p:extLst>
      <p:ext uri="{BB962C8B-B14F-4D97-AF65-F5344CB8AC3E}">
        <p14:creationId xmlns:p14="http://schemas.microsoft.com/office/powerpoint/2010/main" val="235084680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Does Terraform work</a:t>
            </a:r>
          </a:p>
        </p:txBody>
      </p:sp>
      <p:sp>
        <p:nvSpPr>
          <p:cNvPr id="3" name="Content Placeholder 2"/>
          <p:cNvSpPr>
            <a:spLocks noGrp="1"/>
          </p:cNvSpPr>
          <p:nvPr>
            <p:ph sz="half" idx="1"/>
          </p:nvPr>
        </p:nvSpPr>
        <p:spPr>
          <a:xfrm>
            <a:off x="838200" y="1797916"/>
            <a:ext cx="10515600" cy="4351338"/>
          </a:xfrm>
        </p:spPr>
        <p:txBody>
          <a:bodyPr/>
          <a:lstStyle/>
          <a:p>
            <a:r>
              <a:rPr lang="en-US" dirty="0"/>
              <a:t>Terraform creates and manages resources on cloud platforms and other services through their application programming interfaces (APIs). </a:t>
            </a:r>
          </a:p>
          <a:p>
            <a:endParaRPr lang="en-US" dirty="0"/>
          </a:p>
          <a:p>
            <a:r>
              <a:rPr lang="en-US" dirty="0"/>
              <a:t>Providers enable Terraform to work with virtually any platform or service with an accessible API.</a:t>
            </a:r>
          </a:p>
          <a:p>
            <a:r>
              <a:rPr lang="en-US" dirty="0"/>
              <a:t>Terraform community have already written more than 1700 providers to manage thousands of different types of resources and services, and this number continues to grow.</a:t>
            </a:r>
          </a:p>
        </p:txBody>
      </p:sp>
    </p:spTree>
    <p:extLst>
      <p:ext uri="{BB962C8B-B14F-4D97-AF65-F5344CB8AC3E}">
        <p14:creationId xmlns:p14="http://schemas.microsoft.com/office/powerpoint/2010/main" val="323972325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Three stages</a:t>
            </a:r>
          </a:p>
        </p:txBody>
      </p:sp>
      <p:sp>
        <p:nvSpPr>
          <p:cNvPr id="3" name="Content Placeholder 2"/>
          <p:cNvSpPr>
            <a:spLocks noGrp="1"/>
          </p:cNvSpPr>
          <p:nvPr>
            <p:ph sz="half" idx="1"/>
          </p:nvPr>
        </p:nvSpPr>
        <p:spPr>
          <a:xfrm>
            <a:off x="838200" y="1825625"/>
            <a:ext cx="10515600" cy="4351338"/>
          </a:xfrm>
        </p:spPr>
        <p:txBody>
          <a:bodyPr>
            <a:normAutofit/>
          </a:bodyPr>
          <a:lstStyle/>
          <a:p>
            <a:r>
              <a:rPr lang="en-US" b="1" dirty="0"/>
              <a:t>Write: </a:t>
            </a:r>
            <a:r>
              <a:rPr lang="en-US" dirty="0"/>
              <a:t>You define resources, which may be across multiple cloud providers and services. For example, you might create a configuration to deploy an application on virtual machines in a Virtual Private Cloud (VPC) network with security groups and a load balancer.</a:t>
            </a:r>
          </a:p>
          <a:p>
            <a:endParaRPr lang="en-US" dirty="0"/>
          </a:p>
          <a:p>
            <a:r>
              <a:rPr lang="en-US" b="1" dirty="0"/>
              <a:t>Plan: </a:t>
            </a:r>
            <a:r>
              <a:rPr lang="en-US" dirty="0"/>
              <a:t>Terraform creates an execution plan describing the infrastructure it will create, update, or destroy based on the existing infrastructure and your configuration.</a:t>
            </a:r>
          </a:p>
        </p:txBody>
      </p:sp>
    </p:spTree>
    <p:extLst>
      <p:ext uri="{BB962C8B-B14F-4D97-AF65-F5344CB8AC3E}">
        <p14:creationId xmlns:p14="http://schemas.microsoft.com/office/powerpoint/2010/main" val="377769790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Three stages</a:t>
            </a:r>
          </a:p>
        </p:txBody>
      </p:sp>
      <p:sp>
        <p:nvSpPr>
          <p:cNvPr id="3" name="Content Placeholder 2"/>
          <p:cNvSpPr>
            <a:spLocks noGrp="1"/>
          </p:cNvSpPr>
          <p:nvPr>
            <p:ph sz="half" idx="1"/>
          </p:nvPr>
        </p:nvSpPr>
        <p:spPr>
          <a:xfrm>
            <a:off x="838200" y="1825625"/>
            <a:ext cx="10515600" cy="4351338"/>
          </a:xfrm>
        </p:spPr>
        <p:txBody>
          <a:bodyPr/>
          <a:lstStyle/>
          <a:p>
            <a:r>
              <a:rPr lang="en-US" b="1" dirty="0"/>
              <a:t>Apply: </a:t>
            </a:r>
            <a:r>
              <a:rPr lang="en-US" dirty="0"/>
              <a:t>On approval, Terraform performs the proposed operations in the correct order, respecting any resource dependencies. </a:t>
            </a:r>
          </a:p>
          <a:p>
            <a:endParaRPr lang="en-US" dirty="0"/>
          </a:p>
          <a:p>
            <a:r>
              <a:rPr lang="en-US" dirty="0"/>
              <a:t>For example, if you update the properties of a VPC and change the number of virtual machines in that VPC, Terraform will recreate the VPC before scaling the virtual machines.</a:t>
            </a:r>
          </a:p>
          <a:p>
            <a:endParaRPr lang="en-US" dirty="0"/>
          </a:p>
        </p:txBody>
      </p:sp>
    </p:spTree>
    <p:extLst>
      <p:ext uri="{BB962C8B-B14F-4D97-AF65-F5344CB8AC3E}">
        <p14:creationId xmlns:p14="http://schemas.microsoft.com/office/powerpoint/2010/main" val="282837344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tretch>
            <a:fillRect/>
          </a:stretch>
        </p:blipFill>
        <p:spPr>
          <a:xfrm>
            <a:off x="838200" y="508000"/>
            <a:ext cx="8776855" cy="5668963"/>
          </a:xfrm>
          <a:prstGeom prst="rect">
            <a:avLst/>
          </a:prstGeom>
        </p:spPr>
      </p:pic>
    </p:spTree>
    <p:extLst>
      <p:ext uri="{BB962C8B-B14F-4D97-AF65-F5344CB8AC3E}">
        <p14:creationId xmlns:p14="http://schemas.microsoft.com/office/powerpoint/2010/main" val="65246507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Terraform</a:t>
            </a:r>
          </a:p>
        </p:txBody>
      </p:sp>
      <p:sp>
        <p:nvSpPr>
          <p:cNvPr id="3" name="Content Placeholder 2"/>
          <p:cNvSpPr>
            <a:spLocks noGrp="1"/>
          </p:cNvSpPr>
          <p:nvPr>
            <p:ph sz="half" idx="1"/>
          </p:nvPr>
        </p:nvSpPr>
        <p:spPr>
          <a:xfrm>
            <a:off x="838200" y="1825625"/>
            <a:ext cx="10337800" cy="4351338"/>
          </a:xfrm>
        </p:spPr>
        <p:txBody>
          <a:bodyPr/>
          <a:lstStyle/>
          <a:p>
            <a:pPr marL="0" indent="0">
              <a:buNone/>
            </a:pPr>
            <a:r>
              <a:rPr lang="en-US" b="1" dirty="0"/>
              <a:t>Manage any infrastructure</a:t>
            </a:r>
          </a:p>
          <a:p>
            <a:endParaRPr lang="en-US" dirty="0"/>
          </a:p>
          <a:p>
            <a:r>
              <a:rPr lang="en-US" dirty="0"/>
              <a:t>Find providers for many of the platforms and services you already use in the Terraform Registry. You can also write your own.</a:t>
            </a:r>
          </a:p>
          <a:p>
            <a:endParaRPr lang="en-US" dirty="0"/>
          </a:p>
          <a:p>
            <a:r>
              <a:rPr lang="en-US" dirty="0"/>
              <a:t>Terraform takes an immutable approach to infrastructure, reducing the complexity of upgrading or modifying your services and infrastructure.</a:t>
            </a:r>
          </a:p>
        </p:txBody>
      </p:sp>
    </p:spTree>
    <p:extLst>
      <p:ext uri="{BB962C8B-B14F-4D97-AF65-F5344CB8AC3E}">
        <p14:creationId xmlns:p14="http://schemas.microsoft.com/office/powerpoint/2010/main" val="59987441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868218"/>
            <a:ext cx="10515600" cy="5308745"/>
          </a:xfrm>
        </p:spPr>
        <p:txBody>
          <a:bodyPr/>
          <a:lstStyle/>
          <a:p>
            <a:pPr marL="0" indent="0">
              <a:buNone/>
            </a:pPr>
            <a:r>
              <a:rPr lang="en-US" b="1" dirty="0"/>
              <a:t>Track your infrastructure</a:t>
            </a:r>
          </a:p>
          <a:p>
            <a:pPr marL="0" indent="0">
              <a:buNone/>
            </a:pPr>
            <a:endParaRPr lang="en-US" b="1" dirty="0"/>
          </a:p>
          <a:p>
            <a:r>
              <a:rPr lang="en-US" dirty="0"/>
              <a:t>Terraform generates a plan and prompts you for your approval before modifying your infrastructure. </a:t>
            </a:r>
          </a:p>
          <a:p>
            <a:endParaRPr lang="en-US" dirty="0"/>
          </a:p>
          <a:p>
            <a:r>
              <a:rPr lang="en-US" dirty="0"/>
              <a:t>It also keeps track of your real infrastructure in a state file, which acts as a source of truth for your environment.</a:t>
            </a:r>
          </a:p>
          <a:p>
            <a:endParaRPr lang="en-US" dirty="0"/>
          </a:p>
          <a:p>
            <a:r>
              <a:rPr lang="en-US" dirty="0"/>
              <a:t> Terraform uses the state file to determine the changes to make to your infrastructure so that it will match your configuration.</a:t>
            </a:r>
          </a:p>
        </p:txBody>
      </p:sp>
    </p:spTree>
    <p:extLst>
      <p:ext uri="{BB962C8B-B14F-4D97-AF65-F5344CB8AC3E}">
        <p14:creationId xmlns:p14="http://schemas.microsoft.com/office/powerpoint/2010/main" val="158252050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572655"/>
            <a:ext cx="10515600" cy="5604308"/>
          </a:xfrm>
        </p:spPr>
        <p:txBody>
          <a:bodyPr/>
          <a:lstStyle/>
          <a:p>
            <a:pPr marL="0" indent="0">
              <a:buNone/>
            </a:pPr>
            <a:r>
              <a:rPr lang="en-US" b="1" dirty="0"/>
              <a:t>Automate changes</a:t>
            </a:r>
          </a:p>
          <a:p>
            <a:endParaRPr lang="en-US" dirty="0"/>
          </a:p>
          <a:p>
            <a:r>
              <a:rPr lang="en-US" dirty="0"/>
              <a:t>Terraform configuration files are declarative, meaning that they describe the end state of your infrastructure. You do not need to write step-by-step instructions to create resources because Terraform handles the underlying logic.</a:t>
            </a:r>
          </a:p>
          <a:p>
            <a:endParaRPr lang="en-US" dirty="0"/>
          </a:p>
          <a:p>
            <a:r>
              <a:rPr lang="en-US" dirty="0"/>
              <a:t> Terraform builds a resource graph to determine resource dependencies and creates or modifies non-dependent resources in parallel. This allows Terraform to provision resources efficiently.</a:t>
            </a:r>
          </a:p>
        </p:txBody>
      </p:sp>
    </p:spTree>
    <p:extLst>
      <p:ext uri="{BB962C8B-B14F-4D97-AF65-F5344CB8AC3E}">
        <p14:creationId xmlns:p14="http://schemas.microsoft.com/office/powerpoint/2010/main" val="302326813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443345"/>
            <a:ext cx="10531764" cy="5733618"/>
          </a:xfrm>
        </p:spPr>
        <p:txBody>
          <a:bodyPr/>
          <a:lstStyle/>
          <a:p>
            <a:pPr marL="0" indent="0">
              <a:buNone/>
            </a:pPr>
            <a:r>
              <a:rPr lang="en-US" b="1" dirty="0"/>
              <a:t>Standardize configurations</a:t>
            </a:r>
          </a:p>
          <a:p>
            <a:pPr marL="0" indent="0">
              <a:buNone/>
            </a:pPr>
            <a:endParaRPr lang="en-US" dirty="0"/>
          </a:p>
          <a:p>
            <a:r>
              <a:rPr lang="en-US" dirty="0"/>
              <a:t>Terraform supports reusable configuration components called modules that define configurable collections of infrastructure, saving time and encouraging best practices. </a:t>
            </a:r>
          </a:p>
          <a:p>
            <a:endParaRPr lang="en-US" dirty="0"/>
          </a:p>
          <a:p>
            <a:r>
              <a:rPr lang="en-US" dirty="0"/>
              <a:t>You can use publicly available modules from the Terraform Registry, or write your own.</a:t>
            </a:r>
          </a:p>
          <a:p>
            <a:endParaRPr lang="en-US" dirty="0"/>
          </a:p>
        </p:txBody>
      </p:sp>
    </p:spTree>
    <p:extLst>
      <p:ext uri="{BB962C8B-B14F-4D97-AF65-F5344CB8AC3E}">
        <p14:creationId xmlns:p14="http://schemas.microsoft.com/office/powerpoint/2010/main" val="381895283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9" y="868218"/>
            <a:ext cx="9996055" cy="5308745"/>
          </a:xfrm>
        </p:spPr>
        <p:txBody>
          <a:bodyPr>
            <a:normAutofit/>
          </a:bodyPr>
          <a:lstStyle/>
          <a:p>
            <a:pPr marL="0" indent="0">
              <a:buNone/>
            </a:pPr>
            <a:r>
              <a:rPr lang="en-US" b="1" dirty="0"/>
              <a:t>Collaborate</a:t>
            </a:r>
          </a:p>
          <a:p>
            <a:endParaRPr lang="en-US" dirty="0"/>
          </a:p>
          <a:p>
            <a:r>
              <a:rPr lang="en-US" dirty="0"/>
              <a:t>Since your configuration is written in a file, you can commit it to a Version Control System (VCS) and use Terraform Cloud to efficiently manage Terraform workflows across teams.</a:t>
            </a:r>
          </a:p>
          <a:p>
            <a:endParaRPr lang="en-US" dirty="0"/>
          </a:p>
          <a:p>
            <a:r>
              <a:rPr lang="en-US" dirty="0"/>
              <a:t>Terraform Cloud runs Terraform in a consistent, reliable environment and provides secure access to shared state and secret data, role-based access controls, a private registry for sharing both modules and providers, and more.</a:t>
            </a:r>
          </a:p>
          <a:p>
            <a:endParaRPr lang="en-US" dirty="0"/>
          </a:p>
        </p:txBody>
      </p:sp>
    </p:spTree>
    <p:extLst>
      <p:ext uri="{BB962C8B-B14F-4D97-AF65-F5344CB8AC3E}">
        <p14:creationId xmlns:p14="http://schemas.microsoft.com/office/powerpoint/2010/main" val="265717360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User Cases</a:t>
            </a:r>
          </a:p>
        </p:txBody>
      </p:sp>
      <p:sp>
        <p:nvSpPr>
          <p:cNvPr id="3" name="Content Placeholder 2"/>
          <p:cNvSpPr>
            <a:spLocks noGrp="1"/>
          </p:cNvSpPr>
          <p:nvPr>
            <p:ph sz="half" idx="1"/>
          </p:nvPr>
        </p:nvSpPr>
        <p:spPr>
          <a:xfrm>
            <a:off x="838200" y="1468582"/>
            <a:ext cx="10515600" cy="4708381"/>
          </a:xfrm>
        </p:spPr>
        <p:txBody>
          <a:bodyPr>
            <a:normAutofit lnSpcReduction="10000"/>
          </a:bodyPr>
          <a:lstStyle/>
          <a:p>
            <a:pPr marL="0" indent="0">
              <a:buNone/>
            </a:pPr>
            <a:r>
              <a:rPr lang="en-US" dirty="0"/>
              <a:t>. Multi-Cloud Deployment</a:t>
            </a:r>
          </a:p>
          <a:p>
            <a:r>
              <a:rPr lang="en-US" dirty="0"/>
              <a:t>Application Infrastructure Deployment, Scaling, and Monitoring Tools.</a:t>
            </a:r>
          </a:p>
          <a:p>
            <a:r>
              <a:rPr lang="en-US" dirty="0"/>
              <a:t>Self-Service Clusters. </a:t>
            </a:r>
          </a:p>
          <a:p>
            <a:r>
              <a:rPr lang="en-US" dirty="0"/>
              <a:t>Policy Compliance and Management.</a:t>
            </a:r>
          </a:p>
          <a:p>
            <a:r>
              <a:rPr lang="en-US" dirty="0"/>
              <a:t>PaaS Application Setup</a:t>
            </a:r>
          </a:p>
          <a:p>
            <a:r>
              <a:rPr lang="en-US" dirty="0"/>
              <a:t>Software Defined Networking</a:t>
            </a:r>
          </a:p>
          <a:p>
            <a:pPr marL="0" indent="0">
              <a:buNone/>
            </a:pPr>
            <a:r>
              <a:rPr lang="en-US" b="1" dirty="0"/>
              <a:t>Kubernetes</a:t>
            </a:r>
          </a:p>
          <a:p>
            <a:r>
              <a:rPr lang="en-US" dirty="0"/>
              <a:t>Kubernetes is an open-source workload scheduler for containerized applications. Terraform lets you both deploy a Kubernetes cluster and manage its resources</a:t>
            </a:r>
          </a:p>
        </p:txBody>
      </p:sp>
    </p:spTree>
    <p:extLst>
      <p:ext uri="{BB962C8B-B14F-4D97-AF65-F5344CB8AC3E}">
        <p14:creationId xmlns:p14="http://schemas.microsoft.com/office/powerpoint/2010/main" val="350200925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5855"/>
            <a:ext cx="10515600" cy="914833"/>
          </a:xfrm>
        </p:spPr>
        <p:txBody>
          <a:bodyPr>
            <a:normAutofit fontScale="90000"/>
          </a:bodyPr>
          <a:lstStyle/>
          <a:p>
            <a:r>
              <a:rPr lang="en-US" b="1" dirty="0"/>
              <a:t>What is terraforming in AWS?</a:t>
            </a:r>
            <a:br>
              <a:rPr lang="en-US" dirty="0"/>
            </a:br>
            <a:endParaRPr lang="en-US" dirty="0"/>
          </a:p>
        </p:txBody>
      </p:sp>
      <p:sp>
        <p:nvSpPr>
          <p:cNvPr id="3" name="Content Placeholder 2"/>
          <p:cNvSpPr>
            <a:spLocks noGrp="1"/>
          </p:cNvSpPr>
          <p:nvPr>
            <p:ph sz="half" idx="1"/>
          </p:nvPr>
        </p:nvSpPr>
        <p:spPr>
          <a:xfrm>
            <a:off x="838200" y="1825625"/>
            <a:ext cx="10515600" cy="4351338"/>
          </a:xfrm>
        </p:spPr>
        <p:txBody>
          <a:bodyPr/>
          <a:lstStyle/>
          <a:p>
            <a:endParaRPr lang="en-US" dirty="0"/>
          </a:p>
          <a:p>
            <a:r>
              <a:rPr lang="en-US" dirty="0"/>
              <a:t>Terraform allows you to reference output variables from one module for use in different modules. </a:t>
            </a:r>
          </a:p>
          <a:p>
            <a:endParaRPr lang="en-US" dirty="0"/>
          </a:p>
          <a:p>
            <a:r>
              <a:rPr lang="en-US" dirty="0"/>
              <a:t>The benefit is that you can create multiple, smaller Terraform files grouped by function or service as opposed to one large file with potentially hundreds or thousands of lines of code.</a:t>
            </a:r>
          </a:p>
        </p:txBody>
      </p:sp>
    </p:spTree>
    <p:extLst>
      <p:ext uri="{BB962C8B-B14F-4D97-AF65-F5344CB8AC3E}">
        <p14:creationId xmlns:p14="http://schemas.microsoft.com/office/powerpoint/2010/main" val="132847067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lowchart: Document 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786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B4AA3C-B48A-34F7-846A-D90571D17B8C}"/>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b="1" kern="1200">
                <a:solidFill>
                  <a:srgbClr val="FFFFFF"/>
                </a:solidFill>
                <a:latin typeface="+mj-lt"/>
                <a:ea typeface="+mj-ea"/>
                <a:cs typeface="+mj-cs"/>
              </a:rPr>
              <a:t>Service Discovery</a:t>
            </a:r>
          </a:p>
        </p:txBody>
      </p:sp>
      <p:pic>
        <p:nvPicPr>
          <p:cNvPr id="5" name="Content Placeholder 4">
            <a:extLst>
              <a:ext uri="{FF2B5EF4-FFF2-40B4-BE49-F238E27FC236}">
                <a16:creationId xmlns:a16="http://schemas.microsoft.com/office/drawing/2014/main" id="{E543F4E0-ED02-B57F-5F21-90B65FCFB220}"/>
              </a:ext>
            </a:extLst>
          </p:cNvPr>
          <p:cNvPicPr>
            <a:picLocks noGrp="1" noChangeAspect="1"/>
          </p:cNvPicPr>
          <p:nvPr>
            <p:ph sz="half" idx="1"/>
          </p:nvPr>
        </p:nvPicPr>
        <p:blipFill>
          <a:blip r:embed="rId2"/>
          <a:stretch>
            <a:fillRect/>
          </a:stretch>
        </p:blipFill>
        <p:spPr>
          <a:xfrm>
            <a:off x="4207933" y="674162"/>
            <a:ext cx="7347537" cy="5510652"/>
          </a:xfrm>
          <a:prstGeom prst="rect">
            <a:avLst/>
          </a:prstGeom>
        </p:spPr>
      </p:pic>
    </p:spTree>
    <p:extLst>
      <p:ext uri="{BB962C8B-B14F-4D97-AF65-F5344CB8AC3E}">
        <p14:creationId xmlns:p14="http://schemas.microsoft.com/office/powerpoint/2010/main" val="186739333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Custom Resource definition (CRD)</a:t>
            </a:r>
          </a:p>
        </p:txBody>
      </p:sp>
      <p:sp>
        <p:nvSpPr>
          <p:cNvPr id="3" name="Content Placeholder 2"/>
          <p:cNvSpPr>
            <a:spLocks noGrp="1"/>
          </p:cNvSpPr>
          <p:nvPr>
            <p:ph sz="half" idx="1"/>
          </p:nvPr>
        </p:nvSpPr>
        <p:spPr>
          <a:xfrm>
            <a:off x="838200" y="1825625"/>
            <a:ext cx="10515600" cy="4351338"/>
          </a:xfrm>
        </p:spPr>
        <p:txBody>
          <a:bodyPr/>
          <a:lstStyle/>
          <a:p>
            <a:r>
              <a:rPr lang="en-US" b="1" dirty="0"/>
              <a:t>Custom  resource definitions </a:t>
            </a:r>
            <a:r>
              <a:rPr lang="en-US" dirty="0"/>
              <a:t>lets you extend the kubernetes API</a:t>
            </a:r>
          </a:p>
          <a:p>
            <a:r>
              <a:rPr lang="en-US" dirty="0"/>
              <a:t>Resource are the endpoints in the kubernetes API that store collections of API objects.</a:t>
            </a:r>
          </a:p>
          <a:p>
            <a:r>
              <a:rPr lang="en-US" dirty="0"/>
              <a:t>For example, there is the built in deployment resource, that you can use to deploy applications </a:t>
            </a:r>
          </a:p>
          <a:p>
            <a:r>
              <a:rPr lang="en-US" dirty="0"/>
              <a:t>In the </a:t>
            </a:r>
            <a:r>
              <a:rPr lang="en-US" dirty="0" err="1"/>
              <a:t>yaml</a:t>
            </a:r>
            <a:r>
              <a:rPr lang="en-US" dirty="0"/>
              <a:t> files you describe the object, using the deployment resource type</a:t>
            </a:r>
          </a:p>
          <a:p>
            <a:r>
              <a:rPr lang="en-US" dirty="0"/>
              <a:t>You create the object on the cluster by using kubectl</a:t>
            </a:r>
          </a:p>
        </p:txBody>
      </p:sp>
    </p:spTree>
    <p:extLst>
      <p:ext uri="{BB962C8B-B14F-4D97-AF65-F5344CB8AC3E}">
        <p14:creationId xmlns:p14="http://schemas.microsoft.com/office/powerpoint/2010/main" val="284592242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Custom resource definitions (CRD)</a:t>
            </a:r>
          </a:p>
        </p:txBody>
      </p:sp>
      <p:sp>
        <p:nvSpPr>
          <p:cNvPr id="3" name="Content Placeholder 2"/>
          <p:cNvSpPr>
            <a:spLocks noGrp="1"/>
          </p:cNvSpPr>
          <p:nvPr>
            <p:ph sz="half" idx="1"/>
          </p:nvPr>
        </p:nvSpPr>
        <p:spPr>
          <a:xfrm>
            <a:off x="838200" y="1825625"/>
            <a:ext cx="10515600" cy="4351338"/>
          </a:xfrm>
        </p:spPr>
        <p:txBody>
          <a:bodyPr>
            <a:normAutofit/>
          </a:bodyPr>
          <a:lstStyle/>
          <a:p>
            <a:r>
              <a:rPr lang="en-US" dirty="0"/>
              <a:t>A custom resource is a resource that you might add to cluster, it’s  not available on every cluster </a:t>
            </a:r>
          </a:p>
          <a:p>
            <a:endParaRPr lang="en-US" dirty="0"/>
          </a:p>
          <a:p>
            <a:r>
              <a:rPr lang="en-US" dirty="0"/>
              <a:t>It’s an extension of the kubernetes API</a:t>
            </a:r>
          </a:p>
          <a:p>
            <a:endParaRPr lang="en-US" dirty="0"/>
          </a:p>
          <a:p>
            <a:r>
              <a:rPr lang="en-US" dirty="0"/>
              <a:t>Custom resource are also described in yam files</a:t>
            </a:r>
          </a:p>
          <a:p>
            <a:endParaRPr lang="en-US" dirty="0"/>
          </a:p>
          <a:p>
            <a:r>
              <a:rPr lang="en-US" dirty="0"/>
              <a:t>As an administrator you can dynamically add CRDs to add extra functionality to your cluster.</a:t>
            </a:r>
          </a:p>
        </p:txBody>
      </p:sp>
    </p:spTree>
    <p:extLst>
      <p:ext uri="{BB962C8B-B14F-4D97-AF65-F5344CB8AC3E}">
        <p14:creationId xmlns:p14="http://schemas.microsoft.com/office/powerpoint/2010/main" val="309678614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8584"/>
          </a:xfrm>
        </p:spPr>
        <p:txBody>
          <a:bodyPr>
            <a:normAutofit fontScale="90000"/>
          </a:bodyPr>
          <a:lstStyle/>
          <a:p>
            <a:r>
              <a:rPr lang="en-US" dirty="0"/>
              <a:t>Kubernetes Operator</a:t>
            </a:r>
          </a:p>
        </p:txBody>
      </p:sp>
      <p:sp>
        <p:nvSpPr>
          <p:cNvPr id="3" name="Content Placeholder 2"/>
          <p:cNvSpPr>
            <a:spLocks noGrp="1"/>
          </p:cNvSpPr>
          <p:nvPr>
            <p:ph sz="half" idx="1"/>
          </p:nvPr>
        </p:nvSpPr>
        <p:spPr>
          <a:xfrm>
            <a:off x="838200" y="1496291"/>
            <a:ext cx="10515600" cy="4680672"/>
          </a:xfrm>
        </p:spPr>
        <p:txBody>
          <a:bodyPr/>
          <a:lstStyle/>
          <a:p>
            <a:r>
              <a:rPr lang="en-US" dirty="0"/>
              <a:t>A Kubernetes operator is a method of packaging, deploying, and managing a Kubernetes application.</a:t>
            </a:r>
          </a:p>
          <a:p>
            <a:r>
              <a:rPr lang="en-US" dirty="0"/>
              <a:t> A Kubernetes application is both deployed on Kubernetes and managed using the Kubernetes API (application programming interface) and kubectl tooling.</a:t>
            </a:r>
          </a:p>
          <a:p>
            <a:r>
              <a:rPr lang="en-US" dirty="0"/>
              <a:t>A Kubernetes operator is an application-specific controller that extends the functionality of the Kubernetes API to create, configure, and manage instances of complex applications on behalf of a Kubernetes user.</a:t>
            </a:r>
          </a:p>
        </p:txBody>
      </p:sp>
    </p:spTree>
    <p:extLst>
      <p:ext uri="{BB962C8B-B14F-4D97-AF65-F5344CB8AC3E}">
        <p14:creationId xmlns:p14="http://schemas.microsoft.com/office/powerpoint/2010/main" val="300840852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Kubernetes operator</a:t>
            </a:r>
          </a:p>
        </p:txBody>
      </p:sp>
      <p:sp>
        <p:nvSpPr>
          <p:cNvPr id="3" name="Content Placeholder 2"/>
          <p:cNvSpPr>
            <a:spLocks noGrp="1"/>
          </p:cNvSpPr>
          <p:nvPr>
            <p:ph sz="half" idx="1"/>
          </p:nvPr>
        </p:nvSpPr>
        <p:spPr>
          <a:xfrm>
            <a:off x="838200" y="1825625"/>
            <a:ext cx="10515600" cy="4351338"/>
          </a:xfrm>
        </p:spPr>
        <p:txBody>
          <a:bodyPr/>
          <a:lstStyle/>
          <a:p>
            <a:r>
              <a:rPr lang="en-US" dirty="0"/>
              <a:t>In Kubernetes, controllers of the control plane implement control loops that repeatedly compare the desired state of the cluster to its actual state. If the cluster's actual state doesn’t match the desired state, then the controller takes action to fix the problem. </a:t>
            </a:r>
          </a:p>
          <a:p>
            <a:endParaRPr lang="en-US" dirty="0"/>
          </a:p>
          <a:p>
            <a:r>
              <a:rPr lang="en-US" dirty="0"/>
              <a:t>An operator is a custom Kubernetes controller that uses custom resources (CR) to manage applications and their components. High-level configuration and settings are provided by the user within a CR.</a:t>
            </a:r>
          </a:p>
        </p:txBody>
      </p:sp>
    </p:spTree>
    <p:extLst>
      <p:ext uri="{BB962C8B-B14F-4D97-AF65-F5344CB8AC3E}">
        <p14:creationId xmlns:p14="http://schemas.microsoft.com/office/powerpoint/2010/main" val="311244732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a:t>
            </a:r>
          </a:p>
        </p:txBody>
      </p:sp>
      <p:sp>
        <p:nvSpPr>
          <p:cNvPr id="3" name="Content Placeholder 2"/>
          <p:cNvSpPr>
            <a:spLocks noGrp="1"/>
          </p:cNvSpPr>
          <p:nvPr>
            <p:ph sz="half" idx="1"/>
          </p:nvPr>
        </p:nvSpPr>
        <p:spPr>
          <a:xfrm>
            <a:off x="838200" y="1825625"/>
            <a:ext cx="10515600" cy="4351338"/>
          </a:xfrm>
        </p:spPr>
        <p:txBody>
          <a:bodyPr/>
          <a:lstStyle/>
          <a:p>
            <a:r>
              <a:rPr lang="en-US" dirty="0"/>
              <a:t>A custom resource is the API extension mechanism in Kubernetes. A custom resource definition (CRD) defines a CR and lists out all of the configuration available to users of the operator. </a:t>
            </a:r>
          </a:p>
          <a:p>
            <a:endParaRPr lang="en-US" dirty="0"/>
          </a:p>
          <a:p>
            <a:r>
              <a:rPr lang="en-US" dirty="0"/>
              <a:t>The Kubernetes operator watches a CR type and takes application-specific actions to make the current state match the desired state in that resource.</a:t>
            </a:r>
          </a:p>
        </p:txBody>
      </p:sp>
    </p:spTree>
    <p:extLst>
      <p:ext uri="{BB962C8B-B14F-4D97-AF65-F5344CB8AC3E}">
        <p14:creationId xmlns:p14="http://schemas.microsoft.com/office/powerpoint/2010/main" val="74850252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a:t>
            </a:r>
          </a:p>
        </p:txBody>
      </p:sp>
      <p:sp>
        <p:nvSpPr>
          <p:cNvPr id="3" name="Content Placeholder 2"/>
          <p:cNvSpPr>
            <a:spLocks noGrp="1"/>
          </p:cNvSpPr>
          <p:nvPr>
            <p:ph sz="half" idx="1"/>
          </p:nvPr>
        </p:nvSpPr>
        <p:spPr>
          <a:xfrm>
            <a:off x="838200" y="1825625"/>
            <a:ext cx="10515600" cy="4351338"/>
          </a:xfrm>
        </p:spPr>
        <p:txBody>
          <a:bodyPr/>
          <a:lstStyle/>
          <a:p>
            <a:r>
              <a:rPr lang="en-US" dirty="0"/>
              <a:t>Kubernetes operators introduce new object types through custom resource definitions. Custom resource definitions can be handled by the Kubernetes API just like built-in objects, including interaction via kubectl and inclusion in role-based access control (RBAC) policies.</a:t>
            </a:r>
          </a:p>
          <a:p>
            <a:endParaRPr lang="en-US" dirty="0"/>
          </a:p>
          <a:p>
            <a:r>
              <a:rPr lang="en-US" dirty="0"/>
              <a:t>A Kubernetes operator continues to monitor its application as it runs, and can back up data, recover from failures, and upgrade the application over time, automatically. </a:t>
            </a:r>
          </a:p>
        </p:txBody>
      </p:sp>
    </p:spTree>
    <p:extLst>
      <p:ext uri="{BB962C8B-B14F-4D97-AF65-F5344CB8AC3E}">
        <p14:creationId xmlns:p14="http://schemas.microsoft.com/office/powerpoint/2010/main" val="105452157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 framework</a:t>
            </a:r>
          </a:p>
        </p:txBody>
      </p:sp>
      <p:sp>
        <p:nvSpPr>
          <p:cNvPr id="3" name="Content Placeholder 2"/>
          <p:cNvSpPr>
            <a:spLocks noGrp="1"/>
          </p:cNvSpPr>
          <p:nvPr>
            <p:ph sz="half" idx="1"/>
          </p:nvPr>
        </p:nvSpPr>
        <p:spPr>
          <a:xfrm>
            <a:off x="838200" y="1560946"/>
            <a:ext cx="10430164" cy="4913746"/>
          </a:xfrm>
        </p:spPr>
        <p:txBody>
          <a:bodyPr>
            <a:normAutofit fontScale="92500" lnSpcReduction="10000"/>
          </a:bodyPr>
          <a:lstStyle/>
          <a:p>
            <a:pPr marL="0" indent="0">
              <a:buNone/>
            </a:pPr>
            <a:endParaRPr lang="en-US" dirty="0"/>
          </a:p>
          <a:p>
            <a:r>
              <a:rPr lang="en-US" sz="2600" dirty="0"/>
              <a:t>The Operator Framework is an open source project that provides developer and runtime Kubernetes tools, enabling you to accelerate the development of an operator.</a:t>
            </a:r>
          </a:p>
          <a:p>
            <a:endParaRPr lang="en-US" dirty="0"/>
          </a:p>
          <a:p>
            <a:pPr marL="0" indent="0">
              <a:buNone/>
            </a:pPr>
            <a:r>
              <a:rPr lang="en-US" dirty="0"/>
              <a:t>The Operator Framework includes:</a:t>
            </a:r>
          </a:p>
          <a:p>
            <a:r>
              <a:rPr lang="en-US" sz="2600" b="1" dirty="0"/>
              <a:t>Operator SDK</a:t>
            </a:r>
            <a:r>
              <a:rPr lang="en-US" sz="2600" dirty="0"/>
              <a:t>: Enables developers to build operators based on their expertise without requiring knowledge of Kubernetes API complexities.</a:t>
            </a:r>
          </a:p>
          <a:p>
            <a:r>
              <a:rPr lang="en-US" sz="2600" b="1" dirty="0"/>
              <a:t>Operator Lifecycle Management: </a:t>
            </a:r>
            <a:r>
              <a:rPr lang="en-US" sz="2600" dirty="0"/>
              <a:t>Oversees installation, updates, and management of the lifecycle of all of the operators running across a Kubernetes cluster.</a:t>
            </a:r>
          </a:p>
          <a:p>
            <a:r>
              <a:rPr lang="en-US" sz="2600" b="1" dirty="0"/>
              <a:t>Operator Metering: </a:t>
            </a:r>
            <a:r>
              <a:rPr lang="en-US" sz="2600" dirty="0"/>
              <a:t>Enables usage reporting for operators that provide specialized services.</a:t>
            </a:r>
          </a:p>
        </p:txBody>
      </p:sp>
    </p:spTree>
    <p:extLst>
      <p:ext uri="{BB962C8B-B14F-4D97-AF65-F5344CB8AC3E}">
        <p14:creationId xmlns:p14="http://schemas.microsoft.com/office/powerpoint/2010/main" val="83598404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kubernetes operator </a:t>
            </a:r>
          </a:p>
        </p:txBody>
      </p:sp>
      <p:sp>
        <p:nvSpPr>
          <p:cNvPr id="3" name="Content Placeholder 2"/>
          <p:cNvSpPr>
            <a:spLocks noGrp="1"/>
          </p:cNvSpPr>
          <p:nvPr>
            <p:ph sz="half" idx="1"/>
          </p:nvPr>
        </p:nvSpPr>
        <p:spPr>
          <a:xfrm>
            <a:off x="838200" y="1825625"/>
            <a:ext cx="10515600" cy="4351338"/>
          </a:xfrm>
        </p:spPr>
        <p:txBody>
          <a:bodyPr>
            <a:normAutofit/>
          </a:bodyPr>
          <a:lstStyle/>
          <a:p>
            <a:pPr marL="0" indent="0">
              <a:buNone/>
            </a:pPr>
            <a:r>
              <a:rPr lang="en-US" sz="2400" dirty="0"/>
              <a:t>A Kubernetes operator is designed to extend the capabilities of Kubernetes, and also simplify application management.</a:t>
            </a:r>
          </a:p>
          <a:p>
            <a:pPr marL="0" indent="0">
              <a:buNone/>
            </a:pPr>
            <a:endParaRPr lang="en-US" sz="2400" dirty="0"/>
          </a:p>
          <a:p>
            <a:pPr marL="0" indent="0">
              <a:buNone/>
            </a:pPr>
            <a:r>
              <a:rPr lang="en-US" sz="2400" dirty="0"/>
              <a:t>This is especially useful for </a:t>
            </a:r>
            <a:r>
              <a:rPr lang="en-US" sz="2400" dirty="0" err="1"/>
              <a:t>stateful</a:t>
            </a:r>
            <a:r>
              <a:rPr lang="en-US" sz="2400" dirty="0"/>
              <a:t> applications, which include persistent storage and other elements external to the application, and may require extra work to manage and maintain.</a:t>
            </a:r>
          </a:p>
          <a:p>
            <a:pPr marL="0" indent="0">
              <a:buNone/>
            </a:pPr>
            <a:endParaRPr lang="en-US" sz="2400" dirty="0"/>
          </a:p>
          <a:p>
            <a:pPr marL="0" indent="0">
              <a:buNone/>
            </a:pPr>
            <a:r>
              <a:rPr lang="en-US" sz="2400" dirty="0"/>
              <a:t>Kubernetes operators enable you to easily extend Kubernetes capabilities for specific software and use cases. </a:t>
            </a:r>
          </a:p>
          <a:p>
            <a:r>
              <a:rPr lang="en-US" sz="2400" dirty="0"/>
              <a:t>For example, database operators let a Kubernetes user securely deploy and manage specific databases. </a:t>
            </a:r>
          </a:p>
        </p:txBody>
      </p:sp>
    </p:spTree>
    <p:extLst>
      <p:ext uri="{BB962C8B-B14F-4D97-AF65-F5344CB8AC3E}">
        <p14:creationId xmlns:p14="http://schemas.microsoft.com/office/powerpoint/2010/main" val="365431767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Kubernetes operator workflow</a:t>
            </a:r>
          </a:p>
        </p:txBody>
      </p:sp>
      <p:sp>
        <p:nvSpPr>
          <p:cNvPr id="3" name="Content Placeholder 2"/>
          <p:cNvSpPr>
            <a:spLocks noGrp="1"/>
          </p:cNvSpPr>
          <p:nvPr>
            <p:ph sz="half" idx="1"/>
          </p:nvPr>
        </p:nvSpPr>
        <p:spPr>
          <a:xfrm>
            <a:off x="838200" y="1825625"/>
            <a:ext cx="10515600" cy="4351338"/>
          </a:xfrm>
        </p:spPr>
        <p:txBody>
          <a:bodyPr/>
          <a:lstStyle/>
          <a:p>
            <a:pPr marL="0" indent="0">
              <a:buNone/>
            </a:pPr>
            <a:endParaRPr lang="en-US" dirty="0"/>
          </a:p>
          <a:p>
            <a:r>
              <a:rPr lang="en-US" dirty="0"/>
              <a:t>User makes changes to a CRD</a:t>
            </a:r>
          </a:p>
          <a:p>
            <a:r>
              <a:rPr lang="en-US" dirty="0"/>
              <a:t>The operator tracks the CRD and identifies change events</a:t>
            </a:r>
          </a:p>
          <a:p>
            <a:r>
              <a:rPr lang="en-US" dirty="0"/>
              <a:t>The operator reconciles the CRD state with the desired state</a:t>
            </a:r>
          </a:p>
          <a:p>
            <a:r>
              <a:rPr lang="en-US" dirty="0"/>
              <a:t>The operator adjusts cluster state to the desired state</a:t>
            </a:r>
          </a:p>
        </p:txBody>
      </p:sp>
    </p:spTree>
    <p:extLst>
      <p:ext uri="{BB962C8B-B14F-4D97-AF65-F5344CB8AC3E}">
        <p14:creationId xmlns:p14="http://schemas.microsoft.com/office/powerpoint/2010/main" val="213225890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Operators </a:t>
            </a:r>
          </a:p>
        </p:txBody>
      </p:sp>
      <p:sp>
        <p:nvSpPr>
          <p:cNvPr id="3" name="Content Placeholder 2"/>
          <p:cNvSpPr>
            <a:spLocks noGrp="1"/>
          </p:cNvSpPr>
          <p:nvPr>
            <p:ph sz="half" idx="1"/>
          </p:nvPr>
        </p:nvSpPr>
        <p:spPr>
          <a:xfrm>
            <a:off x="838200" y="1825625"/>
            <a:ext cx="10515600" cy="4351338"/>
          </a:xfrm>
        </p:spPr>
        <p:txBody>
          <a:bodyPr/>
          <a:lstStyle/>
          <a:p>
            <a:pPr marL="0" indent="0">
              <a:buNone/>
            </a:pPr>
            <a:r>
              <a:rPr lang="en-US" sz="2400" b="1" dirty="0"/>
              <a:t>RBAC Manager Operator</a:t>
            </a:r>
          </a:p>
          <a:p>
            <a:r>
              <a:rPr lang="en-US" sz="2400" dirty="0"/>
              <a:t>This Kubernetes operator was designed by </a:t>
            </a:r>
            <a:r>
              <a:rPr lang="en-US" sz="2400" dirty="0" err="1"/>
              <a:t>Fairwinds</a:t>
            </a:r>
            <a:r>
              <a:rPr lang="en-US" sz="2400" dirty="0"/>
              <a:t> to simplify the use of RBAC on Kubernetes. RBAC Manager can help you easily set up and manage RBAC configurations with minimal manual work. </a:t>
            </a:r>
          </a:p>
          <a:p>
            <a:endParaRPr lang="en-US" sz="2400" dirty="0"/>
          </a:p>
          <a:p>
            <a:pPr marL="0" indent="0">
              <a:buNone/>
            </a:pPr>
            <a:r>
              <a:rPr lang="en-US" sz="2400" b="1" dirty="0" err="1"/>
              <a:t>Istio</a:t>
            </a:r>
            <a:r>
              <a:rPr lang="en-US" sz="2400" b="1" dirty="0"/>
              <a:t> Operator</a:t>
            </a:r>
          </a:p>
          <a:p>
            <a:r>
              <a:rPr lang="en-US" sz="2400" dirty="0"/>
              <a:t>This is a popular mesh tool that can help you orchestrate, secure, monitor, and manage communications across all </a:t>
            </a:r>
            <a:r>
              <a:rPr lang="en-US" sz="2400" dirty="0" err="1"/>
              <a:t>microservices</a:t>
            </a:r>
            <a:r>
              <a:rPr lang="en-US" sz="2400" dirty="0"/>
              <a:t> deployed on Kubernetes. </a:t>
            </a:r>
          </a:p>
          <a:p>
            <a:pPr marL="0" indent="0">
              <a:buNone/>
            </a:pPr>
            <a:endParaRPr lang="en-US" dirty="0"/>
          </a:p>
        </p:txBody>
      </p:sp>
    </p:spTree>
    <p:extLst>
      <p:ext uri="{BB962C8B-B14F-4D97-AF65-F5344CB8AC3E}">
        <p14:creationId xmlns:p14="http://schemas.microsoft.com/office/powerpoint/2010/main" val="354756920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Operators</a:t>
            </a:r>
          </a:p>
        </p:txBody>
      </p:sp>
      <p:sp>
        <p:nvSpPr>
          <p:cNvPr id="3" name="Content Placeholder 2"/>
          <p:cNvSpPr>
            <a:spLocks noGrp="1"/>
          </p:cNvSpPr>
          <p:nvPr>
            <p:ph sz="half" idx="1"/>
          </p:nvPr>
        </p:nvSpPr>
        <p:spPr>
          <a:xfrm>
            <a:off x="838200" y="1825625"/>
            <a:ext cx="10515600" cy="4351338"/>
          </a:xfrm>
        </p:spPr>
        <p:txBody>
          <a:bodyPr>
            <a:normAutofit/>
          </a:bodyPr>
          <a:lstStyle/>
          <a:p>
            <a:pPr marL="0" indent="0">
              <a:buNone/>
            </a:pPr>
            <a:r>
              <a:rPr lang="en-US" sz="2400" b="1" dirty="0"/>
              <a:t>Starboard Operator</a:t>
            </a:r>
          </a:p>
          <a:p>
            <a:r>
              <a:rPr lang="en-US" sz="2400" dirty="0"/>
              <a:t>Starboard integrates security tools into the Kubernetes environment, allowing users to natively find and view risks associated with various resources in Kubernetes.</a:t>
            </a:r>
          </a:p>
          <a:p>
            <a:endParaRPr lang="en-US" sz="2400" dirty="0"/>
          </a:p>
          <a:p>
            <a:r>
              <a:rPr lang="en-US" sz="2400" dirty="0"/>
              <a:t>This operator automatically updates the security report resource in response to Kubernetes cluster workloads and other changes. For example, starting a new pod initiates a vulnerability scan and configuration audit</a:t>
            </a:r>
          </a:p>
        </p:txBody>
      </p:sp>
    </p:spTree>
    <p:extLst>
      <p:ext uri="{BB962C8B-B14F-4D97-AF65-F5344CB8AC3E}">
        <p14:creationId xmlns:p14="http://schemas.microsoft.com/office/powerpoint/2010/main" val="256436833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Operators</a:t>
            </a:r>
          </a:p>
        </p:txBody>
      </p:sp>
      <p:sp>
        <p:nvSpPr>
          <p:cNvPr id="3" name="Content Placeholder 2"/>
          <p:cNvSpPr>
            <a:spLocks noGrp="1"/>
          </p:cNvSpPr>
          <p:nvPr>
            <p:ph sz="half" idx="1"/>
          </p:nvPr>
        </p:nvSpPr>
        <p:spPr>
          <a:xfrm>
            <a:off x="838199" y="1825625"/>
            <a:ext cx="10605655" cy="4351338"/>
          </a:xfrm>
        </p:spPr>
        <p:txBody>
          <a:bodyPr>
            <a:normAutofit/>
          </a:bodyPr>
          <a:lstStyle/>
          <a:p>
            <a:pPr marL="0" indent="0">
              <a:buNone/>
            </a:pPr>
            <a:r>
              <a:rPr lang="en-US" sz="2400" b="1" dirty="0"/>
              <a:t>HPA Kubernetes Operator</a:t>
            </a:r>
          </a:p>
          <a:p>
            <a:pPr marL="0" indent="0">
              <a:buNone/>
            </a:pPr>
            <a:endParaRPr lang="en-US" sz="2400" dirty="0"/>
          </a:p>
          <a:p>
            <a:r>
              <a:rPr lang="en-US" sz="2400" dirty="0"/>
              <a:t>This operator was designed by Banzai cloud to help you add pod </a:t>
            </a:r>
            <a:r>
              <a:rPr lang="en-US" sz="2400" dirty="0" err="1"/>
              <a:t>autoscaling</a:t>
            </a:r>
            <a:r>
              <a:rPr lang="en-US" sz="2400" dirty="0"/>
              <a:t> functionalities to your Helm charts. </a:t>
            </a:r>
          </a:p>
          <a:p>
            <a:endParaRPr lang="en-US" sz="2400" dirty="0"/>
          </a:p>
          <a:p>
            <a:r>
              <a:rPr lang="en-US" sz="2400" dirty="0"/>
              <a:t>The Horizontal Pod </a:t>
            </a:r>
            <a:r>
              <a:rPr lang="en-US" sz="2400" dirty="0" err="1"/>
              <a:t>Autoscaler</a:t>
            </a:r>
            <a:r>
              <a:rPr lang="en-US" sz="2400" dirty="0"/>
              <a:t> (HPA) operator tracks Deployments or </a:t>
            </a:r>
            <a:r>
              <a:rPr lang="en-US" sz="2400" dirty="0" err="1"/>
              <a:t>StatefulSets</a:t>
            </a:r>
            <a:r>
              <a:rPr lang="en-US" sz="2400" dirty="0"/>
              <a:t>, and then automatically deletes, updates, or creates HPAs according to predefined annotations located in the configuration file.</a:t>
            </a:r>
          </a:p>
        </p:txBody>
      </p:sp>
    </p:spTree>
    <p:extLst>
      <p:ext uri="{BB962C8B-B14F-4D97-AF65-F5344CB8AC3E}">
        <p14:creationId xmlns:p14="http://schemas.microsoft.com/office/powerpoint/2010/main" val="39665278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Kubernetes Service mesh</a:t>
            </a:r>
          </a:p>
        </p:txBody>
      </p:sp>
      <p:sp>
        <p:nvSpPr>
          <p:cNvPr id="3" name="Content Placeholder 2"/>
          <p:cNvSpPr>
            <a:spLocks noGrp="1"/>
          </p:cNvSpPr>
          <p:nvPr>
            <p:ph sz="half" idx="1"/>
          </p:nvPr>
        </p:nvSpPr>
        <p:spPr>
          <a:xfrm>
            <a:off x="838200" y="1690688"/>
            <a:ext cx="10515600" cy="4811712"/>
          </a:xfrm>
        </p:spPr>
        <p:txBody>
          <a:bodyPr>
            <a:noAutofit/>
          </a:bodyPr>
          <a:lstStyle/>
          <a:p>
            <a:pPr marL="0" indent="0">
              <a:buNone/>
            </a:pPr>
            <a:r>
              <a:rPr lang="en-US" sz="2400" dirty="0"/>
              <a:t>A Kubernetes service mesh is a tool that inserts security, observability, and reliability features to applications at the platform layer instead of the application layer</a:t>
            </a:r>
            <a:endParaRPr lang="en-US" sz="2400" b="1" dirty="0"/>
          </a:p>
          <a:p>
            <a:pPr marL="0" indent="0">
              <a:buNone/>
            </a:pPr>
            <a:r>
              <a:rPr lang="en-US" sz="2400" b="1" dirty="0"/>
              <a:t>Service mesh </a:t>
            </a:r>
            <a:r>
              <a:rPr lang="en-US" sz="2400" dirty="0"/>
              <a:t>allows you to separate the business logic of the application from observability, and network and security policies. It allows you to </a:t>
            </a:r>
            <a:r>
              <a:rPr lang="en-US" sz="2400" b="1" dirty="0"/>
              <a:t>connect, secure</a:t>
            </a:r>
            <a:r>
              <a:rPr lang="en-US" sz="2400" dirty="0"/>
              <a:t>, and</a:t>
            </a:r>
            <a:r>
              <a:rPr lang="en-US" sz="2400" b="1" dirty="0"/>
              <a:t> monitor </a:t>
            </a:r>
            <a:r>
              <a:rPr lang="en-US" sz="2400" dirty="0"/>
              <a:t>your </a:t>
            </a:r>
            <a:r>
              <a:rPr lang="en-US" sz="2400" dirty="0" err="1"/>
              <a:t>microservices</a:t>
            </a:r>
            <a:r>
              <a:rPr lang="en-US" sz="2400" dirty="0"/>
              <a:t>.</a:t>
            </a:r>
          </a:p>
          <a:p>
            <a:pPr marL="0" indent="0">
              <a:buNone/>
            </a:pPr>
            <a:endParaRPr lang="en-US" sz="2400" dirty="0"/>
          </a:p>
          <a:p>
            <a:pPr marL="0" indent="0">
              <a:buNone/>
            </a:pPr>
            <a:r>
              <a:rPr lang="en-US" sz="2400" b="1" dirty="0"/>
              <a:t>Connect: </a:t>
            </a:r>
            <a:r>
              <a:rPr lang="en-US" sz="2400" dirty="0"/>
              <a:t>Service Mesh enables services to discover and talk to each other. It enables intelligent routing to control the flow of traffic and API calls between services/endpoints. These also enable advanced deployment strategies such as blue/green, canaries or rolling upgrades, and more.</a:t>
            </a:r>
          </a:p>
        </p:txBody>
      </p:sp>
    </p:spTree>
    <p:extLst>
      <p:ext uri="{BB962C8B-B14F-4D97-AF65-F5344CB8AC3E}">
        <p14:creationId xmlns:p14="http://schemas.microsoft.com/office/powerpoint/2010/main" val="129179460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Mesh</a:t>
            </a:r>
          </a:p>
        </p:txBody>
      </p:sp>
      <p:sp>
        <p:nvSpPr>
          <p:cNvPr id="3" name="Content Placeholder 2"/>
          <p:cNvSpPr>
            <a:spLocks noGrp="1"/>
          </p:cNvSpPr>
          <p:nvPr>
            <p:ph sz="half" idx="1"/>
          </p:nvPr>
        </p:nvSpPr>
        <p:spPr>
          <a:xfrm>
            <a:off x="838200" y="1825625"/>
            <a:ext cx="10515600" cy="4351338"/>
          </a:xfrm>
        </p:spPr>
        <p:txBody>
          <a:bodyPr/>
          <a:lstStyle/>
          <a:p>
            <a:pPr marL="0" indent="0">
              <a:buNone/>
            </a:pPr>
            <a:r>
              <a:rPr lang="en-US" sz="2400" b="1" dirty="0"/>
              <a:t>Secure: </a:t>
            </a:r>
            <a:r>
              <a:rPr lang="en-US" sz="2400" dirty="0"/>
              <a:t>Service Mesh allows you secure communication between services. It can enforce policies to allow or deny communication. E.g. you can configure a policy to deny access to production services from a client service running in the development environment.</a:t>
            </a:r>
          </a:p>
          <a:p>
            <a:pPr marL="0" indent="0">
              <a:buNone/>
            </a:pPr>
            <a:endParaRPr lang="en-US" sz="2400" b="1" dirty="0"/>
          </a:p>
          <a:p>
            <a:pPr marL="0" indent="0">
              <a:buNone/>
            </a:pPr>
            <a:r>
              <a:rPr lang="en-US" sz="2400" b="1" dirty="0"/>
              <a:t>Monitor: </a:t>
            </a:r>
            <a:r>
              <a:rPr lang="en-US" sz="2400" dirty="0"/>
              <a:t>Service Mesh enables observability of your distributed </a:t>
            </a:r>
            <a:r>
              <a:rPr lang="en-US" sz="2400" dirty="0" err="1"/>
              <a:t>microservices</a:t>
            </a:r>
            <a:r>
              <a:rPr lang="en-US" sz="2400" dirty="0"/>
              <a:t> system. Service Mesh often integrates out-of-the-box with monitoring and tracing tools (such as Prometheus and Jaeger in the case of Kubernetes) to allow you to discover and visualize dependencies between services, traffic flow, API latencies, and tracing.</a:t>
            </a:r>
          </a:p>
          <a:p>
            <a:endParaRPr lang="en-US" dirty="0"/>
          </a:p>
        </p:txBody>
      </p:sp>
    </p:spTree>
    <p:extLst>
      <p:ext uri="{BB962C8B-B14F-4D97-AF65-F5344CB8AC3E}">
        <p14:creationId xmlns:p14="http://schemas.microsoft.com/office/powerpoint/2010/main" val="290356520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103CC9-4FF1-CB6A-489E-0EE70015AB32}"/>
              </a:ext>
            </a:extLst>
          </p:cNvPr>
          <p:cNvSpPr>
            <a:spLocks noGrp="1"/>
          </p:cNvSpPr>
          <p:nvPr>
            <p:ph type="title"/>
          </p:nvPr>
        </p:nvSpPr>
        <p:spPr/>
        <p:txBody>
          <a:bodyPr/>
          <a:lstStyle/>
          <a:p>
            <a:r>
              <a:rPr lang="en-US" b="1" dirty="0"/>
              <a:t>Service Mesh</a:t>
            </a:r>
          </a:p>
        </p:txBody>
      </p:sp>
      <p:sp>
        <p:nvSpPr>
          <p:cNvPr id="6" name="Content Placeholder 5">
            <a:extLst>
              <a:ext uri="{FF2B5EF4-FFF2-40B4-BE49-F238E27FC236}">
                <a16:creationId xmlns:a16="http://schemas.microsoft.com/office/drawing/2014/main" id="{438A2061-1F69-986F-BB0B-C49441AD6814}"/>
              </a:ext>
            </a:extLst>
          </p:cNvPr>
          <p:cNvSpPr>
            <a:spLocks noGrp="1"/>
          </p:cNvSpPr>
          <p:nvPr>
            <p:ph idx="1"/>
          </p:nvPr>
        </p:nvSpPr>
        <p:spPr/>
        <p:txBody>
          <a:bodyPr/>
          <a:lstStyle/>
          <a:p>
            <a:r>
              <a:rPr lang="en-US" dirty="0"/>
              <a:t>A </a:t>
            </a:r>
            <a:r>
              <a:rPr lang="en-US" b="1" dirty="0"/>
              <a:t>service mesh</a:t>
            </a:r>
            <a:r>
              <a:rPr lang="en-US" dirty="0"/>
              <a:t> is an infrastructure layer that manages </a:t>
            </a:r>
            <a:r>
              <a:rPr lang="en-US" b="1" dirty="0"/>
              <a:t>how microservices communicate</a:t>
            </a:r>
            <a:r>
              <a:rPr lang="en-US" dirty="0"/>
              <a:t> with each other in a distributed application.</a:t>
            </a:r>
          </a:p>
          <a:p>
            <a:endParaRPr lang="en-US" dirty="0"/>
          </a:p>
          <a:p>
            <a:r>
              <a:rPr lang="en-US" dirty="0"/>
              <a:t>Instead of each microservice having to handle things like </a:t>
            </a:r>
            <a:r>
              <a:rPr lang="en-US" b="1" dirty="0"/>
              <a:t>service discovery, load balancing, retries, encryption, and monitoring</a:t>
            </a:r>
            <a:r>
              <a:rPr lang="en-US" dirty="0"/>
              <a:t> itself, the service mesh takes care of it — usually by deploying lightweight network proxies alongside each service.</a:t>
            </a:r>
          </a:p>
          <a:p>
            <a:endParaRPr lang="en-US" dirty="0"/>
          </a:p>
        </p:txBody>
      </p:sp>
    </p:spTree>
    <p:extLst>
      <p:ext uri="{BB962C8B-B14F-4D97-AF65-F5344CB8AC3E}">
        <p14:creationId xmlns:p14="http://schemas.microsoft.com/office/powerpoint/2010/main" val="424342535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8A19-7EFA-51F1-9DCF-05478F1613C9}"/>
              </a:ext>
            </a:extLst>
          </p:cNvPr>
          <p:cNvSpPr>
            <a:spLocks noGrp="1"/>
          </p:cNvSpPr>
          <p:nvPr>
            <p:ph type="title"/>
          </p:nvPr>
        </p:nvSpPr>
        <p:spPr/>
        <p:txBody>
          <a:bodyPr/>
          <a:lstStyle/>
          <a:p>
            <a:r>
              <a:rPr lang="en-US" b="1" dirty="0"/>
              <a:t>Key Idea</a:t>
            </a:r>
          </a:p>
        </p:txBody>
      </p:sp>
      <p:sp>
        <p:nvSpPr>
          <p:cNvPr id="3" name="Content Placeholder 2">
            <a:extLst>
              <a:ext uri="{FF2B5EF4-FFF2-40B4-BE49-F238E27FC236}">
                <a16:creationId xmlns:a16="http://schemas.microsoft.com/office/drawing/2014/main" id="{1FFCAC81-177C-9187-985D-9BB936F269E8}"/>
              </a:ext>
            </a:extLst>
          </p:cNvPr>
          <p:cNvSpPr>
            <a:spLocks noGrp="1"/>
          </p:cNvSpPr>
          <p:nvPr>
            <p:ph idx="1"/>
          </p:nvPr>
        </p:nvSpPr>
        <p:spPr/>
        <p:txBody>
          <a:bodyPr/>
          <a:lstStyle/>
          <a:p>
            <a:endParaRPr lang="en-US" sz="2400" dirty="0"/>
          </a:p>
          <a:p>
            <a:r>
              <a:rPr lang="en-US" sz="2400" dirty="0"/>
              <a:t>Think of a service mesh as a </a:t>
            </a:r>
            <a:r>
              <a:rPr lang="en-US" sz="2400" b="1" dirty="0"/>
              <a:t>traffic controller</a:t>
            </a:r>
            <a:r>
              <a:rPr lang="en-US" sz="2400" dirty="0"/>
              <a:t> for microservices:</a:t>
            </a:r>
          </a:p>
          <a:p>
            <a:r>
              <a:rPr lang="en-US" sz="2400" dirty="0"/>
              <a:t>Each service talks to its </a:t>
            </a:r>
            <a:r>
              <a:rPr lang="en-US" sz="2400" b="1" dirty="0"/>
              <a:t>sidecar proxy</a:t>
            </a:r>
            <a:r>
              <a:rPr lang="en-US" sz="2400" dirty="0"/>
              <a:t> (often Envoy)</a:t>
            </a:r>
          </a:p>
          <a:p>
            <a:r>
              <a:rPr lang="en-US" sz="2400" dirty="0"/>
              <a:t>The proxies talk to each other, handling communication, security, and observability</a:t>
            </a:r>
          </a:p>
          <a:p>
            <a:r>
              <a:rPr lang="en-US" sz="2400" dirty="0"/>
              <a:t>The service code stays focused on </a:t>
            </a:r>
            <a:r>
              <a:rPr lang="en-US" sz="2400" b="1" dirty="0"/>
              <a:t>business logic</a:t>
            </a:r>
            <a:r>
              <a:rPr lang="en-US" sz="2400" dirty="0"/>
              <a:t>, not networking logic</a:t>
            </a:r>
          </a:p>
          <a:p>
            <a:endParaRPr lang="en-US" dirty="0"/>
          </a:p>
        </p:txBody>
      </p:sp>
    </p:spTree>
    <p:extLst>
      <p:ext uri="{BB962C8B-B14F-4D97-AF65-F5344CB8AC3E}">
        <p14:creationId xmlns:p14="http://schemas.microsoft.com/office/powerpoint/2010/main" val="735037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8F22F-8782-B062-D100-C0FC52ED85E3}"/>
              </a:ext>
            </a:extLst>
          </p:cNvPr>
          <p:cNvSpPr>
            <a:spLocks noGrp="1"/>
          </p:cNvSpPr>
          <p:nvPr>
            <p:ph type="title"/>
          </p:nvPr>
        </p:nvSpPr>
        <p:spPr/>
        <p:txBody>
          <a:bodyPr/>
          <a:lstStyle/>
          <a:p>
            <a:r>
              <a:rPr lang="en-US" b="1" dirty="0"/>
              <a:t>Features</a:t>
            </a:r>
          </a:p>
        </p:txBody>
      </p:sp>
      <p:sp>
        <p:nvSpPr>
          <p:cNvPr id="3" name="Content Placeholder 2">
            <a:extLst>
              <a:ext uri="{FF2B5EF4-FFF2-40B4-BE49-F238E27FC236}">
                <a16:creationId xmlns:a16="http://schemas.microsoft.com/office/drawing/2014/main" id="{8024BC9C-B552-3227-C04A-6377E3E42BCB}"/>
              </a:ext>
            </a:extLst>
          </p:cNvPr>
          <p:cNvSpPr>
            <a:spLocks noGrp="1"/>
          </p:cNvSpPr>
          <p:nvPr>
            <p:ph idx="1"/>
          </p:nvPr>
        </p:nvSpPr>
        <p:spPr/>
        <p:txBody>
          <a:bodyPr>
            <a:normAutofit/>
          </a:bodyPr>
          <a:lstStyle/>
          <a:p>
            <a:endParaRPr lang="en-US" sz="2400" dirty="0"/>
          </a:p>
          <a:p>
            <a:r>
              <a:rPr lang="en-US" sz="2400" b="1" dirty="0"/>
              <a:t>Service Discovery </a:t>
            </a:r>
            <a:r>
              <a:rPr lang="en-US" sz="2400" dirty="0"/>
              <a:t>: Finds where other services are running.</a:t>
            </a:r>
          </a:p>
          <a:p>
            <a:r>
              <a:rPr lang="en-US" sz="2400" b="1" dirty="0"/>
              <a:t>Traffic Management </a:t>
            </a:r>
            <a:r>
              <a:rPr lang="en-US" sz="2400" dirty="0"/>
              <a:t>– Load balancing, routing, canary releases, blue/green deployments.</a:t>
            </a:r>
          </a:p>
          <a:p>
            <a:r>
              <a:rPr lang="en-US" sz="2400" b="1" dirty="0"/>
              <a:t>Security</a:t>
            </a:r>
            <a:r>
              <a:rPr lang="en-US" sz="2400" dirty="0"/>
              <a:t> –</a:t>
            </a:r>
            <a:r>
              <a:rPr lang="en-US" sz="2400" dirty="0" err="1"/>
              <a:t>mTLS</a:t>
            </a:r>
            <a:r>
              <a:rPr lang="en-US" sz="2400" dirty="0"/>
              <a:t> (mutual TLS) for encrypted and authenticated communication.</a:t>
            </a:r>
          </a:p>
          <a:p>
            <a:r>
              <a:rPr lang="en-US" sz="2400" b="1" dirty="0"/>
              <a:t>Observability </a:t>
            </a:r>
            <a:r>
              <a:rPr lang="en-US" sz="2400" dirty="0"/>
              <a:t> Metrics, logs, tracing of requests between services.</a:t>
            </a:r>
          </a:p>
          <a:p>
            <a:r>
              <a:rPr lang="en-US" sz="2400" b="1" dirty="0"/>
              <a:t>Resilience</a:t>
            </a:r>
            <a:r>
              <a:rPr lang="en-US" sz="2400" dirty="0"/>
              <a:t> Retries, failovers, circuit breaking.</a:t>
            </a:r>
          </a:p>
        </p:txBody>
      </p:sp>
    </p:spTree>
    <p:extLst>
      <p:ext uri="{BB962C8B-B14F-4D97-AF65-F5344CB8AC3E}">
        <p14:creationId xmlns:p14="http://schemas.microsoft.com/office/powerpoint/2010/main" val="176334129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AAC2D-BE01-1E62-5183-F9924C346B5B}"/>
              </a:ext>
            </a:extLst>
          </p:cNvPr>
          <p:cNvSpPr>
            <a:spLocks noGrp="1"/>
          </p:cNvSpPr>
          <p:nvPr>
            <p:ph type="title"/>
          </p:nvPr>
        </p:nvSpPr>
        <p:spPr/>
        <p:txBody>
          <a:bodyPr/>
          <a:lstStyle/>
          <a:p>
            <a:r>
              <a:rPr lang="en-US" b="1" dirty="0"/>
              <a:t>How it Works</a:t>
            </a:r>
          </a:p>
        </p:txBody>
      </p:sp>
      <p:sp>
        <p:nvSpPr>
          <p:cNvPr id="3" name="Content Placeholder 2">
            <a:extLst>
              <a:ext uri="{FF2B5EF4-FFF2-40B4-BE49-F238E27FC236}">
                <a16:creationId xmlns:a16="http://schemas.microsoft.com/office/drawing/2014/main" id="{B2FB03A4-E4AA-0A4D-8C95-21F1204CB5CF}"/>
              </a:ext>
            </a:extLst>
          </p:cNvPr>
          <p:cNvSpPr>
            <a:spLocks noGrp="1"/>
          </p:cNvSpPr>
          <p:nvPr>
            <p:ph idx="1"/>
          </p:nvPr>
        </p:nvSpPr>
        <p:spPr/>
        <p:txBody>
          <a:bodyPr>
            <a:normAutofit fontScale="92500" lnSpcReduction="10000"/>
          </a:bodyPr>
          <a:lstStyle/>
          <a:p>
            <a:pPr marL="0" indent="0">
              <a:buNone/>
            </a:pPr>
            <a:r>
              <a:rPr lang="en-US" sz="2400" dirty="0"/>
              <a:t>Typical setup:</a:t>
            </a:r>
          </a:p>
          <a:p>
            <a:r>
              <a:rPr lang="en-US" sz="2400" b="1" dirty="0"/>
              <a:t>Control Plane</a:t>
            </a:r>
            <a:r>
              <a:rPr lang="en-US" sz="2400" dirty="0"/>
              <a:t> – Manages configuration and policy (e.g., Istio Pilot).</a:t>
            </a:r>
          </a:p>
          <a:p>
            <a:r>
              <a:rPr lang="en-US" sz="2400" b="1" dirty="0"/>
              <a:t>Data Plane</a:t>
            </a:r>
            <a:r>
              <a:rPr lang="en-US" sz="2400" dirty="0"/>
              <a:t> – The proxies (sidecars) that handle actual traffic between services.</a:t>
            </a:r>
          </a:p>
          <a:p>
            <a:r>
              <a:rPr lang="en-US" sz="2400" dirty="0"/>
              <a:t>Example flow:</a:t>
            </a:r>
          </a:p>
          <a:p>
            <a:r>
              <a:rPr lang="en-US" sz="2400" dirty="0"/>
              <a:t>Service A → Sidecar Proxy A → Sidecar Proxy B → Service B</a:t>
            </a:r>
          </a:p>
          <a:p>
            <a:endParaRPr lang="en-US" sz="2400" dirty="0"/>
          </a:p>
          <a:p>
            <a:pPr marL="0" indent="0">
              <a:buNone/>
            </a:pPr>
            <a:r>
              <a:rPr lang="en-US" sz="2200" b="1" dirty="0"/>
              <a:t>Popular Service Meshes</a:t>
            </a:r>
          </a:p>
          <a:p>
            <a:r>
              <a:rPr lang="en-US" sz="2200" b="1" dirty="0"/>
              <a:t>Istio</a:t>
            </a:r>
            <a:r>
              <a:rPr lang="en-US" sz="2200" dirty="0"/>
              <a:t> (most popular, uses Envoy)</a:t>
            </a:r>
          </a:p>
          <a:p>
            <a:r>
              <a:rPr lang="en-US" sz="2200" b="1" dirty="0" err="1"/>
              <a:t>Linkerd</a:t>
            </a:r>
            <a:endParaRPr lang="en-US" sz="2200" dirty="0"/>
          </a:p>
          <a:p>
            <a:r>
              <a:rPr lang="en-US" sz="2200" b="1" dirty="0"/>
              <a:t>Consul Connect</a:t>
            </a:r>
            <a:endParaRPr lang="en-US" sz="2200" dirty="0"/>
          </a:p>
          <a:p>
            <a:r>
              <a:rPr lang="en-US" sz="2200" b="1" dirty="0"/>
              <a:t>AWS App Mesh</a:t>
            </a:r>
            <a:endParaRPr lang="en-US" sz="2200" dirty="0"/>
          </a:p>
          <a:p>
            <a:endParaRPr lang="en-US" dirty="0"/>
          </a:p>
        </p:txBody>
      </p:sp>
    </p:spTree>
    <p:extLst>
      <p:ext uri="{BB962C8B-B14F-4D97-AF65-F5344CB8AC3E}">
        <p14:creationId xmlns:p14="http://schemas.microsoft.com/office/powerpoint/2010/main" val="426594217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AFD4F1-928D-42C0-6FC6-B0310586B85C}"/>
              </a:ext>
            </a:extLst>
          </p:cNvPr>
          <p:cNvSpPr>
            <a:spLocks noGrp="1"/>
          </p:cNvSpPr>
          <p:nvPr>
            <p:ph type="title"/>
          </p:nvPr>
        </p:nvSpPr>
        <p:spPr/>
        <p:txBody>
          <a:bodyPr>
            <a:normAutofit/>
          </a:bodyPr>
          <a:lstStyle/>
          <a:p>
            <a:r>
              <a:rPr lang="en-US" sz="3200" b="1" dirty="0"/>
              <a:t>GitOps</a:t>
            </a:r>
          </a:p>
        </p:txBody>
      </p:sp>
      <p:sp>
        <p:nvSpPr>
          <p:cNvPr id="6" name="Content Placeholder 5">
            <a:extLst>
              <a:ext uri="{FF2B5EF4-FFF2-40B4-BE49-F238E27FC236}">
                <a16:creationId xmlns:a16="http://schemas.microsoft.com/office/drawing/2014/main" id="{2B7D8EF2-CF48-2E39-743E-BB84810D34C8}"/>
              </a:ext>
            </a:extLst>
          </p:cNvPr>
          <p:cNvSpPr>
            <a:spLocks noGrp="1"/>
          </p:cNvSpPr>
          <p:nvPr>
            <p:ph idx="1"/>
          </p:nvPr>
        </p:nvSpPr>
        <p:spPr/>
        <p:txBody>
          <a:bodyPr>
            <a:normAutofit/>
          </a:bodyPr>
          <a:lstStyle/>
          <a:p>
            <a:endParaRPr lang="en-US" sz="2400" dirty="0"/>
          </a:p>
          <a:p>
            <a:r>
              <a:rPr lang="en-US" sz="2400" dirty="0"/>
              <a:t>GitOps is a methodology for software development and infrastructure management that positions Git repositories as your workflow’s single source of truth. </a:t>
            </a:r>
          </a:p>
          <a:p>
            <a:endParaRPr lang="en-US" sz="2400" dirty="0"/>
          </a:p>
          <a:p>
            <a:r>
              <a:rPr lang="en-US" sz="2400" dirty="0"/>
              <a:t>Instead of manually running commands to apply changes, GitOps revolves around declarative config files that are versioned in your repositories. </a:t>
            </a:r>
          </a:p>
          <a:p>
            <a:endParaRPr lang="en-US" sz="2400" dirty="0"/>
          </a:p>
          <a:p>
            <a:r>
              <a:rPr lang="en-US" sz="2400" dirty="0"/>
              <a:t>CI/CD-driven tooling then consumes the files to automatically create and update your resources.</a:t>
            </a:r>
          </a:p>
        </p:txBody>
      </p:sp>
    </p:spTree>
    <p:extLst>
      <p:ext uri="{BB962C8B-B14F-4D97-AF65-F5344CB8AC3E}">
        <p14:creationId xmlns:p14="http://schemas.microsoft.com/office/powerpoint/2010/main" val="311319591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EE44E-B007-7AF2-143C-F8B28E2F859D}"/>
              </a:ext>
            </a:extLst>
          </p:cNvPr>
          <p:cNvSpPr>
            <a:spLocks noGrp="1"/>
          </p:cNvSpPr>
          <p:nvPr>
            <p:ph type="title"/>
          </p:nvPr>
        </p:nvSpPr>
        <p:spPr/>
        <p:txBody>
          <a:bodyPr>
            <a:normAutofit/>
          </a:bodyPr>
          <a:lstStyle/>
          <a:p>
            <a:r>
              <a:rPr lang="en-US" sz="3200" b="1" dirty="0"/>
              <a:t>GitOps</a:t>
            </a:r>
          </a:p>
        </p:txBody>
      </p:sp>
      <p:pic>
        <p:nvPicPr>
          <p:cNvPr id="4" name="Content Placeholder 3">
            <a:extLst>
              <a:ext uri="{FF2B5EF4-FFF2-40B4-BE49-F238E27FC236}">
                <a16:creationId xmlns:a16="http://schemas.microsoft.com/office/drawing/2014/main" id="{76B2A720-F267-9371-EEEB-9575D0016BAA}"/>
              </a:ext>
            </a:extLst>
          </p:cNvPr>
          <p:cNvPicPr>
            <a:picLocks noGrp="1" noChangeAspect="1"/>
          </p:cNvPicPr>
          <p:nvPr>
            <p:ph idx="1"/>
          </p:nvPr>
        </p:nvPicPr>
        <p:blipFill>
          <a:blip r:embed="rId2"/>
          <a:stretch>
            <a:fillRect/>
          </a:stretch>
        </p:blipFill>
        <p:spPr>
          <a:xfrm>
            <a:off x="838200" y="2423954"/>
            <a:ext cx="10515600" cy="3154680"/>
          </a:xfrm>
          <a:prstGeom prst="rect">
            <a:avLst/>
          </a:prstGeom>
        </p:spPr>
      </p:pic>
    </p:spTree>
    <p:extLst>
      <p:ext uri="{BB962C8B-B14F-4D97-AF65-F5344CB8AC3E}">
        <p14:creationId xmlns:p14="http://schemas.microsoft.com/office/powerpoint/2010/main" val="263678884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AAC8D-E03E-327C-120C-3C2B66B8F481}"/>
              </a:ext>
            </a:extLst>
          </p:cNvPr>
          <p:cNvSpPr>
            <a:spLocks noGrp="1"/>
          </p:cNvSpPr>
          <p:nvPr>
            <p:ph type="title"/>
          </p:nvPr>
        </p:nvSpPr>
        <p:spPr/>
        <p:txBody>
          <a:bodyPr>
            <a:normAutofit/>
          </a:bodyPr>
          <a:lstStyle/>
          <a:p>
            <a:r>
              <a:rPr lang="en-US" sz="3200" b="1" dirty="0"/>
              <a:t>GitOps tools</a:t>
            </a:r>
          </a:p>
        </p:txBody>
      </p:sp>
      <p:sp>
        <p:nvSpPr>
          <p:cNvPr id="3" name="Content Placeholder 2">
            <a:extLst>
              <a:ext uri="{FF2B5EF4-FFF2-40B4-BE49-F238E27FC236}">
                <a16:creationId xmlns:a16="http://schemas.microsoft.com/office/drawing/2014/main" id="{CEACE016-7EAD-01FE-EE90-70C2DC5E84BC}"/>
              </a:ext>
            </a:extLst>
          </p:cNvPr>
          <p:cNvSpPr>
            <a:spLocks noGrp="1"/>
          </p:cNvSpPr>
          <p:nvPr>
            <p:ph idx="1"/>
          </p:nvPr>
        </p:nvSpPr>
        <p:spPr/>
        <p:txBody>
          <a:bodyPr>
            <a:normAutofit/>
          </a:bodyPr>
          <a:lstStyle/>
          <a:p>
            <a:endParaRPr lang="en-US" sz="2400" dirty="0"/>
          </a:p>
          <a:p>
            <a:r>
              <a:rPr lang="en-US" sz="2400" dirty="0"/>
              <a:t>Many GitOps tools support an agent-driven pull-based architecture that makes it possible to fully automate deployments after new code changes are committed. </a:t>
            </a:r>
          </a:p>
          <a:p>
            <a:endParaRPr lang="en-US" sz="2400" dirty="0"/>
          </a:p>
          <a:p>
            <a:r>
              <a:rPr lang="en-US" sz="2400" dirty="0"/>
              <a:t>The agent runs in your production environment; it periodically checks your repositories for new changes, then automatically applies them.</a:t>
            </a:r>
          </a:p>
          <a:p>
            <a:endParaRPr lang="en-US" sz="2400" dirty="0"/>
          </a:p>
          <a:p>
            <a:r>
              <a:rPr lang="en-US" sz="2400" dirty="0"/>
              <a:t>Argocd</a:t>
            </a:r>
          </a:p>
          <a:p>
            <a:r>
              <a:rPr lang="en-US" sz="2400" dirty="0"/>
              <a:t>Spacelift</a:t>
            </a:r>
          </a:p>
          <a:p>
            <a:r>
              <a:rPr lang="en-US" sz="2400" dirty="0"/>
              <a:t>FluxCd</a:t>
            </a:r>
          </a:p>
          <a:p>
            <a:endParaRPr lang="en-US" dirty="0"/>
          </a:p>
        </p:txBody>
      </p:sp>
    </p:spTree>
    <p:extLst>
      <p:ext uri="{BB962C8B-B14F-4D97-AF65-F5344CB8AC3E}">
        <p14:creationId xmlns:p14="http://schemas.microsoft.com/office/powerpoint/2010/main" val="401015540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982EB-48F9-7E50-0BB4-D0E82FA99CCE}"/>
              </a:ext>
            </a:extLst>
          </p:cNvPr>
          <p:cNvSpPr>
            <a:spLocks noGrp="1"/>
          </p:cNvSpPr>
          <p:nvPr>
            <p:ph type="title"/>
          </p:nvPr>
        </p:nvSpPr>
        <p:spPr/>
        <p:txBody>
          <a:bodyPr/>
          <a:lstStyle/>
          <a:p>
            <a:r>
              <a:rPr lang="en-US" b="1" dirty="0"/>
              <a:t>GitOps</a:t>
            </a:r>
          </a:p>
        </p:txBody>
      </p:sp>
      <p:sp>
        <p:nvSpPr>
          <p:cNvPr id="3" name="Content Placeholder 2">
            <a:extLst>
              <a:ext uri="{FF2B5EF4-FFF2-40B4-BE49-F238E27FC236}">
                <a16:creationId xmlns:a16="http://schemas.microsoft.com/office/drawing/2014/main" id="{573346D3-95B7-589B-2C69-062F4A052A3E}"/>
              </a:ext>
            </a:extLst>
          </p:cNvPr>
          <p:cNvSpPr>
            <a:spLocks noGrp="1"/>
          </p:cNvSpPr>
          <p:nvPr>
            <p:ph idx="1"/>
          </p:nvPr>
        </p:nvSpPr>
        <p:spPr/>
        <p:txBody>
          <a:bodyPr>
            <a:normAutofit/>
          </a:bodyPr>
          <a:lstStyle/>
          <a:p>
            <a:endParaRPr lang="en-US" sz="2400" b="1" dirty="0"/>
          </a:p>
          <a:p>
            <a:r>
              <a:rPr lang="en-US" sz="2400" b="1" dirty="0"/>
              <a:t>GitOps</a:t>
            </a:r>
            <a:r>
              <a:rPr lang="en-US" sz="2400" dirty="0"/>
              <a:t> is a modern way of managing </a:t>
            </a:r>
            <a:r>
              <a:rPr lang="en-US" sz="2400" b="1" dirty="0"/>
              <a:t>infrastructure and application deployments</a:t>
            </a:r>
            <a:r>
              <a:rPr lang="en-US" sz="2400" dirty="0"/>
              <a:t> using </a:t>
            </a:r>
            <a:r>
              <a:rPr lang="en-US" sz="2400" b="1" dirty="0"/>
              <a:t>Git as the single source of truth</a:t>
            </a:r>
            <a:r>
              <a:rPr lang="en-US" sz="2400" dirty="0"/>
              <a:t>.</a:t>
            </a:r>
          </a:p>
          <a:p>
            <a:endParaRPr lang="en-US" sz="2400" dirty="0"/>
          </a:p>
          <a:p>
            <a:r>
              <a:rPr lang="en-US" sz="2400" dirty="0"/>
              <a:t>Everything — configurations, environments, deployments — is stored, versioned, and audited in </a:t>
            </a:r>
            <a:r>
              <a:rPr lang="en-US" sz="2400" b="1" dirty="0"/>
              <a:t>Git</a:t>
            </a:r>
            <a:r>
              <a:rPr lang="en-US" sz="2400" dirty="0"/>
              <a:t>, and automatically applied to your </a:t>
            </a:r>
            <a:r>
              <a:rPr lang="en-US" sz="2400" b="1" dirty="0"/>
              <a:t>cluster</a:t>
            </a:r>
            <a:r>
              <a:rPr lang="en-US" sz="2400" dirty="0"/>
              <a:t> by a GitOps operator (like Argo CD or Flux CD).</a:t>
            </a:r>
          </a:p>
          <a:p>
            <a:endParaRPr lang="en-US" sz="2400" dirty="0"/>
          </a:p>
          <a:p>
            <a:r>
              <a:rPr lang="en-US" sz="2400" dirty="0"/>
              <a:t>So instead of manually using kubectl apply or CI scripts, your cluster </a:t>
            </a:r>
            <a:r>
              <a:rPr lang="en-US" sz="2400" b="1" dirty="0"/>
              <a:t>pulls changes from Git</a:t>
            </a:r>
            <a:r>
              <a:rPr lang="en-US" sz="2400" dirty="0"/>
              <a:t> and stays </a:t>
            </a:r>
            <a:r>
              <a:rPr lang="en-US" sz="2400" b="1" dirty="0"/>
              <a:t>in sync</a:t>
            </a:r>
            <a:r>
              <a:rPr lang="en-US" sz="2400" dirty="0"/>
              <a:t> with it.</a:t>
            </a:r>
          </a:p>
          <a:p>
            <a:endParaRPr lang="en-US" dirty="0"/>
          </a:p>
        </p:txBody>
      </p:sp>
    </p:spTree>
    <p:extLst>
      <p:ext uri="{BB962C8B-B14F-4D97-AF65-F5344CB8AC3E}">
        <p14:creationId xmlns:p14="http://schemas.microsoft.com/office/powerpoint/2010/main" val="221644678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28615-7BFD-17CE-DBF2-DDAA8084B31A}"/>
              </a:ext>
            </a:extLst>
          </p:cNvPr>
          <p:cNvSpPr>
            <a:spLocks noGrp="1"/>
          </p:cNvSpPr>
          <p:nvPr>
            <p:ph type="title"/>
          </p:nvPr>
        </p:nvSpPr>
        <p:spPr/>
        <p:txBody>
          <a:bodyPr/>
          <a:lstStyle/>
          <a:p>
            <a:r>
              <a:rPr lang="en-US" b="1" dirty="0"/>
              <a:t>What is Argo Cd ?</a:t>
            </a:r>
          </a:p>
        </p:txBody>
      </p:sp>
      <p:sp>
        <p:nvSpPr>
          <p:cNvPr id="3" name="Content Placeholder 2">
            <a:extLst>
              <a:ext uri="{FF2B5EF4-FFF2-40B4-BE49-F238E27FC236}">
                <a16:creationId xmlns:a16="http://schemas.microsoft.com/office/drawing/2014/main" id="{640BBDE8-4B1F-A01D-06B3-473220FABCC4}"/>
              </a:ext>
            </a:extLst>
          </p:cNvPr>
          <p:cNvSpPr>
            <a:spLocks noGrp="1"/>
          </p:cNvSpPr>
          <p:nvPr>
            <p:ph idx="1"/>
          </p:nvPr>
        </p:nvSpPr>
        <p:spPr/>
        <p:txBody>
          <a:bodyPr/>
          <a:lstStyle/>
          <a:p>
            <a:endParaRPr lang="en-US" b="1" dirty="0"/>
          </a:p>
          <a:p>
            <a:endParaRPr lang="en-US" b="1" dirty="0"/>
          </a:p>
          <a:p>
            <a:r>
              <a:rPr lang="en-US" b="1" dirty="0"/>
              <a:t>Argo CD</a:t>
            </a:r>
            <a:r>
              <a:rPr lang="en-US" dirty="0"/>
              <a:t> (Argo </a:t>
            </a:r>
            <a:r>
              <a:rPr lang="en-US" i="1" dirty="0"/>
              <a:t>Continuous Delivery</a:t>
            </a:r>
            <a:r>
              <a:rPr lang="en-US" dirty="0"/>
              <a:t>) is a </a:t>
            </a:r>
            <a:r>
              <a:rPr lang="en-US" b="1" dirty="0"/>
              <a:t>GitOps-based CD tool</a:t>
            </a:r>
            <a:r>
              <a:rPr lang="en-US" dirty="0"/>
              <a:t> for Kubernetes. It automates deployment, management, and synchronization of Kubernetes resources using </a:t>
            </a:r>
            <a:r>
              <a:rPr lang="en-US" b="1" dirty="0"/>
              <a:t>Git as the single source of truth</a:t>
            </a:r>
            <a:endParaRPr lang="en-US" dirty="0"/>
          </a:p>
        </p:txBody>
      </p:sp>
    </p:spTree>
    <p:extLst>
      <p:ext uri="{BB962C8B-B14F-4D97-AF65-F5344CB8AC3E}">
        <p14:creationId xmlns:p14="http://schemas.microsoft.com/office/powerpoint/2010/main" val="358785922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Slide Background">
            <a:extLst>
              <a:ext uri="{FF2B5EF4-FFF2-40B4-BE49-F238E27FC236}">
                <a16:creationId xmlns:a16="http://schemas.microsoft.com/office/drawing/2014/main" id="{924D84CD-5280-4B52-B96E-8EDAA2B20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3E65D517-46E4-8037-A63D-629DE1253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EB2951D9-BF52-AF49-9CD3-DBB53821A094}"/>
              </a:ext>
            </a:extLst>
          </p:cNvPr>
          <p:cNvSpPr>
            <a:spLocks noGrp="1"/>
          </p:cNvSpPr>
          <p:nvPr>
            <p:ph type="title"/>
          </p:nvPr>
        </p:nvSpPr>
        <p:spPr>
          <a:xfrm>
            <a:off x="758952" y="276198"/>
            <a:ext cx="10477600" cy="1157242"/>
          </a:xfrm>
        </p:spPr>
        <p:txBody>
          <a:bodyPr>
            <a:normAutofit/>
          </a:bodyPr>
          <a:lstStyle/>
          <a:p>
            <a:r>
              <a:rPr lang="en-US" sz="4000" b="1"/>
              <a:t>Why Argo CD ?</a:t>
            </a:r>
          </a:p>
        </p:txBody>
      </p:sp>
      <p:graphicFrame>
        <p:nvGraphicFramePr>
          <p:cNvPr id="4" name="Content Placeholder 3">
            <a:extLst>
              <a:ext uri="{FF2B5EF4-FFF2-40B4-BE49-F238E27FC236}">
                <a16:creationId xmlns:a16="http://schemas.microsoft.com/office/drawing/2014/main" id="{ACD00A0E-4966-2006-472D-EB6EBA2ADE71}"/>
              </a:ext>
            </a:extLst>
          </p:cNvPr>
          <p:cNvGraphicFramePr>
            <a:graphicFrameLocks noGrp="1"/>
          </p:cNvGraphicFramePr>
          <p:nvPr>
            <p:ph idx="1"/>
            <p:extLst>
              <p:ext uri="{D42A27DB-BD31-4B8C-83A1-F6EECF244321}">
                <p14:modId xmlns:p14="http://schemas.microsoft.com/office/powerpoint/2010/main" val="1157085503"/>
              </p:ext>
            </p:extLst>
          </p:nvPr>
        </p:nvGraphicFramePr>
        <p:xfrm>
          <a:off x="1250830" y="1709638"/>
          <a:ext cx="9690341" cy="4800489"/>
        </p:xfrm>
        <a:graphic>
          <a:graphicData uri="http://schemas.openxmlformats.org/drawingml/2006/table">
            <a:tbl>
              <a:tblPr>
                <a:tableStyleId>{8799B23B-EC83-4686-B30A-512413B5E67A}</a:tableStyleId>
              </a:tblPr>
              <a:tblGrid>
                <a:gridCol w="3168770">
                  <a:extLst>
                    <a:ext uri="{9D8B030D-6E8A-4147-A177-3AD203B41FA5}">
                      <a16:colId xmlns:a16="http://schemas.microsoft.com/office/drawing/2014/main" val="2304452893"/>
                    </a:ext>
                  </a:extLst>
                </a:gridCol>
                <a:gridCol w="6521571">
                  <a:extLst>
                    <a:ext uri="{9D8B030D-6E8A-4147-A177-3AD203B41FA5}">
                      <a16:colId xmlns:a16="http://schemas.microsoft.com/office/drawing/2014/main" val="879184883"/>
                    </a:ext>
                  </a:extLst>
                </a:gridCol>
              </a:tblGrid>
              <a:tr h="296705">
                <a:tc>
                  <a:txBody>
                    <a:bodyPr/>
                    <a:lstStyle/>
                    <a:p>
                      <a:pPr>
                        <a:buNone/>
                      </a:pPr>
                      <a:r>
                        <a:rPr lang="en-US" sz="1100"/>
                        <a:t>Reason</a:t>
                      </a:r>
                    </a:p>
                  </a:txBody>
                  <a:tcPr marL="49984" marR="49984" marT="24991" marB="24991" anchor="ctr"/>
                </a:tc>
                <a:tc>
                  <a:txBody>
                    <a:bodyPr/>
                    <a:lstStyle/>
                    <a:p>
                      <a:pPr>
                        <a:buNone/>
                      </a:pPr>
                      <a:r>
                        <a:rPr lang="en-US" sz="1100"/>
                        <a:t>Description</a:t>
                      </a:r>
                    </a:p>
                  </a:txBody>
                  <a:tcPr marL="49984" marR="49984" marT="24991" marB="24991" anchor="ctr"/>
                </a:tc>
                <a:extLst>
                  <a:ext uri="{0D108BD9-81ED-4DB2-BD59-A6C34878D82A}">
                    <a16:rowId xmlns:a16="http://schemas.microsoft.com/office/drawing/2014/main" val="1763771342"/>
                  </a:ext>
                </a:extLst>
              </a:tr>
              <a:tr h="595793">
                <a:tc>
                  <a:txBody>
                    <a:bodyPr/>
                    <a:lstStyle/>
                    <a:p>
                      <a:pPr>
                        <a:buNone/>
                      </a:pPr>
                      <a:r>
                        <a:rPr lang="en-US" sz="1600" b="1"/>
                        <a:t>1. GitOps Model</a:t>
                      </a:r>
                      <a:endParaRPr lang="en-US" sz="1600"/>
                    </a:p>
                  </a:txBody>
                  <a:tcPr marL="49984" marR="49984" marT="24991" marB="24991" anchor="ctr"/>
                </a:tc>
                <a:tc>
                  <a:txBody>
                    <a:bodyPr/>
                    <a:lstStyle/>
                    <a:p>
                      <a:pPr>
                        <a:buNone/>
                      </a:pPr>
                      <a:r>
                        <a:rPr lang="en-US" sz="1600"/>
                        <a:t>Everything (manifests, Helm charts, Kustomize, etc.) is stored in Git. Argo CD automatically syncs your cluster to match what’s in Git.</a:t>
                      </a:r>
                    </a:p>
                  </a:txBody>
                  <a:tcPr marL="49984" marR="49984" marT="24991" marB="24991" anchor="ctr"/>
                </a:tc>
                <a:extLst>
                  <a:ext uri="{0D108BD9-81ED-4DB2-BD59-A6C34878D82A}">
                    <a16:rowId xmlns:a16="http://schemas.microsoft.com/office/drawing/2014/main" val="539939805"/>
                  </a:ext>
                </a:extLst>
              </a:tr>
              <a:tr h="595793">
                <a:tc>
                  <a:txBody>
                    <a:bodyPr/>
                    <a:lstStyle/>
                    <a:p>
                      <a:pPr>
                        <a:buNone/>
                      </a:pPr>
                      <a:r>
                        <a:rPr lang="en-US" sz="1600" b="1"/>
                        <a:t>2. Declarative Deployments</a:t>
                      </a:r>
                      <a:endParaRPr lang="en-US" sz="1600"/>
                    </a:p>
                  </a:txBody>
                  <a:tcPr marL="49984" marR="49984" marT="24991" marB="24991" anchor="ctr"/>
                </a:tc>
                <a:tc>
                  <a:txBody>
                    <a:bodyPr/>
                    <a:lstStyle/>
                    <a:p>
                      <a:pPr>
                        <a:buNone/>
                      </a:pPr>
                      <a:r>
                        <a:rPr lang="en-US" sz="1600"/>
                        <a:t>Desired state (YAML manifests) is declared — Argo CD ensures the live cluster matches it.</a:t>
                      </a:r>
                    </a:p>
                  </a:txBody>
                  <a:tcPr marL="49984" marR="49984" marT="24991" marB="24991" anchor="ctr"/>
                </a:tc>
                <a:extLst>
                  <a:ext uri="{0D108BD9-81ED-4DB2-BD59-A6C34878D82A}">
                    <a16:rowId xmlns:a16="http://schemas.microsoft.com/office/drawing/2014/main" val="261366172"/>
                  </a:ext>
                </a:extLst>
              </a:tr>
              <a:tr h="595793">
                <a:tc>
                  <a:txBody>
                    <a:bodyPr/>
                    <a:lstStyle/>
                    <a:p>
                      <a:pPr>
                        <a:buNone/>
                      </a:pPr>
                      <a:r>
                        <a:rPr lang="en-US" sz="1600" b="1"/>
                        <a:t>3. Continuous Reconciliation</a:t>
                      </a:r>
                      <a:endParaRPr lang="en-US" sz="1600"/>
                    </a:p>
                  </a:txBody>
                  <a:tcPr marL="49984" marR="49984" marT="24991" marB="24991" anchor="ctr"/>
                </a:tc>
                <a:tc>
                  <a:txBody>
                    <a:bodyPr/>
                    <a:lstStyle/>
                    <a:p>
                      <a:pPr>
                        <a:buNone/>
                      </a:pPr>
                      <a:r>
                        <a:rPr lang="en-US" sz="1600"/>
                        <a:t>If someone manually changes resources in the cluster, Argo CD detects the drift and can auto-correct it.</a:t>
                      </a:r>
                    </a:p>
                  </a:txBody>
                  <a:tcPr marL="49984" marR="49984" marT="24991" marB="24991" anchor="ctr"/>
                </a:tc>
                <a:extLst>
                  <a:ext uri="{0D108BD9-81ED-4DB2-BD59-A6C34878D82A}">
                    <a16:rowId xmlns:a16="http://schemas.microsoft.com/office/drawing/2014/main" val="1014914481"/>
                  </a:ext>
                </a:extLst>
              </a:tr>
              <a:tr h="595793">
                <a:tc>
                  <a:txBody>
                    <a:bodyPr/>
                    <a:lstStyle/>
                    <a:p>
                      <a:pPr>
                        <a:buNone/>
                      </a:pPr>
                      <a:r>
                        <a:rPr lang="en-US" sz="1600" b="1"/>
                        <a:t>4. Visual Dashboard</a:t>
                      </a:r>
                      <a:endParaRPr lang="en-US" sz="1600"/>
                    </a:p>
                  </a:txBody>
                  <a:tcPr marL="49984" marR="49984" marT="24991" marB="24991" anchor="ctr"/>
                </a:tc>
                <a:tc>
                  <a:txBody>
                    <a:bodyPr/>
                    <a:lstStyle/>
                    <a:p>
                      <a:pPr>
                        <a:buNone/>
                      </a:pPr>
                      <a:r>
                        <a:rPr lang="en-US" sz="1600"/>
                        <a:t>Web UI shows all applications, their sync/health status, and real-time diffs between Git and cluster.</a:t>
                      </a:r>
                    </a:p>
                  </a:txBody>
                  <a:tcPr marL="49984" marR="49984" marT="24991" marB="24991" anchor="ctr"/>
                </a:tc>
                <a:extLst>
                  <a:ext uri="{0D108BD9-81ED-4DB2-BD59-A6C34878D82A}">
                    <a16:rowId xmlns:a16="http://schemas.microsoft.com/office/drawing/2014/main" val="2756189642"/>
                  </a:ext>
                </a:extLst>
              </a:tr>
              <a:tr h="586554">
                <a:tc>
                  <a:txBody>
                    <a:bodyPr/>
                    <a:lstStyle/>
                    <a:p>
                      <a:pPr>
                        <a:buNone/>
                      </a:pPr>
                      <a:r>
                        <a:rPr lang="en-US" sz="1600" b="1"/>
                        <a:t>5. Multi-Cluster Management</a:t>
                      </a:r>
                      <a:endParaRPr lang="en-US" sz="1600"/>
                    </a:p>
                  </a:txBody>
                  <a:tcPr marL="49984" marR="49984" marT="24991" marB="24991" anchor="ctr"/>
                </a:tc>
                <a:tc>
                  <a:txBody>
                    <a:bodyPr/>
                    <a:lstStyle/>
                    <a:p>
                      <a:pPr>
                        <a:buNone/>
                      </a:pPr>
                      <a:r>
                        <a:rPr lang="en-US" sz="1600"/>
                        <a:t>Deploy and manage applications across multiple Kubernetes clusters easily.</a:t>
                      </a:r>
                    </a:p>
                  </a:txBody>
                  <a:tcPr marL="49984" marR="49984" marT="24991" marB="24991" anchor="ctr"/>
                </a:tc>
                <a:extLst>
                  <a:ext uri="{0D108BD9-81ED-4DB2-BD59-A6C34878D82A}">
                    <a16:rowId xmlns:a16="http://schemas.microsoft.com/office/drawing/2014/main" val="641933213"/>
                  </a:ext>
                </a:extLst>
              </a:tr>
              <a:tr h="595793">
                <a:tc>
                  <a:txBody>
                    <a:bodyPr/>
                    <a:lstStyle/>
                    <a:p>
                      <a:pPr>
                        <a:buNone/>
                      </a:pPr>
                      <a:r>
                        <a:rPr lang="en-US" sz="1600" b="1"/>
                        <a:t>6. Security &amp; Access Control</a:t>
                      </a:r>
                      <a:endParaRPr lang="en-US" sz="1600"/>
                    </a:p>
                  </a:txBody>
                  <a:tcPr marL="49984" marR="49984" marT="24991" marB="24991" anchor="ctr"/>
                </a:tc>
                <a:tc>
                  <a:txBody>
                    <a:bodyPr/>
                    <a:lstStyle/>
                    <a:p>
                      <a:pPr>
                        <a:buNone/>
                      </a:pPr>
                      <a:r>
                        <a:rPr lang="en-US" sz="1600"/>
                        <a:t>Role-based access (RBAC), SSO integration, and Git commit traceability improve security.</a:t>
                      </a:r>
                    </a:p>
                  </a:txBody>
                  <a:tcPr marL="49984" marR="49984" marT="24991" marB="24991" anchor="ctr"/>
                </a:tc>
                <a:extLst>
                  <a:ext uri="{0D108BD9-81ED-4DB2-BD59-A6C34878D82A}">
                    <a16:rowId xmlns:a16="http://schemas.microsoft.com/office/drawing/2014/main" val="1493578242"/>
                  </a:ext>
                </a:extLst>
              </a:tr>
              <a:tr h="342472">
                <a:tc>
                  <a:txBody>
                    <a:bodyPr/>
                    <a:lstStyle/>
                    <a:p>
                      <a:pPr>
                        <a:buNone/>
                      </a:pPr>
                      <a:r>
                        <a:rPr lang="en-US" sz="1600" b="1"/>
                        <a:t>7. Easy Rollbacks</a:t>
                      </a:r>
                      <a:endParaRPr lang="en-US" sz="1600"/>
                    </a:p>
                  </a:txBody>
                  <a:tcPr marL="49984" marR="49984" marT="24991" marB="24991" anchor="ctr"/>
                </a:tc>
                <a:tc>
                  <a:txBody>
                    <a:bodyPr/>
                    <a:lstStyle/>
                    <a:p>
                      <a:pPr>
                        <a:buNone/>
                      </a:pPr>
                      <a:r>
                        <a:rPr lang="en-US" sz="1600"/>
                        <a:t>Rollback to any previous Git commit = rollback to a known good state.</a:t>
                      </a:r>
                    </a:p>
                  </a:txBody>
                  <a:tcPr marL="49984" marR="49984" marT="24991" marB="24991" anchor="ctr"/>
                </a:tc>
                <a:extLst>
                  <a:ext uri="{0D108BD9-81ED-4DB2-BD59-A6C34878D82A}">
                    <a16:rowId xmlns:a16="http://schemas.microsoft.com/office/drawing/2014/main" val="3673326448"/>
                  </a:ext>
                </a:extLst>
              </a:tr>
              <a:tr h="595793">
                <a:tc>
                  <a:txBody>
                    <a:bodyPr/>
                    <a:lstStyle/>
                    <a:p>
                      <a:pPr>
                        <a:buNone/>
                      </a:pPr>
                      <a:r>
                        <a:rPr lang="en-US" sz="1600" b="1"/>
                        <a:t>8. Integration Friendly</a:t>
                      </a:r>
                      <a:endParaRPr lang="en-US" sz="1600"/>
                    </a:p>
                  </a:txBody>
                  <a:tcPr marL="49984" marR="49984" marT="24991" marB="24991" anchor="ctr"/>
                </a:tc>
                <a:tc>
                  <a:txBody>
                    <a:bodyPr/>
                    <a:lstStyle/>
                    <a:p>
                      <a:pPr>
                        <a:buNone/>
                      </a:pPr>
                      <a:r>
                        <a:rPr lang="en-US" sz="1600" dirty="0"/>
                        <a:t>Works with CI tools (like Jenkins, GitHub Actions, </a:t>
                      </a:r>
                      <a:r>
                        <a:rPr lang="en-US" sz="1600" dirty="0" err="1"/>
                        <a:t>Tekton</a:t>
                      </a:r>
                      <a:r>
                        <a:rPr lang="en-US" sz="1600" dirty="0"/>
                        <a:t>), Helm charts, </a:t>
                      </a:r>
                      <a:r>
                        <a:rPr lang="en-US" sz="1600" dirty="0" err="1"/>
                        <a:t>Kustomize</a:t>
                      </a:r>
                      <a:r>
                        <a:rPr lang="en-US" sz="1600" dirty="0"/>
                        <a:t>, etc.</a:t>
                      </a:r>
                    </a:p>
                  </a:txBody>
                  <a:tcPr marL="49984" marR="49984" marT="24991" marB="24991" anchor="ctr"/>
                </a:tc>
                <a:extLst>
                  <a:ext uri="{0D108BD9-81ED-4DB2-BD59-A6C34878D82A}">
                    <a16:rowId xmlns:a16="http://schemas.microsoft.com/office/drawing/2014/main" val="3858182518"/>
                  </a:ext>
                </a:extLst>
              </a:tr>
            </a:tbl>
          </a:graphicData>
        </a:graphic>
      </p:graphicFrame>
    </p:spTree>
    <p:extLst>
      <p:ext uri="{BB962C8B-B14F-4D97-AF65-F5344CB8AC3E}">
        <p14:creationId xmlns:p14="http://schemas.microsoft.com/office/powerpoint/2010/main" val="214909376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8C1A7CF-9D90-298D-89B9-926F5DC121CD}"/>
              </a:ext>
            </a:extLst>
          </p:cNvPr>
          <p:cNvSpPr>
            <a:spLocks noGrp="1"/>
          </p:cNvSpPr>
          <p:nvPr>
            <p:ph type="title"/>
          </p:nvPr>
        </p:nvSpPr>
        <p:spPr/>
        <p:txBody>
          <a:bodyPr/>
          <a:lstStyle/>
          <a:p>
            <a:r>
              <a:rPr lang="en-US" b="1" dirty="0"/>
              <a:t>Argo CD</a:t>
            </a:r>
          </a:p>
        </p:txBody>
      </p:sp>
      <p:sp>
        <p:nvSpPr>
          <p:cNvPr id="6" name="Content Placeholder 5">
            <a:extLst>
              <a:ext uri="{FF2B5EF4-FFF2-40B4-BE49-F238E27FC236}">
                <a16:creationId xmlns:a16="http://schemas.microsoft.com/office/drawing/2014/main" id="{8BF835C1-9BD2-FCD7-7E82-55615EB3AC1A}"/>
              </a:ext>
            </a:extLst>
          </p:cNvPr>
          <p:cNvSpPr>
            <a:spLocks noGrp="1"/>
          </p:cNvSpPr>
          <p:nvPr>
            <p:ph idx="1"/>
          </p:nvPr>
        </p:nvSpPr>
        <p:spPr/>
        <p:txBody>
          <a:bodyPr>
            <a:normAutofit fontScale="92500" lnSpcReduction="10000"/>
          </a:bodyPr>
          <a:lstStyle/>
          <a:p>
            <a:pPr marL="0" indent="0">
              <a:buNone/>
            </a:pPr>
            <a:r>
              <a:rPr lang="en-US" sz="2400" b="1" dirty="0"/>
              <a:t>What Is Argo CD?</a:t>
            </a:r>
          </a:p>
          <a:p>
            <a:pPr marL="0" indent="0">
              <a:buNone/>
            </a:pPr>
            <a:r>
              <a:rPr lang="en-US" sz="2400" dirty="0"/>
              <a:t>Argo CD is a declarative, GitOps continuous delivery tool for Kubernetes.</a:t>
            </a:r>
          </a:p>
          <a:p>
            <a:pPr marL="0" indent="0">
              <a:buNone/>
            </a:pPr>
            <a:endParaRPr lang="en-US" sz="2400" dirty="0"/>
          </a:p>
          <a:p>
            <a:pPr marL="0" indent="0">
              <a:buNone/>
            </a:pPr>
            <a:r>
              <a:rPr lang="en-US" sz="2400" b="1" dirty="0"/>
              <a:t>Why Argo CD?</a:t>
            </a:r>
          </a:p>
          <a:p>
            <a:pPr marL="0" indent="0">
              <a:buNone/>
            </a:pPr>
            <a:r>
              <a:rPr lang="en-US" sz="2400" dirty="0"/>
              <a:t>Application definitions, configurations, and environments should be declarative, and version controlled. Application deployment and lifecycle management should be automated, auditable, and easy to understand.</a:t>
            </a:r>
          </a:p>
          <a:p>
            <a:pPr marL="0" indent="0">
              <a:buNone/>
            </a:pPr>
            <a:endParaRPr lang="en-US" sz="2400" dirty="0"/>
          </a:p>
          <a:p>
            <a:pPr marL="0" indent="0">
              <a:buNone/>
            </a:pPr>
            <a:r>
              <a:rPr lang="en-US" sz="2400" b="1" dirty="0"/>
              <a:t>How it works?</a:t>
            </a:r>
          </a:p>
          <a:p>
            <a:pPr marL="0" indent="0">
              <a:buNone/>
            </a:pPr>
            <a:r>
              <a:rPr lang="en-US" sz="2400" dirty="0"/>
              <a:t>Argo CD follows the GitOps pattern of using Git repositories as the source of truth for defining the desired application state. Kubernetes manifests can be specified in several ways</a:t>
            </a:r>
          </a:p>
        </p:txBody>
      </p:sp>
    </p:spTree>
    <p:extLst>
      <p:ext uri="{BB962C8B-B14F-4D97-AF65-F5344CB8AC3E}">
        <p14:creationId xmlns:p14="http://schemas.microsoft.com/office/powerpoint/2010/main" val="1465902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FEBF8-DB68-D090-1036-8D3803D7DE2F}"/>
              </a:ext>
            </a:extLst>
          </p:cNvPr>
          <p:cNvSpPr>
            <a:spLocks noGrp="1"/>
          </p:cNvSpPr>
          <p:nvPr>
            <p:ph type="title"/>
          </p:nvPr>
        </p:nvSpPr>
        <p:spPr/>
        <p:txBody>
          <a:bodyPr/>
          <a:lstStyle/>
          <a:p>
            <a:r>
              <a:rPr lang="en-US" b="1" dirty="0"/>
              <a:t>Sync Policy</a:t>
            </a:r>
          </a:p>
        </p:txBody>
      </p:sp>
      <p:graphicFrame>
        <p:nvGraphicFramePr>
          <p:cNvPr id="4" name="Content Placeholder 3">
            <a:extLst>
              <a:ext uri="{FF2B5EF4-FFF2-40B4-BE49-F238E27FC236}">
                <a16:creationId xmlns:a16="http://schemas.microsoft.com/office/drawing/2014/main" id="{A0376628-D885-082C-7310-C0632E9CC446}"/>
              </a:ext>
            </a:extLst>
          </p:cNvPr>
          <p:cNvGraphicFramePr>
            <a:graphicFrameLocks noGrp="1"/>
          </p:cNvGraphicFramePr>
          <p:nvPr>
            <p:ph idx="1"/>
          </p:nvPr>
        </p:nvGraphicFramePr>
        <p:xfrm>
          <a:off x="838200" y="3041174"/>
          <a:ext cx="10515600" cy="1920240"/>
        </p:xfrm>
        <a:graphic>
          <a:graphicData uri="http://schemas.openxmlformats.org/drawingml/2006/table">
            <a:tbl>
              <a:tblPr/>
              <a:tblGrid>
                <a:gridCol w="5257800">
                  <a:extLst>
                    <a:ext uri="{9D8B030D-6E8A-4147-A177-3AD203B41FA5}">
                      <a16:colId xmlns:a16="http://schemas.microsoft.com/office/drawing/2014/main" val="2319866506"/>
                    </a:ext>
                  </a:extLst>
                </a:gridCol>
                <a:gridCol w="5257800">
                  <a:extLst>
                    <a:ext uri="{9D8B030D-6E8A-4147-A177-3AD203B41FA5}">
                      <a16:colId xmlns:a16="http://schemas.microsoft.com/office/drawing/2014/main" val="322354859"/>
                    </a:ext>
                  </a:extLst>
                </a:gridCol>
              </a:tblGrid>
              <a:tr h="0">
                <a:tc>
                  <a:txBody>
                    <a:bodyPr/>
                    <a:lstStyle/>
                    <a:p>
                      <a:pPr>
                        <a:buNone/>
                      </a:pPr>
                      <a:r>
                        <a:rPr lang="en-US"/>
                        <a:t>Option</a:t>
                      </a:r>
                    </a:p>
                  </a:txBody>
                  <a:tcPr anchor="ctr">
                    <a:lnL>
                      <a:noFill/>
                    </a:lnL>
                    <a:lnR>
                      <a:noFill/>
                    </a:lnR>
                    <a:lnT>
                      <a:noFill/>
                    </a:lnT>
                    <a:lnB>
                      <a:noFill/>
                    </a:lnB>
                    <a:noFill/>
                  </a:tcPr>
                </a:tc>
                <a:tc>
                  <a:txBody>
                    <a:bodyPr/>
                    <a:lstStyle/>
                    <a:p>
                      <a:pPr>
                        <a:buNone/>
                      </a:pPr>
                      <a:r>
                        <a:rPr lang="en-US"/>
                        <a:t>Description</a:t>
                      </a:r>
                    </a:p>
                  </a:txBody>
                  <a:tcPr anchor="ctr">
                    <a:lnL>
                      <a:noFill/>
                    </a:lnL>
                    <a:lnR>
                      <a:noFill/>
                    </a:lnR>
                    <a:lnT>
                      <a:noFill/>
                    </a:lnT>
                    <a:lnB>
                      <a:noFill/>
                    </a:lnB>
                    <a:noFill/>
                  </a:tcPr>
                </a:tc>
                <a:extLst>
                  <a:ext uri="{0D108BD9-81ED-4DB2-BD59-A6C34878D82A}">
                    <a16:rowId xmlns:a16="http://schemas.microsoft.com/office/drawing/2014/main" val="3528468594"/>
                  </a:ext>
                </a:extLst>
              </a:tr>
              <a:tr h="0">
                <a:tc>
                  <a:txBody>
                    <a:bodyPr/>
                    <a:lstStyle/>
                    <a:p>
                      <a:pPr>
                        <a:buNone/>
                      </a:pPr>
                      <a:r>
                        <a:rPr lang="en-US">
                          <a:latin typeface="Courier New" panose="02070309020205020404" pitchFamily="49" charset="0"/>
                        </a:rPr>
                        <a:t>prune: true</a:t>
                      </a:r>
                      <a:endParaRPr lang="en-US"/>
                    </a:p>
                  </a:txBody>
                  <a:tcPr anchor="ctr">
                    <a:lnL>
                      <a:noFill/>
                    </a:lnL>
                    <a:lnR>
                      <a:noFill/>
                    </a:lnR>
                    <a:lnT>
                      <a:noFill/>
                    </a:lnT>
                    <a:lnB>
                      <a:noFill/>
                    </a:lnB>
                    <a:noFill/>
                  </a:tcPr>
                </a:tc>
                <a:tc>
                  <a:txBody>
                    <a:bodyPr/>
                    <a:lstStyle/>
                    <a:p>
                      <a:pPr>
                        <a:buNone/>
                      </a:pPr>
                      <a:r>
                        <a:rPr lang="en-US"/>
                        <a:t>Deletes resources in the cluster that are </a:t>
                      </a:r>
                      <a:r>
                        <a:rPr lang="en-US" b="1"/>
                        <a:t>no longer defined</a:t>
                      </a:r>
                      <a:r>
                        <a:rPr lang="en-US"/>
                        <a:t> in Git. Prevents config drift.</a:t>
                      </a:r>
                    </a:p>
                  </a:txBody>
                  <a:tcPr anchor="ctr">
                    <a:lnL>
                      <a:noFill/>
                    </a:lnL>
                    <a:lnR>
                      <a:noFill/>
                    </a:lnR>
                    <a:lnT>
                      <a:noFill/>
                    </a:lnT>
                    <a:lnB>
                      <a:noFill/>
                    </a:lnB>
                    <a:noFill/>
                  </a:tcPr>
                </a:tc>
                <a:extLst>
                  <a:ext uri="{0D108BD9-81ED-4DB2-BD59-A6C34878D82A}">
                    <a16:rowId xmlns:a16="http://schemas.microsoft.com/office/drawing/2014/main" val="1168095694"/>
                  </a:ext>
                </a:extLst>
              </a:tr>
              <a:tr h="0">
                <a:tc>
                  <a:txBody>
                    <a:bodyPr/>
                    <a:lstStyle/>
                    <a:p>
                      <a:pPr>
                        <a:buNone/>
                      </a:pPr>
                      <a:r>
                        <a:rPr lang="en-US">
                          <a:latin typeface="Courier New" panose="02070309020205020404" pitchFamily="49" charset="0"/>
                        </a:rPr>
                        <a:t>selfHeal: true</a:t>
                      </a:r>
                      <a:endParaRPr lang="en-US"/>
                    </a:p>
                  </a:txBody>
                  <a:tcPr anchor="ctr">
                    <a:lnL>
                      <a:noFill/>
                    </a:lnL>
                    <a:lnR>
                      <a:noFill/>
                    </a:lnR>
                    <a:lnT>
                      <a:noFill/>
                    </a:lnT>
                    <a:lnB>
                      <a:noFill/>
                    </a:lnB>
                    <a:noFill/>
                  </a:tcPr>
                </a:tc>
                <a:tc>
                  <a:txBody>
                    <a:bodyPr/>
                    <a:lstStyle/>
                    <a:p>
                      <a:pPr>
                        <a:buNone/>
                      </a:pPr>
                      <a:r>
                        <a:rPr lang="en-US" dirty="0"/>
                        <a:t>If someone manually changes a resource in the cluster, Argo CD </a:t>
                      </a:r>
                      <a:r>
                        <a:rPr lang="en-US" b="1" dirty="0"/>
                        <a:t>detects the drift</a:t>
                      </a:r>
                      <a:r>
                        <a:rPr lang="en-US" dirty="0"/>
                        <a:t> and reverts it back to match Git.</a:t>
                      </a:r>
                    </a:p>
                  </a:txBody>
                  <a:tcPr anchor="ctr">
                    <a:lnL>
                      <a:noFill/>
                    </a:lnL>
                    <a:lnR>
                      <a:noFill/>
                    </a:lnR>
                    <a:lnT>
                      <a:noFill/>
                    </a:lnT>
                    <a:lnB>
                      <a:noFill/>
                    </a:lnB>
                    <a:noFill/>
                  </a:tcPr>
                </a:tc>
                <a:extLst>
                  <a:ext uri="{0D108BD9-81ED-4DB2-BD59-A6C34878D82A}">
                    <a16:rowId xmlns:a16="http://schemas.microsoft.com/office/drawing/2014/main" val="2152148057"/>
                  </a:ext>
                </a:extLst>
              </a:tr>
            </a:tbl>
          </a:graphicData>
        </a:graphic>
      </p:graphicFrame>
    </p:spTree>
    <p:extLst>
      <p:ext uri="{BB962C8B-B14F-4D97-AF65-F5344CB8AC3E}">
        <p14:creationId xmlns:p14="http://schemas.microsoft.com/office/powerpoint/2010/main" val="107959526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E8AC7-6112-2575-0738-FC0DF9DFCFE3}"/>
              </a:ext>
            </a:extLst>
          </p:cNvPr>
          <p:cNvSpPr>
            <a:spLocks noGrp="1"/>
          </p:cNvSpPr>
          <p:nvPr>
            <p:ph type="title"/>
          </p:nvPr>
        </p:nvSpPr>
        <p:spPr/>
        <p:txBody>
          <a:bodyPr/>
          <a:lstStyle/>
          <a:p>
            <a:r>
              <a:rPr lang="en-US" b="1" dirty="0"/>
              <a:t>Sync Behavior</a:t>
            </a:r>
          </a:p>
        </p:txBody>
      </p:sp>
      <p:graphicFrame>
        <p:nvGraphicFramePr>
          <p:cNvPr id="4" name="Content Placeholder 3">
            <a:extLst>
              <a:ext uri="{FF2B5EF4-FFF2-40B4-BE49-F238E27FC236}">
                <a16:creationId xmlns:a16="http://schemas.microsoft.com/office/drawing/2014/main" id="{35163437-9D33-E597-54FC-FB9B3FF36AFC}"/>
              </a:ext>
            </a:extLst>
          </p:cNvPr>
          <p:cNvGraphicFramePr>
            <a:graphicFrameLocks noGrp="1"/>
          </p:cNvGraphicFramePr>
          <p:nvPr>
            <p:ph idx="1"/>
          </p:nvPr>
        </p:nvGraphicFramePr>
        <p:xfrm>
          <a:off x="838200" y="2263934"/>
          <a:ext cx="10515600" cy="3474720"/>
        </p:xfrm>
        <a:graphic>
          <a:graphicData uri="http://schemas.openxmlformats.org/drawingml/2006/table">
            <a:tbl>
              <a:tblPr/>
              <a:tblGrid>
                <a:gridCol w="5257800">
                  <a:extLst>
                    <a:ext uri="{9D8B030D-6E8A-4147-A177-3AD203B41FA5}">
                      <a16:colId xmlns:a16="http://schemas.microsoft.com/office/drawing/2014/main" val="2998711602"/>
                    </a:ext>
                  </a:extLst>
                </a:gridCol>
                <a:gridCol w="5257800">
                  <a:extLst>
                    <a:ext uri="{9D8B030D-6E8A-4147-A177-3AD203B41FA5}">
                      <a16:colId xmlns:a16="http://schemas.microsoft.com/office/drawing/2014/main" val="2613226310"/>
                    </a:ext>
                  </a:extLst>
                </a:gridCol>
              </a:tblGrid>
              <a:tr h="0">
                <a:tc>
                  <a:txBody>
                    <a:bodyPr/>
                    <a:lstStyle/>
                    <a:p>
                      <a:pPr>
                        <a:buNone/>
                      </a:pPr>
                      <a:r>
                        <a:rPr lang="en-US"/>
                        <a:t>Option</a:t>
                      </a:r>
                    </a:p>
                  </a:txBody>
                  <a:tcPr anchor="ctr">
                    <a:lnL>
                      <a:noFill/>
                    </a:lnL>
                    <a:lnR>
                      <a:noFill/>
                    </a:lnR>
                    <a:lnT>
                      <a:noFill/>
                    </a:lnT>
                    <a:lnB>
                      <a:noFill/>
                    </a:lnB>
                    <a:noFill/>
                  </a:tcPr>
                </a:tc>
                <a:tc>
                  <a:txBody>
                    <a:bodyPr/>
                    <a:lstStyle/>
                    <a:p>
                      <a:pPr>
                        <a:buNone/>
                      </a:pPr>
                      <a:r>
                        <a:rPr lang="en-US"/>
                        <a:t>Meaning</a:t>
                      </a:r>
                    </a:p>
                  </a:txBody>
                  <a:tcPr anchor="ctr">
                    <a:lnL>
                      <a:noFill/>
                    </a:lnL>
                    <a:lnR>
                      <a:noFill/>
                    </a:lnR>
                    <a:lnT>
                      <a:noFill/>
                    </a:lnT>
                    <a:lnB>
                      <a:noFill/>
                    </a:lnB>
                    <a:noFill/>
                  </a:tcPr>
                </a:tc>
                <a:extLst>
                  <a:ext uri="{0D108BD9-81ED-4DB2-BD59-A6C34878D82A}">
                    <a16:rowId xmlns:a16="http://schemas.microsoft.com/office/drawing/2014/main" val="3194920125"/>
                  </a:ext>
                </a:extLst>
              </a:tr>
              <a:tr h="0">
                <a:tc>
                  <a:txBody>
                    <a:bodyPr/>
                    <a:lstStyle/>
                    <a:p>
                      <a:pPr>
                        <a:buNone/>
                      </a:pPr>
                      <a:r>
                        <a:rPr lang="en-US">
                          <a:latin typeface="Courier New" panose="02070309020205020404" pitchFamily="49" charset="0"/>
                        </a:rPr>
                        <a:t>CreateNamespace=true</a:t>
                      </a:r>
                      <a:endParaRPr lang="en-US"/>
                    </a:p>
                  </a:txBody>
                  <a:tcPr anchor="ctr">
                    <a:lnL>
                      <a:noFill/>
                    </a:lnL>
                    <a:lnR>
                      <a:noFill/>
                    </a:lnR>
                    <a:lnT>
                      <a:noFill/>
                    </a:lnT>
                    <a:lnB>
                      <a:noFill/>
                    </a:lnB>
                    <a:noFill/>
                  </a:tcPr>
                </a:tc>
                <a:tc>
                  <a:txBody>
                    <a:bodyPr/>
                    <a:lstStyle/>
                    <a:p>
                      <a:pPr>
                        <a:buNone/>
                      </a:pPr>
                      <a:r>
                        <a:rPr lang="en-US"/>
                        <a:t>Automatically create the destination namespace if it doesn’t exist.</a:t>
                      </a:r>
                    </a:p>
                  </a:txBody>
                  <a:tcPr anchor="ctr">
                    <a:lnL>
                      <a:noFill/>
                    </a:lnL>
                    <a:lnR>
                      <a:noFill/>
                    </a:lnR>
                    <a:lnT>
                      <a:noFill/>
                    </a:lnT>
                    <a:lnB>
                      <a:noFill/>
                    </a:lnB>
                    <a:noFill/>
                  </a:tcPr>
                </a:tc>
                <a:extLst>
                  <a:ext uri="{0D108BD9-81ED-4DB2-BD59-A6C34878D82A}">
                    <a16:rowId xmlns:a16="http://schemas.microsoft.com/office/drawing/2014/main" val="1564855192"/>
                  </a:ext>
                </a:extLst>
              </a:tr>
              <a:tr h="0">
                <a:tc>
                  <a:txBody>
                    <a:bodyPr/>
                    <a:lstStyle/>
                    <a:p>
                      <a:pPr>
                        <a:buNone/>
                      </a:pPr>
                      <a:r>
                        <a:rPr lang="en-US">
                          <a:latin typeface="Courier New" panose="02070309020205020404" pitchFamily="49" charset="0"/>
                        </a:rPr>
                        <a:t>PrunePropagationPolicy=foreground</a:t>
                      </a:r>
                      <a:endParaRPr lang="en-US"/>
                    </a:p>
                  </a:txBody>
                  <a:tcPr anchor="ctr">
                    <a:lnL>
                      <a:noFill/>
                    </a:lnL>
                    <a:lnR>
                      <a:noFill/>
                    </a:lnR>
                    <a:lnT>
                      <a:noFill/>
                    </a:lnT>
                    <a:lnB>
                      <a:noFill/>
                    </a:lnB>
                    <a:noFill/>
                  </a:tcPr>
                </a:tc>
                <a:tc>
                  <a:txBody>
                    <a:bodyPr/>
                    <a:lstStyle/>
                    <a:p>
                      <a:pPr>
                        <a:buNone/>
                      </a:pPr>
                      <a:r>
                        <a:rPr lang="en-US"/>
                        <a:t>Force foreground deletion (wait for dependents to be deleted).</a:t>
                      </a:r>
                    </a:p>
                  </a:txBody>
                  <a:tcPr anchor="ctr">
                    <a:lnL>
                      <a:noFill/>
                    </a:lnL>
                    <a:lnR>
                      <a:noFill/>
                    </a:lnR>
                    <a:lnT>
                      <a:noFill/>
                    </a:lnT>
                    <a:lnB>
                      <a:noFill/>
                    </a:lnB>
                    <a:noFill/>
                  </a:tcPr>
                </a:tc>
                <a:extLst>
                  <a:ext uri="{0D108BD9-81ED-4DB2-BD59-A6C34878D82A}">
                    <a16:rowId xmlns:a16="http://schemas.microsoft.com/office/drawing/2014/main" val="431710372"/>
                  </a:ext>
                </a:extLst>
              </a:tr>
              <a:tr h="0">
                <a:tc>
                  <a:txBody>
                    <a:bodyPr/>
                    <a:lstStyle/>
                    <a:p>
                      <a:pPr>
                        <a:buNone/>
                      </a:pPr>
                      <a:r>
                        <a:rPr lang="en-US">
                          <a:latin typeface="Courier New" panose="02070309020205020404" pitchFamily="49" charset="0"/>
                        </a:rPr>
                        <a:t>ApplyOutOfSyncOnly=true</a:t>
                      </a:r>
                      <a:endParaRPr lang="en-US"/>
                    </a:p>
                  </a:txBody>
                  <a:tcPr anchor="ctr">
                    <a:lnL>
                      <a:noFill/>
                    </a:lnL>
                    <a:lnR>
                      <a:noFill/>
                    </a:lnR>
                    <a:lnT>
                      <a:noFill/>
                    </a:lnT>
                    <a:lnB>
                      <a:noFill/>
                    </a:lnB>
                    <a:noFill/>
                  </a:tcPr>
                </a:tc>
                <a:tc>
                  <a:txBody>
                    <a:bodyPr/>
                    <a:lstStyle/>
                    <a:p>
                      <a:pPr>
                        <a:buNone/>
                      </a:pPr>
                      <a:r>
                        <a:rPr lang="en-US"/>
                        <a:t>Apply only resources that are out of sync (faster).</a:t>
                      </a:r>
                    </a:p>
                  </a:txBody>
                  <a:tcPr anchor="ctr">
                    <a:lnL>
                      <a:noFill/>
                    </a:lnL>
                    <a:lnR>
                      <a:noFill/>
                    </a:lnR>
                    <a:lnT>
                      <a:noFill/>
                    </a:lnT>
                    <a:lnB>
                      <a:noFill/>
                    </a:lnB>
                    <a:noFill/>
                  </a:tcPr>
                </a:tc>
                <a:extLst>
                  <a:ext uri="{0D108BD9-81ED-4DB2-BD59-A6C34878D82A}">
                    <a16:rowId xmlns:a16="http://schemas.microsoft.com/office/drawing/2014/main" val="2274781254"/>
                  </a:ext>
                </a:extLst>
              </a:tr>
              <a:tr h="0">
                <a:tc>
                  <a:txBody>
                    <a:bodyPr/>
                    <a:lstStyle/>
                    <a:p>
                      <a:pPr>
                        <a:buNone/>
                      </a:pPr>
                      <a:r>
                        <a:rPr lang="en-US">
                          <a:latin typeface="Courier New" panose="02070309020205020404" pitchFamily="49" charset="0"/>
                        </a:rPr>
                        <a:t>Validate=false</a:t>
                      </a:r>
                      <a:endParaRPr lang="en-US"/>
                    </a:p>
                  </a:txBody>
                  <a:tcPr anchor="ctr">
                    <a:lnL>
                      <a:noFill/>
                    </a:lnL>
                    <a:lnR>
                      <a:noFill/>
                    </a:lnR>
                    <a:lnT>
                      <a:noFill/>
                    </a:lnT>
                    <a:lnB>
                      <a:noFill/>
                    </a:lnB>
                    <a:noFill/>
                  </a:tcPr>
                </a:tc>
                <a:tc>
                  <a:txBody>
                    <a:bodyPr/>
                    <a:lstStyle/>
                    <a:p>
                      <a:pPr>
                        <a:buNone/>
                      </a:pPr>
                      <a:r>
                        <a:rPr lang="en-US"/>
                        <a:t>Skip Kubernetes schema validation (useful for CRDs).</a:t>
                      </a:r>
                    </a:p>
                  </a:txBody>
                  <a:tcPr anchor="ctr">
                    <a:lnL>
                      <a:noFill/>
                    </a:lnL>
                    <a:lnR>
                      <a:noFill/>
                    </a:lnR>
                    <a:lnT>
                      <a:noFill/>
                    </a:lnT>
                    <a:lnB>
                      <a:noFill/>
                    </a:lnB>
                    <a:noFill/>
                  </a:tcPr>
                </a:tc>
                <a:extLst>
                  <a:ext uri="{0D108BD9-81ED-4DB2-BD59-A6C34878D82A}">
                    <a16:rowId xmlns:a16="http://schemas.microsoft.com/office/drawing/2014/main" val="1678098396"/>
                  </a:ext>
                </a:extLst>
              </a:tr>
              <a:tr h="0">
                <a:tc>
                  <a:txBody>
                    <a:bodyPr/>
                    <a:lstStyle/>
                    <a:p>
                      <a:pPr>
                        <a:buNone/>
                      </a:pPr>
                      <a:r>
                        <a:rPr lang="en-US">
                          <a:latin typeface="Courier New" panose="02070309020205020404" pitchFamily="49" charset="0"/>
                        </a:rPr>
                        <a:t>ServerSideApply=true</a:t>
                      </a:r>
                      <a:endParaRPr lang="en-US"/>
                    </a:p>
                  </a:txBody>
                  <a:tcPr anchor="ctr">
                    <a:lnL>
                      <a:noFill/>
                    </a:lnL>
                    <a:lnR>
                      <a:noFill/>
                    </a:lnR>
                    <a:lnT>
                      <a:noFill/>
                    </a:lnT>
                    <a:lnB>
                      <a:noFill/>
                    </a:lnB>
                    <a:noFill/>
                  </a:tcPr>
                </a:tc>
                <a:tc>
                  <a:txBody>
                    <a:bodyPr/>
                    <a:lstStyle/>
                    <a:p>
                      <a:pPr>
                        <a:buNone/>
                      </a:pPr>
                      <a:r>
                        <a:rPr lang="en-US" dirty="0"/>
                        <a:t>Use server-side apply (SSA) instead of kubectl apply.</a:t>
                      </a:r>
                    </a:p>
                  </a:txBody>
                  <a:tcPr anchor="ctr">
                    <a:lnL>
                      <a:noFill/>
                    </a:lnL>
                    <a:lnR>
                      <a:noFill/>
                    </a:lnR>
                    <a:lnT>
                      <a:noFill/>
                    </a:lnT>
                    <a:lnB>
                      <a:noFill/>
                    </a:lnB>
                    <a:noFill/>
                  </a:tcPr>
                </a:tc>
                <a:extLst>
                  <a:ext uri="{0D108BD9-81ED-4DB2-BD59-A6C34878D82A}">
                    <a16:rowId xmlns:a16="http://schemas.microsoft.com/office/drawing/2014/main" val="2893931999"/>
                  </a:ext>
                </a:extLst>
              </a:tr>
              <a:tr h="0">
                <a:tc>
                  <a:txBody>
                    <a:bodyPr/>
                    <a:lstStyle/>
                    <a:p>
                      <a:pPr>
                        <a:buNone/>
                      </a:pPr>
                      <a:r>
                        <a:rPr lang="en-US">
                          <a:latin typeface="Courier New" panose="02070309020205020404" pitchFamily="49" charset="0"/>
                        </a:rPr>
                        <a:t>Replace=true</a:t>
                      </a:r>
                      <a:endParaRPr lang="en-US"/>
                    </a:p>
                  </a:txBody>
                  <a:tcPr anchor="ctr">
                    <a:lnL>
                      <a:noFill/>
                    </a:lnL>
                    <a:lnR>
                      <a:noFill/>
                    </a:lnR>
                    <a:lnT>
                      <a:noFill/>
                    </a:lnT>
                    <a:lnB>
                      <a:noFill/>
                    </a:lnB>
                    <a:noFill/>
                  </a:tcPr>
                </a:tc>
                <a:tc>
                  <a:txBody>
                    <a:bodyPr/>
                    <a:lstStyle/>
                    <a:p>
                      <a:pPr>
                        <a:buNone/>
                      </a:pPr>
                      <a:r>
                        <a:rPr lang="en-US"/>
                        <a:t>Replace instead of patching resources during apply.</a:t>
                      </a:r>
                    </a:p>
                  </a:txBody>
                  <a:tcPr anchor="ctr">
                    <a:lnL>
                      <a:noFill/>
                    </a:lnL>
                    <a:lnR>
                      <a:noFill/>
                    </a:lnR>
                    <a:lnT>
                      <a:noFill/>
                    </a:lnT>
                    <a:lnB>
                      <a:noFill/>
                    </a:lnB>
                    <a:noFill/>
                  </a:tcPr>
                </a:tc>
                <a:extLst>
                  <a:ext uri="{0D108BD9-81ED-4DB2-BD59-A6C34878D82A}">
                    <a16:rowId xmlns:a16="http://schemas.microsoft.com/office/drawing/2014/main" val="68388254"/>
                  </a:ext>
                </a:extLst>
              </a:tr>
              <a:tr h="0">
                <a:tc>
                  <a:txBody>
                    <a:bodyPr/>
                    <a:lstStyle/>
                    <a:p>
                      <a:pPr>
                        <a:buNone/>
                      </a:pPr>
                      <a:r>
                        <a:rPr lang="en-US">
                          <a:latin typeface="Courier New" panose="02070309020205020404" pitchFamily="49" charset="0"/>
                        </a:rPr>
                        <a:t>RespectIgnoreDifferences=true</a:t>
                      </a:r>
                      <a:endParaRPr lang="en-US"/>
                    </a:p>
                  </a:txBody>
                  <a:tcPr anchor="ctr">
                    <a:lnL>
                      <a:noFill/>
                    </a:lnL>
                    <a:lnR>
                      <a:noFill/>
                    </a:lnR>
                    <a:lnT>
                      <a:noFill/>
                    </a:lnT>
                    <a:lnB>
                      <a:noFill/>
                    </a:lnB>
                    <a:noFill/>
                  </a:tcPr>
                </a:tc>
                <a:tc>
                  <a:txBody>
                    <a:bodyPr/>
                    <a:lstStyle/>
                    <a:p>
                      <a:pPr>
                        <a:buNone/>
                      </a:pPr>
                      <a:r>
                        <a:rPr lang="en-US" dirty="0"/>
                        <a:t>Don’t override </a:t>
                      </a:r>
                      <a:r>
                        <a:rPr lang="en-US" dirty="0" err="1">
                          <a:latin typeface="Courier New" panose="02070309020205020404" pitchFamily="49" charset="0"/>
                        </a:rPr>
                        <a:t>ignoreDifferences</a:t>
                      </a:r>
                      <a:r>
                        <a:rPr lang="en-US" dirty="0"/>
                        <a:t> rules.</a:t>
                      </a:r>
                    </a:p>
                  </a:txBody>
                  <a:tcPr anchor="ctr">
                    <a:lnL>
                      <a:noFill/>
                    </a:lnL>
                    <a:lnR>
                      <a:noFill/>
                    </a:lnR>
                    <a:lnT>
                      <a:noFill/>
                    </a:lnT>
                    <a:lnB>
                      <a:noFill/>
                    </a:lnB>
                    <a:noFill/>
                  </a:tcPr>
                </a:tc>
                <a:extLst>
                  <a:ext uri="{0D108BD9-81ED-4DB2-BD59-A6C34878D82A}">
                    <a16:rowId xmlns:a16="http://schemas.microsoft.com/office/drawing/2014/main" val="1566732382"/>
                  </a:ext>
                </a:extLst>
              </a:tr>
            </a:tbl>
          </a:graphicData>
        </a:graphic>
      </p:graphicFrame>
    </p:spTree>
    <p:extLst>
      <p:ext uri="{BB962C8B-B14F-4D97-AF65-F5344CB8AC3E}">
        <p14:creationId xmlns:p14="http://schemas.microsoft.com/office/powerpoint/2010/main" val="153346103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8CF03-8032-8545-BBB2-FBFAEBEAAB6C}"/>
              </a:ext>
            </a:extLst>
          </p:cNvPr>
          <p:cNvSpPr>
            <a:spLocks noGrp="1"/>
          </p:cNvSpPr>
          <p:nvPr>
            <p:ph type="title"/>
          </p:nvPr>
        </p:nvSpPr>
        <p:spPr/>
        <p:txBody>
          <a:bodyPr/>
          <a:lstStyle/>
          <a:p>
            <a:r>
              <a:rPr lang="en-US" dirty="0"/>
              <a:t>Sync</a:t>
            </a:r>
          </a:p>
        </p:txBody>
      </p:sp>
      <p:graphicFrame>
        <p:nvGraphicFramePr>
          <p:cNvPr id="4" name="Content Placeholder 3">
            <a:extLst>
              <a:ext uri="{FF2B5EF4-FFF2-40B4-BE49-F238E27FC236}">
                <a16:creationId xmlns:a16="http://schemas.microsoft.com/office/drawing/2014/main" id="{836EAA32-5957-6692-F438-AC1771FE7E53}"/>
              </a:ext>
            </a:extLst>
          </p:cNvPr>
          <p:cNvGraphicFramePr>
            <a:graphicFrameLocks noGrp="1"/>
          </p:cNvGraphicFramePr>
          <p:nvPr>
            <p:ph idx="1"/>
          </p:nvPr>
        </p:nvGraphicFramePr>
        <p:xfrm>
          <a:off x="838200" y="2766854"/>
          <a:ext cx="10515600" cy="2468880"/>
        </p:xfrm>
        <a:graphic>
          <a:graphicData uri="http://schemas.openxmlformats.org/drawingml/2006/table">
            <a:tbl>
              <a:tblPr/>
              <a:tblGrid>
                <a:gridCol w="3505200">
                  <a:extLst>
                    <a:ext uri="{9D8B030D-6E8A-4147-A177-3AD203B41FA5}">
                      <a16:colId xmlns:a16="http://schemas.microsoft.com/office/drawing/2014/main" val="3554058553"/>
                    </a:ext>
                  </a:extLst>
                </a:gridCol>
                <a:gridCol w="3505200">
                  <a:extLst>
                    <a:ext uri="{9D8B030D-6E8A-4147-A177-3AD203B41FA5}">
                      <a16:colId xmlns:a16="http://schemas.microsoft.com/office/drawing/2014/main" val="624322212"/>
                    </a:ext>
                  </a:extLst>
                </a:gridCol>
                <a:gridCol w="3505200">
                  <a:extLst>
                    <a:ext uri="{9D8B030D-6E8A-4147-A177-3AD203B41FA5}">
                      <a16:colId xmlns:a16="http://schemas.microsoft.com/office/drawing/2014/main" val="292954848"/>
                    </a:ext>
                  </a:extLst>
                </a:gridCol>
              </a:tblGrid>
              <a:tr h="0">
                <a:tc>
                  <a:txBody>
                    <a:bodyPr/>
                    <a:lstStyle/>
                    <a:p>
                      <a:pPr>
                        <a:buNone/>
                      </a:pPr>
                      <a:r>
                        <a:rPr lang="en-US"/>
                        <a:t>Feature</a:t>
                      </a:r>
                    </a:p>
                  </a:txBody>
                  <a:tcPr anchor="ctr">
                    <a:lnL>
                      <a:noFill/>
                    </a:lnL>
                    <a:lnR>
                      <a:noFill/>
                    </a:lnR>
                    <a:lnT>
                      <a:noFill/>
                    </a:lnT>
                    <a:lnB>
                      <a:noFill/>
                    </a:lnB>
                    <a:noFill/>
                  </a:tcPr>
                </a:tc>
                <a:tc>
                  <a:txBody>
                    <a:bodyPr/>
                    <a:lstStyle/>
                    <a:p>
                      <a:pPr>
                        <a:buNone/>
                      </a:pPr>
                      <a:r>
                        <a:rPr lang="en-US"/>
                        <a:t>Key Field</a:t>
                      </a:r>
                    </a:p>
                  </a:txBody>
                  <a:tcPr anchor="ctr">
                    <a:lnL>
                      <a:noFill/>
                    </a:lnL>
                    <a:lnR>
                      <a:noFill/>
                    </a:lnR>
                    <a:lnT>
                      <a:noFill/>
                    </a:lnT>
                    <a:lnB>
                      <a:noFill/>
                    </a:lnB>
                    <a:noFill/>
                  </a:tcPr>
                </a:tc>
                <a:tc>
                  <a:txBody>
                    <a:bodyPr/>
                    <a:lstStyle/>
                    <a:p>
                      <a:pPr>
                        <a:buNone/>
                      </a:pPr>
                      <a:r>
                        <a:rPr lang="en-US"/>
                        <a:t>Behavior</a:t>
                      </a:r>
                    </a:p>
                  </a:txBody>
                  <a:tcPr anchor="ctr">
                    <a:lnL>
                      <a:noFill/>
                    </a:lnL>
                    <a:lnR>
                      <a:noFill/>
                    </a:lnR>
                    <a:lnT>
                      <a:noFill/>
                    </a:lnT>
                    <a:lnB>
                      <a:noFill/>
                    </a:lnB>
                    <a:noFill/>
                  </a:tcPr>
                </a:tc>
                <a:extLst>
                  <a:ext uri="{0D108BD9-81ED-4DB2-BD59-A6C34878D82A}">
                    <a16:rowId xmlns:a16="http://schemas.microsoft.com/office/drawing/2014/main" val="3030326895"/>
                  </a:ext>
                </a:extLst>
              </a:tr>
              <a:tr h="0">
                <a:tc>
                  <a:txBody>
                    <a:bodyPr/>
                    <a:lstStyle/>
                    <a:p>
                      <a:pPr>
                        <a:buNone/>
                      </a:pPr>
                      <a:r>
                        <a:rPr lang="en-US"/>
                        <a:t>Manual Sync</a:t>
                      </a:r>
                    </a:p>
                  </a:txBody>
                  <a:tcPr anchor="ctr">
                    <a:lnL>
                      <a:noFill/>
                    </a:lnL>
                    <a:lnR>
                      <a:noFill/>
                    </a:lnR>
                    <a:lnT>
                      <a:noFill/>
                    </a:lnT>
                    <a:lnB>
                      <a:noFill/>
                    </a:lnB>
                    <a:noFill/>
                  </a:tcPr>
                </a:tc>
                <a:tc>
                  <a:txBody>
                    <a:bodyPr/>
                    <a:lstStyle/>
                    <a:p>
                      <a:pPr>
                        <a:buNone/>
                      </a:pPr>
                      <a:r>
                        <a:rPr lang="en-US"/>
                        <a:t>(none)</a:t>
                      </a:r>
                    </a:p>
                  </a:txBody>
                  <a:tcPr anchor="ctr">
                    <a:lnL>
                      <a:noFill/>
                    </a:lnL>
                    <a:lnR>
                      <a:noFill/>
                    </a:lnR>
                    <a:lnT>
                      <a:noFill/>
                    </a:lnT>
                    <a:lnB>
                      <a:noFill/>
                    </a:lnB>
                    <a:noFill/>
                  </a:tcPr>
                </a:tc>
                <a:tc>
                  <a:txBody>
                    <a:bodyPr/>
                    <a:lstStyle/>
                    <a:p>
                      <a:pPr>
                        <a:buNone/>
                      </a:pPr>
                      <a:r>
                        <a:rPr lang="en-US"/>
                        <a:t>You trigger sync manually</a:t>
                      </a:r>
                    </a:p>
                  </a:txBody>
                  <a:tcPr anchor="ctr">
                    <a:lnL>
                      <a:noFill/>
                    </a:lnL>
                    <a:lnR>
                      <a:noFill/>
                    </a:lnR>
                    <a:lnT>
                      <a:noFill/>
                    </a:lnT>
                    <a:lnB>
                      <a:noFill/>
                    </a:lnB>
                    <a:noFill/>
                  </a:tcPr>
                </a:tc>
                <a:extLst>
                  <a:ext uri="{0D108BD9-81ED-4DB2-BD59-A6C34878D82A}">
                    <a16:rowId xmlns:a16="http://schemas.microsoft.com/office/drawing/2014/main" val="337200325"/>
                  </a:ext>
                </a:extLst>
              </a:tr>
              <a:tr h="0">
                <a:tc>
                  <a:txBody>
                    <a:bodyPr/>
                    <a:lstStyle/>
                    <a:p>
                      <a:pPr>
                        <a:buNone/>
                      </a:pPr>
                      <a:r>
                        <a:rPr lang="en-US"/>
                        <a:t>Auto Sync</a:t>
                      </a:r>
                    </a:p>
                  </a:txBody>
                  <a:tcPr anchor="ctr">
                    <a:lnL>
                      <a:noFill/>
                    </a:lnL>
                    <a:lnR>
                      <a:noFill/>
                    </a:lnR>
                    <a:lnT>
                      <a:noFill/>
                    </a:lnT>
                    <a:lnB>
                      <a:noFill/>
                    </a:lnB>
                    <a:noFill/>
                  </a:tcPr>
                </a:tc>
                <a:tc>
                  <a:txBody>
                    <a:bodyPr/>
                    <a:lstStyle/>
                    <a:p>
                      <a:pPr>
                        <a:buNone/>
                      </a:pPr>
                      <a:r>
                        <a:rPr lang="en-US">
                          <a:latin typeface="Courier New" panose="02070309020205020404" pitchFamily="49" charset="0"/>
                        </a:rPr>
                        <a:t>automated</a:t>
                      </a:r>
                      <a:endParaRPr lang="en-US"/>
                    </a:p>
                  </a:txBody>
                  <a:tcPr anchor="ctr">
                    <a:lnL>
                      <a:noFill/>
                    </a:lnL>
                    <a:lnR>
                      <a:noFill/>
                    </a:lnR>
                    <a:lnT>
                      <a:noFill/>
                    </a:lnT>
                    <a:lnB>
                      <a:noFill/>
                    </a:lnB>
                    <a:noFill/>
                  </a:tcPr>
                </a:tc>
                <a:tc>
                  <a:txBody>
                    <a:bodyPr/>
                    <a:lstStyle/>
                    <a:p>
                      <a:pPr>
                        <a:buNone/>
                      </a:pPr>
                      <a:r>
                        <a:rPr lang="en-US"/>
                        <a:t>Syncs automatically on Git change</a:t>
                      </a:r>
                    </a:p>
                  </a:txBody>
                  <a:tcPr anchor="ctr">
                    <a:lnL>
                      <a:noFill/>
                    </a:lnL>
                    <a:lnR>
                      <a:noFill/>
                    </a:lnR>
                    <a:lnT>
                      <a:noFill/>
                    </a:lnT>
                    <a:lnB>
                      <a:noFill/>
                    </a:lnB>
                    <a:noFill/>
                  </a:tcPr>
                </a:tc>
                <a:extLst>
                  <a:ext uri="{0D108BD9-81ED-4DB2-BD59-A6C34878D82A}">
                    <a16:rowId xmlns:a16="http://schemas.microsoft.com/office/drawing/2014/main" val="2180795209"/>
                  </a:ext>
                </a:extLst>
              </a:tr>
              <a:tr h="0">
                <a:tc>
                  <a:txBody>
                    <a:bodyPr/>
                    <a:lstStyle/>
                    <a:p>
                      <a:pPr>
                        <a:buNone/>
                      </a:pPr>
                      <a:r>
                        <a:rPr lang="en-US"/>
                        <a:t>Auto Prune</a:t>
                      </a:r>
                    </a:p>
                  </a:txBody>
                  <a:tcPr anchor="ctr">
                    <a:lnL>
                      <a:noFill/>
                    </a:lnL>
                    <a:lnR>
                      <a:noFill/>
                    </a:lnR>
                    <a:lnT>
                      <a:noFill/>
                    </a:lnT>
                    <a:lnB>
                      <a:noFill/>
                    </a:lnB>
                    <a:noFill/>
                  </a:tcPr>
                </a:tc>
                <a:tc>
                  <a:txBody>
                    <a:bodyPr/>
                    <a:lstStyle/>
                    <a:p>
                      <a:pPr>
                        <a:buNone/>
                      </a:pPr>
                      <a:r>
                        <a:rPr lang="en-US">
                          <a:latin typeface="Courier New" panose="02070309020205020404" pitchFamily="49" charset="0"/>
                        </a:rPr>
                        <a:t>prune: true</a:t>
                      </a:r>
                      <a:endParaRPr lang="en-US"/>
                    </a:p>
                  </a:txBody>
                  <a:tcPr anchor="ctr">
                    <a:lnL>
                      <a:noFill/>
                    </a:lnL>
                    <a:lnR>
                      <a:noFill/>
                    </a:lnR>
                    <a:lnT>
                      <a:noFill/>
                    </a:lnT>
                    <a:lnB>
                      <a:noFill/>
                    </a:lnB>
                    <a:noFill/>
                  </a:tcPr>
                </a:tc>
                <a:tc>
                  <a:txBody>
                    <a:bodyPr/>
                    <a:lstStyle/>
                    <a:p>
                      <a:pPr>
                        <a:buNone/>
                      </a:pPr>
                      <a:r>
                        <a:rPr lang="en-US"/>
                        <a:t>Removes orphaned resources</a:t>
                      </a:r>
                    </a:p>
                  </a:txBody>
                  <a:tcPr anchor="ctr">
                    <a:lnL>
                      <a:noFill/>
                    </a:lnL>
                    <a:lnR>
                      <a:noFill/>
                    </a:lnR>
                    <a:lnT>
                      <a:noFill/>
                    </a:lnT>
                    <a:lnB>
                      <a:noFill/>
                    </a:lnB>
                    <a:noFill/>
                  </a:tcPr>
                </a:tc>
                <a:extLst>
                  <a:ext uri="{0D108BD9-81ED-4DB2-BD59-A6C34878D82A}">
                    <a16:rowId xmlns:a16="http://schemas.microsoft.com/office/drawing/2014/main" val="301153759"/>
                  </a:ext>
                </a:extLst>
              </a:tr>
              <a:tr h="0">
                <a:tc>
                  <a:txBody>
                    <a:bodyPr/>
                    <a:lstStyle/>
                    <a:p>
                      <a:pPr>
                        <a:buNone/>
                      </a:pPr>
                      <a:r>
                        <a:rPr lang="en-US"/>
                        <a:t>Self Heal</a:t>
                      </a:r>
                    </a:p>
                  </a:txBody>
                  <a:tcPr anchor="ctr">
                    <a:lnL>
                      <a:noFill/>
                    </a:lnL>
                    <a:lnR>
                      <a:noFill/>
                    </a:lnR>
                    <a:lnT>
                      <a:noFill/>
                    </a:lnT>
                    <a:lnB>
                      <a:noFill/>
                    </a:lnB>
                    <a:noFill/>
                  </a:tcPr>
                </a:tc>
                <a:tc>
                  <a:txBody>
                    <a:bodyPr/>
                    <a:lstStyle/>
                    <a:p>
                      <a:pPr>
                        <a:buNone/>
                      </a:pPr>
                      <a:r>
                        <a:rPr lang="en-US">
                          <a:latin typeface="Courier New" panose="02070309020205020404" pitchFamily="49" charset="0"/>
                        </a:rPr>
                        <a:t>selfHeal: true</a:t>
                      </a:r>
                      <a:endParaRPr lang="en-US"/>
                    </a:p>
                  </a:txBody>
                  <a:tcPr anchor="ctr">
                    <a:lnL>
                      <a:noFill/>
                    </a:lnL>
                    <a:lnR>
                      <a:noFill/>
                    </a:lnR>
                    <a:lnT>
                      <a:noFill/>
                    </a:lnT>
                    <a:lnB>
                      <a:noFill/>
                    </a:lnB>
                    <a:noFill/>
                  </a:tcPr>
                </a:tc>
                <a:tc>
                  <a:txBody>
                    <a:bodyPr/>
                    <a:lstStyle/>
                    <a:p>
                      <a:pPr>
                        <a:buNone/>
                      </a:pPr>
                      <a:r>
                        <a:rPr lang="en-US"/>
                        <a:t>Reverts manual changes in cluster</a:t>
                      </a:r>
                    </a:p>
                  </a:txBody>
                  <a:tcPr anchor="ctr">
                    <a:lnL>
                      <a:noFill/>
                    </a:lnL>
                    <a:lnR>
                      <a:noFill/>
                    </a:lnR>
                    <a:lnT>
                      <a:noFill/>
                    </a:lnT>
                    <a:lnB>
                      <a:noFill/>
                    </a:lnB>
                    <a:noFill/>
                  </a:tcPr>
                </a:tc>
                <a:extLst>
                  <a:ext uri="{0D108BD9-81ED-4DB2-BD59-A6C34878D82A}">
                    <a16:rowId xmlns:a16="http://schemas.microsoft.com/office/drawing/2014/main" val="864036724"/>
                  </a:ext>
                </a:extLst>
              </a:tr>
              <a:tr h="0">
                <a:tc>
                  <a:txBody>
                    <a:bodyPr/>
                    <a:lstStyle/>
                    <a:p>
                      <a:pPr>
                        <a:buNone/>
                      </a:pPr>
                      <a:r>
                        <a:rPr lang="en-US"/>
                        <a:t>Sync Options</a:t>
                      </a:r>
                    </a:p>
                  </a:txBody>
                  <a:tcPr anchor="ctr">
                    <a:lnL>
                      <a:noFill/>
                    </a:lnL>
                    <a:lnR>
                      <a:noFill/>
                    </a:lnR>
                    <a:lnT>
                      <a:noFill/>
                    </a:lnT>
                    <a:lnB>
                      <a:noFill/>
                    </a:lnB>
                    <a:noFill/>
                  </a:tcPr>
                </a:tc>
                <a:tc>
                  <a:txBody>
                    <a:bodyPr/>
                    <a:lstStyle/>
                    <a:p>
                      <a:pPr>
                        <a:buNone/>
                      </a:pPr>
                      <a:r>
                        <a:rPr lang="en-US">
                          <a:latin typeface="Courier New" panose="02070309020205020404" pitchFamily="49" charset="0"/>
                        </a:rPr>
                        <a:t>syncOptions</a:t>
                      </a:r>
                      <a:endParaRPr lang="en-US"/>
                    </a:p>
                  </a:txBody>
                  <a:tcPr anchor="ctr">
                    <a:lnL>
                      <a:noFill/>
                    </a:lnL>
                    <a:lnR>
                      <a:noFill/>
                    </a:lnR>
                    <a:lnT>
                      <a:noFill/>
                    </a:lnT>
                    <a:lnB>
                      <a:noFill/>
                    </a:lnB>
                    <a:noFill/>
                  </a:tcPr>
                </a:tc>
                <a:tc>
                  <a:txBody>
                    <a:bodyPr/>
                    <a:lstStyle/>
                    <a:p>
                      <a:pPr>
                        <a:buNone/>
                      </a:pPr>
                      <a:r>
                        <a:rPr lang="en-US" dirty="0"/>
                        <a:t>Fine-tunes sync behavior (e.g., namespace creation, validation)</a:t>
                      </a:r>
                    </a:p>
                  </a:txBody>
                  <a:tcPr anchor="ctr">
                    <a:lnL>
                      <a:noFill/>
                    </a:lnL>
                    <a:lnR>
                      <a:noFill/>
                    </a:lnR>
                    <a:lnT>
                      <a:noFill/>
                    </a:lnT>
                    <a:lnB>
                      <a:noFill/>
                    </a:lnB>
                    <a:noFill/>
                  </a:tcPr>
                </a:tc>
                <a:extLst>
                  <a:ext uri="{0D108BD9-81ED-4DB2-BD59-A6C34878D82A}">
                    <a16:rowId xmlns:a16="http://schemas.microsoft.com/office/drawing/2014/main" val="1185431878"/>
                  </a:ext>
                </a:extLst>
              </a:tr>
            </a:tbl>
          </a:graphicData>
        </a:graphic>
      </p:graphicFrame>
    </p:spTree>
    <p:extLst>
      <p:ext uri="{BB962C8B-B14F-4D97-AF65-F5344CB8AC3E}">
        <p14:creationId xmlns:p14="http://schemas.microsoft.com/office/powerpoint/2010/main" val="98635880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DA7EE7-4B5F-7727-8261-2CBEA130F160}"/>
              </a:ext>
            </a:extLst>
          </p:cNvPr>
          <p:cNvSpPr>
            <a:spLocks noGrp="1"/>
          </p:cNvSpPr>
          <p:nvPr>
            <p:ph type="title"/>
          </p:nvPr>
        </p:nvSpPr>
        <p:spPr/>
        <p:txBody>
          <a:bodyPr/>
          <a:lstStyle/>
          <a:p>
            <a:r>
              <a:rPr lang="en-US" b="1" dirty="0"/>
              <a:t>Architecture</a:t>
            </a:r>
          </a:p>
        </p:txBody>
      </p:sp>
      <p:pic>
        <p:nvPicPr>
          <p:cNvPr id="4" name="Content Placeholder 3">
            <a:extLst>
              <a:ext uri="{FF2B5EF4-FFF2-40B4-BE49-F238E27FC236}">
                <a16:creationId xmlns:a16="http://schemas.microsoft.com/office/drawing/2014/main" id="{F77AB5EE-259B-802B-6007-F37199A38006}"/>
              </a:ext>
            </a:extLst>
          </p:cNvPr>
          <p:cNvPicPr>
            <a:picLocks noGrp="1" noChangeAspect="1"/>
          </p:cNvPicPr>
          <p:nvPr>
            <p:ph idx="1"/>
          </p:nvPr>
        </p:nvPicPr>
        <p:blipFill>
          <a:blip r:embed="rId2"/>
          <a:stretch>
            <a:fillRect/>
          </a:stretch>
        </p:blipFill>
        <p:spPr>
          <a:xfrm>
            <a:off x="3812777" y="1825625"/>
            <a:ext cx="4566446" cy="4351338"/>
          </a:xfrm>
          <a:prstGeom prst="rect">
            <a:avLst/>
          </a:prstGeom>
        </p:spPr>
      </p:pic>
    </p:spTree>
    <p:extLst>
      <p:ext uri="{BB962C8B-B14F-4D97-AF65-F5344CB8AC3E}">
        <p14:creationId xmlns:p14="http://schemas.microsoft.com/office/powerpoint/2010/main" val="8074425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18892A-C62B-0E8A-0F88-ABF75DDABE97}"/>
              </a:ext>
            </a:extLst>
          </p:cNvPr>
          <p:cNvSpPr>
            <a:spLocks noGrp="1"/>
          </p:cNvSpPr>
          <p:nvPr>
            <p:ph type="title"/>
          </p:nvPr>
        </p:nvSpPr>
        <p:spPr>
          <a:xfrm>
            <a:off x="2019300" y="538956"/>
            <a:ext cx="8985250" cy="1118394"/>
          </a:xfrm>
        </p:spPr>
        <p:txBody>
          <a:bodyPr anchor="t">
            <a:normAutofit/>
          </a:bodyPr>
          <a:lstStyle/>
          <a:p>
            <a:r>
              <a:rPr lang="en-US" sz="4000" dirty="0"/>
              <a:t>Features of </a:t>
            </a:r>
            <a:r>
              <a:rPr lang="en-US" sz="4000" dirty="0" err="1"/>
              <a:t>ArgoCd</a:t>
            </a:r>
            <a:endParaRPr lang="en-US" sz="4000" dirty="0"/>
          </a:p>
        </p:txBody>
      </p:sp>
      <p:pic>
        <p:nvPicPr>
          <p:cNvPr id="7" name="Graphic 6" descr="Gears">
            <a:extLst>
              <a:ext uri="{FF2B5EF4-FFF2-40B4-BE49-F238E27FC236}">
                <a16:creationId xmlns:a16="http://schemas.microsoft.com/office/drawing/2014/main" id="{8C066EA1-3B38-9C62-F08C-13DA71890D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2AFC7B50-66DD-9078-2D32-F206033A0A77}"/>
              </a:ext>
            </a:extLst>
          </p:cNvPr>
          <p:cNvSpPr>
            <a:spLocks noGrp="1"/>
          </p:cNvSpPr>
          <p:nvPr>
            <p:ph idx="1"/>
          </p:nvPr>
        </p:nvSpPr>
        <p:spPr>
          <a:xfrm>
            <a:off x="1009650" y="1847849"/>
            <a:ext cx="9994900" cy="4254501"/>
          </a:xfrm>
        </p:spPr>
        <p:txBody>
          <a:bodyPr>
            <a:normAutofit/>
          </a:bodyPr>
          <a:lstStyle/>
          <a:p>
            <a:pPr marL="0" indent="0">
              <a:buNone/>
            </a:pPr>
            <a:endParaRPr lang="en-US" sz="2000"/>
          </a:p>
          <a:p>
            <a:r>
              <a:rPr lang="en-US" sz="2000"/>
              <a:t>Manual or automatic deployment of applications to a Kubernetes cluster.</a:t>
            </a:r>
          </a:p>
          <a:p>
            <a:r>
              <a:rPr lang="en-US" sz="2000"/>
              <a:t>Automatic synchronization of application state to the current version of declarative configuration.</a:t>
            </a:r>
          </a:p>
          <a:p>
            <a:r>
              <a:rPr lang="en-US" sz="2000"/>
              <a:t>Web user interface and command-line interface (CLI).</a:t>
            </a:r>
          </a:p>
          <a:p>
            <a:r>
              <a:rPr lang="en-US" sz="2000"/>
              <a:t>Ability to visualize deployment issues, detect and remediate configuration drift.</a:t>
            </a:r>
          </a:p>
          <a:p>
            <a:r>
              <a:rPr lang="en-US" sz="2000"/>
              <a:t>Role-based access control (RBAC) enabling multi-cluster management.</a:t>
            </a:r>
          </a:p>
          <a:p>
            <a:r>
              <a:rPr lang="en-US" sz="2000"/>
              <a:t>Single sign-on (SSO) with providers such as GitLab, GitHub, Microsoft, OAuth2, OIDC, LinkedIn, LDAP, and SAML 2.0</a:t>
            </a:r>
          </a:p>
          <a:p>
            <a:r>
              <a:rPr lang="en-US" sz="2000"/>
              <a:t>Support for webhooks triggering actions in GitLab, GitHub, and BitBucket.</a:t>
            </a:r>
          </a:p>
        </p:txBody>
      </p:sp>
    </p:spTree>
    <p:extLst>
      <p:ext uri="{BB962C8B-B14F-4D97-AF65-F5344CB8AC3E}">
        <p14:creationId xmlns:p14="http://schemas.microsoft.com/office/powerpoint/2010/main" val="26726667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3205</TotalTime>
  <Words>11789</Words>
  <Application>Microsoft Office PowerPoint</Application>
  <PresentationFormat>Widescreen</PresentationFormat>
  <Paragraphs>1628</Paragraphs>
  <Slides>200</Slides>
  <Notes>0</Notes>
  <HiddenSlides>1</HiddenSlides>
  <MMClips>0</MMClips>
  <ScaleCrop>false</ScaleCrop>
  <HeadingPairs>
    <vt:vector size="6" baseType="variant">
      <vt:variant>
        <vt:lpstr>Fonts Used</vt:lpstr>
      </vt:variant>
      <vt:variant>
        <vt:i4>15</vt:i4>
      </vt:variant>
      <vt:variant>
        <vt:lpstr>Theme</vt:lpstr>
      </vt:variant>
      <vt:variant>
        <vt:i4>6</vt:i4>
      </vt:variant>
      <vt:variant>
        <vt:lpstr>Slide Titles</vt:lpstr>
      </vt:variant>
      <vt:variant>
        <vt:i4>200</vt:i4>
      </vt:variant>
    </vt:vector>
  </HeadingPairs>
  <TitlesOfParts>
    <vt:vector size="221" baseType="lpstr">
      <vt:lpstr>Aptos</vt:lpstr>
      <vt:lpstr>Arial</vt:lpstr>
      <vt:lpstr>Calibri</vt:lpstr>
      <vt:lpstr>Calibri Light</vt:lpstr>
      <vt:lpstr>Courier New</vt:lpstr>
      <vt:lpstr>Lato</vt:lpstr>
      <vt:lpstr>Noto Sans</vt:lpstr>
      <vt:lpstr>Poppins-Light</vt:lpstr>
      <vt:lpstr>Poppins-LightItalic</vt:lpstr>
      <vt:lpstr>Poppins-Medium</vt:lpstr>
      <vt:lpstr>RobotoMono-Medium</vt:lpstr>
      <vt:lpstr>RobotoMono-Regular</vt:lpstr>
      <vt:lpstr>Times New Roman</vt:lpstr>
      <vt:lpstr>Verdana</vt:lpstr>
      <vt:lpstr>Wingdings</vt:lpstr>
      <vt:lpstr>Office Theme</vt:lpstr>
      <vt:lpstr>1_Office Theme</vt:lpstr>
      <vt:lpstr>2_Office Theme</vt:lpstr>
      <vt:lpstr>3_Office Theme</vt:lpstr>
      <vt:lpstr>4_Office Theme</vt:lpstr>
      <vt:lpstr>5_Office Theme</vt:lpstr>
      <vt:lpstr>What is Container ?</vt:lpstr>
      <vt:lpstr>What is container image?</vt:lpstr>
      <vt:lpstr>Container vs Image in Practice</vt:lpstr>
      <vt:lpstr>Use of Disk Space</vt:lpstr>
      <vt:lpstr>Image Registries</vt:lpstr>
      <vt:lpstr>Container Engine</vt:lpstr>
      <vt:lpstr>Orchestration</vt:lpstr>
      <vt:lpstr>What is Kubernetes?</vt:lpstr>
      <vt:lpstr>What Does Kubernetes Provide?</vt:lpstr>
      <vt:lpstr>PowerPoint Presentation</vt:lpstr>
      <vt:lpstr>PowerPoint Presentation</vt:lpstr>
      <vt:lpstr>Kubernetes commands</vt:lpstr>
      <vt:lpstr>Command help </vt:lpstr>
      <vt:lpstr>Difference </vt:lpstr>
      <vt:lpstr>Namespaces </vt:lpstr>
      <vt:lpstr>Namespaces</vt:lpstr>
      <vt:lpstr>Kube-system Namespace</vt:lpstr>
      <vt:lpstr>Resource Quota</vt:lpstr>
      <vt:lpstr>Limit vs Requests</vt:lpstr>
      <vt:lpstr>Limit Range</vt:lpstr>
      <vt:lpstr>Kubernetes Manifests</vt:lpstr>
      <vt:lpstr>Purpose of Manifests </vt:lpstr>
      <vt:lpstr>Best Practices for Manifests </vt:lpstr>
      <vt:lpstr>ReplicaSet </vt:lpstr>
      <vt:lpstr>When Replicaset Be Used </vt:lpstr>
      <vt:lpstr>Stateful vs Stateless Deployments</vt:lpstr>
      <vt:lpstr>StatefulSet</vt:lpstr>
      <vt:lpstr>When StatefulSet Be Used</vt:lpstr>
      <vt:lpstr>DaemonSet </vt:lpstr>
      <vt:lpstr>When DaemonSet be used</vt:lpstr>
      <vt:lpstr>Daemon Sets – UseCase</vt:lpstr>
      <vt:lpstr>Daemon Sets – UseCase – kube-proxy</vt:lpstr>
      <vt:lpstr>Daemon Sets – UseCase – Networking</vt:lpstr>
      <vt:lpstr>DaemonSet Definition</vt:lpstr>
      <vt:lpstr>View DaemonSets</vt:lpstr>
      <vt:lpstr>Deployment</vt:lpstr>
      <vt:lpstr>Deployment use Case</vt:lpstr>
      <vt:lpstr>Services </vt:lpstr>
      <vt:lpstr>Why services are needed</vt:lpstr>
      <vt:lpstr>How Services Work</vt:lpstr>
      <vt:lpstr>Types of Services</vt:lpstr>
      <vt:lpstr>Service Types</vt:lpstr>
      <vt:lpstr>ClusterIP</vt:lpstr>
      <vt:lpstr>PowerPoint Presentation</vt:lpstr>
      <vt:lpstr>ClusterIP</vt:lpstr>
      <vt:lpstr>NodePort</vt:lpstr>
      <vt:lpstr>PowerPoint Presentation</vt:lpstr>
      <vt:lpstr>PowerPoint Presentation</vt:lpstr>
      <vt:lpstr>LoadBalancer</vt:lpstr>
      <vt:lpstr>Load Balancer Service</vt:lpstr>
      <vt:lpstr>PowerPoint Presentation</vt:lpstr>
      <vt:lpstr>LoadBalancer</vt:lpstr>
      <vt:lpstr>Ingress</vt:lpstr>
      <vt:lpstr>How Ingress Works</vt:lpstr>
      <vt:lpstr>Ingress Traffic Flow</vt:lpstr>
      <vt:lpstr>Ingress Controllers</vt:lpstr>
      <vt:lpstr>Service Discovery </vt:lpstr>
      <vt:lpstr>How service discovery works</vt:lpstr>
      <vt:lpstr>Example: How a Pod Connects to a Service</vt:lpstr>
      <vt:lpstr>Variables</vt:lpstr>
      <vt:lpstr>ENV Value Types</vt:lpstr>
      <vt:lpstr>PowerPoint Presentation</vt:lpstr>
      <vt:lpstr>Env Variables in kubernetes</vt:lpstr>
      <vt:lpstr>ConfigMap</vt:lpstr>
      <vt:lpstr>ConfigMaps</vt:lpstr>
      <vt:lpstr>ConfigMaps</vt:lpstr>
      <vt:lpstr>Create ConfigMaps</vt:lpstr>
      <vt:lpstr>Create ConfigMaps</vt:lpstr>
      <vt:lpstr>Create ConfigMaps</vt:lpstr>
      <vt:lpstr>View ConfigMaps</vt:lpstr>
      <vt:lpstr>Secrets</vt:lpstr>
      <vt:lpstr>Volume Mount Method</vt:lpstr>
      <vt:lpstr>Create Secrets</vt:lpstr>
      <vt:lpstr>Create Secrets</vt:lpstr>
      <vt:lpstr>Create Secrets</vt:lpstr>
      <vt:lpstr>Encode Secrets</vt:lpstr>
      <vt:lpstr>View Secrets</vt:lpstr>
      <vt:lpstr>Decode Secrets</vt:lpstr>
      <vt:lpstr>Secrets in Pods</vt:lpstr>
      <vt:lpstr>Secrets in Pods</vt:lpstr>
      <vt:lpstr>Secrets in Pods as Volumes</vt:lpstr>
      <vt:lpstr>Labels &amp; Selectors</vt:lpstr>
      <vt:lpstr>Labels &amp; Selctor</vt:lpstr>
      <vt:lpstr>Node Affinity</vt:lpstr>
      <vt:lpstr>NodeSelectors</vt:lpstr>
      <vt:lpstr>Taints &amp; Tolerations</vt:lpstr>
      <vt:lpstr>Horizontal Scale </vt:lpstr>
      <vt:lpstr>HorizontalPodAutoScaler</vt:lpstr>
      <vt:lpstr>Helm </vt:lpstr>
      <vt:lpstr>Helm</vt:lpstr>
      <vt:lpstr>Three Central Concepts</vt:lpstr>
      <vt:lpstr>Helm and Templates</vt:lpstr>
      <vt:lpstr>Helm Chart Structure</vt:lpstr>
      <vt:lpstr>Helm repository </vt:lpstr>
      <vt:lpstr>Helm Search</vt:lpstr>
      <vt:lpstr>Information about charts </vt:lpstr>
      <vt:lpstr>Install &amp; Uninstall  Charts </vt:lpstr>
      <vt:lpstr>Upgrade &amp; Rollback</vt:lpstr>
      <vt:lpstr>Ingress Networking </vt:lpstr>
      <vt:lpstr>Ingress Controller</vt:lpstr>
      <vt:lpstr>Node Port Controller Values</vt:lpstr>
      <vt:lpstr>External IP Controller Values</vt:lpstr>
      <vt:lpstr>Internal Port Values</vt:lpstr>
      <vt:lpstr>Ingress rules </vt:lpstr>
      <vt:lpstr>What is CSI ?</vt:lpstr>
      <vt:lpstr>Why CSI ?</vt:lpstr>
      <vt:lpstr>Key Components of CSI in Kubernetes</vt:lpstr>
      <vt:lpstr>Benefits of CSI ?</vt:lpstr>
      <vt:lpstr>What are volumes?</vt:lpstr>
      <vt:lpstr>Types of storage in k8s</vt:lpstr>
      <vt:lpstr>Why Use Storage in Kubernetes?</vt:lpstr>
      <vt:lpstr>Core storage concepts</vt:lpstr>
      <vt:lpstr>Persistent Volume &amp; Persistent Volume Claim </vt:lpstr>
      <vt:lpstr>Reclaim Policy </vt:lpstr>
      <vt:lpstr>Access Modes</vt:lpstr>
      <vt:lpstr>Storage Classes</vt:lpstr>
      <vt:lpstr>When to Use a Storage Class (Dynamic Provisioning)</vt:lpstr>
      <vt:lpstr>When to Use Static PV Provisioning</vt:lpstr>
      <vt:lpstr>Volumes &amp; Mounts</vt:lpstr>
      <vt:lpstr>Volume Types</vt:lpstr>
      <vt:lpstr>Persistent Volume</vt:lpstr>
      <vt:lpstr>Persistent Volume Claim</vt:lpstr>
      <vt:lpstr>Resource Usage in Kubernetes </vt:lpstr>
      <vt:lpstr>Role Based Access Control in Kubernetes</vt:lpstr>
      <vt:lpstr>Secure Cluster Communication</vt:lpstr>
      <vt:lpstr> Enable Kubernetes Role-Based Access Control (RBAC) </vt:lpstr>
      <vt:lpstr>Protect etcd with TLS, Firewall and Encryption</vt:lpstr>
      <vt:lpstr>Isolate Kubernetes Nodes </vt:lpstr>
      <vt:lpstr>Monitor Network Traffic to Limit Communications </vt:lpstr>
      <vt:lpstr>Use Process Whitelisting </vt:lpstr>
      <vt:lpstr>Turn on Audit Logging </vt:lpstr>
      <vt:lpstr>Keep Kubernetes Version Up to Date</vt:lpstr>
      <vt:lpstr>Secure kubelet</vt:lpstr>
      <vt:lpstr>Secure kubelet</vt:lpstr>
      <vt:lpstr>Use Third-Party Authentication for API Server</vt:lpstr>
      <vt:lpstr>Secure Cluster </vt:lpstr>
      <vt:lpstr>Security</vt:lpstr>
      <vt:lpstr>Security</vt:lpstr>
      <vt:lpstr>TLS Certificates </vt:lpstr>
      <vt:lpstr>Images Secure</vt:lpstr>
      <vt:lpstr>What is RBAC ?</vt:lpstr>
      <vt:lpstr>Three Elements Of RBAC</vt:lpstr>
      <vt:lpstr>What are Users?</vt:lpstr>
      <vt:lpstr>What are service accounts ?</vt:lpstr>
      <vt:lpstr>What are Roles? </vt:lpstr>
      <vt:lpstr>What are RoleBindings/ClusterRoleBindings?</vt:lpstr>
      <vt:lpstr>Service Topology aware traffic </vt:lpstr>
      <vt:lpstr>Service Topology</vt:lpstr>
      <vt:lpstr>Endpoint Slice </vt:lpstr>
      <vt:lpstr>Endpoint slice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Terraform</vt:lpstr>
      <vt:lpstr>How Does Terraform work</vt:lpstr>
      <vt:lpstr>Three stages</vt:lpstr>
      <vt:lpstr>Three stages</vt:lpstr>
      <vt:lpstr>PowerPoint Presentation</vt:lpstr>
      <vt:lpstr>Why Terraform</vt:lpstr>
      <vt:lpstr>PowerPoint Presentation</vt:lpstr>
      <vt:lpstr>PowerPoint Presentation</vt:lpstr>
      <vt:lpstr>PowerPoint Presentation</vt:lpstr>
      <vt:lpstr>PowerPoint Presentation</vt:lpstr>
      <vt:lpstr>User Cases</vt:lpstr>
      <vt:lpstr>What is terraforming in AWS? </vt:lpstr>
      <vt:lpstr>Service Discovery</vt:lpstr>
      <vt:lpstr>Custom Resource definition (CRD)</vt:lpstr>
      <vt:lpstr>Custom resource definitions (CRD)</vt:lpstr>
      <vt:lpstr>Kubernetes Operator</vt:lpstr>
      <vt:lpstr>Kubernetes operator</vt:lpstr>
      <vt:lpstr>Operator</vt:lpstr>
      <vt:lpstr>Operator</vt:lpstr>
      <vt:lpstr>Operator framework</vt:lpstr>
      <vt:lpstr>Why kubernetes operator </vt:lpstr>
      <vt:lpstr>Kubernetes operator workflow</vt:lpstr>
      <vt:lpstr>Operators </vt:lpstr>
      <vt:lpstr>Operators</vt:lpstr>
      <vt:lpstr>Operators</vt:lpstr>
      <vt:lpstr>Kubernetes Service mesh</vt:lpstr>
      <vt:lpstr>Service Mesh</vt:lpstr>
      <vt:lpstr>Service Mesh</vt:lpstr>
      <vt:lpstr>Key Idea</vt:lpstr>
      <vt:lpstr>Features</vt:lpstr>
      <vt:lpstr>How it Works</vt:lpstr>
      <vt:lpstr>GitOps</vt:lpstr>
      <vt:lpstr>GitOps</vt:lpstr>
      <vt:lpstr>GitOps tools</vt:lpstr>
      <vt:lpstr>GitOps</vt:lpstr>
      <vt:lpstr>What is Argo Cd ?</vt:lpstr>
      <vt:lpstr>Why Argo CD ?</vt:lpstr>
      <vt:lpstr>Argo CD</vt:lpstr>
      <vt:lpstr>Sync Policy</vt:lpstr>
      <vt:lpstr>Sync Behavior</vt:lpstr>
      <vt:lpstr>Sync</vt:lpstr>
      <vt:lpstr>Architecture</vt:lpstr>
      <vt:lpstr>Features of ArgoCd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Container ?</dc:title>
  <dc:creator>Mahendra J S</dc:creator>
  <cp:lastModifiedBy>Mahendra J S</cp:lastModifiedBy>
  <cp:revision>241</cp:revision>
  <dcterms:created xsi:type="dcterms:W3CDTF">2021-06-09T01:16:48Z</dcterms:created>
  <dcterms:modified xsi:type="dcterms:W3CDTF">2026-05-05T09:00:00Z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0f486e-1d0b-4fd6-a73f-04d94048a140_Enabled">
    <vt:lpwstr>true</vt:lpwstr>
  </property>
  <property fmtid="{D5CDD505-2E9C-101B-9397-08002B2CF9AE}" pid="3" name="MSIP_Label_e80f486e-1d0b-4fd6-a73f-04d94048a140_SetDate">
    <vt:lpwstr>2026-02-24T03:44:23Z</vt:lpwstr>
  </property>
  <property fmtid="{D5CDD505-2E9C-101B-9397-08002B2CF9AE}" pid="4" name="MSIP_Label_e80f486e-1d0b-4fd6-a73f-04d94048a140_Method">
    <vt:lpwstr>Standard</vt:lpwstr>
  </property>
  <property fmtid="{D5CDD505-2E9C-101B-9397-08002B2CF9AE}" pid="5" name="MSIP_Label_e80f486e-1d0b-4fd6-a73f-04d94048a140_Name">
    <vt:lpwstr>General - RPS Data</vt:lpwstr>
  </property>
  <property fmtid="{D5CDD505-2E9C-101B-9397-08002B2CF9AE}" pid="6" name="MSIP_Label_e80f486e-1d0b-4fd6-a73f-04d94048a140_SiteId">
    <vt:lpwstr>6565c732-1653-4ffe-b9d3-80a4f1c0c25d</vt:lpwstr>
  </property>
  <property fmtid="{D5CDD505-2E9C-101B-9397-08002B2CF9AE}" pid="7" name="MSIP_Label_e80f486e-1d0b-4fd6-a73f-04d94048a140_ActionId">
    <vt:lpwstr>fa805782-aa2c-4183-99fa-6c89478676f2</vt:lpwstr>
  </property>
  <property fmtid="{D5CDD505-2E9C-101B-9397-08002B2CF9AE}" pid="8" name="MSIP_Label_e80f486e-1d0b-4fd6-a73f-04d94048a140_ContentBits">
    <vt:lpwstr>2</vt:lpwstr>
  </property>
  <property fmtid="{D5CDD505-2E9C-101B-9397-08002B2CF9AE}" pid="9" name="MSIP_Label_e80f486e-1d0b-4fd6-a73f-04d94048a140_Tag">
    <vt:lpwstr>10, 3, 0, 1</vt:lpwstr>
  </property>
  <property fmtid="{D5CDD505-2E9C-101B-9397-08002B2CF9AE}" pid="10" name="ClassificationContentMarkingFooterLocations">
    <vt:lpwstr>Office Theme:8\1_Office Theme:8\2_Office Theme:8\3_Office Theme:8\4_Office Theme:8\5_Office Theme:8</vt:lpwstr>
  </property>
  <property fmtid="{D5CDD505-2E9C-101B-9397-08002B2CF9AE}" pid="11" name="ClassificationContentMarkingFooterText">
    <vt:lpwstr>General - RPS Data</vt:lpwstr>
  </property>
</Properties>
</file>