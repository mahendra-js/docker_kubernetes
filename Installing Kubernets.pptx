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73" r:id="rId11"/>
    <p:sldId id="275" r:id="rId12"/>
    <p:sldId id="276" r:id="rId13"/>
    <p:sldId id="277" r:id="rId14"/>
    <p:sldId id="278" r:id="rId15"/>
    <p:sldId id="284" r:id="rId16"/>
    <p:sldId id="285" r:id="rId17"/>
    <p:sldId id="316" r:id="rId18"/>
    <p:sldId id="317" r:id="rId19"/>
    <p:sldId id="318" r:id="rId20"/>
    <p:sldId id="319" r:id="rId21"/>
    <p:sldId id="341" r:id="rId22"/>
    <p:sldId id="342" r:id="rId23"/>
    <p:sldId id="343" r:id="rId24"/>
    <p:sldId id="344" r:id="rId25"/>
    <p:sldId id="345" r:id="rId26"/>
    <p:sldId id="346" r:id="rId27"/>
    <p:sldId id="347" r:id="rId28"/>
    <p:sldId id="352" r:id="rId29"/>
    <p:sldId id="361" r:id="rId30"/>
    <p:sldId id="362" r:id="rId31"/>
    <p:sldId id="366" r:id="rId32"/>
    <p:sldId id="367" r:id="rId33"/>
    <p:sldId id="369" r:id="rId34"/>
    <p:sldId id="370" r:id="rId35"/>
    <p:sldId id="371" r:id="rId36"/>
    <p:sldId id="372" r:id="rId37"/>
    <p:sldId id="373" r:id="rId38"/>
    <p:sldId id="385" r:id="rId39"/>
    <p:sldId id="386" r:id="rId40"/>
    <p:sldId id="387" r:id="rId41"/>
    <p:sldId id="388" r:id="rId42"/>
    <p:sldId id="389" r:id="rId43"/>
    <p:sldId id="390" r:id="rId44"/>
    <p:sldId id="391" r:id="rId45"/>
    <p:sldId id="392" r:id="rId46"/>
    <p:sldId id="393" r:id="rId47"/>
    <p:sldId id="394" r:id="rId48"/>
    <p:sldId id="395" r:id="rId49"/>
    <p:sldId id="396" r:id="rId50"/>
    <p:sldId id="397" r:id="rId51"/>
    <p:sldId id="398" r:id="rId52"/>
    <p:sldId id="399" r:id="rId53"/>
    <p:sldId id="400" r:id="rId54"/>
    <p:sldId id="403" r:id="rId55"/>
    <p:sldId id="404" r:id="rId56"/>
    <p:sldId id="405" r:id="rId57"/>
    <p:sldId id="406" r:id="rId58"/>
    <p:sldId id="407" r:id="rId59"/>
    <p:sldId id="408" r:id="rId60"/>
    <p:sldId id="409" r:id="rId61"/>
    <p:sldId id="410" r:id="rId62"/>
    <p:sldId id="411" r:id="rId63"/>
    <p:sldId id="412" r:id="rId64"/>
    <p:sldId id="413" r:id="rId65"/>
    <p:sldId id="414" r:id="rId66"/>
    <p:sldId id="415" r:id="rId67"/>
    <p:sldId id="416" r:id="rId68"/>
    <p:sldId id="417" r:id="rId69"/>
    <p:sldId id="418" r:id="rId70"/>
    <p:sldId id="419" r:id="rId71"/>
    <p:sldId id="420" r:id="rId72"/>
    <p:sldId id="422" r:id="rId73"/>
    <p:sldId id="421" r:id="rId74"/>
    <p:sldId id="423" r:id="rId75"/>
    <p:sldId id="427" r:id="rId76"/>
    <p:sldId id="424" r:id="rId77"/>
    <p:sldId id="426" r:id="rId78"/>
    <p:sldId id="425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D896-BD03-4A5A-B207-EAA7F298EB7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D891-B610-4467-A49D-96571765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8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D896-BD03-4A5A-B207-EAA7F298EB7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D891-B610-4467-A49D-96571765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D896-BD03-4A5A-B207-EAA7F298EB7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D891-B610-4467-A49D-96571765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3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D896-BD03-4A5A-B207-EAA7F298EB7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D891-B610-4467-A49D-96571765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1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D896-BD03-4A5A-B207-EAA7F298EB7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D891-B610-4467-A49D-96571765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21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D896-BD03-4A5A-B207-EAA7F298EB7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D891-B610-4467-A49D-96571765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56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D896-BD03-4A5A-B207-EAA7F298EB7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D891-B610-4467-A49D-96571765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15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D896-BD03-4A5A-B207-EAA7F298EB7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D891-B610-4467-A49D-96571765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49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D896-BD03-4A5A-B207-EAA7F298EB7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D891-B610-4467-A49D-96571765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72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D896-BD03-4A5A-B207-EAA7F298EB7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D891-B610-4467-A49D-96571765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8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D896-BD03-4A5A-B207-EAA7F298EB7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BD891-B610-4467-A49D-96571765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37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7D896-BD03-4A5A-B207-EAA7F298EB7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BD891-B610-4467-A49D-965717651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47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62.png"/><Relationship Id="rId7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9.png"/><Relationship Id="rId7" Type="http://schemas.openxmlformats.org/officeDocument/2006/relationships/image" Target="../media/image2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62.png"/><Relationship Id="rId9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8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3.jp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9.jp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8.png"/><Relationship Id="rId3" Type="http://schemas.openxmlformats.org/officeDocument/2006/relationships/image" Target="../media/image127.png"/><Relationship Id="rId7" Type="http://schemas.openxmlformats.org/officeDocument/2006/relationships/image" Target="../media/image133.png"/><Relationship Id="rId12" Type="http://schemas.openxmlformats.org/officeDocument/2006/relationships/image" Target="../media/image13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11" Type="http://schemas.openxmlformats.org/officeDocument/2006/relationships/image" Target="../media/image136.png"/><Relationship Id="rId5" Type="http://schemas.openxmlformats.org/officeDocument/2006/relationships/image" Target="../media/image131.png"/><Relationship Id="rId10" Type="http://schemas.openxmlformats.org/officeDocument/2006/relationships/image" Target="../media/image128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3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1.png"/><Relationship Id="rId4" Type="http://schemas.openxmlformats.org/officeDocument/2006/relationships/image" Target="../media/image13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4309" y="1825625"/>
            <a:ext cx="10515600" cy="7790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/>
              <a:t>Design a kubernetes cluster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34969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47" dirty="0">
                <a:solidFill>
                  <a:srgbClr val="115F92"/>
                </a:solidFill>
              </a:rPr>
              <a:t>Objectives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Node </a:t>
            </a:r>
            <a:r>
              <a:rPr lang="en-US" dirty="0"/>
              <a:t>Considerations</a:t>
            </a:r>
          </a:p>
          <a:p>
            <a:r>
              <a:rPr lang="en-US" dirty="0" smtClean="0"/>
              <a:t>Resource </a:t>
            </a:r>
            <a:r>
              <a:rPr lang="en-US" dirty="0"/>
              <a:t>Requirements</a:t>
            </a:r>
          </a:p>
          <a:p>
            <a:r>
              <a:rPr lang="en-US" dirty="0" smtClean="0"/>
              <a:t>Network </a:t>
            </a:r>
            <a:r>
              <a:rPr lang="en-US" dirty="0"/>
              <a:t>Considerations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90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2709" y="468367"/>
            <a:ext cx="105156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47" dirty="0"/>
              <a:t>Ask</a:t>
            </a:r>
            <a:endParaRPr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05691" y="1256146"/>
            <a:ext cx="10515600" cy="5237018"/>
          </a:xfrm>
        </p:spPr>
        <p:txBody>
          <a:bodyPr>
            <a:normAutofit fontScale="32500" lnSpcReduction="20000"/>
          </a:bodyPr>
          <a:lstStyle/>
          <a:p>
            <a:endParaRPr lang="en-US" sz="2900" b="1" dirty="0" smtClean="0"/>
          </a:p>
          <a:p>
            <a:pPr marL="0" indent="0">
              <a:buNone/>
            </a:pPr>
            <a:r>
              <a:rPr lang="en-US" sz="4900" b="1" dirty="0" smtClean="0"/>
              <a:t>Purpose</a:t>
            </a:r>
            <a:endParaRPr lang="en-US" sz="4900" b="1" dirty="0"/>
          </a:p>
          <a:p>
            <a:pPr marL="0" indent="0">
              <a:buNone/>
            </a:pPr>
            <a:r>
              <a:rPr lang="en-US" sz="4900" b="1" dirty="0" smtClean="0"/>
              <a:t>      . Education</a:t>
            </a:r>
            <a:endParaRPr lang="en-US" sz="4900" b="1" dirty="0"/>
          </a:p>
          <a:p>
            <a:pPr marL="0" indent="0">
              <a:buNone/>
            </a:pPr>
            <a:r>
              <a:rPr lang="en-US" sz="4900" b="1" dirty="0" smtClean="0"/>
              <a:t>      . Development </a:t>
            </a:r>
            <a:r>
              <a:rPr lang="en-US" sz="4900" b="1" dirty="0"/>
              <a:t>&amp; Testing</a:t>
            </a:r>
          </a:p>
          <a:p>
            <a:pPr marL="0" indent="0">
              <a:buNone/>
            </a:pPr>
            <a:r>
              <a:rPr lang="en-US" sz="4900" b="1" dirty="0" smtClean="0"/>
              <a:t>       . Hosting </a:t>
            </a:r>
            <a:r>
              <a:rPr lang="en-US" sz="4900" b="1" dirty="0"/>
              <a:t>Production Applications</a:t>
            </a:r>
          </a:p>
          <a:p>
            <a:pPr marL="0" indent="0">
              <a:buNone/>
            </a:pPr>
            <a:r>
              <a:rPr lang="en-US" sz="4900" b="1" dirty="0" smtClean="0"/>
              <a:t>Cloud </a:t>
            </a:r>
            <a:r>
              <a:rPr lang="en-US" sz="4900" b="1" dirty="0"/>
              <a:t>or </a:t>
            </a:r>
            <a:r>
              <a:rPr lang="en-US" sz="4900" b="1" dirty="0" smtClean="0"/>
              <a:t>On </a:t>
            </a:r>
            <a:r>
              <a:rPr lang="en-US" sz="4900" b="1" dirty="0" err="1" smtClean="0"/>
              <a:t>Prem</a:t>
            </a:r>
            <a:r>
              <a:rPr lang="en-US" sz="4900" b="1" dirty="0"/>
              <a:t>?</a:t>
            </a:r>
          </a:p>
          <a:p>
            <a:pPr marL="0" indent="0">
              <a:buNone/>
            </a:pPr>
            <a:r>
              <a:rPr lang="en-US" sz="4900" b="1" dirty="0" smtClean="0"/>
              <a:t>Workloads</a:t>
            </a:r>
            <a:endParaRPr lang="en-US" sz="4900" b="1" dirty="0"/>
          </a:p>
          <a:p>
            <a:pPr marL="0" indent="0">
              <a:buNone/>
            </a:pPr>
            <a:r>
              <a:rPr lang="en-US" sz="4900" b="1" dirty="0" smtClean="0"/>
              <a:t>      How </a:t>
            </a:r>
            <a:r>
              <a:rPr lang="en-US" sz="4900" b="1" dirty="0"/>
              <a:t>many? </a:t>
            </a:r>
            <a:endParaRPr lang="en-US" sz="4900" b="1" dirty="0" smtClean="0"/>
          </a:p>
          <a:p>
            <a:pPr marL="0" indent="0">
              <a:buNone/>
            </a:pPr>
            <a:r>
              <a:rPr lang="en-US" sz="4900" b="1" dirty="0" smtClean="0"/>
              <a:t>      What </a:t>
            </a:r>
            <a:r>
              <a:rPr lang="en-US" sz="4900" b="1" dirty="0"/>
              <a:t>kind?</a:t>
            </a:r>
          </a:p>
          <a:p>
            <a:pPr marL="0" indent="0">
              <a:buNone/>
            </a:pPr>
            <a:r>
              <a:rPr lang="en-US" sz="4900" b="1" dirty="0" smtClean="0"/>
              <a:t>           .  Web</a:t>
            </a:r>
            <a:endParaRPr lang="en-US" sz="4900" b="1" dirty="0"/>
          </a:p>
          <a:p>
            <a:pPr marL="0" indent="0">
              <a:buNone/>
            </a:pPr>
            <a:r>
              <a:rPr lang="en-US" sz="4900" b="1" dirty="0" smtClean="0"/>
              <a:t>            .  Big </a:t>
            </a:r>
            <a:r>
              <a:rPr lang="en-US" sz="4900" b="1" dirty="0"/>
              <a:t>Data/Analytics</a:t>
            </a:r>
          </a:p>
          <a:p>
            <a:pPr marL="0" indent="0">
              <a:buNone/>
            </a:pPr>
            <a:r>
              <a:rPr lang="en-US" sz="4900" b="1" dirty="0" smtClean="0"/>
              <a:t>Application </a:t>
            </a:r>
            <a:r>
              <a:rPr lang="en-US" sz="4900" b="1" dirty="0"/>
              <a:t>Resource Requirements</a:t>
            </a:r>
          </a:p>
          <a:p>
            <a:pPr marL="0" indent="0">
              <a:buNone/>
            </a:pPr>
            <a:r>
              <a:rPr lang="en-US" sz="4900" b="1" dirty="0" smtClean="0"/>
              <a:t>       . CPU </a:t>
            </a:r>
            <a:r>
              <a:rPr lang="en-US" sz="4900" b="1" dirty="0"/>
              <a:t>Intensive</a:t>
            </a:r>
          </a:p>
          <a:p>
            <a:pPr marL="0" indent="0">
              <a:buNone/>
            </a:pPr>
            <a:r>
              <a:rPr lang="en-US" sz="4900" b="1" dirty="0" smtClean="0"/>
              <a:t>        . Memory </a:t>
            </a:r>
            <a:r>
              <a:rPr lang="en-US" sz="4900" b="1" dirty="0"/>
              <a:t>Intensive</a:t>
            </a:r>
          </a:p>
          <a:p>
            <a:pPr marL="0" indent="0">
              <a:buNone/>
            </a:pPr>
            <a:r>
              <a:rPr lang="en-US" sz="4900" b="1" dirty="0" smtClean="0"/>
              <a:t>Traffic</a:t>
            </a:r>
            <a:endParaRPr lang="en-US" sz="4900" b="1" dirty="0"/>
          </a:p>
          <a:p>
            <a:pPr marL="0" indent="0">
              <a:buNone/>
            </a:pPr>
            <a:r>
              <a:rPr lang="en-US" sz="4900" b="1" dirty="0" smtClean="0"/>
              <a:t>    . Heavy </a:t>
            </a:r>
            <a:r>
              <a:rPr lang="en-US" sz="4900" b="1" dirty="0"/>
              <a:t>traffic</a:t>
            </a:r>
          </a:p>
          <a:p>
            <a:pPr marL="0" indent="0">
              <a:buNone/>
            </a:pPr>
            <a:r>
              <a:rPr lang="en-US" sz="4900" b="1" dirty="0" smtClean="0"/>
              <a:t>     . Burst </a:t>
            </a:r>
            <a:r>
              <a:rPr lang="en-US" sz="4900" b="1" dirty="0"/>
              <a:t>Traffic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944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0803"/>
            <a:ext cx="105156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100" dirty="0"/>
              <a:t>Purpose</a:t>
            </a:r>
            <a:endParaRPr b="1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.Education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.Minikube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.Single </a:t>
            </a:r>
            <a:r>
              <a:rPr lang="en-US" sz="2000" dirty="0"/>
              <a:t>node cluster with </a:t>
            </a:r>
            <a:r>
              <a:rPr lang="en-US" sz="2000" dirty="0" smtClean="0"/>
              <a:t>kubeadm/GCP/AWS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.Development &amp; Testing</a:t>
            </a:r>
          </a:p>
          <a:p>
            <a:pPr marL="0" indent="0">
              <a:buNone/>
            </a:pPr>
            <a:r>
              <a:rPr lang="en-US" sz="2000" dirty="0" smtClean="0"/>
              <a:t>	.Multi-node </a:t>
            </a:r>
            <a:r>
              <a:rPr lang="en-US" sz="2000" dirty="0"/>
              <a:t>cluster with a Single Master and Multiple workers</a:t>
            </a:r>
          </a:p>
          <a:p>
            <a:pPr marL="0" indent="0">
              <a:buNone/>
            </a:pPr>
            <a:r>
              <a:rPr lang="en-US" sz="2000" dirty="0" smtClean="0"/>
              <a:t>	.Setup </a:t>
            </a:r>
            <a:r>
              <a:rPr lang="en-US" sz="2000" dirty="0"/>
              <a:t>using </a:t>
            </a:r>
            <a:r>
              <a:rPr lang="en-US" sz="2000" dirty="0" smtClean="0"/>
              <a:t>kubeadm tool </a:t>
            </a:r>
            <a:r>
              <a:rPr lang="en-US" sz="2000" dirty="0"/>
              <a:t>or quick provision on GCP or AWS or </a:t>
            </a:r>
            <a:r>
              <a:rPr lang="en-US" sz="2000" dirty="0" smtClean="0"/>
              <a:t>AKS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.Hosting Production Applicatons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5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0345" y="443297"/>
            <a:ext cx="10515600" cy="633507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z="4000" b="1" spc="73" dirty="0"/>
              <a:t>Hosting </a:t>
            </a:r>
            <a:r>
              <a:rPr sz="4000" b="1" spc="127" dirty="0"/>
              <a:t>Production</a:t>
            </a:r>
            <a:r>
              <a:rPr sz="4000" b="1" spc="-860" dirty="0"/>
              <a:t> </a:t>
            </a:r>
            <a:r>
              <a:rPr sz="4000" b="1" spc="93" dirty="0"/>
              <a:t>Applications</a:t>
            </a:r>
            <a:endParaRPr sz="4000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51873" y="1320801"/>
            <a:ext cx="9959109" cy="2447635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sz="3400" b="1" dirty="0"/>
              <a:t>High Availability  Multi node cluster with multiple master nodes</a:t>
            </a:r>
          </a:p>
          <a:p>
            <a:r>
              <a:rPr lang="en-US" sz="3400" b="1" dirty="0" smtClean="0"/>
              <a:t>Kubeadm or </a:t>
            </a:r>
            <a:r>
              <a:rPr lang="en-US" sz="3400" b="1" dirty="0"/>
              <a:t>GCP or Kops on AWS or other supported platforms</a:t>
            </a:r>
          </a:p>
          <a:p>
            <a:r>
              <a:rPr lang="en-US" sz="3400" b="1" dirty="0" smtClean="0"/>
              <a:t>Upto5000 </a:t>
            </a:r>
            <a:r>
              <a:rPr lang="en-US" sz="3400" b="1" dirty="0"/>
              <a:t>nodes</a:t>
            </a:r>
          </a:p>
          <a:p>
            <a:r>
              <a:rPr lang="en-US" sz="3400" b="1" dirty="0" smtClean="0"/>
              <a:t>Upto150,000 </a:t>
            </a:r>
            <a:r>
              <a:rPr lang="en-US" sz="3400" b="1" dirty="0"/>
              <a:t>PODs in the cluster </a:t>
            </a:r>
          </a:p>
          <a:p>
            <a:r>
              <a:rPr lang="en-US" sz="3400" b="1" dirty="0" smtClean="0"/>
              <a:t>Upto300,000 </a:t>
            </a:r>
            <a:r>
              <a:rPr lang="en-US" sz="3400" b="1" dirty="0"/>
              <a:t>Total Containers</a:t>
            </a:r>
          </a:p>
          <a:p>
            <a:r>
              <a:rPr lang="en-US" sz="3400" b="1" dirty="0" smtClean="0"/>
              <a:t>Upto100 </a:t>
            </a:r>
            <a:r>
              <a:rPr lang="en-US" sz="3400" b="1" dirty="0"/>
              <a:t>PODs per Node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16" y="3962399"/>
            <a:ext cx="10010775" cy="266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76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0803"/>
            <a:ext cx="105156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120" dirty="0"/>
              <a:t>Cloud </a:t>
            </a:r>
            <a:r>
              <a:rPr b="1" spc="33" dirty="0"/>
              <a:t>or</a:t>
            </a:r>
            <a:r>
              <a:rPr b="1" spc="-900" dirty="0"/>
              <a:t> </a:t>
            </a:r>
            <a:r>
              <a:rPr b="1" spc="87" dirty="0"/>
              <a:t>OnPrem?</a:t>
            </a:r>
            <a:endParaRPr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400" dirty="0"/>
              <a:t>Use </a:t>
            </a:r>
            <a:r>
              <a:rPr lang="en-US" sz="2400" dirty="0" smtClean="0"/>
              <a:t>Kubeadm for </a:t>
            </a:r>
            <a:r>
              <a:rPr lang="en-US" sz="2400" dirty="0"/>
              <a:t>on-</a:t>
            </a:r>
            <a:r>
              <a:rPr lang="en-US" sz="2400" dirty="0" err="1"/>
              <a:t>prem</a:t>
            </a:r>
            <a:endParaRPr lang="en-US" sz="2400" dirty="0"/>
          </a:p>
          <a:p>
            <a:r>
              <a:rPr lang="en-US" sz="2400" dirty="0" smtClean="0"/>
              <a:t>GKE </a:t>
            </a:r>
            <a:r>
              <a:rPr lang="en-US" sz="2400" dirty="0"/>
              <a:t>for GCP</a:t>
            </a:r>
          </a:p>
          <a:p>
            <a:r>
              <a:rPr lang="en-US" sz="2400" dirty="0" smtClean="0"/>
              <a:t>Kops </a:t>
            </a:r>
            <a:r>
              <a:rPr lang="en-US" sz="2400" dirty="0"/>
              <a:t>for AWS</a:t>
            </a:r>
          </a:p>
          <a:p>
            <a:r>
              <a:rPr lang="en-US" sz="2400" dirty="0" smtClean="0"/>
              <a:t>Azure </a:t>
            </a:r>
            <a:r>
              <a:rPr lang="en-US" sz="2400" dirty="0"/>
              <a:t>Kubernetes Service(AKS) for Azure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594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90602"/>
            <a:ext cx="10515600" cy="674608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z="4267" b="1" spc="13" dirty="0"/>
              <a:t>Storage</a:t>
            </a:r>
            <a:endParaRPr sz="4267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2400" dirty="0" smtClean="0"/>
              <a:t>High </a:t>
            </a:r>
            <a:r>
              <a:rPr lang="en-US" sz="2400" dirty="0"/>
              <a:t>Performance –SSD Backed Storage</a:t>
            </a:r>
          </a:p>
          <a:p>
            <a:r>
              <a:rPr lang="en-US" sz="2400" dirty="0" smtClean="0"/>
              <a:t>Multiple </a:t>
            </a:r>
            <a:r>
              <a:rPr lang="en-US" sz="2400" dirty="0"/>
              <a:t>Concurrent connections –Network based storage</a:t>
            </a:r>
          </a:p>
          <a:p>
            <a:r>
              <a:rPr lang="en-US" sz="2400" dirty="0" smtClean="0"/>
              <a:t>Persistent </a:t>
            </a:r>
            <a:r>
              <a:rPr lang="en-US" sz="2400" dirty="0"/>
              <a:t>shared volumes for shared access across multiple PODs</a:t>
            </a:r>
          </a:p>
          <a:p>
            <a:r>
              <a:rPr lang="en-US" sz="2400" dirty="0" smtClean="0"/>
              <a:t>Label </a:t>
            </a:r>
            <a:r>
              <a:rPr lang="en-US" sz="2400" dirty="0"/>
              <a:t>nodes with specific disk types</a:t>
            </a:r>
          </a:p>
          <a:p>
            <a:r>
              <a:rPr lang="en-US" sz="2400" dirty="0" smtClean="0"/>
              <a:t>Use </a:t>
            </a:r>
            <a:r>
              <a:rPr lang="en-US" sz="2400" dirty="0"/>
              <a:t>Node Selectors to assign applications to nodes with specific disk types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11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680803"/>
            <a:ext cx="105156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160" dirty="0"/>
              <a:t>Nodes</a:t>
            </a:r>
            <a:endParaRPr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Virtual or Physical Machines</a:t>
            </a:r>
          </a:p>
          <a:p>
            <a:r>
              <a:rPr lang="en-US" sz="2000" dirty="0" smtClean="0"/>
              <a:t>Minimum </a:t>
            </a:r>
            <a:r>
              <a:rPr lang="en-US" sz="2000" dirty="0"/>
              <a:t>of 4 Node Cluster (Size based on workload)</a:t>
            </a:r>
          </a:p>
          <a:p>
            <a:r>
              <a:rPr lang="en-US" sz="2000" dirty="0" smtClean="0"/>
              <a:t>Master </a:t>
            </a:r>
            <a:r>
              <a:rPr lang="en-US" sz="2000" dirty="0"/>
              <a:t>vs Worker Nodes</a:t>
            </a:r>
          </a:p>
          <a:p>
            <a:r>
              <a:rPr lang="en-US" sz="2000" dirty="0" smtClean="0"/>
              <a:t>Linux </a:t>
            </a:r>
            <a:r>
              <a:rPr lang="en-US" sz="2000" dirty="0"/>
              <a:t>X86_64 </a:t>
            </a:r>
            <a:r>
              <a:rPr lang="en-US" sz="2000" dirty="0" smtClean="0"/>
              <a:t>Architecture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 smtClean="0"/>
              <a:t>Master </a:t>
            </a:r>
            <a:r>
              <a:rPr lang="en-US" sz="2000" dirty="0"/>
              <a:t>nodes can host </a:t>
            </a:r>
            <a:r>
              <a:rPr lang="en-US" sz="2000" dirty="0" smtClean="0"/>
              <a:t>workloads</a:t>
            </a:r>
          </a:p>
          <a:p>
            <a:r>
              <a:rPr lang="en-US" sz="2000" dirty="0" smtClean="0"/>
              <a:t>Best </a:t>
            </a:r>
            <a:r>
              <a:rPr lang="en-US" sz="2000" dirty="0"/>
              <a:t>practice is to not host workloads on Master nodes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670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468746" y="523784"/>
            <a:ext cx="105156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87" dirty="0" smtClean="0"/>
              <a:t>Master</a:t>
            </a:r>
            <a:r>
              <a:rPr lang="en-US" b="1" spc="87" dirty="0" smtClean="0"/>
              <a:t> &amp; Worker</a:t>
            </a:r>
            <a:r>
              <a:rPr b="1" spc="-387" dirty="0" smtClean="0"/>
              <a:t> </a:t>
            </a:r>
            <a:r>
              <a:rPr b="1" spc="160" dirty="0" smtClean="0"/>
              <a:t>Nodes</a:t>
            </a:r>
            <a:r>
              <a:rPr lang="en-US" b="1" spc="160" dirty="0" smtClean="0"/>
              <a:t> </a:t>
            </a:r>
            <a:endParaRPr b="1" dirty="0"/>
          </a:p>
        </p:txBody>
      </p:sp>
      <p:pic>
        <p:nvPicPr>
          <p:cNvPr id="22" name="Content Placeholder 2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331" y="1982643"/>
            <a:ext cx="8137597" cy="451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68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746010" y="4350829"/>
              <a:ext cx="877569" cy="533400"/>
            </a:xfrm>
            <a:custGeom>
              <a:avLst/>
              <a:gdLst/>
              <a:ahLst/>
              <a:cxnLst/>
              <a:rect l="l" t="t" r="r" b="b"/>
              <a:pathLst>
                <a:path w="877569" h="533400">
                  <a:moveTo>
                    <a:pt x="762660" y="38061"/>
                  </a:moveTo>
                  <a:lnTo>
                    <a:pt x="759650" y="23291"/>
                  </a:lnTo>
                  <a:lnTo>
                    <a:pt x="751459" y="11188"/>
                  </a:lnTo>
                  <a:lnTo>
                    <a:pt x="739330" y="3009"/>
                  </a:lnTo>
                  <a:lnTo>
                    <a:pt x="724522" y="0"/>
                  </a:lnTo>
                  <a:lnTo>
                    <a:pt x="705459" y="0"/>
                  </a:lnTo>
                  <a:lnTo>
                    <a:pt x="705459" y="57099"/>
                  </a:lnTo>
                  <a:lnTo>
                    <a:pt x="705459" y="380619"/>
                  </a:lnTo>
                  <a:lnTo>
                    <a:pt x="171589" y="380619"/>
                  </a:lnTo>
                  <a:lnTo>
                    <a:pt x="171589" y="57099"/>
                  </a:lnTo>
                  <a:lnTo>
                    <a:pt x="705459" y="57099"/>
                  </a:lnTo>
                  <a:lnTo>
                    <a:pt x="705459" y="0"/>
                  </a:lnTo>
                  <a:lnTo>
                    <a:pt x="152527" y="0"/>
                  </a:lnTo>
                  <a:lnTo>
                    <a:pt x="137718" y="3009"/>
                  </a:lnTo>
                  <a:lnTo>
                    <a:pt x="125603" y="11188"/>
                  </a:lnTo>
                  <a:lnTo>
                    <a:pt x="117398" y="23291"/>
                  </a:lnTo>
                  <a:lnTo>
                    <a:pt x="114401" y="38061"/>
                  </a:lnTo>
                  <a:lnTo>
                    <a:pt x="114401" y="437718"/>
                  </a:lnTo>
                  <a:lnTo>
                    <a:pt x="762660" y="437718"/>
                  </a:lnTo>
                  <a:lnTo>
                    <a:pt x="762660" y="380619"/>
                  </a:lnTo>
                  <a:lnTo>
                    <a:pt x="762660" y="57099"/>
                  </a:lnTo>
                  <a:lnTo>
                    <a:pt x="762660" y="38061"/>
                  </a:lnTo>
                  <a:close/>
                </a:path>
                <a:path w="877569" h="533400">
                  <a:moveTo>
                    <a:pt x="877049" y="475780"/>
                  </a:moveTo>
                  <a:lnTo>
                    <a:pt x="495719" y="475780"/>
                  </a:lnTo>
                  <a:lnTo>
                    <a:pt x="495719" y="490994"/>
                  </a:lnTo>
                  <a:lnTo>
                    <a:pt x="491909" y="494804"/>
                  </a:lnTo>
                  <a:lnTo>
                    <a:pt x="385140" y="494804"/>
                  </a:lnTo>
                  <a:lnTo>
                    <a:pt x="381330" y="490994"/>
                  </a:lnTo>
                  <a:lnTo>
                    <a:pt x="381330" y="475780"/>
                  </a:lnTo>
                  <a:lnTo>
                    <a:pt x="0" y="475780"/>
                  </a:lnTo>
                  <a:lnTo>
                    <a:pt x="0" y="494804"/>
                  </a:lnTo>
                  <a:lnTo>
                    <a:pt x="3009" y="509587"/>
                  </a:lnTo>
                  <a:lnTo>
                    <a:pt x="11201" y="521690"/>
                  </a:lnTo>
                  <a:lnTo>
                    <a:pt x="23329" y="529869"/>
                  </a:lnTo>
                  <a:lnTo>
                    <a:pt x="38125" y="532866"/>
                  </a:lnTo>
                  <a:lnTo>
                    <a:pt x="838923" y="532866"/>
                  </a:lnTo>
                  <a:lnTo>
                    <a:pt x="853732" y="529869"/>
                  </a:lnTo>
                  <a:lnTo>
                    <a:pt x="865847" y="521690"/>
                  </a:lnTo>
                  <a:lnTo>
                    <a:pt x="874039" y="509587"/>
                  </a:lnTo>
                  <a:lnTo>
                    <a:pt x="877049" y="494804"/>
                  </a:lnTo>
                  <a:lnTo>
                    <a:pt x="877049" y="475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5247132" y="4317491"/>
              <a:ext cx="303275" cy="6004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715690" y="3079019"/>
              <a:ext cx="298450" cy="299085"/>
            </a:xfrm>
            <a:custGeom>
              <a:avLst/>
              <a:gdLst/>
              <a:ahLst/>
              <a:cxnLst/>
              <a:rect l="l" t="t" r="r" b="b"/>
              <a:pathLst>
                <a:path w="298450" h="299085">
                  <a:moveTo>
                    <a:pt x="48238" y="0"/>
                  </a:moveTo>
                  <a:lnTo>
                    <a:pt x="13155" y="0"/>
                  </a:lnTo>
                  <a:lnTo>
                    <a:pt x="0" y="180111"/>
                  </a:lnTo>
                  <a:lnTo>
                    <a:pt x="0" y="298722"/>
                  </a:lnTo>
                  <a:lnTo>
                    <a:pt x="298199" y="298722"/>
                  </a:lnTo>
                  <a:lnTo>
                    <a:pt x="298199" y="267971"/>
                  </a:lnTo>
                  <a:lnTo>
                    <a:pt x="35082" y="267971"/>
                  </a:lnTo>
                  <a:lnTo>
                    <a:pt x="35082" y="228434"/>
                  </a:lnTo>
                  <a:lnTo>
                    <a:pt x="298199" y="228434"/>
                  </a:lnTo>
                  <a:lnTo>
                    <a:pt x="298199" y="180111"/>
                  </a:lnTo>
                  <a:lnTo>
                    <a:pt x="61393" y="180111"/>
                  </a:lnTo>
                  <a:lnTo>
                    <a:pt x="48238" y="0"/>
                  </a:lnTo>
                  <a:close/>
                </a:path>
                <a:path w="298450" h="299085">
                  <a:moveTo>
                    <a:pt x="122787" y="228434"/>
                  </a:moveTo>
                  <a:lnTo>
                    <a:pt x="87705" y="228434"/>
                  </a:lnTo>
                  <a:lnTo>
                    <a:pt x="87705" y="267971"/>
                  </a:lnTo>
                  <a:lnTo>
                    <a:pt x="122787" y="267971"/>
                  </a:lnTo>
                  <a:lnTo>
                    <a:pt x="122787" y="228434"/>
                  </a:lnTo>
                  <a:close/>
                </a:path>
                <a:path w="298450" h="299085">
                  <a:moveTo>
                    <a:pt x="210493" y="228434"/>
                  </a:moveTo>
                  <a:lnTo>
                    <a:pt x="175411" y="228434"/>
                  </a:lnTo>
                  <a:lnTo>
                    <a:pt x="175411" y="267971"/>
                  </a:lnTo>
                  <a:lnTo>
                    <a:pt x="210493" y="267971"/>
                  </a:lnTo>
                  <a:lnTo>
                    <a:pt x="210493" y="228434"/>
                  </a:lnTo>
                  <a:close/>
                </a:path>
                <a:path w="298450" h="299085">
                  <a:moveTo>
                    <a:pt x="298199" y="228434"/>
                  </a:moveTo>
                  <a:lnTo>
                    <a:pt x="263117" y="228434"/>
                  </a:lnTo>
                  <a:lnTo>
                    <a:pt x="263117" y="267971"/>
                  </a:lnTo>
                  <a:lnTo>
                    <a:pt x="298199" y="267971"/>
                  </a:lnTo>
                  <a:lnTo>
                    <a:pt x="298199" y="228434"/>
                  </a:lnTo>
                  <a:close/>
                </a:path>
                <a:path w="298450" h="299085">
                  <a:moveTo>
                    <a:pt x="179796" y="118610"/>
                  </a:moveTo>
                  <a:lnTo>
                    <a:pt x="61393" y="180111"/>
                  </a:lnTo>
                  <a:lnTo>
                    <a:pt x="179796" y="180111"/>
                  </a:lnTo>
                  <a:lnTo>
                    <a:pt x="179796" y="118610"/>
                  </a:lnTo>
                  <a:close/>
                </a:path>
                <a:path w="298450" h="299085">
                  <a:moveTo>
                    <a:pt x="298199" y="118610"/>
                  </a:moveTo>
                  <a:lnTo>
                    <a:pt x="179796" y="180111"/>
                  </a:lnTo>
                  <a:lnTo>
                    <a:pt x="298199" y="180111"/>
                  </a:lnTo>
                  <a:lnTo>
                    <a:pt x="298199" y="118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5672328" y="4317491"/>
              <a:ext cx="303275" cy="6004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7523" y="4317491"/>
              <a:ext cx="301751" cy="6004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6522719" y="4317491"/>
              <a:ext cx="301751" cy="6004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6947916" y="4317491"/>
              <a:ext cx="301751" cy="6004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1588" y="4317491"/>
              <a:ext cx="303275" cy="6004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0" y="772668"/>
              <a:ext cx="3534410" cy="4212590"/>
            </a:xfrm>
            <a:custGeom>
              <a:avLst/>
              <a:gdLst/>
              <a:ahLst/>
              <a:cxnLst/>
              <a:rect l="l" t="t" r="r" b="b"/>
              <a:pathLst>
                <a:path w="3534409" h="4212590">
                  <a:moveTo>
                    <a:pt x="0" y="2543556"/>
                  </a:moveTo>
                  <a:lnTo>
                    <a:pt x="3619" y="2494247"/>
                  </a:lnTo>
                  <a:lnTo>
                    <a:pt x="14135" y="2447181"/>
                  </a:lnTo>
                  <a:lnTo>
                    <a:pt x="31028" y="2402875"/>
                  </a:lnTo>
                  <a:lnTo>
                    <a:pt x="53783" y="2361845"/>
                  </a:lnTo>
                  <a:lnTo>
                    <a:pt x="81882" y="2324608"/>
                  </a:lnTo>
                  <a:lnTo>
                    <a:pt x="114808" y="2291682"/>
                  </a:lnTo>
                  <a:lnTo>
                    <a:pt x="152045" y="2263583"/>
                  </a:lnTo>
                  <a:lnTo>
                    <a:pt x="193075" y="2240828"/>
                  </a:lnTo>
                  <a:lnTo>
                    <a:pt x="237381" y="2223935"/>
                  </a:lnTo>
                  <a:lnTo>
                    <a:pt x="284447" y="2213419"/>
                  </a:lnTo>
                  <a:lnTo>
                    <a:pt x="333755" y="2209800"/>
                  </a:lnTo>
                  <a:lnTo>
                    <a:pt x="3200400" y="2209800"/>
                  </a:lnTo>
                  <a:lnTo>
                    <a:pt x="3249708" y="2213419"/>
                  </a:lnTo>
                  <a:lnTo>
                    <a:pt x="3296774" y="2223935"/>
                  </a:lnTo>
                  <a:lnTo>
                    <a:pt x="3341080" y="2240828"/>
                  </a:lnTo>
                  <a:lnTo>
                    <a:pt x="3382110" y="2263583"/>
                  </a:lnTo>
                  <a:lnTo>
                    <a:pt x="3419347" y="2291682"/>
                  </a:lnTo>
                  <a:lnTo>
                    <a:pt x="3452273" y="2324608"/>
                  </a:lnTo>
                  <a:lnTo>
                    <a:pt x="3480372" y="2361845"/>
                  </a:lnTo>
                  <a:lnTo>
                    <a:pt x="3503127" y="2402875"/>
                  </a:lnTo>
                  <a:lnTo>
                    <a:pt x="3520020" y="2447181"/>
                  </a:lnTo>
                  <a:lnTo>
                    <a:pt x="3530536" y="2494247"/>
                  </a:lnTo>
                  <a:lnTo>
                    <a:pt x="3534155" y="2543556"/>
                  </a:lnTo>
                  <a:lnTo>
                    <a:pt x="3534155" y="3878567"/>
                  </a:lnTo>
                  <a:lnTo>
                    <a:pt x="3530536" y="3927890"/>
                  </a:lnTo>
                  <a:lnTo>
                    <a:pt x="3520020" y="3974965"/>
                  </a:lnTo>
                  <a:lnTo>
                    <a:pt x="3503127" y="4019277"/>
                  </a:lnTo>
                  <a:lnTo>
                    <a:pt x="3480372" y="4060310"/>
                  </a:lnTo>
                  <a:lnTo>
                    <a:pt x="3452273" y="4097546"/>
                  </a:lnTo>
                  <a:lnTo>
                    <a:pt x="3419347" y="4130469"/>
                  </a:lnTo>
                  <a:lnTo>
                    <a:pt x="3382110" y="4158565"/>
                  </a:lnTo>
                  <a:lnTo>
                    <a:pt x="3341080" y="4181315"/>
                  </a:lnTo>
                  <a:lnTo>
                    <a:pt x="3296774" y="4198204"/>
                  </a:lnTo>
                  <a:lnTo>
                    <a:pt x="3249708" y="4208717"/>
                  </a:lnTo>
                  <a:lnTo>
                    <a:pt x="3200400" y="4212336"/>
                  </a:lnTo>
                  <a:lnTo>
                    <a:pt x="333755" y="4212336"/>
                  </a:lnTo>
                  <a:lnTo>
                    <a:pt x="284447" y="4208717"/>
                  </a:lnTo>
                  <a:lnTo>
                    <a:pt x="237381" y="4198204"/>
                  </a:lnTo>
                  <a:lnTo>
                    <a:pt x="193075" y="4181315"/>
                  </a:lnTo>
                  <a:lnTo>
                    <a:pt x="152045" y="4158565"/>
                  </a:lnTo>
                  <a:lnTo>
                    <a:pt x="114808" y="4130469"/>
                  </a:lnTo>
                  <a:lnTo>
                    <a:pt x="81882" y="4097546"/>
                  </a:lnTo>
                  <a:lnTo>
                    <a:pt x="53783" y="4060310"/>
                  </a:lnTo>
                  <a:lnTo>
                    <a:pt x="31028" y="4019277"/>
                  </a:lnTo>
                  <a:lnTo>
                    <a:pt x="14135" y="3974965"/>
                  </a:lnTo>
                  <a:lnTo>
                    <a:pt x="3619" y="3927890"/>
                  </a:lnTo>
                  <a:lnTo>
                    <a:pt x="0" y="3878567"/>
                  </a:lnTo>
                  <a:lnTo>
                    <a:pt x="0" y="2543556"/>
                  </a:lnTo>
                  <a:close/>
                </a:path>
                <a:path w="3534409" h="4212590">
                  <a:moveTo>
                    <a:pt x="0" y="334010"/>
                  </a:moveTo>
                  <a:lnTo>
                    <a:pt x="3622" y="284667"/>
                  </a:lnTo>
                  <a:lnTo>
                    <a:pt x="14146" y="237567"/>
                  </a:lnTo>
                  <a:lnTo>
                    <a:pt x="31054" y="193227"/>
                  </a:lnTo>
                  <a:lnTo>
                    <a:pt x="53827" y="152166"/>
                  </a:lnTo>
                  <a:lnTo>
                    <a:pt x="81948" y="114901"/>
                  </a:lnTo>
                  <a:lnTo>
                    <a:pt x="114901" y="81948"/>
                  </a:lnTo>
                  <a:lnTo>
                    <a:pt x="152166" y="53827"/>
                  </a:lnTo>
                  <a:lnTo>
                    <a:pt x="193227" y="31054"/>
                  </a:lnTo>
                  <a:lnTo>
                    <a:pt x="237567" y="14146"/>
                  </a:lnTo>
                  <a:lnTo>
                    <a:pt x="284667" y="3622"/>
                  </a:lnTo>
                  <a:lnTo>
                    <a:pt x="334010" y="0"/>
                  </a:lnTo>
                  <a:lnTo>
                    <a:pt x="3200146" y="0"/>
                  </a:lnTo>
                  <a:lnTo>
                    <a:pt x="3249488" y="3622"/>
                  </a:lnTo>
                  <a:lnTo>
                    <a:pt x="3296588" y="14146"/>
                  </a:lnTo>
                  <a:lnTo>
                    <a:pt x="3340928" y="31054"/>
                  </a:lnTo>
                  <a:lnTo>
                    <a:pt x="3381989" y="53827"/>
                  </a:lnTo>
                  <a:lnTo>
                    <a:pt x="3419254" y="81948"/>
                  </a:lnTo>
                  <a:lnTo>
                    <a:pt x="3452207" y="114901"/>
                  </a:lnTo>
                  <a:lnTo>
                    <a:pt x="3480328" y="152166"/>
                  </a:lnTo>
                  <a:lnTo>
                    <a:pt x="3503101" y="193227"/>
                  </a:lnTo>
                  <a:lnTo>
                    <a:pt x="3520009" y="237567"/>
                  </a:lnTo>
                  <a:lnTo>
                    <a:pt x="3530533" y="284667"/>
                  </a:lnTo>
                  <a:lnTo>
                    <a:pt x="3534155" y="334010"/>
                  </a:lnTo>
                  <a:lnTo>
                    <a:pt x="3534155" y="1670050"/>
                  </a:lnTo>
                  <a:lnTo>
                    <a:pt x="3530533" y="1719392"/>
                  </a:lnTo>
                  <a:lnTo>
                    <a:pt x="3520009" y="1766492"/>
                  </a:lnTo>
                  <a:lnTo>
                    <a:pt x="3503101" y="1810832"/>
                  </a:lnTo>
                  <a:lnTo>
                    <a:pt x="3480328" y="1851893"/>
                  </a:lnTo>
                  <a:lnTo>
                    <a:pt x="3452207" y="1889158"/>
                  </a:lnTo>
                  <a:lnTo>
                    <a:pt x="3419254" y="1922111"/>
                  </a:lnTo>
                  <a:lnTo>
                    <a:pt x="3381989" y="1950232"/>
                  </a:lnTo>
                  <a:lnTo>
                    <a:pt x="3340928" y="1973005"/>
                  </a:lnTo>
                  <a:lnTo>
                    <a:pt x="3296588" y="1989913"/>
                  </a:lnTo>
                  <a:lnTo>
                    <a:pt x="3249488" y="2000437"/>
                  </a:lnTo>
                  <a:lnTo>
                    <a:pt x="3200146" y="2004060"/>
                  </a:lnTo>
                  <a:lnTo>
                    <a:pt x="334010" y="2004060"/>
                  </a:lnTo>
                  <a:lnTo>
                    <a:pt x="284667" y="2000437"/>
                  </a:lnTo>
                  <a:lnTo>
                    <a:pt x="237567" y="1989913"/>
                  </a:lnTo>
                  <a:lnTo>
                    <a:pt x="193227" y="1973005"/>
                  </a:lnTo>
                  <a:lnTo>
                    <a:pt x="152166" y="1950232"/>
                  </a:lnTo>
                  <a:lnTo>
                    <a:pt x="114901" y="1922111"/>
                  </a:lnTo>
                  <a:lnTo>
                    <a:pt x="81948" y="1889158"/>
                  </a:lnTo>
                  <a:lnTo>
                    <a:pt x="53827" y="1851893"/>
                  </a:lnTo>
                  <a:lnTo>
                    <a:pt x="31054" y="1810832"/>
                  </a:lnTo>
                  <a:lnTo>
                    <a:pt x="14146" y="1766492"/>
                  </a:lnTo>
                  <a:lnTo>
                    <a:pt x="3622" y="1719392"/>
                  </a:lnTo>
                  <a:lnTo>
                    <a:pt x="0" y="1670050"/>
                  </a:lnTo>
                  <a:lnTo>
                    <a:pt x="0" y="334010"/>
                  </a:lnTo>
                  <a:close/>
                </a:path>
              </a:pathLst>
            </a:custGeom>
            <a:ln w="9144">
              <a:solidFill>
                <a:srgbClr val="433D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656580" y="894264"/>
              <a:ext cx="424180" cy="241935"/>
            </a:xfrm>
            <a:custGeom>
              <a:avLst/>
              <a:gdLst/>
              <a:ahLst/>
              <a:cxnLst/>
              <a:rect l="l" t="t" r="r" b="b"/>
              <a:pathLst>
                <a:path w="424179" h="241934">
                  <a:moveTo>
                    <a:pt x="66523" y="90256"/>
                  </a:moveTo>
                  <a:lnTo>
                    <a:pt x="29267" y="105402"/>
                  </a:lnTo>
                  <a:lnTo>
                    <a:pt x="4706" y="138135"/>
                  </a:lnTo>
                  <a:lnTo>
                    <a:pt x="0" y="157858"/>
                  </a:lnTo>
                  <a:lnTo>
                    <a:pt x="582" y="178055"/>
                  </a:lnTo>
                  <a:lnTo>
                    <a:pt x="17903" y="214838"/>
                  </a:lnTo>
                  <a:lnTo>
                    <a:pt x="51382" y="237138"/>
                  </a:lnTo>
                  <a:lnTo>
                    <a:pt x="71521" y="241007"/>
                  </a:lnTo>
                  <a:lnTo>
                    <a:pt x="71521" y="241512"/>
                  </a:lnTo>
                  <a:lnTo>
                    <a:pt x="363649" y="241512"/>
                  </a:lnTo>
                  <a:lnTo>
                    <a:pt x="387116" y="236737"/>
                  </a:lnTo>
                  <a:lnTo>
                    <a:pt x="406335" y="223735"/>
                  </a:lnTo>
                  <a:lnTo>
                    <a:pt x="419320" y="204492"/>
                  </a:lnTo>
                  <a:lnTo>
                    <a:pt x="424089" y="180994"/>
                  </a:lnTo>
                  <a:lnTo>
                    <a:pt x="419399" y="157417"/>
                  </a:lnTo>
                  <a:lnTo>
                    <a:pt x="406586" y="138001"/>
                  </a:lnTo>
                  <a:lnTo>
                    <a:pt x="387541" y="124826"/>
                  </a:lnTo>
                  <a:lnTo>
                    <a:pt x="364152" y="119972"/>
                  </a:lnTo>
                  <a:lnTo>
                    <a:pt x="359116" y="119972"/>
                  </a:lnTo>
                  <a:lnTo>
                    <a:pt x="356920" y="101919"/>
                  </a:lnTo>
                  <a:lnTo>
                    <a:pt x="352689" y="90721"/>
                  </a:lnTo>
                  <a:lnTo>
                    <a:pt x="87134" y="90721"/>
                  </a:lnTo>
                  <a:lnTo>
                    <a:pt x="66523" y="90256"/>
                  </a:lnTo>
                  <a:close/>
                </a:path>
                <a:path w="424179" h="241934">
                  <a:moveTo>
                    <a:pt x="186845" y="0"/>
                  </a:moveTo>
                  <a:lnTo>
                    <a:pt x="128781" y="13829"/>
                  </a:lnTo>
                  <a:lnTo>
                    <a:pt x="92328" y="59690"/>
                  </a:lnTo>
                  <a:lnTo>
                    <a:pt x="87134" y="89713"/>
                  </a:lnTo>
                  <a:lnTo>
                    <a:pt x="87134" y="90721"/>
                  </a:lnTo>
                  <a:lnTo>
                    <a:pt x="352689" y="90721"/>
                  </a:lnTo>
                  <a:lnTo>
                    <a:pt x="350616" y="85237"/>
                  </a:lnTo>
                  <a:lnTo>
                    <a:pt x="311361" y="49856"/>
                  </a:lnTo>
                  <a:lnTo>
                    <a:pt x="258382" y="48863"/>
                  </a:lnTo>
                  <a:lnTo>
                    <a:pt x="240077" y="24443"/>
                  </a:lnTo>
                  <a:lnTo>
                    <a:pt x="215444" y="7824"/>
                  </a:lnTo>
                  <a:lnTo>
                    <a:pt x="186845" y="0"/>
                  </a:lnTo>
                  <a:close/>
                </a:path>
                <a:path w="424179" h="241934">
                  <a:moveTo>
                    <a:pt x="276105" y="44970"/>
                  </a:moveTo>
                  <a:lnTo>
                    <a:pt x="258382" y="48863"/>
                  </a:lnTo>
                  <a:lnTo>
                    <a:pt x="307554" y="48863"/>
                  </a:lnTo>
                  <a:lnTo>
                    <a:pt x="294016" y="45333"/>
                  </a:lnTo>
                  <a:lnTo>
                    <a:pt x="276105" y="44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47132" y="2013204"/>
              <a:ext cx="303275" cy="6004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672328" y="2013204"/>
              <a:ext cx="303275" cy="6004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7523" y="2013204"/>
              <a:ext cx="301751" cy="6004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522719" y="2013204"/>
              <a:ext cx="301751" cy="6004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947916" y="2013204"/>
              <a:ext cx="301751" cy="6004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371588" y="2013204"/>
              <a:ext cx="303275" cy="6004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916043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746010" y="2159330"/>
              <a:ext cx="877569" cy="533400"/>
            </a:xfrm>
            <a:custGeom>
              <a:avLst/>
              <a:gdLst/>
              <a:ahLst/>
              <a:cxnLst/>
              <a:rect l="l" t="t" r="r" b="b"/>
              <a:pathLst>
                <a:path w="877569" h="533400">
                  <a:moveTo>
                    <a:pt x="762660" y="38061"/>
                  </a:moveTo>
                  <a:lnTo>
                    <a:pt x="759650" y="23279"/>
                  </a:lnTo>
                  <a:lnTo>
                    <a:pt x="751459" y="11176"/>
                  </a:lnTo>
                  <a:lnTo>
                    <a:pt x="739330" y="2997"/>
                  </a:lnTo>
                  <a:lnTo>
                    <a:pt x="724522" y="0"/>
                  </a:lnTo>
                  <a:lnTo>
                    <a:pt x="705459" y="0"/>
                  </a:lnTo>
                  <a:lnTo>
                    <a:pt x="705459" y="57086"/>
                  </a:lnTo>
                  <a:lnTo>
                    <a:pt x="705459" y="380606"/>
                  </a:lnTo>
                  <a:lnTo>
                    <a:pt x="171589" y="380606"/>
                  </a:lnTo>
                  <a:lnTo>
                    <a:pt x="171589" y="57086"/>
                  </a:lnTo>
                  <a:lnTo>
                    <a:pt x="705459" y="57086"/>
                  </a:lnTo>
                  <a:lnTo>
                    <a:pt x="705459" y="0"/>
                  </a:lnTo>
                  <a:lnTo>
                    <a:pt x="152527" y="0"/>
                  </a:lnTo>
                  <a:lnTo>
                    <a:pt x="137718" y="2997"/>
                  </a:lnTo>
                  <a:lnTo>
                    <a:pt x="125603" y="11176"/>
                  </a:lnTo>
                  <a:lnTo>
                    <a:pt x="117398" y="23279"/>
                  </a:lnTo>
                  <a:lnTo>
                    <a:pt x="114401" y="38061"/>
                  </a:lnTo>
                  <a:lnTo>
                    <a:pt x="114401" y="437705"/>
                  </a:lnTo>
                  <a:lnTo>
                    <a:pt x="762660" y="437705"/>
                  </a:lnTo>
                  <a:lnTo>
                    <a:pt x="762660" y="380606"/>
                  </a:lnTo>
                  <a:lnTo>
                    <a:pt x="762660" y="57086"/>
                  </a:lnTo>
                  <a:lnTo>
                    <a:pt x="762660" y="38061"/>
                  </a:lnTo>
                  <a:close/>
                </a:path>
                <a:path w="877569" h="533400">
                  <a:moveTo>
                    <a:pt x="877049" y="475767"/>
                  </a:moveTo>
                  <a:lnTo>
                    <a:pt x="495719" y="475767"/>
                  </a:lnTo>
                  <a:lnTo>
                    <a:pt x="495719" y="490994"/>
                  </a:lnTo>
                  <a:lnTo>
                    <a:pt x="491909" y="494792"/>
                  </a:lnTo>
                  <a:lnTo>
                    <a:pt x="385140" y="494792"/>
                  </a:lnTo>
                  <a:lnTo>
                    <a:pt x="381330" y="490994"/>
                  </a:lnTo>
                  <a:lnTo>
                    <a:pt x="381330" y="475767"/>
                  </a:lnTo>
                  <a:lnTo>
                    <a:pt x="0" y="475767"/>
                  </a:lnTo>
                  <a:lnTo>
                    <a:pt x="0" y="494792"/>
                  </a:lnTo>
                  <a:lnTo>
                    <a:pt x="3009" y="509574"/>
                  </a:lnTo>
                  <a:lnTo>
                    <a:pt x="11201" y="521677"/>
                  </a:lnTo>
                  <a:lnTo>
                    <a:pt x="23329" y="529856"/>
                  </a:lnTo>
                  <a:lnTo>
                    <a:pt x="38125" y="532853"/>
                  </a:lnTo>
                  <a:lnTo>
                    <a:pt x="838923" y="532853"/>
                  </a:lnTo>
                  <a:lnTo>
                    <a:pt x="853732" y="529856"/>
                  </a:lnTo>
                  <a:lnTo>
                    <a:pt x="865847" y="521677"/>
                  </a:lnTo>
                  <a:lnTo>
                    <a:pt x="874039" y="509574"/>
                  </a:lnTo>
                  <a:lnTo>
                    <a:pt x="877049" y="494792"/>
                  </a:lnTo>
                  <a:lnTo>
                    <a:pt x="877049" y="4757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3704844" y="1892807"/>
              <a:ext cx="1098803" cy="10668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154846" y="4110060"/>
            <a:ext cx="9770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93" dirty="0">
                <a:latin typeface="Arial Black"/>
                <a:cs typeface="Arial Black"/>
              </a:rPr>
              <a:t>Minikube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81645" y="3131665"/>
            <a:ext cx="1170940" cy="294953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z="1800" b="1" spc="-87" dirty="0">
                <a:solidFill>
                  <a:srgbClr val="000000"/>
                </a:solidFill>
                <a:latin typeface="Arial"/>
                <a:cs typeface="Arial"/>
              </a:rPr>
              <a:t>KU</a:t>
            </a:r>
            <a:r>
              <a:rPr sz="1800" b="1" spc="-100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sz="1800" b="1" spc="-213" dirty="0">
                <a:solidFill>
                  <a:srgbClr val="000000"/>
                </a:solidFill>
                <a:latin typeface="Arial"/>
                <a:cs typeface="Arial"/>
              </a:rPr>
              <a:t>E</a:t>
            </a:r>
            <a:r>
              <a:rPr sz="1800" b="1" spc="-47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1800" b="1" spc="120" dirty="0">
                <a:solidFill>
                  <a:srgbClr val="000000"/>
                </a:solidFill>
                <a:latin typeface="Arial"/>
                <a:cs typeface="Arial"/>
              </a:rPr>
              <a:t>DM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5368" y="5795806"/>
            <a:ext cx="197781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220" dirty="0">
                <a:latin typeface="Arial Black"/>
                <a:cs typeface="Arial Black"/>
              </a:rPr>
              <a:t>Singe </a:t>
            </a:r>
            <a:r>
              <a:rPr spc="-173" dirty="0">
                <a:latin typeface="Arial Black"/>
                <a:cs typeface="Arial Black"/>
              </a:rPr>
              <a:t>Node</a:t>
            </a:r>
            <a:r>
              <a:rPr spc="-127" dirty="0">
                <a:latin typeface="Arial Black"/>
                <a:cs typeface="Arial Black"/>
              </a:rPr>
              <a:t> </a:t>
            </a:r>
            <a:r>
              <a:rPr spc="-233" dirty="0">
                <a:latin typeface="Arial Black"/>
                <a:cs typeface="Arial Black"/>
              </a:rPr>
              <a:t>Cluster</a:t>
            </a:r>
            <a:endParaRPr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40362" y="5795806"/>
            <a:ext cx="2591647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52" dirty="0">
                <a:latin typeface="Arial Black"/>
                <a:cs typeface="Arial Black"/>
              </a:rPr>
              <a:t>Singe/Multi </a:t>
            </a:r>
            <a:r>
              <a:rPr spc="-173" dirty="0">
                <a:latin typeface="Arial Black"/>
                <a:cs typeface="Arial Black"/>
              </a:rPr>
              <a:t>Node</a:t>
            </a:r>
            <a:r>
              <a:rPr spc="-180" dirty="0">
                <a:latin typeface="Arial Black"/>
                <a:cs typeface="Arial Black"/>
              </a:rPr>
              <a:t> </a:t>
            </a:r>
            <a:r>
              <a:rPr spc="-233" dirty="0">
                <a:latin typeface="Arial Black"/>
                <a:cs typeface="Arial Black"/>
              </a:rPr>
              <a:t>Cluster</a:t>
            </a:r>
            <a:endParaRPr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0121" y="5084606"/>
            <a:ext cx="135043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207" dirty="0">
                <a:latin typeface="Arial Black"/>
                <a:cs typeface="Arial Black"/>
              </a:rPr>
              <a:t>Deploys </a:t>
            </a:r>
            <a:r>
              <a:rPr spc="-240" dirty="0">
                <a:latin typeface="Arial Black"/>
                <a:cs typeface="Arial Black"/>
              </a:rPr>
              <a:t>VMs</a:t>
            </a:r>
            <a:endParaRPr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4412" y="5084606"/>
            <a:ext cx="261789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240" dirty="0">
                <a:latin typeface="Arial Black"/>
                <a:cs typeface="Arial Black"/>
              </a:rPr>
              <a:t>Requires VMs </a:t>
            </a:r>
            <a:r>
              <a:rPr spc="-180" dirty="0">
                <a:latin typeface="Arial Black"/>
                <a:cs typeface="Arial Black"/>
              </a:rPr>
              <a:t>to </a:t>
            </a:r>
            <a:r>
              <a:rPr spc="-207" dirty="0">
                <a:latin typeface="Arial Black"/>
                <a:cs typeface="Arial Black"/>
              </a:rPr>
              <a:t>be</a:t>
            </a:r>
            <a:r>
              <a:rPr spc="-193" dirty="0">
                <a:latin typeface="Arial Black"/>
                <a:cs typeface="Arial Black"/>
              </a:rPr>
              <a:t> </a:t>
            </a:r>
            <a:r>
              <a:rPr spc="-227" dirty="0">
                <a:latin typeface="Arial Black"/>
                <a:cs typeface="Arial Black"/>
              </a:rPr>
              <a:t>ready</a:t>
            </a:r>
            <a:endParaRPr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078726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570345" y="1345334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/>
              <a:t>Turnkey Solutions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 smtClean="0"/>
              <a:t>You </a:t>
            </a:r>
            <a:r>
              <a:rPr lang="en-US" sz="2000" dirty="0"/>
              <a:t>Provision VMs</a:t>
            </a:r>
          </a:p>
          <a:p>
            <a:r>
              <a:rPr lang="en-US" sz="2000" dirty="0" smtClean="0"/>
              <a:t>You </a:t>
            </a:r>
            <a:r>
              <a:rPr lang="en-US" sz="2000" dirty="0"/>
              <a:t>Configure VMs</a:t>
            </a:r>
          </a:p>
          <a:p>
            <a:r>
              <a:rPr lang="en-US" sz="2000" dirty="0" smtClean="0"/>
              <a:t>You </a:t>
            </a:r>
            <a:r>
              <a:rPr lang="en-US" sz="2000" dirty="0"/>
              <a:t>Use Scripts to Deploy Cluster</a:t>
            </a:r>
          </a:p>
          <a:p>
            <a:r>
              <a:rPr lang="en-US" sz="2000" dirty="0" smtClean="0"/>
              <a:t>You </a:t>
            </a:r>
            <a:r>
              <a:rPr lang="en-US" sz="2000" dirty="0"/>
              <a:t>Maintain VMs yourself</a:t>
            </a:r>
          </a:p>
          <a:p>
            <a:r>
              <a:rPr lang="en-US" sz="2000" dirty="0" err="1" smtClean="0"/>
              <a:t>Eg</a:t>
            </a:r>
            <a:r>
              <a:rPr lang="en-US" sz="2000" dirty="0"/>
              <a:t>: Kubernetes on AWS using KOPS</a:t>
            </a:r>
          </a:p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634018" y="1280680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/>
              <a:t>Hosted Solutions</a:t>
            </a:r>
          </a:p>
          <a:p>
            <a:pPr marL="0" indent="0">
              <a:buNone/>
            </a:pPr>
            <a:r>
              <a:rPr lang="en-US" sz="2000" dirty="0" smtClean="0"/>
              <a:t>(Managed Solutions)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 smtClean="0"/>
              <a:t>Kubernetes-As-A-Service</a:t>
            </a:r>
            <a:endParaRPr lang="en-US" sz="2000" dirty="0"/>
          </a:p>
          <a:p>
            <a:r>
              <a:rPr lang="en-US" sz="2000" dirty="0" smtClean="0"/>
              <a:t>Provider </a:t>
            </a:r>
            <a:r>
              <a:rPr lang="en-US" sz="2000" dirty="0"/>
              <a:t>provisions VMs</a:t>
            </a:r>
          </a:p>
          <a:p>
            <a:r>
              <a:rPr lang="en-US" sz="2000" dirty="0" smtClean="0"/>
              <a:t>Provider </a:t>
            </a:r>
            <a:r>
              <a:rPr lang="en-US" sz="2000" dirty="0"/>
              <a:t>installs Kubernetes</a:t>
            </a:r>
          </a:p>
          <a:p>
            <a:r>
              <a:rPr lang="en-US" sz="2000" dirty="0" smtClean="0"/>
              <a:t>Provider </a:t>
            </a:r>
            <a:r>
              <a:rPr lang="en-US" sz="2000" dirty="0"/>
              <a:t>maintains VMs</a:t>
            </a:r>
          </a:p>
          <a:p>
            <a:r>
              <a:rPr lang="en-US" sz="2000" dirty="0" err="1" smtClean="0"/>
              <a:t>Eg</a:t>
            </a:r>
            <a:r>
              <a:rPr lang="en-US" sz="2000" dirty="0"/>
              <a:t>: Google Container Engine (GKE)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89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3179064" y="4344923"/>
              <a:ext cx="303275" cy="5989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3604259" y="4344923"/>
              <a:ext cx="301751" cy="5989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029455" y="4344923"/>
              <a:ext cx="301751" cy="5989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4454652" y="4344923"/>
              <a:ext cx="301751" cy="5989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4878323" y="4344923"/>
              <a:ext cx="303275" cy="5989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5303520" y="4344923"/>
              <a:ext cx="301751" cy="5989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40544" y="762432"/>
            <a:ext cx="3454400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b="1" spc="-67" dirty="0">
                <a:solidFill>
                  <a:srgbClr val="000000"/>
                </a:solidFill>
                <a:latin typeface="Arial"/>
                <a:cs typeface="Arial"/>
              </a:rPr>
              <a:t>Turnkey</a:t>
            </a:r>
            <a:r>
              <a:rPr sz="3200" b="1" spc="-10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67" dirty="0">
                <a:solidFill>
                  <a:srgbClr val="000000"/>
                </a:solidFill>
                <a:latin typeface="Arial"/>
                <a:cs typeface="Arial"/>
              </a:rPr>
              <a:t>Solutions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37488" y="2466847"/>
            <a:ext cx="4523739" cy="1603587"/>
            <a:chOff x="928116" y="1850135"/>
            <a:chExt cx="3392804" cy="1202690"/>
          </a:xfrm>
        </p:grpSpPr>
        <p:sp>
          <p:nvSpPr>
            <p:cNvPr id="11" name="object 11"/>
            <p:cNvSpPr/>
            <p:nvPr/>
          </p:nvSpPr>
          <p:spPr>
            <a:xfrm>
              <a:off x="928116" y="1882139"/>
              <a:ext cx="1115568" cy="11155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101339" y="1850135"/>
              <a:ext cx="1219200" cy="12024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95281" y="4109720"/>
            <a:ext cx="11252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b="1" spc="-33" dirty="0">
                <a:latin typeface="Arial"/>
                <a:cs typeface="Arial"/>
              </a:rPr>
              <a:t>O</a:t>
            </a:r>
            <a:r>
              <a:rPr b="1" spc="-13" dirty="0">
                <a:latin typeface="Arial"/>
                <a:cs typeface="Arial"/>
              </a:rPr>
              <a:t>pe</a:t>
            </a:r>
            <a:r>
              <a:rPr b="1" spc="-20" dirty="0">
                <a:latin typeface="Arial"/>
                <a:cs typeface="Arial"/>
              </a:rPr>
              <a:t>n</a:t>
            </a:r>
            <a:r>
              <a:rPr b="1" spc="-200" dirty="0">
                <a:latin typeface="Arial"/>
                <a:cs typeface="Arial"/>
              </a:rPr>
              <a:t>S</a:t>
            </a:r>
            <a:r>
              <a:rPr b="1" spc="27" dirty="0">
                <a:latin typeface="Arial"/>
                <a:cs typeface="Arial"/>
              </a:rPr>
              <a:t>hi</a:t>
            </a:r>
            <a:r>
              <a:rPr b="1" spc="40" dirty="0">
                <a:latin typeface="Arial"/>
                <a:cs typeface="Arial"/>
              </a:rPr>
              <a:t>f</a:t>
            </a:r>
            <a:r>
              <a:rPr b="1" spc="100" dirty="0">
                <a:latin typeface="Arial"/>
                <a:cs typeface="Arial"/>
              </a:rPr>
              <a:t>t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16173" y="4109720"/>
            <a:ext cx="2061633" cy="57195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 indent="188802">
              <a:spcBef>
                <a:spcPts val="140"/>
              </a:spcBef>
            </a:pPr>
            <a:r>
              <a:rPr b="1" spc="-33" dirty="0">
                <a:latin typeface="Arial"/>
                <a:cs typeface="Arial"/>
              </a:rPr>
              <a:t>Cloud </a:t>
            </a:r>
            <a:r>
              <a:rPr b="1" spc="-20" dirty="0">
                <a:latin typeface="Arial"/>
                <a:cs typeface="Arial"/>
              </a:rPr>
              <a:t>Foundry  Container</a:t>
            </a:r>
            <a:r>
              <a:rPr b="1" spc="-107" dirty="0">
                <a:latin typeface="Arial"/>
                <a:cs typeface="Arial"/>
              </a:rPr>
              <a:t> </a:t>
            </a:r>
            <a:r>
              <a:rPr b="1" spc="-7" dirty="0">
                <a:latin typeface="Arial"/>
                <a:cs typeface="Arial"/>
              </a:rPr>
              <a:t>Runtime</a:t>
            </a:r>
            <a:endParaRPr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27777" y="2731008"/>
            <a:ext cx="5374639" cy="3925993"/>
            <a:chOff x="4370832" y="2048255"/>
            <a:chExt cx="4030979" cy="2944495"/>
          </a:xfrm>
        </p:grpSpPr>
        <p:sp>
          <p:nvSpPr>
            <p:cNvPr id="16" name="object 16"/>
            <p:cNvSpPr/>
            <p:nvPr/>
          </p:nvSpPr>
          <p:spPr>
            <a:xfrm>
              <a:off x="7592567" y="3697223"/>
              <a:ext cx="809244" cy="12954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495544" y="2048255"/>
              <a:ext cx="1552955" cy="81838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4370832" y="2060447"/>
              <a:ext cx="1731264" cy="75895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493508" y="2167127"/>
              <a:ext cx="550164" cy="56883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763852" y="4103964"/>
            <a:ext cx="1614593" cy="57195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628211" marR="6773" indent="-612125">
              <a:spcBef>
                <a:spcPts val="140"/>
              </a:spcBef>
            </a:pPr>
            <a:r>
              <a:rPr b="1" spc="33" dirty="0">
                <a:latin typeface="Arial"/>
                <a:cs typeface="Arial"/>
              </a:rPr>
              <a:t>VMware</a:t>
            </a:r>
            <a:r>
              <a:rPr b="1" spc="-167" dirty="0">
                <a:latin typeface="Arial"/>
                <a:cs typeface="Arial"/>
              </a:rPr>
              <a:t> </a:t>
            </a:r>
            <a:r>
              <a:rPr b="1" spc="-33" dirty="0">
                <a:latin typeface="Arial"/>
                <a:cs typeface="Arial"/>
              </a:rPr>
              <a:t>Cloud  </a:t>
            </a:r>
            <a:r>
              <a:rPr b="1" spc="-147" dirty="0">
                <a:latin typeface="Arial"/>
                <a:cs typeface="Arial"/>
              </a:rPr>
              <a:t>PKS</a:t>
            </a:r>
            <a:endParaRPr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19546" y="4046220"/>
            <a:ext cx="879687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b="1" spc="-140" dirty="0">
                <a:latin typeface="Arial"/>
                <a:cs typeface="Arial"/>
              </a:rPr>
              <a:t>V</a:t>
            </a:r>
            <a:r>
              <a:rPr b="1" spc="-13" dirty="0">
                <a:latin typeface="Arial"/>
                <a:cs typeface="Arial"/>
              </a:rPr>
              <a:t>agr</a:t>
            </a:r>
            <a:r>
              <a:rPr b="1" spc="-7" dirty="0">
                <a:latin typeface="Arial"/>
                <a:cs typeface="Arial"/>
              </a:rPr>
              <a:t>a</a:t>
            </a:r>
            <a:r>
              <a:rPr b="1" spc="-13" dirty="0">
                <a:latin typeface="Arial"/>
                <a:cs typeface="Arial"/>
              </a:rPr>
              <a:t>n</a:t>
            </a:r>
            <a:r>
              <a:rPr b="1" spc="100" dirty="0">
                <a:latin typeface="Arial"/>
                <a:cs typeface="Arial"/>
              </a:rPr>
              <a:t>t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7563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7908" y="540927"/>
            <a:ext cx="3295227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b="1" spc="-20" dirty="0">
                <a:solidFill>
                  <a:srgbClr val="000000"/>
                </a:solidFill>
                <a:latin typeface="Arial"/>
                <a:cs typeface="Arial"/>
              </a:rPr>
              <a:t>Hosted</a:t>
            </a:r>
            <a:r>
              <a:rPr sz="3200" b="1" spc="-10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spc="-67" dirty="0">
                <a:solidFill>
                  <a:srgbClr val="000000"/>
                </a:solidFill>
                <a:latin typeface="Arial"/>
                <a:cs typeface="Arial"/>
              </a:rPr>
              <a:t>Solutions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28505" y="1425173"/>
            <a:ext cx="8012545" cy="3251200"/>
            <a:chOff x="825870" y="985752"/>
            <a:chExt cx="6009409" cy="2438400"/>
          </a:xfrm>
        </p:grpSpPr>
        <p:sp>
          <p:nvSpPr>
            <p:cNvPr id="4" name="object 4"/>
            <p:cNvSpPr/>
            <p:nvPr/>
          </p:nvSpPr>
          <p:spPr>
            <a:xfrm>
              <a:off x="825870" y="1679587"/>
              <a:ext cx="1348739" cy="10881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3679490" y="1752599"/>
              <a:ext cx="1003346" cy="10529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6032131" y="985752"/>
              <a:ext cx="803148" cy="24384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</p:grpSp>
      <p:sp>
        <p:nvSpPr>
          <p:cNvPr id="10" name="object 10"/>
          <p:cNvSpPr/>
          <p:nvPr/>
        </p:nvSpPr>
        <p:spPr>
          <a:xfrm>
            <a:off x="9920593" y="2687781"/>
            <a:ext cx="1467103" cy="14185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55783" y="4221017"/>
            <a:ext cx="2510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Google Container Engine</a:t>
            </a:r>
          </a:p>
          <a:p>
            <a:r>
              <a:rPr lang="en-US" dirty="0" smtClean="0"/>
              <a:t>(GKE)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331855" y="4313381"/>
            <a:ext cx="1176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Open Shift</a:t>
            </a:r>
          </a:p>
          <a:p>
            <a:r>
              <a:rPr lang="en-US" dirty="0" smtClean="0"/>
              <a:t>Online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176654" y="4368800"/>
            <a:ext cx="1899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Azure </a:t>
            </a:r>
            <a:r>
              <a:rPr lang="en-US" dirty="0"/>
              <a:t>K</a:t>
            </a:r>
            <a:r>
              <a:rPr lang="en-US" dirty="0" smtClean="0"/>
              <a:t>ubernetes </a:t>
            </a:r>
          </a:p>
          <a:p>
            <a:r>
              <a:rPr lang="en-US" dirty="0"/>
              <a:t>S</a:t>
            </a:r>
            <a:r>
              <a:rPr lang="en-US" dirty="0" smtClean="0"/>
              <a:t>ervice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966037" y="4248727"/>
            <a:ext cx="18313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Amazon Elastic</a:t>
            </a:r>
          </a:p>
          <a:p>
            <a:r>
              <a:rPr lang="en-US" dirty="0" smtClean="0"/>
              <a:t>Container Service</a:t>
            </a:r>
          </a:p>
          <a:p>
            <a:r>
              <a:rPr lang="en-US" dirty="0" smtClean="0"/>
              <a:t>For kubernetes</a:t>
            </a:r>
          </a:p>
          <a:p>
            <a:r>
              <a:rPr lang="en-US" dirty="0" smtClean="0"/>
              <a:t>(EKS)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566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551687" y="1392936"/>
              <a:ext cx="844296" cy="4465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1392936" y="1063752"/>
              <a:ext cx="1607820" cy="11841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5050535" y="1324355"/>
              <a:ext cx="664463" cy="66294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185160" y="1354836"/>
              <a:ext cx="1309115" cy="4892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834883" y="1339596"/>
              <a:ext cx="1309116" cy="4587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6225540" y="1328927"/>
              <a:ext cx="982980" cy="5745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2880360" y="2689860"/>
              <a:ext cx="880872" cy="78181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88968" y="4790440"/>
            <a:ext cx="450427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260" dirty="0">
                <a:latin typeface="Arial Black"/>
                <a:cs typeface="Arial Black"/>
              </a:rPr>
              <a:t>G</a:t>
            </a:r>
            <a:r>
              <a:rPr spc="-339" dirty="0">
                <a:latin typeface="Arial Black"/>
                <a:cs typeface="Arial Black"/>
              </a:rPr>
              <a:t>CE</a:t>
            </a:r>
            <a:endParaRPr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96001" y="3681984"/>
            <a:ext cx="2617215" cy="12740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Networking Solution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004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29" y="331247"/>
            <a:ext cx="318516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53" dirty="0"/>
              <a:t>Our</a:t>
            </a:r>
            <a:r>
              <a:rPr b="1" spc="-427" dirty="0"/>
              <a:t> </a:t>
            </a:r>
            <a:r>
              <a:rPr b="1" spc="40" dirty="0"/>
              <a:t>Design</a:t>
            </a:r>
            <a:endParaRPr b="1" dirty="0"/>
          </a:p>
        </p:txBody>
      </p:sp>
      <p:sp>
        <p:nvSpPr>
          <p:cNvPr id="4" name="object 4"/>
          <p:cNvSpPr/>
          <p:nvPr/>
        </p:nvSpPr>
        <p:spPr>
          <a:xfrm>
            <a:off x="5818631" y="1185671"/>
            <a:ext cx="1205653" cy="2245360"/>
          </a:xfrm>
          <a:custGeom>
            <a:avLst/>
            <a:gdLst/>
            <a:ahLst/>
            <a:cxnLst/>
            <a:rect l="l" t="t" r="r" b="b"/>
            <a:pathLst>
              <a:path w="904239" h="1684020">
                <a:moveTo>
                  <a:pt x="0" y="150622"/>
                </a:moveTo>
                <a:lnTo>
                  <a:pt x="7678" y="103014"/>
                </a:lnTo>
                <a:lnTo>
                  <a:pt x="29061" y="61667"/>
                </a:lnTo>
                <a:lnTo>
                  <a:pt x="61667" y="29061"/>
                </a:lnTo>
                <a:lnTo>
                  <a:pt x="103014" y="7678"/>
                </a:lnTo>
                <a:lnTo>
                  <a:pt x="150622" y="0"/>
                </a:lnTo>
                <a:lnTo>
                  <a:pt x="753110" y="0"/>
                </a:lnTo>
                <a:lnTo>
                  <a:pt x="800717" y="7678"/>
                </a:lnTo>
                <a:lnTo>
                  <a:pt x="842064" y="29061"/>
                </a:lnTo>
                <a:lnTo>
                  <a:pt x="874670" y="61667"/>
                </a:lnTo>
                <a:lnTo>
                  <a:pt x="896053" y="103014"/>
                </a:lnTo>
                <a:lnTo>
                  <a:pt x="903731" y="150622"/>
                </a:lnTo>
                <a:lnTo>
                  <a:pt x="903731" y="1533398"/>
                </a:lnTo>
                <a:lnTo>
                  <a:pt x="896053" y="1581005"/>
                </a:lnTo>
                <a:lnTo>
                  <a:pt x="874670" y="1622352"/>
                </a:lnTo>
                <a:lnTo>
                  <a:pt x="842064" y="1654958"/>
                </a:lnTo>
                <a:lnTo>
                  <a:pt x="800717" y="1676341"/>
                </a:lnTo>
                <a:lnTo>
                  <a:pt x="753110" y="1684020"/>
                </a:lnTo>
                <a:lnTo>
                  <a:pt x="150622" y="1684020"/>
                </a:lnTo>
                <a:lnTo>
                  <a:pt x="103014" y="1676341"/>
                </a:lnTo>
                <a:lnTo>
                  <a:pt x="61667" y="1654958"/>
                </a:lnTo>
                <a:lnTo>
                  <a:pt x="29061" y="1622352"/>
                </a:lnTo>
                <a:lnTo>
                  <a:pt x="7678" y="1581005"/>
                </a:lnTo>
                <a:lnTo>
                  <a:pt x="0" y="1533398"/>
                </a:lnTo>
                <a:lnTo>
                  <a:pt x="0" y="150622"/>
                </a:lnTo>
                <a:close/>
              </a:path>
            </a:pathLst>
          </a:custGeom>
          <a:ln w="19812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6301739" y="2146807"/>
            <a:ext cx="2404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80" dirty="0">
                <a:solidFill>
                  <a:srgbClr val="E10A87"/>
                </a:solidFill>
                <a:latin typeface="Arial Black"/>
                <a:cs typeface="Arial Black"/>
              </a:rPr>
              <a:t>M</a:t>
            </a:r>
            <a:endParaRPr dirty="0"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15934" y="2647697"/>
            <a:ext cx="1800860" cy="3394287"/>
            <a:chOff x="3536950" y="1985772"/>
            <a:chExt cx="1350645" cy="2545715"/>
          </a:xfrm>
        </p:grpSpPr>
        <p:sp>
          <p:nvSpPr>
            <p:cNvPr id="7" name="object 7"/>
            <p:cNvSpPr/>
            <p:nvPr/>
          </p:nvSpPr>
          <p:spPr>
            <a:xfrm>
              <a:off x="4744211" y="1985772"/>
              <a:ext cx="143255" cy="1417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547110" y="2836925"/>
              <a:ext cx="940435" cy="1684020"/>
            </a:xfrm>
            <a:custGeom>
              <a:avLst/>
              <a:gdLst/>
              <a:ahLst/>
              <a:cxnLst/>
              <a:rect l="l" t="t" r="r" b="b"/>
              <a:pathLst>
                <a:path w="940435" h="1684020">
                  <a:moveTo>
                    <a:pt x="0" y="156718"/>
                  </a:moveTo>
                  <a:lnTo>
                    <a:pt x="7983" y="107159"/>
                  </a:lnTo>
                  <a:lnTo>
                    <a:pt x="30219" y="64136"/>
                  </a:lnTo>
                  <a:lnTo>
                    <a:pt x="64136" y="30219"/>
                  </a:lnTo>
                  <a:lnTo>
                    <a:pt x="107159" y="7983"/>
                  </a:lnTo>
                  <a:lnTo>
                    <a:pt x="156717" y="0"/>
                  </a:lnTo>
                  <a:lnTo>
                    <a:pt x="783589" y="0"/>
                  </a:lnTo>
                  <a:lnTo>
                    <a:pt x="833148" y="7983"/>
                  </a:lnTo>
                  <a:lnTo>
                    <a:pt x="876171" y="30219"/>
                  </a:lnTo>
                  <a:lnTo>
                    <a:pt x="910088" y="64136"/>
                  </a:lnTo>
                  <a:lnTo>
                    <a:pt x="932324" y="107159"/>
                  </a:lnTo>
                  <a:lnTo>
                    <a:pt x="940307" y="156718"/>
                  </a:lnTo>
                  <a:lnTo>
                    <a:pt x="940307" y="1527302"/>
                  </a:lnTo>
                  <a:lnTo>
                    <a:pt x="932324" y="1576836"/>
                  </a:lnTo>
                  <a:lnTo>
                    <a:pt x="910088" y="1619856"/>
                  </a:lnTo>
                  <a:lnTo>
                    <a:pt x="876171" y="1653781"/>
                  </a:lnTo>
                  <a:lnTo>
                    <a:pt x="833148" y="1676030"/>
                  </a:lnTo>
                  <a:lnTo>
                    <a:pt x="783589" y="1684020"/>
                  </a:lnTo>
                  <a:lnTo>
                    <a:pt x="156717" y="1684020"/>
                  </a:lnTo>
                  <a:lnTo>
                    <a:pt x="107159" y="1676030"/>
                  </a:lnTo>
                  <a:lnTo>
                    <a:pt x="64136" y="1653781"/>
                  </a:lnTo>
                  <a:lnTo>
                    <a:pt x="30219" y="1619856"/>
                  </a:lnTo>
                  <a:lnTo>
                    <a:pt x="7983" y="1576836"/>
                  </a:lnTo>
                  <a:lnTo>
                    <a:pt x="0" y="1527302"/>
                  </a:lnTo>
                  <a:lnTo>
                    <a:pt x="0" y="156718"/>
                  </a:lnTo>
                  <a:close/>
                </a:path>
              </a:pathLst>
            </a:custGeom>
            <a:ln w="19812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30028" y="4746074"/>
            <a:ext cx="2489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13" dirty="0">
                <a:solidFill>
                  <a:srgbClr val="1780C3"/>
                </a:solidFill>
                <a:latin typeface="Arial Black"/>
                <a:cs typeface="Arial Black"/>
              </a:rPr>
              <a:t>W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62879" y="3769022"/>
            <a:ext cx="2977727" cy="2272452"/>
            <a:chOff x="3947159" y="2826766"/>
            <a:chExt cx="2233295" cy="1704339"/>
          </a:xfrm>
        </p:grpSpPr>
        <p:sp>
          <p:nvSpPr>
            <p:cNvPr id="11" name="object 11"/>
            <p:cNvSpPr/>
            <p:nvPr/>
          </p:nvSpPr>
          <p:spPr>
            <a:xfrm>
              <a:off x="3947159" y="3925824"/>
              <a:ext cx="138683" cy="1386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9605" y="2836926"/>
              <a:ext cx="940435" cy="1684020"/>
            </a:xfrm>
            <a:custGeom>
              <a:avLst/>
              <a:gdLst/>
              <a:ahLst/>
              <a:cxnLst/>
              <a:rect l="l" t="t" r="r" b="b"/>
              <a:pathLst>
                <a:path w="940435" h="1684020">
                  <a:moveTo>
                    <a:pt x="0" y="156718"/>
                  </a:moveTo>
                  <a:lnTo>
                    <a:pt x="7983" y="107159"/>
                  </a:lnTo>
                  <a:lnTo>
                    <a:pt x="30219" y="64136"/>
                  </a:lnTo>
                  <a:lnTo>
                    <a:pt x="64136" y="30219"/>
                  </a:lnTo>
                  <a:lnTo>
                    <a:pt x="107159" y="7983"/>
                  </a:lnTo>
                  <a:lnTo>
                    <a:pt x="156718" y="0"/>
                  </a:lnTo>
                  <a:lnTo>
                    <a:pt x="783590" y="0"/>
                  </a:lnTo>
                  <a:lnTo>
                    <a:pt x="833148" y="7983"/>
                  </a:lnTo>
                  <a:lnTo>
                    <a:pt x="876171" y="30219"/>
                  </a:lnTo>
                  <a:lnTo>
                    <a:pt x="910088" y="64136"/>
                  </a:lnTo>
                  <a:lnTo>
                    <a:pt x="932324" y="107159"/>
                  </a:lnTo>
                  <a:lnTo>
                    <a:pt x="940308" y="156718"/>
                  </a:lnTo>
                  <a:lnTo>
                    <a:pt x="940308" y="1527302"/>
                  </a:lnTo>
                  <a:lnTo>
                    <a:pt x="932324" y="1576836"/>
                  </a:lnTo>
                  <a:lnTo>
                    <a:pt x="910088" y="1619856"/>
                  </a:lnTo>
                  <a:lnTo>
                    <a:pt x="876171" y="1653781"/>
                  </a:lnTo>
                  <a:lnTo>
                    <a:pt x="833148" y="1676030"/>
                  </a:lnTo>
                  <a:lnTo>
                    <a:pt x="783590" y="1684020"/>
                  </a:lnTo>
                  <a:lnTo>
                    <a:pt x="156718" y="1684020"/>
                  </a:lnTo>
                  <a:lnTo>
                    <a:pt x="107159" y="1676030"/>
                  </a:lnTo>
                  <a:lnTo>
                    <a:pt x="64136" y="1653781"/>
                  </a:lnTo>
                  <a:lnTo>
                    <a:pt x="30219" y="1619856"/>
                  </a:lnTo>
                  <a:lnTo>
                    <a:pt x="7983" y="1576836"/>
                  </a:lnTo>
                  <a:lnTo>
                    <a:pt x="0" y="1527302"/>
                  </a:lnTo>
                  <a:lnTo>
                    <a:pt x="0" y="156718"/>
                  </a:lnTo>
                  <a:close/>
                </a:path>
              </a:pathLst>
            </a:custGeom>
            <a:ln w="19812">
              <a:solidFill>
                <a:srgbClr val="1780C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73356" y="4746074"/>
            <a:ext cx="2489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13" dirty="0">
                <a:solidFill>
                  <a:srgbClr val="1780C3"/>
                </a:solidFill>
                <a:latin typeface="Arial Black"/>
                <a:cs typeface="Arial Black"/>
              </a:rPr>
              <a:t>W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1863469"/>
            <a:ext cx="7691120" cy="3556000"/>
            <a:chOff x="0" y="1397602"/>
            <a:chExt cx="5768340" cy="2667000"/>
          </a:xfrm>
        </p:grpSpPr>
        <p:sp>
          <p:nvSpPr>
            <p:cNvPr id="15" name="object 15"/>
            <p:cNvSpPr/>
            <p:nvPr/>
          </p:nvSpPr>
          <p:spPr>
            <a:xfrm>
              <a:off x="5629655" y="3925823"/>
              <a:ext cx="138683" cy="1386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68706" y="1397609"/>
              <a:ext cx="443230" cy="269240"/>
            </a:xfrm>
            <a:custGeom>
              <a:avLst/>
              <a:gdLst/>
              <a:ahLst/>
              <a:cxnLst/>
              <a:rect l="l" t="t" r="r" b="b"/>
              <a:pathLst>
                <a:path w="443230" h="269239">
                  <a:moveTo>
                    <a:pt x="385140" y="19215"/>
                  </a:moveTo>
                  <a:lnTo>
                    <a:pt x="383616" y="11760"/>
                  </a:lnTo>
                  <a:lnTo>
                    <a:pt x="379476" y="5651"/>
                  </a:lnTo>
                  <a:lnTo>
                    <a:pt x="373354" y="1511"/>
                  </a:lnTo>
                  <a:lnTo>
                    <a:pt x="365887" y="0"/>
                  </a:lnTo>
                  <a:lnTo>
                    <a:pt x="356247" y="0"/>
                  </a:lnTo>
                  <a:lnTo>
                    <a:pt x="356247" y="28829"/>
                  </a:lnTo>
                  <a:lnTo>
                    <a:pt x="356247" y="192214"/>
                  </a:lnTo>
                  <a:lnTo>
                    <a:pt x="86652" y="192214"/>
                  </a:lnTo>
                  <a:lnTo>
                    <a:pt x="86652" y="28829"/>
                  </a:lnTo>
                  <a:lnTo>
                    <a:pt x="356247" y="28829"/>
                  </a:lnTo>
                  <a:lnTo>
                    <a:pt x="356247" y="0"/>
                  </a:lnTo>
                  <a:lnTo>
                    <a:pt x="77025" y="0"/>
                  </a:lnTo>
                  <a:lnTo>
                    <a:pt x="69545" y="1511"/>
                  </a:lnTo>
                  <a:lnTo>
                    <a:pt x="63423" y="5651"/>
                  </a:lnTo>
                  <a:lnTo>
                    <a:pt x="59283" y="11760"/>
                  </a:lnTo>
                  <a:lnTo>
                    <a:pt x="57772" y="19215"/>
                  </a:lnTo>
                  <a:lnTo>
                    <a:pt x="57772" y="221043"/>
                  </a:lnTo>
                  <a:lnTo>
                    <a:pt x="385140" y="221043"/>
                  </a:lnTo>
                  <a:lnTo>
                    <a:pt x="385140" y="192214"/>
                  </a:lnTo>
                  <a:lnTo>
                    <a:pt x="385140" y="28829"/>
                  </a:lnTo>
                  <a:lnTo>
                    <a:pt x="385140" y="19215"/>
                  </a:lnTo>
                  <a:close/>
                </a:path>
                <a:path w="443230" h="269239">
                  <a:moveTo>
                    <a:pt x="442912" y="240258"/>
                  </a:moveTo>
                  <a:lnTo>
                    <a:pt x="250342" y="240258"/>
                  </a:lnTo>
                  <a:lnTo>
                    <a:pt x="250342" y="247954"/>
                  </a:lnTo>
                  <a:lnTo>
                    <a:pt x="248412" y="249872"/>
                  </a:lnTo>
                  <a:lnTo>
                    <a:pt x="194487" y="249872"/>
                  </a:lnTo>
                  <a:lnTo>
                    <a:pt x="192570" y="247954"/>
                  </a:lnTo>
                  <a:lnTo>
                    <a:pt x="192570" y="240258"/>
                  </a:lnTo>
                  <a:lnTo>
                    <a:pt x="0" y="240258"/>
                  </a:lnTo>
                  <a:lnTo>
                    <a:pt x="0" y="249872"/>
                  </a:lnTo>
                  <a:lnTo>
                    <a:pt x="1511" y="257340"/>
                  </a:lnTo>
                  <a:lnTo>
                    <a:pt x="5651" y="263448"/>
                  </a:lnTo>
                  <a:lnTo>
                    <a:pt x="11772" y="267576"/>
                  </a:lnTo>
                  <a:lnTo>
                    <a:pt x="19253" y="269100"/>
                  </a:lnTo>
                  <a:lnTo>
                    <a:pt x="423646" y="269100"/>
                  </a:lnTo>
                  <a:lnTo>
                    <a:pt x="431126" y="267576"/>
                  </a:lnTo>
                  <a:lnTo>
                    <a:pt x="437248" y="263448"/>
                  </a:lnTo>
                  <a:lnTo>
                    <a:pt x="441388" y="257340"/>
                  </a:lnTo>
                  <a:lnTo>
                    <a:pt x="442912" y="249872"/>
                  </a:lnTo>
                  <a:lnTo>
                    <a:pt x="442912" y="2402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59079" y="1763268"/>
              <a:ext cx="461772" cy="4617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1993391"/>
              <a:ext cx="1469136" cy="11841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4986" y="3929990"/>
            <a:ext cx="2652607" cy="57195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93" dirty="0">
                <a:latin typeface="Arial Black"/>
                <a:cs typeface="Arial Black"/>
              </a:rPr>
              <a:t>POD </a:t>
            </a:r>
            <a:r>
              <a:rPr spc="-240" dirty="0">
                <a:latin typeface="Arial Black"/>
                <a:cs typeface="Arial Black"/>
              </a:rPr>
              <a:t>CIDR:</a:t>
            </a:r>
            <a:r>
              <a:rPr spc="-47" dirty="0">
                <a:latin typeface="Arial Black"/>
                <a:cs typeface="Arial Black"/>
              </a:rPr>
              <a:t> </a:t>
            </a:r>
            <a:r>
              <a:rPr spc="-200" dirty="0">
                <a:latin typeface="Arial Black"/>
                <a:cs typeface="Arial Black"/>
              </a:rPr>
              <a:t>10.32.0.0/12</a:t>
            </a:r>
            <a:endParaRPr dirty="0">
              <a:latin typeface="Arial Black"/>
              <a:cs typeface="Arial Black"/>
            </a:endParaRPr>
          </a:p>
          <a:p>
            <a:pPr marL="16933">
              <a:spcBef>
                <a:spcPts val="7"/>
              </a:spcBef>
            </a:pPr>
            <a:r>
              <a:rPr spc="-253" dirty="0">
                <a:latin typeface="Arial Black"/>
                <a:cs typeface="Arial Black"/>
              </a:rPr>
              <a:t>Service </a:t>
            </a:r>
            <a:r>
              <a:rPr spc="-240" dirty="0">
                <a:latin typeface="Arial Black"/>
                <a:cs typeface="Arial Black"/>
              </a:rPr>
              <a:t>CIDR:</a:t>
            </a:r>
            <a:r>
              <a:rPr spc="-347" dirty="0">
                <a:latin typeface="Arial Black"/>
                <a:cs typeface="Arial Black"/>
              </a:rPr>
              <a:t> </a:t>
            </a:r>
            <a:r>
              <a:rPr spc="-200" dirty="0">
                <a:latin typeface="Arial Black"/>
                <a:cs typeface="Arial Black"/>
              </a:rPr>
              <a:t>10.96.0.0/24</a:t>
            </a:r>
            <a:endParaRPr dirty="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309030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8727" y="124322"/>
            <a:ext cx="439081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60" dirty="0">
                <a:solidFill>
                  <a:srgbClr val="115F92"/>
                </a:solidFill>
              </a:rPr>
              <a:t>Getting</a:t>
            </a:r>
            <a:r>
              <a:rPr spc="-433" dirty="0">
                <a:solidFill>
                  <a:srgbClr val="115F92"/>
                </a:solidFill>
              </a:rPr>
              <a:t> </a:t>
            </a:r>
            <a:r>
              <a:rPr spc="7" dirty="0">
                <a:solidFill>
                  <a:srgbClr val="115F92"/>
                </a:solidFill>
              </a:rPr>
              <a:t>Started</a:t>
            </a:r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45744" y="1300480"/>
            <a:ext cx="10595187" cy="728133"/>
            <a:chOff x="559308" y="975360"/>
            <a:chExt cx="7946390" cy="546100"/>
          </a:xfrm>
        </p:grpSpPr>
        <p:sp>
          <p:nvSpPr>
            <p:cNvPr id="4" name="object 4"/>
            <p:cNvSpPr/>
            <p:nvPr/>
          </p:nvSpPr>
          <p:spPr>
            <a:xfrm>
              <a:off x="559308" y="975360"/>
              <a:ext cx="7946135" cy="5166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786384" y="983005"/>
              <a:ext cx="6839711" cy="5379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618744" y="1014984"/>
              <a:ext cx="7832090" cy="403860"/>
            </a:xfrm>
            <a:custGeom>
              <a:avLst/>
              <a:gdLst/>
              <a:ahLst/>
              <a:cxnLst/>
              <a:rect l="l" t="t" r="r" b="b"/>
              <a:pathLst>
                <a:path w="7832090" h="403859">
                  <a:moveTo>
                    <a:pt x="7831835" y="0"/>
                  </a:moveTo>
                  <a:lnTo>
                    <a:pt x="0" y="0"/>
                  </a:lnTo>
                  <a:lnTo>
                    <a:pt x="0" y="403860"/>
                  </a:lnTo>
                  <a:lnTo>
                    <a:pt x="7831835" y="403860"/>
                  </a:lnTo>
                  <a:lnTo>
                    <a:pt x="783183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8896" y="1353311"/>
            <a:ext cx="10448712" cy="464957"/>
          </a:xfrm>
          <a:prstGeom prst="rect">
            <a:avLst/>
          </a:prstGeom>
        </p:spPr>
        <p:txBody>
          <a:bodyPr vert="horz" wrap="square" lIns="0" tIns="54187" rIns="0" bIns="0" rtlCol="0">
            <a:spAutoFit/>
          </a:bodyPr>
          <a:lstStyle/>
          <a:p>
            <a:pPr marL="411470">
              <a:spcBef>
                <a:spcPts val="427"/>
              </a:spcBef>
            </a:pPr>
            <a:r>
              <a:rPr sz="1333" spc="40" dirty="0">
                <a:solidFill>
                  <a:srgbClr val="D9D9D9"/>
                </a:solidFill>
                <a:latin typeface="Arial"/>
                <a:cs typeface="Arial"/>
              </a:rPr>
              <a:t>wget </a:t>
            </a:r>
            <a:r>
              <a:rPr sz="1333" spc="147" dirty="0">
                <a:solidFill>
                  <a:srgbClr val="D9D9D9"/>
                </a:solidFill>
                <a:latin typeface="Arial"/>
                <a:cs typeface="Arial"/>
              </a:rPr>
              <a:t>-q </a:t>
            </a:r>
            <a:r>
              <a:rPr sz="1333" spc="187" dirty="0">
                <a:solidFill>
                  <a:srgbClr val="D9D9D9"/>
                </a:solidFill>
                <a:latin typeface="Arial"/>
                <a:cs typeface="Arial"/>
              </a:rPr>
              <a:t>--https-only</a:t>
            </a:r>
            <a:r>
              <a:rPr sz="1333" spc="1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367" dirty="0">
                <a:solidFill>
                  <a:srgbClr val="D9D9D9"/>
                </a:solidFill>
                <a:latin typeface="Arial"/>
                <a:cs typeface="Arial"/>
              </a:rPr>
              <a:t>\</a:t>
            </a:r>
            <a:endParaRPr sz="1333">
              <a:latin typeface="Arial"/>
              <a:cs typeface="Arial"/>
            </a:endParaRPr>
          </a:p>
          <a:p>
            <a:pPr marL="794153">
              <a:spcBef>
                <a:spcPts val="20"/>
              </a:spcBef>
            </a:pPr>
            <a:r>
              <a:rPr sz="1333" spc="147" dirty="0">
                <a:solidFill>
                  <a:srgbClr val="D9D9D9"/>
                </a:solidFill>
                <a:latin typeface="Arial"/>
                <a:cs typeface="Arial"/>
              </a:rPr>
              <a:t>"https://github.com/coreos/etcd/releases/download/v3.3.9/etcd-v3.3.9-linux-amd64.tar.gz"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39648" y="1369618"/>
            <a:ext cx="10595187" cy="1358053"/>
            <a:chOff x="554736" y="1027213"/>
            <a:chExt cx="7946390" cy="1018540"/>
          </a:xfrm>
        </p:grpSpPr>
        <p:sp>
          <p:nvSpPr>
            <p:cNvPr id="9" name="object 9"/>
            <p:cNvSpPr/>
            <p:nvPr/>
          </p:nvSpPr>
          <p:spPr>
            <a:xfrm>
              <a:off x="637049" y="1027213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40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554736" y="1653540"/>
              <a:ext cx="7946135" cy="3611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83336" y="1661109"/>
              <a:ext cx="3054095" cy="3840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14172" y="1693163"/>
              <a:ext cx="7832090" cy="248920"/>
            </a:xfrm>
            <a:custGeom>
              <a:avLst/>
              <a:gdLst/>
              <a:ahLst/>
              <a:cxnLst/>
              <a:rect l="l" t="t" r="r" b="b"/>
              <a:pathLst>
                <a:path w="7832090" h="248919">
                  <a:moveTo>
                    <a:pt x="7831835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7831835" y="248412"/>
                  </a:lnTo>
                  <a:lnTo>
                    <a:pt x="783183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8896" y="2257552"/>
            <a:ext cx="10448712" cy="260691"/>
          </a:xfrm>
          <a:prstGeom prst="rect">
            <a:avLst/>
          </a:prstGeom>
        </p:spPr>
        <p:txBody>
          <a:bodyPr vert="horz" wrap="square" lIns="0" tIns="55033" rIns="0" bIns="0" rtlCol="0">
            <a:spAutoFit/>
          </a:bodyPr>
          <a:lstStyle/>
          <a:p>
            <a:pPr marL="406390">
              <a:spcBef>
                <a:spcPts val="433"/>
              </a:spcBef>
            </a:pPr>
            <a:r>
              <a:rPr sz="1333" spc="227" dirty="0">
                <a:solidFill>
                  <a:srgbClr val="D9D9D9"/>
                </a:solidFill>
                <a:latin typeface="Arial"/>
                <a:cs typeface="Arial"/>
              </a:rPr>
              <a:t>tar </a:t>
            </a:r>
            <a:r>
              <a:rPr sz="1333" spc="207" dirty="0">
                <a:solidFill>
                  <a:srgbClr val="D9D9D9"/>
                </a:solidFill>
                <a:latin typeface="Arial"/>
                <a:cs typeface="Arial"/>
              </a:rPr>
              <a:t>-xvf</a:t>
            </a:r>
            <a:r>
              <a:rPr sz="1333" spc="5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etcd-v3.3.9-linux-amd64.tar.gz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9648" y="2273858"/>
            <a:ext cx="10595187" cy="971973"/>
            <a:chOff x="554736" y="1705393"/>
            <a:chExt cx="7946390" cy="728980"/>
          </a:xfrm>
        </p:grpSpPr>
        <p:sp>
          <p:nvSpPr>
            <p:cNvPr id="15" name="object 15"/>
            <p:cNvSpPr/>
            <p:nvPr/>
          </p:nvSpPr>
          <p:spPr>
            <a:xfrm>
              <a:off x="632784" y="1705393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554736" y="2042160"/>
              <a:ext cx="7946135" cy="3611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783336" y="2051342"/>
              <a:ext cx="3697224" cy="38248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14172" y="2081784"/>
              <a:ext cx="7832090" cy="248920"/>
            </a:xfrm>
            <a:custGeom>
              <a:avLst/>
              <a:gdLst/>
              <a:ahLst/>
              <a:cxnLst/>
              <a:rect l="l" t="t" r="r" b="b"/>
              <a:pathLst>
                <a:path w="7832090" h="248919">
                  <a:moveTo>
                    <a:pt x="7831835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7831835" y="248412"/>
                  </a:lnTo>
                  <a:lnTo>
                    <a:pt x="783183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18896" y="2775711"/>
            <a:ext cx="10448712" cy="261546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406390">
              <a:spcBef>
                <a:spcPts val="440"/>
              </a:spcBef>
            </a:pPr>
            <a:r>
              <a:rPr sz="1333" spc="-147" dirty="0">
                <a:solidFill>
                  <a:srgbClr val="D9D9D9"/>
                </a:solidFill>
                <a:latin typeface="Arial"/>
                <a:cs typeface="Arial"/>
              </a:rPr>
              <a:t>mv </a:t>
            </a:r>
            <a:r>
              <a:rPr sz="1333" spc="133" dirty="0">
                <a:solidFill>
                  <a:srgbClr val="D9D9D9"/>
                </a:solidFill>
                <a:latin typeface="Arial"/>
                <a:cs typeface="Arial"/>
              </a:rPr>
              <a:t>etcd-v3.3.9-linux-amd64/etcd*</a:t>
            </a:r>
            <a:r>
              <a:rPr sz="1333" spc="24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220" dirty="0">
                <a:solidFill>
                  <a:srgbClr val="D9D9D9"/>
                </a:solidFill>
                <a:latin typeface="Arial"/>
                <a:cs typeface="Arial"/>
              </a:rPr>
              <a:t>/usr/local/bin/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9648" y="2792018"/>
            <a:ext cx="10595187" cy="1130300"/>
            <a:chOff x="554736" y="2094013"/>
            <a:chExt cx="7946390" cy="847725"/>
          </a:xfrm>
        </p:grpSpPr>
        <p:sp>
          <p:nvSpPr>
            <p:cNvPr id="21" name="object 21"/>
            <p:cNvSpPr/>
            <p:nvPr/>
          </p:nvSpPr>
          <p:spPr>
            <a:xfrm>
              <a:off x="632784" y="2094013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554736" y="2549651"/>
              <a:ext cx="7946135" cy="3611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783336" y="2558834"/>
              <a:ext cx="2554224" cy="38248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614172" y="2589275"/>
              <a:ext cx="7832090" cy="248920"/>
            </a:xfrm>
            <a:custGeom>
              <a:avLst/>
              <a:gdLst/>
              <a:ahLst/>
              <a:cxnLst/>
              <a:rect l="l" t="t" r="r" b="b"/>
              <a:pathLst>
                <a:path w="7832090" h="248919">
                  <a:moveTo>
                    <a:pt x="7831835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7831835" y="248412"/>
                  </a:lnTo>
                  <a:lnTo>
                    <a:pt x="783183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18896" y="3452368"/>
            <a:ext cx="10448712" cy="261546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406390">
              <a:spcBef>
                <a:spcPts val="440"/>
              </a:spcBef>
            </a:pPr>
            <a:r>
              <a:rPr sz="1333" spc="93" dirty="0">
                <a:solidFill>
                  <a:srgbClr val="D9D9D9"/>
                </a:solidFill>
                <a:latin typeface="Arial"/>
                <a:cs typeface="Arial"/>
              </a:rPr>
              <a:t>mkdir </a:t>
            </a:r>
            <a:r>
              <a:rPr sz="1333" spc="147" dirty="0">
                <a:solidFill>
                  <a:srgbClr val="D9D9D9"/>
                </a:solidFill>
                <a:latin typeface="Arial"/>
                <a:cs typeface="Arial"/>
              </a:rPr>
              <a:t>-p </a:t>
            </a:r>
            <a:r>
              <a:rPr sz="1333" spc="180" dirty="0">
                <a:solidFill>
                  <a:srgbClr val="D9D9D9"/>
                </a:solidFill>
                <a:latin typeface="Arial"/>
                <a:cs typeface="Arial"/>
              </a:rPr>
              <a:t>/etc/etcd</a:t>
            </a:r>
            <a:r>
              <a:rPr sz="1333" spc="-6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213" dirty="0">
                <a:solidFill>
                  <a:srgbClr val="D9D9D9"/>
                </a:solidFill>
                <a:latin typeface="Arial"/>
                <a:cs typeface="Arial"/>
              </a:rPr>
              <a:t>/var/lib/etcd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39648" y="3470477"/>
            <a:ext cx="10595187" cy="976207"/>
            <a:chOff x="554736" y="2602857"/>
            <a:chExt cx="7946390" cy="732155"/>
          </a:xfrm>
        </p:grpSpPr>
        <p:sp>
          <p:nvSpPr>
            <p:cNvPr id="27" name="object 27"/>
            <p:cNvSpPr/>
            <p:nvPr/>
          </p:nvSpPr>
          <p:spPr>
            <a:xfrm>
              <a:off x="632784" y="2602857"/>
              <a:ext cx="160020" cy="204470"/>
            </a:xfrm>
            <a:custGeom>
              <a:avLst/>
              <a:gdLst/>
              <a:ahLst/>
              <a:cxnLst/>
              <a:rect l="l" t="t" r="r" b="b"/>
              <a:pathLst>
                <a:path w="160020" h="204469">
                  <a:moveTo>
                    <a:pt x="0" y="0"/>
                  </a:moveTo>
                  <a:lnTo>
                    <a:pt x="0" y="204209"/>
                  </a:lnTo>
                  <a:lnTo>
                    <a:pt x="159603" y="102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554736" y="2942843"/>
              <a:ext cx="7946135" cy="3611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783336" y="2950413"/>
              <a:ext cx="4125467" cy="38409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614172" y="2982467"/>
              <a:ext cx="7832090" cy="248920"/>
            </a:xfrm>
            <a:custGeom>
              <a:avLst/>
              <a:gdLst/>
              <a:ahLst/>
              <a:cxnLst/>
              <a:rect l="l" t="t" r="r" b="b"/>
              <a:pathLst>
                <a:path w="7832090" h="248919">
                  <a:moveTo>
                    <a:pt x="7831835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7831835" y="248412"/>
                  </a:lnTo>
                  <a:lnTo>
                    <a:pt x="783183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18896" y="3976623"/>
            <a:ext cx="10448712" cy="260691"/>
          </a:xfrm>
          <a:prstGeom prst="rect">
            <a:avLst/>
          </a:prstGeom>
        </p:spPr>
        <p:txBody>
          <a:bodyPr vert="horz" wrap="square" lIns="0" tIns="55033" rIns="0" bIns="0" rtlCol="0">
            <a:spAutoFit/>
          </a:bodyPr>
          <a:lstStyle/>
          <a:p>
            <a:pPr marL="406390">
              <a:spcBef>
                <a:spcPts val="433"/>
              </a:spcBef>
            </a:pPr>
            <a:r>
              <a:rPr sz="1333" spc="40" dirty="0">
                <a:solidFill>
                  <a:srgbClr val="D9D9D9"/>
                </a:solidFill>
                <a:latin typeface="Arial"/>
                <a:cs typeface="Arial"/>
              </a:rPr>
              <a:t>cp </a:t>
            </a:r>
            <a:r>
              <a:rPr sz="1333" spc="13" dirty="0">
                <a:solidFill>
                  <a:srgbClr val="D9D9D9"/>
                </a:solidFill>
                <a:latin typeface="Arial"/>
                <a:cs typeface="Arial"/>
              </a:rPr>
              <a:t>ca.pem </a:t>
            </a:r>
            <a:r>
              <a:rPr sz="1333" spc="73" dirty="0">
                <a:solidFill>
                  <a:srgbClr val="D9D9D9"/>
                </a:solidFill>
                <a:latin typeface="Arial"/>
                <a:cs typeface="Arial"/>
              </a:rPr>
              <a:t>kubernetes-key.pem </a:t>
            </a:r>
            <a:r>
              <a:rPr sz="1333" spc="60" dirty="0">
                <a:solidFill>
                  <a:srgbClr val="D9D9D9"/>
                </a:solidFill>
                <a:latin typeface="Arial"/>
                <a:cs typeface="Arial"/>
              </a:rPr>
              <a:t>kubernetes.pem</a:t>
            </a:r>
            <a:r>
              <a:rPr sz="1333" spc="17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200" dirty="0">
                <a:solidFill>
                  <a:srgbClr val="D9D9D9"/>
                </a:solidFill>
                <a:latin typeface="Arial"/>
                <a:cs typeface="Arial"/>
              </a:rPr>
              <a:t>/etc/etcd/</a:t>
            </a:r>
            <a:endParaRPr sz="1333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43712" y="3992929"/>
            <a:ext cx="213360" cy="274320"/>
          </a:xfrm>
          <a:custGeom>
            <a:avLst/>
            <a:gdLst/>
            <a:ahLst/>
            <a:cxnLst/>
            <a:rect l="l" t="t" r="r" b="b"/>
            <a:pathLst>
              <a:path w="160020" h="205739">
                <a:moveTo>
                  <a:pt x="0" y="0"/>
                </a:moveTo>
                <a:lnTo>
                  <a:pt x="0" y="205385"/>
                </a:lnTo>
                <a:lnTo>
                  <a:pt x="159603" y="102697"/>
                </a:lnTo>
                <a:lnTo>
                  <a:pt x="0" y="0"/>
                </a:lnTo>
                <a:close/>
              </a:path>
            </a:pathLst>
          </a:custGeom>
          <a:solidFill>
            <a:srgbClr val="39B54A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69926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0176" y="1857248"/>
            <a:ext cx="11291993" cy="3816773"/>
          </a:xfrm>
          <a:custGeom>
            <a:avLst/>
            <a:gdLst/>
            <a:ahLst/>
            <a:cxnLst/>
            <a:rect l="l" t="t" r="r" b="b"/>
            <a:pathLst>
              <a:path w="8468995" h="2862579">
                <a:moveTo>
                  <a:pt x="0" y="2862072"/>
                </a:moveTo>
                <a:lnTo>
                  <a:pt x="8468868" y="2862072"/>
                </a:lnTo>
                <a:lnTo>
                  <a:pt x="8468868" y="0"/>
                </a:lnTo>
                <a:lnTo>
                  <a:pt x="0" y="0"/>
                </a:lnTo>
                <a:lnTo>
                  <a:pt x="0" y="286207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21283" y="1953480"/>
            <a:ext cx="10244667" cy="3653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3"/>
              </a:lnSpc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ExecStart=/usr/local/bin/etcd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20" dirty="0">
                <a:solidFill>
                  <a:srgbClr val="FFFFFF"/>
                </a:solidFill>
                <a:latin typeface="Arial"/>
                <a:cs typeface="Arial"/>
              </a:rPr>
              <a:t>--name </a:t>
            </a:r>
            <a:r>
              <a:rPr sz="1333" spc="-93" dirty="0">
                <a:solidFill>
                  <a:srgbClr val="FFFFFF"/>
                </a:solidFill>
                <a:latin typeface="Arial"/>
                <a:cs typeface="Arial"/>
              </a:rPr>
              <a:t>${ETCD_NAME}</a:t>
            </a:r>
            <a:r>
              <a:rPr sz="1333" spc="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--cert-file=/etc/etcd/kubernetes.pem</a:t>
            </a:r>
            <a:r>
              <a:rPr sz="1333" spc="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27" dirty="0">
                <a:solidFill>
                  <a:srgbClr val="FFFFFF"/>
                </a:solidFill>
                <a:latin typeface="Arial"/>
                <a:cs typeface="Arial"/>
              </a:rPr>
              <a:t>--key-file=/etc/etcd/kubernetes-key.pem</a:t>
            </a:r>
            <a:r>
              <a:rPr sz="1333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33" dirty="0">
                <a:solidFill>
                  <a:srgbClr val="FFFFFF"/>
                </a:solidFill>
                <a:latin typeface="Arial"/>
                <a:cs typeface="Arial"/>
              </a:rPr>
              <a:t>--peer-cert-file=/etc/etcd/kubernetes.pem</a:t>
            </a:r>
            <a:r>
              <a:rPr sz="1333" spc="3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20" dirty="0">
                <a:solidFill>
                  <a:srgbClr val="FFFFFF"/>
                </a:solidFill>
                <a:latin typeface="Arial"/>
                <a:cs typeface="Arial"/>
              </a:rPr>
              <a:t>--peer-key-file=/etc/etcd/kubernetes-key.pem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52" dirty="0">
                <a:solidFill>
                  <a:srgbClr val="FFFFFF"/>
                </a:solidFill>
                <a:latin typeface="Arial"/>
                <a:cs typeface="Arial"/>
              </a:rPr>
              <a:t>--trusted-ca-file=/etc/etcd/ca.pem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47" dirty="0">
                <a:solidFill>
                  <a:srgbClr val="FFFFFF"/>
                </a:solidFill>
                <a:latin typeface="Arial"/>
                <a:cs typeface="Arial"/>
              </a:rPr>
              <a:t>--peer-trusted-ca-file=/etc/etcd/ca.pem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 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67" dirty="0">
                <a:solidFill>
                  <a:srgbClr val="FFFFFF"/>
                </a:solidFill>
                <a:latin typeface="Arial"/>
                <a:cs typeface="Arial"/>
              </a:rPr>
              <a:t>--peer-client-cert-auth</a:t>
            </a:r>
            <a:r>
              <a:rPr sz="1333" spc="3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87" dirty="0">
                <a:solidFill>
                  <a:srgbClr val="FFFFFF"/>
                </a:solidFill>
                <a:latin typeface="Arial"/>
                <a:cs typeface="Arial"/>
              </a:rPr>
              <a:t>--client-cert-auth</a:t>
            </a:r>
            <a:r>
              <a:rPr sz="1333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93" dirty="0">
                <a:solidFill>
                  <a:srgbClr val="FFFFFF"/>
                </a:solidFill>
                <a:latin typeface="Arial"/>
                <a:cs typeface="Arial"/>
              </a:rPr>
              <a:t>--initial-advertise-peer-urls </a:t>
            </a:r>
            <a:r>
              <a:rPr sz="1333" spc="73" dirty="0">
                <a:solidFill>
                  <a:srgbClr val="FFFFFF"/>
                </a:solidFill>
                <a:latin typeface="Arial"/>
                <a:cs typeface="Arial"/>
              </a:rPr>
              <a:t>https://${INTERNAL_IP}:2380</a:t>
            </a:r>
            <a:r>
              <a:rPr sz="1333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87" dirty="0">
                <a:solidFill>
                  <a:srgbClr val="FFFFFF"/>
                </a:solidFill>
                <a:latin typeface="Arial"/>
                <a:cs typeface="Arial"/>
              </a:rPr>
              <a:t>--listen-peer-urls </a:t>
            </a:r>
            <a:r>
              <a:rPr sz="1333" spc="73" dirty="0">
                <a:solidFill>
                  <a:srgbClr val="FFFFFF"/>
                </a:solidFill>
                <a:latin typeface="Arial"/>
                <a:cs typeface="Arial"/>
              </a:rPr>
              <a:t>https://${INTERNAL_IP}:2380</a:t>
            </a:r>
            <a:r>
              <a:rPr sz="1333" spc="1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220" dirty="0">
                <a:solidFill>
                  <a:srgbClr val="FFFFFF"/>
                </a:solidFill>
                <a:latin typeface="Arial"/>
                <a:cs typeface="Arial"/>
              </a:rPr>
              <a:t>--listen-client-urls </a:t>
            </a:r>
            <a:r>
              <a:rPr sz="1333" spc="107" dirty="0">
                <a:solidFill>
                  <a:srgbClr val="FFFFFF"/>
                </a:solidFill>
                <a:latin typeface="Arial"/>
                <a:cs typeface="Arial"/>
              </a:rPr>
              <a:t>https://${INTERNAL_IP}:2379,https://127.0.0.1:2379</a:t>
            </a:r>
            <a:r>
              <a:rPr sz="1333" spc="5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>
              <a:spcBef>
                <a:spcPts val="7"/>
              </a:spcBef>
            </a:pPr>
            <a:r>
              <a:rPr sz="1333" spc="187" dirty="0">
                <a:solidFill>
                  <a:srgbClr val="FFFFFF"/>
                </a:solidFill>
                <a:latin typeface="Arial"/>
                <a:cs typeface="Arial"/>
              </a:rPr>
              <a:t>--advertise-client-urls </a:t>
            </a:r>
            <a:r>
              <a:rPr sz="1333" spc="73" dirty="0">
                <a:solidFill>
                  <a:srgbClr val="FFFFFF"/>
                </a:solidFill>
                <a:latin typeface="Arial"/>
                <a:cs typeface="Arial"/>
              </a:rPr>
              <a:t>https://${INTERNAL_IP}:2379</a:t>
            </a: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207" dirty="0">
                <a:solidFill>
                  <a:srgbClr val="FFFFFF"/>
                </a:solidFill>
                <a:latin typeface="Arial"/>
                <a:cs typeface="Arial"/>
              </a:rPr>
              <a:t>--initial-cluster-token </a:t>
            </a:r>
            <a:r>
              <a:rPr sz="1333" spc="147" dirty="0">
                <a:solidFill>
                  <a:srgbClr val="FFFFFF"/>
                </a:solidFill>
                <a:latin typeface="Arial"/>
                <a:cs typeface="Arial"/>
              </a:rPr>
              <a:t>etcd-cluster-0</a:t>
            </a:r>
            <a:r>
              <a:rPr sz="1333" spc="5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240" dirty="0">
                <a:solidFill>
                  <a:srgbClr val="FFFFFF"/>
                </a:solidFill>
                <a:latin typeface="Arial"/>
                <a:cs typeface="Arial"/>
              </a:rPr>
              <a:t>--initial-cluster </a:t>
            </a:r>
            <a:r>
              <a:rPr sz="1333" spc="73" dirty="0">
                <a:solidFill>
                  <a:srgbClr val="FFFFFF"/>
                </a:solidFill>
                <a:latin typeface="Arial"/>
                <a:cs typeface="Arial"/>
              </a:rPr>
              <a:t>controller-0=https://${CONTROLLER0_IP}:2380,controller-1=https://${CONTROLLER1_IP}:2380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220" dirty="0">
                <a:solidFill>
                  <a:srgbClr val="FFFFFF"/>
                </a:solidFill>
                <a:latin typeface="Arial"/>
                <a:cs typeface="Arial"/>
              </a:rPr>
              <a:t>--initial-cluster-state </a:t>
            </a:r>
            <a:r>
              <a:rPr sz="1333" spc="-87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1333" spc="-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80" dirty="0">
                <a:solidFill>
                  <a:srgbClr val="FFFFFF"/>
                </a:solidFill>
                <a:latin typeface="Arial"/>
                <a:cs typeface="Arial"/>
              </a:rPr>
              <a:t>--data-dir=/var/lib/etcd</a:t>
            </a:r>
            <a:endParaRPr sz="1333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0175" y="1538224"/>
            <a:ext cx="1378373" cy="319193"/>
          </a:xfrm>
          <a:custGeom>
            <a:avLst/>
            <a:gdLst/>
            <a:ahLst/>
            <a:cxnLst/>
            <a:rect l="l" t="t" r="r" b="b"/>
            <a:pathLst>
              <a:path w="1033780" h="239394">
                <a:moveTo>
                  <a:pt x="0" y="239267"/>
                </a:moveTo>
                <a:lnTo>
                  <a:pt x="1033271" y="239267"/>
                </a:lnTo>
                <a:lnTo>
                  <a:pt x="1033271" y="0"/>
                </a:lnTo>
                <a:lnTo>
                  <a:pt x="0" y="0"/>
                </a:lnTo>
                <a:lnTo>
                  <a:pt x="0" y="239267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04350" y="1584194"/>
            <a:ext cx="1081193" cy="263320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1600" spc="-240" dirty="0">
                <a:latin typeface="Arial Black"/>
                <a:cs typeface="Arial Black"/>
              </a:rPr>
              <a:t>e</a:t>
            </a:r>
            <a:r>
              <a:rPr sz="1600" spc="-193" dirty="0">
                <a:latin typeface="Arial Black"/>
                <a:cs typeface="Arial Black"/>
              </a:rPr>
              <a:t>t</a:t>
            </a:r>
            <a:r>
              <a:rPr sz="1600" spc="-227" dirty="0">
                <a:latin typeface="Arial Black"/>
                <a:cs typeface="Arial Black"/>
              </a:rPr>
              <a:t>cd.s</a:t>
            </a:r>
            <a:r>
              <a:rPr sz="1600" spc="-280" dirty="0">
                <a:latin typeface="Arial Black"/>
                <a:cs typeface="Arial Black"/>
              </a:rPr>
              <a:t>e</a:t>
            </a:r>
            <a:r>
              <a:rPr sz="1600" spc="-100" dirty="0">
                <a:latin typeface="Arial Black"/>
                <a:cs typeface="Arial Black"/>
              </a:rPr>
              <a:t>r</a:t>
            </a:r>
            <a:r>
              <a:rPr sz="1600" spc="-207" dirty="0">
                <a:latin typeface="Arial Black"/>
                <a:cs typeface="Arial Black"/>
              </a:rPr>
              <a:t>vi</a:t>
            </a:r>
            <a:r>
              <a:rPr sz="1600" spc="-293" dirty="0">
                <a:latin typeface="Arial Black"/>
                <a:cs typeface="Arial Black"/>
              </a:rPr>
              <a:t>c</a:t>
            </a:r>
            <a:r>
              <a:rPr sz="1600" spc="-233" dirty="0">
                <a:latin typeface="Arial Black"/>
                <a:cs typeface="Arial Black"/>
              </a:rPr>
              <a:t>e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92048" y="1849119"/>
            <a:ext cx="11308080" cy="3832860"/>
            <a:chOff x="669036" y="1386839"/>
            <a:chExt cx="8481060" cy="2874645"/>
          </a:xfrm>
        </p:grpSpPr>
        <p:sp>
          <p:nvSpPr>
            <p:cNvPr id="7" name="object 7"/>
            <p:cNvSpPr/>
            <p:nvPr/>
          </p:nvSpPr>
          <p:spPr>
            <a:xfrm>
              <a:off x="675132" y="1392935"/>
              <a:ext cx="8468995" cy="2862580"/>
            </a:xfrm>
            <a:custGeom>
              <a:avLst/>
              <a:gdLst/>
              <a:ahLst/>
              <a:cxnLst/>
              <a:rect l="l" t="t" r="r" b="b"/>
              <a:pathLst>
                <a:path w="8468995" h="2862579">
                  <a:moveTo>
                    <a:pt x="8468868" y="0"/>
                  </a:moveTo>
                  <a:lnTo>
                    <a:pt x="0" y="0"/>
                  </a:lnTo>
                  <a:lnTo>
                    <a:pt x="0" y="2862072"/>
                  </a:lnTo>
                  <a:lnTo>
                    <a:pt x="8468868" y="2862072"/>
                  </a:lnTo>
                  <a:lnTo>
                    <a:pt x="84688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675132" y="1392935"/>
              <a:ext cx="8468995" cy="2862580"/>
            </a:xfrm>
            <a:custGeom>
              <a:avLst/>
              <a:gdLst/>
              <a:ahLst/>
              <a:cxnLst/>
              <a:rect l="l" t="t" r="r" b="b"/>
              <a:pathLst>
                <a:path w="8468995" h="2862579">
                  <a:moveTo>
                    <a:pt x="0" y="2862072"/>
                  </a:moveTo>
                  <a:lnTo>
                    <a:pt x="8468868" y="2862072"/>
                  </a:lnTo>
                  <a:lnTo>
                    <a:pt x="8468868" y="0"/>
                  </a:lnTo>
                  <a:lnTo>
                    <a:pt x="0" y="0"/>
                  </a:lnTo>
                  <a:lnTo>
                    <a:pt x="0" y="286207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04349" y="1893147"/>
            <a:ext cx="7112000" cy="309304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ExecStart=/usr/local/bin/etcd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20" dirty="0">
                <a:solidFill>
                  <a:srgbClr val="FFFFFF"/>
                </a:solidFill>
                <a:latin typeface="Arial"/>
                <a:cs typeface="Arial"/>
              </a:rPr>
              <a:t>--name </a:t>
            </a:r>
            <a:r>
              <a:rPr sz="1333" spc="-93" dirty="0">
                <a:solidFill>
                  <a:srgbClr val="FFFFFF"/>
                </a:solidFill>
                <a:latin typeface="Arial"/>
                <a:cs typeface="Arial"/>
              </a:rPr>
              <a:t>${ETCD_NAME}</a:t>
            </a:r>
            <a:r>
              <a:rPr sz="1333" spc="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--cert-file=/etc/etcd/kubernetes.pem</a:t>
            </a:r>
            <a:r>
              <a:rPr sz="1333" spc="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27" dirty="0">
                <a:solidFill>
                  <a:srgbClr val="FFFFFF"/>
                </a:solidFill>
                <a:latin typeface="Arial"/>
                <a:cs typeface="Arial"/>
              </a:rPr>
              <a:t>--key-file=/etc/etcd/kubernetes-key.pem</a:t>
            </a:r>
            <a:r>
              <a:rPr sz="1333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33" dirty="0">
                <a:solidFill>
                  <a:srgbClr val="FFFFFF"/>
                </a:solidFill>
                <a:latin typeface="Arial"/>
                <a:cs typeface="Arial"/>
              </a:rPr>
              <a:t>--peer-cert-file=/etc/etcd/kubernetes.pem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20" dirty="0">
                <a:solidFill>
                  <a:srgbClr val="FFFFFF"/>
                </a:solidFill>
                <a:latin typeface="Arial"/>
                <a:cs typeface="Arial"/>
              </a:rPr>
              <a:t>--peer-key-file=/etc/etcd/kubernetes-key.pem</a:t>
            </a:r>
            <a:r>
              <a:rPr sz="1333" spc="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52" dirty="0">
                <a:solidFill>
                  <a:srgbClr val="FFFFFF"/>
                </a:solidFill>
                <a:latin typeface="Arial"/>
                <a:cs typeface="Arial"/>
              </a:rPr>
              <a:t>--trusted-ca-file=/etc/etcd/ca.pem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47" dirty="0">
                <a:solidFill>
                  <a:srgbClr val="FFFFFF"/>
                </a:solidFill>
                <a:latin typeface="Arial"/>
                <a:cs typeface="Arial"/>
              </a:rPr>
              <a:t>--peer-trusted-ca-file=/etc/etcd/ca.pem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 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67" dirty="0">
                <a:solidFill>
                  <a:srgbClr val="FFFFFF"/>
                </a:solidFill>
                <a:latin typeface="Arial"/>
                <a:cs typeface="Arial"/>
              </a:rPr>
              <a:t>--peer-client-cert-auth</a:t>
            </a:r>
            <a:r>
              <a:rPr sz="1333" spc="3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87" dirty="0">
                <a:solidFill>
                  <a:srgbClr val="FFFFFF"/>
                </a:solidFill>
                <a:latin typeface="Arial"/>
                <a:cs typeface="Arial"/>
              </a:rPr>
              <a:t>--client-cert-auth</a:t>
            </a:r>
            <a:r>
              <a:rPr sz="1333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93" dirty="0">
                <a:solidFill>
                  <a:srgbClr val="FFFFFF"/>
                </a:solidFill>
                <a:latin typeface="Arial"/>
                <a:cs typeface="Arial"/>
              </a:rPr>
              <a:t>--initial-advertise-peer-urls </a:t>
            </a:r>
            <a:r>
              <a:rPr sz="1333" spc="73" dirty="0">
                <a:solidFill>
                  <a:srgbClr val="FFFFFF"/>
                </a:solidFill>
                <a:latin typeface="Arial"/>
                <a:cs typeface="Arial"/>
              </a:rPr>
              <a:t>https://${INTERNAL_IP}:2380</a:t>
            </a: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87" dirty="0">
                <a:solidFill>
                  <a:srgbClr val="FFFFFF"/>
                </a:solidFill>
                <a:latin typeface="Arial"/>
                <a:cs typeface="Arial"/>
              </a:rPr>
              <a:t>--listen-peer-urls </a:t>
            </a:r>
            <a:r>
              <a:rPr sz="1333" spc="73" dirty="0">
                <a:solidFill>
                  <a:srgbClr val="FFFFFF"/>
                </a:solidFill>
                <a:latin typeface="Arial"/>
                <a:cs typeface="Arial"/>
              </a:rPr>
              <a:t>https://${INTERNAL_IP}:2380</a:t>
            </a:r>
            <a:r>
              <a:rPr sz="1333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220" dirty="0">
                <a:solidFill>
                  <a:srgbClr val="FFFFFF"/>
                </a:solidFill>
                <a:latin typeface="Arial"/>
                <a:cs typeface="Arial"/>
              </a:rPr>
              <a:t>--listen-client-urls </a:t>
            </a:r>
            <a:r>
              <a:rPr sz="1333" spc="107" dirty="0">
                <a:solidFill>
                  <a:srgbClr val="FFFFFF"/>
                </a:solidFill>
                <a:latin typeface="Arial"/>
                <a:cs typeface="Arial"/>
              </a:rPr>
              <a:t>https://${INTERNAL_IP}:2379,https://127.0.0.1:2379</a:t>
            </a:r>
            <a:r>
              <a:rPr sz="1333" spc="1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>
              <a:spcBef>
                <a:spcPts val="7"/>
              </a:spcBef>
            </a:pPr>
            <a:r>
              <a:rPr sz="1333" spc="187" dirty="0">
                <a:solidFill>
                  <a:srgbClr val="FFFFFF"/>
                </a:solidFill>
                <a:latin typeface="Arial"/>
                <a:cs typeface="Arial"/>
              </a:rPr>
              <a:t>--advertise-client-urls </a:t>
            </a:r>
            <a:r>
              <a:rPr sz="1333" spc="73" dirty="0">
                <a:solidFill>
                  <a:srgbClr val="FFFFFF"/>
                </a:solidFill>
                <a:latin typeface="Arial"/>
                <a:cs typeface="Arial"/>
              </a:rPr>
              <a:t>https://${INTERNAL_IP}:2379</a:t>
            </a: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207" dirty="0">
                <a:solidFill>
                  <a:srgbClr val="FFFFFF"/>
                </a:solidFill>
                <a:latin typeface="Arial"/>
                <a:cs typeface="Arial"/>
              </a:rPr>
              <a:t>--initial-cluster-token </a:t>
            </a:r>
            <a:r>
              <a:rPr sz="1333" spc="147" dirty="0">
                <a:solidFill>
                  <a:srgbClr val="FFFFFF"/>
                </a:solidFill>
                <a:latin typeface="Arial"/>
                <a:cs typeface="Arial"/>
              </a:rPr>
              <a:t>etcd-cluster-0</a:t>
            </a:r>
            <a:r>
              <a:rPr sz="1333" spc="5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8023" y="4971576"/>
            <a:ext cx="7838440" cy="192360"/>
          </a:xfrm>
          <a:prstGeom prst="rect">
            <a:avLst/>
          </a:prstGeom>
          <a:solidFill>
            <a:srgbClr val="008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3"/>
              </a:lnSpc>
            </a:pPr>
            <a:r>
              <a:rPr sz="1333" spc="240" dirty="0">
                <a:solidFill>
                  <a:srgbClr val="FFFFFF"/>
                </a:solidFill>
                <a:latin typeface="Arial"/>
                <a:cs typeface="Arial"/>
              </a:rPr>
              <a:t>--initial-cluster </a:t>
            </a:r>
            <a:r>
              <a:rPr sz="1333" spc="87" dirty="0">
                <a:solidFill>
                  <a:srgbClr val="FFFFFF"/>
                </a:solidFill>
                <a:latin typeface="Arial"/>
                <a:cs typeface="Arial"/>
              </a:rPr>
              <a:t>peer-1=https://${PEER1_IP}:2380,peer-2=https://${PEER2_IP}:2380</a:t>
            </a:r>
            <a:r>
              <a:rPr sz="1333" spc="5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1293" y="5145159"/>
            <a:ext cx="2827867" cy="42648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220" dirty="0">
                <a:solidFill>
                  <a:srgbClr val="FFFFFF"/>
                </a:solidFill>
                <a:latin typeface="Arial"/>
                <a:cs typeface="Arial"/>
              </a:rPr>
              <a:t>--initial-cluster-state </a:t>
            </a:r>
            <a:r>
              <a:rPr sz="1333" spc="-87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1333" spc="1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6933"/>
            <a:r>
              <a:rPr sz="1333" spc="180" dirty="0">
                <a:solidFill>
                  <a:srgbClr val="FFFFFF"/>
                </a:solidFill>
                <a:latin typeface="Arial"/>
                <a:cs typeface="Arial"/>
              </a:rPr>
              <a:t>--data-dir=/var/lib/etcd</a:t>
            </a:r>
            <a:endParaRPr sz="1333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9841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461772" y="2180844"/>
              <a:ext cx="3028315" cy="401320"/>
            </a:xfrm>
            <a:custGeom>
              <a:avLst/>
              <a:gdLst/>
              <a:ahLst/>
              <a:cxnLst/>
              <a:rect l="l" t="t" r="r" b="b"/>
              <a:pathLst>
                <a:path w="3028315" h="401319">
                  <a:moveTo>
                    <a:pt x="3028188" y="0"/>
                  </a:moveTo>
                  <a:lnTo>
                    <a:pt x="0" y="0"/>
                  </a:lnTo>
                  <a:lnTo>
                    <a:pt x="0" y="400812"/>
                  </a:lnTo>
                  <a:lnTo>
                    <a:pt x="3028188" y="400812"/>
                  </a:lnTo>
                  <a:lnTo>
                    <a:pt x="3028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461772" y="2180844"/>
              <a:ext cx="3028315" cy="401320"/>
            </a:xfrm>
            <a:custGeom>
              <a:avLst/>
              <a:gdLst/>
              <a:ahLst/>
              <a:cxnLst/>
              <a:rect l="l" t="t" r="r" b="b"/>
              <a:pathLst>
                <a:path w="3028315" h="401319">
                  <a:moveTo>
                    <a:pt x="0" y="400812"/>
                  </a:moveTo>
                  <a:lnTo>
                    <a:pt x="3028188" y="400812"/>
                  </a:lnTo>
                  <a:lnTo>
                    <a:pt x="3028188" y="0"/>
                  </a:lnTo>
                  <a:lnTo>
                    <a:pt x="0" y="0"/>
                  </a:lnTo>
                  <a:lnTo>
                    <a:pt x="0" y="40081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8727" y="124322"/>
            <a:ext cx="2649219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60" dirty="0">
                <a:solidFill>
                  <a:srgbClr val="115F92"/>
                </a:solidFill>
              </a:rPr>
              <a:t>ETCDC</a:t>
            </a:r>
            <a:r>
              <a:rPr spc="40" dirty="0">
                <a:solidFill>
                  <a:srgbClr val="115F92"/>
                </a:solidFill>
              </a:rPr>
              <a:t>TL</a:t>
            </a:r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36449" y="1889760"/>
            <a:ext cx="4190153" cy="522393"/>
            <a:chOff x="402336" y="1417319"/>
            <a:chExt cx="3142615" cy="391795"/>
          </a:xfrm>
        </p:grpSpPr>
        <p:sp>
          <p:nvSpPr>
            <p:cNvPr id="7" name="object 7"/>
            <p:cNvSpPr/>
            <p:nvPr/>
          </p:nvSpPr>
          <p:spPr>
            <a:xfrm>
              <a:off x="402336" y="1417319"/>
              <a:ext cx="3142488" cy="3611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630936" y="1424889"/>
              <a:ext cx="1769364" cy="38409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461772" y="1456943"/>
              <a:ext cx="3028315" cy="248920"/>
            </a:xfrm>
            <a:custGeom>
              <a:avLst/>
              <a:gdLst/>
              <a:ahLst/>
              <a:cxnLst/>
              <a:rect l="l" t="t" r="r" b="b"/>
              <a:pathLst>
                <a:path w="3028315" h="248919">
                  <a:moveTo>
                    <a:pt x="3028188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3028188" y="248412"/>
                  </a:lnTo>
                  <a:lnTo>
                    <a:pt x="302818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5697" y="1942592"/>
            <a:ext cx="4037753" cy="260691"/>
          </a:xfrm>
          <a:prstGeom prst="rect">
            <a:avLst/>
          </a:prstGeom>
        </p:spPr>
        <p:txBody>
          <a:bodyPr vert="horz" wrap="square" lIns="0" tIns="55033" rIns="0" bIns="0" rtlCol="0">
            <a:spAutoFit/>
          </a:bodyPr>
          <a:lstStyle/>
          <a:p>
            <a:pPr marL="406390">
              <a:spcBef>
                <a:spcPts val="433"/>
              </a:spcBef>
            </a:pPr>
            <a:r>
              <a:rPr sz="1333" spc="193" dirty="0">
                <a:solidFill>
                  <a:srgbClr val="D9D9D9"/>
                </a:solidFill>
                <a:latin typeface="Arial"/>
                <a:cs typeface="Arial"/>
              </a:rPr>
              <a:t>etcdctl </a:t>
            </a:r>
            <a:r>
              <a:rPr sz="1333" spc="127" dirty="0">
                <a:solidFill>
                  <a:srgbClr val="D9D9D9"/>
                </a:solidFill>
                <a:latin typeface="Arial"/>
                <a:cs typeface="Arial"/>
              </a:rPr>
              <a:t>put </a:t>
            </a:r>
            <a:r>
              <a:rPr sz="1333" spc="-93" dirty="0">
                <a:solidFill>
                  <a:srgbClr val="D9D9D9"/>
                </a:solidFill>
                <a:latin typeface="Arial"/>
                <a:cs typeface="Arial"/>
              </a:rPr>
              <a:t>name</a:t>
            </a:r>
            <a:r>
              <a:rPr sz="1333" spc="3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113" dirty="0">
                <a:solidFill>
                  <a:srgbClr val="D9D9D9"/>
                </a:solidFill>
                <a:latin typeface="Arial"/>
                <a:cs typeface="Arial"/>
              </a:rPr>
              <a:t>john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6449" y="1217167"/>
            <a:ext cx="4190153" cy="1805093"/>
            <a:chOff x="402336" y="912875"/>
            <a:chExt cx="3142615" cy="1353820"/>
          </a:xfrm>
        </p:grpSpPr>
        <p:sp>
          <p:nvSpPr>
            <p:cNvPr id="12" name="object 12"/>
            <p:cNvSpPr/>
            <p:nvPr/>
          </p:nvSpPr>
          <p:spPr>
            <a:xfrm>
              <a:off x="480384" y="1469173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02336" y="1874519"/>
              <a:ext cx="3142488" cy="3611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630936" y="1883702"/>
              <a:ext cx="1412747" cy="38248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461772" y="1914143"/>
              <a:ext cx="3028315" cy="248920"/>
            </a:xfrm>
            <a:custGeom>
              <a:avLst/>
              <a:gdLst/>
              <a:ahLst/>
              <a:cxnLst/>
              <a:rect l="l" t="t" r="r" b="b"/>
              <a:pathLst>
                <a:path w="3028315" h="248919">
                  <a:moveTo>
                    <a:pt x="3028188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3028188" y="248412"/>
                  </a:lnTo>
                  <a:lnTo>
                    <a:pt x="302818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480384" y="1926373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402336" y="912875"/>
              <a:ext cx="3142488" cy="3611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30936" y="920445"/>
              <a:ext cx="1697736" cy="3840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461772" y="952499"/>
              <a:ext cx="3028315" cy="248920"/>
            </a:xfrm>
            <a:custGeom>
              <a:avLst/>
              <a:gdLst/>
              <a:ahLst/>
              <a:cxnLst/>
              <a:rect l="l" t="t" r="r" b="b"/>
              <a:pathLst>
                <a:path w="3028315" h="248919">
                  <a:moveTo>
                    <a:pt x="3028188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3028188" y="248412"/>
                  </a:lnTo>
                  <a:lnTo>
                    <a:pt x="302818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5697" y="1270000"/>
            <a:ext cx="4037753" cy="260691"/>
          </a:xfrm>
          <a:prstGeom prst="rect">
            <a:avLst/>
          </a:prstGeom>
        </p:spPr>
        <p:txBody>
          <a:bodyPr vert="horz" wrap="square" lIns="0" tIns="55033" rIns="0" bIns="0" rtlCol="0">
            <a:spAutoFit/>
          </a:bodyPr>
          <a:lstStyle/>
          <a:p>
            <a:pPr marL="406390">
              <a:spcBef>
                <a:spcPts val="433"/>
              </a:spcBef>
            </a:pPr>
            <a:r>
              <a:rPr sz="1333" spc="127" dirty="0">
                <a:solidFill>
                  <a:srgbClr val="D9D9D9"/>
                </a:solidFill>
                <a:latin typeface="Arial"/>
                <a:cs typeface="Arial"/>
              </a:rPr>
              <a:t>export</a:t>
            </a:r>
            <a:r>
              <a:rPr sz="1333" spc="38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-73" dirty="0">
                <a:solidFill>
                  <a:srgbClr val="D9D9D9"/>
                </a:solidFill>
                <a:latin typeface="Arial"/>
                <a:cs typeface="Arial"/>
              </a:rPr>
              <a:t>ETCDCTL_API=3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36449" y="1286306"/>
            <a:ext cx="4190153" cy="3227493"/>
            <a:chOff x="402336" y="964729"/>
            <a:chExt cx="3142615" cy="2420620"/>
          </a:xfrm>
        </p:grpSpPr>
        <p:sp>
          <p:nvSpPr>
            <p:cNvPr id="22" name="object 22"/>
            <p:cNvSpPr/>
            <p:nvPr/>
          </p:nvSpPr>
          <p:spPr>
            <a:xfrm>
              <a:off x="480384" y="964729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40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461772" y="3131819"/>
              <a:ext cx="3028315" cy="247015"/>
            </a:xfrm>
            <a:custGeom>
              <a:avLst/>
              <a:gdLst/>
              <a:ahLst/>
              <a:cxnLst/>
              <a:rect l="l" t="t" r="r" b="b"/>
              <a:pathLst>
                <a:path w="3028315" h="247014">
                  <a:moveTo>
                    <a:pt x="3028188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3028188" y="246887"/>
                  </a:lnTo>
                  <a:lnTo>
                    <a:pt x="3028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461772" y="3131819"/>
              <a:ext cx="3028315" cy="247015"/>
            </a:xfrm>
            <a:custGeom>
              <a:avLst/>
              <a:gdLst/>
              <a:ahLst/>
              <a:cxnLst/>
              <a:rect l="l" t="t" r="r" b="b"/>
              <a:pathLst>
                <a:path w="3028315" h="247014">
                  <a:moveTo>
                    <a:pt x="0" y="246887"/>
                  </a:moveTo>
                  <a:lnTo>
                    <a:pt x="3028188" y="246887"/>
                  </a:lnTo>
                  <a:lnTo>
                    <a:pt x="3028188" y="0"/>
                  </a:lnTo>
                  <a:lnTo>
                    <a:pt x="0" y="0"/>
                  </a:lnTo>
                  <a:lnTo>
                    <a:pt x="0" y="24688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02336" y="2825496"/>
              <a:ext cx="3142488" cy="3611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630936" y="2834678"/>
              <a:ext cx="2697479" cy="38248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461772" y="2865119"/>
              <a:ext cx="3028315" cy="248920"/>
            </a:xfrm>
            <a:custGeom>
              <a:avLst/>
              <a:gdLst/>
              <a:ahLst/>
              <a:cxnLst/>
              <a:rect l="l" t="t" r="r" b="b"/>
              <a:pathLst>
                <a:path w="3028315" h="248919">
                  <a:moveTo>
                    <a:pt x="3028188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3028188" y="248412"/>
                  </a:lnTo>
                  <a:lnTo>
                    <a:pt x="302818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7568" y="2589784"/>
            <a:ext cx="4053840" cy="187698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14856">
              <a:spcBef>
                <a:spcPts val="140"/>
              </a:spcBef>
            </a:pPr>
            <a:r>
              <a:rPr sz="1333" spc="193" dirty="0">
                <a:solidFill>
                  <a:srgbClr val="D9D9D9"/>
                </a:solidFill>
                <a:latin typeface="Arial"/>
                <a:cs typeface="Arial"/>
              </a:rPr>
              <a:t>etcdctl </a:t>
            </a:r>
            <a:r>
              <a:rPr sz="1333" spc="127" dirty="0">
                <a:solidFill>
                  <a:srgbClr val="D9D9D9"/>
                </a:solidFill>
                <a:latin typeface="Arial"/>
                <a:cs typeface="Arial"/>
              </a:rPr>
              <a:t>get</a:t>
            </a:r>
            <a:r>
              <a:rPr sz="1333" spc="56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-93" dirty="0">
                <a:solidFill>
                  <a:srgbClr val="D9D9D9"/>
                </a:solidFill>
                <a:latin typeface="Arial"/>
                <a:cs typeface="Arial"/>
              </a:rPr>
              <a:t>name</a:t>
            </a:r>
            <a:endParaRPr sz="1333">
              <a:latin typeface="Arial"/>
              <a:cs typeface="Arial"/>
            </a:endParaRPr>
          </a:p>
          <a:p>
            <a:pPr marL="130383" marR="3538978">
              <a:spcBef>
                <a:spcPts val="1180"/>
              </a:spcBef>
            </a:pPr>
            <a:r>
              <a:rPr sz="1333" spc="-87" dirty="0">
                <a:solidFill>
                  <a:srgbClr val="FFFFFF"/>
                </a:solidFill>
                <a:latin typeface="Arial"/>
                <a:cs typeface="Arial"/>
              </a:rPr>
              <a:t>name  </a:t>
            </a:r>
            <a:r>
              <a:rPr sz="1333" spc="93" dirty="0">
                <a:solidFill>
                  <a:srgbClr val="FFFFFF"/>
                </a:solidFill>
                <a:latin typeface="Arial"/>
                <a:cs typeface="Arial"/>
              </a:rPr>
              <a:t>john</a:t>
            </a:r>
            <a:endParaRPr sz="1333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33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33">
              <a:latin typeface="Arial"/>
              <a:cs typeface="Arial"/>
            </a:endParaRPr>
          </a:p>
          <a:p>
            <a:pPr marL="414856">
              <a:spcBef>
                <a:spcPts val="940"/>
              </a:spcBef>
            </a:pPr>
            <a:r>
              <a:rPr sz="1333" spc="193" dirty="0">
                <a:solidFill>
                  <a:srgbClr val="D9D9D9"/>
                </a:solidFill>
                <a:latin typeface="Arial"/>
                <a:cs typeface="Arial"/>
              </a:rPr>
              <a:t>etcdctl </a:t>
            </a:r>
            <a:r>
              <a:rPr sz="1333" spc="127" dirty="0">
                <a:solidFill>
                  <a:srgbClr val="D9D9D9"/>
                </a:solidFill>
                <a:latin typeface="Arial"/>
                <a:cs typeface="Arial"/>
              </a:rPr>
              <a:t>get </a:t>
            </a:r>
            <a:r>
              <a:rPr sz="1333" spc="367" dirty="0">
                <a:solidFill>
                  <a:srgbClr val="D9D9D9"/>
                </a:solidFill>
                <a:latin typeface="Arial"/>
                <a:cs typeface="Arial"/>
              </a:rPr>
              <a:t>/ </a:t>
            </a:r>
            <a:r>
              <a:rPr sz="1333" spc="220" dirty="0">
                <a:solidFill>
                  <a:srgbClr val="D9D9D9"/>
                </a:solidFill>
                <a:latin typeface="Arial"/>
                <a:cs typeface="Arial"/>
              </a:rPr>
              <a:t>--prefix</a:t>
            </a:r>
            <a:r>
              <a:rPr sz="1333" spc="33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152" dirty="0">
                <a:solidFill>
                  <a:srgbClr val="D9D9D9"/>
                </a:solidFill>
                <a:latin typeface="Arial"/>
                <a:cs typeface="Arial"/>
              </a:rPr>
              <a:t>--keys-only</a:t>
            </a:r>
            <a:endParaRPr sz="1333">
              <a:latin typeface="Arial"/>
              <a:cs typeface="Arial"/>
            </a:endParaRPr>
          </a:p>
          <a:p>
            <a:pPr marL="130383">
              <a:spcBef>
                <a:spcPts val="1187"/>
              </a:spcBef>
            </a:pPr>
            <a:r>
              <a:rPr sz="1333" spc="-107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endParaRPr sz="1333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40512" y="3836465"/>
            <a:ext cx="213360" cy="274320"/>
          </a:xfrm>
          <a:custGeom>
            <a:avLst/>
            <a:gdLst/>
            <a:ahLst/>
            <a:cxnLst/>
            <a:rect l="l" t="t" r="r" b="b"/>
            <a:pathLst>
              <a:path w="160020" h="205739">
                <a:moveTo>
                  <a:pt x="0" y="0"/>
                </a:moveTo>
                <a:lnTo>
                  <a:pt x="0" y="205385"/>
                </a:lnTo>
                <a:lnTo>
                  <a:pt x="159603" y="102697"/>
                </a:lnTo>
                <a:lnTo>
                  <a:pt x="0" y="0"/>
                </a:lnTo>
                <a:close/>
              </a:path>
            </a:pathLst>
          </a:custGeom>
          <a:solidFill>
            <a:srgbClr val="39B54A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4791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25128" y="3359911"/>
            <a:ext cx="2625513" cy="2664460"/>
          </a:xfrm>
          <a:custGeom>
            <a:avLst/>
            <a:gdLst/>
            <a:ahLst/>
            <a:cxnLst/>
            <a:rect l="l" t="t" r="r" b="b"/>
            <a:pathLst>
              <a:path w="1969134" h="1998345">
                <a:moveTo>
                  <a:pt x="0" y="328168"/>
                </a:moveTo>
                <a:lnTo>
                  <a:pt x="3558" y="279676"/>
                </a:lnTo>
                <a:lnTo>
                  <a:pt x="13895" y="233393"/>
                </a:lnTo>
                <a:lnTo>
                  <a:pt x="30502" y="189826"/>
                </a:lnTo>
                <a:lnTo>
                  <a:pt x="52873" y="149482"/>
                </a:lnTo>
                <a:lnTo>
                  <a:pt x="80498" y="112871"/>
                </a:lnTo>
                <a:lnTo>
                  <a:pt x="112871" y="80498"/>
                </a:lnTo>
                <a:lnTo>
                  <a:pt x="149482" y="52873"/>
                </a:lnTo>
                <a:lnTo>
                  <a:pt x="189826" y="30502"/>
                </a:lnTo>
                <a:lnTo>
                  <a:pt x="233393" y="13895"/>
                </a:lnTo>
                <a:lnTo>
                  <a:pt x="279676" y="3558"/>
                </a:lnTo>
                <a:lnTo>
                  <a:pt x="328168" y="0"/>
                </a:lnTo>
                <a:lnTo>
                  <a:pt x="1640839" y="0"/>
                </a:lnTo>
                <a:lnTo>
                  <a:pt x="1689331" y="3558"/>
                </a:lnTo>
                <a:lnTo>
                  <a:pt x="1735614" y="13895"/>
                </a:lnTo>
                <a:lnTo>
                  <a:pt x="1779181" y="30502"/>
                </a:lnTo>
                <a:lnTo>
                  <a:pt x="1819525" y="52873"/>
                </a:lnTo>
                <a:lnTo>
                  <a:pt x="1856136" y="80498"/>
                </a:lnTo>
                <a:lnTo>
                  <a:pt x="1888509" y="112871"/>
                </a:lnTo>
                <a:lnTo>
                  <a:pt x="1916134" y="149482"/>
                </a:lnTo>
                <a:lnTo>
                  <a:pt x="1938505" y="189826"/>
                </a:lnTo>
                <a:lnTo>
                  <a:pt x="1955112" y="233393"/>
                </a:lnTo>
                <a:lnTo>
                  <a:pt x="1965449" y="279676"/>
                </a:lnTo>
                <a:lnTo>
                  <a:pt x="1969007" y="328168"/>
                </a:lnTo>
                <a:lnTo>
                  <a:pt x="1969007" y="1669796"/>
                </a:lnTo>
                <a:lnTo>
                  <a:pt x="1965449" y="1718290"/>
                </a:lnTo>
                <a:lnTo>
                  <a:pt x="1955112" y="1764575"/>
                </a:lnTo>
                <a:lnTo>
                  <a:pt x="1938505" y="1808143"/>
                </a:lnTo>
                <a:lnTo>
                  <a:pt x="1916134" y="1848486"/>
                </a:lnTo>
                <a:lnTo>
                  <a:pt x="1888509" y="1885098"/>
                </a:lnTo>
                <a:lnTo>
                  <a:pt x="1856136" y="1917469"/>
                </a:lnTo>
                <a:lnTo>
                  <a:pt x="1819525" y="1945093"/>
                </a:lnTo>
                <a:lnTo>
                  <a:pt x="1779181" y="1967463"/>
                </a:lnTo>
                <a:lnTo>
                  <a:pt x="1735614" y="1984069"/>
                </a:lnTo>
                <a:lnTo>
                  <a:pt x="1689331" y="1994405"/>
                </a:lnTo>
                <a:lnTo>
                  <a:pt x="1640839" y="1997964"/>
                </a:lnTo>
                <a:lnTo>
                  <a:pt x="328168" y="1997964"/>
                </a:lnTo>
                <a:lnTo>
                  <a:pt x="279676" y="1994405"/>
                </a:lnTo>
                <a:lnTo>
                  <a:pt x="233393" y="1984069"/>
                </a:lnTo>
                <a:lnTo>
                  <a:pt x="189826" y="1967463"/>
                </a:lnTo>
                <a:lnTo>
                  <a:pt x="149482" y="1945093"/>
                </a:lnTo>
                <a:lnTo>
                  <a:pt x="112871" y="1917469"/>
                </a:lnTo>
                <a:lnTo>
                  <a:pt x="80498" y="1885098"/>
                </a:lnTo>
                <a:lnTo>
                  <a:pt x="52873" y="1848486"/>
                </a:lnTo>
                <a:lnTo>
                  <a:pt x="30502" y="1808143"/>
                </a:lnTo>
                <a:lnTo>
                  <a:pt x="13895" y="1764575"/>
                </a:lnTo>
                <a:lnTo>
                  <a:pt x="3558" y="1718290"/>
                </a:lnTo>
                <a:lnTo>
                  <a:pt x="0" y="1669796"/>
                </a:lnTo>
                <a:lnTo>
                  <a:pt x="0" y="328168"/>
                </a:lnTo>
                <a:close/>
              </a:path>
            </a:pathLst>
          </a:custGeom>
          <a:ln w="19812">
            <a:solidFill>
              <a:srgbClr val="E10A8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219096" y="3526874"/>
            <a:ext cx="2404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80" dirty="0">
                <a:solidFill>
                  <a:srgbClr val="E10A87"/>
                </a:solidFill>
                <a:latin typeface="Arial Black"/>
                <a:cs typeface="Arial Black"/>
              </a:rPr>
              <a:t>M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57181" y="3346364"/>
            <a:ext cx="4918287" cy="2691552"/>
            <a:chOff x="4167885" y="2509773"/>
            <a:chExt cx="3688715" cy="2018664"/>
          </a:xfrm>
        </p:grpSpPr>
        <p:sp>
          <p:nvSpPr>
            <p:cNvPr id="5" name="object 5"/>
            <p:cNvSpPr/>
            <p:nvPr/>
          </p:nvSpPr>
          <p:spPr>
            <a:xfrm>
              <a:off x="7650479" y="4101083"/>
              <a:ext cx="205740" cy="2057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4178045" y="2519933"/>
              <a:ext cx="1969135" cy="1998345"/>
            </a:xfrm>
            <a:custGeom>
              <a:avLst/>
              <a:gdLst/>
              <a:ahLst/>
              <a:cxnLst/>
              <a:rect l="l" t="t" r="r" b="b"/>
              <a:pathLst>
                <a:path w="1969135" h="1998345">
                  <a:moveTo>
                    <a:pt x="0" y="328168"/>
                  </a:moveTo>
                  <a:lnTo>
                    <a:pt x="3558" y="279676"/>
                  </a:lnTo>
                  <a:lnTo>
                    <a:pt x="13895" y="233393"/>
                  </a:lnTo>
                  <a:lnTo>
                    <a:pt x="30502" y="189826"/>
                  </a:lnTo>
                  <a:lnTo>
                    <a:pt x="52873" y="149482"/>
                  </a:lnTo>
                  <a:lnTo>
                    <a:pt x="80498" y="112871"/>
                  </a:lnTo>
                  <a:lnTo>
                    <a:pt x="112871" y="80498"/>
                  </a:lnTo>
                  <a:lnTo>
                    <a:pt x="149482" y="52873"/>
                  </a:lnTo>
                  <a:lnTo>
                    <a:pt x="189826" y="30502"/>
                  </a:lnTo>
                  <a:lnTo>
                    <a:pt x="233393" y="13895"/>
                  </a:lnTo>
                  <a:lnTo>
                    <a:pt x="279676" y="3558"/>
                  </a:lnTo>
                  <a:lnTo>
                    <a:pt x="328167" y="0"/>
                  </a:lnTo>
                  <a:lnTo>
                    <a:pt x="1640839" y="0"/>
                  </a:lnTo>
                  <a:lnTo>
                    <a:pt x="1689331" y="3558"/>
                  </a:lnTo>
                  <a:lnTo>
                    <a:pt x="1735614" y="13895"/>
                  </a:lnTo>
                  <a:lnTo>
                    <a:pt x="1779181" y="30502"/>
                  </a:lnTo>
                  <a:lnTo>
                    <a:pt x="1819525" y="52873"/>
                  </a:lnTo>
                  <a:lnTo>
                    <a:pt x="1856136" y="80498"/>
                  </a:lnTo>
                  <a:lnTo>
                    <a:pt x="1888509" y="112871"/>
                  </a:lnTo>
                  <a:lnTo>
                    <a:pt x="1916134" y="149482"/>
                  </a:lnTo>
                  <a:lnTo>
                    <a:pt x="1938505" y="189826"/>
                  </a:lnTo>
                  <a:lnTo>
                    <a:pt x="1955112" y="233393"/>
                  </a:lnTo>
                  <a:lnTo>
                    <a:pt x="1965449" y="279676"/>
                  </a:lnTo>
                  <a:lnTo>
                    <a:pt x="1969007" y="328168"/>
                  </a:lnTo>
                  <a:lnTo>
                    <a:pt x="1969007" y="1669796"/>
                  </a:lnTo>
                  <a:lnTo>
                    <a:pt x="1965449" y="1718290"/>
                  </a:lnTo>
                  <a:lnTo>
                    <a:pt x="1955112" y="1764575"/>
                  </a:lnTo>
                  <a:lnTo>
                    <a:pt x="1938505" y="1808143"/>
                  </a:lnTo>
                  <a:lnTo>
                    <a:pt x="1916134" y="1848486"/>
                  </a:lnTo>
                  <a:lnTo>
                    <a:pt x="1888509" y="1885098"/>
                  </a:lnTo>
                  <a:lnTo>
                    <a:pt x="1856136" y="1917469"/>
                  </a:lnTo>
                  <a:lnTo>
                    <a:pt x="1819525" y="1945093"/>
                  </a:lnTo>
                  <a:lnTo>
                    <a:pt x="1779181" y="1967463"/>
                  </a:lnTo>
                  <a:lnTo>
                    <a:pt x="1735614" y="1984069"/>
                  </a:lnTo>
                  <a:lnTo>
                    <a:pt x="1689331" y="1994405"/>
                  </a:lnTo>
                  <a:lnTo>
                    <a:pt x="1640839" y="1997964"/>
                  </a:lnTo>
                  <a:lnTo>
                    <a:pt x="328167" y="1997964"/>
                  </a:lnTo>
                  <a:lnTo>
                    <a:pt x="279676" y="1994405"/>
                  </a:lnTo>
                  <a:lnTo>
                    <a:pt x="233393" y="1984069"/>
                  </a:lnTo>
                  <a:lnTo>
                    <a:pt x="189826" y="1967463"/>
                  </a:lnTo>
                  <a:lnTo>
                    <a:pt x="149482" y="1945093"/>
                  </a:lnTo>
                  <a:lnTo>
                    <a:pt x="112871" y="1917469"/>
                  </a:lnTo>
                  <a:lnTo>
                    <a:pt x="80498" y="1885098"/>
                  </a:lnTo>
                  <a:lnTo>
                    <a:pt x="52873" y="1848486"/>
                  </a:lnTo>
                  <a:lnTo>
                    <a:pt x="30502" y="1808143"/>
                  </a:lnTo>
                  <a:lnTo>
                    <a:pt x="13895" y="1764575"/>
                  </a:lnTo>
                  <a:lnTo>
                    <a:pt x="3558" y="1718290"/>
                  </a:lnTo>
                  <a:lnTo>
                    <a:pt x="0" y="1669796"/>
                  </a:lnTo>
                  <a:lnTo>
                    <a:pt x="0" y="328168"/>
                  </a:lnTo>
                  <a:close/>
                </a:path>
              </a:pathLst>
            </a:custGeom>
            <a:ln w="19812">
              <a:solidFill>
                <a:srgbClr val="E10A8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764188" y="3526874"/>
            <a:ext cx="2404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80" dirty="0">
                <a:solidFill>
                  <a:srgbClr val="E10A87"/>
                </a:solidFill>
                <a:latin typeface="Arial Black"/>
                <a:cs typeface="Arial Black"/>
              </a:rPr>
              <a:t>M</a:t>
            </a:r>
            <a:endParaRPr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46239" y="5468112"/>
            <a:ext cx="274319" cy="274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10011663" y="2194561"/>
            <a:ext cx="758613" cy="417273"/>
          </a:xfrm>
          <a:prstGeom prst="rect">
            <a:avLst/>
          </a:prstGeom>
          <a:solidFill>
            <a:srgbClr val="6F2F9F">
              <a:alpha val="19999"/>
            </a:srgbClr>
          </a:solidFill>
        </p:spPr>
        <p:txBody>
          <a:bodyPr vert="horz" wrap="square" lIns="0" tIns="6773" rIns="0" bIns="0" rtlCol="0">
            <a:spAutoFit/>
          </a:bodyPr>
          <a:lstStyle/>
          <a:p>
            <a:pPr>
              <a:spcBef>
                <a:spcPts val="53"/>
              </a:spcBef>
            </a:pPr>
            <a:endParaRPr sz="1600">
              <a:latin typeface="Times New Roman"/>
              <a:cs typeface="Times New Roman"/>
            </a:endParaRPr>
          </a:p>
          <a:p>
            <a:pPr marL="210815"/>
            <a:r>
              <a:rPr sz="1067" b="1" spc="-67" dirty="0">
                <a:solidFill>
                  <a:srgbClr val="483390"/>
                </a:solidFill>
                <a:latin typeface="Arial"/>
                <a:cs typeface="Arial"/>
              </a:rPr>
              <a:t>ETCD</a:t>
            </a:r>
            <a:endParaRPr sz="1067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083040" y="4340353"/>
            <a:ext cx="880533" cy="648545"/>
          </a:xfrm>
          <a:custGeom>
            <a:avLst/>
            <a:gdLst/>
            <a:ahLst/>
            <a:cxnLst/>
            <a:rect l="l" t="t" r="r" b="b"/>
            <a:pathLst>
              <a:path w="660400" h="486410">
                <a:moveTo>
                  <a:pt x="659892" y="0"/>
                </a:moveTo>
                <a:lnTo>
                  <a:pt x="0" y="0"/>
                </a:lnTo>
                <a:lnTo>
                  <a:pt x="0" y="486156"/>
                </a:lnTo>
                <a:lnTo>
                  <a:pt x="659892" y="486156"/>
                </a:lnTo>
                <a:lnTo>
                  <a:pt x="659892" y="0"/>
                </a:lnTo>
                <a:close/>
              </a:path>
            </a:pathLst>
          </a:custGeom>
          <a:solidFill>
            <a:srgbClr val="0C4060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9083040" y="4482254"/>
            <a:ext cx="880533" cy="34552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" algn="ctr">
              <a:spcBef>
                <a:spcPts val="133"/>
              </a:spcBef>
            </a:pPr>
            <a:r>
              <a:rPr sz="1067" b="1" spc="-2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67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67" spc="-147" dirty="0">
                <a:solidFill>
                  <a:srgbClr val="FFFFFF"/>
                </a:solidFill>
                <a:latin typeface="Arial Black"/>
                <a:cs typeface="Arial Black"/>
              </a:rPr>
              <a:t>Server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57263" y="2194561"/>
            <a:ext cx="758613" cy="417273"/>
          </a:xfrm>
          <a:prstGeom prst="rect">
            <a:avLst/>
          </a:prstGeom>
          <a:solidFill>
            <a:srgbClr val="6F2F9F">
              <a:alpha val="19999"/>
            </a:srgbClr>
          </a:solidFill>
        </p:spPr>
        <p:txBody>
          <a:bodyPr vert="horz" wrap="square" lIns="0" tIns="6773" rIns="0" bIns="0" rtlCol="0">
            <a:spAutoFit/>
          </a:bodyPr>
          <a:lstStyle/>
          <a:p>
            <a:pPr>
              <a:spcBef>
                <a:spcPts val="53"/>
              </a:spcBef>
            </a:pPr>
            <a:endParaRPr sz="1600">
              <a:latin typeface="Times New Roman"/>
              <a:cs typeface="Times New Roman"/>
            </a:endParaRPr>
          </a:p>
          <a:p>
            <a:pPr marL="210815"/>
            <a:r>
              <a:rPr sz="1067" b="1" spc="-67" dirty="0">
                <a:solidFill>
                  <a:srgbClr val="483390"/>
                </a:solidFill>
                <a:latin typeface="Arial"/>
                <a:cs typeface="Arial"/>
              </a:rPr>
              <a:t>ETCD</a:t>
            </a:r>
            <a:endParaRPr sz="1067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24577" y="4397248"/>
            <a:ext cx="877993" cy="496910"/>
          </a:xfrm>
          <a:prstGeom prst="rect">
            <a:avLst/>
          </a:prstGeom>
          <a:solidFill>
            <a:srgbClr val="0C4060">
              <a:alpha val="50195"/>
            </a:srgbClr>
          </a:solidFill>
        </p:spPr>
        <p:txBody>
          <a:bodyPr vert="horz" wrap="square" lIns="0" tIns="4233" rIns="0" bIns="0" rtlCol="0">
            <a:spAutoFit/>
          </a:bodyPr>
          <a:lstStyle/>
          <a:p>
            <a:pPr>
              <a:spcBef>
                <a:spcPts val="33"/>
              </a:spcBef>
            </a:pPr>
            <a:endParaRPr sz="106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67" b="1" spc="-2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67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67" spc="-147" dirty="0">
                <a:solidFill>
                  <a:srgbClr val="FFFFFF"/>
                </a:solidFill>
                <a:latin typeface="Arial Black"/>
                <a:cs typeface="Arial Black"/>
              </a:rPr>
              <a:t>Server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24463" y="4346447"/>
            <a:ext cx="758613" cy="417273"/>
          </a:xfrm>
          <a:prstGeom prst="rect">
            <a:avLst/>
          </a:prstGeom>
          <a:solidFill>
            <a:srgbClr val="F68715">
              <a:alpha val="43920"/>
            </a:srgbClr>
          </a:solidFill>
        </p:spPr>
        <p:txBody>
          <a:bodyPr vert="horz" wrap="square" lIns="0" tIns="6773" rIns="0" bIns="0" rtlCol="0">
            <a:spAutoFit/>
          </a:bodyPr>
          <a:lstStyle/>
          <a:p>
            <a:pPr>
              <a:spcBef>
                <a:spcPts val="53"/>
              </a:spcBef>
            </a:pPr>
            <a:endParaRPr sz="1600">
              <a:latin typeface="Times New Roman"/>
              <a:cs typeface="Times New Roman"/>
            </a:endParaRPr>
          </a:p>
          <a:p>
            <a:pPr marL="83818"/>
            <a:r>
              <a:rPr sz="1067" spc="-140" dirty="0">
                <a:solidFill>
                  <a:srgbClr val="F17921"/>
                </a:solidFill>
                <a:latin typeface="Arial Black"/>
                <a:cs typeface="Arial Black"/>
              </a:rPr>
              <a:t>Scheduler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11663" y="4340353"/>
            <a:ext cx="758613" cy="648545"/>
          </a:xfrm>
          <a:custGeom>
            <a:avLst/>
            <a:gdLst/>
            <a:ahLst/>
            <a:cxnLst/>
            <a:rect l="l" t="t" r="r" b="b"/>
            <a:pathLst>
              <a:path w="568959" h="486410">
                <a:moveTo>
                  <a:pt x="568451" y="0"/>
                </a:moveTo>
                <a:lnTo>
                  <a:pt x="0" y="0"/>
                </a:lnTo>
                <a:lnTo>
                  <a:pt x="0" y="486156"/>
                </a:lnTo>
                <a:lnTo>
                  <a:pt x="568451" y="486156"/>
                </a:lnTo>
                <a:lnTo>
                  <a:pt x="568451" y="0"/>
                </a:lnTo>
                <a:close/>
              </a:path>
            </a:pathLst>
          </a:custGeom>
          <a:solidFill>
            <a:srgbClr val="E10A87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 txBox="1"/>
          <p:nvPr/>
        </p:nvSpPr>
        <p:spPr>
          <a:xfrm>
            <a:off x="10011663" y="4482254"/>
            <a:ext cx="758613" cy="34552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80431">
              <a:spcBef>
                <a:spcPts val="133"/>
              </a:spcBef>
            </a:pPr>
            <a:r>
              <a:rPr sz="1067" spc="-120" dirty="0">
                <a:solidFill>
                  <a:srgbClr val="FFFFFF"/>
                </a:solidFill>
                <a:latin typeface="Arial Black"/>
                <a:cs typeface="Arial Black"/>
              </a:rPr>
              <a:t>Controller</a:t>
            </a:r>
            <a:endParaRPr sz="1067">
              <a:latin typeface="Arial Black"/>
              <a:cs typeface="Arial Black"/>
            </a:endParaRPr>
          </a:p>
          <a:p>
            <a:pPr marL="111757"/>
            <a:r>
              <a:rPr sz="1067" spc="-120" dirty="0">
                <a:solidFill>
                  <a:srgbClr val="FFFFFF"/>
                </a:solidFill>
                <a:latin typeface="Arial Black"/>
                <a:cs typeface="Arial Black"/>
              </a:rPr>
              <a:t>Manager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86320" y="4397247"/>
            <a:ext cx="758613" cy="412143"/>
          </a:xfrm>
          <a:prstGeom prst="rect">
            <a:avLst/>
          </a:prstGeom>
          <a:solidFill>
            <a:srgbClr val="F68715">
              <a:alpha val="43920"/>
            </a:srgbClr>
          </a:solidFill>
        </p:spPr>
        <p:txBody>
          <a:bodyPr vert="horz" wrap="square" lIns="0" tIns="1693" rIns="0" bIns="0" rtlCol="0">
            <a:spAutoFit/>
          </a:bodyPr>
          <a:lstStyle/>
          <a:p>
            <a:pPr>
              <a:spcBef>
                <a:spcPts val="13"/>
              </a:spcBef>
            </a:pPr>
            <a:endParaRPr sz="1600">
              <a:latin typeface="Times New Roman"/>
              <a:cs typeface="Times New Roman"/>
            </a:endParaRPr>
          </a:p>
          <a:p>
            <a:pPr marL="82971"/>
            <a:r>
              <a:rPr sz="1067" spc="-140" dirty="0">
                <a:solidFill>
                  <a:srgbClr val="F17921"/>
                </a:solidFill>
                <a:latin typeface="Arial Black"/>
                <a:cs typeface="Arial Black"/>
              </a:rPr>
              <a:t>Scheduler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69455" y="4397247"/>
            <a:ext cx="758613" cy="490006"/>
          </a:xfrm>
          <a:prstGeom prst="rect">
            <a:avLst/>
          </a:prstGeom>
          <a:solidFill>
            <a:srgbClr val="E10A87">
              <a:alpha val="50195"/>
            </a:srgbClr>
          </a:solidFill>
        </p:spPr>
        <p:txBody>
          <a:bodyPr vert="horz" wrap="square" lIns="0" tIns="7620" rIns="0" bIns="0" rtlCol="0">
            <a:spAutoFit/>
          </a:bodyPr>
          <a:lstStyle/>
          <a:p>
            <a:pPr>
              <a:spcBef>
                <a:spcPts val="60"/>
              </a:spcBef>
            </a:pPr>
            <a:endParaRPr sz="1000">
              <a:latin typeface="Times New Roman"/>
              <a:cs typeface="Times New Roman"/>
            </a:endParaRPr>
          </a:p>
          <a:p>
            <a:pPr marL="111757" marR="69424" indent="-30479"/>
            <a:r>
              <a:rPr sz="1067" spc="-180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067" spc="-93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sz="1067" spc="-113" dirty="0">
                <a:solidFill>
                  <a:srgbClr val="FFFFFF"/>
                </a:solidFill>
                <a:latin typeface="Arial Black"/>
                <a:cs typeface="Arial Black"/>
              </a:rPr>
              <a:t>ntr</a:t>
            </a:r>
            <a:r>
              <a:rPr sz="1067" spc="-93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sz="1067" spc="-107" dirty="0">
                <a:solidFill>
                  <a:srgbClr val="FFFFFF"/>
                </a:solidFill>
                <a:latin typeface="Arial Black"/>
                <a:cs typeface="Arial Black"/>
              </a:rPr>
              <a:t>ller  </a:t>
            </a:r>
            <a:r>
              <a:rPr sz="1067" spc="-120" dirty="0">
                <a:solidFill>
                  <a:srgbClr val="FFFFFF"/>
                </a:solidFill>
                <a:latin typeface="Arial Black"/>
                <a:cs typeface="Arial Black"/>
              </a:rPr>
              <a:t>Manager</a:t>
            </a:r>
            <a:endParaRPr sz="1067">
              <a:latin typeface="Arial Black"/>
              <a:cs typeface="Arial Blac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612384" y="1940559"/>
            <a:ext cx="6053667" cy="2464647"/>
            <a:chOff x="4209288" y="1455419"/>
            <a:chExt cx="4540250" cy="1848485"/>
          </a:xfrm>
        </p:grpSpPr>
        <p:sp>
          <p:nvSpPr>
            <p:cNvPr id="20" name="object 20"/>
            <p:cNvSpPr/>
            <p:nvPr/>
          </p:nvSpPr>
          <p:spPr>
            <a:xfrm>
              <a:off x="4219194" y="1465325"/>
              <a:ext cx="4520565" cy="829310"/>
            </a:xfrm>
            <a:custGeom>
              <a:avLst/>
              <a:gdLst/>
              <a:ahLst/>
              <a:cxnLst/>
              <a:rect l="l" t="t" r="r" b="b"/>
              <a:pathLst>
                <a:path w="4520565" h="829310">
                  <a:moveTo>
                    <a:pt x="0" y="148336"/>
                  </a:moveTo>
                  <a:lnTo>
                    <a:pt x="6941" y="105306"/>
                  </a:lnTo>
                  <a:lnTo>
                    <a:pt x="26269" y="67933"/>
                  </a:lnTo>
                  <a:lnTo>
                    <a:pt x="55741" y="38461"/>
                  </a:lnTo>
                  <a:lnTo>
                    <a:pt x="93114" y="19133"/>
                  </a:lnTo>
                  <a:lnTo>
                    <a:pt x="136143" y="12191"/>
                  </a:lnTo>
                  <a:lnTo>
                    <a:pt x="1823719" y="12191"/>
                  </a:lnTo>
                  <a:lnTo>
                    <a:pt x="1866749" y="19133"/>
                  </a:lnTo>
                  <a:lnTo>
                    <a:pt x="1904122" y="38461"/>
                  </a:lnTo>
                  <a:lnTo>
                    <a:pt x="1933594" y="67933"/>
                  </a:lnTo>
                  <a:lnTo>
                    <a:pt x="1952922" y="105306"/>
                  </a:lnTo>
                  <a:lnTo>
                    <a:pt x="1959864" y="148336"/>
                  </a:lnTo>
                  <a:lnTo>
                    <a:pt x="1959864" y="692912"/>
                  </a:lnTo>
                  <a:lnTo>
                    <a:pt x="1952922" y="735941"/>
                  </a:lnTo>
                  <a:lnTo>
                    <a:pt x="1933594" y="773314"/>
                  </a:lnTo>
                  <a:lnTo>
                    <a:pt x="1904122" y="802786"/>
                  </a:lnTo>
                  <a:lnTo>
                    <a:pt x="1866749" y="822114"/>
                  </a:lnTo>
                  <a:lnTo>
                    <a:pt x="1823719" y="829056"/>
                  </a:lnTo>
                  <a:lnTo>
                    <a:pt x="136143" y="829056"/>
                  </a:lnTo>
                  <a:lnTo>
                    <a:pt x="93114" y="822114"/>
                  </a:lnTo>
                  <a:lnTo>
                    <a:pt x="55741" y="802786"/>
                  </a:lnTo>
                  <a:lnTo>
                    <a:pt x="26269" y="773314"/>
                  </a:lnTo>
                  <a:lnTo>
                    <a:pt x="6941" y="735941"/>
                  </a:lnTo>
                  <a:lnTo>
                    <a:pt x="0" y="692912"/>
                  </a:lnTo>
                  <a:lnTo>
                    <a:pt x="0" y="148336"/>
                  </a:lnTo>
                  <a:close/>
                </a:path>
                <a:path w="4520565" h="829310">
                  <a:moveTo>
                    <a:pt x="2545079" y="136398"/>
                  </a:moveTo>
                  <a:lnTo>
                    <a:pt x="2552035" y="93293"/>
                  </a:lnTo>
                  <a:lnTo>
                    <a:pt x="2571402" y="55851"/>
                  </a:lnTo>
                  <a:lnTo>
                    <a:pt x="2600931" y="26322"/>
                  </a:lnTo>
                  <a:lnTo>
                    <a:pt x="2638373" y="6955"/>
                  </a:lnTo>
                  <a:lnTo>
                    <a:pt x="2681478" y="0"/>
                  </a:lnTo>
                  <a:lnTo>
                    <a:pt x="4383785" y="0"/>
                  </a:lnTo>
                  <a:lnTo>
                    <a:pt x="4426890" y="6955"/>
                  </a:lnTo>
                  <a:lnTo>
                    <a:pt x="4464332" y="26322"/>
                  </a:lnTo>
                  <a:lnTo>
                    <a:pt x="4493861" y="55851"/>
                  </a:lnTo>
                  <a:lnTo>
                    <a:pt x="4513228" y="93293"/>
                  </a:lnTo>
                  <a:lnTo>
                    <a:pt x="4520183" y="136398"/>
                  </a:lnTo>
                  <a:lnTo>
                    <a:pt x="4520183" y="681990"/>
                  </a:lnTo>
                  <a:lnTo>
                    <a:pt x="4513228" y="725094"/>
                  </a:lnTo>
                  <a:lnTo>
                    <a:pt x="4493861" y="762536"/>
                  </a:lnTo>
                  <a:lnTo>
                    <a:pt x="4464332" y="792065"/>
                  </a:lnTo>
                  <a:lnTo>
                    <a:pt x="4426890" y="811432"/>
                  </a:lnTo>
                  <a:lnTo>
                    <a:pt x="4383785" y="818388"/>
                  </a:lnTo>
                  <a:lnTo>
                    <a:pt x="2681478" y="818388"/>
                  </a:lnTo>
                  <a:lnTo>
                    <a:pt x="2638373" y="811432"/>
                  </a:lnTo>
                  <a:lnTo>
                    <a:pt x="2600931" y="792065"/>
                  </a:lnTo>
                  <a:lnTo>
                    <a:pt x="2571402" y="762536"/>
                  </a:lnTo>
                  <a:lnTo>
                    <a:pt x="2552035" y="725094"/>
                  </a:lnTo>
                  <a:lnTo>
                    <a:pt x="2545079" y="681990"/>
                  </a:lnTo>
                  <a:lnTo>
                    <a:pt x="2545079" y="136398"/>
                  </a:lnTo>
                  <a:close/>
                </a:path>
              </a:pathLst>
            </a:custGeom>
            <a:ln w="19812">
              <a:solidFill>
                <a:srgbClr val="8873CE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4542028" y="2121915"/>
              <a:ext cx="3250565" cy="1181735"/>
            </a:xfrm>
            <a:custGeom>
              <a:avLst/>
              <a:gdLst/>
              <a:ahLst/>
              <a:cxnLst/>
              <a:rect l="l" t="t" r="r" b="b"/>
              <a:pathLst>
                <a:path w="3250565" h="1181735">
                  <a:moveTo>
                    <a:pt x="55499" y="1164590"/>
                  </a:moveTo>
                  <a:lnTo>
                    <a:pt x="51308" y="1152652"/>
                  </a:lnTo>
                  <a:lnTo>
                    <a:pt x="19494" y="1164043"/>
                  </a:lnTo>
                  <a:lnTo>
                    <a:pt x="35941" y="1134618"/>
                  </a:lnTo>
                  <a:lnTo>
                    <a:pt x="24892" y="1128395"/>
                  </a:lnTo>
                  <a:lnTo>
                    <a:pt x="0" y="1172718"/>
                  </a:lnTo>
                  <a:lnTo>
                    <a:pt x="5613" y="1175854"/>
                  </a:lnTo>
                  <a:lnTo>
                    <a:pt x="7747" y="1181735"/>
                  </a:lnTo>
                  <a:lnTo>
                    <a:pt x="55499" y="1164590"/>
                  </a:lnTo>
                  <a:close/>
                </a:path>
                <a:path w="3250565" h="1181735">
                  <a:moveTo>
                    <a:pt x="60833" y="1090295"/>
                  </a:moveTo>
                  <a:lnTo>
                    <a:pt x="49784" y="1084072"/>
                  </a:lnTo>
                  <a:lnTo>
                    <a:pt x="43561" y="1095121"/>
                  </a:lnTo>
                  <a:lnTo>
                    <a:pt x="54610" y="1101344"/>
                  </a:lnTo>
                  <a:lnTo>
                    <a:pt x="60833" y="1090295"/>
                  </a:lnTo>
                  <a:close/>
                </a:path>
                <a:path w="3250565" h="1181735">
                  <a:moveTo>
                    <a:pt x="103378" y="1147445"/>
                  </a:moveTo>
                  <a:lnTo>
                    <a:pt x="99060" y="1135507"/>
                  </a:lnTo>
                  <a:lnTo>
                    <a:pt x="87122" y="1139825"/>
                  </a:lnTo>
                  <a:lnTo>
                    <a:pt x="91440" y="1151763"/>
                  </a:lnTo>
                  <a:lnTo>
                    <a:pt x="103378" y="1147445"/>
                  </a:lnTo>
                  <a:close/>
                </a:path>
                <a:path w="3250565" h="1181735">
                  <a:moveTo>
                    <a:pt x="104394" y="1012825"/>
                  </a:moveTo>
                  <a:lnTo>
                    <a:pt x="93345" y="1006602"/>
                  </a:lnTo>
                  <a:lnTo>
                    <a:pt x="68453" y="1050925"/>
                  </a:lnTo>
                  <a:lnTo>
                    <a:pt x="79502" y="1057021"/>
                  </a:lnTo>
                  <a:lnTo>
                    <a:pt x="104394" y="1012825"/>
                  </a:lnTo>
                  <a:close/>
                </a:path>
                <a:path w="3250565" h="1181735">
                  <a:moveTo>
                    <a:pt x="129286" y="968502"/>
                  </a:moveTo>
                  <a:lnTo>
                    <a:pt x="118110" y="962279"/>
                  </a:lnTo>
                  <a:lnTo>
                    <a:pt x="111887" y="973328"/>
                  </a:lnTo>
                  <a:lnTo>
                    <a:pt x="123063" y="979551"/>
                  </a:lnTo>
                  <a:lnTo>
                    <a:pt x="129286" y="968502"/>
                  </a:lnTo>
                  <a:close/>
                </a:path>
                <a:path w="3250565" h="1181735">
                  <a:moveTo>
                    <a:pt x="172720" y="890905"/>
                  </a:moveTo>
                  <a:lnTo>
                    <a:pt x="161671" y="884682"/>
                  </a:lnTo>
                  <a:lnTo>
                    <a:pt x="136779" y="929005"/>
                  </a:lnTo>
                  <a:lnTo>
                    <a:pt x="147828" y="935228"/>
                  </a:lnTo>
                  <a:lnTo>
                    <a:pt x="172720" y="890905"/>
                  </a:lnTo>
                  <a:close/>
                </a:path>
                <a:path w="3250565" h="1181735">
                  <a:moveTo>
                    <a:pt x="187071" y="1117346"/>
                  </a:moveTo>
                  <a:lnTo>
                    <a:pt x="182753" y="1105408"/>
                  </a:lnTo>
                  <a:lnTo>
                    <a:pt x="134874" y="1122553"/>
                  </a:lnTo>
                  <a:lnTo>
                    <a:pt x="139192" y="1134491"/>
                  </a:lnTo>
                  <a:lnTo>
                    <a:pt x="187071" y="1117346"/>
                  </a:lnTo>
                  <a:close/>
                </a:path>
                <a:path w="3250565" h="1181735">
                  <a:moveTo>
                    <a:pt x="197612" y="846709"/>
                  </a:moveTo>
                  <a:lnTo>
                    <a:pt x="186563" y="840486"/>
                  </a:lnTo>
                  <a:lnTo>
                    <a:pt x="180340" y="851535"/>
                  </a:lnTo>
                  <a:lnTo>
                    <a:pt x="191389" y="857758"/>
                  </a:lnTo>
                  <a:lnTo>
                    <a:pt x="197612" y="846709"/>
                  </a:lnTo>
                  <a:close/>
                </a:path>
                <a:path w="3250565" h="1181735">
                  <a:moveTo>
                    <a:pt x="234823" y="1100201"/>
                  </a:moveTo>
                  <a:lnTo>
                    <a:pt x="230505" y="1088263"/>
                  </a:lnTo>
                  <a:lnTo>
                    <a:pt x="218567" y="1092581"/>
                  </a:lnTo>
                  <a:lnTo>
                    <a:pt x="222885" y="1104519"/>
                  </a:lnTo>
                  <a:lnTo>
                    <a:pt x="234823" y="1100201"/>
                  </a:lnTo>
                  <a:close/>
                </a:path>
                <a:path w="3250565" h="1181735">
                  <a:moveTo>
                    <a:pt x="241046" y="769112"/>
                  </a:moveTo>
                  <a:lnTo>
                    <a:pt x="229997" y="762889"/>
                  </a:lnTo>
                  <a:lnTo>
                    <a:pt x="205232" y="807212"/>
                  </a:lnTo>
                  <a:lnTo>
                    <a:pt x="216281" y="813435"/>
                  </a:lnTo>
                  <a:lnTo>
                    <a:pt x="241046" y="769112"/>
                  </a:lnTo>
                  <a:close/>
                </a:path>
                <a:path w="3250565" h="1181735">
                  <a:moveTo>
                    <a:pt x="265938" y="724789"/>
                  </a:moveTo>
                  <a:lnTo>
                    <a:pt x="254889" y="718566"/>
                  </a:lnTo>
                  <a:lnTo>
                    <a:pt x="248666" y="729742"/>
                  </a:lnTo>
                  <a:lnTo>
                    <a:pt x="259715" y="735965"/>
                  </a:lnTo>
                  <a:lnTo>
                    <a:pt x="265938" y="724789"/>
                  </a:lnTo>
                  <a:close/>
                </a:path>
                <a:path w="3250565" h="1181735">
                  <a:moveTo>
                    <a:pt x="309499" y="647319"/>
                  </a:moveTo>
                  <a:lnTo>
                    <a:pt x="298450" y="641096"/>
                  </a:lnTo>
                  <a:lnTo>
                    <a:pt x="273558" y="685419"/>
                  </a:lnTo>
                  <a:lnTo>
                    <a:pt x="284607" y="691642"/>
                  </a:lnTo>
                  <a:lnTo>
                    <a:pt x="309499" y="647319"/>
                  </a:lnTo>
                  <a:close/>
                </a:path>
                <a:path w="3250565" h="1181735">
                  <a:moveTo>
                    <a:pt x="318516" y="1070102"/>
                  </a:moveTo>
                  <a:lnTo>
                    <a:pt x="314198" y="1058164"/>
                  </a:lnTo>
                  <a:lnTo>
                    <a:pt x="266446" y="1075309"/>
                  </a:lnTo>
                  <a:lnTo>
                    <a:pt x="270637" y="1087374"/>
                  </a:lnTo>
                  <a:lnTo>
                    <a:pt x="318516" y="1070102"/>
                  </a:lnTo>
                  <a:close/>
                </a:path>
                <a:path w="3250565" h="1181735">
                  <a:moveTo>
                    <a:pt x="334391" y="602996"/>
                  </a:moveTo>
                  <a:lnTo>
                    <a:pt x="323215" y="596773"/>
                  </a:lnTo>
                  <a:lnTo>
                    <a:pt x="316992" y="607822"/>
                  </a:lnTo>
                  <a:lnTo>
                    <a:pt x="328168" y="614045"/>
                  </a:lnTo>
                  <a:lnTo>
                    <a:pt x="334391" y="602996"/>
                  </a:lnTo>
                  <a:close/>
                </a:path>
                <a:path w="3250565" h="1181735">
                  <a:moveTo>
                    <a:pt x="366268" y="1052957"/>
                  </a:moveTo>
                  <a:lnTo>
                    <a:pt x="361950" y="1041019"/>
                  </a:lnTo>
                  <a:lnTo>
                    <a:pt x="350012" y="1045337"/>
                  </a:lnTo>
                  <a:lnTo>
                    <a:pt x="354330" y="1057275"/>
                  </a:lnTo>
                  <a:lnTo>
                    <a:pt x="366268" y="1052957"/>
                  </a:lnTo>
                  <a:close/>
                </a:path>
                <a:path w="3250565" h="1181735">
                  <a:moveTo>
                    <a:pt x="377825" y="525526"/>
                  </a:moveTo>
                  <a:lnTo>
                    <a:pt x="366776" y="519303"/>
                  </a:lnTo>
                  <a:lnTo>
                    <a:pt x="341884" y="563626"/>
                  </a:lnTo>
                  <a:lnTo>
                    <a:pt x="352933" y="569849"/>
                  </a:lnTo>
                  <a:lnTo>
                    <a:pt x="377825" y="525526"/>
                  </a:lnTo>
                  <a:close/>
                </a:path>
                <a:path w="3250565" h="1181735">
                  <a:moveTo>
                    <a:pt x="402717" y="481203"/>
                  </a:moveTo>
                  <a:lnTo>
                    <a:pt x="391668" y="474980"/>
                  </a:lnTo>
                  <a:lnTo>
                    <a:pt x="385445" y="486029"/>
                  </a:lnTo>
                  <a:lnTo>
                    <a:pt x="396494" y="492252"/>
                  </a:lnTo>
                  <a:lnTo>
                    <a:pt x="402717" y="481203"/>
                  </a:lnTo>
                  <a:close/>
                </a:path>
                <a:path w="3250565" h="1181735">
                  <a:moveTo>
                    <a:pt x="446278" y="403606"/>
                  </a:moveTo>
                  <a:lnTo>
                    <a:pt x="435102" y="397383"/>
                  </a:lnTo>
                  <a:lnTo>
                    <a:pt x="410337" y="441706"/>
                  </a:lnTo>
                  <a:lnTo>
                    <a:pt x="421386" y="447929"/>
                  </a:lnTo>
                  <a:lnTo>
                    <a:pt x="446278" y="403606"/>
                  </a:lnTo>
                  <a:close/>
                </a:path>
                <a:path w="3250565" h="1181735">
                  <a:moveTo>
                    <a:pt x="449961" y="1022858"/>
                  </a:moveTo>
                  <a:lnTo>
                    <a:pt x="445643" y="1010920"/>
                  </a:lnTo>
                  <a:lnTo>
                    <a:pt x="397891" y="1028192"/>
                  </a:lnTo>
                  <a:lnTo>
                    <a:pt x="402209" y="1040130"/>
                  </a:lnTo>
                  <a:lnTo>
                    <a:pt x="449961" y="1022858"/>
                  </a:lnTo>
                  <a:close/>
                </a:path>
                <a:path w="3250565" h="1181735">
                  <a:moveTo>
                    <a:pt x="471043" y="359410"/>
                  </a:moveTo>
                  <a:lnTo>
                    <a:pt x="459994" y="353187"/>
                  </a:lnTo>
                  <a:lnTo>
                    <a:pt x="453771" y="364236"/>
                  </a:lnTo>
                  <a:lnTo>
                    <a:pt x="464820" y="370459"/>
                  </a:lnTo>
                  <a:lnTo>
                    <a:pt x="471043" y="359410"/>
                  </a:lnTo>
                  <a:close/>
                </a:path>
                <a:path w="3250565" h="1181735">
                  <a:moveTo>
                    <a:pt x="497713" y="1005713"/>
                  </a:moveTo>
                  <a:lnTo>
                    <a:pt x="493522" y="993775"/>
                  </a:lnTo>
                  <a:lnTo>
                    <a:pt x="481584" y="998093"/>
                  </a:lnTo>
                  <a:lnTo>
                    <a:pt x="485775" y="1010031"/>
                  </a:lnTo>
                  <a:lnTo>
                    <a:pt x="497713" y="1005713"/>
                  </a:lnTo>
                  <a:close/>
                </a:path>
                <a:path w="3250565" h="1181735">
                  <a:moveTo>
                    <a:pt x="514604" y="281813"/>
                  </a:moveTo>
                  <a:lnTo>
                    <a:pt x="503555" y="275590"/>
                  </a:lnTo>
                  <a:lnTo>
                    <a:pt x="478663" y="319913"/>
                  </a:lnTo>
                  <a:lnTo>
                    <a:pt x="489712" y="326136"/>
                  </a:lnTo>
                  <a:lnTo>
                    <a:pt x="514604" y="281813"/>
                  </a:lnTo>
                  <a:close/>
                </a:path>
                <a:path w="3250565" h="1181735">
                  <a:moveTo>
                    <a:pt x="539496" y="237490"/>
                  </a:moveTo>
                  <a:lnTo>
                    <a:pt x="528447" y="231267"/>
                  </a:lnTo>
                  <a:lnTo>
                    <a:pt x="522224" y="242443"/>
                  </a:lnTo>
                  <a:lnTo>
                    <a:pt x="533273" y="248666"/>
                  </a:lnTo>
                  <a:lnTo>
                    <a:pt x="539496" y="237490"/>
                  </a:lnTo>
                  <a:close/>
                </a:path>
                <a:path w="3250565" h="1181735">
                  <a:moveTo>
                    <a:pt x="581406" y="975741"/>
                  </a:moveTo>
                  <a:lnTo>
                    <a:pt x="577088" y="963803"/>
                  </a:lnTo>
                  <a:lnTo>
                    <a:pt x="529336" y="980948"/>
                  </a:lnTo>
                  <a:lnTo>
                    <a:pt x="533654" y="992886"/>
                  </a:lnTo>
                  <a:lnTo>
                    <a:pt x="581406" y="975741"/>
                  </a:lnTo>
                  <a:close/>
                </a:path>
                <a:path w="3250565" h="1181735">
                  <a:moveTo>
                    <a:pt x="582930" y="160020"/>
                  </a:moveTo>
                  <a:lnTo>
                    <a:pt x="571881" y="153797"/>
                  </a:lnTo>
                  <a:lnTo>
                    <a:pt x="546989" y="198120"/>
                  </a:lnTo>
                  <a:lnTo>
                    <a:pt x="558165" y="204343"/>
                  </a:lnTo>
                  <a:lnTo>
                    <a:pt x="582930" y="160020"/>
                  </a:lnTo>
                  <a:close/>
                </a:path>
                <a:path w="3250565" h="1181735">
                  <a:moveTo>
                    <a:pt x="607822" y="115697"/>
                  </a:moveTo>
                  <a:lnTo>
                    <a:pt x="596773" y="109474"/>
                  </a:lnTo>
                  <a:lnTo>
                    <a:pt x="590550" y="120523"/>
                  </a:lnTo>
                  <a:lnTo>
                    <a:pt x="601599" y="126746"/>
                  </a:lnTo>
                  <a:lnTo>
                    <a:pt x="607822" y="115697"/>
                  </a:lnTo>
                  <a:close/>
                </a:path>
                <a:path w="3250565" h="1181735">
                  <a:moveTo>
                    <a:pt x="629285" y="958469"/>
                  </a:moveTo>
                  <a:lnTo>
                    <a:pt x="624967" y="946531"/>
                  </a:lnTo>
                  <a:lnTo>
                    <a:pt x="613029" y="950849"/>
                  </a:lnTo>
                  <a:lnTo>
                    <a:pt x="617347" y="962787"/>
                  </a:lnTo>
                  <a:lnTo>
                    <a:pt x="629285" y="958469"/>
                  </a:lnTo>
                  <a:close/>
                </a:path>
                <a:path w="3250565" h="1181735">
                  <a:moveTo>
                    <a:pt x="712978" y="928497"/>
                  </a:moveTo>
                  <a:lnTo>
                    <a:pt x="708660" y="916559"/>
                  </a:lnTo>
                  <a:lnTo>
                    <a:pt x="660781" y="933704"/>
                  </a:lnTo>
                  <a:lnTo>
                    <a:pt x="665099" y="945642"/>
                  </a:lnTo>
                  <a:lnTo>
                    <a:pt x="712978" y="928497"/>
                  </a:lnTo>
                  <a:close/>
                </a:path>
                <a:path w="3250565" h="1181735">
                  <a:moveTo>
                    <a:pt x="744474" y="15367"/>
                  </a:moveTo>
                  <a:lnTo>
                    <a:pt x="659752" y="10185"/>
                  </a:lnTo>
                  <a:lnTo>
                    <a:pt x="659384" y="10160"/>
                  </a:lnTo>
                  <a:lnTo>
                    <a:pt x="659498" y="10350"/>
                  </a:lnTo>
                  <a:lnTo>
                    <a:pt x="589280" y="57912"/>
                  </a:lnTo>
                  <a:lnTo>
                    <a:pt x="617016" y="73507"/>
                  </a:lnTo>
                  <a:lnTo>
                    <a:pt x="615442" y="76327"/>
                  </a:lnTo>
                  <a:lnTo>
                    <a:pt x="626491" y="82550"/>
                  </a:lnTo>
                  <a:lnTo>
                    <a:pt x="628053" y="79717"/>
                  </a:lnTo>
                  <a:lnTo>
                    <a:pt x="655701" y="95250"/>
                  </a:lnTo>
                  <a:lnTo>
                    <a:pt x="657263" y="62484"/>
                  </a:lnTo>
                  <a:lnTo>
                    <a:pt x="659726" y="10706"/>
                  </a:lnTo>
                  <a:lnTo>
                    <a:pt x="706247" y="81280"/>
                  </a:lnTo>
                  <a:lnTo>
                    <a:pt x="744474" y="15367"/>
                  </a:lnTo>
                  <a:close/>
                </a:path>
                <a:path w="3250565" h="1181735">
                  <a:moveTo>
                    <a:pt x="760730" y="911352"/>
                  </a:moveTo>
                  <a:lnTo>
                    <a:pt x="756412" y="899287"/>
                  </a:lnTo>
                  <a:lnTo>
                    <a:pt x="744474" y="903605"/>
                  </a:lnTo>
                  <a:lnTo>
                    <a:pt x="748792" y="915543"/>
                  </a:lnTo>
                  <a:lnTo>
                    <a:pt x="760730" y="911352"/>
                  </a:lnTo>
                  <a:close/>
                </a:path>
                <a:path w="3250565" h="1181735">
                  <a:moveTo>
                    <a:pt x="789178" y="77851"/>
                  </a:moveTo>
                  <a:lnTo>
                    <a:pt x="745109" y="52451"/>
                  </a:lnTo>
                  <a:lnTo>
                    <a:pt x="738759" y="63500"/>
                  </a:lnTo>
                  <a:lnTo>
                    <a:pt x="782828" y="88900"/>
                  </a:lnTo>
                  <a:lnTo>
                    <a:pt x="789178" y="77851"/>
                  </a:lnTo>
                  <a:close/>
                </a:path>
                <a:path w="3250565" h="1181735">
                  <a:moveTo>
                    <a:pt x="833120" y="103378"/>
                  </a:moveTo>
                  <a:lnTo>
                    <a:pt x="822071" y="97028"/>
                  </a:lnTo>
                  <a:lnTo>
                    <a:pt x="815721" y="107950"/>
                  </a:lnTo>
                  <a:lnTo>
                    <a:pt x="826770" y="114300"/>
                  </a:lnTo>
                  <a:lnTo>
                    <a:pt x="833120" y="103378"/>
                  </a:lnTo>
                  <a:close/>
                </a:path>
                <a:path w="3250565" h="1181735">
                  <a:moveTo>
                    <a:pt x="844423" y="881253"/>
                  </a:moveTo>
                  <a:lnTo>
                    <a:pt x="840105" y="869315"/>
                  </a:lnTo>
                  <a:lnTo>
                    <a:pt x="792226" y="886460"/>
                  </a:lnTo>
                  <a:lnTo>
                    <a:pt x="796544" y="898398"/>
                  </a:lnTo>
                  <a:lnTo>
                    <a:pt x="844423" y="881253"/>
                  </a:lnTo>
                  <a:close/>
                </a:path>
                <a:path w="3250565" h="1181735">
                  <a:moveTo>
                    <a:pt x="892175" y="864108"/>
                  </a:moveTo>
                  <a:lnTo>
                    <a:pt x="887857" y="852170"/>
                  </a:lnTo>
                  <a:lnTo>
                    <a:pt x="875919" y="856361"/>
                  </a:lnTo>
                  <a:lnTo>
                    <a:pt x="880237" y="868299"/>
                  </a:lnTo>
                  <a:lnTo>
                    <a:pt x="892175" y="864108"/>
                  </a:lnTo>
                  <a:close/>
                </a:path>
                <a:path w="3250565" h="1181735">
                  <a:moveTo>
                    <a:pt x="910082" y="147828"/>
                  </a:moveTo>
                  <a:lnTo>
                    <a:pt x="866013" y="122428"/>
                  </a:lnTo>
                  <a:lnTo>
                    <a:pt x="859663" y="133350"/>
                  </a:lnTo>
                  <a:lnTo>
                    <a:pt x="903732" y="158877"/>
                  </a:lnTo>
                  <a:lnTo>
                    <a:pt x="910082" y="147828"/>
                  </a:lnTo>
                  <a:close/>
                </a:path>
                <a:path w="3250565" h="1181735">
                  <a:moveTo>
                    <a:pt x="954024" y="173228"/>
                  </a:moveTo>
                  <a:lnTo>
                    <a:pt x="942975" y="166878"/>
                  </a:lnTo>
                  <a:lnTo>
                    <a:pt x="936625" y="177927"/>
                  </a:lnTo>
                  <a:lnTo>
                    <a:pt x="947674" y="184277"/>
                  </a:lnTo>
                  <a:lnTo>
                    <a:pt x="954024" y="173228"/>
                  </a:lnTo>
                  <a:close/>
                </a:path>
                <a:path w="3250565" h="1181735">
                  <a:moveTo>
                    <a:pt x="975868" y="834009"/>
                  </a:moveTo>
                  <a:lnTo>
                    <a:pt x="971550" y="822071"/>
                  </a:lnTo>
                  <a:lnTo>
                    <a:pt x="923798" y="839216"/>
                  </a:lnTo>
                  <a:lnTo>
                    <a:pt x="928116" y="851154"/>
                  </a:lnTo>
                  <a:lnTo>
                    <a:pt x="975868" y="834009"/>
                  </a:lnTo>
                  <a:close/>
                </a:path>
                <a:path w="3250565" h="1181735">
                  <a:moveTo>
                    <a:pt x="1023620" y="816864"/>
                  </a:moveTo>
                  <a:lnTo>
                    <a:pt x="1019429" y="804926"/>
                  </a:lnTo>
                  <a:lnTo>
                    <a:pt x="1007491" y="809117"/>
                  </a:lnTo>
                  <a:lnTo>
                    <a:pt x="1011682" y="821182"/>
                  </a:lnTo>
                  <a:lnTo>
                    <a:pt x="1023620" y="816864"/>
                  </a:lnTo>
                  <a:close/>
                </a:path>
                <a:path w="3250565" h="1181735">
                  <a:moveTo>
                    <a:pt x="1030986" y="217805"/>
                  </a:moveTo>
                  <a:lnTo>
                    <a:pt x="987044" y="192405"/>
                  </a:lnTo>
                  <a:lnTo>
                    <a:pt x="980694" y="203327"/>
                  </a:lnTo>
                  <a:lnTo>
                    <a:pt x="1024636" y="228854"/>
                  </a:lnTo>
                  <a:lnTo>
                    <a:pt x="1030986" y="217805"/>
                  </a:lnTo>
                  <a:close/>
                </a:path>
                <a:path w="3250565" h="1181735">
                  <a:moveTo>
                    <a:pt x="1074928" y="243205"/>
                  </a:moveTo>
                  <a:lnTo>
                    <a:pt x="1064006" y="236855"/>
                  </a:lnTo>
                  <a:lnTo>
                    <a:pt x="1057529" y="247904"/>
                  </a:lnTo>
                  <a:lnTo>
                    <a:pt x="1068578" y="254254"/>
                  </a:lnTo>
                  <a:lnTo>
                    <a:pt x="1074928" y="243205"/>
                  </a:lnTo>
                  <a:close/>
                </a:path>
                <a:path w="3250565" h="1181735">
                  <a:moveTo>
                    <a:pt x="1107313" y="786765"/>
                  </a:moveTo>
                  <a:lnTo>
                    <a:pt x="1102995" y="774827"/>
                  </a:lnTo>
                  <a:lnTo>
                    <a:pt x="1055243" y="791972"/>
                  </a:lnTo>
                  <a:lnTo>
                    <a:pt x="1059561" y="803910"/>
                  </a:lnTo>
                  <a:lnTo>
                    <a:pt x="1107313" y="786765"/>
                  </a:lnTo>
                  <a:close/>
                </a:path>
                <a:path w="3250565" h="1181735">
                  <a:moveTo>
                    <a:pt x="1151890" y="287782"/>
                  </a:moveTo>
                  <a:lnTo>
                    <a:pt x="1107948" y="262382"/>
                  </a:lnTo>
                  <a:lnTo>
                    <a:pt x="1101598" y="273304"/>
                  </a:lnTo>
                  <a:lnTo>
                    <a:pt x="1145540" y="298704"/>
                  </a:lnTo>
                  <a:lnTo>
                    <a:pt x="1151890" y="287782"/>
                  </a:lnTo>
                  <a:close/>
                </a:path>
                <a:path w="3250565" h="1181735">
                  <a:moveTo>
                    <a:pt x="1155192" y="769620"/>
                  </a:moveTo>
                  <a:lnTo>
                    <a:pt x="1150874" y="757682"/>
                  </a:lnTo>
                  <a:lnTo>
                    <a:pt x="1138936" y="762000"/>
                  </a:lnTo>
                  <a:lnTo>
                    <a:pt x="1143254" y="773938"/>
                  </a:lnTo>
                  <a:lnTo>
                    <a:pt x="1155192" y="769620"/>
                  </a:lnTo>
                  <a:close/>
                </a:path>
                <a:path w="3250565" h="1181735">
                  <a:moveTo>
                    <a:pt x="1195832" y="313182"/>
                  </a:moveTo>
                  <a:lnTo>
                    <a:pt x="1184910" y="306832"/>
                  </a:lnTo>
                  <a:lnTo>
                    <a:pt x="1178560" y="317881"/>
                  </a:lnTo>
                  <a:lnTo>
                    <a:pt x="1189482" y="324231"/>
                  </a:lnTo>
                  <a:lnTo>
                    <a:pt x="1195832" y="313182"/>
                  </a:lnTo>
                  <a:close/>
                </a:path>
                <a:path w="3250565" h="1181735">
                  <a:moveTo>
                    <a:pt x="1238758" y="739521"/>
                  </a:moveTo>
                  <a:lnTo>
                    <a:pt x="1234567" y="727583"/>
                  </a:lnTo>
                  <a:lnTo>
                    <a:pt x="1186688" y="744728"/>
                  </a:lnTo>
                  <a:lnTo>
                    <a:pt x="1191006" y="756793"/>
                  </a:lnTo>
                  <a:lnTo>
                    <a:pt x="1238758" y="739521"/>
                  </a:lnTo>
                  <a:close/>
                </a:path>
                <a:path w="3250565" h="1181735">
                  <a:moveTo>
                    <a:pt x="1272794" y="357759"/>
                  </a:moveTo>
                  <a:lnTo>
                    <a:pt x="1228852" y="332232"/>
                  </a:lnTo>
                  <a:lnTo>
                    <a:pt x="1222502" y="343281"/>
                  </a:lnTo>
                  <a:lnTo>
                    <a:pt x="1266444" y="368681"/>
                  </a:lnTo>
                  <a:lnTo>
                    <a:pt x="1272794" y="357759"/>
                  </a:lnTo>
                  <a:close/>
                </a:path>
                <a:path w="3250565" h="1181735">
                  <a:moveTo>
                    <a:pt x="1286637" y="722376"/>
                  </a:moveTo>
                  <a:lnTo>
                    <a:pt x="1282319" y="710438"/>
                  </a:lnTo>
                  <a:lnTo>
                    <a:pt x="1270381" y="714756"/>
                  </a:lnTo>
                  <a:lnTo>
                    <a:pt x="1274699" y="726694"/>
                  </a:lnTo>
                  <a:lnTo>
                    <a:pt x="1286637" y="722376"/>
                  </a:lnTo>
                  <a:close/>
                </a:path>
                <a:path w="3250565" h="1181735">
                  <a:moveTo>
                    <a:pt x="1316736" y="383159"/>
                  </a:moveTo>
                  <a:lnTo>
                    <a:pt x="1305814" y="376809"/>
                  </a:lnTo>
                  <a:lnTo>
                    <a:pt x="1299464" y="387858"/>
                  </a:lnTo>
                  <a:lnTo>
                    <a:pt x="1310386" y="394208"/>
                  </a:lnTo>
                  <a:lnTo>
                    <a:pt x="1316736" y="383159"/>
                  </a:lnTo>
                  <a:close/>
                </a:path>
                <a:path w="3250565" h="1181735">
                  <a:moveTo>
                    <a:pt x="1370330" y="692277"/>
                  </a:moveTo>
                  <a:lnTo>
                    <a:pt x="1366012" y="680339"/>
                  </a:lnTo>
                  <a:lnTo>
                    <a:pt x="1318133" y="697611"/>
                  </a:lnTo>
                  <a:lnTo>
                    <a:pt x="1322451" y="709549"/>
                  </a:lnTo>
                  <a:lnTo>
                    <a:pt x="1370330" y="692277"/>
                  </a:lnTo>
                  <a:close/>
                </a:path>
                <a:path w="3250565" h="1181735">
                  <a:moveTo>
                    <a:pt x="1393698" y="427736"/>
                  </a:moveTo>
                  <a:lnTo>
                    <a:pt x="1349756" y="402209"/>
                  </a:lnTo>
                  <a:lnTo>
                    <a:pt x="1343406" y="413258"/>
                  </a:lnTo>
                  <a:lnTo>
                    <a:pt x="1387348" y="438658"/>
                  </a:lnTo>
                  <a:lnTo>
                    <a:pt x="1393698" y="427736"/>
                  </a:lnTo>
                  <a:close/>
                </a:path>
                <a:path w="3250565" h="1181735">
                  <a:moveTo>
                    <a:pt x="1418082" y="675132"/>
                  </a:moveTo>
                  <a:lnTo>
                    <a:pt x="1413764" y="663194"/>
                  </a:lnTo>
                  <a:lnTo>
                    <a:pt x="1401826" y="667512"/>
                  </a:lnTo>
                  <a:lnTo>
                    <a:pt x="1406144" y="679450"/>
                  </a:lnTo>
                  <a:lnTo>
                    <a:pt x="1418082" y="675132"/>
                  </a:lnTo>
                  <a:close/>
                </a:path>
                <a:path w="3250565" h="1181735">
                  <a:moveTo>
                    <a:pt x="1437640" y="453136"/>
                  </a:moveTo>
                  <a:lnTo>
                    <a:pt x="1426718" y="446786"/>
                  </a:lnTo>
                  <a:lnTo>
                    <a:pt x="1420368" y="457708"/>
                  </a:lnTo>
                  <a:lnTo>
                    <a:pt x="1431290" y="464058"/>
                  </a:lnTo>
                  <a:lnTo>
                    <a:pt x="1437640" y="453136"/>
                  </a:lnTo>
                  <a:close/>
                </a:path>
                <a:path w="3250565" h="1181735">
                  <a:moveTo>
                    <a:pt x="1501775" y="645160"/>
                  </a:moveTo>
                  <a:lnTo>
                    <a:pt x="1497457" y="633095"/>
                  </a:lnTo>
                  <a:lnTo>
                    <a:pt x="1449705" y="650367"/>
                  </a:lnTo>
                  <a:lnTo>
                    <a:pt x="1453896" y="662305"/>
                  </a:lnTo>
                  <a:lnTo>
                    <a:pt x="1501775" y="645160"/>
                  </a:lnTo>
                  <a:close/>
                </a:path>
                <a:path w="3250565" h="1181735">
                  <a:moveTo>
                    <a:pt x="1514602" y="497586"/>
                  </a:moveTo>
                  <a:lnTo>
                    <a:pt x="1470660" y="472186"/>
                  </a:lnTo>
                  <a:lnTo>
                    <a:pt x="1464310" y="483235"/>
                  </a:lnTo>
                  <a:lnTo>
                    <a:pt x="1508252" y="508635"/>
                  </a:lnTo>
                  <a:lnTo>
                    <a:pt x="1514602" y="497586"/>
                  </a:lnTo>
                  <a:close/>
                </a:path>
                <a:path w="3250565" h="1181735">
                  <a:moveTo>
                    <a:pt x="1549527" y="627888"/>
                  </a:moveTo>
                  <a:lnTo>
                    <a:pt x="1545336" y="615950"/>
                  </a:lnTo>
                  <a:lnTo>
                    <a:pt x="1533271" y="620268"/>
                  </a:lnTo>
                  <a:lnTo>
                    <a:pt x="1537589" y="632206"/>
                  </a:lnTo>
                  <a:lnTo>
                    <a:pt x="1549527" y="627888"/>
                  </a:lnTo>
                  <a:close/>
                </a:path>
                <a:path w="3250565" h="1181735">
                  <a:moveTo>
                    <a:pt x="1558671" y="523113"/>
                  </a:moveTo>
                  <a:lnTo>
                    <a:pt x="1547622" y="516763"/>
                  </a:lnTo>
                  <a:lnTo>
                    <a:pt x="1541272" y="527685"/>
                  </a:lnTo>
                  <a:lnTo>
                    <a:pt x="1552321" y="534035"/>
                  </a:lnTo>
                  <a:lnTo>
                    <a:pt x="1558671" y="523113"/>
                  </a:lnTo>
                  <a:close/>
                </a:path>
                <a:path w="3250565" h="1181735">
                  <a:moveTo>
                    <a:pt x="1633220" y="597916"/>
                  </a:moveTo>
                  <a:lnTo>
                    <a:pt x="1628902" y="585978"/>
                  </a:lnTo>
                  <a:lnTo>
                    <a:pt x="1581150" y="603123"/>
                  </a:lnTo>
                  <a:lnTo>
                    <a:pt x="1585468" y="615061"/>
                  </a:lnTo>
                  <a:lnTo>
                    <a:pt x="1633220" y="597916"/>
                  </a:lnTo>
                  <a:close/>
                </a:path>
                <a:path w="3250565" h="1181735">
                  <a:moveTo>
                    <a:pt x="1635633" y="567563"/>
                  </a:moveTo>
                  <a:lnTo>
                    <a:pt x="1591564" y="542163"/>
                  </a:lnTo>
                  <a:lnTo>
                    <a:pt x="1585214" y="553212"/>
                  </a:lnTo>
                  <a:lnTo>
                    <a:pt x="1629156" y="578612"/>
                  </a:lnTo>
                  <a:lnTo>
                    <a:pt x="1635633" y="567563"/>
                  </a:lnTo>
                  <a:close/>
                </a:path>
                <a:path w="3250565" h="1181735">
                  <a:moveTo>
                    <a:pt x="1679575" y="593090"/>
                  </a:moveTo>
                  <a:lnTo>
                    <a:pt x="1668526" y="586740"/>
                  </a:lnTo>
                  <a:lnTo>
                    <a:pt x="1662176" y="597662"/>
                  </a:lnTo>
                  <a:lnTo>
                    <a:pt x="1673225" y="604012"/>
                  </a:lnTo>
                  <a:lnTo>
                    <a:pt x="1679575" y="593090"/>
                  </a:lnTo>
                  <a:close/>
                </a:path>
                <a:path w="3250565" h="1181735">
                  <a:moveTo>
                    <a:pt x="1681099" y="580644"/>
                  </a:moveTo>
                  <a:lnTo>
                    <a:pt x="1676781" y="568706"/>
                  </a:lnTo>
                  <a:lnTo>
                    <a:pt x="1664843" y="573024"/>
                  </a:lnTo>
                  <a:lnTo>
                    <a:pt x="1669161" y="584962"/>
                  </a:lnTo>
                  <a:lnTo>
                    <a:pt x="1681099" y="580644"/>
                  </a:lnTo>
                  <a:close/>
                </a:path>
                <a:path w="3250565" h="1181735">
                  <a:moveTo>
                    <a:pt x="1756537" y="637540"/>
                  </a:moveTo>
                  <a:lnTo>
                    <a:pt x="1712468" y="612140"/>
                  </a:lnTo>
                  <a:lnTo>
                    <a:pt x="1706118" y="623062"/>
                  </a:lnTo>
                  <a:lnTo>
                    <a:pt x="1750187" y="648589"/>
                  </a:lnTo>
                  <a:lnTo>
                    <a:pt x="1756537" y="637540"/>
                  </a:lnTo>
                  <a:close/>
                </a:path>
                <a:path w="3250565" h="1181735">
                  <a:moveTo>
                    <a:pt x="1764665" y="550672"/>
                  </a:moveTo>
                  <a:lnTo>
                    <a:pt x="1760474" y="538734"/>
                  </a:lnTo>
                  <a:lnTo>
                    <a:pt x="1712595" y="555879"/>
                  </a:lnTo>
                  <a:lnTo>
                    <a:pt x="1716913" y="567817"/>
                  </a:lnTo>
                  <a:lnTo>
                    <a:pt x="1764665" y="550672"/>
                  </a:lnTo>
                  <a:close/>
                </a:path>
                <a:path w="3250565" h="1181735">
                  <a:moveTo>
                    <a:pt x="1800479" y="662940"/>
                  </a:moveTo>
                  <a:lnTo>
                    <a:pt x="1789430" y="656590"/>
                  </a:lnTo>
                  <a:lnTo>
                    <a:pt x="1783080" y="667639"/>
                  </a:lnTo>
                  <a:lnTo>
                    <a:pt x="1794129" y="673989"/>
                  </a:lnTo>
                  <a:lnTo>
                    <a:pt x="1800479" y="662940"/>
                  </a:lnTo>
                  <a:close/>
                </a:path>
                <a:path w="3250565" h="1181735">
                  <a:moveTo>
                    <a:pt x="1812544" y="533527"/>
                  </a:moveTo>
                  <a:lnTo>
                    <a:pt x="1808226" y="521462"/>
                  </a:lnTo>
                  <a:lnTo>
                    <a:pt x="1796288" y="525780"/>
                  </a:lnTo>
                  <a:lnTo>
                    <a:pt x="1800606" y="537718"/>
                  </a:lnTo>
                  <a:lnTo>
                    <a:pt x="1812544" y="533527"/>
                  </a:lnTo>
                  <a:close/>
                </a:path>
                <a:path w="3250565" h="1181735">
                  <a:moveTo>
                    <a:pt x="1877441" y="707517"/>
                  </a:moveTo>
                  <a:lnTo>
                    <a:pt x="1833499" y="682117"/>
                  </a:lnTo>
                  <a:lnTo>
                    <a:pt x="1827022" y="693039"/>
                  </a:lnTo>
                  <a:lnTo>
                    <a:pt x="1871091" y="718566"/>
                  </a:lnTo>
                  <a:lnTo>
                    <a:pt x="1877441" y="707517"/>
                  </a:lnTo>
                  <a:close/>
                </a:path>
                <a:path w="3250565" h="1181735">
                  <a:moveTo>
                    <a:pt x="1896237" y="503428"/>
                  </a:moveTo>
                  <a:lnTo>
                    <a:pt x="1891919" y="491490"/>
                  </a:lnTo>
                  <a:lnTo>
                    <a:pt x="1844040" y="508635"/>
                  </a:lnTo>
                  <a:lnTo>
                    <a:pt x="1848358" y="520573"/>
                  </a:lnTo>
                  <a:lnTo>
                    <a:pt x="1896237" y="503428"/>
                  </a:lnTo>
                  <a:close/>
                </a:path>
                <a:path w="3250565" h="1181735">
                  <a:moveTo>
                    <a:pt x="1921383" y="732917"/>
                  </a:moveTo>
                  <a:lnTo>
                    <a:pt x="1910334" y="726567"/>
                  </a:lnTo>
                  <a:lnTo>
                    <a:pt x="1903984" y="737616"/>
                  </a:lnTo>
                  <a:lnTo>
                    <a:pt x="1915033" y="743966"/>
                  </a:lnTo>
                  <a:lnTo>
                    <a:pt x="1921383" y="732917"/>
                  </a:lnTo>
                  <a:close/>
                </a:path>
                <a:path w="3250565" h="1181735">
                  <a:moveTo>
                    <a:pt x="1943989" y="486283"/>
                  </a:moveTo>
                  <a:lnTo>
                    <a:pt x="1939671" y="474345"/>
                  </a:lnTo>
                  <a:lnTo>
                    <a:pt x="1927733" y="478536"/>
                  </a:lnTo>
                  <a:lnTo>
                    <a:pt x="1932051" y="490601"/>
                  </a:lnTo>
                  <a:lnTo>
                    <a:pt x="1943989" y="486283"/>
                  </a:lnTo>
                  <a:close/>
                </a:path>
                <a:path w="3250565" h="1181735">
                  <a:moveTo>
                    <a:pt x="1998345" y="777494"/>
                  </a:moveTo>
                  <a:lnTo>
                    <a:pt x="1954403" y="752094"/>
                  </a:lnTo>
                  <a:lnTo>
                    <a:pt x="1948053" y="763016"/>
                  </a:lnTo>
                  <a:lnTo>
                    <a:pt x="1991995" y="788416"/>
                  </a:lnTo>
                  <a:lnTo>
                    <a:pt x="1998345" y="777494"/>
                  </a:lnTo>
                  <a:close/>
                </a:path>
                <a:path w="3250565" h="1181735">
                  <a:moveTo>
                    <a:pt x="2027669" y="456184"/>
                  </a:moveTo>
                  <a:lnTo>
                    <a:pt x="2023364" y="444246"/>
                  </a:lnTo>
                  <a:lnTo>
                    <a:pt x="1975612" y="461391"/>
                  </a:lnTo>
                  <a:lnTo>
                    <a:pt x="1979803" y="473329"/>
                  </a:lnTo>
                  <a:lnTo>
                    <a:pt x="2027669" y="456184"/>
                  </a:lnTo>
                  <a:close/>
                </a:path>
                <a:path w="3250565" h="1181735">
                  <a:moveTo>
                    <a:pt x="2042287" y="802894"/>
                  </a:moveTo>
                  <a:lnTo>
                    <a:pt x="2031365" y="796544"/>
                  </a:lnTo>
                  <a:lnTo>
                    <a:pt x="2024888" y="807593"/>
                  </a:lnTo>
                  <a:lnTo>
                    <a:pt x="2035937" y="813943"/>
                  </a:lnTo>
                  <a:lnTo>
                    <a:pt x="2042287" y="802894"/>
                  </a:lnTo>
                  <a:close/>
                </a:path>
                <a:path w="3250565" h="1181735">
                  <a:moveTo>
                    <a:pt x="2075421" y="439039"/>
                  </a:moveTo>
                  <a:lnTo>
                    <a:pt x="2071243" y="427101"/>
                  </a:lnTo>
                  <a:lnTo>
                    <a:pt x="2059178" y="431419"/>
                  </a:lnTo>
                  <a:lnTo>
                    <a:pt x="2063496" y="443357"/>
                  </a:lnTo>
                  <a:lnTo>
                    <a:pt x="2075421" y="439039"/>
                  </a:lnTo>
                  <a:close/>
                </a:path>
                <a:path w="3250565" h="1181735">
                  <a:moveTo>
                    <a:pt x="2119249" y="847471"/>
                  </a:moveTo>
                  <a:lnTo>
                    <a:pt x="2075294" y="821944"/>
                  </a:lnTo>
                  <a:lnTo>
                    <a:pt x="2068944" y="832993"/>
                  </a:lnTo>
                  <a:lnTo>
                    <a:pt x="2112899" y="858393"/>
                  </a:lnTo>
                  <a:lnTo>
                    <a:pt x="2119249" y="847471"/>
                  </a:lnTo>
                  <a:close/>
                </a:path>
                <a:path w="3250565" h="1181735">
                  <a:moveTo>
                    <a:pt x="2159127" y="408940"/>
                  </a:moveTo>
                  <a:lnTo>
                    <a:pt x="2154809" y="397002"/>
                  </a:lnTo>
                  <a:lnTo>
                    <a:pt x="2107044" y="414147"/>
                  </a:lnTo>
                  <a:lnTo>
                    <a:pt x="2111375" y="426085"/>
                  </a:lnTo>
                  <a:lnTo>
                    <a:pt x="2159127" y="408940"/>
                  </a:lnTo>
                  <a:close/>
                </a:path>
                <a:path w="3250565" h="1181735">
                  <a:moveTo>
                    <a:pt x="2163191" y="872871"/>
                  </a:moveTo>
                  <a:lnTo>
                    <a:pt x="2152269" y="866521"/>
                  </a:lnTo>
                  <a:lnTo>
                    <a:pt x="2145919" y="877570"/>
                  </a:lnTo>
                  <a:lnTo>
                    <a:pt x="2156841" y="883920"/>
                  </a:lnTo>
                  <a:lnTo>
                    <a:pt x="2163191" y="872871"/>
                  </a:lnTo>
                  <a:close/>
                </a:path>
                <a:path w="3250565" h="1181735">
                  <a:moveTo>
                    <a:pt x="2207006" y="391795"/>
                  </a:moveTo>
                  <a:lnTo>
                    <a:pt x="2202688" y="379857"/>
                  </a:lnTo>
                  <a:lnTo>
                    <a:pt x="2190750" y="384175"/>
                  </a:lnTo>
                  <a:lnTo>
                    <a:pt x="2194941" y="396113"/>
                  </a:lnTo>
                  <a:lnTo>
                    <a:pt x="2207006" y="391795"/>
                  </a:lnTo>
                  <a:close/>
                </a:path>
                <a:path w="3250565" h="1181735">
                  <a:moveTo>
                    <a:pt x="2240153" y="917448"/>
                  </a:moveTo>
                  <a:lnTo>
                    <a:pt x="2196211" y="891921"/>
                  </a:lnTo>
                  <a:lnTo>
                    <a:pt x="2189861" y="902970"/>
                  </a:lnTo>
                  <a:lnTo>
                    <a:pt x="2233803" y="928370"/>
                  </a:lnTo>
                  <a:lnTo>
                    <a:pt x="2240153" y="917448"/>
                  </a:lnTo>
                  <a:close/>
                </a:path>
                <a:path w="3250565" h="1181735">
                  <a:moveTo>
                    <a:pt x="2284095" y="942848"/>
                  </a:moveTo>
                  <a:lnTo>
                    <a:pt x="2273173" y="936498"/>
                  </a:lnTo>
                  <a:lnTo>
                    <a:pt x="2266823" y="947420"/>
                  </a:lnTo>
                  <a:lnTo>
                    <a:pt x="2277745" y="953770"/>
                  </a:lnTo>
                  <a:lnTo>
                    <a:pt x="2284095" y="942848"/>
                  </a:lnTo>
                  <a:close/>
                </a:path>
                <a:path w="3250565" h="1181735">
                  <a:moveTo>
                    <a:pt x="2290572" y="361696"/>
                  </a:moveTo>
                  <a:lnTo>
                    <a:pt x="2286381" y="349758"/>
                  </a:lnTo>
                  <a:lnTo>
                    <a:pt x="2238502" y="366903"/>
                  </a:lnTo>
                  <a:lnTo>
                    <a:pt x="2242820" y="378968"/>
                  </a:lnTo>
                  <a:lnTo>
                    <a:pt x="2290572" y="361696"/>
                  </a:lnTo>
                  <a:close/>
                </a:path>
                <a:path w="3250565" h="1181735">
                  <a:moveTo>
                    <a:pt x="2338451" y="344551"/>
                  </a:moveTo>
                  <a:lnTo>
                    <a:pt x="2334133" y="332613"/>
                  </a:lnTo>
                  <a:lnTo>
                    <a:pt x="2322195" y="336931"/>
                  </a:lnTo>
                  <a:lnTo>
                    <a:pt x="2326513" y="348869"/>
                  </a:lnTo>
                  <a:lnTo>
                    <a:pt x="2338451" y="344551"/>
                  </a:lnTo>
                  <a:close/>
                </a:path>
                <a:path w="3250565" h="1181735">
                  <a:moveTo>
                    <a:pt x="2361057" y="987298"/>
                  </a:moveTo>
                  <a:lnTo>
                    <a:pt x="2317115" y="961898"/>
                  </a:lnTo>
                  <a:lnTo>
                    <a:pt x="2310765" y="972947"/>
                  </a:lnTo>
                  <a:lnTo>
                    <a:pt x="2354707" y="998347"/>
                  </a:lnTo>
                  <a:lnTo>
                    <a:pt x="2361057" y="987298"/>
                  </a:lnTo>
                  <a:close/>
                </a:path>
                <a:path w="3250565" h="1181735">
                  <a:moveTo>
                    <a:pt x="2405126" y="1012825"/>
                  </a:moveTo>
                  <a:lnTo>
                    <a:pt x="2394077" y="1006475"/>
                  </a:lnTo>
                  <a:lnTo>
                    <a:pt x="2387727" y="1017397"/>
                  </a:lnTo>
                  <a:lnTo>
                    <a:pt x="2398649" y="1023747"/>
                  </a:lnTo>
                  <a:lnTo>
                    <a:pt x="2405126" y="1012825"/>
                  </a:lnTo>
                  <a:close/>
                </a:path>
                <a:path w="3250565" h="1181735">
                  <a:moveTo>
                    <a:pt x="2422144" y="314452"/>
                  </a:moveTo>
                  <a:lnTo>
                    <a:pt x="2417826" y="302514"/>
                  </a:lnTo>
                  <a:lnTo>
                    <a:pt x="2369947" y="319786"/>
                  </a:lnTo>
                  <a:lnTo>
                    <a:pt x="2374265" y="331724"/>
                  </a:lnTo>
                  <a:lnTo>
                    <a:pt x="2422144" y="314452"/>
                  </a:lnTo>
                  <a:close/>
                </a:path>
                <a:path w="3250565" h="1181735">
                  <a:moveTo>
                    <a:pt x="2469896" y="297307"/>
                  </a:moveTo>
                  <a:lnTo>
                    <a:pt x="2465578" y="285369"/>
                  </a:lnTo>
                  <a:lnTo>
                    <a:pt x="2453640" y="289687"/>
                  </a:lnTo>
                  <a:lnTo>
                    <a:pt x="2457958" y="301625"/>
                  </a:lnTo>
                  <a:lnTo>
                    <a:pt x="2469896" y="297307"/>
                  </a:lnTo>
                  <a:close/>
                </a:path>
                <a:path w="3250565" h="1181735">
                  <a:moveTo>
                    <a:pt x="2481961" y="1057275"/>
                  </a:moveTo>
                  <a:lnTo>
                    <a:pt x="2438019" y="1031875"/>
                  </a:lnTo>
                  <a:lnTo>
                    <a:pt x="2431669" y="1042924"/>
                  </a:lnTo>
                  <a:lnTo>
                    <a:pt x="2475611" y="1068324"/>
                  </a:lnTo>
                  <a:lnTo>
                    <a:pt x="2481961" y="1057275"/>
                  </a:lnTo>
                  <a:close/>
                </a:path>
                <a:path w="3250565" h="1181735">
                  <a:moveTo>
                    <a:pt x="2526030" y="1082802"/>
                  </a:moveTo>
                  <a:lnTo>
                    <a:pt x="2514981" y="1076452"/>
                  </a:lnTo>
                  <a:lnTo>
                    <a:pt x="2508631" y="1087374"/>
                  </a:lnTo>
                  <a:lnTo>
                    <a:pt x="2519680" y="1093724"/>
                  </a:lnTo>
                  <a:lnTo>
                    <a:pt x="2526030" y="1082802"/>
                  </a:lnTo>
                  <a:close/>
                </a:path>
                <a:path w="3250565" h="1181735">
                  <a:moveTo>
                    <a:pt x="2553589" y="267335"/>
                  </a:moveTo>
                  <a:lnTo>
                    <a:pt x="2549271" y="255397"/>
                  </a:lnTo>
                  <a:lnTo>
                    <a:pt x="2501519" y="272542"/>
                  </a:lnTo>
                  <a:lnTo>
                    <a:pt x="2505710" y="284480"/>
                  </a:lnTo>
                  <a:lnTo>
                    <a:pt x="2553589" y="267335"/>
                  </a:lnTo>
                  <a:close/>
                </a:path>
                <a:path w="3250565" h="1181735">
                  <a:moveTo>
                    <a:pt x="2601341" y="250063"/>
                  </a:moveTo>
                  <a:lnTo>
                    <a:pt x="2597023" y="238125"/>
                  </a:lnTo>
                  <a:lnTo>
                    <a:pt x="2585085" y="242443"/>
                  </a:lnTo>
                  <a:lnTo>
                    <a:pt x="2589403" y="254381"/>
                  </a:lnTo>
                  <a:lnTo>
                    <a:pt x="2601341" y="250063"/>
                  </a:lnTo>
                  <a:close/>
                </a:path>
                <a:path w="3250565" h="1181735">
                  <a:moveTo>
                    <a:pt x="2630424" y="1091946"/>
                  </a:moveTo>
                  <a:lnTo>
                    <a:pt x="2619375" y="1085596"/>
                  </a:lnTo>
                  <a:lnTo>
                    <a:pt x="2597213" y="1123937"/>
                  </a:lnTo>
                  <a:lnTo>
                    <a:pt x="2558923" y="1101852"/>
                  </a:lnTo>
                  <a:lnTo>
                    <a:pt x="2552573" y="1112774"/>
                  </a:lnTo>
                  <a:lnTo>
                    <a:pt x="2596515" y="1138301"/>
                  </a:lnTo>
                  <a:lnTo>
                    <a:pt x="2599664" y="1132928"/>
                  </a:lnTo>
                  <a:lnTo>
                    <a:pt x="2604897" y="1136015"/>
                  </a:lnTo>
                  <a:lnTo>
                    <a:pt x="2630424" y="1091946"/>
                  </a:lnTo>
                  <a:close/>
                </a:path>
                <a:path w="3250565" h="1181735">
                  <a:moveTo>
                    <a:pt x="2655824" y="1048004"/>
                  </a:moveTo>
                  <a:lnTo>
                    <a:pt x="2644902" y="1041654"/>
                  </a:lnTo>
                  <a:lnTo>
                    <a:pt x="2638552" y="1052703"/>
                  </a:lnTo>
                  <a:lnTo>
                    <a:pt x="2649474" y="1059053"/>
                  </a:lnTo>
                  <a:lnTo>
                    <a:pt x="2655824" y="1048004"/>
                  </a:lnTo>
                  <a:close/>
                </a:path>
                <a:path w="3250565" h="1181735">
                  <a:moveTo>
                    <a:pt x="2685034" y="220091"/>
                  </a:moveTo>
                  <a:lnTo>
                    <a:pt x="2680716" y="208153"/>
                  </a:lnTo>
                  <a:lnTo>
                    <a:pt x="2632964" y="225298"/>
                  </a:lnTo>
                  <a:lnTo>
                    <a:pt x="2637282" y="237236"/>
                  </a:lnTo>
                  <a:lnTo>
                    <a:pt x="2685034" y="220091"/>
                  </a:lnTo>
                  <a:close/>
                </a:path>
                <a:path w="3250565" h="1181735">
                  <a:moveTo>
                    <a:pt x="2700401" y="971169"/>
                  </a:moveTo>
                  <a:lnTo>
                    <a:pt x="2689479" y="964692"/>
                  </a:lnTo>
                  <a:lnTo>
                    <a:pt x="2663952" y="1008761"/>
                  </a:lnTo>
                  <a:lnTo>
                    <a:pt x="2675001" y="1015111"/>
                  </a:lnTo>
                  <a:lnTo>
                    <a:pt x="2700401" y="971169"/>
                  </a:lnTo>
                  <a:close/>
                </a:path>
                <a:path w="3250565" h="1181735">
                  <a:moveTo>
                    <a:pt x="2725928" y="927227"/>
                  </a:moveTo>
                  <a:lnTo>
                    <a:pt x="2714879" y="920750"/>
                  </a:lnTo>
                  <a:lnTo>
                    <a:pt x="2708529" y="931799"/>
                  </a:lnTo>
                  <a:lnTo>
                    <a:pt x="2719578" y="938149"/>
                  </a:lnTo>
                  <a:lnTo>
                    <a:pt x="2725928" y="927227"/>
                  </a:lnTo>
                  <a:close/>
                </a:path>
                <a:path w="3250565" h="1181735">
                  <a:moveTo>
                    <a:pt x="2732913" y="202946"/>
                  </a:moveTo>
                  <a:lnTo>
                    <a:pt x="2728595" y="190881"/>
                  </a:lnTo>
                  <a:lnTo>
                    <a:pt x="2716657" y="195199"/>
                  </a:lnTo>
                  <a:lnTo>
                    <a:pt x="2720848" y="207137"/>
                  </a:lnTo>
                  <a:lnTo>
                    <a:pt x="2732913" y="202946"/>
                  </a:lnTo>
                  <a:close/>
                </a:path>
                <a:path w="3250565" h="1181735">
                  <a:moveTo>
                    <a:pt x="2770505" y="850265"/>
                  </a:moveTo>
                  <a:lnTo>
                    <a:pt x="2759456" y="843915"/>
                  </a:lnTo>
                  <a:lnTo>
                    <a:pt x="2734056" y="887857"/>
                  </a:lnTo>
                  <a:lnTo>
                    <a:pt x="2744978" y="894207"/>
                  </a:lnTo>
                  <a:lnTo>
                    <a:pt x="2770505" y="850265"/>
                  </a:lnTo>
                  <a:close/>
                </a:path>
                <a:path w="3250565" h="1181735">
                  <a:moveTo>
                    <a:pt x="2795905" y="806323"/>
                  </a:moveTo>
                  <a:lnTo>
                    <a:pt x="2784983" y="799973"/>
                  </a:lnTo>
                  <a:lnTo>
                    <a:pt x="2778633" y="810895"/>
                  </a:lnTo>
                  <a:lnTo>
                    <a:pt x="2789555" y="817245"/>
                  </a:lnTo>
                  <a:lnTo>
                    <a:pt x="2795905" y="806323"/>
                  </a:lnTo>
                  <a:close/>
                </a:path>
                <a:path w="3250565" h="1181735">
                  <a:moveTo>
                    <a:pt x="2816479" y="172847"/>
                  </a:moveTo>
                  <a:lnTo>
                    <a:pt x="2812161" y="160909"/>
                  </a:lnTo>
                  <a:lnTo>
                    <a:pt x="2764409" y="178054"/>
                  </a:lnTo>
                  <a:lnTo>
                    <a:pt x="2768727" y="189992"/>
                  </a:lnTo>
                  <a:lnTo>
                    <a:pt x="2816479" y="172847"/>
                  </a:lnTo>
                  <a:close/>
                </a:path>
                <a:path w="3250565" h="1181735">
                  <a:moveTo>
                    <a:pt x="2840482" y="729361"/>
                  </a:moveTo>
                  <a:lnTo>
                    <a:pt x="2829560" y="723011"/>
                  </a:lnTo>
                  <a:lnTo>
                    <a:pt x="2804033" y="766953"/>
                  </a:lnTo>
                  <a:lnTo>
                    <a:pt x="2815082" y="773303"/>
                  </a:lnTo>
                  <a:lnTo>
                    <a:pt x="2840482" y="729361"/>
                  </a:lnTo>
                  <a:close/>
                </a:path>
                <a:path w="3250565" h="1181735">
                  <a:moveTo>
                    <a:pt x="2864358" y="155702"/>
                  </a:moveTo>
                  <a:lnTo>
                    <a:pt x="2860040" y="143764"/>
                  </a:lnTo>
                  <a:lnTo>
                    <a:pt x="2848102" y="147955"/>
                  </a:lnTo>
                  <a:lnTo>
                    <a:pt x="2852420" y="159893"/>
                  </a:lnTo>
                  <a:lnTo>
                    <a:pt x="2864358" y="155702"/>
                  </a:lnTo>
                  <a:close/>
                </a:path>
                <a:path w="3250565" h="1181735">
                  <a:moveTo>
                    <a:pt x="2866009" y="685419"/>
                  </a:moveTo>
                  <a:lnTo>
                    <a:pt x="2854960" y="679069"/>
                  </a:lnTo>
                  <a:lnTo>
                    <a:pt x="2848610" y="689991"/>
                  </a:lnTo>
                  <a:lnTo>
                    <a:pt x="2859659" y="696341"/>
                  </a:lnTo>
                  <a:lnTo>
                    <a:pt x="2866009" y="685419"/>
                  </a:lnTo>
                  <a:close/>
                </a:path>
                <a:path w="3250565" h="1181735">
                  <a:moveTo>
                    <a:pt x="2910586" y="608457"/>
                  </a:moveTo>
                  <a:lnTo>
                    <a:pt x="2899537" y="602107"/>
                  </a:lnTo>
                  <a:lnTo>
                    <a:pt x="2874137" y="646049"/>
                  </a:lnTo>
                  <a:lnTo>
                    <a:pt x="2885059" y="652399"/>
                  </a:lnTo>
                  <a:lnTo>
                    <a:pt x="2910586" y="608457"/>
                  </a:lnTo>
                  <a:close/>
                </a:path>
                <a:path w="3250565" h="1181735">
                  <a:moveTo>
                    <a:pt x="2935986" y="564515"/>
                  </a:moveTo>
                  <a:lnTo>
                    <a:pt x="2925064" y="558165"/>
                  </a:lnTo>
                  <a:lnTo>
                    <a:pt x="2918587" y="569214"/>
                  </a:lnTo>
                  <a:lnTo>
                    <a:pt x="2929636" y="575564"/>
                  </a:lnTo>
                  <a:lnTo>
                    <a:pt x="2935986" y="564515"/>
                  </a:lnTo>
                  <a:close/>
                </a:path>
                <a:path w="3250565" h="1181735">
                  <a:moveTo>
                    <a:pt x="2948051" y="125603"/>
                  </a:moveTo>
                  <a:lnTo>
                    <a:pt x="2943733" y="113665"/>
                  </a:lnTo>
                  <a:lnTo>
                    <a:pt x="2895854" y="130810"/>
                  </a:lnTo>
                  <a:lnTo>
                    <a:pt x="2900172" y="142748"/>
                  </a:lnTo>
                  <a:lnTo>
                    <a:pt x="2948051" y="125603"/>
                  </a:lnTo>
                  <a:close/>
                </a:path>
                <a:path w="3250565" h="1181735">
                  <a:moveTo>
                    <a:pt x="2980563" y="487553"/>
                  </a:moveTo>
                  <a:lnTo>
                    <a:pt x="2969641" y="481203"/>
                  </a:lnTo>
                  <a:lnTo>
                    <a:pt x="2944114" y="525145"/>
                  </a:lnTo>
                  <a:lnTo>
                    <a:pt x="2955163" y="531622"/>
                  </a:lnTo>
                  <a:lnTo>
                    <a:pt x="2980563" y="487553"/>
                  </a:lnTo>
                  <a:close/>
                </a:path>
                <a:path w="3250565" h="1181735">
                  <a:moveTo>
                    <a:pt x="2995803" y="108458"/>
                  </a:moveTo>
                  <a:lnTo>
                    <a:pt x="2991485" y="96520"/>
                  </a:lnTo>
                  <a:lnTo>
                    <a:pt x="2979547" y="100711"/>
                  </a:lnTo>
                  <a:lnTo>
                    <a:pt x="2983865" y="112776"/>
                  </a:lnTo>
                  <a:lnTo>
                    <a:pt x="2995803" y="108458"/>
                  </a:lnTo>
                  <a:close/>
                </a:path>
                <a:path w="3250565" h="1181735">
                  <a:moveTo>
                    <a:pt x="3006090" y="443611"/>
                  </a:moveTo>
                  <a:lnTo>
                    <a:pt x="2995041" y="437261"/>
                  </a:lnTo>
                  <a:lnTo>
                    <a:pt x="2988691" y="448310"/>
                  </a:lnTo>
                  <a:lnTo>
                    <a:pt x="2999613" y="454660"/>
                  </a:lnTo>
                  <a:lnTo>
                    <a:pt x="3006090" y="443611"/>
                  </a:lnTo>
                  <a:close/>
                </a:path>
                <a:path w="3250565" h="1181735">
                  <a:moveTo>
                    <a:pt x="3050540" y="366776"/>
                  </a:moveTo>
                  <a:lnTo>
                    <a:pt x="3039618" y="360426"/>
                  </a:lnTo>
                  <a:lnTo>
                    <a:pt x="3014091" y="404368"/>
                  </a:lnTo>
                  <a:lnTo>
                    <a:pt x="3025140" y="410718"/>
                  </a:lnTo>
                  <a:lnTo>
                    <a:pt x="3050540" y="366776"/>
                  </a:lnTo>
                  <a:close/>
                </a:path>
                <a:path w="3250565" h="1181735">
                  <a:moveTo>
                    <a:pt x="3076067" y="322834"/>
                  </a:moveTo>
                  <a:lnTo>
                    <a:pt x="3065018" y="316357"/>
                  </a:lnTo>
                  <a:lnTo>
                    <a:pt x="3058668" y="327406"/>
                  </a:lnTo>
                  <a:lnTo>
                    <a:pt x="3069717" y="333756"/>
                  </a:lnTo>
                  <a:lnTo>
                    <a:pt x="3076067" y="322834"/>
                  </a:lnTo>
                  <a:close/>
                </a:path>
                <a:path w="3250565" h="1181735">
                  <a:moveTo>
                    <a:pt x="3079496" y="78359"/>
                  </a:moveTo>
                  <a:lnTo>
                    <a:pt x="3075178" y="66421"/>
                  </a:lnTo>
                  <a:lnTo>
                    <a:pt x="3027426" y="83566"/>
                  </a:lnTo>
                  <a:lnTo>
                    <a:pt x="3031617" y="95504"/>
                  </a:lnTo>
                  <a:lnTo>
                    <a:pt x="3079496" y="78359"/>
                  </a:lnTo>
                  <a:close/>
                </a:path>
                <a:path w="3250565" h="1181735">
                  <a:moveTo>
                    <a:pt x="3120644" y="245872"/>
                  </a:moveTo>
                  <a:lnTo>
                    <a:pt x="3109595" y="239522"/>
                  </a:lnTo>
                  <a:lnTo>
                    <a:pt x="3084195" y="283464"/>
                  </a:lnTo>
                  <a:lnTo>
                    <a:pt x="3095117" y="289814"/>
                  </a:lnTo>
                  <a:lnTo>
                    <a:pt x="3120644" y="245872"/>
                  </a:lnTo>
                  <a:close/>
                </a:path>
                <a:path w="3250565" h="1181735">
                  <a:moveTo>
                    <a:pt x="3127248" y="61214"/>
                  </a:moveTo>
                  <a:lnTo>
                    <a:pt x="3122930" y="49276"/>
                  </a:lnTo>
                  <a:lnTo>
                    <a:pt x="3110992" y="53594"/>
                  </a:lnTo>
                  <a:lnTo>
                    <a:pt x="3115310" y="65532"/>
                  </a:lnTo>
                  <a:lnTo>
                    <a:pt x="3127248" y="61214"/>
                  </a:lnTo>
                  <a:close/>
                </a:path>
                <a:path w="3250565" h="1181735">
                  <a:moveTo>
                    <a:pt x="3146044" y="201930"/>
                  </a:moveTo>
                  <a:lnTo>
                    <a:pt x="3135122" y="195580"/>
                  </a:lnTo>
                  <a:lnTo>
                    <a:pt x="3128772" y="206502"/>
                  </a:lnTo>
                  <a:lnTo>
                    <a:pt x="3139694" y="212852"/>
                  </a:lnTo>
                  <a:lnTo>
                    <a:pt x="3146044" y="201930"/>
                  </a:lnTo>
                  <a:close/>
                </a:path>
                <a:path w="3250565" h="1181735">
                  <a:moveTo>
                    <a:pt x="3190621" y="124968"/>
                  </a:moveTo>
                  <a:lnTo>
                    <a:pt x="3179699" y="118618"/>
                  </a:lnTo>
                  <a:lnTo>
                    <a:pt x="3154172" y="162560"/>
                  </a:lnTo>
                  <a:lnTo>
                    <a:pt x="3165221" y="168910"/>
                  </a:lnTo>
                  <a:lnTo>
                    <a:pt x="3190621" y="124968"/>
                  </a:lnTo>
                  <a:close/>
                </a:path>
                <a:path w="3250565" h="1181735">
                  <a:moveTo>
                    <a:pt x="3216148" y="81026"/>
                  </a:moveTo>
                  <a:lnTo>
                    <a:pt x="3205099" y="74676"/>
                  </a:lnTo>
                  <a:lnTo>
                    <a:pt x="3198749" y="85598"/>
                  </a:lnTo>
                  <a:lnTo>
                    <a:pt x="3209798" y="92075"/>
                  </a:lnTo>
                  <a:lnTo>
                    <a:pt x="3216148" y="81026"/>
                  </a:lnTo>
                  <a:close/>
                </a:path>
                <a:path w="3250565" h="1181735">
                  <a:moveTo>
                    <a:pt x="3250565" y="10160"/>
                  </a:moveTo>
                  <a:lnTo>
                    <a:pt x="3165983" y="0"/>
                  </a:lnTo>
                  <a:lnTo>
                    <a:pt x="3176727" y="29946"/>
                  </a:lnTo>
                  <a:lnTo>
                    <a:pt x="3158871" y="36322"/>
                  </a:lnTo>
                  <a:lnTo>
                    <a:pt x="3163189" y="48387"/>
                  </a:lnTo>
                  <a:lnTo>
                    <a:pt x="3181045" y="41935"/>
                  </a:lnTo>
                  <a:lnTo>
                    <a:pt x="3184969" y="52882"/>
                  </a:lnTo>
                  <a:lnTo>
                    <a:pt x="3178683" y="57023"/>
                  </a:lnTo>
                  <a:lnTo>
                    <a:pt x="3188512" y="62738"/>
                  </a:lnTo>
                  <a:lnTo>
                    <a:pt x="3191764" y="71755"/>
                  </a:lnTo>
                  <a:lnTo>
                    <a:pt x="3196145" y="67157"/>
                  </a:lnTo>
                  <a:lnTo>
                    <a:pt x="3244596" y="95250"/>
                  </a:lnTo>
                  <a:lnTo>
                    <a:pt x="3249739" y="11023"/>
                  </a:lnTo>
                  <a:lnTo>
                    <a:pt x="3250565" y="10160"/>
                  </a:lnTo>
                  <a:close/>
                </a:path>
              </a:pathLst>
            </a:custGeom>
            <a:solidFill>
              <a:srgbClr val="433D6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71829" y="2250733"/>
            <a:ext cx="2753360" cy="29580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>
              <a:spcBef>
                <a:spcPts val="147"/>
              </a:spcBef>
              <a:tabLst>
                <a:tab pos="1402045" algn="l"/>
                <a:tab pos="2628834" algn="l"/>
              </a:tabLst>
            </a:pPr>
            <a:r>
              <a:rPr spc="-227" dirty="0">
                <a:latin typeface="Arial Black"/>
                <a:cs typeface="Arial Black"/>
              </a:rPr>
              <a:t>1	1	0</a:t>
            </a:r>
            <a:endParaRPr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1829" y="2882685"/>
            <a:ext cx="2753360" cy="29580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>
              <a:spcBef>
                <a:spcPts val="147"/>
              </a:spcBef>
              <a:tabLst>
                <a:tab pos="1402045" algn="l"/>
                <a:tab pos="2628834" algn="l"/>
              </a:tabLst>
            </a:pPr>
            <a:r>
              <a:rPr spc="-227" dirty="0">
                <a:latin typeface="Arial Black"/>
                <a:cs typeface="Arial Black"/>
              </a:rPr>
              <a:t>2	2	0</a:t>
            </a:r>
            <a:endParaRPr>
              <a:latin typeface="Arial Black"/>
              <a:cs typeface="Arial Black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341309" y="1573277"/>
          <a:ext cx="3940386" cy="5052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2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8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40" dirty="0">
                          <a:latin typeface="Arial"/>
                          <a:cs typeface="Arial"/>
                        </a:rPr>
                        <a:t>Instances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5033" marB="0">
                    <a:lnL w="12700">
                      <a:solidFill>
                        <a:srgbClr val="E10A87"/>
                      </a:solidFill>
                      <a:prstDash val="solid"/>
                    </a:lnL>
                    <a:lnR w="12700">
                      <a:solidFill>
                        <a:srgbClr val="E10A87"/>
                      </a:solidFill>
                      <a:prstDash val="solid"/>
                    </a:lnR>
                    <a:lnT w="12700">
                      <a:solidFill>
                        <a:srgbClr val="E10A8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Quorum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5033" marB="0">
                    <a:lnL w="12700">
                      <a:solidFill>
                        <a:srgbClr val="E10A87"/>
                      </a:solidFill>
                      <a:prstDash val="solid"/>
                    </a:lnL>
                    <a:lnR w="28575">
                      <a:solidFill>
                        <a:srgbClr val="E10A87"/>
                      </a:solidFill>
                      <a:prstDash val="solid"/>
                    </a:lnR>
                    <a:lnT w="12700">
                      <a:solidFill>
                        <a:srgbClr val="E10A8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Fault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35" dirty="0">
                          <a:latin typeface="Arial"/>
                          <a:cs typeface="Arial"/>
                        </a:rPr>
                        <a:t>Tolerance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5033" marB="0">
                    <a:lnL w="28575">
                      <a:solidFill>
                        <a:srgbClr val="E10A87"/>
                      </a:solidFill>
                      <a:prstDash val="solid"/>
                    </a:lnL>
                    <a:lnR w="12700">
                      <a:solidFill>
                        <a:srgbClr val="E10A87"/>
                      </a:solidFill>
                      <a:prstDash val="solid"/>
                    </a:lnR>
                    <a:lnT w="12700">
                      <a:solidFill>
                        <a:srgbClr val="E10A8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8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E10A87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5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47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3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39793" marB="0">
                    <a:lnL w="12700">
                      <a:solidFill>
                        <a:srgbClr val="E10A87"/>
                      </a:solidFill>
                      <a:prstDash val="solid"/>
                    </a:lnL>
                    <a:lnR w="12700">
                      <a:solidFill>
                        <a:srgbClr val="E10A8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2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39793" marB="0">
                    <a:lnL w="12700">
                      <a:solidFill>
                        <a:srgbClr val="E10A87"/>
                      </a:solidFill>
                      <a:prstDash val="solid"/>
                    </a:lnL>
                    <a:lnR w="28575">
                      <a:solidFill>
                        <a:srgbClr val="E10A8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1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39793" marB="0">
                    <a:lnL w="28575">
                      <a:solidFill>
                        <a:srgbClr val="E10A87"/>
                      </a:solidFill>
                      <a:prstDash val="solid"/>
                    </a:lnL>
                    <a:lnR w="12700">
                      <a:solidFill>
                        <a:srgbClr val="E10A87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0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4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71120" marB="0">
                    <a:lnB w="3175">
                      <a:solidFill>
                        <a:srgbClr val="E10A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3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71120" marB="0">
                    <a:lnB w="3175">
                      <a:solidFill>
                        <a:srgbClr val="E10A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1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71120" marB="0">
                    <a:lnR w="12700">
                      <a:solidFill>
                        <a:srgbClr val="E10A87"/>
                      </a:solidFill>
                      <a:prstDash val="solid"/>
                    </a:lnR>
                    <a:lnB w="3175">
                      <a:solidFill>
                        <a:srgbClr val="E10A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7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5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49953" marB="0">
                    <a:lnL w="12700">
                      <a:solidFill>
                        <a:srgbClr val="E10A87"/>
                      </a:solidFill>
                      <a:prstDash val="solid"/>
                    </a:lnL>
                    <a:lnR w="12700">
                      <a:solidFill>
                        <a:srgbClr val="E10A87"/>
                      </a:solidFill>
                      <a:prstDash val="solid"/>
                    </a:lnR>
                    <a:lnT w="3175">
                      <a:solidFill>
                        <a:srgbClr val="E10A8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3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49953" marB="0">
                    <a:lnL w="12700">
                      <a:solidFill>
                        <a:srgbClr val="E10A87"/>
                      </a:solidFill>
                      <a:prstDash val="solid"/>
                    </a:lnL>
                    <a:lnR w="28575">
                      <a:solidFill>
                        <a:srgbClr val="E10A87"/>
                      </a:solidFill>
                      <a:prstDash val="solid"/>
                    </a:lnR>
                    <a:lnT w="3175">
                      <a:solidFill>
                        <a:srgbClr val="E10A8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2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49953" marB="0">
                    <a:lnL w="28575">
                      <a:solidFill>
                        <a:srgbClr val="E10A87"/>
                      </a:solidFill>
                      <a:prstDash val="solid"/>
                    </a:lnL>
                    <a:lnR w="12700">
                      <a:solidFill>
                        <a:srgbClr val="E10A87"/>
                      </a:solidFill>
                      <a:prstDash val="solid"/>
                    </a:lnR>
                    <a:lnT w="3175">
                      <a:solidFill>
                        <a:srgbClr val="E10A8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7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6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80433" marB="0">
                    <a:lnB w="12700">
                      <a:solidFill>
                        <a:srgbClr val="E10A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4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80433" marB="0">
                    <a:lnB w="12700">
                      <a:solidFill>
                        <a:srgbClr val="E10A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2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80433" marB="0">
                    <a:lnR w="12700">
                      <a:solidFill>
                        <a:srgbClr val="E10A87"/>
                      </a:solidFill>
                      <a:prstDash val="solid"/>
                    </a:lnR>
                    <a:lnB w="12700">
                      <a:solidFill>
                        <a:srgbClr val="E10A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65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7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56727" marB="0">
                    <a:lnL w="12700">
                      <a:solidFill>
                        <a:srgbClr val="E10A87"/>
                      </a:solidFill>
                      <a:prstDash val="solid"/>
                    </a:lnL>
                    <a:lnR w="12700">
                      <a:solidFill>
                        <a:srgbClr val="E10A87"/>
                      </a:solidFill>
                      <a:prstDash val="solid"/>
                    </a:lnR>
                    <a:lnT w="12700">
                      <a:solidFill>
                        <a:srgbClr val="E10A87"/>
                      </a:solidFill>
                      <a:prstDash val="solid"/>
                    </a:lnT>
                    <a:lnB w="12700">
                      <a:solidFill>
                        <a:srgbClr val="E10A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4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56727" marB="0">
                    <a:lnL w="12700">
                      <a:solidFill>
                        <a:srgbClr val="E10A87"/>
                      </a:solidFill>
                      <a:prstDash val="solid"/>
                    </a:lnL>
                    <a:lnR w="28575">
                      <a:solidFill>
                        <a:srgbClr val="E10A87"/>
                      </a:solidFill>
                      <a:prstDash val="solid"/>
                    </a:lnR>
                    <a:lnT w="12700">
                      <a:solidFill>
                        <a:srgbClr val="E10A87"/>
                      </a:solidFill>
                      <a:prstDash val="solid"/>
                    </a:lnT>
                    <a:lnB w="12700">
                      <a:solidFill>
                        <a:srgbClr val="E10A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Arial Black"/>
                          <a:cs typeface="Arial Black"/>
                        </a:rPr>
                        <a:t>3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T="56727" marB="0">
                    <a:lnL w="28575">
                      <a:solidFill>
                        <a:srgbClr val="E10A87"/>
                      </a:solidFill>
                      <a:prstDash val="solid"/>
                    </a:lnL>
                    <a:lnR w="12700">
                      <a:solidFill>
                        <a:srgbClr val="E10A87"/>
                      </a:solidFill>
                      <a:prstDash val="solid"/>
                    </a:lnR>
                    <a:lnT w="12700">
                      <a:solidFill>
                        <a:srgbClr val="E10A87"/>
                      </a:solidFill>
                      <a:prstDash val="solid"/>
                    </a:lnT>
                    <a:lnB w="12700">
                      <a:solidFill>
                        <a:srgbClr val="E10A8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470746" y="242194"/>
            <a:ext cx="50927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33" dirty="0">
                <a:solidFill>
                  <a:srgbClr val="115F92"/>
                </a:solidFill>
              </a:rPr>
              <a:t>Number </a:t>
            </a:r>
            <a:r>
              <a:rPr spc="160" dirty="0">
                <a:solidFill>
                  <a:srgbClr val="115F92"/>
                </a:solidFill>
              </a:rPr>
              <a:t>of</a:t>
            </a:r>
            <a:r>
              <a:rPr spc="-900" dirty="0">
                <a:solidFill>
                  <a:srgbClr val="115F92"/>
                </a:solidFill>
              </a:rPr>
              <a:t> </a:t>
            </a:r>
            <a:r>
              <a:rPr spc="160" dirty="0">
                <a:solidFill>
                  <a:srgbClr val="115F92"/>
                </a:solidFill>
              </a:rPr>
              <a:t>Nodes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64017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792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9991343" y="6370319"/>
            <a:ext cx="2032000" cy="487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1589511" y="424856"/>
            <a:ext cx="20912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spc="13" dirty="0">
                <a:solidFill>
                  <a:srgbClr val="FFFFFF"/>
                </a:solidFill>
                <a:latin typeface="Arial"/>
                <a:cs typeface="Arial"/>
              </a:rPr>
              <a:t>84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16208" y="138176"/>
            <a:ext cx="751840" cy="796713"/>
          </a:xfrm>
          <a:custGeom>
            <a:avLst/>
            <a:gdLst/>
            <a:ahLst/>
            <a:cxnLst/>
            <a:rect l="l" t="t" r="r" b="b"/>
            <a:pathLst>
              <a:path w="563879" h="597535">
                <a:moveTo>
                  <a:pt x="297180" y="0"/>
                </a:moveTo>
                <a:lnTo>
                  <a:pt x="272415" y="0"/>
                </a:lnTo>
                <a:lnTo>
                  <a:pt x="272415" y="55499"/>
                </a:lnTo>
                <a:lnTo>
                  <a:pt x="224942" y="62280"/>
                </a:lnTo>
                <a:lnTo>
                  <a:pt x="180682" y="77444"/>
                </a:lnTo>
                <a:lnTo>
                  <a:pt x="140474" y="100126"/>
                </a:lnTo>
                <a:lnTo>
                  <a:pt x="105219" y="129463"/>
                </a:lnTo>
                <a:lnTo>
                  <a:pt x="75755" y="164579"/>
                </a:lnTo>
                <a:lnTo>
                  <a:pt x="52984" y="204609"/>
                </a:lnTo>
                <a:lnTo>
                  <a:pt x="37769" y="248678"/>
                </a:lnTo>
                <a:lnTo>
                  <a:pt x="30988" y="295910"/>
                </a:lnTo>
                <a:lnTo>
                  <a:pt x="0" y="295910"/>
                </a:lnTo>
                <a:lnTo>
                  <a:pt x="0" y="318516"/>
                </a:lnTo>
                <a:lnTo>
                  <a:pt x="55753" y="318516"/>
                </a:lnTo>
                <a:lnTo>
                  <a:pt x="55753" y="308229"/>
                </a:lnTo>
                <a:lnTo>
                  <a:pt x="60426" y="261772"/>
                </a:lnTo>
                <a:lnTo>
                  <a:pt x="73825" y="218541"/>
                </a:lnTo>
                <a:lnTo>
                  <a:pt x="95008" y="179451"/>
                </a:lnTo>
                <a:lnTo>
                  <a:pt x="123037" y="145402"/>
                </a:lnTo>
                <a:lnTo>
                  <a:pt x="156972" y="117335"/>
                </a:lnTo>
                <a:lnTo>
                  <a:pt x="195859" y="96151"/>
                </a:lnTo>
                <a:lnTo>
                  <a:pt x="238760" y="82778"/>
                </a:lnTo>
                <a:lnTo>
                  <a:pt x="284734" y="78105"/>
                </a:lnTo>
                <a:lnTo>
                  <a:pt x="297180" y="78105"/>
                </a:lnTo>
                <a:lnTo>
                  <a:pt x="297180" y="0"/>
                </a:lnTo>
                <a:close/>
              </a:path>
              <a:path w="563879" h="597535">
                <a:moveTo>
                  <a:pt x="473964" y="305562"/>
                </a:moveTo>
                <a:lnTo>
                  <a:pt x="468972" y="261937"/>
                </a:lnTo>
                <a:lnTo>
                  <a:pt x="454748" y="221780"/>
                </a:lnTo>
                <a:lnTo>
                  <a:pt x="449326" y="213182"/>
                </a:lnTo>
                <a:lnTo>
                  <a:pt x="449326" y="305562"/>
                </a:lnTo>
                <a:lnTo>
                  <a:pt x="443407" y="350062"/>
                </a:lnTo>
                <a:lnTo>
                  <a:pt x="426694" y="389915"/>
                </a:lnTo>
                <a:lnTo>
                  <a:pt x="400723" y="423595"/>
                </a:lnTo>
                <a:lnTo>
                  <a:pt x="367042" y="449567"/>
                </a:lnTo>
                <a:lnTo>
                  <a:pt x="327190" y="466280"/>
                </a:lnTo>
                <a:lnTo>
                  <a:pt x="282702" y="472186"/>
                </a:lnTo>
                <a:lnTo>
                  <a:pt x="238912" y="466280"/>
                </a:lnTo>
                <a:lnTo>
                  <a:pt x="199250" y="449567"/>
                </a:lnTo>
                <a:lnTo>
                  <a:pt x="165430" y="423595"/>
                </a:lnTo>
                <a:lnTo>
                  <a:pt x="139153" y="389915"/>
                </a:lnTo>
                <a:lnTo>
                  <a:pt x="122123" y="350062"/>
                </a:lnTo>
                <a:lnTo>
                  <a:pt x="116078" y="305562"/>
                </a:lnTo>
                <a:lnTo>
                  <a:pt x="122123" y="261785"/>
                </a:lnTo>
                <a:lnTo>
                  <a:pt x="139153" y="222123"/>
                </a:lnTo>
                <a:lnTo>
                  <a:pt x="165430" y="188302"/>
                </a:lnTo>
                <a:lnTo>
                  <a:pt x="199250" y="162026"/>
                </a:lnTo>
                <a:lnTo>
                  <a:pt x="238912" y="144995"/>
                </a:lnTo>
                <a:lnTo>
                  <a:pt x="282702" y="138938"/>
                </a:lnTo>
                <a:lnTo>
                  <a:pt x="327190" y="144995"/>
                </a:lnTo>
                <a:lnTo>
                  <a:pt x="367042" y="162026"/>
                </a:lnTo>
                <a:lnTo>
                  <a:pt x="400723" y="188302"/>
                </a:lnTo>
                <a:lnTo>
                  <a:pt x="426694" y="222123"/>
                </a:lnTo>
                <a:lnTo>
                  <a:pt x="443407" y="261785"/>
                </a:lnTo>
                <a:lnTo>
                  <a:pt x="449326" y="305562"/>
                </a:lnTo>
                <a:lnTo>
                  <a:pt x="449326" y="213182"/>
                </a:lnTo>
                <a:lnTo>
                  <a:pt x="402869" y="156552"/>
                </a:lnTo>
                <a:lnTo>
                  <a:pt x="367372" y="133870"/>
                </a:lnTo>
                <a:lnTo>
                  <a:pt x="326961" y="119392"/>
                </a:lnTo>
                <a:lnTo>
                  <a:pt x="282702" y="114300"/>
                </a:lnTo>
                <a:lnTo>
                  <a:pt x="239064" y="119392"/>
                </a:lnTo>
                <a:lnTo>
                  <a:pt x="198907" y="133870"/>
                </a:lnTo>
                <a:lnTo>
                  <a:pt x="163372" y="156552"/>
                </a:lnTo>
                <a:lnTo>
                  <a:pt x="133680" y="186245"/>
                </a:lnTo>
                <a:lnTo>
                  <a:pt x="110998" y="221780"/>
                </a:lnTo>
                <a:lnTo>
                  <a:pt x="96520" y="261937"/>
                </a:lnTo>
                <a:lnTo>
                  <a:pt x="91440" y="305562"/>
                </a:lnTo>
                <a:lnTo>
                  <a:pt x="96520" y="349834"/>
                </a:lnTo>
                <a:lnTo>
                  <a:pt x="110998" y="390245"/>
                </a:lnTo>
                <a:lnTo>
                  <a:pt x="133680" y="425742"/>
                </a:lnTo>
                <a:lnTo>
                  <a:pt x="163372" y="455218"/>
                </a:lnTo>
                <a:lnTo>
                  <a:pt x="198907" y="477621"/>
                </a:lnTo>
                <a:lnTo>
                  <a:pt x="239064" y="491845"/>
                </a:lnTo>
                <a:lnTo>
                  <a:pt x="282702" y="496824"/>
                </a:lnTo>
                <a:lnTo>
                  <a:pt x="326961" y="491845"/>
                </a:lnTo>
                <a:lnTo>
                  <a:pt x="367372" y="477621"/>
                </a:lnTo>
                <a:lnTo>
                  <a:pt x="375970" y="472186"/>
                </a:lnTo>
                <a:lnTo>
                  <a:pt x="402869" y="455218"/>
                </a:lnTo>
                <a:lnTo>
                  <a:pt x="432346" y="425742"/>
                </a:lnTo>
                <a:lnTo>
                  <a:pt x="454748" y="390245"/>
                </a:lnTo>
                <a:lnTo>
                  <a:pt x="468972" y="349834"/>
                </a:lnTo>
                <a:lnTo>
                  <a:pt x="473964" y="305562"/>
                </a:lnTo>
                <a:close/>
              </a:path>
              <a:path w="563879" h="597535">
                <a:moveTo>
                  <a:pt x="563880" y="295656"/>
                </a:moveTo>
                <a:lnTo>
                  <a:pt x="512318" y="295656"/>
                </a:lnTo>
                <a:lnTo>
                  <a:pt x="512318" y="307975"/>
                </a:lnTo>
                <a:lnTo>
                  <a:pt x="507720" y="353720"/>
                </a:lnTo>
                <a:lnTo>
                  <a:pt x="494538" y="396405"/>
                </a:lnTo>
                <a:lnTo>
                  <a:pt x="473633" y="435102"/>
                </a:lnTo>
                <a:lnTo>
                  <a:pt x="445858" y="468858"/>
                </a:lnTo>
                <a:lnTo>
                  <a:pt x="412102" y="496747"/>
                </a:lnTo>
                <a:lnTo>
                  <a:pt x="373227" y="517829"/>
                </a:lnTo>
                <a:lnTo>
                  <a:pt x="330098" y="531164"/>
                </a:lnTo>
                <a:lnTo>
                  <a:pt x="283591" y="535813"/>
                </a:lnTo>
                <a:lnTo>
                  <a:pt x="271272" y="535813"/>
                </a:lnTo>
                <a:lnTo>
                  <a:pt x="271272" y="597408"/>
                </a:lnTo>
                <a:lnTo>
                  <a:pt x="296037" y="597408"/>
                </a:lnTo>
                <a:lnTo>
                  <a:pt x="296037" y="558419"/>
                </a:lnTo>
                <a:lnTo>
                  <a:pt x="343395" y="551700"/>
                </a:lnTo>
                <a:lnTo>
                  <a:pt x="387578" y="536740"/>
                </a:lnTo>
                <a:lnTo>
                  <a:pt x="427697" y="514324"/>
                </a:lnTo>
                <a:lnTo>
                  <a:pt x="462889" y="485254"/>
                </a:lnTo>
                <a:lnTo>
                  <a:pt x="492302" y="450316"/>
                </a:lnTo>
                <a:lnTo>
                  <a:pt x="515035" y="410311"/>
                </a:lnTo>
                <a:lnTo>
                  <a:pt x="530250" y="366039"/>
                </a:lnTo>
                <a:lnTo>
                  <a:pt x="537083" y="318262"/>
                </a:lnTo>
                <a:lnTo>
                  <a:pt x="563880" y="318262"/>
                </a:lnTo>
                <a:lnTo>
                  <a:pt x="563880" y="29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1" y="2185756"/>
            <a:ext cx="5425439" cy="4672753"/>
          </a:xfrm>
          <a:custGeom>
            <a:avLst/>
            <a:gdLst/>
            <a:ahLst/>
            <a:cxnLst/>
            <a:rect l="l" t="t" r="r" b="b"/>
            <a:pathLst>
              <a:path w="4069079" h="3504565">
                <a:moveTo>
                  <a:pt x="43994" y="3450892"/>
                </a:moveTo>
                <a:lnTo>
                  <a:pt x="21947" y="3454098"/>
                </a:lnTo>
                <a:lnTo>
                  <a:pt x="2405" y="3466668"/>
                </a:lnTo>
                <a:lnTo>
                  <a:pt x="0" y="3469696"/>
                </a:lnTo>
                <a:lnTo>
                  <a:pt x="0" y="3504183"/>
                </a:lnTo>
                <a:lnTo>
                  <a:pt x="104762" y="3504183"/>
                </a:lnTo>
                <a:lnTo>
                  <a:pt x="104201" y="3500395"/>
                </a:lnTo>
                <a:lnTo>
                  <a:pt x="102271" y="3493373"/>
                </a:lnTo>
                <a:lnTo>
                  <a:pt x="124274" y="3483386"/>
                </a:lnTo>
                <a:lnTo>
                  <a:pt x="98935" y="3483386"/>
                </a:lnTo>
                <a:lnTo>
                  <a:pt x="85611" y="3470062"/>
                </a:lnTo>
                <a:lnTo>
                  <a:pt x="66047" y="3456422"/>
                </a:lnTo>
                <a:lnTo>
                  <a:pt x="43994" y="3450892"/>
                </a:lnTo>
                <a:close/>
              </a:path>
              <a:path w="4069079" h="3504565">
                <a:moveTo>
                  <a:pt x="184341" y="3460151"/>
                </a:moveTo>
                <a:lnTo>
                  <a:pt x="175463" y="3460151"/>
                </a:lnTo>
                <a:lnTo>
                  <a:pt x="162098" y="3504183"/>
                </a:lnTo>
                <a:lnTo>
                  <a:pt x="169698" y="3504183"/>
                </a:lnTo>
                <a:lnTo>
                  <a:pt x="184341" y="3460151"/>
                </a:lnTo>
                <a:close/>
              </a:path>
              <a:path w="4069079" h="3504565">
                <a:moveTo>
                  <a:pt x="387770" y="3377120"/>
                </a:moveTo>
                <a:lnTo>
                  <a:pt x="385064" y="3377120"/>
                </a:lnTo>
                <a:lnTo>
                  <a:pt x="358945" y="3504183"/>
                </a:lnTo>
                <a:lnTo>
                  <a:pt x="364046" y="3504183"/>
                </a:lnTo>
                <a:lnTo>
                  <a:pt x="387770" y="3377120"/>
                </a:lnTo>
                <a:close/>
              </a:path>
              <a:path w="4069079" h="3504565">
                <a:moveTo>
                  <a:pt x="2584417" y="2520137"/>
                </a:moveTo>
                <a:lnTo>
                  <a:pt x="2467737" y="2520137"/>
                </a:lnTo>
                <a:lnTo>
                  <a:pt x="2464435" y="2523464"/>
                </a:lnTo>
                <a:lnTo>
                  <a:pt x="2467864" y="2526792"/>
                </a:lnTo>
                <a:lnTo>
                  <a:pt x="1226801" y="3504183"/>
                </a:lnTo>
                <a:lnTo>
                  <a:pt x="1235267" y="3504183"/>
                </a:lnTo>
                <a:lnTo>
                  <a:pt x="2471166" y="2536786"/>
                </a:lnTo>
                <a:lnTo>
                  <a:pt x="2579779" y="2536786"/>
                </a:lnTo>
                <a:lnTo>
                  <a:pt x="2583894" y="2524810"/>
                </a:lnTo>
                <a:lnTo>
                  <a:pt x="2584417" y="2520137"/>
                </a:lnTo>
                <a:close/>
              </a:path>
              <a:path w="4069079" h="3504565">
                <a:moveTo>
                  <a:pt x="2579779" y="2536786"/>
                </a:moveTo>
                <a:lnTo>
                  <a:pt x="2471166" y="2536786"/>
                </a:lnTo>
                <a:lnTo>
                  <a:pt x="2474468" y="2540114"/>
                </a:lnTo>
                <a:lnTo>
                  <a:pt x="2477770" y="2550109"/>
                </a:lnTo>
                <a:lnTo>
                  <a:pt x="2481199" y="2553436"/>
                </a:lnTo>
                <a:lnTo>
                  <a:pt x="2487803" y="2560091"/>
                </a:lnTo>
                <a:lnTo>
                  <a:pt x="2173777" y="3504183"/>
                </a:lnTo>
                <a:lnTo>
                  <a:pt x="2184921" y="3504183"/>
                </a:lnTo>
                <a:lnTo>
                  <a:pt x="2497836" y="2563431"/>
                </a:lnTo>
                <a:lnTo>
                  <a:pt x="2554889" y="2563431"/>
                </a:lnTo>
                <a:lnTo>
                  <a:pt x="2564384" y="2556827"/>
                </a:lnTo>
                <a:lnTo>
                  <a:pt x="2577455" y="2556827"/>
                </a:lnTo>
                <a:lnTo>
                  <a:pt x="2570988" y="2550172"/>
                </a:lnTo>
                <a:lnTo>
                  <a:pt x="2579161" y="2538585"/>
                </a:lnTo>
                <a:lnTo>
                  <a:pt x="2579779" y="2536786"/>
                </a:lnTo>
                <a:close/>
              </a:path>
              <a:path w="4069079" h="3504565">
                <a:moveTo>
                  <a:pt x="2554889" y="2563431"/>
                </a:moveTo>
                <a:lnTo>
                  <a:pt x="2497836" y="2563431"/>
                </a:lnTo>
                <a:lnTo>
                  <a:pt x="2343940" y="3504183"/>
                </a:lnTo>
                <a:lnTo>
                  <a:pt x="2352424" y="3504183"/>
                </a:lnTo>
                <a:lnTo>
                  <a:pt x="2507742" y="2566771"/>
                </a:lnTo>
                <a:lnTo>
                  <a:pt x="2546764" y="2566771"/>
                </a:lnTo>
                <a:lnTo>
                  <a:pt x="2552729" y="2564933"/>
                </a:lnTo>
                <a:lnTo>
                  <a:pt x="2554889" y="2563431"/>
                </a:lnTo>
                <a:close/>
              </a:path>
              <a:path w="4069079" h="3504565">
                <a:moveTo>
                  <a:pt x="2577455" y="2556827"/>
                </a:moveTo>
                <a:lnTo>
                  <a:pt x="2564384" y="2556827"/>
                </a:lnTo>
                <a:lnTo>
                  <a:pt x="3257169" y="3262960"/>
                </a:lnTo>
                <a:lnTo>
                  <a:pt x="3250307" y="3283335"/>
                </a:lnTo>
                <a:lnTo>
                  <a:pt x="3255347" y="3322862"/>
                </a:lnTo>
                <a:lnTo>
                  <a:pt x="3277235" y="3342855"/>
                </a:lnTo>
                <a:lnTo>
                  <a:pt x="3189972" y="3504183"/>
                </a:lnTo>
                <a:lnTo>
                  <a:pt x="3195073" y="3504183"/>
                </a:lnTo>
                <a:lnTo>
                  <a:pt x="3280537" y="3346183"/>
                </a:lnTo>
                <a:lnTo>
                  <a:pt x="3344304" y="3346183"/>
                </a:lnTo>
                <a:lnTo>
                  <a:pt x="3353689" y="3339579"/>
                </a:lnTo>
                <a:lnTo>
                  <a:pt x="3366833" y="3319517"/>
                </a:lnTo>
                <a:lnTo>
                  <a:pt x="3371215" y="3296331"/>
                </a:lnTo>
                <a:lnTo>
                  <a:pt x="3366833" y="3273137"/>
                </a:lnTo>
                <a:lnTo>
                  <a:pt x="3357994" y="3259632"/>
                </a:lnTo>
                <a:lnTo>
                  <a:pt x="3260471" y="3259632"/>
                </a:lnTo>
                <a:lnTo>
                  <a:pt x="2577455" y="2556827"/>
                </a:lnTo>
                <a:close/>
              </a:path>
              <a:path w="4069079" h="3504565">
                <a:moveTo>
                  <a:pt x="0" y="2253388"/>
                </a:moveTo>
                <a:lnTo>
                  <a:pt x="0" y="2259722"/>
                </a:lnTo>
                <a:lnTo>
                  <a:pt x="533984" y="2322220"/>
                </a:lnTo>
                <a:lnTo>
                  <a:pt x="533317" y="2335166"/>
                </a:lnTo>
                <a:lnTo>
                  <a:pt x="550722" y="2372220"/>
                </a:lnTo>
                <a:lnTo>
                  <a:pt x="563981" y="2378824"/>
                </a:lnTo>
                <a:lnTo>
                  <a:pt x="182118" y="3453500"/>
                </a:lnTo>
                <a:lnTo>
                  <a:pt x="98935" y="3483386"/>
                </a:lnTo>
                <a:lnTo>
                  <a:pt x="124274" y="3483386"/>
                </a:lnTo>
                <a:lnTo>
                  <a:pt x="175463" y="3460151"/>
                </a:lnTo>
                <a:lnTo>
                  <a:pt x="184341" y="3460151"/>
                </a:lnTo>
                <a:lnTo>
                  <a:pt x="185445" y="3456832"/>
                </a:lnTo>
                <a:lnTo>
                  <a:pt x="210443" y="3446849"/>
                </a:lnTo>
                <a:lnTo>
                  <a:pt x="188760" y="3446849"/>
                </a:lnTo>
                <a:lnTo>
                  <a:pt x="570649" y="2385479"/>
                </a:lnTo>
                <a:lnTo>
                  <a:pt x="615455" y="2385479"/>
                </a:lnTo>
                <a:lnTo>
                  <a:pt x="623684" y="2382296"/>
                </a:lnTo>
                <a:lnTo>
                  <a:pt x="651211" y="2344147"/>
                </a:lnTo>
                <a:lnTo>
                  <a:pt x="653808" y="2335618"/>
                </a:lnTo>
                <a:lnTo>
                  <a:pt x="719740" y="2335618"/>
                </a:lnTo>
                <a:lnTo>
                  <a:pt x="653796" y="2328964"/>
                </a:lnTo>
                <a:lnTo>
                  <a:pt x="653707" y="2322220"/>
                </a:lnTo>
                <a:lnTo>
                  <a:pt x="650468" y="2318981"/>
                </a:lnTo>
                <a:lnTo>
                  <a:pt x="650462" y="2315552"/>
                </a:lnTo>
                <a:lnTo>
                  <a:pt x="533971" y="2315552"/>
                </a:lnTo>
                <a:lnTo>
                  <a:pt x="0" y="2253388"/>
                </a:lnTo>
                <a:close/>
              </a:path>
              <a:path w="4069079" h="3504565">
                <a:moveTo>
                  <a:pt x="615455" y="2385479"/>
                </a:moveTo>
                <a:lnTo>
                  <a:pt x="570649" y="2385479"/>
                </a:lnTo>
                <a:lnTo>
                  <a:pt x="385064" y="3370465"/>
                </a:lnTo>
                <a:lnTo>
                  <a:pt x="188760" y="3446849"/>
                </a:lnTo>
                <a:lnTo>
                  <a:pt x="210443" y="3446849"/>
                </a:lnTo>
                <a:lnTo>
                  <a:pt x="385064" y="3377120"/>
                </a:lnTo>
                <a:lnTo>
                  <a:pt x="387770" y="3377120"/>
                </a:lnTo>
                <a:lnTo>
                  <a:pt x="388391" y="3373793"/>
                </a:lnTo>
                <a:lnTo>
                  <a:pt x="412706" y="3363810"/>
                </a:lnTo>
                <a:lnTo>
                  <a:pt x="391718" y="3363810"/>
                </a:lnTo>
                <a:lnTo>
                  <a:pt x="580631" y="2388819"/>
                </a:lnTo>
                <a:lnTo>
                  <a:pt x="602813" y="2388819"/>
                </a:lnTo>
                <a:lnTo>
                  <a:pt x="608918" y="2388006"/>
                </a:lnTo>
                <a:lnTo>
                  <a:pt x="615455" y="2385479"/>
                </a:lnTo>
                <a:close/>
              </a:path>
              <a:path w="4069079" h="3504565">
                <a:moveTo>
                  <a:pt x="719740" y="2335618"/>
                </a:moveTo>
                <a:lnTo>
                  <a:pt x="653808" y="2335618"/>
                </a:lnTo>
                <a:lnTo>
                  <a:pt x="740346" y="2342349"/>
                </a:lnTo>
                <a:lnTo>
                  <a:pt x="2467737" y="2500172"/>
                </a:lnTo>
                <a:lnTo>
                  <a:pt x="2464435" y="2503500"/>
                </a:lnTo>
                <a:lnTo>
                  <a:pt x="2464435" y="2510155"/>
                </a:lnTo>
                <a:lnTo>
                  <a:pt x="2467737" y="2513482"/>
                </a:lnTo>
                <a:lnTo>
                  <a:pt x="391718" y="3363810"/>
                </a:lnTo>
                <a:lnTo>
                  <a:pt x="412706" y="3363810"/>
                </a:lnTo>
                <a:lnTo>
                  <a:pt x="2467737" y="2520137"/>
                </a:lnTo>
                <a:lnTo>
                  <a:pt x="2584417" y="2520137"/>
                </a:lnTo>
                <a:lnTo>
                  <a:pt x="2585507" y="2510407"/>
                </a:lnTo>
                <a:lnTo>
                  <a:pt x="2584323" y="2496934"/>
                </a:lnTo>
                <a:lnTo>
                  <a:pt x="2684003" y="2490279"/>
                </a:lnTo>
                <a:lnTo>
                  <a:pt x="2584196" y="2490279"/>
                </a:lnTo>
                <a:lnTo>
                  <a:pt x="2471039" y="2490190"/>
                </a:lnTo>
                <a:lnTo>
                  <a:pt x="719740" y="2335618"/>
                </a:lnTo>
                <a:close/>
              </a:path>
              <a:path w="4069079" h="3504565">
                <a:moveTo>
                  <a:pt x="3344304" y="3346183"/>
                </a:moveTo>
                <a:lnTo>
                  <a:pt x="3280537" y="3346183"/>
                </a:lnTo>
                <a:lnTo>
                  <a:pt x="3300414" y="3353582"/>
                </a:lnTo>
                <a:lnTo>
                  <a:pt x="3319637" y="3355363"/>
                </a:lnTo>
                <a:lnTo>
                  <a:pt x="3337597" y="3350903"/>
                </a:lnTo>
                <a:lnTo>
                  <a:pt x="3344304" y="3346183"/>
                </a:lnTo>
                <a:close/>
              </a:path>
              <a:path w="4069079" h="3504565">
                <a:moveTo>
                  <a:pt x="3305841" y="3235952"/>
                </a:moveTo>
                <a:lnTo>
                  <a:pt x="3284807" y="3241187"/>
                </a:lnTo>
                <a:lnTo>
                  <a:pt x="3267202" y="3252978"/>
                </a:lnTo>
                <a:lnTo>
                  <a:pt x="3263773" y="3256305"/>
                </a:lnTo>
                <a:lnTo>
                  <a:pt x="3260471" y="3259632"/>
                </a:lnTo>
                <a:lnTo>
                  <a:pt x="3357994" y="3259632"/>
                </a:lnTo>
                <a:lnTo>
                  <a:pt x="3353689" y="3253054"/>
                </a:lnTo>
                <a:lnTo>
                  <a:pt x="3350387" y="3249726"/>
                </a:lnTo>
                <a:lnTo>
                  <a:pt x="3353204" y="3246386"/>
                </a:lnTo>
                <a:lnTo>
                  <a:pt x="3346958" y="3246386"/>
                </a:lnTo>
                <a:lnTo>
                  <a:pt x="3327495" y="3237581"/>
                </a:lnTo>
                <a:lnTo>
                  <a:pt x="3305841" y="3235952"/>
                </a:lnTo>
                <a:close/>
              </a:path>
              <a:path w="4069079" h="3504565">
                <a:moveTo>
                  <a:pt x="4068572" y="2398293"/>
                </a:moveTo>
                <a:lnTo>
                  <a:pt x="4061841" y="2398293"/>
                </a:lnTo>
                <a:lnTo>
                  <a:pt x="3346958" y="3246386"/>
                </a:lnTo>
                <a:lnTo>
                  <a:pt x="3353204" y="3246386"/>
                </a:lnTo>
                <a:lnTo>
                  <a:pt x="4068572" y="2398293"/>
                </a:lnTo>
                <a:close/>
              </a:path>
              <a:path w="4069079" h="3504565">
                <a:moveTo>
                  <a:pt x="2546764" y="2566771"/>
                </a:moveTo>
                <a:lnTo>
                  <a:pt x="2507742" y="2566771"/>
                </a:lnTo>
                <a:lnTo>
                  <a:pt x="2523182" y="2569902"/>
                </a:lnTo>
                <a:lnTo>
                  <a:pt x="2538587" y="2569290"/>
                </a:lnTo>
                <a:lnTo>
                  <a:pt x="2546764" y="2566771"/>
                </a:lnTo>
                <a:close/>
              </a:path>
              <a:path w="4069079" h="3504565">
                <a:moveTo>
                  <a:pt x="4068572" y="2391638"/>
                </a:moveTo>
                <a:lnTo>
                  <a:pt x="2584196" y="2490279"/>
                </a:lnTo>
                <a:lnTo>
                  <a:pt x="2684003" y="2490279"/>
                </a:lnTo>
                <a:lnTo>
                  <a:pt x="4061841" y="2398293"/>
                </a:lnTo>
                <a:lnTo>
                  <a:pt x="4068572" y="2398293"/>
                </a:lnTo>
                <a:lnTo>
                  <a:pt x="4065270" y="2394966"/>
                </a:lnTo>
                <a:lnTo>
                  <a:pt x="4068572" y="2391638"/>
                </a:lnTo>
                <a:close/>
              </a:path>
              <a:path w="4069079" h="3504565">
                <a:moveTo>
                  <a:pt x="2525966" y="2451133"/>
                </a:moveTo>
                <a:lnTo>
                  <a:pt x="2503908" y="2456629"/>
                </a:lnTo>
                <a:lnTo>
                  <a:pt x="2484374" y="2470238"/>
                </a:lnTo>
                <a:lnTo>
                  <a:pt x="2477770" y="2476881"/>
                </a:lnTo>
                <a:lnTo>
                  <a:pt x="2471039" y="2483535"/>
                </a:lnTo>
                <a:lnTo>
                  <a:pt x="2471039" y="2490190"/>
                </a:lnTo>
                <a:lnTo>
                  <a:pt x="2584124" y="2490190"/>
                </a:lnTo>
                <a:lnTo>
                  <a:pt x="2579756" y="2484766"/>
                </a:lnTo>
                <a:lnTo>
                  <a:pt x="2572069" y="2472487"/>
                </a:lnTo>
                <a:lnTo>
                  <a:pt x="2567559" y="2466975"/>
                </a:lnTo>
                <a:lnTo>
                  <a:pt x="2548024" y="2454374"/>
                </a:lnTo>
                <a:lnTo>
                  <a:pt x="2525966" y="2451133"/>
                </a:lnTo>
                <a:close/>
              </a:path>
              <a:path w="4069079" h="3504565">
                <a:moveTo>
                  <a:pt x="602813" y="2388819"/>
                </a:moveTo>
                <a:lnTo>
                  <a:pt x="580631" y="2388819"/>
                </a:lnTo>
                <a:lnTo>
                  <a:pt x="594150" y="2389972"/>
                </a:lnTo>
                <a:lnTo>
                  <a:pt x="602813" y="2388819"/>
                </a:lnTo>
                <a:close/>
              </a:path>
              <a:path w="4069079" h="3504565">
                <a:moveTo>
                  <a:pt x="1570482" y="0"/>
                </a:moveTo>
                <a:lnTo>
                  <a:pt x="1567180" y="3301"/>
                </a:lnTo>
                <a:lnTo>
                  <a:pt x="607161" y="2269020"/>
                </a:lnTo>
                <a:lnTo>
                  <a:pt x="591765" y="2269738"/>
                </a:lnTo>
                <a:lnTo>
                  <a:pt x="550595" y="2285619"/>
                </a:lnTo>
                <a:lnTo>
                  <a:pt x="533971" y="2315552"/>
                </a:lnTo>
                <a:lnTo>
                  <a:pt x="650462" y="2315552"/>
                </a:lnTo>
                <a:lnTo>
                  <a:pt x="650455" y="2312327"/>
                </a:lnTo>
                <a:lnTo>
                  <a:pt x="665407" y="2308999"/>
                </a:lnTo>
                <a:lnTo>
                  <a:pt x="647128" y="2308999"/>
                </a:lnTo>
                <a:lnTo>
                  <a:pt x="647128" y="2302332"/>
                </a:lnTo>
                <a:lnTo>
                  <a:pt x="643788" y="2292350"/>
                </a:lnTo>
                <a:lnTo>
                  <a:pt x="633793" y="2282355"/>
                </a:lnTo>
                <a:lnTo>
                  <a:pt x="627138" y="2282355"/>
                </a:lnTo>
                <a:lnTo>
                  <a:pt x="623811" y="2279027"/>
                </a:lnTo>
                <a:lnTo>
                  <a:pt x="626136" y="2275687"/>
                </a:lnTo>
                <a:lnTo>
                  <a:pt x="613816" y="2275687"/>
                </a:lnTo>
                <a:lnTo>
                  <a:pt x="1570482" y="19938"/>
                </a:lnTo>
                <a:lnTo>
                  <a:pt x="1574133" y="19938"/>
                </a:lnTo>
                <a:lnTo>
                  <a:pt x="1573784" y="3301"/>
                </a:lnTo>
                <a:lnTo>
                  <a:pt x="1570482" y="0"/>
                </a:lnTo>
                <a:close/>
              </a:path>
              <a:path w="4069079" h="3504565">
                <a:moveTo>
                  <a:pt x="1649608" y="925322"/>
                </a:moveTo>
                <a:lnTo>
                  <a:pt x="1637792" y="925322"/>
                </a:lnTo>
                <a:lnTo>
                  <a:pt x="3052953" y="1735201"/>
                </a:lnTo>
                <a:lnTo>
                  <a:pt x="3049063" y="1745182"/>
                </a:lnTo>
                <a:lnTo>
                  <a:pt x="3047079" y="1755140"/>
                </a:lnTo>
                <a:lnTo>
                  <a:pt x="3046380" y="1765097"/>
                </a:lnTo>
                <a:lnTo>
                  <a:pt x="3046349" y="1775079"/>
                </a:lnTo>
                <a:lnTo>
                  <a:pt x="647128" y="2308999"/>
                </a:lnTo>
                <a:lnTo>
                  <a:pt x="665407" y="2308999"/>
                </a:lnTo>
                <a:lnTo>
                  <a:pt x="3049651" y="1778381"/>
                </a:lnTo>
                <a:lnTo>
                  <a:pt x="3163802" y="1778381"/>
                </a:lnTo>
                <a:lnTo>
                  <a:pt x="3166903" y="1761871"/>
                </a:lnTo>
                <a:lnTo>
                  <a:pt x="3162546" y="1738669"/>
                </a:lnTo>
                <a:lnTo>
                  <a:pt x="3155914" y="1728470"/>
                </a:lnTo>
                <a:lnTo>
                  <a:pt x="3059557" y="1728470"/>
                </a:lnTo>
                <a:lnTo>
                  <a:pt x="1649608" y="925322"/>
                </a:lnTo>
                <a:close/>
              </a:path>
              <a:path w="4069079" h="3504565">
                <a:moveTo>
                  <a:pt x="617143" y="2272360"/>
                </a:moveTo>
                <a:lnTo>
                  <a:pt x="613816" y="2275687"/>
                </a:lnTo>
                <a:lnTo>
                  <a:pt x="620471" y="2275687"/>
                </a:lnTo>
                <a:lnTo>
                  <a:pt x="617143" y="2272360"/>
                </a:lnTo>
                <a:close/>
              </a:path>
              <a:path w="4069079" h="3504565">
                <a:moveTo>
                  <a:pt x="1574133" y="19938"/>
                </a:moveTo>
                <a:lnTo>
                  <a:pt x="1570482" y="19938"/>
                </a:lnTo>
                <a:lnTo>
                  <a:pt x="1584452" y="832104"/>
                </a:lnTo>
                <a:lnTo>
                  <a:pt x="1572079" y="834683"/>
                </a:lnTo>
                <a:lnTo>
                  <a:pt x="1528145" y="868719"/>
                </a:lnTo>
                <a:lnTo>
                  <a:pt x="1523793" y="891921"/>
                </a:lnTo>
                <a:lnTo>
                  <a:pt x="1528181" y="915122"/>
                </a:lnTo>
                <a:lnTo>
                  <a:pt x="1541272" y="935228"/>
                </a:lnTo>
                <a:lnTo>
                  <a:pt x="1544574" y="938530"/>
                </a:lnTo>
                <a:lnTo>
                  <a:pt x="1548002" y="941832"/>
                </a:lnTo>
                <a:lnTo>
                  <a:pt x="620471" y="2275687"/>
                </a:lnTo>
                <a:lnTo>
                  <a:pt x="626136" y="2275687"/>
                </a:lnTo>
                <a:lnTo>
                  <a:pt x="1554607" y="941832"/>
                </a:lnTo>
                <a:lnTo>
                  <a:pt x="1618480" y="941832"/>
                </a:lnTo>
                <a:lnTo>
                  <a:pt x="1627758" y="935228"/>
                </a:lnTo>
                <a:lnTo>
                  <a:pt x="1631188" y="931926"/>
                </a:lnTo>
                <a:lnTo>
                  <a:pt x="1637792" y="925322"/>
                </a:lnTo>
                <a:lnTo>
                  <a:pt x="1649608" y="925322"/>
                </a:lnTo>
                <a:lnTo>
                  <a:pt x="1637792" y="918591"/>
                </a:lnTo>
                <a:lnTo>
                  <a:pt x="1643207" y="900676"/>
                </a:lnTo>
                <a:lnTo>
                  <a:pt x="1643967" y="882427"/>
                </a:lnTo>
                <a:lnTo>
                  <a:pt x="1619668" y="841908"/>
                </a:lnTo>
                <a:lnTo>
                  <a:pt x="1591183" y="832104"/>
                </a:lnTo>
                <a:lnTo>
                  <a:pt x="1574133" y="19938"/>
                </a:lnTo>
                <a:close/>
              </a:path>
              <a:path w="4069079" h="3504565">
                <a:moveTo>
                  <a:pt x="3163802" y="1778381"/>
                </a:moveTo>
                <a:lnTo>
                  <a:pt x="3049651" y="1778381"/>
                </a:lnTo>
                <a:lnTo>
                  <a:pt x="3052181" y="1785852"/>
                </a:lnTo>
                <a:lnTo>
                  <a:pt x="3083036" y="1818197"/>
                </a:lnTo>
                <a:lnTo>
                  <a:pt x="3106229" y="1822592"/>
                </a:lnTo>
                <a:lnTo>
                  <a:pt x="3129422" y="1818249"/>
                </a:lnTo>
                <a:lnTo>
                  <a:pt x="3149473" y="1805178"/>
                </a:lnTo>
                <a:lnTo>
                  <a:pt x="3162546" y="1785072"/>
                </a:lnTo>
                <a:lnTo>
                  <a:pt x="3163802" y="1778381"/>
                </a:lnTo>
                <a:close/>
              </a:path>
              <a:path w="4069079" h="3504565">
                <a:moveTo>
                  <a:pt x="3106166" y="1701133"/>
                </a:moveTo>
                <a:lnTo>
                  <a:pt x="3082964" y="1705490"/>
                </a:lnTo>
                <a:lnTo>
                  <a:pt x="3062859" y="1718564"/>
                </a:lnTo>
                <a:lnTo>
                  <a:pt x="3059557" y="1721866"/>
                </a:lnTo>
                <a:lnTo>
                  <a:pt x="3059557" y="1728470"/>
                </a:lnTo>
                <a:lnTo>
                  <a:pt x="3155914" y="1728470"/>
                </a:lnTo>
                <a:lnTo>
                  <a:pt x="3149473" y="1718564"/>
                </a:lnTo>
                <a:lnTo>
                  <a:pt x="3129367" y="1705490"/>
                </a:lnTo>
                <a:lnTo>
                  <a:pt x="3106166" y="1701133"/>
                </a:lnTo>
                <a:close/>
              </a:path>
              <a:path w="4069079" h="3504565">
                <a:moveTo>
                  <a:pt x="1618480" y="941832"/>
                </a:moveTo>
                <a:lnTo>
                  <a:pt x="1554607" y="941832"/>
                </a:lnTo>
                <a:lnTo>
                  <a:pt x="1573091" y="950622"/>
                </a:lnTo>
                <a:lnTo>
                  <a:pt x="1592468" y="952246"/>
                </a:lnTo>
                <a:lnTo>
                  <a:pt x="1611203" y="947011"/>
                </a:lnTo>
                <a:lnTo>
                  <a:pt x="1618480" y="941832"/>
                </a:lnTo>
                <a:close/>
              </a:path>
            </a:pathLst>
          </a:custGeom>
          <a:solidFill>
            <a:srgbClr val="FFFFFF">
              <a:alpha val="25097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68309" y="2027159"/>
            <a:ext cx="6721687" cy="1897955"/>
          </a:xfrm>
          <a:prstGeom prst="rect">
            <a:avLst/>
          </a:prstGeom>
        </p:spPr>
        <p:txBody>
          <a:bodyPr vert="horz" wrap="square" lIns="0" tIns="127000" rIns="0" bIns="0" rtlCol="0" anchor="ctr">
            <a:spAutoFit/>
          </a:bodyPr>
          <a:lstStyle/>
          <a:p>
            <a:pPr marL="16933" marR="6773">
              <a:lnSpc>
                <a:spcPts val="6920"/>
              </a:lnSpc>
              <a:spcBef>
                <a:spcPts val="1000"/>
              </a:spcBef>
            </a:pPr>
            <a:r>
              <a:rPr sz="6400" spc="80" dirty="0"/>
              <a:t>Kubernetes  </a:t>
            </a:r>
            <a:r>
              <a:rPr sz="6400" spc="60" dirty="0"/>
              <a:t>Release</a:t>
            </a:r>
            <a:r>
              <a:rPr sz="6400" spc="-593" dirty="0"/>
              <a:t> </a:t>
            </a:r>
            <a:r>
              <a:rPr sz="6400" spc="-7" dirty="0"/>
              <a:t>Binaries</a:t>
            </a:r>
            <a:endParaRPr sz="6400" dirty="0"/>
          </a:p>
        </p:txBody>
      </p:sp>
    </p:spTree>
    <p:extLst>
      <p:ext uri="{BB962C8B-B14F-4D97-AF65-F5344CB8AC3E}">
        <p14:creationId xmlns:p14="http://schemas.microsoft.com/office/powerpoint/2010/main" val="4144880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4515" y="440927"/>
            <a:ext cx="11609493" cy="6320367"/>
            <a:chOff x="310886" y="330695"/>
            <a:chExt cx="8707120" cy="4740275"/>
          </a:xfrm>
        </p:grpSpPr>
        <p:sp>
          <p:nvSpPr>
            <p:cNvPr id="3" name="object 3"/>
            <p:cNvSpPr/>
            <p:nvPr/>
          </p:nvSpPr>
          <p:spPr>
            <a:xfrm>
              <a:off x="7493508" y="4863083"/>
              <a:ext cx="1524000" cy="2072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310886" y="330695"/>
              <a:ext cx="8517655" cy="45232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358140" y="359663"/>
              <a:ext cx="8427720" cy="4424680"/>
            </a:xfrm>
            <a:custGeom>
              <a:avLst/>
              <a:gdLst/>
              <a:ahLst/>
              <a:cxnLst/>
              <a:rect l="l" t="t" r="r" b="b"/>
              <a:pathLst>
                <a:path w="8427720" h="4424680">
                  <a:moveTo>
                    <a:pt x="8427720" y="0"/>
                  </a:moveTo>
                  <a:lnTo>
                    <a:pt x="0" y="0"/>
                  </a:lnTo>
                  <a:lnTo>
                    <a:pt x="0" y="4424172"/>
                  </a:lnTo>
                  <a:lnTo>
                    <a:pt x="8427720" y="4424172"/>
                  </a:lnTo>
                  <a:lnTo>
                    <a:pt x="8427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483107" y="720852"/>
              <a:ext cx="8177783" cy="37017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884335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4515" y="440927"/>
            <a:ext cx="11609493" cy="6320367"/>
            <a:chOff x="310886" y="330695"/>
            <a:chExt cx="8707120" cy="4740275"/>
          </a:xfrm>
        </p:grpSpPr>
        <p:sp>
          <p:nvSpPr>
            <p:cNvPr id="3" name="object 3"/>
            <p:cNvSpPr/>
            <p:nvPr/>
          </p:nvSpPr>
          <p:spPr>
            <a:xfrm>
              <a:off x="7493508" y="4863083"/>
              <a:ext cx="1524000" cy="2072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310886" y="330695"/>
              <a:ext cx="8517655" cy="45232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358140" y="359663"/>
              <a:ext cx="8427720" cy="4424680"/>
            </a:xfrm>
            <a:custGeom>
              <a:avLst/>
              <a:gdLst/>
              <a:ahLst/>
              <a:cxnLst/>
              <a:rect l="l" t="t" r="r" b="b"/>
              <a:pathLst>
                <a:path w="8427720" h="4424680">
                  <a:moveTo>
                    <a:pt x="8427720" y="0"/>
                  </a:moveTo>
                  <a:lnTo>
                    <a:pt x="0" y="0"/>
                  </a:lnTo>
                  <a:lnTo>
                    <a:pt x="0" y="4424172"/>
                  </a:lnTo>
                  <a:lnTo>
                    <a:pt x="8427720" y="4424172"/>
                  </a:lnTo>
                  <a:lnTo>
                    <a:pt x="8427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483107" y="557783"/>
              <a:ext cx="8177783" cy="40279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30716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329184" y="297192"/>
              <a:ext cx="8157972" cy="3901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580644" y="298704"/>
              <a:ext cx="7787640" cy="4343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388620" y="336804"/>
              <a:ext cx="8044180" cy="277495"/>
            </a:xfrm>
            <a:custGeom>
              <a:avLst/>
              <a:gdLst/>
              <a:ahLst/>
              <a:cxnLst/>
              <a:rect l="l" t="t" r="r" b="b"/>
              <a:pathLst>
                <a:path w="8044180" h="277495">
                  <a:moveTo>
                    <a:pt x="8043672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8043672" y="277367"/>
                  </a:lnTo>
                  <a:lnTo>
                    <a:pt x="804367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14096" y="449073"/>
            <a:ext cx="10728960" cy="298373"/>
          </a:xfrm>
          <a:prstGeom prst="rect">
            <a:avLst/>
          </a:prstGeom>
        </p:spPr>
        <p:txBody>
          <a:bodyPr vert="horz" wrap="square" lIns="0" tIns="51647" rIns="0" bIns="0" rtlCol="0">
            <a:spAutoFit/>
          </a:bodyPr>
          <a:lstStyle/>
          <a:p>
            <a:pPr marL="459729">
              <a:spcBef>
                <a:spcPts val="407"/>
              </a:spcBef>
            </a:pPr>
            <a:r>
              <a:rPr sz="1600" spc="33" dirty="0">
                <a:solidFill>
                  <a:srgbClr val="D9D9D9"/>
                </a:solidFill>
                <a:latin typeface="Arial"/>
                <a:cs typeface="Arial"/>
              </a:rPr>
              <a:t>wget</a:t>
            </a:r>
            <a:r>
              <a:rPr sz="1600" spc="46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147" dirty="0">
                <a:solidFill>
                  <a:srgbClr val="D9D9D9"/>
                </a:solidFill>
                <a:latin typeface="Arial"/>
                <a:cs typeface="Arial"/>
              </a:rPr>
              <a:t>https://github.com/kubernetes/kubernetes/releases/download/v1.13.3/kubernetes.tar.gz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3757" y="467181"/>
            <a:ext cx="6485467" cy="690033"/>
            <a:chOff x="385318" y="350385"/>
            <a:chExt cx="4864100" cy="517525"/>
          </a:xfrm>
        </p:grpSpPr>
        <p:sp>
          <p:nvSpPr>
            <p:cNvPr id="8" name="object 8"/>
            <p:cNvSpPr/>
            <p:nvPr/>
          </p:nvSpPr>
          <p:spPr>
            <a:xfrm>
              <a:off x="405708" y="350385"/>
              <a:ext cx="160020" cy="204470"/>
            </a:xfrm>
            <a:custGeom>
              <a:avLst/>
              <a:gdLst/>
              <a:ahLst/>
              <a:cxnLst/>
              <a:rect l="l" t="t" r="r" b="b"/>
              <a:pathLst>
                <a:path w="160020" h="204470">
                  <a:moveTo>
                    <a:pt x="0" y="0"/>
                  </a:moveTo>
                  <a:lnTo>
                    <a:pt x="0" y="204209"/>
                  </a:lnTo>
                  <a:lnTo>
                    <a:pt x="159603" y="102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91668" y="614171"/>
              <a:ext cx="4851400" cy="247015"/>
            </a:xfrm>
            <a:custGeom>
              <a:avLst/>
              <a:gdLst/>
              <a:ahLst/>
              <a:cxnLst/>
              <a:rect l="l" t="t" r="r" b="b"/>
              <a:pathLst>
                <a:path w="4851400" h="247015">
                  <a:moveTo>
                    <a:pt x="4850892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4850892" y="246887"/>
                  </a:lnTo>
                  <a:lnTo>
                    <a:pt x="4850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668" y="614171"/>
              <a:ext cx="4851400" cy="247015"/>
            </a:xfrm>
            <a:custGeom>
              <a:avLst/>
              <a:gdLst/>
              <a:ahLst/>
              <a:cxnLst/>
              <a:rect l="l" t="t" r="r" b="b"/>
              <a:pathLst>
                <a:path w="4851400" h="247015">
                  <a:moveTo>
                    <a:pt x="0" y="246887"/>
                  </a:moveTo>
                  <a:lnTo>
                    <a:pt x="4850892" y="246887"/>
                  </a:lnTo>
                  <a:lnTo>
                    <a:pt x="4850892" y="0"/>
                  </a:lnTo>
                  <a:lnTo>
                    <a:pt x="0" y="0"/>
                  </a:lnTo>
                  <a:lnTo>
                    <a:pt x="0" y="24688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4097" y="818897"/>
            <a:ext cx="6484620" cy="258126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130383">
              <a:spcBef>
                <a:spcPts val="413"/>
              </a:spcBef>
            </a:pPr>
            <a:r>
              <a:rPr sz="1333" spc="120" dirty="0">
                <a:solidFill>
                  <a:srgbClr val="FF0000"/>
                </a:solidFill>
                <a:latin typeface="Arial"/>
                <a:cs typeface="Arial"/>
              </a:rPr>
              <a:t>kubernetes.tar.gz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2815" y="1487441"/>
            <a:ext cx="6620933" cy="581660"/>
            <a:chOff x="324611" y="1115580"/>
            <a:chExt cx="4965700" cy="436245"/>
          </a:xfrm>
        </p:grpSpPr>
        <p:sp>
          <p:nvSpPr>
            <p:cNvPr id="13" name="object 13"/>
            <p:cNvSpPr/>
            <p:nvPr/>
          </p:nvSpPr>
          <p:spPr>
            <a:xfrm>
              <a:off x="324611" y="1115580"/>
              <a:ext cx="4965192" cy="3901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76071" y="1117092"/>
              <a:ext cx="2569464" cy="4343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047" y="1155192"/>
              <a:ext cx="4851400" cy="277495"/>
            </a:xfrm>
            <a:custGeom>
              <a:avLst/>
              <a:gdLst/>
              <a:ahLst/>
              <a:cxnLst/>
              <a:rect l="l" t="t" r="r" b="b"/>
              <a:pathLst>
                <a:path w="4851400" h="277494">
                  <a:moveTo>
                    <a:pt x="4850892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4850892" y="277367"/>
                  </a:lnTo>
                  <a:lnTo>
                    <a:pt x="485089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0033" y="1540255"/>
            <a:ext cx="6484620" cy="298373"/>
          </a:xfrm>
          <a:prstGeom prst="rect">
            <a:avLst/>
          </a:prstGeom>
        </p:spPr>
        <p:txBody>
          <a:bodyPr vert="horz" wrap="square" lIns="0" tIns="51647" rIns="0" bIns="0" rtlCol="0">
            <a:spAutoFit/>
          </a:bodyPr>
          <a:lstStyle/>
          <a:p>
            <a:pPr marL="458035">
              <a:spcBef>
                <a:spcPts val="407"/>
              </a:spcBef>
            </a:pPr>
            <a:r>
              <a:rPr sz="1600" spc="253" dirty="0">
                <a:solidFill>
                  <a:srgbClr val="D9D9D9"/>
                </a:solidFill>
                <a:latin typeface="Arial"/>
                <a:cs typeface="Arial"/>
              </a:rPr>
              <a:t>tar </a:t>
            </a:r>
            <a:r>
              <a:rPr sz="1600" spc="200" dirty="0">
                <a:solidFill>
                  <a:srgbClr val="D9D9D9"/>
                </a:solidFill>
                <a:latin typeface="Arial"/>
                <a:cs typeface="Arial"/>
              </a:rPr>
              <a:t>-xzvf</a:t>
            </a:r>
            <a:r>
              <a:rPr sz="1600" spc="6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152" dirty="0">
                <a:solidFill>
                  <a:srgbClr val="D9D9D9"/>
                </a:solidFill>
                <a:latin typeface="Arial"/>
                <a:cs typeface="Arial"/>
              </a:rPr>
              <a:t>kubernetes.tar.gz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09693" y="1556562"/>
            <a:ext cx="6485467" cy="691727"/>
            <a:chOff x="382270" y="1167421"/>
            <a:chExt cx="4864100" cy="518795"/>
          </a:xfrm>
        </p:grpSpPr>
        <p:sp>
          <p:nvSpPr>
            <p:cNvPr id="18" name="object 18"/>
            <p:cNvSpPr/>
            <p:nvPr/>
          </p:nvSpPr>
          <p:spPr>
            <a:xfrm>
              <a:off x="401136" y="1167421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40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88620" y="1432560"/>
              <a:ext cx="4851400" cy="247015"/>
            </a:xfrm>
            <a:custGeom>
              <a:avLst/>
              <a:gdLst/>
              <a:ahLst/>
              <a:cxnLst/>
              <a:rect l="l" t="t" r="r" b="b"/>
              <a:pathLst>
                <a:path w="4851400" h="247014">
                  <a:moveTo>
                    <a:pt x="4850892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4850892" y="246887"/>
                  </a:lnTo>
                  <a:lnTo>
                    <a:pt x="4850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388620" y="1432560"/>
              <a:ext cx="4851400" cy="247015"/>
            </a:xfrm>
            <a:custGeom>
              <a:avLst/>
              <a:gdLst/>
              <a:ahLst/>
              <a:cxnLst/>
              <a:rect l="l" t="t" r="r" b="b"/>
              <a:pathLst>
                <a:path w="4851400" h="247014">
                  <a:moveTo>
                    <a:pt x="0" y="246887"/>
                  </a:moveTo>
                  <a:lnTo>
                    <a:pt x="4850892" y="246887"/>
                  </a:lnTo>
                  <a:lnTo>
                    <a:pt x="4850892" y="0"/>
                  </a:lnTo>
                  <a:lnTo>
                    <a:pt x="0" y="0"/>
                  </a:lnTo>
                  <a:lnTo>
                    <a:pt x="0" y="24688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10033" y="1910081"/>
            <a:ext cx="6484620" cy="258126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128690">
              <a:spcBef>
                <a:spcPts val="413"/>
              </a:spcBef>
            </a:pPr>
            <a:r>
              <a:rPr sz="1333" spc="67" dirty="0">
                <a:solidFill>
                  <a:srgbClr val="1780C3"/>
                </a:solidFill>
                <a:latin typeface="Arial"/>
                <a:cs typeface="Arial"/>
              </a:rPr>
              <a:t>kubernetes</a:t>
            </a:r>
            <a:endParaRPr sz="1333" dirty="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2815" y="2527825"/>
            <a:ext cx="6620933" cy="581660"/>
            <a:chOff x="324611" y="1895868"/>
            <a:chExt cx="4965700" cy="436245"/>
          </a:xfrm>
        </p:grpSpPr>
        <p:sp>
          <p:nvSpPr>
            <p:cNvPr id="23" name="object 23"/>
            <p:cNvSpPr/>
            <p:nvPr/>
          </p:nvSpPr>
          <p:spPr>
            <a:xfrm>
              <a:off x="324611" y="1895868"/>
              <a:ext cx="4965192" cy="3901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408431" y="1897380"/>
              <a:ext cx="1728216" cy="4343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384047" y="1935480"/>
              <a:ext cx="4851400" cy="277495"/>
            </a:xfrm>
            <a:custGeom>
              <a:avLst/>
              <a:gdLst/>
              <a:ahLst/>
              <a:cxnLst/>
              <a:rect l="l" t="t" r="r" b="b"/>
              <a:pathLst>
                <a:path w="4851400" h="277494">
                  <a:moveTo>
                    <a:pt x="4850892" y="0"/>
                  </a:moveTo>
                  <a:lnTo>
                    <a:pt x="0" y="0"/>
                  </a:lnTo>
                  <a:lnTo>
                    <a:pt x="0" y="277368"/>
                  </a:lnTo>
                  <a:lnTo>
                    <a:pt x="4850892" y="277368"/>
                  </a:lnTo>
                  <a:lnTo>
                    <a:pt x="485089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10033" y="2580639"/>
            <a:ext cx="6484620" cy="299227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234521">
              <a:spcBef>
                <a:spcPts val="413"/>
              </a:spcBef>
            </a:pPr>
            <a:r>
              <a:rPr sz="1600" spc="33" dirty="0">
                <a:solidFill>
                  <a:srgbClr val="D9D9D9"/>
                </a:solidFill>
                <a:latin typeface="Arial"/>
                <a:cs typeface="Arial"/>
              </a:rPr>
              <a:t>cd </a:t>
            </a:r>
            <a:r>
              <a:rPr sz="1600" spc="120" dirty="0">
                <a:solidFill>
                  <a:srgbClr val="D9D9D9"/>
                </a:solidFill>
                <a:latin typeface="Arial"/>
                <a:cs typeface="Arial"/>
              </a:rPr>
              <a:t>kubernetes;</a:t>
            </a:r>
            <a:r>
              <a:rPr sz="1600" spc="35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300" dirty="0">
                <a:solidFill>
                  <a:srgbClr val="D9D9D9"/>
                </a:solidFill>
                <a:latin typeface="Arial"/>
                <a:cs typeface="Arial"/>
              </a:rPr>
              <a:t>ls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09693" y="2598749"/>
            <a:ext cx="6485467" cy="894927"/>
            <a:chOff x="382270" y="1949061"/>
            <a:chExt cx="4864100" cy="671195"/>
          </a:xfrm>
        </p:grpSpPr>
        <p:sp>
          <p:nvSpPr>
            <p:cNvPr id="28" name="object 28"/>
            <p:cNvSpPr/>
            <p:nvPr/>
          </p:nvSpPr>
          <p:spPr>
            <a:xfrm>
              <a:off x="401136" y="1949061"/>
              <a:ext cx="160020" cy="204470"/>
            </a:xfrm>
            <a:custGeom>
              <a:avLst/>
              <a:gdLst/>
              <a:ahLst/>
              <a:cxnLst/>
              <a:rect l="l" t="t" r="r" b="b"/>
              <a:pathLst>
                <a:path w="160020" h="204469">
                  <a:moveTo>
                    <a:pt x="0" y="0"/>
                  </a:moveTo>
                  <a:lnTo>
                    <a:pt x="0" y="204209"/>
                  </a:lnTo>
                  <a:lnTo>
                    <a:pt x="159603" y="102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388620" y="2212847"/>
              <a:ext cx="4851400" cy="401320"/>
            </a:xfrm>
            <a:custGeom>
              <a:avLst/>
              <a:gdLst/>
              <a:ahLst/>
              <a:cxnLst/>
              <a:rect l="l" t="t" r="r" b="b"/>
              <a:pathLst>
                <a:path w="4851400" h="401319">
                  <a:moveTo>
                    <a:pt x="4850892" y="0"/>
                  </a:moveTo>
                  <a:lnTo>
                    <a:pt x="0" y="0"/>
                  </a:lnTo>
                  <a:lnTo>
                    <a:pt x="0" y="400812"/>
                  </a:lnTo>
                  <a:lnTo>
                    <a:pt x="4850892" y="400812"/>
                  </a:lnTo>
                  <a:lnTo>
                    <a:pt x="4850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388620" y="2212847"/>
              <a:ext cx="4851400" cy="401320"/>
            </a:xfrm>
            <a:custGeom>
              <a:avLst/>
              <a:gdLst/>
              <a:ahLst/>
              <a:cxnLst/>
              <a:rect l="l" t="t" r="r" b="b"/>
              <a:pathLst>
                <a:path w="4851400" h="401319">
                  <a:moveTo>
                    <a:pt x="0" y="400812"/>
                  </a:moveTo>
                  <a:lnTo>
                    <a:pt x="4850892" y="400812"/>
                  </a:lnTo>
                  <a:lnTo>
                    <a:pt x="4850892" y="0"/>
                  </a:lnTo>
                  <a:lnTo>
                    <a:pt x="0" y="0"/>
                  </a:lnTo>
                  <a:lnTo>
                    <a:pt x="0" y="40081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10033" y="2950465"/>
            <a:ext cx="6484620" cy="464101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8690" marR="850879">
              <a:spcBef>
                <a:spcPts val="420"/>
              </a:spcBef>
              <a:tabLst>
                <a:tab pos="874585" algn="l"/>
                <a:tab pos="1713610" algn="l"/>
                <a:tab pos="2270703" algn="l"/>
                <a:tab pos="2832029" algn="l"/>
                <a:tab pos="3762493" algn="l"/>
                <a:tab pos="4786934" algn="l"/>
              </a:tabLst>
            </a:pPr>
            <a:r>
              <a:rPr sz="1333" spc="207" dirty="0">
                <a:solidFill>
                  <a:srgbClr val="1780C3"/>
                </a:solidFill>
                <a:latin typeface="Arial"/>
                <a:cs typeface="Arial"/>
              </a:rPr>
              <a:t>client	</a:t>
            </a:r>
            <a:r>
              <a:rPr sz="1333" spc="140" dirty="0">
                <a:solidFill>
                  <a:srgbClr val="1780C3"/>
                </a:solidFill>
                <a:latin typeface="Arial"/>
                <a:cs typeface="Arial"/>
              </a:rPr>
              <a:t>clust</a:t>
            </a:r>
            <a:r>
              <a:rPr sz="1333" spc="173" dirty="0">
                <a:solidFill>
                  <a:srgbClr val="1780C3"/>
                </a:solidFill>
                <a:latin typeface="Arial"/>
                <a:cs typeface="Arial"/>
              </a:rPr>
              <a:t>e</a:t>
            </a:r>
            <a:r>
              <a:rPr sz="1333" spc="280" dirty="0">
                <a:solidFill>
                  <a:srgbClr val="1780C3"/>
                </a:solidFill>
                <a:latin typeface="Arial"/>
                <a:cs typeface="Arial"/>
              </a:rPr>
              <a:t>r</a:t>
            </a:r>
            <a:r>
              <a:rPr sz="1333" dirty="0">
                <a:solidFill>
                  <a:srgbClr val="1780C3"/>
                </a:solidFill>
                <a:latin typeface="Arial"/>
                <a:cs typeface="Arial"/>
              </a:rPr>
              <a:t>	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do</a:t>
            </a:r>
            <a:r>
              <a:rPr sz="1333" spc="-7" dirty="0">
                <a:solidFill>
                  <a:srgbClr val="1780C3"/>
                </a:solidFill>
                <a:latin typeface="Arial"/>
                <a:cs typeface="Arial"/>
              </a:rPr>
              <a:t>c</a:t>
            </a:r>
            <a:r>
              <a:rPr sz="1333" spc="60" dirty="0">
                <a:solidFill>
                  <a:srgbClr val="1780C3"/>
                </a:solidFill>
                <a:latin typeface="Arial"/>
                <a:cs typeface="Arial"/>
              </a:rPr>
              <a:t>s</a:t>
            </a:r>
            <a:r>
              <a:rPr sz="1333" dirty="0">
                <a:solidFill>
                  <a:srgbClr val="1780C3"/>
                </a:solidFill>
                <a:latin typeface="Arial"/>
                <a:cs typeface="Arial"/>
              </a:rPr>
              <a:t>	</a:t>
            </a:r>
            <a:r>
              <a:rPr sz="1333" spc="20" dirty="0">
                <a:solidFill>
                  <a:srgbClr val="1780C3"/>
                </a:solidFill>
                <a:latin typeface="Arial"/>
                <a:cs typeface="Arial"/>
              </a:rPr>
              <a:t>hack</a:t>
            </a:r>
            <a:r>
              <a:rPr sz="1333" dirty="0">
                <a:solidFill>
                  <a:srgbClr val="1780C3"/>
                </a:solidFill>
                <a:latin typeface="Arial"/>
                <a:cs typeface="Arial"/>
              </a:rPr>
              <a:t>	</a:t>
            </a:r>
            <a:r>
              <a:rPr sz="1333" spc="-27" dirty="0">
                <a:solidFill>
                  <a:srgbClr val="F1F1F1"/>
                </a:solidFill>
                <a:latin typeface="Arial"/>
                <a:cs typeface="Arial"/>
              </a:rPr>
              <a:t>L</a:t>
            </a:r>
            <a:r>
              <a:rPr sz="1333" spc="353" dirty="0">
                <a:solidFill>
                  <a:srgbClr val="F1F1F1"/>
                </a:solidFill>
                <a:latin typeface="Arial"/>
                <a:cs typeface="Arial"/>
              </a:rPr>
              <a:t>I</a:t>
            </a:r>
            <a:r>
              <a:rPr sz="1333" spc="-233" dirty="0">
                <a:solidFill>
                  <a:srgbClr val="F1F1F1"/>
                </a:solidFill>
                <a:latin typeface="Arial"/>
                <a:cs typeface="Arial"/>
              </a:rPr>
              <a:t>C</a:t>
            </a:r>
            <a:r>
              <a:rPr sz="1333" spc="-160" dirty="0">
                <a:solidFill>
                  <a:srgbClr val="F1F1F1"/>
                </a:solidFill>
                <a:latin typeface="Arial"/>
                <a:cs typeface="Arial"/>
              </a:rPr>
              <a:t>E</a:t>
            </a:r>
            <a:r>
              <a:rPr sz="1333" spc="-233" dirty="0">
                <a:solidFill>
                  <a:srgbClr val="F1F1F1"/>
                </a:solidFill>
                <a:latin typeface="Arial"/>
                <a:cs typeface="Arial"/>
              </a:rPr>
              <a:t>N</a:t>
            </a:r>
            <a:r>
              <a:rPr sz="1333" spc="-160" dirty="0">
                <a:solidFill>
                  <a:srgbClr val="F1F1F1"/>
                </a:solidFill>
                <a:latin typeface="Arial"/>
                <a:cs typeface="Arial"/>
              </a:rPr>
              <a:t>S</a:t>
            </a:r>
            <a:r>
              <a:rPr sz="1333" spc="-173" dirty="0">
                <a:solidFill>
                  <a:srgbClr val="F1F1F1"/>
                </a:solidFill>
                <a:latin typeface="Arial"/>
                <a:cs typeface="Arial"/>
              </a:rPr>
              <a:t>E</a:t>
            </a:r>
            <a:r>
              <a:rPr sz="1333" spc="-160" dirty="0">
                <a:solidFill>
                  <a:srgbClr val="F1F1F1"/>
                </a:solidFill>
                <a:latin typeface="Arial"/>
                <a:cs typeface="Arial"/>
              </a:rPr>
              <a:t>S</a:t>
            </a:r>
            <a:r>
              <a:rPr sz="1333" dirty="0">
                <a:solidFill>
                  <a:srgbClr val="F1F1F1"/>
                </a:solidFill>
                <a:latin typeface="Arial"/>
                <a:cs typeface="Arial"/>
              </a:rPr>
              <a:t>	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p</a:t>
            </a:r>
            <a:r>
              <a:rPr sz="1333" spc="433" dirty="0">
                <a:solidFill>
                  <a:srgbClr val="1780C3"/>
                </a:solidFill>
                <a:latin typeface="Arial"/>
                <a:cs typeface="Arial"/>
              </a:rPr>
              <a:t>l</a:t>
            </a:r>
            <a:r>
              <a:rPr sz="1333" spc="-27" dirty="0">
                <a:solidFill>
                  <a:srgbClr val="1780C3"/>
                </a:solidFill>
                <a:latin typeface="Arial"/>
                <a:cs typeface="Arial"/>
              </a:rPr>
              <a:t>a</a:t>
            </a:r>
            <a:r>
              <a:rPr sz="1333" spc="353" dirty="0">
                <a:solidFill>
                  <a:srgbClr val="1780C3"/>
                </a:solidFill>
                <a:latin typeface="Arial"/>
                <a:cs typeface="Arial"/>
              </a:rPr>
              <a:t>t</a:t>
            </a:r>
            <a:r>
              <a:rPr sz="1333" spc="339" dirty="0">
                <a:solidFill>
                  <a:srgbClr val="1780C3"/>
                </a:solidFill>
                <a:latin typeface="Arial"/>
                <a:cs typeface="Arial"/>
              </a:rPr>
              <a:t>f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o</a:t>
            </a:r>
            <a:r>
              <a:rPr sz="1333" spc="280" dirty="0">
                <a:solidFill>
                  <a:srgbClr val="1780C3"/>
                </a:solidFill>
                <a:latin typeface="Arial"/>
                <a:cs typeface="Arial"/>
              </a:rPr>
              <a:t>r</a:t>
            </a:r>
            <a:r>
              <a:rPr sz="1333" spc="-387" dirty="0">
                <a:solidFill>
                  <a:srgbClr val="1780C3"/>
                </a:solidFill>
                <a:latin typeface="Arial"/>
                <a:cs typeface="Arial"/>
              </a:rPr>
              <a:t>m</a:t>
            </a:r>
            <a:r>
              <a:rPr sz="1333" spc="60" dirty="0">
                <a:solidFill>
                  <a:srgbClr val="1780C3"/>
                </a:solidFill>
                <a:latin typeface="Arial"/>
                <a:cs typeface="Arial"/>
              </a:rPr>
              <a:t>s</a:t>
            </a:r>
            <a:r>
              <a:rPr sz="1333" dirty="0">
                <a:solidFill>
                  <a:srgbClr val="1780C3"/>
                </a:solidFill>
                <a:latin typeface="Arial"/>
                <a:cs typeface="Arial"/>
              </a:rPr>
              <a:t>	</a:t>
            </a:r>
            <a:r>
              <a:rPr sz="1333" spc="-233" dirty="0">
                <a:solidFill>
                  <a:srgbClr val="F1F1F1"/>
                </a:solidFill>
                <a:latin typeface="Arial"/>
                <a:cs typeface="Arial"/>
              </a:rPr>
              <a:t>R</a:t>
            </a:r>
            <a:r>
              <a:rPr sz="1333" spc="-173" dirty="0">
                <a:solidFill>
                  <a:srgbClr val="F1F1F1"/>
                </a:solidFill>
                <a:latin typeface="Arial"/>
                <a:cs typeface="Arial"/>
              </a:rPr>
              <a:t>E</a:t>
            </a:r>
            <a:r>
              <a:rPr sz="1333" spc="-160" dirty="0">
                <a:solidFill>
                  <a:srgbClr val="F1F1F1"/>
                </a:solidFill>
                <a:latin typeface="Arial"/>
                <a:cs typeface="Arial"/>
              </a:rPr>
              <a:t>A</a:t>
            </a:r>
            <a:r>
              <a:rPr sz="1333" spc="-233" dirty="0">
                <a:solidFill>
                  <a:srgbClr val="F1F1F1"/>
                </a:solidFill>
                <a:latin typeface="Arial"/>
                <a:cs typeface="Arial"/>
              </a:rPr>
              <a:t>D</a:t>
            </a:r>
            <a:r>
              <a:rPr sz="1333" spc="-387" dirty="0">
                <a:solidFill>
                  <a:srgbClr val="F1F1F1"/>
                </a:solidFill>
                <a:latin typeface="Arial"/>
                <a:cs typeface="Arial"/>
              </a:rPr>
              <a:t>M</a:t>
            </a:r>
            <a:r>
              <a:rPr sz="1333" spc="-160" dirty="0">
                <a:solidFill>
                  <a:srgbClr val="F1F1F1"/>
                </a:solidFill>
                <a:latin typeface="Arial"/>
                <a:cs typeface="Arial"/>
              </a:rPr>
              <a:t>E</a:t>
            </a:r>
            <a:r>
              <a:rPr sz="1333" spc="353" dirty="0">
                <a:solidFill>
                  <a:srgbClr val="F1F1F1"/>
                </a:solidFill>
                <a:latin typeface="Arial"/>
                <a:cs typeface="Arial"/>
              </a:rPr>
              <a:t>.</a:t>
            </a:r>
            <a:r>
              <a:rPr sz="1333" spc="-400" dirty="0">
                <a:solidFill>
                  <a:srgbClr val="F1F1F1"/>
                </a:solidFill>
                <a:latin typeface="Arial"/>
                <a:cs typeface="Arial"/>
              </a:rPr>
              <a:t>m</a:t>
            </a:r>
            <a:r>
              <a:rPr sz="1333" spc="-13" dirty="0">
                <a:solidFill>
                  <a:srgbClr val="F1F1F1"/>
                </a:solidFill>
                <a:latin typeface="Arial"/>
                <a:cs typeface="Arial"/>
              </a:rPr>
              <a:t>d  </a:t>
            </a:r>
            <a:r>
              <a:rPr sz="1333" spc="107" dirty="0">
                <a:solidFill>
                  <a:srgbClr val="1780C3"/>
                </a:solidFill>
                <a:latin typeface="Arial"/>
                <a:cs typeface="Arial"/>
              </a:rPr>
              <a:t>server	</a:t>
            </a:r>
            <a:r>
              <a:rPr sz="1333" spc="113" dirty="0">
                <a:solidFill>
                  <a:srgbClr val="F1F1F1"/>
                </a:solidFill>
                <a:latin typeface="Arial"/>
                <a:cs typeface="Arial"/>
              </a:rPr>
              <a:t>version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32815" y="3824241"/>
            <a:ext cx="6620933" cy="581660"/>
            <a:chOff x="324611" y="2868180"/>
            <a:chExt cx="4965700" cy="436245"/>
          </a:xfrm>
        </p:grpSpPr>
        <p:sp>
          <p:nvSpPr>
            <p:cNvPr id="33" name="object 33"/>
            <p:cNvSpPr/>
            <p:nvPr/>
          </p:nvSpPr>
          <p:spPr>
            <a:xfrm>
              <a:off x="324611" y="2868180"/>
              <a:ext cx="4965192" cy="3901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492251" y="2869692"/>
              <a:ext cx="2653284" cy="43434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384047" y="2907792"/>
              <a:ext cx="4851400" cy="277495"/>
            </a:xfrm>
            <a:custGeom>
              <a:avLst/>
              <a:gdLst/>
              <a:ahLst/>
              <a:cxnLst/>
              <a:rect l="l" t="t" r="r" b="b"/>
              <a:pathLst>
                <a:path w="4851400" h="277494">
                  <a:moveTo>
                    <a:pt x="4850892" y="0"/>
                  </a:moveTo>
                  <a:lnTo>
                    <a:pt x="0" y="0"/>
                  </a:lnTo>
                  <a:lnTo>
                    <a:pt x="0" y="277368"/>
                  </a:lnTo>
                  <a:lnTo>
                    <a:pt x="4850892" y="277368"/>
                  </a:lnTo>
                  <a:lnTo>
                    <a:pt x="485089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10032" y="3877056"/>
            <a:ext cx="6470227" cy="299227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346278">
              <a:spcBef>
                <a:spcPts val="413"/>
              </a:spcBef>
            </a:pPr>
            <a:r>
              <a:rPr sz="1600" spc="180" dirty="0">
                <a:solidFill>
                  <a:srgbClr val="D9D9D9"/>
                </a:solidFill>
                <a:latin typeface="Arial"/>
                <a:cs typeface="Arial"/>
              </a:rPr>
              <a:t>cluster/get-kube-binaries.sh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09693" y="3893361"/>
            <a:ext cx="11179387" cy="1512147"/>
            <a:chOff x="382270" y="2920021"/>
            <a:chExt cx="8384540" cy="1134110"/>
          </a:xfrm>
        </p:grpSpPr>
        <p:sp>
          <p:nvSpPr>
            <p:cNvPr id="38" name="object 38"/>
            <p:cNvSpPr/>
            <p:nvPr/>
          </p:nvSpPr>
          <p:spPr>
            <a:xfrm>
              <a:off x="401136" y="2920021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388620" y="3185160"/>
              <a:ext cx="8371840" cy="862965"/>
            </a:xfrm>
            <a:custGeom>
              <a:avLst/>
              <a:gdLst/>
              <a:ahLst/>
              <a:cxnLst/>
              <a:rect l="l" t="t" r="r" b="b"/>
              <a:pathLst>
                <a:path w="8371840" h="862964">
                  <a:moveTo>
                    <a:pt x="8371332" y="0"/>
                  </a:moveTo>
                  <a:lnTo>
                    <a:pt x="0" y="0"/>
                  </a:lnTo>
                  <a:lnTo>
                    <a:pt x="0" y="862583"/>
                  </a:lnTo>
                  <a:lnTo>
                    <a:pt x="8371332" y="862583"/>
                  </a:lnTo>
                  <a:lnTo>
                    <a:pt x="83713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388620" y="3185160"/>
              <a:ext cx="8371840" cy="862965"/>
            </a:xfrm>
            <a:custGeom>
              <a:avLst/>
              <a:gdLst/>
              <a:ahLst/>
              <a:cxnLst/>
              <a:rect l="l" t="t" r="r" b="b"/>
              <a:pathLst>
                <a:path w="8371840" h="862964">
                  <a:moveTo>
                    <a:pt x="0" y="862583"/>
                  </a:moveTo>
                  <a:lnTo>
                    <a:pt x="8371332" y="862583"/>
                  </a:lnTo>
                  <a:lnTo>
                    <a:pt x="8371332" y="0"/>
                  </a:lnTo>
                  <a:lnTo>
                    <a:pt x="0" y="0"/>
                  </a:lnTo>
                  <a:lnTo>
                    <a:pt x="0" y="86258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10033" y="4246881"/>
            <a:ext cx="11178540" cy="1092287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8690" marR="7034777">
              <a:spcBef>
                <a:spcPts val="420"/>
              </a:spcBef>
            </a:pPr>
            <a:r>
              <a:rPr sz="1333" spc="140" dirty="0">
                <a:solidFill>
                  <a:srgbClr val="FF0000"/>
                </a:solidFill>
                <a:latin typeface="Arial"/>
                <a:cs typeface="Arial"/>
              </a:rPr>
              <a:t>client/kubernetes-client-linux-amd64.tar.gz  </a:t>
            </a:r>
            <a:r>
              <a:rPr sz="1333" spc="113" dirty="0">
                <a:solidFill>
                  <a:srgbClr val="FF0000"/>
                </a:solidFill>
                <a:latin typeface="Arial"/>
                <a:cs typeface="Arial"/>
              </a:rPr>
              <a:t>server/kubernetes-server-linux-amd64.tar.gz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1333">
              <a:latin typeface="Arial"/>
              <a:cs typeface="Arial"/>
            </a:endParaRPr>
          </a:p>
          <a:p>
            <a:pPr marL="128690" marR="329345"/>
            <a:r>
              <a:rPr sz="1333" spc="133" dirty="0">
                <a:solidFill>
                  <a:srgbClr val="F1F1F1"/>
                </a:solidFill>
                <a:latin typeface="Arial"/>
                <a:cs typeface="Arial"/>
              </a:rPr>
              <a:t>Extracting </a:t>
            </a:r>
            <a:r>
              <a:rPr sz="1333" spc="140" dirty="0">
                <a:solidFill>
                  <a:srgbClr val="F1F1F1"/>
                </a:solidFill>
                <a:latin typeface="Arial"/>
                <a:cs typeface="Arial"/>
              </a:rPr>
              <a:t>/root/kubernetes/client/kubernetes-client-linux-amd64.tar.gz </a:t>
            </a:r>
            <a:r>
              <a:rPr sz="1333" spc="187" dirty="0">
                <a:solidFill>
                  <a:srgbClr val="F1F1F1"/>
                </a:solidFill>
                <a:latin typeface="Arial"/>
                <a:cs typeface="Arial"/>
              </a:rPr>
              <a:t>into </a:t>
            </a:r>
            <a:r>
              <a:rPr sz="1333" spc="120" dirty="0">
                <a:solidFill>
                  <a:srgbClr val="F1F1F1"/>
                </a:solidFill>
                <a:latin typeface="Arial"/>
                <a:cs typeface="Arial"/>
              </a:rPr>
              <a:t>/root/kubernetes/platforms/linux/amd64  </a:t>
            </a:r>
            <a:r>
              <a:rPr sz="1333" spc="-67" dirty="0">
                <a:solidFill>
                  <a:srgbClr val="F1F1F1"/>
                </a:solidFill>
                <a:latin typeface="Arial"/>
                <a:cs typeface="Arial"/>
              </a:rPr>
              <a:t>Add </a:t>
            </a:r>
            <a:r>
              <a:rPr sz="1333" spc="180" dirty="0">
                <a:solidFill>
                  <a:srgbClr val="F1F1F1"/>
                </a:solidFill>
                <a:latin typeface="Arial"/>
                <a:cs typeface="Arial"/>
              </a:rPr>
              <a:t>'/root/kubernetes/client/bin' </a:t>
            </a:r>
            <a:r>
              <a:rPr sz="1333" spc="173" dirty="0">
                <a:solidFill>
                  <a:srgbClr val="F1F1F1"/>
                </a:solidFill>
                <a:latin typeface="Arial"/>
                <a:cs typeface="Arial"/>
              </a:rPr>
              <a:t>to </a:t>
            </a:r>
            <a:r>
              <a:rPr sz="1333" spc="80" dirty="0">
                <a:solidFill>
                  <a:srgbClr val="F1F1F1"/>
                </a:solidFill>
                <a:latin typeface="Arial"/>
                <a:cs typeface="Arial"/>
              </a:rPr>
              <a:t>your </a:t>
            </a:r>
            <a:r>
              <a:rPr sz="1333" spc="-167" dirty="0">
                <a:solidFill>
                  <a:srgbClr val="F1F1F1"/>
                </a:solidFill>
                <a:latin typeface="Arial"/>
                <a:cs typeface="Arial"/>
              </a:rPr>
              <a:t>PATH </a:t>
            </a:r>
            <a:r>
              <a:rPr sz="1333" spc="173" dirty="0">
                <a:solidFill>
                  <a:srgbClr val="F1F1F1"/>
                </a:solidFill>
                <a:latin typeface="Arial"/>
                <a:cs typeface="Arial"/>
              </a:rPr>
              <a:t>to </a:t>
            </a:r>
            <a:r>
              <a:rPr sz="1333" spc="7" dirty="0">
                <a:solidFill>
                  <a:srgbClr val="F1F1F1"/>
                </a:solidFill>
                <a:latin typeface="Arial"/>
                <a:cs typeface="Arial"/>
              </a:rPr>
              <a:t>use </a:t>
            </a:r>
            <a:r>
              <a:rPr sz="1333" spc="147" dirty="0">
                <a:solidFill>
                  <a:srgbClr val="F1F1F1"/>
                </a:solidFill>
                <a:latin typeface="Arial"/>
                <a:cs typeface="Arial"/>
              </a:rPr>
              <a:t>newly-installed</a:t>
            </a:r>
            <a:r>
              <a:rPr sz="1333" spc="-67" dirty="0">
                <a:solidFill>
                  <a:srgbClr val="F1F1F1"/>
                </a:solidFill>
                <a:latin typeface="Arial"/>
                <a:cs typeface="Arial"/>
              </a:rPr>
              <a:t> </a:t>
            </a:r>
            <a:r>
              <a:rPr sz="1333" spc="167" dirty="0">
                <a:solidFill>
                  <a:srgbClr val="F1F1F1"/>
                </a:solidFill>
                <a:latin typeface="Arial"/>
                <a:cs typeface="Arial"/>
              </a:rPr>
              <a:t>binaries.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32815" y="5650993"/>
            <a:ext cx="8581813" cy="581660"/>
            <a:chOff x="324611" y="4238244"/>
            <a:chExt cx="6436360" cy="436245"/>
          </a:xfrm>
        </p:grpSpPr>
        <p:sp>
          <p:nvSpPr>
            <p:cNvPr id="43" name="object 43"/>
            <p:cNvSpPr/>
            <p:nvPr/>
          </p:nvSpPr>
          <p:spPr>
            <a:xfrm>
              <a:off x="324611" y="4238244"/>
              <a:ext cx="6435851" cy="39013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576071" y="4239768"/>
              <a:ext cx="5094732" cy="43433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384047" y="4277868"/>
              <a:ext cx="6322060" cy="277495"/>
            </a:xfrm>
            <a:custGeom>
              <a:avLst/>
              <a:gdLst/>
              <a:ahLst/>
              <a:cxnLst/>
              <a:rect l="l" t="t" r="r" b="b"/>
              <a:pathLst>
                <a:path w="6322059" h="277495">
                  <a:moveTo>
                    <a:pt x="6321552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6321552" y="277367"/>
                  </a:lnTo>
                  <a:lnTo>
                    <a:pt x="632155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10032" y="5703823"/>
            <a:ext cx="8439573" cy="299227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458035">
              <a:spcBef>
                <a:spcPts val="413"/>
              </a:spcBef>
            </a:pPr>
            <a:r>
              <a:rPr sz="1600" spc="33" dirty="0">
                <a:solidFill>
                  <a:srgbClr val="D9D9D9"/>
                </a:solidFill>
                <a:latin typeface="Arial"/>
                <a:cs typeface="Arial"/>
              </a:rPr>
              <a:t>cd </a:t>
            </a:r>
            <a:r>
              <a:rPr sz="1600" spc="180" dirty="0">
                <a:solidFill>
                  <a:srgbClr val="D9D9D9"/>
                </a:solidFill>
                <a:latin typeface="Arial"/>
                <a:cs typeface="Arial"/>
              </a:rPr>
              <a:t>server; </a:t>
            </a:r>
            <a:r>
              <a:rPr sz="1600" spc="260" dirty="0">
                <a:solidFill>
                  <a:srgbClr val="D9D9D9"/>
                </a:solidFill>
                <a:latin typeface="Arial"/>
                <a:cs typeface="Arial"/>
              </a:rPr>
              <a:t>tar </a:t>
            </a:r>
            <a:r>
              <a:rPr sz="1600" spc="127" dirty="0">
                <a:solidFill>
                  <a:srgbClr val="D9D9D9"/>
                </a:solidFill>
                <a:latin typeface="Arial"/>
                <a:cs typeface="Arial"/>
              </a:rPr>
              <a:t>–zxvf</a:t>
            </a:r>
            <a:r>
              <a:rPr sz="1600" spc="19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140" dirty="0">
                <a:solidFill>
                  <a:srgbClr val="D9D9D9"/>
                </a:solidFill>
                <a:latin typeface="Arial"/>
                <a:cs typeface="Arial"/>
              </a:rPr>
              <a:t>kubernetes-server-linux-amd64.tar.gz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10032" y="5720130"/>
            <a:ext cx="8439573" cy="690879"/>
            <a:chOff x="382524" y="4290097"/>
            <a:chExt cx="6329680" cy="518159"/>
          </a:xfrm>
        </p:grpSpPr>
        <p:sp>
          <p:nvSpPr>
            <p:cNvPr id="48" name="object 48"/>
            <p:cNvSpPr/>
            <p:nvPr/>
          </p:nvSpPr>
          <p:spPr>
            <a:xfrm>
              <a:off x="401136" y="4290097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388620" y="4555235"/>
              <a:ext cx="6316980" cy="247015"/>
            </a:xfrm>
            <a:custGeom>
              <a:avLst/>
              <a:gdLst/>
              <a:ahLst/>
              <a:cxnLst/>
              <a:rect l="l" t="t" r="r" b="b"/>
              <a:pathLst>
                <a:path w="6316980" h="247014">
                  <a:moveTo>
                    <a:pt x="6316980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6316980" y="246887"/>
                  </a:lnTo>
                  <a:lnTo>
                    <a:pt x="63169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0" name="object 50"/>
            <p:cNvSpPr/>
            <p:nvPr/>
          </p:nvSpPr>
          <p:spPr>
            <a:xfrm>
              <a:off x="388620" y="4555235"/>
              <a:ext cx="6316980" cy="247015"/>
            </a:xfrm>
            <a:custGeom>
              <a:avLst/>
              <a:gdLst/>
              <a:ahLst/>
              <a:cxnLst/>
              <a:rect l="l" t="t" r="r" b="b"/>
              <a:pathLst>
                <a:path w="6316980" h="247014">
                  <a:moveTo>
                    <a:pt x="0" y="246887"/>
                  </a:moveTo>
                  <a:lnTo>
                    <a:pt x="6316980" y="246887"/>
                  </a:lnTo>
                  <a:lnTo>
                    <a:pt x="6316980" y="0"/>
                  </a:lnTo>
                  <a:lnTo>
                    <a:pt x="0" y="0"/>
                  </a:lnTo>
                  <a:lnTo>
                    <a:pt x="0" y="24688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10032" y="6073647"/>
            <a:ext cx="8439573" cy="258982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8690">
              <a:spcBef>
                <a:spcPts val="420"/>
              </a:spcBef>
            </a:pP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Kubernetes/server</a:t>
            </a:r>
            <a:endParaRPr sz="1333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9740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324611" y="124980"/>
              <a:ext cx="4965192" cy="3901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492251" y="126492"/>
              <a:ext cx="2653284" cy="4343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384047" y="164592"/>
              <a:ext cx="4851400" cy="277495"/>
            </a:xfrm>
            <a:custGeom>
              <a:avLst/>
              <a:gdLst/>
              <a:ahLst/>
              <a:cxnLst/>
              <a:rect l="l" t="t" r="r" b="b"/>
              <a:pathLst>
                <a:path w="4851400" h="277495">
                  <a:moveTo>
                    <a:pt x="4850892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4850892" y="277367"/>
                  </a:lnTo>
                  <a:lnTo>
                    <a:pt x="485089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10032" y="219457"/>
            <a:ext cx="6470227" cy="298373"/>
          </a:xfrm>
          <a:prstGeom prst="rect">
            <a:avLst/>
          </a:prstGeom>
        </p:spPr>
        <p:txBody>
          <a:bodyPr vert="horz" wrap="square" lIns="0" tIns="51647" rIns="0" bIns="0" rtlCol="0">
            <a:spAutoFit/>
          </a:bodyPr>
          <a:lstStyle/>
          <a:p>
            <a:pPr marL="346278">
              <a:spcBef>
                <a:spcPts val="407"/>
              </a:spcBef>
            </a:pPr>
            <a:r>
              <a:rPr sz="1600" spc="180" dirty="0">
                <a:solidFill>
                  <a:srgbClr val="D9D9D9"/>
                </a:solidFill>
                <a:latin typeface="Arial"/>
                <a:cs typeface="Arial"/>
              </a:rPr>
              <a:t>cluster/get-kube-binaries.sh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09693" y="235761"/>
            <a:ext cx="11179387" cy="1512147"/>
            <a:chOff x="382270" y="176821"/>
            <a:chExt cx="8384540" cy="1134110"/>
          </a:xfrm>
        </p:grpSpPr>
        <p:sp>
          <p:nvSpPr>
            <p:cNvPr id="8" name="object 8"/>
            <p:cNvSpPr/>
            <p:nvPr/>
          </p:nvSpPr>
          <p:spPr>
            <a:xfrm>
              <a:off x="401136" y="176821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40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88620" y="441960"/>
              <a:ext cx="8371840" cy="862965"/>
            </a:xfrm>
            <a:custGeom>
              <a:avLst/>
              <a:gdLst/>
              <a:ahLst/>
              <a:cxnLst/>
              <a:rect l="l" t="t" r="r" b="b"/>
              <a:pathLst>
                <a:path w="8371840" h="862965">
                  <a:moveTo>
                    <a:pt x="8371332" y="0"/>
                  </a:moveTo>
                  <a:lnTo>
                    <a:pt x="0" y="0"/>
                  </a:lnTo>
                  <a:lnTo>
                    <a:pt x="0" y="862584"/>
                  </a:lnTo>
                  <a:lnTo>
                    <a:pt x="8371332" y="862584"/>
                  </a:lnTo>
                  <a:lnTo>
                    <a:pt x="83713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88620" y="441960"/>
              <a:ext cx="8371840" cy="862965"/>
            </a:xfrm>
            <a:custGeom>
              <a:avLst/>
              <a:gdLst/>
              <a:ahLst/>
              <a:cxnLst/>
              <a:rect l="l" t="t" r="r" b="b"/>
              <a:pathLst>
                <a:path w="8371840" h="862965">
                  <a:moveTo>
                    <a:pt x="0" y="862584"/>
                  </a:moveTo>
                  <a:lnTo>
                    <a:pt x="8371332" y="862584"/>
                  </a:lnTo>
                  <a:lnTo>
                    <a:pt x="8371332" y="0"/>
                  </a:lnTo>
                  <a:lnTo>
                    <a:pt x="0" y="0"/>
                  </a:lnTo>
                  <a:lnTo>
                    <a:pt x="0" y="86258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0033" y="589279"/>
            <a:ext cx="11178540" cy="1091430"/>
          </a:xfrm>
          <a:prstGeom prst="rect">
            <a:avLst/>
          </a:prstGeom>
        </p:spPr>
        <p:txBody>
          <a:bodyPr vert="horz" wrap="square" lIns="0" tIns="52492" rIns="0" bIns="0" rtlCol="0">
            <a:spAutoFit/>
          </a:bodyPr>
          <a:lstStyle/>
          <a:p>
            <a:pPr marL="128690" marR="7034777">
              <a:spcBef>
                <a:spcPts val="412"/>
              </a:spcBef>
            </a:pPr>
            <a:r>
              <a:rPr sz="1333" spc="140" dirty="0">
                <a:solidFill>
                  <a:srgbClr val="FF0000"/>
                </a:solidFill>
                <a:latin typeface="Arial"/>
                <a:cs typeface="Arial"/>
              </a:rPr>
              <a:t>client/kubernetes-client-linux-amd64.tar.gz  </a:t>
            </a:r>
            <a:r>
              <a:rPr sz="1333" spc="113" dirty="0">
                <a:solidFill>
                  <a:srgbClr val="FF0000"/>
                </a:solidFill>
                <a:latin typeface="Arial"/>
                <a:cs typeface="Arial"/>
              </a:rPr>
              <a:t>server/kubernetes-server-linux-amd64.tar.gz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1333">
              <a:latin typeface="Arial"/>
              <a:cs typeface="Arial"/>
            </a:endParaRPr>
          </a:p>
          <a:p>
            <a:pPr marL="128690" marR="329345"/>
            <a:r>
              <a:rPr sz="1333" spc="133" dirty="0">
                <a:solidFill>
                  <a:srgbClr val="F1F1F1"/>
                </a:solidFill>
                <a:latin typeface="Arial"/>
                <a:cs typeface="Arial"/>
              </a:rPr>
              <a:t>Extracting </a:t>
            </a:r>
            <a:r>
              <a:rPr sz="1333" spc="140" dirty="0">
                <a:solidFill>
                  <a:srgbClr val="F1F1F1"/>
                </a:solidFill>
                <a:latin typeface="Arial"/>
                <a:cs typeface="Arial"/>
              </a:rPr>
              <a:t>/root/kubernetes/client/kubernetes-client-linux-amd64.tar.gz </a:t>
            </a:r>
            <a:r>
              <a:rPr sz="1333" spc="187" dirty="0">
                <a:solidFill>
                  <a:srgbClr val="F1F1F1"/>
                </a:solidFill>
                <a:latin typeface="Arial"/>
                <a:cs typeface="Arial"/>
              </a:rPr>
              <a:t>into </a:t>
            </a:r>
            <a:r>
              <a:rPr sz="1333" spc="120" dirty="0">
                <a:solidFill>
                  <a:srgbClr val="F1F1F1"/>
                </a:solidFill>
                <a:latin typeface="Arial"/>
                <a:cs typeface="Arial"/>
              </a:rPr>
              <a:t>/root/kubernetes/platforms/linux/amd64  </a:t>
            </a:r>
            <a:r>
              <a:rPr sz="1333" spc="-67" dirty="0">
                <a:solidFill>
                  <a:srgbClr val="F1F1F1"/>
                </a:solidFill>
                <a:latin typeface="Arial"/>
                <a:cs typeface="Arial"/>
              </a:rPr>
              <a:t>Add </a:t>
            </a:r>
            <a:r>
              <a:rPr sz="1333" spc="180" dirty="0">
                <a:solidFill>
                  <a:srgbClr val="F1F1F1"/>
                </a:solidFill>
                <a:latin typeface="Arial"/>
                <a:cs typeface="Arial"/>
              </a:rPr>
              <a:t>'/root/kubernetes/client/bin' </a:t>
            </a:r>
            <a:r>
              <a:rPr sz="1333" spc="173" dirty="0">
                <a:solidFill>
                  <a:srgbClr val="F1F1F1"/>
                </a:solidFill>
                <a:latin typeface="Arial"/>
                <a:cs typeface="Arial"/>
              </a:rPr>
              <a:t>to </a:t>
            </a:r>
            <a:r>
              <a:rPr sz="1333" spc="80" dirty="0">
                <a:solidFill>
                  <a:srgbClr val="F1F1F1"/>
                </a:solidFill>
                <a:latin typeface="Arial"/>
                <a:cs typeface="Arial"/>
              </a:rPr>
              <a:t>your </a:t>
            </a:r>
            <a:r>
              <a:rPr sz="1333" spc="-167" dirty="0">
                <a:solidFill>
                  <a:srgbClr val="F1F1F1"/>
                </a:solidFill>
                <a:latin typeface="Arial"/>
                <a:cs typeface="Arial"/>
              </a:rPr>
              <a:t>PATH </a:t>
            </a:r>
            <a:r>
              <a:rPr sz="1333" spc="173" dirty="0">
                <a:solidFill>
                  <a:srgbClr val="F1F1F1"/>
                </a:solidFill>
                <a:latin typeface="Arial"/>
                <a:cs typeface="Arial"/>
              </a:rPr>
              <a:t>to </a:t>
            </a:r>
            <a:r>
              <a:rPr sz="1333" spc="7" dirty="0">
                <a:solidFill>
                  <a:srgbClr val="F1F1F1"/>
                </a:solidFill>
                <a:latin typeface="Arial"/>
                <a:cs typeface="Arial"/>
              </a:rPr>
              <a:t>use </a:t>
            </a:r>
            <a:r>
              <a:rPr sz="1333" spc="147" dirty="0">
                <a:solidFill>
                  <a:srgbClr val="F1F1F1"/>
                </a:solidFill>
                <a:latin typeface="Arial"/>
                <a:cs typeface="Arial"/>
              </a:rPr>
              <a:t>newly-installed</a:t>
            </a:r>
            <a:r>
              <a:rPr sz="1333" spc="-67" dirty="0">
                <a:solidFill>
                  <a:srgbClr val="F1F1F1"/>
                </a:solidFill>
                <a:latin typeface="Arial"/>
                <a:cs typeface="Arial"/>
              </a:rPr>
              <a:t> </a:t>
            </a:r>
            <a:r>
              <a:rPr sz="1333" spc="167" dirty="0">
                <a:solidFill>
                  <a:srgbClr val="F1F1F1"/>
                </a:solidFill>
                <a:latin typeface="Arial"/>
                <a:cs typeface="Arial"/>
              </a:rPr>
              <a:t>binaries.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2815" y="1993409"/>
            <a:ext cx="8581813" cy="581660"/>
            <a:chOff x="324611" y="1495056"/>
            <a:chExt cx="6436360" cy="436245"/>
          </a:xfrm>
        </p:grpSpPr>
        <p:sp>
          <p:nvSpPr>
            <p:cNvPr id="13" name="object 13"/>
            <p:cNvSpPr/>
            <p:nvPr/>
          </p:nvSpPr>
          <p:spPr>
            <a:xfrm>
              <a:off x="324611" y="1495056"/>
              <a:ext cx="6435851" cy="3901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76071" y="1496568"/>
              <a:ext cx="5094732" cy="43434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047" y="1534668"/>
              <a:ext cx="6322060" cy="277495"/>
            </a:xfrm>
            <a:custGeom>
              <a:avLst/>
              <a:gdLst/>
              <a:ahLst/>
              <a:cxnLst/>
              <a:rect l="l" t="t" r="r" b="b"/>
              <a:pathLst>
                <a:path w="6322059" h="277494">
                  <a:moveTo>
                    <a:pt x="6321552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6321552" y="277367"/>
                  </a:lnTo>
                  <a:lnTo>
                    <a:pt x="632155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0032" y="2046223"/>
            <a:ext cx="8439573" cy="298373"/>
          </a:xfrm>
          <a:prstGeom prst="rect">
            <a:avLst/>
          </a:prstGeom>
        </p:spPr>
        <p:txBody>
          <a:bodyPr vert="horz" wrap="square" lIns="0" tIns="51647" rIns="0" bIns="0" rtlCol="0">
            <a:spAutoFit/>
          </a:bodyPr>
          <a:lstStyle/>
          <a:p>
            <a:pPr marL="458035">
              <a:spcBef>
                <a:spcPts val="407"/>
              </a:spcBef>
            </a:pPr>
            <a:r>
              <a:rPr sz="1600" spc="33" dirty="0">
                <a:solidFill>
                  <a:srgbClr val="D9D9D9"/>
                </a:solidFill>
                <a:latin typeface="Arial"/>
                <a:cs typeface="Arial"/>
              </a:rPr>
              <a:t>cd </a:t>
            </a:r>
            <a:r>
              <a:rPr sz="1600" spc="180" dirty="0">
                <a:solidFill>
                  <a:srgbClr val="D9D9D9"/>
                </a:solidFill>
                <a:latin typeface="Arial"/>
                <a:cs typeface="Arial"/>
              </a:rPr>
              <a:t>server; </a:t>
            </a:r>
            <a:r>
              <a:rPr sz="1600" spc="260" dirty="0">
                <a:solidFill>
                  <a:srgbClr val="D9D9D9"/>
                </a:solidFill>
                <a:latin typeface="Arial"/>
                <a:cs typeface="Arial"/>
              </a:rPr>
              <a:t>tar </a:t>
            </a:r>
            <a:r>
              <a:rPr sz="1600" spc="127" dirty="0">
                <a:solidFill>
                  <a:srgbClr val="D9D9D9"/>
                </a:solidFill>
                <a:latin typeface="Arial"/>
                <a:cs typeface="Arial"/>
              </a:rPr>
              <a:t>–zxvf</a:t>
            </a:r>
            <a:r>
              <a:rPr sz="1600" spc="19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140" dirty="0">
                <a:solidFill>
                  <a:srgbClr val="D9D9D9"/>
                </a:solidFill>
                <a:latin typeface="Arial"/>
                <a:cs typeface="Arial"/>
              </a:rPr>
              <a:t>kubernetes-server-linux-amd64.tar.gz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09694" y="2062530"/>
            <a:ext cx="8439573" cy="691727"/>
            <a:chOff x="382270" y="1546897"/>
            <a:chExt cx="6329680" cy="518795"/>
          </a:xfrm>
        </p:grpSpPr>
        <p:sp>
          <p:nvSpPr>
            <p:cNvPr id="18" name="object 18"/>
            <p:cNvSpPr/>
            <p:nvPr/>
          </p:nvSpPr>
          <p:spPr>
            <a:xfrm>
              <a:off x="401136" y="1546897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88620" y="1812035"/>
              <a:ext cx="6316980" cy="247015"/>
            </a:xfrm>
            <a:custGeom>
              <a:avLst/>
              <a:gdLst/>
              <a:ahLst/>
              <a:cxnLst/>
              <a:rect l="l" t="t" r="r" b="b"/>
              <a:pathLst>
                <a:path w="6316980" h="247014">
                  <a:moveTo>
                    <a:pt x="6316980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6316980" y="246887"/>
                  </a:lnTo>
                  <a:lnTo>
                    <a:pt x="63169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388620" y="1812035"/>
              <a:ext cx="6316980" cy="247015"/>
            </a:xfrm>
            <a:custGeom>
              <a:avLst/>
              <a:gdLst/>
              <a:ahLst/>
              <a:cxnLst/>
              <a:rect l="l" t="t" r="r" b="b"/>
              <a:pathLst>
                <a:path w="6316980" h="247014">
                  <a:moveTo>
                    <a:pt x="0" y="246887"/>
                  </a:moveTo>
                  <a:lnTo>
                    <a:pt x="6316980" y="246887"/>
                  </a:lnTo>
                  <a:lnTo>
                    <a:pt x="6316980" y="0"/>
                  </a:lnTo>
                  <a:lnTo>
                    <a:pt x="0" y="0"/>
                  </a:lnTo>
                  <a:lnTo>
                    <a:pt x="0" y="24688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10032" y="2416047"/>
            <a:ext cx="8439573" cy="258126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128690">
              <a:spcBef>
                <a:spcPts val="413"/>
              </a:spcBef>
            </a:pP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Kubernetes/server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2815" y="3143503"/>
            <a:ext cx="8581813" cy="579120"/>
            <a:chOff x="324611" y="2357627"/>
            <a:chExt cx="6436360" cy="434340"/>
          </a:xfrm>
        </p:grpSpPr>
        <p:sp>
          <p:nvSpPr>
            <p:cNvPr id="23" name="object 23"/>
            <p:cNvSpPr/>
            <p:nvPr/>
          </p:nvSpPr>
          <p:spPr>
            <a:xfrm>
              <a:off x="324611" y="2357627"/>
              <a:ext cx="6435851" cy="38861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576071" y="2357627"/>
              <a:ext cx="2318004" cy="43434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384047" y="2397251"/>
              <a:ext cx="6322060" cy="276225"/>
            </a:xfrm>
            <a:custGeom>
              <a:avLst/>
              <a:gdLst/>
              <a:ahLst/>
              <a:cxnLst/>
              <a:rect l="l" t="t" r="r" b="b"/>
              <a:pathLst>
                <a:path w="6322059" h="276225">
                  <a:moveTo>
                    <a:pt x="6321552" y="0"/>
                  </a:moveTo>
                  <a:lnTo>
                    <a:pt x="0" y="0"/>
                  </a:lnTo>
                  <a:lnTo>
                    <a:pt x="0" y="275844"/>
                  </a:lnTo>
                  <a:lnTo>
                    <a:pt x="6321552" y="275844"/>
                  </a:lnTo>
                  <a:lnTo>
                    <a:pt x="632155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10032" y="3196335"/>
            <a:ext cx="8431107" cy="297517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58035">
              <a:spcBef>
                <a:spcPts val="400"/>
              </a:spcBef>
            </a:pPr>
            <a:r>
              <a:rPr sz="1600" spc="300" dirty="0">
                <a:solidFill>
                  <a:srgbClr val="D9D9D9"/>
                </a:solidFill>
                <a:latin typeface="Arial"/>
                <a:cs typeface="Arial"/>
              </a:rPr>
              <a:t>ls</a:t>
            </a:r>
            <a:r>
              <a:rPr sz="1600" spc="42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147" dirty="0">
                <a:solidFill>
                  <a:srgbClr val="D9D9D9"/>
                </a:solidFill>
                <a:latin typeface="Arial"/>
                <a:cs typeface="Arial"/>
              </a:rPr>
              <a:t>kubernetes/server/bin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10032" y="3212642"/>
            <a:ext cx="11582400" cy="1612053"/>
            <a:chOff x="382524" y="2409481"/>
            <a:chExt cx="8686800" cy="1209040"/>
          </a:xfrm>
        </p:grpSpPr>
        <p:sp>
          <p:nvSpPr>
            <p:cNvPr id="28" name="object 28"/>
            <p:cNvSpPr/>
            <p:nvPr/>
          </p:nvSpPr>
          <p:spPr>
            <a:xfrm>
              <a:off x="401136" y="2409481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388620" y="2673096"/>
              <a:ext cx="8674735" cy="939165"/>
            </a:xfrm>
            <a:custGeom>
              <a:avLst/>
              <a:gdLst/>
              <a:ahLst/>
              <a:cxnLst/>
              <a:rect l="l" t="t" r="r" b="b"/>
              <a:pathLst>
                <a:path w="8674735" h="939164">
                  <a:moveTo>
                    <a:pt x="8674608" y="0"/>
                  </a:moveTo>
                  <a:lnTo>
                    <a:pt x="0" y="0"/>
                  </a:lnTo>
                  <a:lnTo>
                    <a:pt x="0" y="938783"/>
                  </a:lnTo>
                  <a:lnTo>
                    <a:pt x="8674608" y="938783"/>
                  </a:lnTo>
                  <a:lnTo>
                    <a:pt x="86746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388620" y="2673096"/>
              <a:ext cx="8674735" cy="939165"/>
            </a:xfrm>
            <a:custGeom>
              <a:avLst/>
              <a:gdLst/>
              <a:ahLst/>
              <a:cxnLst/>
              <a:rect l="l" t="t" r="r" b="b"/>
              <a:pathLst>
                <a:path w="8674735" h="939164">
                  <a:moveTo>
                    <a:pt x="0" y="938783"/>
                  </a:moveTo>
                  <a:lnTo>
                    <a:pt x="8674608" y="938783"/>
                  </a:lnTo>
                  <a:lnTo>
                    <a:pt x="8674608" y="0"/>
                  </a:lnTo>
                  <a:lnTo>
                    <a:pt x="0" y="0"/>
                  </a:lnTo>
                  <a:lnTo>
                    <a:pt x="0" y="93878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736079" y="3597995"/>
            <a:ext cx="2862580" cy="6944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467" spc="80" dirty="0">
                <a:solidFill>
                  <a:srgbClr val="F1F1F1"/>
                </a:solidFill>
                <a:latin typeface="Arial"/>
                <a:cs typeface="Arial"/>
              </a:rPr>
              <a:t>kube-proxy.docker_tag</a:t>
            </a:r>
            <a:endParaRPr sz="1467">
              <a:latin typeface="Arial"/>
              <a:cs typeface="Arial"/>
            </a:endParaRPr>
          </a:p>
          <a:p>
            <a:pPr marR="6773"/>
            <a:r>
              <a:rPr sz="1467" spc="120" dirty="0">
                <a:solidFill>
                  <a:srgbClr val="FF0000"/>
                </a:solidFill>
                <a:latin typeface="Arial"/>
                <a:cs typeface="Arial"/>
              </a:rPr>
              <a:t>kube-controller-manager.tar  </a:t>
            </a:r>
            <a:r>
              <a:rPr sz="1467" spc="133" dirty="0">
                <a:solidFill>
                  <a:srgbClr val="FF0000"/>
                </a:solidFill>
                <a:latin typeface="Arial"/>
                <a:cs typeface="Arial"/>
              </a:rPr>
              <a:t>cloud-controller-manager.tar</a:t>
            </a:r>
            <a:endParaRPr sz="1467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987619" y="3597995"/>
            <a:ext cx="1847427" cy="6944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467" spc="27" dirty="0">
                <a:solidFill>
                  <a:srgbClr val="39B54A"/>
                </a:solidFill>
                <a:latin typeface="Arial"/>
                <a:cs typeface="Arial"/>
              </a:rPr>
              <a:t>mounter</a:t>
            </a:r>
            <a:endParaRPr sz="1467">
              <a:latin typeface="Arial"/>
              <a:cs typeface="Arial"/>
            </a:endParaRPr>
          </a:p>
          <a:p>
            <a:pPr marR="6773"/>
            <a:r>
              <a:rPr sz="1467" spc="120" dirty="0">
                <a:solidFill>
                  <a:srgbClr val="FF0000"/>
                </a:solidFill>
                <a:latin typeface="Arial"/>
                <a:cs typeface="Arial"/>
              </a:rPr>
              <a:t>kube-proxy.tar  </a:t>
            </a:r>
            <a:r>
              <a:rPr sz="1467" spc="133" dirty="0">
                <a:solidFill>
                  <a:srgbClr val="FF0000"/>
                </a:solidFill>
                <a:latin typeface="Arial"/>
                <a:cs typeface="Arial"/>
              </a:rPr>
              <a:t>kube-apiserver.tar</a:t>
            </a:r>
            <a:endParaRPr sz="1467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9267" y="3597995"/>
            <a:ext cx="2456180" cy="11459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6773">
              <a:spcBef>
                <a:spcPts val="133"/>
              </a:spcBef>
            </a:pPr>
            <a:r>
              <a:rPr sz="1467" spc="120" dirty="0">
                <a:solidFill>
                  <a:srgbClr val="39B54A"/>
                </a:solidFill>
                <a:latin typeface="Arial"/>
                <a:cs typeface="Arial"/>
              </a:rPr>
              <a:t>apiextensions-apiserver  </a:t>
            </a:r>
            <a:r>
              <a:rPr sz="1467" spc="113" dirty="0">
                <a:solidFill>
                  <a:srgbClr val="39B54A"/>
                </a:solidFill>
                <a:latin typeface="Arial"/>
                <a:cs typeface="Arial"/>
              </a:rPr>
              <a:t>cloud-controller-manager  </a:t>
            </a:r>
            <a:r>
              <a:rPr sz="1467" spc="127" dirty="0">
                <a:solidFill>
                  <a:srgbClr val="39B54A"/>
                </a:solidFill>
                <a:latin typeface="Arial"/>
                <a:cs typeface="Arial"/>
              </a:rPr>
              <a:t>kubectl</a:t>
            </a:r>
            <a:endParaRPr sz="1467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467" spc="120" dirty="0">
                <a:solidFill>
                  <a:srgbClr val="39B54A"/>
                </a:solidFill>
                <a:latin typeface="Arial"/>
                <a:cs typeface="Arial"/>
              </a:rPr>
              <a:t>kubelet</a:t>
            </a:r>
            <a:endParaRPr sz="1467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467" spc="33" dirty="0">
                <a:solidFill>
                  <a:srgbClr val="39B54A"/>
                </a:solidFill>
                <a:latin typeface="Arial"/>
                <a:cs typeface="Arial"/>
              </a:rPr>
              <a:t>hyperkube</a:t>
            </a:r>
            <a:endParaRPr sz="1467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92540" y="3597996"/>
            <a:ext cx="2556933" cy="11459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467" spc="-67" dirty="0">
                <a:solidFill>
                  <a:srgbClr val="39B54A"/>
                </a:solidFill>
                <a:latin typeface="Arial"/>
                <a:cs typeface="Arial"/>
              </a:rPr>
              <a:t>kubeadm</a:t>
            </a:r>
            <a:endParaRPr sz="1467" dirty="0">
              <a:latin typeface="Arial"/>
              <a:cs typeface="Arial"/>
            </a:endParaRPr>
          </a:p>
          <a:p>
            <a:pPr marR="1123497"/>
            <a:r>
              <a:rPr sz="1467" dirty="0">
                <a:solidFill>
                  <a:srgbClr val="39B54A"/>
                </a:solidFill>
                <a:latin typeface="Arial"/>
                <a:cs typeface="Arial"/>
              </a:rPr>
              <a:t>kube</a:t>
            </a:r>
            <a:r>
              <a:rPr sz="1467" spc="305" dirty="0">
                <a:solidFill>
                  <a:srgbClr val="39B54A"/>
                </a:solidFill>
                <a:latin typeface="Arial"/>
                <a:cs typeface="Arial"/>
              </a:rPr>
              <a:t>-</a:t>
            </a:r>
            <a:r>
              <a:rPr sz="1467" spc="113" dirty="0">
                <a:solidFill>
                  <a:srgbClr val="39B54A"/>
                </a:solidFill>
                <a:latin typeface="Arial"/>
                <a:cs typeface="Arial"/>
              </a:rPr>
              <a:t>apiserver  </a:t>
            </a:r>
            <a:r>
              <a:rPr sz="1467" spc="73" dirty="0">
                <a:solidFill>
                  <a:srgbClr val="39B54A"/>
                </a:solidFill>
                <a:latin typeface="Arial"/>
                <a:cs typeface="Arial"/>
              </a:rPr>
              <a:t>kube-scheduler</a:t>
            </a:r>
            <a:endParaRPr sz="146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467" spc="87" dirty="0">
                <a:solidFill>
                  <a:srgbClr val="F1F1F1"/>
                </a:solidFill>
                <a:latin typeface="Arial"/>
                <a:cs typeface="Arial"/>
              </a:rPr>
              <a:t>kube-scheduler.docker_tag</a:t>
            </a:r>
            <a:endParaRPr sz="146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467" spc="100" dirty="0">
                <a:solidFill>
                  <a:srgbClr val="39B54A"/>
                </a:solidFill>
                <a:latin typeface="Arial"/>
                <a:cs typeface="Arial"/>
              </a:rPr>
              <a:t>kube-controller-manager</a:t>
            </a:r>
            <a:endParaRPr sz="1467" dirty="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36079" y="4491669"/>
            <a:ext cx="103293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spcBef>
                <a:spcPts val="140"/>
              </a:spcBef>
            </a:pPr>
            <a:r>
              <a:rPr sz="1467" spc="67" dirty="0">
                <a:solidFill>
                  <a:srgbClr val="39B54A"/>
                </a:solidFill>
                <a:latin typeface="Arial"/>
                <a:cs typeface="Arial"/>
              </a:rPr>
              <a:t>kube-proxy</a:t>
            </a:r>
            <a:endParaRPr sz="1467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987619" y="4491669"/>
            <a:ext cx="1846580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spcBef>
                <a:spcPts val="140"/>
              </a:spcBef>
            </a:pPr>
            <a:r>
              <a:rPr sz="1467" spc="120" dirty="0">
                <a:solidFill>
                  <a:srgbClr val="FF0000"/>
                </a:solidFill>
                <a:latin typeface="Arial"/>
                <a:cs typeface="Arial"/>
              </a:rPr>
              <a:t>kube-scheduler.tar</a:t>
            </a:r>
            <a:endParaRPr sz="14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7181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6415" y="0"/>
            <a:ext cx="9599168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69370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5793" y="0"/>
            <a:ext cx="10440415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28137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29" y="331247"/>
            <a:ext cx="318516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53" dirty="0">
                <a:solidFill>
                  <a:srgbClr val="115F92"/>
                </a:solidFill>
              </a:rPr>
              <a:t>Our</a:t>
            </a:r>
            <a:r>
              <a:rPr spc="-427" dirty="0">
                <a:solidFill>
                  <a:srgbClr val="115F92"/>
                </a:solidFill>
              </a:rPr>
              <a:t> </a:t>
            </a:r>
            <a:r>
              <a:rPr spc="40" dirty="0">
                <a:solidFill>
                  <a:srgbClr val="115F92"/>
                </a:solidFill>
              </a:rPr>
              <a:t>Design</a:t>
            </a:r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29401" y="1795271"/>
            <a:ext cx="1203113" cy="2245360"/>
          </a:xfrm>
          <a:custGeom>
            <a:avLst/>
            <a:gdLst/>
            <a:ahLst/>
            <a:cxnLst/>
            <a:rect l="l" t="t" r="r" b="b"/>
            <a:pathLst>
              <a:path w="902335" h="1684020">
                <a:moveTo>
                  <a:pt x="0" y="150368"/>
                </a:moveTo>
                <a:lnTo>
                  <a:pt x="7664" y="102835"/>
                </a:lnTo>
                <a:lnTo>
                  <a:pt x="29008" y="61557"/>
                </a:lnTo>
                <a:lnTo>
                  <a:pt x="61557" y="29008"/>
                </a:lnTo>
                <a:lnTo>
                  <a:pt x="102835" y="7664"/>
                </a:lnTo>
                <a:lnTo>
                  <a:pt x="150367" y="0"/>
                </a:lnTo>
                <a:lnTo>
                  <a:pt x="751839" y="0"/>
                </a:lnTo>
                <a:lnTo>
                  <a:pt x="799372" y="7664"/>
                </a:lnTo>
                <a:lnTo>
                  <a:pt x="840650" y="29008"/>
                </a:lnTo>
                <a:lnTo>
                  <a:pt x="873199" y="61557"/>
                </a:lnTo>
                <a:lnTo>
                  <a:pt x="894543" y="102835"/>
                </a:lnTo>
                <a:lnTo>
                  <a:pt x="902208" y="150368"/>
                </a:lnTo>
                <a:lnTo>
                  <a:pt x="902208" y="1533652"/>
                </a:lnTo>
                <a:lnTo>
                  <a:pt x="894543" y="1581184"/>
                </a:lnTo>
                <a:lnTo>
                  <a:pt x="873199" y="1622462"/>
                </a:lnTo>
                <a:lnTo>
                  <a:pt x="840650" y="1655011"/>
                </a:lnTo>
                <a:lnTo>
                  <a:pt x="799372" y="1676355"/>
                </a:lnTo>
                <a:lnTo>
                  <a:pt x="751839" y="1684020"/>
                </a:lnTo>
                <a:lnTo>
                  <a:pt x="150367" y="1684020"/>
                </a:lnTo>
                <a:lnTo>
                  <a:pt x="102835" y="1676355"/>
                </a:lnTo>
                <a:lnTo>
                  <a:pt x="61557" y="1655011"/>
                </a:lnTo>
                <a:lnTo>
                  <a:pt x="29008" y="1622462"/>
                </a:lnTo>
                <a:lnTo>
                  <a:pt x="7664" y="1581184"/>
                </a:lnTo>
                <a:lnTo>
                  <a:pt x="0" y="1533652"/>
                </a:lnTo>
                <a:lnTo>
                  <a:pt x="0" y="150368"/>
                </a:lnTo>
                <a:close/>
              </a:path>
            </a:pathLst>
          </a:custGeom>
          <a:ln w="19812">
            <a:solidFill>
              <a:srgbClr val="E10A8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7111662" y="2756679"/>
            <a:ext cx="2404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73" dirty="0">
                <a:solidFill>
                  <a:srgbClr val="E10A87"/>
                </a:solidFill>
                <a:latin typeface="Arial Black"/>
                <a:cs typeface="Arial Black"/>
              </a:rPr>
              <a:t>M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15933" y="3257296"/>
            <a:ext cx="2609427" cy="3351107"/>
            <a:chOff x="3536950" y="2442972"/>
            <a:chExt cx="1957070" cy="2513330"/>
          </a:xfrm>
        </p:grpSpPr>
        <p:sp>
          <p:nvSpPr>
            <p:cNvPr id="7" name="object 7"/>
            <p:cNvSpPr/>
            <p:nvPr/>
          </p:nvSpPr>
          <p:spPr>
            <a:xfrm>
              <a:off x="5352288" y="2442972"/>
              <a:ext cx="141731" cy="1432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547110" y="3262122"/>
              <a:ext cx="940435" cy="1684020"/>
            </a:xfrm>
            <a:custGeom>
              <a:avLst/>
              <a:gdLst/>
              <a:ahLst/>
              <a:cxnLst/>
              <a:rect l="l" t="t" r="r" b="b"/>
              <a:pathLst>
                <a:path w="940435" h="1684020">
                  <a:moveTo>
                    <a:pt x="0" y="156717"/>
                  </a:moveTo>
                  <a:lnTo>
                    <a:pt x="7983" y="107159"/>
                  </a:lnTo>
                  <a:lnTo>
                    <a:pt x="30219" y="64136"/>
                  </a:lnTo>
                  <a:lnTo>
                    <a:pt x="64136" y="30219"/>
                  </a:lnTo>
                  <a:lnTo>
                    <a:pt x="107159" y="7983"/>
                  </a:lnTo>
                  <a:lnTo>
                    <a:pt x="156717" y="0"/>
                  </a:lnTo>
                  <a:lnTo>
                    <a:pt x="783589" y="0"/>
                  </a:lnTo>
                  <a:lnTo>
                    <a:pt x="833148" y="7983"/>
                  </a:lnTo>
                  <a:lnTo>
                    <a:pt x="876171" y="30219"/>
                  </a:lnTo>
                  <a:lnTo>
                    <a:pt x="910088" y="64136"/>
                  </a:lnTo>
                  <a:lnTo>
                    <a:pt x="932324" y="107159"/>
                  </a:lnTo>
                  <a:lnTo>
                    <a:pt x="940307" y="156717"/>
                  </a:lnTo>
                  <a:lnTo>
                    <a:pt x="940307" y="1527302"/>
                  </a:lnTo>
                  <a:lnTo>
                    <a:pt x="932324" y="1576836"/>
                  </a:lnTo>
                  <a:lnTo>
                    <a:pt x="910088" y="1619856"/>
                  </a:lnTo>
                  <a:lnTo>
                    <a:pt x="876171" y="1653781"/>
                  </a:lnTo>
                  <a:lnTo>
                    <a:pt x="833148" y="1676030"/>
                  </a:lnTo>
                  <a:lnTo>
                    <a:pt x="783589" y="1684020"/>
                  </a:lnTo>
                  <a:lnTo>
                    <a:pt x="156717" y="1684020"/>
                  </a:lnTo>
                  <a:lnTo>
                    <a:pt x="107159" y="1676030"/>
                  </a:lnTo>
                  <a:lnTo>
                    <a:pt x="64136" y="1653781"/>
                  </a:lnTo>
                  <a:lnTo>
                    <a:pt x="30219" y="1619856"/>
                  </a:lnTo>
                  <a:lnTo>
                    <a:pt x="7983" y="1576836"/>
                  </a:lnTo>
                  <a:lnTo>
                    <a:pt x="0" y="1527302"/>
                  </a:lnTo>
                  <a:lnTo>
                    <a:pt x="0" y="156717"/>
                  </a:lnTo>
                  <a:close/>
                </a:path>
              </a:pathLst>
            </a:custGeom>
            <a:ln w="19812">
              <a:solidFill>
                <a:srgbClr val="1780C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30028" y="5312596"/>
            <a:ext cx="2489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13" dirty="0">
                <a:solidFill>
                  <a:srgbClr val="1780C3"/>
                </a:solidFill>
                <a:latin typeface="Arial Black"/>
                <a:cs typeface="Arial Black"/>
              </a:rPr>
              <a:t>W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62879" y="4335949"/>
            <a:ext cx="2977727" cy="2272452"/>
            <a:chOff x="3947159" y="3251961"/>
            <a:chExt cx="2233295" cy="1704339"/>
          </a:xfrm>
        </p:grpSpPr>
        <p:sp>
          <p:nvSpPr>
            <p:cNvPr id="11" name="object 11"/>
            <p:cNvSpPr/>
            <p:nvPr/>
          </p:nvSpPr>
          <p:spPr>
            <a:xfrm>
              <a:off x="3947159" y="4351019"/>
              <a:ext cx="138683" cy="1386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9605" y="3262121"/>
              <a:ext cx="940435" cy="1684020"/>
            </a:xfrm>
            <a:custGeom>
              <a:avLst/>
              <a:gdLst/>
              <a:ahLst/>
              <a:cxnLst/>
              <a:rect l="l" t="t" r="r" b="b"/>
              <a:pathLst>
                <a:path w="940435" h="1684020">
                  <a:moveTo>
                    <a:pt x="0" y="156717"/>
                  </a:moveTo>
                  <a:lnTo>
                    <a:pt x="7983" y="107159"/>
                  </a:lnTo>
                  <a:lnTo>
                    <a:pt x="30219" y="64136"/>
                  </a:lnTo>
                  <a:lnTo>
                    <a:pt x="64136" y="30219"/>
                  </a:lnTo>
                  <a:lnTo>
                    <a:pt x="107159" y="7983"/>
                  </a:lnTo>
                  <a:lnTo>
                    <a:pt x="156718" y="0"/>
                  </a:lnTo>
                  <a:lnTo>
                    <a:pt x="783590" y="0"/>
                  </a:lnTo>
                  <a:lnTo>
                    <a:pt x="833148" y="7983"/>
                  </a:lnTo>
                  <a:lnTo>
                    <a:pt x="876171" y="30219"/>
                  </a:lnTo>
                  <a:lnTo>
                    <a:pt x="910088" y="64136"/>
                  </a:lnTo>
                  <a:lnTo>
                    <a:pt x="932324" y="107159"/>
                  </a:lnTo>
                  <a:lnTo>
                    <a:pt x="940308" y="156717"/>
                  </a:lnTo>
                  <a:lnTo>
                    <a:pt x="940308" y="1527302"/>
                  </a:lnTo>
                  <a:lnTo>
                    <a:pt x="932324" y="1576836"/>
                  </a:lnTo>
                  <a:lnTo>
                    <a:pt x="910088" y="1619856"/>
                  </a:lnTo>
                  <a:lnTo>
                    <a:pt x="876171" y="1653781"/>
                  </a:lnTo>
                  <a:lnTo>
                    <a:pt x="833148" y="1676030"/>
                  </a:lnTo>
                  <a:lnTo>
                    <a:pt x="783590" y="1684020"/>
                  </a:lnTo>
                  <a:lnTo>
                    <a:pt x="156718" y="1684020"/>
                  </a:lnTo>
                  <a:lnTo>
                    <a:pt x="107159" y="1676030"/>
                  </a:lnTo>
                  <a:lnTo>
                    <a:pt x="64136" y="1653781"/>
                  </a:lnTo>
                  <a:lnTo>
                    <a:pt x="30219" y="1619856"/>
                  </a:lnTo>
                  <a:lnTo>
                    <a:pt x="7983" y="1576836"/>
                  </a:lnTo>
                  <a:lnTo>
                    <a:pt x="0" y="1527302"/>
                  </a:lnTo>
                  <a:lnTo>
                    <a:pt x="0" y="156717"/>
                  </a:lnTo>
                  <a:close/>
                </a:path>
              </a:pathLst>
            </a:custGeom>
            <a:ln w="19812">
              <a:solidFill>
                <a:srgbClr val="1780C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73356" y="5312596"/>
            <a:ext cx="2489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13" dirty="0">
                <a:solidFill>
                  <a:srgbClr val="1780C3"/>
                </a:solidFill>
                <a:latin typeface="Arial Black"/>
                <a:cs typeface="Arial Black"/>
              </a:rPr>
              <a:t>W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1781725"/>
            <a:ext cx="7691120" cy="4204547"/>
            <a:chOff x="0" y="1336294"/>
            <a:chExt cx="5768340" cy="3153410"/>
          </a:xfrm>
        </p:grpSpPr>
        <p:sp>
          <p:nvSpPr>
            <p:cNvPr id="15" name="object 15"/>
            <p:cNvSpPr/>
            <p:nvPr/>
          </p:nvSpPr>
          <p:spPr>
            <a:xfrm>
              <a:off x="5629655" y="4351020"/>
              <a:ext cx="138683" cy="1386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68706" y="1397609"/>
              <a:ext cx="443230" cy="269240"/>
            </a:xfrm>
            <a:custGeom>
              <a:avLst/>
              <a:gdLst/>
              <a:ahLst/>
              <a:cxnLst/>
              <a:rect l="l" t="t" r="r" b="b"/>
              <a:pathLst>
                <a:path w="443230" h="269239">
                  <a:moveTo>
                    <a:pt x="385140" y="19215"/>
                  </a:moveTo>
                  <a:lnTo>
                    <a:pt x="383616" y="11760"/>
                  </a:lnTo>
                  <a:lnTo>
                    <a:pt x="379476" y="5651"/>
                  </a:lnTo>
                  <a:lnTo>
                    <a:pt x="373354" y="1511"/>
                  </a:lnTo>
                  <a:lnTo>
                    <a:pt x="365887" y="0"/>
                  </a:lnTo>
                  <a:lnTo>
                    <a:pt x="356247" y="0"/>
                  </a:lnTo>
                  <a:lnTo>
                    <a:pt x="356247" y="28829"/>
                  </a:lnTo>
                  <a:lnTo>
                    <a:pt x="356247" y="192214"/>
                  </a:lnTo>
                  <a:lnTo>
                    <a:pt x="86652" y="192214"/>
                  </a:lnTo>
                  <a:lnTo>
                    <a:pt x="86652" y="28829"/>
                  </a:lnTo>
                  <a:lnTo>
                    <a:pt x="356247" y="28829"/>
                  </a:lnTo>
                  <a:lnTo>
                    <a:pt x="356247" y="0"/>
                  </a:lnTo>
                  <a:lnTo>
                    <a:pt x="77025" y="0"/>
                  </a:lnTo>
                  <a:lnTo>
                    <a:pt x="69545" y="1511"/>
                  </a:lnTo>
                  <a:lnTo>
                    <a:pt x="63423" y="5651"/>
                  </a:lnTo>
                  <a:lnTo>
                    <a:pt x="59283" y="11760"/>
                  </a:lnTo>
                  <a:lnTo>
                    <a:pt x="57772" y="19215"/>
                  </a:lnTo>
                  <a:lnTo>
                    <a:pt x="57772" y="221043"/>
                  </a:lnTo>
                  <a:lnTo>
                    <a:pt x="385140" y="221043"/>
                  </a:lnTo>
                  <a:lnTo>
                    <a:pt x="385140" y="192214"/>
                  </a:lnTo>
                  <a:lnTo>
                    <a:pt x="385140" y="28829"/>
                  </a:lnTo>
                  <a:lnTo>
                    <a:pt x="385140" y="19215"/>
                  </a:lnTo>
                  <a:close/>
                </a:path>
                <a:path w="443230" h="269239">
                  <a:moveTo>
                    <a:pt x="442912" y="240258"/>
                  </a:moveTo>
                  <a:lnTo>
                    <a:pt x="250342" y="240258"/>
                  </a:lnTo>
                  <a:lnTo>
                    <a:pt x="250342" y="247954"/>
                  </a:lnTo>
                  <a:lnTo>
                    <a:pt x="248412" y="249872"/>
                  </a:lnTo>
                  <a:lnTo>
                    <a:pt x="194487" y="249872"/>
                  </a:lnTo>
                  <a:lnTo>
                    <a:pt x="192570" y="247954"/>
                  </a:lnTo>
                  <a:lnTo>
                    <a:pt x="192570" y="240258"/>
                  </a:lnTo>
                  <a:lnTo>
                    <a:pt x="0" y="240258"/>
                  </a:lnTo>
                  <a:lnTo>
                    <a:pt x="0" y="249872"/>
                  </a:lnTo>
                  <a:lnTo>
                    <a:pt x="1511" y="257340"/>
                  </a:lnTo>
                  <a:lnTo>
                    <a:pt x="5651" y="263448"/>
                  </a:lnTo>
                  <a:lnTo>
                    <a:pt x="11772" y="267576"/>
                  </a:lnTo>
                  <a:lnTo>
                    <a:pt x="19253" y="269100"/>
                  </a:lnTo>
                  <a:lnTo>
                    <a:pt x="423646" y="269100"/>
                  </a:lnTo>
                  <a:lnTo>
                    <a:pt x="431126" y="267576"/>
                  </a:lnTo>
                  <a:lnTo>
                    <a:pt x="437248" y="263448"/>
                  </a:lnTo>
                  <a:lnTo>
                    <a:pt x="441388" y="257340"/>
                  </a:lnTo>
                  <a:lnTo>
                    <a:pt x="442912" y="249872"/>
                  </a:lnTo>
                  <a:lnTo>
                    <a:pt x="442912" y="2402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59079" y="1763268"/>
              <a:ext cx="461772" cy="4617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1993392"/>
              <a:ext cx="1469136" cy="11841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5814" y="1346454"/>
              <a:ext cx="904240" cy="1684020"/>
            </a:xfrm>
            <a:custGeom>
              <a:avLst/>
              <a:gdLst/>
              <a:ahLst/>
              <a:cxnLst/>
              <a:rect l="l" t="t" r="r" b="b"/>
              <a:pathLst>
                <a:path w="904239" h="1684020">
                  <a:moveTo>
                    <a:pt x="0" y="150622"/>
                  </a:moveTo>
                  <a:lnTo>
                    <a:pt x="7678" y="103014"/>
                  </a:lnTo>
                  <a:lnTo>
                    <a:pt x="29061" y="61667"/>
                  </a:lnTo>
                  <a:lnTo>
                    <a:pt x="61667" y="29061"/>
                  </a:lnTo>
                  <a:lnTo>
                    <a:pt x="103014" y="7678"/>
                  </a:lnTo>
                  <a:lnTo>
                    <a:pt x="150622" y="0"/>
                  </a:lnTo>
                  <a:lnTo>
                    <a:pt x="753110" y="0"/>
                  </a:lnTo>
                  <a:lnTo>
                    <a:pt x="800717" y="7678"/>
                  </a:lnTo>
                  <a:lnTo>
                    <a:pt x="842064" y="29061"/>
                  </a:lnTo>
                  <a:lnTo>
                    <a:pt x="874670" y="61667"/>
                  </a:lnTo>
                  <a:lnTo>
                    <a:pt x="896053" y="103014"/>
                  </a:lnTo>
                  <a:lnTo>
                    <a:pt x="903732" y="150622"/>
                  </a:lnTo>
                  <a:lnTo>
                    <a:pt x="903732" y="1533398"/>
                  </a:lnTo>
                  <a:lnTo>
                    <a:pt x="896053" y="1581005"/>
                  </a:lnTo>
                  <a:lnTo>
                    <a:pt x="874670" y="1622352"/>
                  </a:lnTo>
                  <a:lnTo>
                    <a:pt x="842064" y="1654958"/>
                  </a:lnTo>
                  <a:lnTo>
                    <a:pt x="800717" y="1676341"/>
                  </a:lnTo>
                  <a:lnTo>
                    <a:pt x="753110" y="1684020"/>
                  </a:lnTo>
                  <a:lnTo>
                    <a:pt x="150622" y="1684020"/>
                  </a:lnTo>
                  <a:lnTo>
                    <a:pt x="103014" y="1676341"/>
                  </a:lnTo>
                  <a:lnTo>
                    <a:pt x="61667" y="1654958"/>
                  </a:lnTo>
                  <a:lnTo>
                    <a:pt x="29061" y="1622352"/>
                  </a:lnTo>
                  <a:lnTo>
                    <a:pt x="7678" y="1581005"/>
                  </a:lnTo>
                  <a:lnTo>
                    <a:pt x="0" y="1533398"/>
                  </a:lnTo>
                  <a:lnTo>
                    <a:pt x="0" y="150622"/>
                  </a:lnTo>
                  <a:close/>
                </a:path>
              </a:pathLst>
            </a:custGeom>
            <a:ln w="19812">
              <a:solidFill>
                <a:srgbClr val="E10A8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611368" y="2756679"/>
            <a:ext cx="2404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73" dirty="0">
                <a:solidFill>
                  <a:srgbClr val="E10A87"/>
                </a:solidFill>
                <a:latin typeface="Arial Black"/>
                <a:cs typeface="Arial Black"/>
              </a:rPr>
              <a:t>M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634737" y="794174"/>
            <a:ext cx="1463887" cy="2654300"/>
            <a:chOff x="4226052" y="595630"/>
            <a:chExt cx="1097915" cy="1990725"/>
          </a:xfrm>
        </p:grpSpPr>
        <p:sp>
          <p:nvSpPr>
            <p:cNvPr id="22" name="object 22"/>
            <p:cNvSpPr/>
            <p:nvPr/>
          </p:nvSpPr>
          <p:spPr>
            <a:xfrm>
              <a:off x="4226052" y="2442972"/>
              <a:ext cx="143255" cy="14325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4409694" y="605790"/>
              <a:ext cx="904240" cy="455930"/>
            </a:xfrm>
            <a:custGeom>
              <a:avLst/>
              <a:gdLst/>
              <a:ahLst/>
              <a:cxnLst/>
              <a:rect l="l" t="t" r="r" b="b"/>
              <a:pathLst>
                <a:path w="904239" h="455930">
                  <a:moveTo>
                    <a:pt x="0" y="75946"/>
                  </a:moveTo>
                  <a:lnTo>
                    <a:pt x="5972" y="46398"/>
                  </a:lnTo>
                  <a:lnTo>
                    <a:pt x="22256" y="22256"/>
                  </a:lnTo>
                  <a:lnTo>
                    <a:pt x="46398" y="5972"/>
                  </a:lnTo>
                  <a:lnTo>
                    <a:pt x="75945" y="0"/>
                  </a:lnTo>
                  <a:lnTo>
                    <a:pt x="827785" y="0"/>
                  </a:lnTo>
                  <a:lnTo>
                    <a:pt x="857333" y="5972"/>
                  </a:lnTo>
                  <a:lnTo>
                    <a:pt x="881475" y="22256"/>
                  </a:lnTo>
                  <a:lnTo>
                    <a:pt x="897759" y="46398"/>
                  </a:lnTo>
                  <a:lnTo>
                    <a:pt x="903731" y="75946"/>
                  </a:lnTo>
                  <a:lnTo>
                    <a:pt x="903731" y="379730"/>
                  </a:lnTo>
                  <a:lnTo>
                    <a:pt x="897759" y="409277"/>
                  </a:lnTo>
                  <a:lnTo>
                    <a:pt x="881475" y="433419"/>
                  </a:lnTo>
                  <a:lnTo>
                    <a:pt x="857333" y="449703"/>
                  </a:lnTo>
                  <a:lnTo>
                    <a:pt x="827785" y="455675"/>
                  </a:lnTo>
                  <a:lnTo>
                    <a:pt x="75945" y="455675"/>
                  </a:lnTo>
                  <a:lnTo>
                    <a:pt x="46398" y="449703"/>
                  </a:lnTo>
                  <a:lnTo>
                    <a:pt x="22256" y="433419"/>
                  </a:lnTo>
                  <a:lnTo>
                    <a:pt x="5972" y="409277"/>
                  </a:lnTo>
                  <a:lnTo>
                    <a:pt x="0" y="379730"/>
                  </a:lnTo>
                  <a:lnTo>
                    <a:pt x="0" y="75946"/>
                  </a:lnTo>
                  <a:close/>
                </a:path>
              </a:pathLst>
            </a:custGeom>
            <a:ln w="19812">
              <a:solidFill>
                <a:srgbClr val="E10A8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54320" y="2501392"/>
            <a:ext cx="758613" cy="226623"/>
          </a:xfrm>
          <a:prstGeom prst="rect">
            <a:avLst/>
          </a:prstGeom>
          <a:solidFill>
            <a:srgbClr val="6F2F9F">
              <a:alpha val="19999"/>
            </a:srgbClr>
          </a:solidFill>
        </p:spPr>
        <p:txBody>
          <a:bodyPr vert="horz" wrap="square" lIns="0" tIns="61807" rIns="0" bIns="0" rtlCol="0">
            <a:spAutoFit/>
          </a:bodyPr>
          <a:lstStyle/>
          <a:p>
            <a:pPr marL="210815">
              <a:spcBef>
                <a:spcPts val="487"/>
              </a:spcBef>
            </a:pPr>
            <a:r>
              <a:rPr sz="1067" b="1" spc="-67" dirty="0">
                <a:solidFill>
                  <a:srgbClr val="483390"/>
                </a:solidFill>
                <a:latin typeface="Arial"/>
                <a:cs typeface="Arial"/>
              </a:rPr>
              <a:t>ETCD</a:t>
            </a:r>
            <a:endParaRPr sz="1067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51905" y="2491231"/>
            <a:ext cx="756073" cy="228332"/>
          </a:xfrm>
          <a:prstGeom prst="rect">
            <a:avLst/>
          </a:prstGeom>
          <a:solidFill>
            <a:srgbClr val="6F2F9F">
              <a:alpha val="19999"/>
            </a:srgbClr>
          </a:solidFill>
        </p:spPr>
        <p:txBody>
          <a:bodyPr vert="horz" wrap="square" lIns="0" tIns="63500" rIns="0" bIns="0" rtlCol="0">
            <a:spAutoFit/>
          </a:bodyPr>
          <a:lstStyle/>
          <a:p>
            <a:pPr marL="209968">
              <a:spcBef>
                <a:spcPts val="500"/>
              </a:spcBef>
            </a:pPr>
            <a:r>
              <a:rPr sz="1067" b="1" spc="-67" dirty="0">
                <a:solidFill>
                  <a:srgbClr val="483390"/>
                </a:solidFill>
                <a:latin typeface="Arial"/>
                <a:cs typeface="Arial"/>
              </a:rPr>
              <a:t>ETCD</a:t>
            </a:r>
            <a:endParaRPr sz="1067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44412" y="950298"/>
            <a:ext cx="273472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367" dirty="0">
                <a:solidFill>
                  <a:srgbClr val="E10A87"/>
                </a:solidFill>
                <a:latin typeface="Arial Black"/>
                <a:cs typeface="Arial Black"/>
              </a:rPr>
              <a:t>LB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275071" y="1190751"/>
            <a:ext cx="1303020" cy="2324947"/>
            <a:chOff x="3956303" y="893063"/>
            <a:chExt cx="977265" cy="1743710"/>
          </a:xfrm>
        </p:grpSpPr>
        <p:sp>
          <p:nvSpPr>
            <p:cNvPr id="28" name="object 28"/>
            <p:cNvSpPr/>
            <p:nvPr/>
          </p:nvSpPr>
          <p:spPr>
            <a:xfrm>
              <a:off x="4789931" y="893063"/>
              <a:ext cx="143255" cy="14173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3956303" y="2391155"/>
              <a:ext cx="672465" cy="245745"/>
            </a:xfrm>
            <a:custGeom>
              <a:avLst/>
              <a:gdLst/>
              <a:ahLst/>
              <a:cxnLst/>
              <a:rect l="l" t="t" r="r" b="b"/>
              <a:pathLst>
                <a:path w="672464" h="245744">
                  <a:moveTo>
                    <a:pt x="672084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672084" y="245363"/>
                  </a:lnTo>
                  <a:lnTo>
                    <a:pt x="672084" y="0"/>
                  </a:lnTo>
                  <a:close/>
                </a:path>
              </a:pathLst>
            </a:custGeom>
            <a:solidFill>
              <a:srgbClr val="E10A87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074490" y="1826090"/>
            <a:ext cx="3909060" cy="848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8770" indent="-382684">
              <a:spcBef>
                <a:spcPts val="140"/>
              </a:spcBef>
              <a:buFont typeface="Wingdings"/>
              <a:buChar char=""/>
              <a:tabLst>
                <a:tab pos="398770" algn="l"/>
                <a:tab pos="399617" algn="l"/>
              </a:tabLst>
            </a:pPr>
            <a:r>
              <a:rPr spc="-187" dirty="0">
                <a:latin typeface="Arial Black"/>
                <a:cs typeface="Arial Black"/>
              </a:rPr>
              <a:t>Deploy </a:t>
            </a:r>
            <a:r>
              <a:rPr spc="-313" dirty="0">
                <a:latin typeface="Arial Black"/>
                <a:cs typeface="Arial Black"/>
              </a:rPr>
              <a:t>ETCD</a:t>
            </a:r>
            <a:r>
              <a:rPr spc="-53" dirty="0">
                <a:latin typeface="Arial Black"/>
                <a:cs typeface="Arial Black"/>
              </a:rPr>
              <a:t> </a:t>
            </a:r>
            <a:r>
              <a:rPr spc="-233" dirty="0">
                <a:latin typeface="Arial Black"/>
                <a:cs typeface="Arial Black"/>
              </a:rPr>
              <a:t>Cluster</a:t>
            </a:r>
            <a:endParaRPr>
              <a:latin typeface="Arial Black"/>
              <a:cs typeface="Arial Black"/>
            </a:endParaRPr>
          </a:p>
          <a:p>
            <a:pPr marL="398770" indent="-382684">
              <a:buFont typeface="Wingdings"/>
              <a:buChar char=""/>
              <a:tabLst>
                <a:tab pos="398770" algn="l"/>
                <a:tab pos="399617" algn="l"/>
              </a:tabLst>
            </a:pPr>
            <a:r>
              <a:rPr spc="-180" dirty="0">
                <a:latin typeface="Arial Black"/>
                <a:cs typeface="Arial Black"/>
              </a:rPr>
              <a:t>Deploy </a:t>
            </a:r>
            <a:r>
              <a:rPr spc="-193" dirty="0">
                <a:latin typeface="Arial Black"/>
                <a:cs typeface="Arial Black"/>
              </a:rPr>
              <a:t>Control </a:t>
            </a:r>
            <a:r>
              <a:rPr spc="-240" dirty="0">
                <a:latin typeface="Arial Black"/>
                <a:cs typeface="Arial Black"/>
              </a:rPr>
              <a:t>Plane</a:t>
            </a:r>
            <a:r>
              <a:rPr spc="-67" dirty="0">
                <a:latin typeface="Arial Black"/>
                <a:cs typeface="Arial Black"/>
              </a:rPr>
              <a:t> </a:t>
            </a:r>
            <a:r>
              <a:rPr spc="-213" dirty="0">
                <a:latin typeface="Arial Black"/>
                <a:cs typeface="Arial Black"/>
              </a:rPr>
              <a:t>Components</a:t>
            </a:r>
            <a:endParaRPr>
              <a:latin typeface="Arial Black"/>
              <a:cs typeface="Arial Black"/>
            </a:endParaRPr>
          </a:p>
          <a:p>
            <a:pPr marL="398770" indent="-382684">
              <a:buFont typeface="Wingdings"/>
              <a:buChar char=""/>
              <a:tabLst>
                <a:tab pos="398770" algn="l"/>
                <a:tab pos="399617" algn="l"/>
              </a:tabLst>
            </a:pPr>
            <a:r>
              <a:rPr spc="-233" dirty="0">
                <a:latin typeface="Arial Black"/>
                <a:cs typeface="Arial Black"/>
              </a:rPr>
              <a:t>Network</a:t>
            </a:r>
            <a:r>
              <a:rPr spc="-133" dirty="0">
                <a:latin typeface="Arial Black"/>
                <a:cs typeface="Arial Black"/>
              </a:rPr>
              <a:t> </a:t>
            </a:r>
            <a:r>
              <a:rPr spc="-240" dirty="0">
                <a:latin typeface="Arial Black"/>
                <a:cs typeface="Arial Black"/>
              </a:rPr>
              <a:t>Loadbalancer</a:t>
            </a:r>
            <a:endParaRPr>
              <a:latin typeface="Arial Black"/>
              <a:cs typeface="Arial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85231" y="3568193"/>
            <a:ext cx="896620" cy="245431"/>
          </a:xfrm>
          <a:prstGeom prst="rect">
            <a:avLst/>
          </a:prstGeom>
          <a:solidFill>
            <a:srgbClr val="F68715">
              <a:alpha val="43920"/>
            </a:srgbClr>
          </a:solidFill>
        </p:spPr>
        <p:txBody>
          <a:bodyPr vert="horz" wrap="square" lIns="0" tIns="80433" rIns="0" bIns="0" rtlCol="0">
            <a:spAutoFit/>
          </a:bodyPr>
          <a:lstStyle/>
          <a:p>
            <a:pPr marL="151548">
              <a:spcBef>
                <a:spcPts val="633"/>
              </a:spcBef>
            </a:pPr>
            <a:r>
              <a:rPr sz="1067" spc="-140" dirty="0">
                <a:solidFill>
                  <a:srgbClr val="F17921"/>
                </a:solidFill>
                <a:latin typeface="Arial Black"/>
                <a:cs typeface="Arial Black"/>
              </a:rPr>
              <a:t>Scheduler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85231" y="3169243"/>
            <a:ext cx="896620" cy="34552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022" marR="149010" indent="-30479">
              <a:spcBef>
                <a:spcPts val="133"/>
              </a:spcBef>
            </a:pPr>
            <a:r>
              <a:rPr sz="1067" spc="-180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067" spc="-93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sz="1067" spc="-113" dirty="0">
                <a:solidFill>
                  <a:srgbClr val="FFFFFF"/>
                </a:solidFill>
                <a:latin typeface="Arial Black"/>
                <a:cs typeface="Arial Black"/>
              </a:rPr>
              <a:t>ntr</a:t>
            </a:r>
            <a:r>
              <a:rPr sz="1067" spc="-93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sz="1067" spc="-107" dirty="0">
                <a:solidFill>
                  <a:srgbClr val="FFFFFF"/>
                </a:solidFill>
                <a:latin typeface="Arial Black"/>
                <a:cs typeface="Arial Black"/>
              </a:rPr>
              <a:t>ller  </a:t>
            </a:r>
            <a:r>
              <a:rPr sz="1067" spc="-120" dirty="0">
                <a:solidFill>
                  <a:srgbClr val="FFFFFF"/>
                </a:solidFill>
                <a:latin typeface="Arial Black"/>
                <a:cs typeface="Arial Black"/>
              </a:rPr>
              <a:t>Manager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54320" y="2119376"/>
            <a:ext cx="758613" cy="330924"/>
          </a:xfrm>
          <a:prstGeom prst="rect">
            <a:avLst/>
          </a:prstGeom>
          <a:solidFill>
            <a:srgbClr val="0C4060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59"/>
              </a:lnSpc>
            </a:pPr>
            <a:r>
              <a:rPr sz="1067" b="1" spc="-2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67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67" spc="-147" dirty="0">
                <a:solidFill>
                  <a:srgbClr val="FFFFFF"/>
                </a:solidFill>
                <a:latin typeface="Arial Black"/>
                <a:cs typeface="Arial Black"/>
              </a:rPr>
              <a:t>Server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51905" y="2109215"/>
            <a:ext cx="756073" cy="330924"/>
          </a:xfrm>
          <a:prstGeom prst="rect">
            <a:avLst/>
          </a:prstGeom>
          <a:solidFill>
            <a:srgbClr val="0C4060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R="11006" algn="ctr">
              <a:lnSpc>
                <a:spcPts val="1267"/>
              </a:lnSpc>
            </a:pPr>
            <a:r>
              <a:rPr sz="1067" b="1" spc="-2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67">
              <a:latin typeface="Arial"/>
              <a:cs typeface="Arial"/>
            </a:endParaRPr>
          </a:p>
          <a:p>
            <a:pPr marR="12700" algn="ctr"/>
            <a:r>
              <a:rPr sz="1067" spc="-147" dirty="0">
                <a:solidFill>
                  <a:srgbClr val="FFFFFF"/>
                </a:solidFill>
                <a:latin typeface="Arial Black"/>
                <a:cs typeface="Arial Black"/>
              </a:rPr>
              <a:t>Server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82815" y="3562096"/>
            <a:ext cx="894080" cy="244576"/>
          </a:xfrm>
          <a:prstGeom prst="rect">
            <a:avLst/>
          </a:prstGeom>
          <a:solidFill>
            <a:srgbClr val="F68715">
              <a:alpha val="43920"/>
            </a:srgbClr>
          </a:solidFill>
        </p:spPr>
        <p:txBody>
          <a:bodyPr vert="horz" wrap="square" lIns="0" tIns="79587" rIns="0" bIns="0" rtlCol="0">
            <a:spAutoFit/>
          </a:bodyPr>
          <a:lstStyle/>
          <a:p>
            <a:pPr marL="150703">
              <a:spcBef>
                <a:spcPts val="627"/>
              </a:spcBef>
            </a:pPr>
            <a:r>
              <a:rPr sz="1067" spc="-140" dirty="0">
                <a:solidFill>
                  <a:srgbClr val="F17921"/>
                </a:solidFill>
                <a:latin typeface="Arial Black"/>
                <a:cs typeface="Arial Black"/>
              </a:rPr>
              <a:t>Scheduler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772655" y="3182111"/>
            <a:ext cx="896620" cy="327660"/>
          </a:xfrm>
          <a:custGeom>
            <a:avLst/>
            <a:gdLst/>
            <a:ahLst/>
            <a:cxnLst/>
            <a:rect l="l" t="t" r="r" b="b"/>
            <a:pathLst>
              <a:path w="672464" h="245744">
                <a:moveTo>
                  <a:pt x="672084" y="0"/>
                </a:moveTo>
                <a:lnTo>
                  <a:pt x="0" y="0"/>
                </a:lnTo>
                <a:lnTo>
                  <a:pt x="0" y="245363"/>
                </a:lnTo>
                <a:lnTo>
                  <a:pt x="672084" y="245363"/>
                </a:lnTo>
                <a:lnTo>
                  <a:pt x="672084" y="0"/>
                </a:lnTo>
                <a:close/>
              </a:path>
            </a:pathLst>
          </a:custGeom>
          <a:solidFill>
            <a:srgbClr val="E10A87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 txBox="1"/>
          <p:nvPr/>
        </p:nvSpPr>
        <p:spPr>
          <a:xfrm>
            <a:off x="6782815" y="3182112"/>
            <a:ext cx="89408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697">
              <a:lnSpc>
                <a:spcPts val="1247"/>
              </a:lnSpc>
            </a:pPr>
            <a:r>
              <a:rPr sz="1067" spc="-120" dirty="0">
                <a:solidFill>
                  <a:srgbClr val="FFFFFF"/>
                </a:solidFill>
                <a:latin typeface="Arial Black"/>
                <a:cs typeface="Arial Black"/>
              </a:rPr>
              <a:t>Controller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82815" y="3325369"/>
            <a:ext cx="89408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0176">
              <a:spcBef>
                <a:spcPts val="133"/>
              </a:spcBef>
            </a:pPr>
            <a:r>
              <a:rPr sz="1067" spc="-120" dirty="0">
                <a:solidFill>
                  <a:srgbClr val="FFFFFF"/>
                </a:solidFill>
                <a:latin typeface="Arial Black"/>
                <a:cs typeface="Arial Black"/>
              </a:rPr>
              <a:t>Manager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76695" y="628903"/>
            <a:ext cx="896620" cy="242865"/>
          </a:xfrm>
          <a:prstGeom prst="rect">
            <a:avLst/>
          </a:prstGeom>
          <a:solidFill>
            <a:srgbClr val="433D66"/>
          </a:solidFill>
          <a:ln w="19811">
            <a:solidFill>
              <a:srgbClr val="FFFFFF"/>
            </a:solidFill>
          </a:ln>
        </p:spPr>
        <p:txBody>
          <a:bodyPr vert="horz" wrap="square" lIns="0" tIns="77892" rIns="0" bIns="0" rtlCol="0">
            <a:spAutoFit/>
          </a:bodyPr>
          <a:lstStyle/>
          <a:p>
            <a:pPr marL="171869">
              <a:spcBef>
                <a:spcPts val="612"/>
              </a:spcBef>
            </a:pPr>
            <a:r>
              <a:rPr sz="1067" spc="-160" dirty="0">
                <a:solidFill>
                  <a:srgbClr val="F1F1F1"/>
                </a:solidFill>
                <a:latin typeface="Arial Black"/>
                <a:cs typeface="Arial Black"/>
              </a:rPr>
              <a:t>HAPRoxy</a:t>
            </a:r>
            <a:endParaRPr sz="1067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8976544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792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9991343" y="6370319"/>
            <a:ext cx="2032000" cy="487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1545146" y="424856"/>
            <a:ext cx="29633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spc="13" dirty="0">
                <a:solidFill>
                  <a:srgbClr val="FFFFFF"/>
                </a:solidFill>
                <a:latin typeface="Arial"/>
                <a:cs typeface="Arial"/>
              </a:rPr>
              <a:t>104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16208" y="138176"/>
            <a:ext cx="751840" cy="796713"/>
          </a:xfrm>
          <a:custGeom>
            <a:avLst/>
            <a:gdLst/>
            <a:ahLst/>
            <a:cxnLst/>
            <a:rect l="l" t="t" r="r" b="b"/>
            <a:pathLst>
              <a:path w="563879" h="597535">
                <a:moveTo>
                  <a:pt x="297180" y="0"/>
                </a:moveTo>
                <a:lnTo>
                  <a:pt x="272415" y="0"/>
                </a:lnTo>
                <a:lnTo>
                  <a:pt x="272415" y="55499"/>
                </a:lnTo>
                <a:lnTo>
                  <a:pt x="224942" y="62280"/>
                </a:lnTo>
                <a:lnTo>
                  <a:pt x="180682" y="77444"/>
                </a:lnTo>
                <a:lnTo>
                  <a:pt x="140474" y="100126"/>
                </a:lnTo>
                <a:lnTo>
                  <a:pt x="105219" y="129463"/>
                </a:lnTo>
                <a:lnTo>
                  <a:pt x="75755" y="164579"/>
                </a:lnTo>
                <a:lnTo>
                  <a:pt x="52984" y="204609"/>
                </a:lnTo>
                <a:lnTo>
                  <a:pt x="37769" y="248678"/>
                </a:lnTo>
                <a:lnTo>
                  <a:pt x="30988" y="295910"/>
                </a:lnTo>
                <a:lnTo>
                  <a:pt x="0" y="295910"/>
                </a:lnTo>
                <a:lnTo>
                  <a:pt x="0" y="318516"/>
                </a:lnTo>
                <a:lnTo>
                  <a:pt x="55753" y="318516"/>
                </a:lnTo>
                <a:lnTo>
                  <a:pt x="55753" y="308229"/>
                </a:lnTo>
                <a:lnTo>
                  <a:pt x="60426" y="261772"/>
                </a:lnTo>
                <a:lnTo>
                  <a:pt x="73825" y="218541"/>
                </a:lnTo>
                <a:lnTo>
                  <a:pt x="95008" y="179451"/>
                </a:lnTo>
                <a:lnTo>
                  <a:pt x="123037" y="145402"/>
                </a:lnTo>
                <a:lnTo>
                  <a:pt x="156972" y="117335"/>
                </a:lnTo>
                <a:lnTo>
                  <a:pt x="195859" y="96151"/>
                </a:lnTo>
                <a:lnTo>
                  <a:pt x="238760" y="82778"/>
                </a:lnTo>
                <a:lnTo>
                  <a:pt x="284734" y="78105"/>
                </a:lnTo>
                <a:lnTo>
                  <a:pt x="297180" y="78105"/>
                </a:lnTo>
                <a:lnTo>
                  <a:pt x="297180" y="0"/>
                </a:lnTo>
                <a:close/>
              </a:path>
              <a:path w="563879" h="597535">
                <a:moveTo>
                  <a:pt x="473964" y="305562"/>
                </a:moveTo>
                <a:lnTo>
                  <a:pt x="468972" y="261937"/>
                </a:lnTo>
                <a:lnTo>
                  <a:pt x="454748" y="221780"/>
                </a:lnTo>
                <a:lnTo>
                  <a:pt x="449326" y="213182"/>
                </a:lnTo>
                <a:lnTo>
                  <a:pt x="449326" y="305562"/>
                </a:lnTo>
                <a:lnTo>
                  <a:pt x="443407" y="350062"/>
                </a:lnTo>
                <a:lnTo>
                  <a:pt x="426694" y="389915"/>
                </a:lnTo>
                <a:lnTo>
                  <a:pt x="400723" y="423595"/>
                </a:lnTo>
                <a:lnTo>
                  <a:pt x="367042" y="449567"/>
                </a:lnTo>
                <a:lnTo>
                  <a:pt x="327190" y="466280"/>
                </a:lnTo>
                <a:lnTo>
                  <a:pt x="282702" y="472186"/>
                </a:lnTo>
                <a:lnTo>
                  <a:pt x="238912" y="466280"/>
                </a:lnTo>
                <a:lnTo>
                  <a:pt x="199250" y="449567"/>
                </a:lnTo>
                <a:lnTo>
                  <a:pt x="165430" y="423595"/>
                </a:lnTo>
                <a:lnTo>
                  <a:pt x="139153" y="389915"/>
                </a:lnTo>
                <a:lnTo>
                  <a:pt x="122123" y="350062"/>
                </a:lnTo>
                <a:lnTo>
                  <a:pt x="116078" y="305562"/>
                </a:lnTo>
                <a:lnTo>
                  <a:pt x="122123" y="261785"/>
                </a:lnTo>
                <a:lnTo>
                  <a:pt x="139153" y="222123"/>
                </a:lnTo>
                <a:lnTo>
                  <a:pt x="165430" y="188302"/>
                </a:lnTo>
                <a:lnTo>
                  <a:pt x="199250" y="162026"/>
                </a:lnTo>
                <a:lnTo>
                  <a:pt x="238912" y="144995"/>
                </a:lnTo>
                <a:lnTo>
                  <a:pt x="282702" y="138938"/>
                </a:lnTo>
                <a:lnTo>
                  <a:pt x="327190" y="144995"/>
                </a:lnTo>
                <a:lnTo>
                  <a:pt x="367042" y="162026"/>
                </a:lnTo>
                <a:lnTo>
                  <a:pt x="400723" y="188302"/>
                </a:lnTo>
                <a:lnTo>
                  <a:pt x="426694" y="222123"/>
                </a:lnTo>
                <a:lnTo>
                  <a:pt x="443407" y="261785"/>
                </a:lnTo>
                <a:lnTo>
                  <a:pt x="449326" y="305562"/>
                </a:lnTo>
                <a:lnTo>
                  <a:pt x="449326" y="213182"/>
                </a:lnTo>
                <a:lnTo>
                  <a:pt x="402869" y="156552"/>
                </a:lnTo>
                <a:lnTo>
                  <a:pt x="367372" y="133870"/>
                </a:lnTo>
                <a:lnTo>
                  <a:pt x="326961" y="119392"/>
                </a:lnTo>
                <a:lnTo>
                  <a:pt x="282702" y="114300"/>
                </a:lnTo>
                <a:lnTo>
                  <a:pt x="239064" y="119392"/>
                </a:lnTo>
                <a:lnTo>
                  <a:pt x="198907" y="133870"/>
                </a:lnTo>
                <a:lnTo>
                  <a:pt x="163372" y="156552"/>
                </a:lnTo>
                <a:lnTo>
                  <a:pt x="133680" y="186245"/>
                </a:lnTo>
                <a:lnTo>
                  <a:pt x="110998" y="221780"/>
                </a:lnTo>
                <a:lnTo>
                  <a:pt x="96520" y="261937"/>
                </a:lnTo>
                <a:lnTo>
                  <a:pt x="91440" y="305562"/>
                </a:lnTo>
                <a:lnTo>
                  <a:pt x="96520" y="349834"/>
                </a:lnTo>
                <a:lnTo>
                  <a:pt x="110998" y="390245"/>
                </a:lnTo>
                <a:lnTo>
                  <a:pt x="133680" y="425742"/>
                </a:lnTo>
                <a:lnTo>
                  <a:pt x="163372" y="455218"/>
                </a:lnTo>
                <a:lnTo>
                  <a:pt x="198907" y="477621"/>
                </a:lnTo>
                <a:lnTo>
                  <a:pt x="239064" y="491845"/>
                </a:lnTo>
                <a:lnTo>
                  <a:pt x="282702" y="496824"/>
                </a:lnTo>
                <a:lnTo>
                  <a:pt x="326961" y="491845"/>
                </a:lnTo>
                <a:lnTo>
                  <a:pt x="367372" y="477621"/>
                </a:lnTo>
                <a:lnTo>
                  <a:pt x="375970" y="472186"/>
                </a:lnTo>
                <a:lnTo>
                  <a:pt x="402869" y="455218"/>
                </a:lnTo>
                <a:lnTo>
                  <a:pt x="432346" y="425742"/>
                </a:lnTo>
                <a:lnTo>
                  <a:pt x="454748" y="390245"/>
                </a:lnTo>
                <a:lnTo>
                  <a:pt x="468972" y="349834"/>
                </a:lnTo>
                <a:lnTo>
                  <a:pt x="473964" y="305562"/>
                </a:lnTo>
                <a:close/>
              </a:path>
              <a:path w="563879" h="597535">
                <a:moveTo>
                  <a:pt x="563880" y="295656"/>
                </a:moveTo>
                <a:lnTo>
                  <a:pt x="512318" y="295656"/>
                </a:lnTo>
                <a:lnTo>
                  <a:pt x="512318" y="307975"/>
                </a:lnTo>
                <a:lnTo>
                  <a:pt x="507720" y="353720"/>
                </a:lnTo>
                <a:lnTo>
                  <a:pt x="494538" y="396405"/>
                </a:lnTo>
                <a:lnTo>
                  <a:pt x="473633" y="435102"/>
                </a:lnTo>
                <a:lnTo>
                  <a:pt x="445858" y="468858"/>
                </a:lnTo>
                <a:lnTo>
                  <a:pt x="412102" y="496747"/>
                </a:lnTo>
                <a:lnTo>
                  <a:pt x="373227" y="517829"/>
                </a:lnTo>
                <a:lnTo>
                  <a:pt x="330098" y="531164"/>
                </a:lnTo>
                <a:lnTo>
                  <a:pt x="283591" y="535813"/>
                </a:lnTo>
                <a:lnTo>
                  <a:pt x="271272" y="535813"/>
                </a:lnTo>
                <a:lnTo>
                  <a:pt x="271272" y="597408"/>
                </a:lnTo>
                <a:lnTo>
                  <a:pt x="296037" y="597408"/>
                </a:lnTo>
                <a:lnTo>
                  <a:pt x="296037" y="558419"/>
                </a:lnTo>
                <a:lnTo>
                  <a:pt x="343395" y="551700"/>
                </a:lnTo>
                <a:lnTo>
                  <a:pt x="387578" y="536740"/>
                </a:lnTo>
                <a:lnTo>
                  <a:pt x="427697" y="514324"/>
                </a:lnTo>
                <a:lnTo>
                  <a:pt x="462889" y="485254"/>
                </a:lnTo>
                <a:lnTo>
                  <a:pt x="492302" y="450316"/>
                </a:lnTo>
                <a:lnTo>
                  <a:pt x="515035" y="410311"/>
                </a:lnTo>
                <a:lnTo>
                  <a:pt x="530250" y="366039"/>
                </a:lnTo>
                <a:lnTo>
                  <a:pt x="537083" y="318262"/>
                </a:lnTo>
                <a:lnTo>
                  <a:pt x="563880" y="318262"/>
                </a:lnTo>
                <a:lnTo>
                  <a:pt x="563880" y="29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1" y="2185756"/>
            <a:ext cx="5425439" cy="4672753"/>
          </a:xfrm>
          <a:custGeom>
            <a:avLst/>
            <a:gdLst/>
            <a:ahLst/>
            <a:cxnLst/>
            <a:rect l="l" t="t" r="r" b="b"/>
            <a:pathLst>
              <a:path w="4069079" h="3504565">
                <a:moveTo>
                  <a:pt x="43994" y="3450892"/>
                </a:moveTo>
                <a:lnTo>
                  <a:pt x="21947" y="3454098"/>
                </a:lnTo>
                <a:lnTo>
                  <a:pt x="2405" y="3466668"/>
                </a:lnTo>
                <a:lnTo>
                  <a:pt x="0" y="3469696"/>
                </a:lnTo>
                <a:lnTo>
                  <a:pt x="0" y="3504183"/>
                </a:lnTo>
                <a:lnTo>
                  <a:pt x="104762" y="3504183"/>
                </a:lnTo>
                <a:lnTo>
                  <a:pt x="104201" y="3500395"/>
                </a:lnTo>
                <a:lnTo>
                  <a:pt x="102271" y="3493373"/>
                </a:lnTo>
                <a:lnTo>
                  <a:pt x="124274" y="3483386"/>
                </a:lnTo>
                <a:lnTo>
                  <a:pt x="98935" y="3483386"/>
                </a:lnTo>
                <a:lnTo>
                  <a:pt x="85611" y="3470062"/>
                </a:lnTo>
                <a:lnTo>
                  <a:pt x="66047" y="3456422"/>
                </a:lnTo>
                <a:lnTo>
                  <a:pt x="43994" y="3450892"/>
                </a:lnTo>
                <a:close/>
              </a:path>
              <a:path w="4069079" h="3504565">
                <a:moveTo>
                  <a:pt x="184341" y="3460151"/>
                </a:moveTo>
                <a:lnTo>
                  <a:pt x="175463" y="3460151"/>
                </a:lnTo>
                <a:lnTo>
                  <a:pt x="162098" y="3504183"/>
                </a:lnTo>
                <a:lnTo>
                  <a:pt x="169698" y="3504183"/>
                </a:lnTo>
                <a:lnTo>
                  <a:pt x="184341" y="3460151"/>
                </a:lnTo>
                <a:close/>
              </a:path>
              <a:path w="4069079" h="3504565">
                <a:moveTo>
                  <a:pt x="387770" y="3377120"/>
                </a:moveTo>
                <a:lnTo>
                  <a:pt x="385064" y="3377120"/>
                </a:lnTo>
                <a:lnTo>
                  <a:pt x="358945" y="3504183"/>
                </a:lnTo>
                <a:lnTo>
                  <a:pt x="364046" y="3504183"/>
                </a:lnTo>
                <a:lnTo>
                  <a:pt x="387770" y="3377120"/>
                </a:lnTo>
                <a:close/>
              </a:path>
              <a:path w="4069079" h="3504565">
                <a:moveTo>
                  <a:pt x="2584417" y="2520137"/>
                </a:moveTo>
                <a:lnTo>
                  <a:pt x="2467737" y="2520137"/>
                </a:lnTo>
                <a:lnTo>
                  <a:pt x="2464435" y="2523464"/>
                </a:lnTo>
                <a:lnTo>
                  <a:pt x="2467864" y="2526792"/>
                </a:lnTo>
                <a:lnTo>
                  <a:pt x="1226801" y="3504183"/>
                </a:lnTo>
                <a:lnTo>
                  <a:pt x="1235267" y="3504183"/>
                </a:lnTo>
                <a:lnTo>
                  <a:pt x="2471166" y="2536786"/>
                </a:lnTo>
                <a:lnTo>
                  <a:pt x="2579779" y="2536786"/>
                </a:lnTo>
                <a:lnTo>
                  <a:pt x="2583894" y="2524810"/>
                </a:lnTo>
                <a:lnTo>
                  <a:pt x="2584417" y="2520137"/>
                </a:lnTo>
                <a:close/>
              </a:path>
              <a:path w="4069079" h="3504565">
                <a:moveTo>
                  <a:pt x="2579779" y="2536786"/>
                </a:moveTo>
                <a:lnTo>
                  <a:pt x="2471166" y="2536786"/>
                </a:lnTo>
                <a:lnTo>
                  <a:pt x="2474468" y="2540114"/>
                </a:lnTo>
                <a:lnTo>
                  <a:pt x="2477770" y="2550109"/>
                </a:lnTo>
                <a:lnTo>
                  <a:pt x="2481199" y="2553436"/>
                </a:lnTo>
                <a:lnTo>
                  <a:pt x="2487803" y="2560091"/>
                </a:lnTo>
                <a:lnTo>
                  <a:pt x="2173777" y="3504183"/>
                </a:lnTo>
                <a:lnTo>
                  <a:pt x="2184921" y="3504183"/>
                </a:lnTo>
                <a:lnTo>
                  <a:pt x="2497836" y="2563431"/>
                </a:lnTo>
                <a:lnTo>
                  <a:pt x="2554889" y="2563431"/>
                </a:lnTo>
                <a:lnTo>
                  <a:pt x="2564384" y="2556827"/>
                </a:lnTo>
                <a:lnTo>
                  <a:pt x="2577455" y="2556827"/>
                </a:lnTo>
                <a:lnTo>
                  <a:pt x="2570988" y="2550172"/>
                </a:lnTo>
                <a:lnTo>
                  <a:pt x="2579161" y="2538585"/>
                </a:lnTo>
                <a:lnTo>
                  <a:pt x="2579779" y="2536786"/>
                </a:lnTo>
                <a:close/>
              </a:path>
              <a:path w="4069079" h="3504565">
                <a:moveTo>
                  <a:pt x="2554889" y="2563431"/>
                </a:moveTo>
                <a:lnTo>
                  <a:pt x="2497836" y="2563431"/>
                </a:lnTo>
                <a:lnTo>
                  <a:pt x="2343940" y="3504183"/>
                </a:lnTo>
                <a:lnTo>
                  <a:pt x="2352424" y="3504183"/>
                </a:lnTo>
                <a:lnTo>
                  <a:pt x="2507742" y="2566771"/>
                </a:lnTo>
                <a:lnTo>
                  <a:pt x="2546764" y="2566771"/>
                </a:lnTo>
                <a:lnTo>
                  <a:pt x="2552729" y="2564933"/>
                </a:lnTo>
                <a:lnTo>
                  <a:pt x="2554889" y="2563431"/>
                </a:lnTo>
                <a:close/>
              </a:path>
              <a:path w="4069079" h="3504565">
                <a:moveTo>
                  <a:pt x="2577455" y="2556827"/>
                </a:moveTo>
                <a:lnTo>
                  <a:pt x="2564384" y="2556827"/>
                </a:lnTo>
                <a:lnTo>
                  <a:pt x="3257169" y="3262960"/>
                </a:lnTo>
                <a:lnTo>
                  <a:pt x="3250307" y="3283335"/>
                </a:lnTo>
                <a:lnTo>
                  <a:pt x="3255347" y="3322862"/>
                </a:lnTo>
                <a:lnTo>
                  <a:pt x="3277235" y="3342855"/>
                </a:lnTo>
                <a:lnTo>
                  <a:pt x="3189972" y="3504183"/>
                </a:lnTo>
                <a:lnTo>
                  <a:pt x="3195073" y="3504183"/>
                </a:lnTo>
                <a:lnTo>
                  <a:pt x="3280537" y="3346183"/>
                </a:lnTo>
                <a:lnTo>
                  <a:pt x="3344304" y="3346183"/>
                </a:lnTo>
                <a:lnTo>
                  <a:pt x="3353689" y="3339579"/>
                </a:lnTo>
                <a:lnTo>
                  <a:pt x="3366833" y="3319517"/>
                </a:lnTo>
                <a:lnTo>
                  <a:pt x="3371215" y="3296331"/>
                </a:lnTo>
                <a:lnTo>
                  <a:pt x="3366833" y="3273137"/>
                </a:lnTo>
                <a:lnTo>
                  <a:pt x="3357994" y="3259632"/>
                </a:lnTo>
                <a:lnTo>
                  <a:pt x="3260471" y="3259632"/>
                </a:lnTo>
                <a:lnTo>
                  <a:pt x="2577455" y="2556827"/>
                </a:lnTo>
                <a:close/>
              </a:path>
              <a:path w="4069079" h="3504565">
                <a:moveTo>
                  <a:pt x="0" y="2253388"/>
                </a:moveTo>
                <a:lnTo>
                  <a:pt x="0" y="2259722"/>
                </a:lnTo>
                <a:lnTo>
                  <a:pt x="533984" y="2322220"/>
                </a:lnTo>
                <a:lnTo>
                  <a:pt x="533317" y="2335166"/>
                </a:lnTo>
                <a:lnTo>
                  <a:pt x="550722" y="2372220"/>
                </a:lnTo>
                <a:lnTo>
                  <a:pt x="563981" y="2378824"/>
                </a:lnTo>
                <a:lnTo>
                  <a:pt x="182118" y="3453500"/>
                </a:lnTo>
                <a:lnTo>
                  <a:pt x="98935" y="3483386"/>
                </a:lnTo>
                <a:lnTo>
                  <a:pt x="124274" y="3483386"/>
                </a:lnTo>
                <a:lnTo>
                  <a:pt x="175463" y="3460151"/>
                </a:lnTo>
                <a:lnTo>
                  <a:pt x="184341" y="3460151"/>
                </a:lnTo>
                <a:lnTo>
                  <a:pt x="185445" y="3456832"/>
                </a:lnTo>
                <a:lnTo>
                  <a:pt x="210443" y="3446849"/>
                </a:lnTo>
                <a:lnTo>
                  <a:pt x="188760" y="3446849"/>
                </a:lnTo>
                <a:lnTo>
                  <a:pt x="570649" y="2385479"/>
                </a:lnTo>
                <a:lnTo>
                  <a:pt x="615455" y="2385479"/>
                </a:lnTo>
                <a:lnTo>
                  <a:pt x="623684" y="2382296"/>
                </a:lnTo>
                <a:lnTo>
                  <a:pt x="651211" y="2344147"/>
                </a:lnTo>
                <a:lnTo>
                  <a:pt x="653808" y="2335618"/>
                </a:lnTo>
                <a:lnTo>
                  <a:pt x="719740" y="2335618"/>
                </a:lnTo>
                <a:lnTo>
                  <a:pt x="653796" y="2328964"/>
                </a:lnTo>
                <a:lnTo>
                  <a:pt x="653707" y="2322220"/>
                </a:lnTo>
                <a:lnTo>
                  <a:pt x="650468" y="2318981"/>
                </a:lnTo>
                <a:lnTo>
                  <a:pt x="650462" y="2315552"/>
                </a:lnTo>
                <a:lnTo>
                  <a:pt x="533971" y="2315552"/>
                </a:lnTo>
                <a:lnTo>
                  <a:pt x="0" y="2253388"/>
                </a:lnTo>
                <a:close/>
              </a:path>
              <a:path w="4069079" h="3504565">
                <a:moveTo>
                  <a:pt x="615455" y="2385479"/>
                </a:moveTo>
                <a:lnTo>
                  <a:pt x="570649" y="2385479"/>
                </a:lnTo>
                <a:lnTo>
                  <a:pt x="385064" y="3370465"/>
                </a:lnTo>
                <a:lnTo>
                  <a:pt x="188760" y="3446849"/>
                </a:lnTo>
                <a:lnTo>
                  <a:pt x="210443" y="3446849"/>
                </a:lnTo>
                <a:lnTo>
                  <a:pt x="385064" y="3377120"/>
                </a:lnTo>
                <a:lnTo>
                  <a:pt x="387770" y="3377120"/>
                </a:lnTo>
                <a:lnTo>
                  <a:pt x="388391" y="3373793"/>
                </a:lnTo>
                <a:lnTo>
                  <a:pt x="412706" y="3363810"/>
                </a:lnTo>
                <a:lnTo>
                  <a:pt x="391718" y="3363810"/>
                </a:lnTo>
                <a:lnTo>
                  <a:pt x="580631" y="2388819"/>
                </a:lnTo>
                <a:lnTo>
                  <a:pt x="602813" y="2388819"/>
                </a:lnTo>
                <a:lnTo>
                  <a:pt x="608918" y="2388006"/>
                </a:lnTo>
                <a:lnTo>
                  <a:pt x="615455" y="2385479"/>
                </a:lnTo>
                <a:close/>
              </a:path>
              <a:path w="4069079" h="3504565">
                <a:moveTo>
                  <a:pt x="719740" y="2335618"/>
                </a:moveTo>
                <a:lnTo>
                  <a:pt x="653808" y="2335618"/>
                </a:lnTo>
                <a:lnTo>
                  <a:pt x="740346" y="2342349"/>
                </a:lnTo>
                <a:lnTo>
                  <a:pt x="2467737" y="2500172"/>
                </a:lnTo>
                <a:lnTo>
                  <a:pt x="2464435" y="2503500"/>
                </a:lnTo>
                <a:lnTo>
                  <a:pt x="2464435" y="2510155"/>
                </a:lnTo>
                <a:lnTo>
                  <a:pt x="2467737" y="2513482"/>
                </a:lnTo>
                <a:lnTo>
                  <a:pt x="391718" y="3363810"/>
                </a:lnTo>
                <a:lnTo>
                  <a:pt x="412706" y="3363810"/>
                </a:lnTo>
                <a:lnTo>
                  <a:pt x="2467737" y="2520137"/>
                </a:lnTo>
                <a:lnTo>
                  <a:pt x="2584417" y="2520137"/>
                </a:lnTo>
                <a:lnTo>
                  <a:pt x="2585507" y="2510407"/>
                </a:lnTo>
                <a:lnTo>
                  <a:pt x="2584323" y="2496934"/>
                </a:lnTo>
                <a:lnTo>
                  <a:pt x="2684003" y="2490279"/>
                </a:lnTo>
                <a:lnTo>
                  <a:pt x="2584196" y="2490279"/>
                </a:lnTo>
                <a:lnTo>
                  <a:pt x="2471039" y="2490190"/>
                </a:lnTo>
                <a:lnTo>
                  <a:pt x="719740" y="2335618"/>
                </a:lnTo>
                <a:close/>
              </a:path>
              <a:path w="4069079" h="3504565">
                <a:moveTo>
                  <a:pt x="3344304" y="3346183"/>
                </a:moveTo>
                <a:lnTo>
                  <a:pt x="3280537" y="3346183"/>
                </a:lnTo>
                <a:lnTo>
                  <a:pt x="3300414" y="3353582"/>
                </a:lnTo>
                <a:lnTo>
                  <a:pt x="3319637" y="3355363"/>
                </a:lnTo>
                <a:lnTo>
                  <a:pt x="3337597" y="3350903"/>
                </a:lnTo>
                <a:lnTo>
                  <a:pt x="3344304" y="3346183"/>
                </a:lnTo>
                <a:close/>
              </a:path>
              <a:path w="4069079" h="3504565">
                <a:moveTo>
                  <a:pt x="3305841" y="3235952"/>
                </a:moveTo>
                <a:lnTo>
                  <a:pt x="3284807" y="3241187"/>
                </a:lnTo>
                <a:lnTo>
                  <a:pt x="3267202" y="3252978"/>
                </a:lnTo>
                <a:lnTo>
                  <a:pt x="3263773" y="3256305"/>
                </a:lnTo>
                <a:lnTo>
                  <a:pt x="3260471" y="3259632"/>
                </a:lnTo>
                <a:lnTo>
                  <a:pt x="3357994" y="3259632"/>
                </a:lnTo>
                <a:lnTo>
                  <a:pt x="3353689" y="3253054"/>
                </a:lnTo>
                <a:lnTo>
                  <a:pt x="3350387" y="3249726"/>
                </a:lnTo>
                <a:lnTo>
                  <a:pt x="3353204" y="3246386"/>
                </a:lnTo>
                <a:lnTo>
                  <a:pt x="3346958" y="3246386"/>
                </a:lnTo>
                <a:lnTo>
                  <a:pt x="3327495" y="3237581"/>
                </a:lnTo>
                <a:lnTo>
                  <a:pt x="3305841" y="3235952"/>
                </a:lnTo>
                <a:close/>
              </a:path>
              <a:path w="4069079" h="3504565">
                <a:moveTo>
                  <a:pt x="4068572" y="2398293"/>
                </a:moveTo>
                <a:lnTo>
                  <a:pt x="4061841" y="2398293"/>
                </a:lnTo>
                <a:lnTo>
                  <a:pt x="3346958" y="3246386"/>
                </a:lnTo>
                <a:lnTo>
                  <a:pt x="3353204" y="3246386"/>
                </a:lnTo>
                <a:lnTo>
                  <a:pt x="4068572" y="2398293"/>
                </a:lnTo>
                <a:close/>
              </a:path>
              <a:path w="4069079" h="3504565">
                <a:moveTo>
                  <a:pt x="2546764" y="2566771"/>
                </a:moveTo>
                <a:lnTo>
                  <a:pt x="2507742" y="2566771"/>
                </a:lnTo>
                <a:lnTo>
                  <a:pt x="2523182" y="2569902"/>
                </a:lnTo>
                <a:lnTo>
                  <a:pt x="2538587" y="2569290"/>
                </a:lnTo>
                <a:lnTo>
                  <a:pt x="2546764" y="2566771"/>
                </a:lnTo>
                <a:close/>
              </a:path>
              <a:path w="4069079" h="3504565">
                <a:moveTo>
                  <a:pt x="4068572" y="2391638"/>
                </a:moveTo>
                <a:lnTo>
                  <a:pt x="2584196" y="2490279"/>
                </a:lnTo>
                <a:lnTo>
                  <a:pt x="2684003" y="2490279"/>
                </a:lnTo>
                <a:lnTo>
                  <a:pt x="4061841" y="2398293"/>
                </a:lnTo>
                <a:lnTo>
                  <a:pt x="4068572" y="2398293"/>
                </a:lnTo>
                <a:lnTo>
                  <a:pt x="4065270" y="2394966"/>
                </a:lnTo>
                <a:lnTo>
                  <a:pt x="4068572" y="2391638"/>
                </a:lnTo>
                <a:close/>
              </a:path>
              <a:path w="4069079" h="3504565">
                <a:moveTo>
                  <a:pt x="2525966" y="2451133"/>
                </a:moveTo>
                <a:lnTo>
                  <a:pt x="2503908" y="2456629"/>
                </a:lnTo>
                <a:lnTo>
                  <a:pt x="2484374" y="2470238"/>
                </a:lnTo>
                <a:lnTo>
                  <a:pt x="2477770" y="2476881"/>
                </a:lnTo>
                <a:lnTo>
                  <a:pt x="2471039" y="2483535"/>
                </a:lnTo>
                <a:lnTo>
                  <a:pt x="2471039" y="2490190"/>
                </a:lnTo>
                <a:lnTo>
                  <a:pt x="2584124" y="2490190"/>
                </a:lnTo>
                <a:lnTo>
                  <a:pt x="2579756" y="2484766"/>
                </a:lnTo>
                <a:lnTo>
                  <a:pt x="2572069" y="2472487"/>
                </a:lnTo>
                <a:lnTo>
                  <a:pt x="2567559" y="2466975"/>
                </a:lnTo>
                <a:lnTo>
                  <a:pt x="2548024" y="2454374"/>
                </a:lnTo>
                <a:lnTo>
                  <a:pt x="2525966" y="2451133"/>
                </a:lnTo>
                <a:close/>
              </a:path>
              <a:path w="4069079" h="3504565">
                <a:moveTo>
                  <a:pt x="602813" y="2388819"/>
                </a:moveTo>
                <a:lnTo>
                  <a:pt x="580631" y="2388819"/>
                </a:lnTo>
                <a:lnTo>
                  <a:pt x="594150" y="2389972"/>
                </a:lnTo>
                <a:lnTo>
                  <a:pt x="602813" y="2388819"/>
                </a:lnTo>
                <a:close/>
              </a:path>
              <a:path w="4069079" h="3504565">
                <a:moveTo>
                  <a:pt x="1570482" y="0"/>
                </a:moveTo>
                <a:lnTo>
                  <a:pt x="1567180" y="3301"/>
                </a:lnTo>
                <a:lnTo>
                  <a:pt x="607161" y="2269020"/>
                </a:lnTo>
                <a:lnTo>
                  <a:pt x="591765" y="2269738"/>
                </a:lnTo>
                <a:lnTo>
                  <a:pt x="550595" y="2285619"/>
                </a:lnTo>
                <a:lnTo>
                  <a:pt x="533971" y="2315552"/>
                </a:lnTo>
                <a:lnTo>
                  <a:pt x="650462" y="2315552"/>
                </a:lnTo>
                <a:lnTo>
                  <a:pt x="650455" y="2312327"/>
                </a:lnTo>
                <a:lnTo>
                  <a:pt x="665407" y="2308999"/>
                </a:lnTo>
                <a:lnTo>
                  <a:pt x="647128" y="2308999"/>
                </a:lnTo>
                <a:lnTo>
                  <a:pt x="647128" y="2302332"/>
                </a:lnTo>
                <a:lnTo>
                  <a:pt x="643788" y="2292350"/>
                </a:lnTo>
                <a:lnTo>
                  <a:pt x="633793" y="2282355"/>
                </a:lnTo>
                <a:lnTo>
                  <a:pt x="627138" y="2282355"/>
                </a:lnTo>
                <a:lnTo>
                  <a:pt x="623811" y="2279027"/>
                </a:lnTo>
                <a:lnTo>
                  <a:pt x="626136" y="2275687"/>
                </a:lnTo>
                <a:lnTo>
                  <a:pt x="613816" y="2275687"/>
                </a:lnTo>
                <a:lnTo>
                  <a:pt x="1570482" y="19938"/>
                </a:lnTo>
                <a:lnTo>
                  <a:pt x="1574133" y="19938"/>
                </a:lnTo>
                <a:lnTo>
                  <a:pt x="1573784" y="3301"/>
                </a:lnTo>
                <a:lnTo>
                  <a:pt x="1570482" y="0"/>
                </a:lnTo>
                <a:close/>
              </a:path>
              <a:path w="4069079" h="3504565">
                <a:moveTo>
                  <a:pt x="1649608" y="925322"/>
                </a:moveTo>
                <a:lnTo>
                  <a:pt x="1637792" y="925322"/>
                </a:lnTo>
                <a:lnTo>
                  <a:pt x="3052953" y="1735201"/>
                </a:lnTo>
                <a:lnTo>
                  <a:pt x="3049063" y="1745182"/>
                </a:lnTo>
                <a:lnTo>
                  <a:pt x="3047079" y="1755140"/>
                </a:lnTo>
                <a:lnTo>
                  <a:pt x="3046380" y="1765097"/>
                </a:lnTo>
                <a:lnTo>
                  <a:pt x="3046349" y="1775079"/>
                </a:lnTo>
                <a:lnTo>
                  <a:pt x="647128" y="2308999"/>
                </a:lnTo>
                <a:lnTo>
                  <a:pt x="665407" y="2308999"/>
                </a:lnTo>
                <a:lnTo>
                  <a:pt x="3049651" y="1778381"/>
                </a:lnTo>
                <a:lnTo>
                  <a:pt x="3163802" y="1778381"/>
                </a:lnTo>
                <a:lnTo>
                  <a:pt x="3166903" y="1761871"/>
                </a:lnTo>
                <a:lnTo>
                  <a:pt x="3162546" y="1738669"/>
                </a:lnTo>
                <a:lnTo>
                  <a:pt x="3155914" y="1728470"/>
                </a:lnTo>
                <a:lnTo>
                  <a:pt x="3059557" y="1728470"/>
                </a:lnTo>
                <a:lnTo>
                  <a:pt x="1649608" y="925322"/>
                </a:lnTo>
                <a:close/>
              </a:path>
              <a:path w="4069079" h="3504565">
                <a:moveTo>
                  <a:pt x="617143" y="2272360"/>
                </a:moveTo>
                <a:lnTo>
                  <a:pt x="613816" y="2275687"/>
                </a:lnTo>
                <a:lnTo>
                  <a:pt x="620471" y="2275687"/>
                </a:lnTo>
                <a:lnTo>
                  <a:pt x="617143" y="2272360"/>
                </a:lnTo>
                <a:close/>
              </a:path>
              <a:path w="4069079" h="3504565">
                <a:moveTo>
                  <a:pt x="1574133" y="19938"/>
                </a:moveTo>
                <a:lnTo>
                  <a:pt x="1570482" y="19938"/>
                </a:lnTo>
                <a:lnTo>
                  <a:pt x="1584452" y="832104"/>
                </a:lnTo>
                <a:lnTo>
                  <a:pt x="1572079" y="834683"/>
                </a:lnTo>
                <a:lnTo>
                  <a:pt x="1528145" y="868719"/>
                </a:lnTo>
                <a:lnTo>
                  <a:pt x="1523793" y="891921"/>
                </a:lnTo>
                <a:lnTo>
                  <a:pt x="1528181" y="915122"/>
                </a:lnTo>
                <a:lnTo>
                  <a:pt x="1541272" y="935228"/>
                </a:lnTo>
                <a:lnTo>
                  <a:pt x="1544574" y="938530"/>
                </a:lnTo>
                <a:lnTo>
                  <a:pt x="1548002" y="941832"/>
                </a:lnTo>
                <a:lnTo>
                  <a:pt x="620471" y="2275687"/>
                </a:lnTo>
                <a:lnTo>
                  <a:pt x="626136" y="2275687"/>
                </a:lnTo>
                <a:lnTo>
                  <a:pt x="1554607" y="941832"/>
                </a:lnTo>
                <a:lnTo>
                  <a:pt x="1618480" y="941832"/>
                </a:lnTo>
                <a:lnTo>
                  <a:pt x="1627758" y="935228"/>
                </a:lnTo>
                <a:lnTo>
                  <a:pt x="1631188" y="931926"/>
                </a:lnTo>
                <a:lnTo>
                  <a:pt x="1637792" y="925322"/>
                </a:lnTo>
                <a:lnTo>
                  <a:pt x="1649608" y="925322"/>
                </a:lnTo>
                <a:lnTo>
                  <a:pt x="1637792" y="918591"/>
                </a:lnTo>
                <a:lnTo>
                  <a:pt x="1643207" y="900676"/>
                </a:lnTo>
                <a:lnTo>
                  <a:pt x="1643967" y="882427"/>
                </a:lnTo>
                <a:lnTo>
                  <a:pt x="1619668" y="841908"/>
                </a:lnTo>
                <a:lnTo>
                  <a:pt x="1591183" y="832104"/>
                </a:lnTo>
                <a:lnTo>
                  <a:pt x="1574133" y="19938"/>
                </a:lnTo>
                <a:close/>
              </a:path>
              <a:path w="4069079" h="3504565">
                <a:moveTo>
                  <a:pt x="3163802" y="1778381"/>
                </a:moveTo>
                <a:lnTo>
                  <a:pt x="3049651" y="1778381"/>
                </a:lnTo>
                <a:lnTo>
                  <a:pt x="3052181" y="1785852"/>
                </a:lnTo>
                <a:lnTo>
                  <a:pt x="3083036" y="1818197"/>
                </a:lnTo>
                <a:lnTo>
                  <a:pt x="3106229" y="1822592"/>
                </a:lnTo>
                <a:lnTo>
                  <a:pt x="3129422" y="1818249"/>
                </a:lnTo>
                <a:lnTo>
                  <a:pt x="3149473" y="1805178"/>
                </a:lnTo>
                <a:lnTo>
                  <a:pt x="3162546" y="1785072"/>
                </a:lnTo>
                <a:lnTo>
                  <a:pt x="3163802" y="1778381"/>
                </a:lnTo>
                <a:close/>
              </a:path>
              <a:path w="4069079" h="3504565">
                <a:moveTo>
                  <a:pt x="3106166" y="1701133"/>
                </a:moveTo>
                <a:lnTo>
                  <a:pt x="3082964" y="1705490"/>
                </a:lnTo>
                <a:lnTo>
                  <a:pt x="3062859" y="1718564"/>
                </a:lnTo>
                <a:lnTo>
                  <a:pt x="3059557" y="1721866"/>
                </a:lnTo>
                <a:lnTo>
                  <a:pt x="3059557" y="1728470"/>
                </a:lnTo>
                <a:lnTo>
                  <a:pt x="3155914" y="1728470"/>
                </a:lnTo>
                <a:lnTo>
                  <a:pt x="3149473" y="1718564"/>
                </a:lnTo>
                <a:lnTo>
                  <a:pt x="3129367" y="1705490"/>
                </a:lnTo>
                <a:lnTo>
                  <a:pt x="3106166" y="1701133"/>
                </a:lnTo>
                <a:close/>
              </a:path>
              <a:path w="4069079" h="3504565">
                <a:moveTo>
                  <a:pt x="1618480" y="941832"/>
                </a:moveTo>
                <a:lnTo>
                  <a:pt x="1554607" y="941832"/>
                </a:lnTo>
                <a:lnTo>
                  <a:pt x="1573091" y="950622"/>
                </a:lnTo>
                <a:lnTo>
                  <a:pt x="1592468" y="952246"/>
                </a:lnTo>
                <a:lnTo>
                  <a:pt x="1611203" y="947011"/>
                </a:lnTo>
                <a:lnTo>
                  <a:pt x="1618480" y="941832"/>
                </a:lnTo>
                <a:close/>
              </a:path>
            </a:pathLst>
          </a:custGeom>
          <a:solidFill>
            <a:srgbClr val="FFFFFF">
              <a:alpha val="25097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68309" y="2027159"/>
            <a:ext cx="5710767" cy="1897955"/>
          </a:xfrm>
          <a:prstGeom prst="rect">
            <a:avLst/>
          </a:prstGeom>
        </p:spPr>
        <p:txBody>
          <a:bodyPr vert="horz" wrap="square" lIns="0" tIns="127000" rIns="0" bIns="0" rtlCol="0" anchor="ctr">
            <a:spAutoFit/>
          </a:bodyPr>
          <a:lstStyle/>
          <a:p>
            <a:pPr marL="16933" marR="6773">
              <a:lnSpc>
                <a:spcPts val="6920"/>
              </a:lnSpc>
              <a:spcBef>
                <a:spcPts val="1000"/>
              </a:spcBef>
            </a:pPr>
            <a:r>
              <a:rPr sz="6400" spc="-93" dirty="0"/>
              <a:t>Install</a:t>
            </a:r>
            <a:r>
              <a:rPr sz="6400" spc="-593" dirty="0"/>
              <a:t> </a:t>
            </a:r>
            <a:r>
              <a:rPr sz="6400" spc="53" dirty="0"/>
              <a:t>Worker  </a:t>
            </a:r>
            <a:r>
              <a:rPr sz="6400" spc="240" dirty="0"/>
              <a:t>Nodes</a:t>
            </a:r>
            <a:endParaRPr sz="6400"/>
          </a:p>
        </p:txBody>
      </p:sp>
    </p:spTree>
    <p:extLst>
      <p:ext uri="{BB962C8B-B14F-4D97-AF65-F5344CB8AC3E}">
        <p14:creationId xmlns:p14="http://schemas.microsoft.com/office/powerpoint/2010/main" val="1101533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29" y="331247"/>
            <a:ext cx="318516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53" dirty="0">
                <a:solidFill>
                  <a:srgbClr val="115F92"/>
                </a:solidFill>
              </a:rPr>
              <a:t>Our</a:t>
            </a:r>
            <a:r>
              <a:rPr spc="-427" dirty="0">
                <a:solidFill>
                  <a:srgbClr val="115F92"/>
                </a:solidFill>
              </a:rPr>
              <a:t> </a:t>
            </a:r>
            <a:r>
              <a:rPr spc="40" dirty="0">
                <a:solidFill>
                  <a:srgbClr val="115F92"/>
                </a:solidFill>
              </a:rPr>
              <a:t>Design</a:t>
            </a:r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29401" y="1795271"/>
            <a:ext cx="1203113" cy="2245360"/>
          </a:xfrm>
          <a:custGeom>
            <a:avLst/>
            <a:gdLst/>
            <a:ahLst/>
            <a:cxnLst/>
            <a:rect l="l" t="t" r="r" b="b"/>
            <a:pathLst>
              <a:path w="902335" h="1684020">
                <a:moveTo>
                  <a:pt x="0" y="150368"/>
                </a:moveTo>
                <a:lnTo>
                  <a:pt x="7664" y="102835"/>
                </a:lnTo>
                <a:lnTo>
                  <a:pt x="29008" y="61557"/>
                </a:lnTo>
                <a:lnTo>
                  <a:pt x="61557" y="29008"/>
                </a:lnTo>
                <a:lnTo>
                  <a:pt x="102835" y="7664"/>
                </a:lnTo>
                <a:lnTo>
                  <a:pt x="150367" y="0"/>
                </a:lnTo>
                <a:lnTo>
                  <a:pt x="751839" y="0"/>
                </a:lnTo>
                <a:lnTo>
                  <a:pt x="799372" y="7664"/>
                </a:lnTo>
                <a:lnTo>
                  <a:pt x="840650" y="29008"/>
                </a:lnTo>
                <a:lnTo>
                  <a:pt x="873199" y="61557"/>
                </a:lnTo>
                <a:lnTo>
                  <a:pt x="894543" y="102835"/>
                </a:lnTo>
                <a:lnTo>
                  <a:pt x="902208" y="150368"/>
                </a:lnTo>
                <a:lnTo>
                  <a:pt x="902208" y="1533652"/>
                </a:lnTo>
                <a:lnTo>
                  <a:pt x="894543" y="1581184"/>
                </a:lnTo>
                <a:lnTo>
                  <a:pt x="873199" y="1622462"/>
                </a:lnTo>
                <a:lnTo>
                  <a:pt x="840650" y="1655011"/>
                </a:lnTo>
                <a:lnTo>
                  <a:pt x="799372" y="1676355"/>
                </a:lnTo>
                <a:lnTo>
                  <a:pt x="751839" y="1684020"/>
                </a:lnTo>
                <a:lnTo>
                  <a:pt x="150367" y="1684020"/>
                </a:lnTo>
                <a:lnTo>
                  <a:pt x="102835" y="1676355"/>
                </a:lnTo>
                <a:lnTo>
                  <a:pt x="61557" y="1655011"/>
                </a:lnTo>
                <a:lnTo>
                  <a:pt x="29008" y="1622462"/>
                </a:lnTo>
                <a:lnTo>
                  <a:pt x="7664" y="1581184"/>
                </a:lnTo>
                <a:lnTo>
                  <a:pt x="0" y="1533652"/>
                </a:lnTo>
                <a:lnTo>
                  <a:pt x="0" y="150368"/>
                </a:lnTo>
                <a:close/>
              </a:path>
            </a:pathLst>
          </a:custGeom>
          <a:ln w="19812">
            <a:solidFill>
              <a:srgbClr val="E10A8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7111662" y="2756679"/>
            <a:ext cx="2404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73" dirty="0">
                <a:solidFill>
                  <a:srgbClr val="E10A87"/>
                </a:solidFill>
                <a:latin typeface="Arial Black"/>
                <a:cs typeface="Arial Black"/>
              </a:rPr>
              <a:t>M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917102" y="3257296"/>
            <a:ext cx="2408767" cy="3351107"/>
            <a:chOff x="3687826" y="2442972"/>
            <a:chExt cx="1806575" cy="2513330"/>
          </a:xfrm>
        </p:grpSpPr>
        <p:sp>
          <p:nvSpPr>
            <p:cNvPr id="7" name="object 7"/>
            <p:cNvSpPr/>
            <p:nvPr/>
          </p:nvSpPr>
          <p:spPr>
            <a:xfrm>
              <a:off x="5352288" y="2442972"/>
              <a:ext cx="141731" cy="1432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697986" y="3262122"/>
              <a:ext cx="939165" cy="1684020"/>
            </a:xfrm>
            <a:custGeom>
              <a:avLst/>
              <a:gdLst/>
              <a:ahLst/>
              <a:cxnLst/>
              <a:rect l="l" t="t" r="r" b="b"/>
              <a:pathLst>
                <a:path w="939164" h="1684020">
                  <a:moveTo>
                    <a:pt x="0" y="156463"/>
                  </a:moveTo>
                  <a:lnTo>
                    <a:pt x="7981" y="107029"/>
                  </a:lnTo>
                  <a:lnTo>
                    <a:pt x="30203" y="64081"/>
                  </a:lnTo>
                  <a:lnTo>
                    <a:pt x="64081" y="30203"/>
                  </a:lnTo>
                  <a:lnTo>
                    <a:pt x="107029" y="7981"/>
                  </a:lnTo>
                  <a:lnTo>
                    <a:pt x="156463" y="0"/>
                  </a:lnTo>
                  <a:lnTo>
                    <a:pt x="782319" y="0"/>
                  </a:lnTo>
                  <a:lnTo>
                    <a:pt x="831754" y="7981"/>
                  </a:lnTo>
                  <a:lnTo>
                    <a:pt x="874702" y="30203"/>
                  </a:lnTo>
                  <a:lnTo>
                    <a:pt x="908580" y="64081"/>
                  </a:lnTo>
                  <a:lnTo>
                    <a:pt x="930802" y="107029"/>
                  </a:lnTo>
                  <a:lnTo>
                    <a:pt x="938784" y="156463"/>
                  </a:lnTo>
                  <a:lnTo>
                    <a:pt x="938784" y="1527555"/>
                  </a:lnTo>
                  <a:lnTo>
                    <a:pt x="930802" y="1577010"/>
                  </a:lnTo>
                  <a:lnTo>
                    <a:pt x="908580" y="1619960"/>
                  </a:lnTo>
                  <a:lnTo>
                    <a:pt x="874702" y="1653830"/>
                  </a:lnTo>
                  <a:lnTo>
                    <a:pt x="831754" y="1676043"/>
                  </a:lnTo>
                  <a:lnTo>
                    <a:pt x="782319" y="1684020"/>
                  </a:lnTo>
                  <a:lnTo>
                    <a:pt x="156463" y="1684020"/>
                  </a:lnTo>
                  <a:lnTo>
                    <a:pt x="107029" y="1676043"/>
                  </a:lnTo>
                  <a:lnTo>
                    <a:pt x="64081" y="1653830"/>
                  </a:lnTo>
                  <a:lnTo>
                    <a:pt x="30203" y="1619960"/>
                  </a:lnTo>
                  <a:lnTo>
                    <a:pt x="7981" y="1577010"/>
                  </a:lnTo>
                  <a:lnTo>
                    <a:pt x="0" y="1527555"/>
                  </a:lnTo>
                  <a:lnTo>
                    <a:pt x="0" y="156463"/>
                  </a:lnTo>
                  <a:close/>
                </a:path>
              </a:pathLst>
            </a:custGeom>
            <a:ln w="19812">
              <a:solidFill>
                <a:srgbClr val="1780C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30520" y="5312596"/>
            <a:ext cx="2489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13" dirty="0">
                <a:solidFill>
                  <a:srgbClr val="1780C3"/>
                </a:solidFill>
                <a:latin typeface="Arial Black"/>
                <a:cs typeface="Arial Black"/>
              </a:rPr>
              <a:t>W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64047" y="4335949"/>
            <a:ext cx="2548467" cy="2272452"/>
            <a:chOff x="4098035" y="3251961"/>
            <a:chExt cx="1911350" cy="1704339"/>
          </a:xfrm>
        </p:grpSpPr>
        <p:sp>
          <p:nvSpPr>
            <p:cNvPr id="11" name="object 11"/>
            <p:cNvSpPr/>
            <p:nvPr/>
          </p:nvSpPr>
          <p:spPr>
            <a:xfrm>
              <a:off x="4098035" y="4351019"/>
              <a:ext cx="138683" cy="1386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060441" y="3262121"/>
              <a:ext cx="939165" cy="1684020"/>
            </a:xfrm>
            <a:custGeom>
              <a:avLst/>
              <a:gdLst/>
              <a:ahLst/>
              <a:cxnLst/>
              <a:rect l="l" t="t" r="r" b="b"/>
              <a:pathLst>
                <a:path w="939164" h="1684020">
                  <a:moveTo>
                    <a:pt x="0" y="156463"/>
                  </a:moveTo>
                  <a:lnTo>
                    <a:pt x="7981" y="107029"/>
                  </a:lnTo>
                  <a:lnTo>
                    <a:pt x="30203" y="64081"/>
                  </a:lnTo>
                  <a:lnTo>
                    <a:pt x="64081" y="30203"/>
                  </a:lnTo>
                  <a:lnTo>
                    <a:pt x="107029" y="7981"/>
                  </a:lnTo>
                  <a:lnTo>
                    <a:pt x="156463" y="0"/>
                  </a:lnTo>
                  <a:lnTo>
                    <a:pt x="782320" y="0"/>
                  </a:lnTo>
                  <a:lnTo>
                    <a:pt x="831754" y="7981"/>
                  </a:lnTo>
                  <a:lnTo>
                    <a:pt x="874702" y="30203"/>
                  </a:lnTo>
                  <a:lnTo>
                    <a:pt x="908580" y="64081"/>
                  </a:lnTo>
                  <a:lnTo>
                    <a:pt x="930802" y="107029"/>
                  </a:lnTo>
                  <a:lnTo>
                    <a:pt x="938784" y="156463"/>
                  </a:lnTo>
                  <a:lnTo>
                    <a:pt x="938784" y="1527555"/>
                  </a:lnTo>
                  <a:lnTo>
                    <a:pt x="930802" y="1577010"/>
                  </a:lnTo>
                  <a:lnTo>
                    <a:pt x="908580" y="1619960"/>
                  </a:lnTo>
                  <a:lnTo>
                    <a:pt x="874702" y="1653830"/>
                  </a:lnTo>
                  <a:lnTo>
                    <a:pt x="831754" y="1676043"/>
                  </a:lnTo>
                  <a:lnTo>
                    <a:pt x="782320" y="1684020"/>
                  </a:lnTo>
                  <a:lnTo>
                    <a:pt x="156463" y="1684020"/>
                  </a:lnTo>
                  <a:lnTo>
                    <a:pt x="107029" y="1676043"/>
                  </a:lnTo>
                  <a:lnTo>
                    <a:pt x="64081" y="1653830"/>
                  </a:lnTo>
                  <a:lnTo>
                    <a:pt x="30203" y="1619960"/>
                  </a:lnTo>
                  <a:lnTo>
                    <a:pt x="7981" y="1577010"/>
                  </a:lnTo>
                  <a:lnTo>
                    <a:pt x="0" y="1527555"/>
                  </a:lnTo>
                  <a:lnTo>
                    <a:pt x="0" y="156463"/>
                  </a:lnTo>
                  <a:close/>
                </a:path>
              </a:pathLst>
            </a:custGeom>
            <a:ln w="19812">
              <a:solidFill>
                <a:srgbClr val="1780C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246620" y="5312596"/>
            <a:ext cx="2489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13" dirty="0">
                <a:solidFill>
                  <a:srgbClr val="1780C3"/>
                </a:solidFill>
                <a:latin typeface="Arial Black"/>
                <a:cs typeface="Arial Black"/>
              </a:rPr>
              <a:t>W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1781725"/>
            <a:ext cx="7465907" cy="4204547"/>
            <a:chOff x="0" y="1336294"/>
            <a:chExt cx="5599430" cy="3153410"/>
          </a:xfrm>
        </p:grpSpPr>
        <p:sp>
          <p:nvSpPr>
            <p:cNvPr id="15" name="object 15"/>
            <p:cNvSpPr/>
            <p:nvPr/>
          </p:nvSpPr>
          <p:spPr>
            <a:xfrm>
              <a:off x="5460491" y="4351020"/>
              <a:ext cx="138683" cy="13868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68706" y="1397609"/>
              <a:ext cx="443230" cy="269240"/>
            </a:xfrm>
            <a:custGeom>
              <a:avLst/>
              <a:gdLst/>
              <a:ahLst/>
              <a:cxnLst/>
              <a:rect l="l" t="t" r="r" b="b"/>
              <a:pathLst>
                <a:path w="443230" h="269239">
                  <a:moveTo>
                    <a:pt x="385140" y="19215"/>
                  </a:moveTo>
                  <a:lnTo>
                    <a:pt x="383616" y="11760"/>
                  </a:lnTo>
                  <a:lnTo>
                    <a:pt x="379476" y="5651"/>
                  </a:lnTo>
                  <a:lnTo>
                    <a:pt x="373354" y="1511"/>
                  </a:lnTo>
                  <a:lnTo>
                    <a:pt x="365887" y="0"/>
                  </a:lnTo>
                  <a:lnTo>
                    <a:pt x="356247" y="0"/>
                  </a:lnTo>
                  <a:lnTo>
                    <a:pt x="356247" y="28829"/>
                  </a:lnTo>
                  <a:lnTo>
                    <a:pt x="356247" y="192214"/>
                  </a:lnTo>
                  <a:lnTo>
                    <a:pt x="86652" y="192214"/>
                  </a:lnTo>
                  <a:lnTo>
                    <a:pt x="86652" y="28829"/>
                  </a:lnTo>
                  <a:lnTo>
                    <a:pt x="356247" y="28829"/>
                  </a:lnTo>
                  <a:lnTo>
                    <a:pt x="356247" y="0"/>
                  </a:lnTo>
                  <a:lnTo>
                    <a:pt x="77025" y="0"/>
                  </a:lnTo>
                  <a:lnTo>
                    <a:pt x="69545" y="1511"/>
                  </a:lnTo>
                  <a:lnTo>
                    <a:pt x="63423" y="5651"/>
                  </a:lnTo>
                  <a:lnTo>
                    <a:pt x="59283" y="11760"/>
                  </a:lnTo>
                  <a:lnTo>
                    <a:pt x="57772" y="19215"/>
                  </a:lnTo>
                  <a:lnTo>
                    <a:pt x="57772" y="221043"/>
                  </a:lnTo>
                  <a:lnTo>
                    <a:pt x="385140" y="221043"/>
                  </a:lnTo>
                  <a:lnTo>
                    <a:pt x="385140" y="192214"/>
                  </a:lnTo>
                  <a:lnTo>
                    <a:pt x="385140" y="28829"/>
                  </a:lnTo>
                  <a:lnTo>
                    <a:pt x="385140" y="19215"/>
                  </a:lnTo>
                  <a:close/>
                </a:path>
                <a:path w="443230" h="269239">
                  <a:moveTo>
                    <a:pt x="442912" y="240258"/>
                  </a:moveTo>
                  <a:lnTo>
                    <a:pt x="250342" y="240258"/>
                  </a:lnTo>
                  <a:lnTo>
                    <a:pt x="250342" y="247954"/>
                  </a:lnTo>
                  <a:lnTo>
                    <a:pt x="248412" y="249872"/>
                  </a:lnTo>
                  <a:lnTo>
                    <a:pt x="194487" y="249872"/>
                  </a:lnTo>
                  <a:lnTo>
                    <a:pt x="192570" y="247954"/>
                  </a:lnTo>
                  <a:lnTo>
                    <a:pt x="192570" y="240258"/>
                  </a:lnTo>
                  <a:lnTo>
                    <a:pt x="0" y="240258"/>
                  </a:lnTo>
                  <a:lnTo>
                    <a:pt x="0" y="249872"/>
                  </a:lnTo>
                  <a:lnTo>
                    <a:pt x="1511" y="257340"/>
                  </a:lnTo>
                  <a:lnTo>
                    <a:pt x="5651" y="263448"/>
                  </a:lnTo>
                  <a:lnTo>
                    <a:pt x="11772" y="267576"/>
                  </a:lnTo>
                  <a:lnTo>
                    <a:pt x="19253" y="269100"/>
                  </a:lnTo>
                  <a:lnTo>
                    <a:pt x="423646" y="269100"/>
                  </a:lnTo>
                  <a:lnTo>
                    <a:pt x="431126" y="267576"/>
                  </a:lnTo>
                  <a:lnTo>
                    <a:pt x="437248" y="263448"/>
                  </a:lnTo>
                  <a:lnTo>
                    <a:pt x="441388" y="257340"/>
                  </a:lnTo>
                  <a:lnTo>
                    <a:pt x="442912" y="249872"/>
                  </a:lnTo>
                  <a:lnTo>
                    <a:pt x="442912" y="2402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59079" y="1763268"/>
              <a:ext cx="461772" cy="4617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1993392"/>
              <a:ext cx="1469136" cy="118414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5814" y="1346454"/>
              <a:ext cx="904240" cy="1684020"/>
            </a:xfrm>
            <a:custGeom>
              <a:avLst/>
              <a:gdLst/>
              <a:ahLst/>
              <a:cxnLst/>
              <a:rect l="l" t="t" r="r" b="b"/>
              <a:pathLst>
                <a:path w="904239" h="1684020">
                  <a:moveTo>
                    <a:pt x="0" y="150622"/>
                  </a:moveTo>
                  <a:lnTo>
                    <a:pt x="7678" y="103014"/>
                  </a:lnTo>
                  <a:lnTo>
                    <a:pt x="29061" y="61667"/>
                  </a:lnTo>
                  <a:lnTo>
                    <a:pt x="61667" y="29061"/>
                  </a:lnTo>
                  <a:lnTo>
                    <a:pt x="103014" y="7678"/>
                  </a:lnTo>
                  <a:lnTo>
                    <a:pt x="150622" y="0"/>
                  </a:lnTo>
                  <a:lnTo>
                    <a:pt x="753110" y="0"/>
                  </a:lnTo>
                  <a:lnTo>
                    <a:pt x="800717" y="7678"/>
                  </a:lnTo>
                  <a:lnTo>
                    <a:pt x="842064" y="29061"/>
                  </a:lnTo>
                  <a:lnTo>
                    <a:pt x="874670" y="61667"/>
                  </a:lnTo>
                  <a:lnTo>
                    <a:pt x="896053" y="103014"/>
                  </a:lnTo>
                  <a:lnTo>
                    <a:pt x="903732" y="150622"/>
                  </a:lnTo>
                  <a:lnTo>
                    <a:pt x="903732" y="1533398"/>
                  </a:lnTo>
                  <a:lnTo>
                    <a:pt x="896053" y="1581005"/>
                  </a:lnTo>
                  <a:lnTo>
                    <a:pt x="874670" y="1622352"/>
                  </a:lnTo>
                  <a:lnTo>
                    <a:pt x="842064" y="1654958"/>
                  </a:lnTo>
                  <a:lnTo>
                    <a:pt x="800717" y="1676341"/>
                  </a:lnTo>
                  <a:lnTo>
                    <a:pt x="753110" y="1684020"/>
                  </a:lnTo>
                  <a:lnTo>
                    <a:pt x="150622" y="1684020"/>
                  </a:lnTo>
                  <a:lnTo>
                    <a:pt x="103014" y="1676341"/>
                  </a:lnTo>
                  <a:lnTo>
                    <a:pt x="61667" y="1654958"/>
                  </a:lnTo>
                  <a:lnTo>
                    <a:pt x="29061" y="1622352"/>
                  </a:lnTo>
                  <a:lnTo>
                    <a:pt x="7678" y="1581005"/>
                  </a:lnTo>
                  <a:lnTo>
                    <a:pt x="0" y="1533398"/>
                  </a:lnTo>
                  <a:lnTo>
                    <a:pt x="0" y="150622"/>
                  </a:lnTo>
                  <a:close/>
                </a:path>
              </a:pathLst>
            </a:custGeom>
            <a:ln w="19812">
              <a:solidFill>
                <a:srgbClr val="E10A8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611368" y="2756679"/>
            <a:ext cx="2404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73" dirty="0">
                <a:solidFill>
                  <a:srgbClr val="E10A87"/>
                </a:solidFill>
                <a:latin typeface="Arial Black"/>
                <a:cs typeface="Arial Black"/>
              </a:rPr>
              <a:t>M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634737" y="794174"/>
            <a:ext cx="1463887" cy="2654300"/>
            <a:chOff x="4226052" y="595630"/>
            <a:chExt cx="1097915" cy="1990725"/>
          </a:xfrm>
        </p:grpSpPr>
        <p:sp>
          <p:nvSpPr>
            <p:cNvPr id="22" name="object 22"/>
            <p:cNvSpPr/>
            <p:nvPr/>
          </p:nvSpPr>
          <p:spPr>
            <a:xfrm>
              <a:off x="4226052" y="2442972"/>
              <a:ext cx="143255" cy="14325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4409694" y="605790"/>
              <a:ext cx="904240" cy="455930"/>
            </a:xfrm>
            <a:custGeom>
              <a:avLst/>
              <a:gdLst/>
              <a:ahLst/>
              <a:cxnLst/>
              <a:rect l="l" t="t" r="r" b="b"/>
              <a:pathLst>
                <a:path w="904239" h="455930">
                  <a:moveTo>
                    <a:pt x="0" y="75946"/>
                  </a:moveTo>
                  <a:lnTo>
                    <a:pt x="5972" y="46398"/>
                  </a:lnTo>
                  <a:lnTo>
                    <a:pt x="22256" y="22256"/>
                  </a:lnTo>
                  <a:lnTo>
                    <a:pt x="46398" y="5972"/>
                  </a:lnTo>
                  <a:lnTo>
                    <a:pt x="75945" y="0"/>
                  </a:lnTo>
                  <a:lnTo>
                    <a:pt x="827785" y="0"/>
                  </a:lnTo>
                  <a:lnTo>
                    <a:pt x="857333" y="5972"/>
                  </a:lnTo>
                  <a:lnTo>
                    <a:pt x="881475" y="22256"/>
                  </a:lnTo>
                  <a:lnTo>
                    <a:pt x="897759" y="46398"/>
                  </a:lnTo>
                  <a:lnTo>
                    <a:pt x="903731" y="75946"/>
                  </a:lnTo>
                  <a:lnTo>
                    <a:pt x="903731" y="379730"/>
                  </a:lnTo>
                  <a:lnTo>
                    <a:pt x="897759" y="409277"/>
                  </a:lnTo>
                  <a:lnTo>
                    <a:pt x="881475" y="433419"/>
                  </a:lnTo>
                  <a:lnTo>
                    <a:pt x="857333" y="449703"/>
                  </a:lnTo>
                  <a:lnTo>
                    <a:pt x="827785" y="455675"/>
                  </a:lnTo>
                  <a:lnTo>
                    <a:pt x="75945" y="455675"/>
                  </a:lnTo>
                  <a:lnTo>
                    <a:pt x="46398" y="449703"/>
                  </a:lnTo>
                  <a:lnTo>
                    <a:pt x="22256" y="433419"/>
                  </a:lnTo>
                  <a:lnTo>
                    <a:pt x="5972" y="409277"/>
                  </a:lnTo>
                  <a:lnTo>
                    <a:pt x="0" y="379730"/>
                  </a:lnTo>
                  <a:lnTo>
                    <a:pt x="0" y="75946"/>
                  </a:lnTo>
                  <a:close/>
                </a:path>
              </a:pathLst>
            </a:custGeom>
            <a:ln w="19812">
              <a:solidFill>
                <a:srgbClr val="E10A8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54320" y="2501392"/>
            <a:ext cx="758613" cy="226623"/>
          </a:xfrm>
          <a:prstGeom prst="rect">
            <a:avLst/>
          </a:prstGeom>
          <a:solidFill>
            <a:srgbClr val="6F2F9F">
              <a:alpha val="19999"/>
            </a:srgbClr>
          </a:solidFill>
        </p:spPr>
        <p:txBody>
          <a:bodyPr vert="horz" wrap="square" lIns="0" tIns="61807" rIns="0" bIns="0" rtlCol="0">
            <a:spAutoFit/>
          </a:bodyPr>
          <a:lstStyle/>
          <a:p>
            <a:pPr marL="210815">
              <a:spcBef>
                <a:spcPts val="487"/>
              </a:spcBef>
            </a:pPr>
            <a:r>
              <a:rPr sz="1067" b="1" spc="-67" dirty="0">
                <a:solidFill>
                  <a:srgbClr val="483390"/>
                </a:solidFill>
                <a:latin typeface="Arial"/>
                <a:cs typeface="Arial"/>
              </a:rPr>
              <a:t>ETCD</a:t>
            </a:r>
            <a:endParaRPr sz="1067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51905" y="2491231"/>
            <a:ext cx="756073" cy="228332"/>
          </a:xfrm>
          <a:prstGeom prst="rect">
            <a:avLst/>
          </a:prstGeom>
          <a:solidFill>
            <a:srgbClr val="6F2F9F">
              <a:alpha val="19999"/>
            </a:srgbClr>
          </a:solidFill>
        </p:spPr>
        <p:txBody>
          <a:bodyPr vert="horz" wrap="square" lIns="0" tIns="63500" rIns="0" bIns="0" rtlCol="0">
            <a:spAutoFit/>
          </a:bodyPr>
          <a:lstStyle/>
          <a:p>
            <a:pPr marL="209968">
              <a:spcBef>
                <a:spcPts val="500"/>
              </a:spcBef>
            </a:pPr>
            <a:r>
              <a:rPr sz="1067" b="1" spc="-67" dirty="0">
                <a:solidFill>
                  <a:srgbClr val="483390"/>
                </a:solidFill>
                <a:latin typeface="Arial"/>
                <a:cs typeface="Arial"/>
              </a:rPr>
              <a:t>ETCD</a:t>
            </a:r>
            <a:endParaRPr sz="1067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44412" y="950298"/>
            <a:ext cx="273472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367" dirty="0">
                <a:solidFill>
                  <a:srgbClr val="E10A87"/>
                </a:solidFill>
                <a:latin typeface="Arial Black"/>
                <a:cs typeface="Arial Black"/>
              </a:rPr>
              <a:t>LB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275071" y="1190751"/>
            <a:ext cx="1303020" cy="2324947"/>
            <a:chOff x="3956303" y="893063"/>
            <a:chExt cx="977265" cy="1743710"/>
          </a:xfrm>
        </p:grpSpPr>
        <p:sp>
          <p:nvSpPr>
            <p:cNvPr id="28" name="object 28"/>
            <p:cNvSpPr/>
            <p:nvPr/>
          </p:nvSpPr>
          <p:spPr>
            <a:xfrm>
              <a:off x="4789931" y="893063"/>
              <a:ext cx="143255" cy="14173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3956303" y="2391155"/>
              <a:ext cx="672465" cy="245745"/>
            </a:xfrm>
            <a:custGeom>
              <a:avLst/>
              <a:gdLst/>
              <a:ahLst/>
              <a:cxnLst/>
              <a:rect l="l" t="t" r="r" b="b"/>
              <a:pathLst>
                <a:path w="672464" h="245744">
                  <a:moveTo>
                    <a:pt x="672084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672084" y="245363"/>
                  </a:lnTo>
                  <a:lnTo>
                    <a:pt x="672084" y="0"/>
                  </a:lnTo>
                  <a:close/>
                </a:path>
              </a:pathLst>
            </a:custGeom>
            <a:solidFill>
              <a:srgbClr val="E10A87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074490" y="1826091"/>
            <a:ext cx="3343487" cy="69525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74121" indent="-457189">
              <a:spcBef>
                <a:spcPts val="140"/>
              </a:spcBef>
              <a:buFont typeface="Wingdings"/>
              <a:buChar char=""/>
              <a:tabLst>
                <a:tab pos="473275" algn="l"/>
                <a:tab pos="474121" algn="l"/>
              </a:tabLst>
            </a:pPr>
            <a:r>
              <a:rPr sz="1467" spc="-147" dirty="0">
                <a:latin typeface="Arial Black"/>
                <a:cs typeface="Arial Black"/>
              </a:rPr>
              <a:t>Deploy </a:t>
            </a:r>
            <a:r>
              <a:rPr sz="1467" spc="-240" dirty="0">
                <a:latin typeface="Arial Black"/>
                <a:cs typeface="Arial Black"/>
              </a:rPr>
              <a:t>ETCD</a:t>
            </a:r>
            <a:r>
              <a:rPr sz="1467" spc="-67" dirty="0">
                <a:latin typeface="Arial Black"/>
                <a:cs typeface="Arial Black"/>
              </a:rPr>
              <a:t> </a:t>
            </a:r>
            <a:r>
              <a:rPr sz="1467" spc="-193" dirty="0">
                <a:latin typeface="Arial Black"/>
                <a:cs typeface="Arial Black"/>
              </a:rPr>
              <a:t>Cluster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"/>
              <a:tabLst>
                <a:tab pos="473275" algn="l"/>
                <a:tab pos="474121" algn="l"/>
              </a:tabLst>
            </a:pPr>
            <a:r>
              <a:rPr sz="1467" spc="-147" dirty="0">
                <a:latin typeface="Arial Black"/>
                <a:cs typeface="Arial Black"/>
              </a:rPr>
              <a:t>Deploy </a:t>
            </a:r>
            <a:r>
              <a:rPr sz="1467" spc="-152" dirty="0">
                <a:latin typeface="Arial Black"/>
                <a:cs typeface="Arial Black"/>
              </a:rPr>
              <a:t>Control </a:t>
            </a:r>
            <a:r>
              <a:rPr sz="1467" spc="-200" dirty="0">
                <a:latin typeface="Arial Black"/>
                <a:cs typeface="Arial Black"/>
              </a:rPr>
              <a:t>Plane</a:t>
            </a:r>
            <a:r>
              <a:rPr sz="1467" spc="-40" dirty="0">
                <a:latin typeface="Arial Black"/>
                <a:cs typeface="Arial Black"/>
              </a:rPr>
              <a:t> </a:t>
            </a:r>
            <a:r>
              <a:rPr sz="1467" spc="-180" dirty="0">
                <a:latin typeface="Arial Black"/>
                <a:cs typeface="Arial Black"/>
              </a:rPr>
              <a:t>Components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"/>
              <a:tabLst>
                <a:tab pos="473275" algn="l"/>
                <a:tab pos="474121" algn="l"/>
              </a:tabLst>
            </a:pPr>
            <a:r>
              <a:rPr sz="1467" spc="-193" dirty="0">
                <a:latin typeface="Arial Black"/>
                <a:cs typeface="Arial Black"/>
              </a:rPr>
              <a:t>Network</a:t>
            </a:r>
            <a:r>
              <a:rPr sz="1467" spc="-80" dirty="0">
                <a:latin typeface="Arial Black"/>
                <a:cs typeface="Arial Black"/>
              </a:rPr>
              <a:t> </a:t>
            </a:r>
            <a:r>
              <a:rPr sz="1467" spc="-193" dirty="0">
                <a:latin typeface="Arial Black"/>
                <a:cs typeface="Arial Black"/>
              </a:rPr>
              <a:t>Loadbalancer</a:t>
            </a:r>
            <a:endParaRPr sz="1467">
              <a:latin typeface="Arial Black"/>
              <a:cs typeface="Arial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85231" y="3568193"/>
            <a:ext cx="896620" cy="245431"/>
          </a:xfrm>
          <a:prstGeom prst="rect">
            <a:avLst/>
          </a:prstGeom>
          <a:solidFill>
            <a:srgbClr val="F68715">
              <a:alpha val="43920"/>
            </a:srgbClr>
          </a:solidFill>
        </p:spPr>
        <p:txBody>
          <a:bodyPr vert="horz" wrap="square" lIns="0" tIns="80433" rIns="0" bIns="0" rtlCol="0">
            <a:spAutoFit/>
          </a:bodyPr>
          <a:lstStyle/>
          <a:p>
            <a:pPr marL="151548">
              <a:spcBef>
                <a:spcPts val="633"/>
              </a:spcBef>
            </a:pPr>
            <a:r>
              <a:rPr sz="1067" spc="-140" dirty="0">
                <a:solidFill>
                  <a:srgbClr val="F17921"/>
                </a:solidFill>
                <a:latin typeface="Arial Black"/>
                <a:cs typeface="Arial Black"/>
              </a:rPr>
              <a:t>Scheduler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85231" y="3169243"/>
            <a:ext cx="896620" cy="34552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022" marR="149010" indent="-30479">
              <a:spcBef>
                <a:spcPts val="133"/>
              </a:spcBef>
            </a:pPr>
            <a:r>
              <a:rPr sz="1067" spc="-180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067" spc="-93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sz="1067" spc="-113" dirty="0">
                <a:solidFill>
                  <a:srgbClr val="FFFFFF"/>
                </a:solidFill>
                <a:latin typeface="Arial Black"/>
                <a:cs typeface="Arial Black"/>
              </a:rPr>
              <a:t>ntr</a:t>
            </a:r>
            <a:r>
              <a:rPr sz="1067" spc="-93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sz="1067" spc="-107" dirty="0">
                <a:solidFill>
                  <a:srgbClr val="FFFFFF"/>
                </a:solidFill>
                <a:latin typeface="Arial Black"/>
                <a:cs typeface="Arial Black"/>
              </a:rPr>
              <a:t>ller  </a:t>
            </a:r>
            <a:r>
              <a:rPr sz="1067" spc="-120" dirty="0">
                <a:solidFill>
                  <a:srgbClr val="FFFFFF"/>
                </a:solidFill>
                <a:latin typeface="Arial Black"/>
                <a:cs typeface="Arial Black"/>
              </a:rPr>
              <a:t>Manager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54320" y="2119376"/>
            <a:ext cx="758613" cy="330924"/>
          </a:xfrm>
          <a:prstGeom prst="rect">
            <a:avLst/>
          </a:prstGeom>
          <a:solidFill>
            <a:srgbClr val="0C4060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59"/>
              </a:lnSpc>
            </a:pPr>
            <a:r>
              <a:rPr sz="1067" b="1" spc="-2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67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67" spc="-147" dirty="0">
                <a:solidFill>
                  <a:srgbClr val="FFFFFF"/>
                </a:solidFill>
                <a:latin typeface="Arial Black"/>
                <a:cs typeface="Arial Black"/>
              </a:rPr>
              <a:t>Server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51905" y="2109215"/>
            <a:ext cx="756073" cy="330924"/>
          </a:xfrm>
          <a:prstGeom prst="rect">
            <a:avLst/>
          </a:prstGeom>
          <a:solidFill>
            <a:srgbClr val="0C4060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R="11006" algn="ctr">
              <a:lnSpc>
                <a:spcPts val="1267"/>
              </a:lnSpc>
            </a:pPr>
            <a:r>
              <a:rPr sz="1067" b="1" spc="-2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67">
              <a:latin typeface="Arial"/>
              <a:cs typeface="Arial"/>
            </a:endParaRPr>
          </a:p>
          <a:p>
            <a:pPr marR="12700" algn="ctr"/>
            <a:r>
              <a:rPr sz="1067" spc="-147" dirty="0">
                <a:solidFill>
                  <a:srgbClr val="FFFFFF"/>
                </a:solidFill>
                <a:latin typeface="Arial Black"/>
                <a:cs typeface="Arial Black"/>
              </a:rPr>
              <a:t>Server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82815" y="3562096"/>
            <a:ext cx="894080" cy="244576"/>
          </a:xfrm>
          <a:prstGeom prst="rect">
            <a:avLst/>
          </a:prstGeom>
          <a:solidFill>
            <a:srgbClr val="F68715">
              <a:alpha val="43920"/>
            </a:srgbClr>
          </a:solidFill>
        </p:spPr>
        <p:txBody>
          <a:bodyPr vert="horz" wrap="square" lIns="0" tIns="79587" rIns="0" bIns="0" rtlCol="0">
            <a:spAutoFit/>
          </a:bodyPr>
          <a:lstStyle/>
          <a:p>
            <a:pPr marL="150703">
              <a:spcBef>
                <a:spcPts val="627"/>
              </a:spcBef>
            </a:pPr>
            <a:r>
              <a:rPr sz="1067" spc="-140" dirty="0">
                <a:solidFill>
                  <a:srgbClr val="F17921"/>
                </a:solidFill>
                <a:latin typeface="Arial Black"/>
                <a:cs typeface="Arial Black"/>
              </a:rPr>
              <a:t>Scheduler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772655" y="3182111"/>
            <a:ext cx="896620" cy="327660"/>
          </a:xfrm>
          <a:custGeom>
            <a:avLst/>
            <a:gdLst/>
            <a:ahLst/>
            <a:cxnLst/>
            <a:rect l="l" t="t" r="r" b="b"/>
            <a:pathLst>
              <a:path w="672464" h="245744">
                <a:moveTo>
                  <a:pt x="672084" y="0"/>
                </a:moveTo>
                <a:lnTo>
                  <a:pt x="0" y="0"/>
                </a:lnTo>
                <a:lnTo>
                  <a:pt x="0" y="245363"/>
                </a:lnTo>
                <a:lnTo>
                  <a:pt x="672084" y="245363"/>
                </a:lnTo>
                <a:lnTo>
                  <a:pt x="672084" y="0"/>
                </a:lnTo>
                <a:close/>
              </a:path>
            </a:pathLst>
          </a:custGeom>
          <a:solidFill>
            <a:srgbClr val="E10A87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 txBox="1"/>
          <p:nvPr/>
        </p:nvSpPr>
        <p:spPr>
          <a:xfrm>
            <a:off x="6782815" y="3182112"/>
            <a:ext cx="89408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697">
              <a:lnSpc>
                <a:spcPts val="1247"/>
              </a:lnSpc>
            </a:pPr>
            <a:r>
              <a:rPr sz="1067" spc="-120" dirty="0">
                <a:solidFill>
                  <a:srgbClr val="FFFFFF"/>
                </a:solidFill>
                <a:latin typeface="Arial Black"/>
                <a:cs typeface="Arial Black"/>
              </a:rPr>
              <a:t>Controller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82815" y="3325369"/>
            <a:ext cx="89408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0176">
              <a:spcBef>
                <a:spcPts val="133"/>
              </a:spcBef>
            </a:pPr>
            <a:r>
              <a:rPr sz="1067" spc="-120" dirty="0">
                <a:solidFill>
                  <a:srgbClr val="FFFFFF"/>
                </a:solidFill>
                <a:latin typeface="Arial Black"/>
                <a:cs typeface="Arial Black"/>
              </a:rPr>
              <a:t>Manager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76695" y="628903"/>
            <a:ext cx="896620" cy="242865"/>
          </a:xfrm>
          <a:prstGeom prst="rect">
            <a:avLst/>
          </a:prstGeom>
          <a:solidFill>
            <a:srgbClr val="433D66"/>
          </a:solidFill>
          <a:ln w="19811">
            <a:solidFill>
              <a:srgbClr val="FFFFFF"/>
            </a:solidFill>
          </a:ln>
        </p:spPr>
        <p:txBody>
          <a:bodyPr vert="horz" wrap="square" lIns="0" tIns="77892" rIns="0" bIns="0" rtlCol="0">
            <a:spAutoFit/>
          </a:bodyPr>
          <a:lstStyle/>
          <a:p>
            <a:pPr marL="171869">
              <a:spcBef>
                <a:spcPts val="612"/>
              </a:spcBef>
            </a:pPr>
            <a:r>
              <a:rPr sz="1067" spc="-160" dirty="0">
                <a:solidFill>
                  <a:srgbClr val="F1F1F1"/>
                </a:solidFill>
                <a:latin typeface="Arial Black"/>
                <a:cs typeface="Arial Black"/>
              </a:rPr>
              <a:t>HAPRoxy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230368" y="4506976"/>
            <a:ext cx="667173" cy="314960"/>
          </a:xfrm>
          <a:custGeom>
            <a:avLst/>
            <a:gdLst/>
            <a:ahLst/>
            <a:cxnLst/>
            <a:rect l="l" t="t" r="r" b="b"/>
            <a:pathLst>
              <a:path w="500379" h="236220">
                <a:moveTo>
                  <a:pt x="499872" y="0"/>
                </a:moveTo>
                <a:lnTo>
                  <a:pt x="0" y="0"/>
                </a:lnTo>
                <a:lnTo>
                  <a:pt x="0" y="236220"/>
                </a:lnTo>
                <a:lnTo>
                  <a:pt x="499872" y="236220"/>
                </a:lnTo>
                <a:lnTo>
                  <a:pt x="499872" y="0"/>
                </a:lnTo>
                <a:close/>
              </a:path>
            </a:pathLst>
          </a:custGeom>
          <a:solidFill>
            <a:srgbClr val="CAE7F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 txBox="1"/>
          <p:nvPr/>
        </p:nvSpPr>
        <p:spPr>
          <a:xfrm>
            <a:off x="5306061" y="4563195"/>
            <a:ext cx="51562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dirty="0">
                <a:solidFill>
                  <a:srgbClr val="115F92"/>
                </a:solidFill>
                <a:latin typeface="Arial"/>
                <a:cs typeface="Arial"/>
              </a:rPr>
              <a:t>kubelet</a:t>
            </a:r>
            <a:endParaRPr sz="1067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047487" y="4860545"/>
            <a:ext cx="1032933" cy="329353"/>
          </a:xfrm>
          <a:custGeom>
            <a:avLst/>
            <a:gdLst/>
            <a:ahLst/>
            <a:cxnLst/>
            <a:rect l="l" t="t" r="r" b="b"/>
            <a:pathLst>
              <a:path w="774700" h="247014">
                <a:moveTo>
                  <a:pt x="774191" y="0"/>
                </a:moveTo>
                <a:lnTo>
                  <a:pt x="0" y="0"/>
                </a:lnTo>
                <a:lnTo>
                  <a:pt x="0" y="246887"/>
                </a:lnTo>
                <a:lnTo>
                  <a:pt x="774191" y="246887"/>
                </a:lnTo>
                <a:lnTo>
                  <a:pt x="774191" y="0"/>
                </a:lnTo>
                <a:close/>
              </a:path>
            </a:pathLst>
          </a:custGeom>
          <a:solidFill>
            <a:srgbClr val="24184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 txBox="1"/>
          <p:nvPr/>
        </p:nvSpPr>
        <p:spPr>
          <a:xfrm>
            <a:off x="5168730" y="4924553"/>
            <a:ext cx="78994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spc="-7" dirty="0">
                <a:solidFill>
                  <a:srgbClr val="CAE7F8"/>
                </a:solidFill>
                <a:latin typeface="Arial"/>
                <a:cs typeface="Arial"/>
              </a:rPr>
              <a:t>Kube-proxy</a:t>
            </a:r>
            <a:endParaRPr sz="1067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024623" y="4506976"/>
            <a:ext cx="667173" cy="314960"/>
          </a:xfrm>
          <a:custGeom>
            <a:avLst/>
            <a:gdLst/>
            <a:ahLst/>
            <a:cxnLst/>
            <a:rect l="l" t="t" r="r" b="b"/>
            <a:pathLst>
              <a:path w="500379" h="236220">
                <a:moveTo>
                  <a:pt x="499872" y="0"/>
                </a:moveTo>
                <a:lnTo>
                  <a:pt x="0" y="0"/>
                </a:lnTo>
                <a:lnTo>
                  <a:pt x="0" y="236220"/>
                </a:lnTo>
                <a:lnTo>
                  <a:pt x="499872" y="236220"/>
                </a:lnTo>
                <a:lnTo>
                  <a:pt x="499872" y="0"/>
                </a:lnTo>
                <a:close/>
              </a:path>
            </a:pathLst>
          </a:custGeom>
          <a:solidFill>
            <a:srgbClr val="CAE7F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 txBox="1"/>
          <p:nvPr/>
        </p:nvSpPr>
        <p:spPr>
          <a:xfrm>
            <a:off x="7100823" y="4563195"/>
            <a:ext cx="51562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dirty="0">
                <a:solidFill>
                  <a:srgbClr val="115F92"/>
                </a:solidFill>
                <a:latin typeface="Arial"/>
                <a:cs typeface="Arial"/>
              </a:rPr>
              <a:t>kubelet</a:t>
            </a:r>
            <a:endParaRPr sz="1067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841744" y="4860545"/>
            <a:ext cx="1032933" cy="329353"/>
          </a:xfrm>
          <a:custGeom>
            <a:avLst/>
            <a:gdLst/>
            <a:ahLst/>
            <a:cxnLst/>
            <a:rect l="l" t="t" r="r" b="b"/>
            <a:pathLst>
              <a:path w="774700" h="247014">
                <a:moveTo>
                  <a:pt x="774191" y="0"/>
                </a:moveTo>
                <a:lnTo>
                  <a:pt x="0" y="0"/>
                </a:lnTo>
                <a:lnTo>
                  <a:pt x="0" y="246887"/>
                </a:lnTo>
                <a:lnTo>
                  <a:pt x="774191" y="246887"/>
                </a:lnTo>
                <a:lnTo>
                  <a:pt x="774191" y="0"/>
                </a:lnTo>
                <a:close/>
              </a:path>
            </a:pathLst>
          </a:custGeom>
          <a:solidFill>
            <a:srgbClr val="24184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 txBox="1"/>
          <p:nvPr/>
        </p:nvSpPr>
        <p:spPr>
          <a:xfrm>
            <a:off x="6963326" y="4924553"/>
            <a:ext cx="78994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spc="-7" dirty="0">
                <a:solidFill>
                  <a:srgbClr val="CAE7F8"/>
                </a:solidFill>
                <a:latin typeface="Arial"/>
                <a:cs typeface="Arial"/>
              </a:rPr>
              <a:t>Kube-proxy</a:t>
            </a:r>
            <a:endParaRPr sz="1067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1239" y="4545753"/>
            <a:ext cx="3100493" cy="9201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indent="-457189">
              <a:spcBef>
                <a:spcPts val="133"/>
              </a:spcBef>
              <a:buFont typeface="Wingdings"/>
              <a:buChar char=""/>
              <a:tabLst>
                <a:tab pos="473275" algn="l"/>
                <a:tab pos="474121" algn="l"/>
              </a:tabLst>
            </a:pPr>
            <a:r>
              <a:rPr sz="1467" spc="-193" dirty="0">
                <a:latin typeface="Arial Black"/>
                <a:cs typeface="Arial Black"/>
              </a:rPr>
              <a:t>Generate </a:t>
            </a:r>
            <a:r>
              <a:rPr sz="1467" spc="-280" dirty="0">
                <a:latin typeface="Arial Black"/>
                <a:cs typeface="Arial Black"/>
              </a:rPr>
              <a:t>CERTs  </a:t>
            </a:r>
            <a:r>
              <a:rPr sz="1467" spc="-127" dirty="0">
                <a:latin typeface="Arial Black"/>
                <a:cs typeface="Arial Black"/>
              </a:rPr>
              <a:t>for</a:t>
            </a:r>
            <a:r>
              <a:rPr sz="1467" spc="-80" dirty="0">
                <a:latin typeface="Arial Black"/>
                <a:cs typeface="Arial Black"/>
              </a:rPr>
              <a:t> </a:t>
            </a:r>
            <a:r>
              <a:rPr sz="1467" spc="-133" dirty="0">
                <a:latin typeface="Arial Black"/>
                <a:cs typeface="Arial Black"/>
              </a:rPr>
              <a:t>Worker-1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spcBef>
                <a:spcPts val="7"/>
              </a:spcBef>
              <a:buFont typeface="Wingdings"/>
              <a:buChar char=""/>
              <a:tabLst>
                <a:tab pos="473275" algn="l"/>
                <a:tab pos="474121" algn="l"/>
              </a:tabLst>
            </a:pPr>
            <a:r>
              <a:rPr sz="1467" spc="-160" dirty="0">
                <a:latin typeface="Arial Black"/>
                <a:cs typeface="Arial Black"/>
              </a:rPr>
              <a:t>Configure </a:t>
            </a:r>
            <a:r>
              <a:rPr sz="1467" spc="-193" dirty="0">
                <a:latin typeface="Arial Black"/>
                <a:cs typeface="Arial Black"/>
              </a:rPr>
              <a:t>Kubelet </a:t>
            </a:r>
            <a:r>
              <a:rPr sz="1467" spc="-127" dirty="0">
                <a:latin typeface="Arial Black"/>
                <a:cs typeface="Arial Black"/>
              </a:rPr>
              <a:t>for</a:t>
            </a:r>
            <a:r>
              <a:rPr sz="1467" spc="33" dirty="0">
                <a:latin typeface="Arial Black"/>
                <a:cs typeface="Arial Black"/>
              </a:rPr>
              <a:t> </a:t>
            </a:r>
            <a:r>
              <a:rPr sz="1467" spc="-133" dirty="0">
                <a:latin typeface="Arial Black"/>
                <a:cs typeface="Arial Black"/>
              </a:rPr>
              <a:t>Worker-1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"/>
              <a:tabLst>
                <a:tab pos="473275" algn="l"/>
                <a:tab pos="474121" algn="l"/>
              </a:tabLst>
            </a:pPr>
            <a:r>
              <a:rPr sz="1467" spc="-240" dirty="0">
                <a:latin typeface="Arial Black"/>
                <a:cs typeface="Arial Black"/>
              </a:rPr>
              <a:t>Renew</a:t>
            </a:r>
            <a:r>
              <a:rPr sz="1467" spc="-93" dirty="0">
                <a:latin typeface="Arial Black"/>
                <a:cs typeface="Arial Black"/>
              </a:rPr>
              <a:t> </a:t>
            </a:r>
            <a:r>
              <a:rPr sz="1467" spc="-193" dirty="0">
                <a:latin typeface="Arial Black"/>
                <a:cs typeface="Arial Black"/>
              </a:rPr>
              <a:t>Certificates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"/>
              <a:tabLst>
                <a:tab pos="473275" algn="l"/>
                <a:tab pos="474121" algn="l"/>
              </a:tabLst>
            </a:pPr>
            <a:r>
              <a:rPr sz="1467" spc="-160" dirty="0">
                <a:latin typeface="Arial Black"/>
                <a:cs typeface="Arial Black"/>
              </a:rPr>
              <a:t>Configure</a:t>
            </a:r>
            <a:r>
              <a:rPr sz="1467" spc="-100" dirty="0">
                <a:latin typeface="Arial Black"/>
                <a:cs typeface="Arial Black"/>
              </a:rPr>
              <a:t> </a:t>
            </a:r>
            <a:r>
              <a:rPr sz="1467" spc="-152" dirty="0">
                <a:latin typeface="Arial Black"/>
                <a:cs typeface="Arial Black"/>
              </a:rPr>
              <a:t>kube-proxy</a:t>
            </a:r>
            <a:endParaRPr sz="1467">
              <a:latin typeface="Arial Black"/>
              <a:cs typeface="Arial Black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074490" y="4478630"/>
            <a:ext cx="3671993" cy="137255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113" dirty="0">
                <a:latin typeface="Arial"/>
                <a:cs typeface="Arial"/>
              </a:rPr>
              <a:t>TLS</a:t>
            </a:r>
            <a:r>
              <a:rPr sz="1467" b="1" spc="-33" dirty="0">
                <a:latin typeface="Arial"/>
                <a:cs typeface="Arial"/>
              </a:rPr>
              <a:t> </a:t>
            </a:r>
            <a:r>
              <a:rPr sz="1467" b="1" spc="-27" dirty="0">
                <a:latin typeface="Arial"/>
                <a:cs typeface="Arial"/>
              </a:rPr>
              <a:t>Bootstrap:</a:t>
            </a:r>
            <a:endParaRPr sz="1467">
              <a:latin typeface="Arial"/>
              <a:cs typeface="Arial"/>
            </a:endParaRPr>
          </a:p>
          <a:p>
            <a:pPr marL="474121" marR="430096" indent="-457189">
              <a:spcBef>
                <a:spcPts val="7"/>
              </a:spcBef>
              <a:buFont typeface="Wingdings"/>
              <a:buChar char=""/>
              <a:tabLst>
                <a:tab pos="473275" algn="l"/>
                <a:tab pos="474121" algn="l"/>
              </a:tabLst>
            </a:pPr>
            <a:r>
              <a:rPr sz="1467" spc="-133" dirty="0">
                <a:latin typeface="Arial Black"/>
                <a:cs typeface="Arial Black"/>
              </a:rPr>
              <a:t>Worker-2 </a:t>
            </a:r>
            <a:r>
              <a:rPr sz="1467" spc="-140" dirty="0">
                <a:latin typeface="Arial Black"/>
                <a:cs typeface="Arial Black"/>
              </a:rPr>
              <a:t>to </a:t>
            </a:r>
            <a:r>
              <a:rPr sz="1467" spc="-213" dirty="0">
                <a:latin typeface="Arial Black"/>
                <a:cs typeface="Arial Black"/>
              </a:rPr>
              <a:t>create </a:t>
            </a:r>
            <a:r>
              <a:rPr sz="1467" spc="-167" dirty="0">
                <a:latin typeface="Arial Black"/>
                <a:cs typeface="Arial Black"/>
              </a:rPr>
              <a:t>and </a:t>
            </a:r>
            <a:r>
              <a:rPr sz="1467" spc="-160" dirty="0">
                <a:latin typeface="Arial Black"/>
                <a:cs typeface="Arial Black"/>
              </a:rPr>
              <a:t>configure  </a:t>
            </a:r>
            <a:r>
              <a:rPr sz="1467" spc="-200" dirty="0">
                <a:latin typeface="Arial Black"/>
                <a:cs typeface="Arial Black"/>
              </a:rPr>
              <a:t>certificates </a:t>
            </a:r>
            <a:r>
              <a:rPr sz="1467" spc="-152" dirty="0">
                <a:latin typeface="Arial Black"/>
                <a:cs typeface="Arial Black"/>
              </a:rPr>
              <a:t>by</a:t>
            </a:r>
            <a:r>
              <a:rPr sz="1467" spc="-267" dirty="0">
                <a:latin typeface="Arial Black"/>
                <a:cs typeface="Arial Black"/>
              </a:rPr>
              <a:t> </a:t>
            </a:r>
            <a:r>
              <a:rPr sz="1467" spc="-173" dirty="0">
                <a:latin typeface="Arial Black"/>
                <a:cs typeface="Arial Black"/>
              </a:rPr>
              <a:t>itself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"/>
              <a:tabLst>
                <a:tab pos="473275" algn="l"/>
                <a:tab pos="474121" algn="l"/>
              </a:tabLst>
            </a:pPr>
            <a:r>
              <a:rPr sz="1467" spc="-160" dirty="0">
                <a:latin typeface="Arial Black"/>
                <a:cs typeface="Arial Black"/>
              </a:rPr>
              <a:t>Configure </a:t>
            </a:r>
            <a:r>
              <a:rPr sz="1467" spc="-193" dirty="0">
                <a:latin typeface="Arial Black"/>
                <a:cs typeface="Arial Black"/>
              </a:rPr>
              <a:t>Kubelet </a:t>
            </a:r>
            <a:r>
              <a:rPr sz="1467" spc="-127" dirty="0">
                <a:latin typeface="Arial Black"/>
                <a:cs typeface="Arial Black"/>
              </a:rPr>
              <a:t>for</a:t>
            </a:r>
            <a:r>
              <a:rPr sz="1467" spc="73" dirty="0">
                <a:latin typeface="Arial Black"/>
                <a:cs typeface="Arial Black"/>
              </a:rPr>
              <a:t> </a:t>
            </a:r>
            <a:r>
              <a:rPr sz="1467" spc="-133" dirty="0">
                <a:latin typeface="Arial Black"/>
                <a:cs typeface="Arial Black"/>
              </a:rPr>
              <a:t>Worker-2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"/>
              <a:tabLst>
                <a:tab pos="473275" algn="l"/>
                <a:tab pos="474121" algn="l"/>
              </a:tabLst>
            </a:pPr>
            <a:r>
              <a:rPr sz="1467" spc="-133" dirty="0">
                <a:latin typeface="Arial Black"/>
                <a:cs typeface="Arial Black"/>
              </a:rPr>
              <a:t>Worker-2 </a:t>
            </a:r>
            <a:r>
              <a:rPr sz="1467" spc="-140" dirty="0">
                <a:latin typeface="Arial Black"/>
                <a:cs typeface="Arial Black"/>
              </a:rPr>
              <a:t>to </a:t>
            </a:r>
            <a:r>
              <a:rPr sz="1467" spc="-207" dirty="0">
                <a:latin typeface="Arial Black"/>
                <a:cs typeface="Arial Black"/>
              </a:rPr>
              <a:t>renew </a:t>
            </a:r>
            <a:r>
              <a:rPr sz="1467" spc="-200" dirty="0">
                <a:latin typeface="Arial Black"/>
                <a:cs typeface="Arial Black"/>
              </a:rPr>
              <a:t>certificates </a:t>
            </a:r>
            <a:r>
              <a:rPr sz="1467" spc="-152" dirty="0">
                <a:latin typeface="Arial Black"/>
                <a:cs typeface="Arial Black"/>
              </a:rPr>
              <a:t>by</a:t>
            </a:r>
            <a:r>
              <a:rPr sz="1467" spc="160" dirty="0">
                <a:latin typeface="Arial Black"/>
                <a:cs typeface="Arial Black"/>
              </a:rPr>
              <a:t> </a:t>
            </a:r>
            <a:r>
              <a:rPr sz="1467" spc="-173" dirty="0">
                <a:latin typeface="Arial Black"/>
                <a:cs typeface="Arial Black"/>
              </a:rPr>
              <a:t>itself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"/>
              <a:tabLst>
                <a:tab pos="473275" algn="l"/>
                <a:tab pos="474121" algn="l"/>
              </a:tabLst>
            </a:pPr>
            <a:r>
              <a:rPr sz="1467" spc="-160" dirty="0">
                <a:latin typeface="Arial Black"/>
                <a:cs typeface="Arial Black"/>
              </a:rPr>
              <a:t>Configure</a:t>
            </a:r>
            <a:r>
              <a:rPr sz="1467" spc="-100" dirty="0">
                <a:latin typeface="Arial Black"/>
                <a:cs typeface="Arial Black"/>
              </a:rPr>
              <a:t> </a:t>
            </a:r>
            <a:r>
              <a:rPr sz="1467" spc="-152" dirty="0">
                <a:latin typeface="Arial Black"/>
                <a:cs typeface="Arial Black"/>
              </a:rPr>
              <a:t>kube-proxy</a:t>
            </a:r>
            <a:endParaRPr sz="1467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066740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792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1545146" y="424856"/>
            <a:ext cx="29633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spc="13" dirty="0">
                <a:solidFill>
                  <a:srgbClr val="FFFFFF"/>
                </a:solidFill>
                <a:latin typeface="Arial"/>
                <a:cs typeface="Arial"/>
              </a:rPr>
              <a:t>109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16208" y="138176"/>
            <a:ext cx="751840" cy="796713"/>
          </a:xfrm>
          <a:custGeom>
            <a:avLst/>
            <a:gdLst/>
            <a:ahLst/>
            <a:cxnLst/>
            <a:rect l="l" t="t" r="r" b="b"/>
            <a:pathLst>
              <a:path w="563879" h="597535">
                <a:moveTo>
                  <a:pt x="297180" y="0"/>
                </a:moveTo>
                <a:lnTo>
                  <a:pt x="272415" y="0"/>
                </a:lnTo>
                <a:lnTo>
                  <a:pt x="272415" y="55499"/>
                </a:lnTo>
                <a:lnTo>
                  <a:pt x="224942" y="62280"/>
                </a:lnTo>
                <a:lnTo>
                  <a:pt x="180682" y="77444"/>
                </a:lnTo>
                <a:lnTo>
                  <a:pt x="140474" y="100126"/>
                </a:lnTo>
                <a:lnTo>
                  <a:pt x="105219" y="129463"/>
                </a:lnTo>
                <a:lnTo>
                  <a:pt x="75755" y="164579"/>
                </a:lnTo>
                <a:lnTo>
                  <a:pt x="52984" y="204609"/>
                </a:lnTo>
                <a:lnTo>
                  <a:pt x="37769" y="248678"/>
                </a:lnTo>
                <a:lnTo>
                  <a:pt x="30988" y="295910"/>
                </a:lnTo>
                <a:lnTo>
                  <a:pt x="0" y="295910"/>
                </a:lnTo>
                <a:lnTo>
                  <a:pt x="0" y="318516"/>
                </a:lnTo>
                <a:lnTo>
                  <a:pt x="55753" y="318516"/>
                </a:lnTo>
                <a:lnTo>
                  <a:pt x="55753" y="308229"/>
                </a:lnTo>
                <a:lnTo>
                  <a:pt x="60426" y="261772"/>
                </a:lnTo>
                <a:lnTo>
                  <a:pt x="73825" y="218541"/>
                </a:lnTo>
                <a:lnTo>
                  <a:pt x="95008" y="179451"/>
                </a:lnTo>
                <a:lnTo>
                  <a:pt x="123037" y="145402"/>
                </a:lnTo>
                <a:lnTo>
                  <a:pt x="156972" y="117335"/>
                </a:lnTo>
                <a:lnTo>
                  <a:pt x="195859" y="96151"/>
                </a:lnTo>
                <a:lnTo>
                  <a:pt x="238760" y="82778"/>
                </a:lnTo>
                <a:lnTo>
                  <a:pt x="284734" y="78105"/>
                </a:lnTo>
                <a:lnTo>
                  <a:pt x="297180" y="78105"/>
                </a:lnTo>
                <a:lnTo>
                  <a:pt x="297180" y="0"/>
                </a:lnTo>
                <a:close/>
              </a:path>
              <a:path w="563879" h="597535">
                <a:moveTo>
                  <a:pt x="473964" y="305562"/>
                </a:moveTo>
                <a:lnTo>
                  <a:pt x="468972" y="261937"/>
                </a:lnTo>
                <a:lnTo>
                  <a:pt x="454748" y="221780"/>
                </a:lnTo>
                <a:lnTo>
                  <a:pt x="449326" y="213182"/>
                </a:lnTo>
                <a:lnTo>
                  <a:pt x="449326" y="305562"/>
                </a:lnTo>
                <a:lnTo>
                  <a:pt x="443407" y="350062"/>
                </a:lnTo>
                <a:lnTo>
                  <a:pt x="426694" y="389915"/>
                </a:lnTo>
                <a:lnTo>
                  <a:pt x="400723" y="423595"/>
                </a:lnTo>
                <a:lnTo>
                  <a:pt x="367042" y="449567"/>
                </a:lnTo>
                <a:lnTo>
                  <a:pt x="327190" y="466280"/>
                </a:lnTo>
                <a:lnTo>
                  <a:pt x="282702" y="472186"/>
                </a:lnTo>
                <a:lnTo>
                  <a:pt x="238912" y="466280"/>
                </a:lnTo>
                <a:lnTo>
                  <a:pt x="199250" y="449567"/>
                </a:lnTo>
                <a:lnTo>
                  <a:pt x="165430" y="423595"/>
                </a:lnTo>
                <a:lnTo>
                  <a:pt x="139153" y="389915"/>
                </a:lnTo>
                <a:lnTo>
                  <a:pt x="122123" y="350062"/>
                </a:lnTo>
                <a:lnTo>
                  <a:pt x="116078" y="305562"/>
                </a:lnTo>
                <a:lnTo>
                  <a:pt x="122123" y="261785"/>
                </a:lnTo>
                <a:lnTo>
                  <a:pt x="139153" y="222123"/>
                </a:lnTo>
                <a:lnTo>
                  <a:pt x="165430" y="188302"/>
                </a:lnTo>
                <a:lnTo>
                  <a:pt x="199250" y="162026"/>
                </a:lnTo>
                <a:lnTo>
                  <a:pt x="238912" y="144995"/>
                </a:lnTo>
                <a:lnTo>
                  <a:pt x="282702" y="138938"/>
                </a:lnTo>
                <a:lnTo>
                  <a:pt x="327190" y="144995"/>
                </a:lnTo>
                <a:lnTo>
                  <a:pt x="367042" y="162026"/>
                </a:lnTo>
                <a:lnTo>
                  <a:pt x="400723" y="188302"/>
                </a:lnTo>
                <a:lnTo>
                  <a:pt x="426694" y="222123"/>
                </a:lnTo>
                <a:lnTo>
                  <a:pt x="443407" y="261785"/>
                </a:lnTo>
                <a:lnTo>
                  <a:pt x="449326" y="305562"/>
                </a:lnTo>
                <a:lnTo>
                  <a:pt x="449326" y="213182"/>
                </a:lnTo>
                <a:lnTo>
                  <a:pt x="402869" y="156552"/>
                </a:lnTo>
                <a:lnTo>
                  <a:pt x="367372" y="133870"/>
                </a:lnTo>
                <a:lnTo>
                  <a:pt x="326961" y="119392"/>
                </a:lnTo>
                <a:lnTo>
                  <a:pt x="282702" y="114300"/>
                </a:lnTo>
                <a:lnTo>
                  <a:pt x="239064" y="119392"/>
                </a:lnTo>
                <a:lnTo>
                  <a:pt x="198907" y="133870"/>
                </a:lnTo>
                <a:lnTo>
                  <a:pt x="163372" y="156552"/>
                </a:lnTo>
                <a:lnTo>
                  <a:pt x="133680" y="186245"/>
                </a:lnTo>
                <a:lnTo>
                  <a:pt x="110998" y="221780"/>
                </a:lnTo>
                <a:lnTo>
                  <a:pt x="96520" y="261937"/>
                </a:lnTo>
                <a:lnTo>
                  <a:pt x="91440" y="305562"/>
                </a:lnTo>
                <a:lnTo>
                  <a:pt x="96520" y="349834"/>
                </a:lnTo>
                <a:lnTo>
                  <a:pt x="110998" y="390245"/>
                </a:lnTo>
                <a:lnTo>
                  <a:pt x="133680" y="425742"/>
                </a:lnTo>
                <a:lnTo>
                  <a:pt x="163372" y="455218"/>
                </a:lnTo>
                <a:lnTo>
                  <a:pt x="198907" y="477621"/>
                </a:lnTo>
                <a:lnTo>
                  <a:pt x="239064" y="491845"/>
                </a:lnTo>
                <a:lnTo>
                  <a:pt x="282702" y="496824"/>
                </a:lnTo>
                <a:lnTo>
                  <a:pt x="326961" y="491845"/>
                </a:lnTo>
                <a:lnTo>
                  <a:pt x="367372" y="477621"/>
                </a:lnTo>
                <a:lnTo>
                  <a:pt x="375970" y="472186"/>
                </a:lnTo>
                <a:lnTo>
                  <a:pt x="402869" y="455218"/>
                </a:lnTo>
                <a:lnTo>
                  <a:pt x="432346" y="425742"/>
                </a:lnTo>
                <a:lnTo>
                  <a:pt x="454748" y="390245"/>
                </a:lnTo>
                <a:lnTo>
                  <a:pt x="468972" y="349834"/>
                </a:lnTo>
                <a:lnTo>
                  <a:pt x="473964" y="305562"/>
                </a:lnTo>
                <a:close/>
              </a:path>
              <a:path w="563879" h="597535">
                <a:moveTo>
                  <a:pt x="563880" y="295656"/>
                </a:moveTo>
                <a:lnTo>
                  <a:pt x="512318" y="295656"/>
                </a:lnTo>
                <a:lnTo>
                  <a:pt x="512318" y="307975"/>
                </a:lnTo>
                <a:lnTo>
                  <a:pt x="507720" y="353720"/>
                </a:lnTo>
                <a:lnTo>
                  <a:pt x="494538" y="396405"/>
                </a:lnTo>
                <a:lnTo>
                  <a:pt x="473633" y="435102"/>
                </a:lnTo>
                <a:lnTo>
                  <a:pt x="445858" y="468858"/>
                </a:lnTo>
                <a:lnTo>
                  <a:pt x="412102" y="496747"/>
                </a:lnTo>
                <a:lnTo>
                  <a:pt x="373227" y="517829"/>
                </a:lnTo>
                <a:lnTo>
                  <a:pt x="330098" y="531164"/>
                </a:lnTo>
                <a:lnTo>
                  <a:pt x="283591" y="535813"/>
                </a:lnTo>
                <a:lnTo>
                  <a:pt x="271272" y="535813"/>
                </a:lnTo>
                <a:lnTo>
                  <a:pt x="271272" y="597408"/>
                </a:lnTo>
                <a:lnTo>
                  <a:pt x="296037" y="597408"/>
                </a:lnTo>
                <a:lnTo>
                  <a:pt x="296037" y="558419"/>
                </a:lnTo>
                <a:lnTo>
                  <a:pt x="343395" y="551700"/>
                </a:lnTo>
                <a:lnTo>
                  <a:pt x="387578" y="536740"/>
                </a:lnTo>
                <a:lnTo>
                  <a:pt x="427697" y="514324"/>
                </a:lnTo>
                <a:lnTo>
                  <a:pt x="462889" y="485254"/>
                </a:lnTo>
                <a:lnTo>
                  <a:pt x="492302" y="450316"/>
                </a:lnTo>
                <a:lnTo>
                  <a:pt x="515035" y="410311"/>
                </a:lnTo>
                <a:lnTo>
                  <a:pt x="530250" y="366039"/>
                </a:lnTo>
                <a:lnTo>
                  <a:pt x="537083" y="318262"/>
                </a:lnTo>
                <a:lnTo>
                  <a:pt x="563880" y="318262"/>
                </a:lnTo>
                <a:lnTo>
                  <a:pt x="563880" y="29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" y="2185756"/>
            <a:ext cx="5425439" cy="4672753"/>
          </a:xfrm>
          <a:custGeom>
            <a:avLst/>
            <a:gdLst/>
            <a:ahLst/>
            <a:cxnLst/>
            <a:rect l="l" t="t" r="r" b="b"/>
            <a:pathLst>
              <a:path w="4069079" h="3504565">
                <a:moveTo>
                  <a:pt x="43994" y="3450892"/>
                </a:moveTo>
                <a:lnTo>
                  <a:pt x="21947" y="3454098"/>
                </a:lnTo>
                <a:lnTo>
                  <a:pt x="2405" y="3466668"/>
                </a:lnTo>
                <a:lnTo>
                  <a:pt x="0" y="3469696"/>
                </a:lnTo>
                <a:lnTo>
                  <a:pt x="0" y="3504183"/>
                </a:lnTo>
                <a:lnTo>
                  <a:pt x="104762" y="3504183"/>
                </a:lnTo>
                <a:lnTo>
                  <a:pt x="104201" y="3500395"/>
                </a:lnTo>
                <a:lnTo>
                  <a:pt x="102271" y="3493373"/>
                </a:lnTo>
                <a:lnTo>
                  <a:pt x="124274" y="3483386"/>
                </a:lnTo>
                <a:lnTo>
                  <a:pt x="98935" y="3483386"/>
                </a:lnTo>
                <a:lnTo>
                  <a:pt x="85611" y="3470062"/>
                </a:lnTo>
                <a:lnTo>
                  <a:pt x="66047" y="3456422"/>
                </a:lnTo>
                <a:lnTo>
                  <a:pt x="43994" y="3450892"/>
                </a:lnTo>
                <a:close/>
              </a:path>
              <a:path w="4069079" h="3504565">
                <a:moveTo>
                  <a:pt x="184341" y="3460151"/>
                </a:moveTo>
                <a:lnTo>
                  <a:pt x="175463" y="3460151"/>
                </a:lnTo>
                <a:lnTo>
                  <a:pt x="162098" y="3504183"/>
                </a:lnTo>
                <a:lnTo>
                  <a:pt x="169698" y="3504183"/>
                </a:lnTo>
                <a:lnTo>
                  <a:pt x="184341" y="3460151"/>
                </a:lnTo>
                <a:close/>
              </a:path>
              <a:path w="4069079" h="3504565">
                <a:moveTo>
                  <a:pt x="387770" y="3377120"/>
                </a:moveTo>
                <a:lnTo>
                  <a:pt x="385064" y="3377120"/>
                </a:lnTo>
                <a:lnTo>
                  <a:pt x="358945" y="3504183"/>
                </a:lnTo>
                <a:lnTo>
                  <a:pt x="364046" y="3504183"/>
                </a:lnTo>
                <a:lnTo>
                  <a:pt x="387770" y="3377120"/>
                </a:lnTo>
                <a:close/>
              </a:path>
              <a:path w="4069079" h="3504565">
                <a:moveTo>
                  <a:pt x="2584417" y="2520137"/>
                </a:moveTo>
                <a:lnTo>
                  <a:pt x="2467737" y="2520137"/>
                </a:lnTo>
                <a:lnTo>
                  <a:pt x="2464435" y="2523464"/>
                </a:lnTo>
                <a:lnTo>
                  <a:pt x="2467864" y="2526792"/>
                </a:lnTo>
                <a:lnTo>
                  <a:pt x="1226801" y="3504183"/>
                </a:lnTo>
                <a:lnTo>
                  <a:pt x="1235267" y="3504183"/>
                </a:lnTo>
                <a:lnTo>
                  <a:pt x="2471166" y="2536786"/>
                </a:lnTo>
                <a:lnTo>
                  <a:pt x="2579779" y="2536786"/>
                </a:lnTo>
                <a:lnTo>
                  <a:pt x="2583894" y="2524810"/>
                </a:lnTo>
                <a:lnTo>
                  <a:pt x="2584417" y="2520137"/>
                </a:lnTo>
                <a:close/>
              </a:path>
              <a:path w="4069079" h="3504565">
                <a:moveTo>
                  <a:pt x="2579779" y="2536786"/>
                </a:moveTo>
                <a:lnTo>
                  <a:pt x="2471166" y="2536786"/>
                </a:lnTo>
                <a:lnTo>
                  <a:pt x="2474468" y="2540114"/>
                </a:lnTo>
                <a:lnTo>
                  <a:pt x="2477770" y="2550109"/>
                </a:lnTo>
                <a:lnTo>
                  <a:pt x="2481199" y="2553436"/>
                </a:lnTo>
                <a:lnTo>
                  <a:pt x="2487803" y="2560091"/>
                </a:lnTo>
                <a:lnTo>
                  <a:pt x="2173777" y="3504183"/>
                </a:lnTo>
                <a:lnTo>
                  <a:pt x="2184921" y="3504183"/>
                </a:lnTo>
                <a:lnTo>
                  <a:pt x="2497836" y="2563431"/>
                </a:lnTo>
                <a:lnTo>
                  <a:pt x="2554889" y="2563431"/>
                </a:lnTo>
                <a:lnTo>
                  <a:pt x="2564384" y="2556827"/>
                </a:lnTo>
                <a:lnTo>
                  <a:pt x="2577455" y="2556827"/>
                </a:lnTo>
                <a:lnTo>
                  <a:pt x="2570988" y="2550172"/>
                </a:lnTo>
                <a:lnTo>
                  <a:pt x="2579161" y="2538585"/>
                </a:lnTo>
                <a:lnTo>
                  <a:pt x="2579779" y="2536786"/>
                </a:lnTo>
                <a:close/>
              </a:path>
              <a:path w="4069079" h="3504565">
                <a:moveTo>
                  <a:pt x="2554889" y="2563431"/>
                </a:moveTo>
                <a:lnTo>
                  <a:pt x="2497836" y="2563431"/>
                </a:lnTo>
                <a:lnTo>
                  <a:pt x="2343940" y="3504183"/>
                </a:lnTo>
                <a:lnTo>
                  <a:pt x="2352424" y="3504183"/>
                </a:lnTo>
                <a:lnTo>
                  <a:pt x="2507742" y="2566771"/>
                </a:lnTo>
                <a:lnTo>
                  <a:pt x="2546764" y="2566771"/>
                </a:lnTo>
                <a:lnTo>
                  <a:pt x="2552729" y="2564933"/>
                </a:lnTo>
                <a:lnTo>
                  <a:pt x="2554889" y="2563431"/>
                </a:lnTo>
                <a:close/>
              </a:path>
              <a:path w="4069079" h="3504565">
                <a:moveTo>
                  <a:pt x="2577455" y="2556827"/>
                </a:moveTo>
                <a:lnTo>
                  <a:pt x="2564384" y="2556827"/>
                </a:lnTo>
                <a:lnTo>
                  <a:pt x="3257169" y="3262960"/>
                </a:lnTo>
                <a:lnTo>
                  <a:pt x="3250307" y="3283335"/>
                </a:lnTo>
                <a:lnTo>
                  <a:pt x="3255347" y="3322862"/>
                </a:lnTo>
                <a:lnTo>
                  <a:pt x="3277235" y="3342855"/>
                </a:lnTo>
                <a:lnTo>
                  <a:pt x="3189972" y="3504183"/>
                </a:lnTo>
                <a:lnTo>
                  <a:pt x="3195073" y="3504183"/>
                </a:lnTo>
                <a:lnTo>
                  <a:pt x="3280537" y="3346183"/>
                </a:lnTo>
                <a:lnTo>
                  <a:pt x="3344304" y="3346183"/>
                </a:lnTo>
                <a:lnTo>
                  <a:pt x="3353689" y="3339579"/>
                </a:lnTo>
                <a:lnTo>
                  <a:pt x="3366833" y="3319517"/>
                </a:lnTo>
                <a:lnTo>
                  <a:pt x="3371215" y="3296331"/>
                </a:lnTo>
                <a:lnTo>
                  <a:pt x="3366833" y="3273137"/>
                </a:lnTo>
                <a:lnTo>
                  <a:pt x="3357994" y="3259632"/>
                </a:lnTo>
                <a:lnTo>
                  <a:pt x="3260471" y="3259632"/>
                </a:lnTo>
                <a:lnTo>
                  <a:pt x="2577455" y="2556827"/>
                </a:lnTo>
                <a:close/>
              </a:path>
              <a:path w="4069079" h="3504565">
                <a:moveTo>
                  <a:pt x="0" y="2253388"/>
                </a:moveTo>
                <a:lnTo>
                  <a:pt x="0" y="2259722"/>
                </a:lnTo>
                <a:lnTo>
                  <a:pt x="533984" y="2322220"/>
                </a:lnTo>
                <a:lnTo>
                  <a:pt x="533317" y="2335166"/>
                </a:lnTo>
                <a:lnTo>
                  <a:pt x="550722" y="2372220"/>
                </a:lnTo>
                <a:lnTo>
                  <a:pt x="563981" y="2378824"/>
                </a:lnTo>
                <a:lnTo>
                  <a:pt x="182118" y="3453500"/>
                </a:lnTo>
                <a:lnTo>
                  <a:pt x="98935" y="3483386"/>
                </a:lnTo>
                <a:lnTo>
                  <a:pt x="124274" y="3483386"/>
                </a:lnTo>
                <a:lnTo>
                  <a:pt x="175463" y="3460151"/>
                </a:lnTo>
                <a:lnTo>
                  <a:pt x="184341" y="3460151"/>
                </a:lnTo>
                <a:lnTo>
                  <a:pt x="185445" y="3456832"/>
                </a:lnTo>
                <a:lnTo>
                  <a:pt x="210443" y="3446849"/>
                </a:lnTo>
                <a:lnTo>
                  <a:pt x="188760" y="3446849"/>
                </a:lnTo>
                <a:lnTo>
                  <a:pt x="570649" y="2385479"/>
                </a:lnTo>
                <a:lnTo>
                  <a:pt x="615455" y="2385479"/>
                </a:lnTo>
                <a:lnTo>
                  <a:pt x="623684" y="2382296"/>
                </a:lnTo>
                <a:lnTo>
                  <a:pt x="651211" y="2344147"/>
                </a:lnTo>
                <a:lnTo>
                  <a:pt x="653808" y="2335618"/>
                </a:lnTo>
                <a:lnTo>
                  <a:pt x="719740" y="2335618"/>
                </a:lnTo>
                <a:lnTo>
                  <a:pt x="653796" y="2328964"/>
                </a:lnTo>
                <a:lnTo>
                  <a:pt x="653707" y="2322220"/>
                </a:lnTo>
                <a:lnTo>
                  <a:pt x="650468" y="2318981"/>
                </a:lnTo>
                <a:lnTo>
                  <a:pt x="650462" y="2315552"/>
                </a:lnTo>
                <a:lnTo>
                  <a:pt x="533971" y="2315552"/>
                </a:lnTo>
                <a:lnTo>
                  <a:pt x="0" y="2253388"/>
                </a:lnTo>
                <a:close/>
              </a:path>
              <a:path w="4069079" h="3504565">
                <a:moveTo>
                  <a:pt x="615455" y="2385479"/>
                </a:moveTo>
                <a:lnTo>
                  <a:pt x="570649" y="2385479"/>
                </a:lnTo>
                <a:lnTo>
                  <a:pt x="385064" y="3370465"/>
                </a:lnTo>
                <a:lnTo>
                  <a:pt x="188760" y="3446849"/>
                </a:lnTo>
                <a:lnTo>
                  <a:pt x="210443" y="3446849"/>
                </a:lnTo>
                <a:lnTo>
                  <a:pt x="385064" y="3377120"/>
                </a:lnTo>
                <a:lnTo>
                  <a:pt x="387770" y="3377120"/>
                </a:lnTo>
                <a:lnTo>
                  <a:pt x="388391" y="3373793"/>
                </a:lnTo>
                <a:lnTo>
                  <a:pt x="412706" y="3363810"/>
                </a:lnTo>
                <a:lnTo>
                  <a:pt x="391718" y="3363810"/>
                </a:lnTo>
                <a:lnTo>
                  <a:pt x="580631" y="2388819"/>
                </a:lnTo>
                <a:lnTo>
                  <a:pt x="602813" y="2388819"/>
                </a:lnTo>
                <a:lnTo>
                  <a:pt x="608918" y="2388006"/>
                </a:lnTo>
                <a:lnTo>
                  <a:pt x="615455" y="2385479"/>
                </a:lnTo>
                <a:close/>
              </a:path>
              <a:path w="4069079" h="3504565">
                <a:moveTo>
                  <a:pt x="719740" y="2335618"/>
                </a:moveTo>
                <a:lnTo>
                  <a:pt x="653808" y="2335618"/>
                </a:lnTo>
                <a:lnTo>
                  <a:pt x="740346" y="2342349"/>
                </a:lnTo>
                <a:lnTo>
                  <a:pt x="2467737" y="2500172"/>
                </a:lnTo>
                <a:lnTo>
                  <a:pt x="2464435" y="2503500"/>
                </a:lnTo>
                <a:lnTo>
                  <a:pt x="2464435" y="2510155"/>
                </a:lnTo>
                <a:lnTo>
                  <a:pt x="2467737" y="2513482"/>
                </a:lnTo>
                <a:lnTo>
                  <a:pt x="391718" y="3363810"/>
                </a:lnTo>
                <a:lnTo>
                  <a:pt x="412706" y="3363810"/>
                </a:lnTo>
                <a:lnTo>
                  <a:pt x="2467737" y="2520137"/>
                </a:lnTo>
                <a:lnTo>
                  <a:pt x="2584417" y="2520137"/>
                </a:lnTo>
                <a:lnTo>
                  <a:pt x="2585507" y="2510407"/>
                </a:lnTo>
                <a:lnTo>
                  <a:pt x="2584323" y="2496934"/>
                </a:lnTo>
                <a:lnTo>
                  <a:pt x="2684003" y="2490279"/>
                </a:lnTo>
                <a:lnTo>
                  <a:pt x="2584196" y="2490279"/>
                </a:lnTo>
                <a:lnTo>
                  <a:pt x="2471039" y="2490190"/>
                </a:lnTo>
                <a:lnTo>
                  <a:pt x="719740" y="2335618"/>
                </a:lnTo>
                <a:close/>
              </a:path>
              <a:path w="4069079" h="3504565">
                <a:moveTo>
                  <a:pt x="3344304" y="3346183"/>
                </a:moveTo>
                <a:lnTo>
                  <a:pt x="3280537" y="3346183"/>
                </a:lnTo>
                <a:lnTo>
                  <a:pt x="3300414" y="3353582"/>
                </a:lnTo>
                <a:lnTo>
                  <a:pt x="3319637" y="3355363"/>
                </a:lnTo>
                <a:lnTo>
                  <a:pt x="3337597" y="3350903"/>
                </a:lnTo>
                <a:lnTo>
                  <a:pt x="3344304" y="3346183"/>
                </a:lnTo>
                <a:close/>
              </a:path>
              <a:path w="4069079" h="3504565">
                <a:moveTo>
                  <a:pt x="3305841" y="3235952"/>
                </a:moveTo>
                <a:lnTo>
                  <a:pt x="3284807" y="3241187"/>
                </a:lnTo>
                <a:lnTo>
                  <a:pt x="3267202" y="3252978"/>
                </a:lnTo>
                <a:lnTo>
                  <a:pt x="3263773" y="3256305"/>
                </a:lnTo>
                <a:lnTo>
                  <a:pt x="3260471" y="3259632"/>
                </a:lnTo>
                <a:lnTo>
                  <a:pt x="3357994" y="3259632"/>
                </a:lnTo>
                <a:lnTo>
                  <a:pt x="3353689" y="3253054"/>
                </a:lnTo>
                <a:lnTo>
                  <a:pt x="3350387" y="3249726"/>
                </a:lnTo>
                <a:lnTo>
                  <a:pt x="3353204" y="3246386"/>
                </a:lnTo>
                <a:lnTo>
                  <a:pt x="3346958" y="3246386"/>
                </a:lnTo>
                <a:lnTo>
                  <a:pt x="3327495" y="3237581"/>
                </a:lnTo>
                <a:lnTo>
                  <a:pt x="3305841" y="3235952"/>
                </a:lnTo>
                <a:close/>
              </a:path>
              <a:path w="4069079" h="3504565">
                <a:moveTo>
                  <a:pt x="4068572" y="2398293"/>
                </a:moveTo>
                <a:lnTo>
                  <a:pt x="4061841" y="2398293"/>
                </a:lnTo>
                <a:lnTo>
                  <a:pt x="3346958" y="3246386"/>
                </a:lnTo>
                <a:lnTo>
                  <a:pt x="3353204" y="3246386"/>
                </a:lnTo>
                <a:lnTo>
                  <a:pt x="4068572" y="2398293"/>
                </a:lnTo>
                <a:close/>
              </a:path>
              <a:path w="4069079" h="3504565">
                <a:moveTo>
                  <a:pt x="2546764" y="2566771"/>
                </a:moveTo>
                <a:lnTo>
                  <a:pt x="2507742" y="2566771"/>
                </a:lnTo>
                <a:lnTo>
                  <a:pt x="2523182" y="2569902"/>
                </a:lnTo>
                <a:lnTo>
                  <a:pt x="2538587" y="2569290"/>
                </a:lnTo>
                <a:lnTo>
                  <a:pt x="2546764" y="2566771"/>
                </a:lnTo>
                <a:close/>
              </a:path>
              <a:path w="4069079" h="3504565">
                <a:moveTo>
                  <a:pt x="4068572" y="2391638"/>
                </a:moveTo>
                <a:lnTo>
                  <a:pt x="2584196" y="2490279"/>
                </a:lnTo>
                <a:lnTo>
                  <a:pt x="2684003" y="2490279"/>
                </a:lnTo>
                <a:lnTo>
                  <a:pt x="4061841" y="2398293"/>
                </a:lnTo>
                <a:lnTo>
                  <a:pt x="4068572" y="2398293"/>
                </a:lnTo>
                <a:lnTo>
                  <a:pt x="4065270" y="2394966"/>
                </a:lnTo>
                <a:lnTo>
                  <a:pt x="4068572" y="2391638"/>
                </a:lnTo>
                <a:close/>
              </a:path>
              <a:path w="4069079" h="3504565">
                <a:moveTo>
                  <a:pt x="2525966" y="2451133"/>
                </a:moveTo>
                <a:lnTo>
                  <a:pt x="2503908" y="2456629"/>
                </a:lnTo>
                <a:lnTo>
                  <a:pt x="2484374" y="2470238"/>
                </a:lnTo>
                <a:lnTo>
                  <a:pt x="2477770" y="2476881"/>
                </a:lnTo>
                <a:lnTo>
                  <a:pt x="2471039" y="2483535"/>
                </a:lnTo>
                <a:lnTo>
                  <a:pt x="2471039" y="2490190"/>
                </a:lnTo>
                <a:lnTo>
                  <a:pt x="2584124" y="2490190"/>
                </a:lnTo>
                <a:lnTo>
                  <a:pt x="2579756" y="2484766"/>
                </a:lnTo>
                <a:lnTo>
                  <a:pt x="2572069" y="2472487"/>
                </a:lnTo>
                <a:lnTo>
                  <a:pt x="2567559" y="2466975"/>
                </a:lnTo>
                <a:lnTo>
                  <a:pt x="2548024" y="2454374"/>
                </a:lnTo>
                <a:lnTo>
                  <a:pt x="2525966" y="2451133"/>
                </a:lnTo>
                <a:close/>
              </a:path>
              <a:path w="4069079" h="3504565">
                <a:moveTo>
                  <a:pt x="602813" y="2388819"/>
                </a:moveTo>
                <a:lnTo>
                  <a:pt x="580631" y="2388819"/>
                </a:lnTo>
                <a:lnTo>
                  <a:pt x="594150" y="2389972"/>
                </a:lnTo>
                <a:lnTo>
                  <a:pt x="602813" y="2388819"/>
                </a:lnTo>
                <a:close/>
              </a:path>
              <a:path w="4069079" h="3504565">
                <a:moveTo>
                  <a:pt x="1570482" y="0"/>
                </a:moveTo>
                <a:lnTo>
                  <a:pt x="1567180" y="3301"/>
                </a:lnTo>
                <a:lnTo>
                  <a:pt x="607161" y="2269020"/>
                </a:lnTo>
                <a:lnTo>
                  <a:pt x="591765" y="2269738"/>
                </a:lnTo>
                <a:lnTo>
                  <a:pt x="550595" y="2285619"/>
                </a:lnTo>
                <a:lnTo>
                  <a:pt x="533971" y="2315552"/>
                </a:lnTo>
                <a:lnTo>
                  <a:pt x="650462" y="2315552"/>
                </a:lnTo>
                <a:lnTo>
                  <a:pt x="650455" y="2312327"/>
                </a:lnTo>
                <a:lnTo>
                  <a:pt x="665407" y="2308999"/>
                </a:lnTo>
                <a:lnTo>
                  <a:pt x="647128" y="2308999"/>
                </a:lnTo>
                <a:lnTo>
                  <a:pt x="647128" y="2302332"/>
                </a:lnTo>
                <a:lnTo>
                  <a:pt x="643788" y="2292350"/>
                </a:lnTo>
                <a:lnTo>
                  <a:pt x="633793" y="2282355"/>
                </a:lnTo>
                <a:lnTo>
                  <a:pt x="627138" y="2282355"/>
                </a:lnTo>
                <a:lnTo>
                  <a:pt x="623811" y="2279027"/>
                </a:lnTo>
                <a:lnTo>
                  <a:pt x="626136" y="2275687"/>
                </a:lnTo>
                <a:lnTo>
                  <a:pt x="613816" y="2275687"/>
                </a:lnTo>
                <a:lnTo>
                  <a:pt x="1570482" y="19938"/>
                </a:lnTo>
                <a:lnTo>
                  <a:pt x="1574133" y="19938"/>
                </a:lnTo>
                <a:lnTo>
                  <a:pt x="1573784" y="3301"/>
                </a:lnTo>
                <a:lnTo>
                  <a:pt x="1570482" y="0"/>
                </a:lnTo>
                <a:close/>
              </a:path>
              <a:path w="4069079" h="3504565">
                <a:moveTo>
                  <a:pt x="1649608" y="925322"/>
                </a:moveTo>
                <a:lnTo>
                  <a:pt x="1637792" y="925322"/>
                </a:lnTo>
                <a:lnTo>
                  <a:pt x="3052953" y="1735201"/>
                </a:lnTo>
                <a:lnTo>
                  <a:pt x="3049063" y="1745182"/>
                </a:lnTo>
                <a:lnTo>
                  <a:pt x="3047079" y="1755140"/>
                </a:lnTo>
                <a:lnTo>
                  <a:pt x="3046380" y="1765097"/>
                </a:lnTo>
                <a:lnTo>
                  <a:pt x="3046349" y="1775079"/>
                </a:lnTo>
                <a:lnTo>
                  <a:pt x="647128" y="2308999"/>
                </a:lnTo>
                <a:lnTo>
                  <a:pt x="665407" y="2308999"/>
                </a:lnTo>
                <a:lnTo>
                  <a:pt x="3049651" y="1778381"/>
                </a:lnTo>
                <a:lnTo>
                  <a:pt x="3163802" y="1778381"/>
                </a:lnTo>
                <a:lnTo>
                  <a:pt x="3166903" y="1761871"/>
                </a:lnTo>
                <a:lnTo>
                  <a:pt x="3162546" y="1738669"/>
                </a:lnTo>
                <a:lnTo>
                  <a:pt x="3155914" y="1728470"/>
                </a:lnTo>
                <a:lnTo>
                  <a:pt x="3059557" y="1728470"/>
                </a:lnTo>
                <a:lnTo>
                  <a:pt x="1649608" y="925322"/>
                </a:lnTo>
                <a:close/>
              </a:path>
              <a:path w="4069079" h="3504565">
                <a:moveTo>
                  <a:pt x="617143" y="2272360"/>
                </a:moveTo>
                <a:lnTo>
                  <a:pt x="613816" y="2275687"/>
                </a:lnTo>
                <a:lnTo>
                  <a:pt x="620471" y="2275687"/>
                </a:lnTo>
                <a:lnTo>
                  <a:pt x="617143" y="2272360"/>
                </a:lnTo>
                <a:close/>
              </a:path>
              <a:path w="4069079" h="3504565">
                <a:moveTo>
                  <a:pt x="1574133" y="19938"/>
                </a:moveTo>
                <a:lnTo>
                  <a:pt x="1570482" y="19938"/>
                </a:lnTo>
                <a:lnTo>
                  <a:pt x="1584452" y="832104"/>
                </a:lnTo>
                <a:lnTo>
                  <a:pt x="1572079" y="834683"/>
                </a:lnTo>
                <a:lnTo>
                  <a:pt x="1528145" y="868719"/>
                </a:lnTo>
                <a:lnTo>
                  <a:pt x="1523793" y="891921"/>
                </a:lnTo>
                <a:lnTo>
                  <a:pt x="1528181" y="915122"/>
                </a:lnTo>
                <a:lnTo>
                  <a:pt x="1541272" y="935228"/>
                </a:lnTo>
                <a:lnTo>
                  <a:pt x="1544574" y="938530"/>
                </a:lnTo>
                <a:lnTo>
                  <a:pt x="1548002" y="941832"/>
                </a:lnTo>
                <a:lnTo>
                  <a:pt x="620471" y="2275687"/>
                </a:lnTo>
                <a:lnTo>
                  <a:pt x="626136" y="2275687"/>
                </a:lnTo>
                <a:lnTo>
                  <a:pt x="1554607" y="941832"/>
                </a:lnTo>
                <a:lnTo>
                  <a:pt x="1618480" y="941832"/>
                </a:lnTo>
                <a:lnTo>
                  <a:pt x="1627758" y="935228"/>
                </a:lnTo>
                <a:lnTo>
                  <a:pt x="1631188" y="931926"/>
                </a:lnTo>
                <a:lnTo>
                  <a:pt x="1637792" y="925322"/>
                </a:lnTo>
                <a:lnTo>
                  <a:pt x="1649608" y="925322"/>
                </a:lnTo>
                <a:lnTo>
                  <a:pt x="1637792" y="918591"/>
                </a:lnTo>
                <a:lnTo>
                  <a:pt x="1643207" y="900676"/>
                </a:lnTo>
                <a:lnTo>
                  <a:pt x="1643967" y="882427"/>
                </a:lnTo>
                <a:lnTo>
                  <a:pt x="1619668" y="841908"/>
                </a:lnTo>
                <a:lnTo>
                  <a:pt x="1591183" y="832104"/>
                </a:lnTo>
                <a:lnTo>
                  <a:pt x="1574133" y="19938"/>
                </a:lnTo>
                <a:close/>
              </a:path>
              <a:path w="4069079" h="3504565">
                <a:moveTo>
                  <a:pt x="3163802" y="1778381"/>
                </a:moveTo>
                <a:lnTo>
                  <a:pt x="3049651" y="1778381"/>
                </a:lnTo>
                <a:lnTo>
                  <a:pt x="3052181" y="1785852"/>
                </a:lnTo>
                <a:lnTo>
                  <a:pt x="3083036" y="1818197"/>
                </a:lnTo>
                <a:lnTo>
                  <a:pt x="3106229" y="1822592"/>
                </a:lnTo>
                <a:lnTo>
                  <a:pt x="3129422" y="1818249"/>
                </a:lnTo>
                <a:lnTo>
                  <a:pt x="3149473" y="1805178"/>
                </a:lnTo>
                <a:lnTo>
                  <a:pt x="3162546" y="1785072"/>
                </a:lnTo>
                <a:lnTo>
                  <a:pt x="3163802" y="1778381"/>
                </a:lnTo>
                <a:close/>
              </a:path>
              <a:path w="4069079" h="3504565">
                <a:moveTo>
                  <a:pt x="3106166" y="1701133"/>
                </a:moveTo>
                <a:lnTo>
                  <a:pt x="3082964" y="1705490"/>
                </a:lnTo>
                <a:lnTo>
                  <a:pt x="3062859" y="1718564"/>
                </a:lnTo>
                <a:lnTo>
                  <a:pt x="3059557" y="1721866"/>
                </a:lnTo>
                <a:lnTo>
                  <a:pt x="3059557" y="1728470"/>
                </a:lnTo>
                <a:lnTo>
                  <a:pt x="3155914" y="1728470"/>
                </a:lnTo>
                <a:lnTo>
                  <a:pt x="3149473" y="1718564"/>
                </a:lnTo>
                <a:lnTo>
                  <a:pt x="3129367" y="1705490"/>
                </a:lnTo>
                <a:lnTo>
                  <a:pt x="3106166" y="1701133"/>
                </a:lnTo>
                <a:close/>
              </a:path>
              <a:path w="4069079" h="3504565">
                <a:moveTo>
                  <a:pt x="1618480" y="941832"/>
                </a:moveTo>
                <a:lnTo>
                  <a:pt x="1554607" y="941832"/>
                </a:lnTo>
                <a:lnTo>
                  <a:pt x="1573091" y="950622"/>
                </a:lnTo>
                <a:lnTo>
                  <a:pt x="1592468" y="952246"/>
                </a:lnTo>
                <a:lnTo>
                  <a:pt x="1611203" y="947011"/>
                </a:lnTo>
                <a:lnTo>
                  <a:pt x="1618480" y="941832"/>
                </a:lnTo>
                <a:close/>
              </a:path>
            </a:pathLst>
          </a:custGeom>
          <a:solidFill>
            <a:srgbClr val="FFFFFF">
              <a:alpha val="25097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8309" y="2027159"/>
            <a:ext cx="5790353" cy="1897955"/>
          </a:xfrm>
          <a:prstGeom prst="rect">
            <a:avLst/>
          </a:prstGeom>
        </p:spPr>
        <p:txBody>
          <a:bodyPr vert="horz" wrap="square" lIns="0" tIns="127000" rIns="0" bIns="0" rtlCol="0" anchor="ctr">
            <a:spAutoFit/>
          </a:bodyPr>
          <a:lstStyle/>
          <a:p>
            <a:pPr marL="16933" marR="6773">
              <a:lnSpc>
                <a:spcPts val="6920"/>
              </a:lnSpc>
              <a:spcBef>
                <a:spcPts val="1000"/>
              </a:spcBef>
            </a:pPr>
            <a:r>
              <a:rPr sz="6400" spc="-120" dirty="0"/>
              <a:t>TLS</a:t>
            </a:r>
            <a:r>
              <a:rPr sz="6400" spc="-587" dirty="0"/>
              <a:t> </a:t>
            </a:r>
            <a:r>
              <a:rPr sz="6400" spc="100" dirty="0"/>
              <a:t>Bootstrap  </a:t>
            </a:r>
            <a:r>
              <a:rPr sz="6400" spc="127" dirty="0"/>
              <a:t>Kubelet</a:t>
            </a:r>
            <a:endParaRPr sz="6400"/>
          </a:p>
        </p:txBody>
      </p:sp>
    </p:spTree>
    <p:extLst>
      <p:ext uri="{BB962C8B-B14F-4D97-AF65-F5344CB8AC3E}">
        <p14:creationId xmlns:p14="http://schemas.microsoft.com/office/powerpoint/2010/main" val="3720226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51434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524255" y="394715"/>
              <a:ext cx="73660" cy="317500"/>
            </a:xfrm>
            <a:custGeom>
              <a:avLst/>
              <a:gdLst/>
              <a:ahLst/>
              <a:cxnLst/>
              <a:rect l="l" t="t" r="r" b="b"/>
              <a:pathLst>
                <a:path w="73659" h="317500">
                  <a:moveTo>
                    <a:pt x="73151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73151" y="316991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2429" y="331247"/>
            <a:ext cx="318516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53" dirty="0">
                <a:solidFill>
                  <a:srgbClr val="000000"/>
                </a:solidFill>
              </a:rPr>
              <a:t>Our</a:t>
            </a:r>
            <a:r>
              <a:rPr spc="-427" dirty="0">
                <a:solidFill>
                  <a:srgbClr val="000000"/>
                </a:solidFill>
              </a:rPr>
              <a:t> </a:t>
            </a:r>
            <a:r>
              <a:rPr spc="40" dirty="0">
                <a:solidFill>
                  <a:srgbClr val="000000"/>
                </a:solidFill>
              </a:rPr>
              <a:t>Design</a:t>
            </a:r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29401" y="1795271"/>
            <a:ext cx="1203113" cy="2245360"/>
          </a:xfrm>
          <a:custGeom>
            <a:avLst/>
            <a:gdLst/>
            <a:ahLst/>
            <a:cxnLst/>
            <a:rect l="l" t="t" r="r" b="b"/>
            <a:pathLst>
              <a:path w="902335" h="1684020">
                <a:moveTo>
                  <a:pt x="0" y="150368"/>
                </a:moveTo>
                <a:lnTo>
                  <a:pt x="7664" y="102835"/>
                </a:lnTo>
                <a:lnTo>
                  <a:pt x="29008" y="61557"/>
                </a:lnTo>
                <a:lnTo>
                  <a:pt x="61557" y="29008"/>
                </a:lnTo>
                <a:lnTo>
                  <a:pt x="102835" y="7664"/>
                </a:lnTo>
                <a:lnTo>
                  <a:pt x="150367" y="0"/>
                </a:lnTo>
                <a:lnTo>
                  <a:pt x="751839" y="0"/>
                </a:lnTo>
                <a:lnTo>
                  <a:pt x="799372" y="7664"/>
                </a:lnTo>
                <a:lnTo>
                  <a:pt x="840650" y="29008"/>
                </a:lnTo>
                <a:lnTo>
                  <a:pt x="873199" y="61557"/>
                </a:lnTo>
                <a:lnTo>
                  <a:pt x="894543" y="102835"/>
                </a:lnTo>
                <a:lnTo>
                  <a:pt x="902208" y="150368"/>
                </a:lnTo>
                <a:lnTo>
                  <a:pt x="902208" y="1533652"/>
                </a:lnTo>
                <a:lnTo>
                  <a:pt x="894543" y="1581184"/>
                </a:lnTo>
                <a:lnTo>
                  <a:pt x="873199" y="1622462"/>
                </a:lnTo>
                <a:lnTo>
                  <a:pt x="840650" y="1655011"/>
                </a:lnTo>
                <a:lnTo>
                  <a:pt x="799372" y="1676355"/>
                </a:lnTo>
                <a:lnTo>
                  <a:pt x="751839" y="1684020"/>
                </a:lnTo>
                <a:lnTo>
                  <a:pt x="150367" y="1684020"/>
                </a:lnTo>
                <a:lnTo>
                  <a:pt x="102835" y="1676355"/>
                </a:lnTo>
                <a:lnTo>
                  <a:pt x="61557" y="1655011"/>
                </a:lnTo>
                <a:lnTo>
                  <a:pt x="29008" y="1622462"/>
                </a:lnTo>
                <a:lnTo>
                  <a:pt x="7664" y="1581184"/>
                </a:lnTo>
                <a:lnTo>
                  <a:pt x="0" y="1533652"/>
                </a:lnTo>
                <a:lnTo>
                  <a:pt x="0" y="150368"/>
                </a:lnTo>
                <a:close/>
              </a:path>
            </a:pathLst>
          </a:custGeom>
          <a:ln w="19812">
            <a:solidFill>
              <a:srgbClr val="E10A8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7111662" y="2756679"/>
            <a:ext cx="2404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73" dirty="0">
                <a:solidFill>
                  <a:srgbClr val="E10A87"/>
                </a:solidFill>
                <a:latin typeface="Arial Black"/>
                <a:cs typeface="Arial Black"/>
              </a:rPr>
              <a:t>M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17102" y="3257296"/>
            <a:ext cx="2408767" cy="3351107"/>
            <a:chOff x="3687826" y="2442972"/>
            <a:chExt cx="1806575" cy="2513330"/>
          </a:xfrm>
        </p:grpSpPr>
        <p:sp>
          <p:nvSpPr>
            <p:cNvPr id="9" name="object 9"/>
            <p:cNvSpPr/>
            <p:nvPr/>
          </p:nvSpPr>
          <p:spPr>
            <a:xfrm>
              <a:off x="5352288" y="2442972"/>
              <a:ext cx="141731" cy="1432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697986" y="3262122"/>
              <a:ext cx="939165" cy="1684020"/>
            </a:xfrm>
            <a:custGeom>
              <a:avLst/>
              <a:gdLst/>
              <a:ahLst/>
              <a:cxnLst/>
              <a:rect l="l" t="t" r="r" b="b"/>
              <a:pathLst>
                <a:path w="939164" h="1684020">
                  <a:moveTo>
                    <a:pt x="0" y="156463"/>
                  </a:moveTo>
                  <a:lnTo>
                    <a:pt x="7981" y="107029"/>
                  </a:lnTo>
                  <a:lnTo>
                    <a:pt x="30203" y="64081"/>
                  </a:lnTo>
                  <a:lnTo>
                    <a:pt x="64081" y="30203"/>
                  </a:lnTo>
                  <a:lnTo>
                    <a:pt x="107029" y="7981"/>
                  </a:lnTo>
                  <a:lnTo>
                    <a:pt x="156463" y="0"/>
                  </a:lnTo>
                  <a:lnTo>
                    <a:pt x="782319" y="0"/>
                  </a:lnTo>
                  <a:lnTo>
                    <a:pt x="831754" y="7981"/>
                  </a:lnTo>
                  <a:lnTo>
                    <a:pt x="874702" y="30203"/>
                  </a:lnTo>
                  <a:lnTo>
                    <a:pt x="908580" y="64081"/>
                  </a:lnTo>
                  <a:lnTo>
                    <a:pt x="930802" y="107029"/>
                  </a:lnTo>
                  <a:lnTo>
                    <a:pt x="938784" y="156463"/>
                  </a:lnTo>
                  <a:lnTo>
                    <a:pt x="938784" y="1527555"/>
                  </a:lnTo>
                  <a:lnTo>
                    <a:pt x="930802" y="1577010"/>
                  </a:lnTo>
                  <a:lnTo>
                    <a:pt x="908580" y="1619960"/>
                  </a:lnTo>
                  <a:lnTo>
                    <a:pt x="874702" y="1653830"/>
                  </a:lnTo>
                  <a:lnTo>
                    <a:pt x="831754" y="1676043"/>
                  </a:lnTo>
                  <a:lnTo>
                    <a:pt x="782319" y="1684020"/>
                  </a:lnTo>
                  <a:lnTo>
                    <a:pt x="156463" y="1684020"/>
                  </a:lnTo>
                  <a:lnTo>
                    <a:pt x="107029" y="1676043"/>
                  </a:lnTo>
                  <a:lnTo>
                    <a:pt x="64081" y="1653830"/>
                  </a:lnTo>
                  <a:lnTo>
                    <a:pt x="30203" y="1619960"/>
                  </a:lnTo>
                  <a:lnTo>
                    <a:pt x="7981" y="1577010"/>
                  </a:lnTo>
                  <a:lnTo>
                    <a:pt x="0" y="1527555"/>
                  </a:lnTo>
                  <a:lnTo>
                    <a:pt x="0" y="156463"/>
                  </a:lnTo>
                  <a:close/>
                </a:path>
              </a:pathLst>
            </a:custGeom>
            <a:ln w="19812">
              <a:solidFill>
                <a:srgbClr val="1780C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30520" y="5312596"/>
            <a:ext cx="2489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13" dirty="0">
                <a:solidFill>
                  <a:srgbClr val="1780C3"/>
                </a:solidFill>
                <a:latin typeface="Arial Black"/>
                <a:cs typeface="Arial Black"/>
              </a:rPr>
              <a:t>W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64047" y="4335949"/>
            <a:ext cx="2548467" cy="2272452"/>
            <a:chOff x="4098035" y="3251961"/>
            <a:chExt cx="1911350" cy="1704339"/>
          </a:xfrm>
        </p:grpSpPr>
        <p:sp>
          <p:nvSpPr>
            <p:cNvPr id="13" name="object 13"/>
            <p:cNvSpPr/>
            <p:nvPr/>
          </p:nvSpPr>
          <p:spPr>
            <a:xfrm>
              <a:off x="4098035" y="4351019"/>
              <a:ext cx="138683" cy="13868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060441" y="3262121"/>
              <a:ext cx="939165" cy="1684020"/>
            </a:xfrm>
            <a:custGeom>
              <a:avLst/>
              <a:gdLst/>
              <a:ahLst/>
              <a:cxnLst/>
              <a:rect l="l" t="t" r="r" b="b"/>
              <a:pathLst>
                <a:path w="939164" h="1684020">
                  <a:moveTo>
                    <a:pt x="0" y="156463"/>
                  </a:moveTo>
                  <a:lnTo>
                    <a:pt x="7981" y="107029"/>
                  </a:lnTo>
                  <a:lnTo>
                    <a:pt x="30203" y="64081"/>
                  </a:lnTo>
                  <a:lnTo>
                    <a:pt x="64081" y="30203"/>
                  </a:lnTo>
                  <a:lnTo>
                    <a:pt x="107029" y="7981"/>
                  </a:lnTo>
                  <a:lnTo>
                    <a:pt x="156463" y="0"/>
                  </a:lnTo>
                  <a:lnTo>
                    <a:pt x="782320" y="0"/>
                  </a:lnTo>
                  <a:lnTo>
                    <a:pt x="831754" y="7981"/>
                  </a:lnTo>
                  <a:lnTo>
                    <a:pt x="874702" y="30203"/>
                  </a:lnTo>
                  <a:lnTo>
                    <a:pt x="908580" y="64081"/>
                  </a:lnTo>
                  <a:lnTo>
                    <a:pt x="930802" y="107029"/>
                  </a:lnTo>
                  <a:lnTo>
                    <a:pt x="938784" y="156463"/>
                  </a:lnTo>
                  <a:lnTo>
                    <a:pt x="938784" y="1527555"/>
                  </a:lnTo>
                  <a:lnTo>
                    <a:pt x="930802" y="1577010"/>
                  </a:lnTo>
                  <a:lnTo>
                    <a:pt x="908580" y="1619960"/>
                  </a:lnTo>
                  <a:lnTo>
                    <a:pt x="874702" y="1653830"/>
                  </a:lnTo>
                  <a:lnTo>
                    <a:pt x="831754" y="1676043"/>
                  </a:lnTo>
                  <a:lnTo>
                    <a:pt x="782320" y="1684020"/>
                  </a:lnTo>
                  <a:lnTo>
                    <a:pt x="156463" y="1684020"/>
                  </a:lnTo>
                  <a:lnTo>
                    <a:pt x="107029" y="1676043"/>
                  </a:lnTo>
                  <a:lnTo>
                    <a:pt x="64081" y="1653830"/>
                  </a:lnTo>
                  <a:lnTo>
                    <a:pt x="30203" y="1619960"/>
                  </a:lnTo>
                  <a:lnTo>
                    <a:pt x="7981" y="1577010"/>
                  </a:lnTo>
                  <a:lnTo>
                    <a:pt x="0" y="1527555"/>
                  </a:lnTo>
                  <a:lnTo>
                    <a:pt x="0" y="156463"/>
                  </a:lnTo>
                  <a:close/>
                </a:path>
              </a:pathLst>
            </a:custGeom>
            <a:ln w="19812">
              <a:solidFill>
                <a:srgbClr val="1780C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246620" y="5312596"/>
            <a:ext cx="2489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13" dirty="0">
                <a:solidFill>
                  <a:srgbClr val="1780C3"/>
                </a:solidFill>
                <a:latin typeface="Arial Black"/>
                <a:cs typeface="Arial Black"/>
              </a:rPr>
              <a:t>W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1781725"/>
            <a:ext cx="7465907" cy="4204547"/>
            <a:chOff x="0" y="1336294"/>
            <a:chExt cx="5599430" cy="3153410"/>
          </a:xfrm>
        </p:grpSpPr>
        <p:sp>
          <p:nvSpPr>
            <p:cNvPr id="17" name="object 17"/>
            <p:cNvSpPr/>
            <p:nvPr/>
          </p:nvSpPr>
          <p:spPr>
            <a:xfrm>
              <a:off x="5460491" y="4351020"/>
              <a:ext cx="138683" cy="13868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268706" y="1397609"/>
              <a:ext cx="443230" cy="269240"/>
            </a:xfrm>
            <a:custGeom>
              <a:avLst/>
              <a:gdLst/>
              <a:ahLst/>
              <a:cxnLst/>
              <a:rect l="l" t="t" r="r" b="b"/>
              <a:pathLst>
                <a:path w="443230" h="269239">
                  <a:moveTo>
                    <a:pt x="385140" y="19215"/>
                  </a:moveTo>
                  <a:lnTo>
                    <a:pt x="383616" y="11760"/>
                  </a:lnTo>
                  <a:lnTo>
                    <a:pt x="379476" y="5651"/>
                  </a:lnTo>
                  <a:lnTo>
                    <a:pt x="373354" y="1511"/>
                  </a:lnTo>
                  <a:lnTo>
                    <a:pt x="365887" y="0"/>
                  </a:lnTo>
                  <a:lnTo>
                    <a:pt x="356247" y="0"/>
                  </a:lnTo>
                  <a:lnTo>
                    <a:pt x="356247" y="28829"/>
                  </a:lnTo>
                  <a:lnTo>
                    <a:pt x="356247" y="192214"/>
                  </a:lnTo>
                  <a:lnTo>
                    <a:pt x="86652" y="192214"/>
                  </a:lnTo>
                  <a:lnTo>
                    <a:pt x="86652" y="28829"/>
                  </a:lnTo>
                  <a:lnTo>
                    <a:pt x="356247" y="28829"/>
                  </a:lnTo>
                  <a:lnTo>
                    <a:pt x="356247" y="0"/>
                  </a:lnTo>
                  <a:lnTo>
                    <a:pt x="77025" y="0"/>
                  </a:lnTo>
                  <a:lnTo>
                    <a:pt x="69545" y="1511"/>
                  </a:lnTo>
                  <a:lnTo>
                    <a:pt x="63423" y="5651"/>
                  </a:lnTo>
                  <a:lnTo>
                    <a:pt x="59283" y="11760"/>
                  </a:lnTo>
                  <a:lnTo>
                    <a:pt x="57772" y="19215"/>
                  </a:lnTo>
                  <a:lnTo>
                    <a:pt x="57772" y="221043"/>
                  </a:lnTo>
                  <a:lnTo>
                    <a:pt x="385140" y="221043"/>
                  </a:lnTo>
                  <a:lnTo>
                    <a:pt x="385140" y="192214"/>
                  </a:lnTo>
                  <a:lnTo>
                    <a:pt x="385140" y="28829"/>
                  </a:lnTo>
                  <a:lnTo>
                    <a:pt x="385140" y="19215"/>
                  </a:lnTo>
                  <a:close/>
                </a:path>
                <a:path w="443230" h="269239">
                  <a:moveTo>
                    <a:pt x="442912" y="240258"/>
                  </a:moveTo>
                  <a:lnTo>
                    <a:pt x="250342" y="240258"/>
                  </a:lnTo>
                  <a:lnTo>
                    <a:pt x="250342" y="247954"/>
                  </a:lnTo>
                  <a:lnTo>
                    <a:pt x="248412" y="249872"/>
                  </a:lnTo>
                  <a:lnTo>
                    <a:pt x="194487" y="249872"/>
                  </a:lnTo>
                  <a:lnTo>
                    <a:pt x="192570" y="247954"/>
                  </a:lnTo>
                  <a:lnTo>
                    <a:pt x="192570" y="240258"/>
                  </a:lnTo>
                  <a:lnTo>
                    <a:pt x="0" y="240258"/>
                  </a:lnTo>
                  <a:lnTo>
                    <a:pt x="0" y="249872"/>
                  </a:lnTo>
                  <a:lnTo>
                    <a:pt x="1511" y="257340"/>
                  </a:lnTo>
                  <a:lnTo>
                    <a:pt x="5651" y="263448"/>
                  </a:lnTo>
                  <a:lnTo>
                    <a:pt x="11772" y="267576"/>
                  </a:lnTo>
                  <a:lnTo>
                    <a:pt x="19253" y="269100"/>
                  </a:lnTo>
                  <a:lnTo>
                    <a:pt x="423646" y="269100"/>
                  </a:lnTo>
                  <a:lnTo>
                    <a:pt x="431126" y="267576"/>
                  </a:lnTo>
                  <a:lnTo>
                    <a:pt x="437248" y="263448"/>
                  </a:lnTo>
                  <a:lnTo>
                    <a:pt x="441388" y="257340"/>
                  </a:lnTo>
                  <a:lnTo>
                    <a:pt x="442912" y="249872"/>
                  </a:lnTo>
                  <a:lnTo>
                    <a:pt x="442912" y="2402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079" y="1763268"/>
              <a:ext cx="461772" cy="4617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1993392"/>
              <a:ext cx="1469136" cy="11841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845814" y="1346454"/>
              <a:ext cx="904240" cy="1684020"/>
            </a:xfrm>
            <a:custGeom>
              <a:avLst/>
              <a:gdLst/>
              <a:ahLst/>
              <a:cxnLst/>
              <a:rect l="l" t="t" r="r" b="b"/>
              <a:pathLst>
                <a:path w="904239" h="1684020">
                  <a:moveTo>
                    <a:pt x="0" y="150622"/>
                  </a:moveTo>
                  <a:lnTo>
                    <a:pt x="7678" y="103014"/>
                  </a:lnTo>
                  <a:lnTo>
                    <a:pt x="29061" y="61667"/>
                  </a:lnTo>
                  <a:lnTo>
                    <a:pt x="61667" y="29061"/>
                  </a:lnTo>
                  <a:lnTo>
                    <a:pt x="103014" y="7678"/>
                  </a:lnTo>
                  <a:lnTo>
                    <a:pt x="150622" y="0"/>
                  </a:lnTo>
                  <a:lnTo>
                    <a:pt x="753110" y="0"/>
                  </a:lnTo>
                  <a:lnTo>
                    <a:pt x="800717" y="7678"/>
                  </a:lnTo>
                  <a:lnTo>
                    <a:pt x="842064" y="29061"/>
                  </a:lnTo>
                  <a:lnTo>
                    <a:pt x="874670" y="61667"/>
                  </a:lnTo>
                  <a:lnTo>
                    <a:pt x="896053" y="103014"/>
                  </a:lnTo>
                  <a:lnTo>
                    <a:pt x="903732" y="150622"/>
                  </a:lnTo>
                  <a:lnTo>
                    <a:pt x="903732" y="1533398"/>
                  </a:lnTo>
                  <a:lnTo>
                    <a:pt x="896053" y="1581005"/>
                  </a:lnTo>
                  <a:lnTo>
                    <a:pt x="874670" y="1622352"/>
                  </a:lnTo>
                  <a:lnTo>
                    <a:pt x="842064" y="1654958"/>
                  </a:lnTo>
                  <a:lnTo>
                    <a:pt x="800717" y="1676341"/>
                  </a:lnTo>
                  <a:lnTo>
                    <a:pt x="753110" y="1684020"/>
                  </a:lnTo>
                  <a:lnTo>
                    <a:pt x="150622" y="1684020"/>
                  </a:lnTo>
                  <a:lnTo>
                    <a:pt x="103014" y="1676341"/>
                  </a:lnTo>
                  <a:lnTo>
                    <a:pt x="61667" y="1654958"/>
                  </a:lnTo>
                  <a:lnTo>
                    <a:pt x="29061" y="1622352"/>
                  </a:lnTo>
                  <a:lnTo>
                    <a:pt x="7678" y="1581005"/>
                  </a:lnTo>
                  <a:lnTo>
                    <a:pt x="0" y="1533398"/>
                  </a:lnTo>
                  <a:lnTo>
                    <a:pt x="0" y="150622"/>
                  </a:lnTo>
                  <a:close/>
                </a:path>
              </a:pathLst>
            </a:custGeom>
            <a:ln w="19812">
              <a:solidFill>
                <a:srgbClr val="E10A8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11368" y="2756679"/>
            <a:ext cx="2404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73" dirty="0">
                <a:solidFill>
                  <a:srgbClr val="E10A87"/>
                </a:solidFill>
                <a:latin typeface="Arial Black"/>
                <a:cs typeface="Arial Black"/>
              </a:rPr>
              <a:t>M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34737" y="794174"/>
            <a:ext cx="1463887" cy="2654300"/>
            <a:chOff x="4226052" y="595630"/>
            <a:chExt cx="1097915" cy="1990725"/>
          </a:xfrm>
        </p:grpSpPr>
        <p:sp>
          <p:nvSpPr>
            <p:cNvPr id="24" name="object 24"/>
            <p:cNvSpPr/>
            <p:nvPr/>
          </p:nvSpPr>
          <p:spPr>
            <a:xfrm>
              <a:off x="4226052" y="2442972"/>
              <a:ext cx="143255" cy="14325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409694" y="605790"/>
              <a:ext cx="904240" cy="455930"/>
            </a:xfrm>
            <a:custGeom>
              <a:avLst/>
              <a:gdLst/>
              <a:ahLst/>
              <a:cxnLst/>
              <a:rect l="l" t="t" r="r" b="b"/>
              <a:pathLst>
                <a:path w="904239" h="455930">
                  <a:moveTo>
                    <a:pt x="0" y="75946"/>
                  </a:moveTo>
                  <a:lnTo>
                    <a:pt x="5972" y="46398"/>
                  </a:lnTo>
                  <a:lnTo>
                    <a:pt x="22256" y="22256"/>
                  </a:lnTo>
                  <a:lnTo>
                    <a:pt x="46398" y="5972"/>
                  </a:lnTo>
                  <a:lnTo>
                    <a:pt x="75945" y="0"/>
                  </a:lnTo>
                  <a:lnTo>
                    <a:pt x="827785" y="0"/>
                  </a:lnTo>
                  <a:lnTo>
                    <a:pt x="857333" y="5972"/>
                  </a:lnTo>
                  <a:lnTo>
                    <a:pt x="881475" y="22256"/>
                  </a:lnTo>
                  <a:lnTo>
                    <a:pt x="897759" y="46398"/>
                  </a:lnTo>
                  <a:lnTo>
                    <a:pt x="903731" y="75946"/>
                  </a:lnTo>
                  <a:lnTo>
                    <a:pt x="903731" y="379730"/>
                  </a:lnTo>
                  <a:lnTo>
                    <a:pt x="897759" y="409277"/>
                  </a:lnTo>
                  <a:lnTo>
                    <a:pt x="881475" y="433419"/>
                  </a:lnTo>
                  <a:lnTo>
                    <a:pt x="857333" y="449703"/>
                  </a:lnTo>
                  <a:lnTo>
                    <a:pt x="827785" y="455675"/>
                  </a:lnTo>
                  <a:lnTo>
                    <a:pt x="75945" y="455675"/>
                  </a:lnTo>
                  <a:lnTo>
                    <a:pt x="46398" y="449703"/>
                  </a:lnTo>
                  <a:lnTo>
                    <a:pt x="22256" y="433419"/>
                  </a:lnTo>
                  <a:lnTo>
                    <a:pt x="5972" y="409277"/>
                  </a:lnTo>
                  <a:lnTo>
                    <a:pt x="0" y="379730"/>
                  </a:lnTo>
                  <a:lnTo>
                    <a:pt x="0" y="75946"/>
                  </a:lnTo>
                  <a:close/>
                </a:path>
              </a:pathLst>
            </a:custGeom>
            <a:ln w="19812">
              <a:solidFill>
                <a:srgbClr val="E10A8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354320" y="2501392"/>
            <a:ext cx="758613" cy="226623"/>
          </a:xfrm>
          <a:prstGeom prst="rect">
            <a:avLst/>
          </a:prstGeom>
          <a:solidFill>
            <a:srgbClr val="6F2F9F">
              <a:alpha val="19999"/>
            </a:srgbClr>
          </a:solidFill>
        </p:spPr>
        <p:txBody>
          <a:bodyPr vert="horz" wrap="square" lIns="0" tIns="61807" rIns="0" bIns="0" rtlCol="0">
            <a:spAutoFit/>
          </a:bodyPr>
          <a:lstStyle/>
          <a:p>
            <a:pPr marL="210815">
              <a:spcBef>
                <a:spcPts val="487"/>
              </a:spcBef>
            </a:pPr>
            <a:r>
              <a:rPr sz="1067" b="1" spc="-67" dirty="0">
                <a:solidFill>
                  <a:srgbClr val="483390"/>
                </a:solidFill>
                <a:latin typeface="Arial"/>
                <a:cs typeface="Arial"/>
              </a:rPr>
              <a:t>ETCD</a:t>
            </a:r>
            <a:endParaRPr sz="1067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51905" y="2491231"/>
            <a:ext cx="756073" cy="228332"/>
          </a:xfrm>
          <a:prstGeom prst="rect">
            <a:avLst/>
          </a:prstGeom>
          <a:solidFill>
            <a:srgbClr val="6F2F9F">
              <a:alpha val="19999"/>
            </a:srgbClr>
          </a:solidFill>
        </p:spPr>
        <p:txBody>
          <a:bodyPr vert="horz" wrap="square" lIns="0" tIns="63500" rIns="0" bIns="0" rtlCol="0">
            <a:spAutoFit/>
          </a:bodyPr>
          <a:lstStyle/>
          <a:p>
            <a:pPr marL="209968">
              <a:spcBef>
                <a:spcPts val="500"/>
              </a:spcBef>
            </a:pPr>
            <a:r>
              <a:rPr sz="1067" b="1" spc="-67" dirty="0">
                <a:solidFill>
                  <a:srgbClr val="483390"/>
                </a:solidFill>
                <a:latin typeface="Arial"/>
                <a:cs typeface="Arial"/>
              </a:rPr>
              <a:t>ETCD</a:t>
            </a:r>
            <a:endParaRPr sz="1067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44412" y="950298"/>
            <a:ext cx="273472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367" dirty="0">
                <a:solidFill>
                  <a:srgbClr val="E10A87"/>
                </a:solidFill>
                <a:latin typeface="Arial Black"/>
                <a:cs typeface="Arial Black"/>
              </a:rPr>
              <a:t>LB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275071" y="1190751"/>
            <a:ext cx="1303020" cy="2324947"/>
            <a:chOff x="3956303" y="893063"/>
            <a:chExt cx="977265" cy="1743710"/>
          </a:xfrm>
        </p:grpSpPr>
        <p:sp>
          <p:nvSpPr>
            <p:cNvPr id="30" name="object 30"/>
            <p:cNvSpPr/>
            <p:nvPr/>
          </p:nvSpPr>
          <p:spPr>
            <a:xfrm>
              <a:off x="4789931" y="893063"/>
              <a:ext cx="143255" cy="14173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3956303" y="2391155"/>
              <a:ext cx="672465" cy="245745"/>
            </a:xfrm>
            <a:custGeom>
              <a:avLst/>
              <a:gdLst/>
              <a:ahLst/>
              <a:cxnLst/>
              <a:rect l="l" t="t" r="r" b="b"/>
              <a:pathLst>
                <a:path w="672464" h="245744">
                  <a:moveTo>
                    <a:pt x="672084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672084" y="245363"/>
                  </a:lnTo>
                  <a:lnTo>
                    <a:pt x="672084" y="0"/>
                  </a:lnTo>
                  <a:close/>
                </a:path>
              </a:pathLst>
            </a:custGeom>
            <a:solidFill>
              <a:srgbClr val="E10A87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074490" y="1826091"/>
            <a:ext cx="3343487" cy="69525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74121" indent="-457189">
              <a:spcBef>
                <a:spcPts val="140"/>
              </a:spcBef>
              <a:buFont typeface="Wingdings"/>
              <a:buChar char=""/>
              <a:tabLst>
                <a:tab pos="473275" algn="l"/>
                <a:tab pos="474121" algn="l"/>
              </a:tabLst>
            </a:pPr>
            <a:r>
              <a:rPr sz="1467" spc="-147" dirty="0">
                <a:latin typeface="Arial Black"/>
                <a:cs typeface="Arial Black"/>
              </a:rPr>
              <a:t>Deploy </a:t>
            </a:r>
            <a:r>
              <a:rPr sz="1467" spc="-240" dirty="0">
                <a:latin typeface="Arial Black"/>
                <a:cs typeface="Arial Black"/>
              </a:rPr>
              <a:t>ETCD</a:t>
            </a:r>
            <a:r>
              <a:rPr sz="1467" spc="-67" dirty="0">
                <a:latin typeface="Arial Black"/>
                <a:cs typeface="Arial Black"/>
              </a:rPr>
              <a:t> </a:t>
            </a:r>
            <a:r>
              <a:rPr sz="1467" spc="-193" dirty="0">
                <a:latin typeface="Arial Black"/>
                <a:cs typeface="Arial Black"/>
              </a:rPr>
              <a:t>Cluster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"/>
              <a:tabLst>
                <a:tab pos="473275" algn="l"/>
                <a:tab pos="474121" algn="l"/>
              </a:tabLst>
            </a:pPr>
            <a:r>
              <a:rPr sz="1467" spc="-147" dirty="0">
                <a:latin typeface="Arial Black"/>
                <a:cs typeface="Arial Black"/>
              </a:rPr>
              <a:t>Deploy </a:t>
            </a:r>
            <a:r>
              <a:rPr sz="1467" spc="-152" dirty="0">
                <a:latin typeface="Arial Black"/>
                <a:cs typeface="Arial Black"/>
              </a:rPr>
              <a:t>Control </a:t>
            </a:r>
            <a:r>
              <a:rPr sz="1467" spc="-200" dirty="0">
                <a:latin typeface="Arial Black"/>
                <a:cs typeface="Arial Black"/>
              </a:rPr>
              <a:t>Plane</a:t>
            </a:r>
            <a:r>
              <a:rPr sz="1467" spc="-40" dirty="0">
                <a:latin typeface="Arial Black"/>
                <a:cs typeface="Arial Black"/>
              </a:rPr>
              <a:t> </a:t>
            </a:r>
            <a:r>
              <a:rPr sz="1467" spc="-180" dirty="0">
                <a:latin typeface="Arial Black"/>
                <a:cs typeface="Arial Black"/>
              </a:rPr>
              <a:t>Components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"/>
              <a:tabLst>
                <a:tab pos="473275" algn="l"/>
                <a:tab pos="474121" algn="l"/>
              </a:tabLst>
            </a:pPr>
            <a:r>
              <a:rPr sz="1467" spc="-193" dirty="0">
                <a:latin typeface="Arial Black"/>
                <a:cs typeface="Arial Black"/>
              </a:rPr>
              <a:t>Network</a:t>
            </a:r>
            <a:r>
              <a:rPr sz="1467" spc="-80" dirty="0">
                <a:latin typeface="Arial Black"/>
                <a:cs typeface="Arial Black"/>
              </a:rPr>
              <a:t> </a:t>
            </a:r>
            <a:r>
              <a:rPr sz="1467" spc="-193" dirty="0">
                <a:latin typeface="Arial Black"/>
                <a:cs typeface="Arial Black"/>
              </a:rPr>
              <a:t>Loadbalancer</a:t>
            </a:r>
            <a:endParaRPr sz="1467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85231" y="3568193"/>
            <a:ext cx="896620" cy="245431"/>
          </a:xfrm>
          <a:prstGeom prst="rect">
            <a:avLst/>
          </a:prstGeom>
          <a:solidFill>
            <a:srgbClr val="F68715">
              <a:alpha val="43920"/>
            </a:srgbClr>
          </a:solidFill>
        </p:spPr>
        <p:txBody>
          <a:bodyPr vert="horz" wrap="square" lIns="0" tIns="80433" rIns="0" bIns="0" rtlCol="0">
            <a:spAutoFit/>
          </a:bodyPr>
          <a:lstStyle/>
          <a:p>
            <a:pPr marL="151548">
              <a:spcBef>
                <a:spcPts val="633"/>
              </a:spcBef>
            </a:pPr>
            <a:r>
              <a:rPr sz="1067" spc="-140" dirty="0">
                <a:solidFill>
                  <a:srgbClr val="F17921"/>
                </a:solidFill>
                <a:latin typeface="Arial Black"/>
                <a:cs typeface="Arial Black"/>
              </a:rPr>
              <a:t>Scheduler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85231" y="3169243"/>
            <a:ext cx="896620" cy="34552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022" marR="149010" indent="-30479">
              <a:spcBef>
                <a:spcPts val="133"/>
              </a:spcBef>
            </a:pPr>
            <a:r>
              <a:rPr sz="1067" spc="-180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067" spc="-93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sz="1067" spc="-113" dirty="0">
                <a:solidFill>
                  <a:srgbClr val="FFFFFF"/>
                </a:solidFill>
                <a:latin typeface="Arial Black"/>
                <a:cs typeface="Arial Black"/>
              </a:rPr>
              <a:t>ntr</a:t>
            </a:r>
            <a:r>
              <a:rPr sz="1067" spc="-93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sz="1067" spc="-107" dirty="0">
                <a:solidFill>
                  <a:srgbClr val="FFFFFF"/>
                </a:solidFill>
                <a:latin typeface="Arial Black"/>
                <a:cs typeface="Arial Black"/>
              </a:rPr>
              <a:t>ller  </a:t>
            </a:r>
            <a:r>
              <a:rPr sz="1067" spc="-120" dirty="0">
                <a:solidFill>
                  <a:srgbClr val="FFFFFF"/>
                </a:solidFill>
                <a:latin typeface="Arial Black"/>
                <a:cs typeface="Arial Black"/>
              </a:rPr>
              <a:t>Manager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4320" y="2119376"/>
            <a:ext cx="758613" cy="330924"/>
          </a:xfrm>
          <a:prstGeom prst="rect">
            <a:avLst/>
          </a:prstGeom>
          <a:solidFill>
            <a:srgbClr val="0C4060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59"/>
              </a:lnSpc>
            </a:pPr>
            <a:r>
              <a:rPr sz="1067" b="1" spc="-2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67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67" spc="-147" dirty="0">
                <a:solidFill>
                  <a:srgbClr val="FFFFFF"/>
                </a:solidFill>
                <a:latin typeface="Arial Black"/>
                <a:cs typeface="Arial Black"/>
              </a:rPr>
              <a:t>Server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51905" y="2109215"/>
            <a:ext cx="756073" cy="330924"/>
          </a:xfrm>
          <a:prstGeom prst="rect">
            <a:avLst/>
          </a:prstGeom>
          <a:solidFill>
            <a:srgbClr val="0C4060">
              <a:alpha val="50195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R="11006" algn="ctr">
              <a:lnSpc>
                <a:spcPts val="1267"/>
              </a:lnSpc>
            </a:pPr>
            <a:r>
              <a:rPr sz="1067" b="1" spc="-2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67">
              <a:latin typeface="Arial"/>
              <a:cs typeface="Arial"/>
            </a:endParaRPr>
          </a:p>
          <a:p>
            <a:pPr marR="12700" algn="ctr"/>
            <a:r>
              <a:rPr sz="1067" spc="-147" dirty="0">
                <a:solidFill>
                  <a:srgbClr val="FFFFFF"/>
                </a:solidFill>
                <a:latin typeface="Arial Black"/>
                <a:cs typeface="Arial Black"/>
              </a:rPr>
              <a:t>Server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82815" y="3562096"/>
            <a:ext cx="894080" cy="244576"/>
          </a:xfrm>
          <a:prstGeom prst="rect">
            <a:avLst/>
          </a:prstGeom>
          <a:solidFill>
            <a:srgbClr val="F68715">
              <a:alpha val="43920"/>
            </a:srgbClr>
          </a:solidFill>
        </p:spPr>
        <p:txBody>
          <a:bodyPr vert="horz" wrap="square" lIns="0" tIns="79587" rIns="0" bIns="0" rtlCol="0">
            <a:spAutoFit/>
          </a:bodyPr>
          <a:lstStyle/>
          <a:p>
            <a:pPr marL="150703">
              <a:spcBef>
                <a:spcPts val="627"/>
              </a:spcBef>
            </a:pPr>
            <a:r>
              <a:rPr sz="1067" spc="-140" dirty="0">
                <a:solidFill>
                  <a:srgbClr val="F17921"/>
                </a:solidFill>
                <a:latin typeface="Arial Black"/>
                <a:cs typeface="Arial Black"/>
              </a:rPr>
              <a:t>Scheduler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772655" y="3182111"/>
            <a:ext cx="896620" cy="327660"/>
          </a:xfrm>
          <a:custGeom>
            <a:avLst/>
            <a:gdLst/>
            <a:ahLst/>
            <a:cxnLst/>
            <a:rect l="l" t="t" r="r" b="b"/>
            <a:pathLst>
              <a:path w="672464" h="245744">
                <a:moveTo>
                  <a:pt x="672084" y="0"/>
                </a:moveTo>
                <a:lnTo>
                  <a:pt x="0" y="0"/>
                </a:lnTo>
                <a:lnTo>
                  <a:pt x="0" y="245363"/>
                </a:lnTo>
                <a:lnTo>
                  <a:pt x="672084" y="245363"/>
                </a:lnTo>
                <a:lnTo>
                  <a:pt x="672084" y="0"/>
                </a:lnTo>
                <a:close/>
              </a:path>
            </a:pathLst>
          </a:custGeom>
          <a:solidFill>
            <a:srgbClr val="E10A87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 txBox="1"/>
          <p:nvPr/>
        </p:nvSpPr>
        <p:spPr>
          <a:xfrm>
            <a:off x="6782815" y="3182112"/>
            <a:ext cx="89408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697">
              <a:lnSpc>
                <a:spcPts val="1247"/>
              </a:lnSpc>
            </a:pPr>
            <a:r>
              <a:rPr sz="1067" spc="-120" dirty="0">
                <a:solidFill>
                  <a:srgbClr val="FFFFFF"/>
                </a:solidFill>
                <a:latin typeface="Arial Black"/>
                <a:cs typeface="Arial Black"/>
              </a:rPr>
              <a:t>Controller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82815" y="3325369"/>
            <a:ext cx="89408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0176">
              <a:spcBef>
                <a:spcPts val="133"/>
              </a:spcBef>
            </a:pPr>
            <a:r>
              <a:rPr sz="1067" spc="-120" dirty="0">
                <a:solidFill>
                  <a:srgbClr val="FFFFFF"/>
                </a:solidFill>
                <a:latin typeface="Arial Black"/>
                <a:cs typeface="Arial Black"/>
              </a:rPr>
              <a:t>Manager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76695" y="628903"/>
            <a:ext cx="896620" cy="242865"/>
          </a:xfrm>
          <a:prstGeom prst="rect">
            <a:avLst/>
          </a:prstGeom>
          <a:solidFill>
            <a:srgbClr val="433D66"/>
          </a:solidFill>
          <a:ln w="19811">
            <a:solidFill>
              <a:srgbClr val="FFFFFF"/>
            </a:solidFill>
          </a:ln>
        </p:spPr>
        <p:txBody>
          <a:bodyPr vert="horz" wrap="square" lIns="0" tIns="77892" rIns="0" bIns="0" rtlCol="0">
            <a:spAutoFit/>
          </a:bodyPr>
          <a:lstStyle/>
          <a:p>
            <a:pPr marL="171869">
              <a:spcBef>
                <a:spcPts val="612"/>
              </a:spcBef>
            </a:pPr>
            <a:r>
              <a:rPr sz="1067" spc="-160" dirty="0">
                <a:solidFill>
                  <a:srgbClr val="F1F1F1"/>
                </a:solidFill>
                <a:latin typeface="Arial Black"/>
                <a:cs typeface="Arial Black"/>
              </a:rPr>
              <a:t>HAPRoxy</a:t>
            </a:r>
            <a:endParaRPr sz="1067">
              <a:latin typeface="Arial Black"/>
              <a:cs typeface="Arial Black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230368" y="4506976"/>
            <a:ext cx="667173" cy="314960"/>
          </a:xfrm>
          <a:custGeom>
            <a:avLst/>
            <a:gdLst/>
            <a:ahLst/>
            <a:cxnLst/>
            <a:rect l="l" t="t" r="r" b="b"/>
            <a:pathLst>
              <a:path w="500379" h="236220">
                <a:moveTo>
                  <a:pt x="499872" y="0"/>
                </a:moveTo>
                <a:lnTo>
                  <a:pt x="0" y="0"/>
                </a:lnTo>
                <a:lnTo>
                  <a:pt x="0" y="236220"/>
                </a:lnTo>
                <a:lnTo>
                  <a:pt x="499872" y="236220"/>
                </a:lnTo>
                <a:lnTo>
                  <a:pt x="499872" y="0"/>
                </a:lnTo>
                <a:close/>
              </a:path>
            </a:pathLst>
          </a:custGeom>
          <a:solidFill>
            <a:srgbClr val="CAE7F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 txBox="1"/>
          <p:nvPr/>
        </p:nvSpPr>
        <p:spPr>
          <a:xfrm>
            <a:off x="5306061" y="4563195"/>
            <a:ext cx="51562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dirty="0">
                <a:solidFill>
                  <a:srgbClr val="115F92"/>
                </a:solidFill>
                <a:latin typeface="Arial"/>
                <a:cs typeface="Arial"/>
              </a:rPr>
              <a:t>kubelet</a:t>
            </a:r>
            <a:endParaRPr sz="1067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047487" y="4860545"/>
            <a:ext cx="1032933" cy="329353"/>
          </a:xfrm>
          <a:custGeom>
            <a:avLst/>
            <a:gdLst/>
            <a:ahLst/>
            <a:cxnLst/>
            <a:rect l="l" t="t" r="r" b="b"/>
            <a:pathLst>
              <a:path w="774700" h="247014">
                <a:moveTo>
                  <a:pt x="774191" y="0"/>
                </a:moveTo>
                <a:lnTo>
                  <a:pt x="0" y="0"/>
                </a:lnTo>
                <a:lnTo>
                  <a:pt x="0" y="246887"/>
                </a:lnTo>
                <a:lnTo>
                  <a:pt x="774191" y="246887"/>
                </a:lnTo>
                <a:lnTo>
                  <a:pt x="774191" y="0"/>
                </a:lnTo>
                <a:close/>
              </a:path>
            </a:pathLst>
          </a:custGeom>
          <a:solidFill>
            <a:srgbClr val="241847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 txBox="1"/>
          <p:nvPr/>
        </p:nvSpPr>
        <p:spPr>
          <a:xfrm>
            <a:off x="5168730" y="4924553"/>
            <a:ext cx="78994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spc="-7" dirty="0">
                <a:solidFill>
                  <a:srgbClr val="CAE7F8"/>
                </a:solidFill>
                <a:latin typeface="Arial"/>
                <a:cs typeface="Arial"/>
              </a:rPr>
              <a:t>Kube-proxy</a:t>
            </a:r>
            <a:endParaRPr sz="1067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1239" y="4545753"/>
            <a:ext cx="3100493" cy="9201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indent="-457189">
              <a:spcBef>
                <a:spcPts val="133"/>
              </a:spcBef>
              <a:buFont typeface="Wingdings"/>
              <a:buChar char=""/>
              <a:tabLst>
                <a:tab pos="473275" algn="l"/>
                <a:tab pos="474121" algn="l"/>
              </a:tabLst>
            </a:pPr>
            <a:r>
              <a:rPr sz="1467" spc="-193" dirty="0">
                <a:latin typeface="Arial Black"/>
                <a:cs typeface="Arial Black"/>
              </a:rPr>
              <a:t>Generate </a:t>
            </a:r>
            <a:r>
              <a:rPr sz="1467" spc="-280" dirty="0">
                <a:latin typeface="Arial Black"/>
                <a:cs typeface="Arial Black"/>
              </a:rPr>
              <a:t>CERTs  </a:t>
            </a:r>
            <a:r>
              <a:rPr sz="1467" spc="-127" dirty="0">
                <a:latin typeface="Arial Black"/>
                <a:cs typeface="Arial Black"/>
              </a:rPr>
              <a:t>for</a:t>
            </a:r>
            <a:r>
              <a:rPr sz="1467" spc="-80" dirty="0">
                <a:latin typeface="Arial Black"/>
                <a:cs typeface="Arial Black"/>
              </a:rPr>
              <a:t> </a:t>
            </a:r>
            <a:r>
              <a:rPr sz="1467" spc="-133" dirty="0">
                <a:latin typeface="Arial Black"/>
                <a:cs typeface="Arial Black"/>
              </a:rPr>
              <a:t>Worker-1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spcBef>
                <a:spcPts val="7"/>
              </a:spcBef>
              <a:buFont typeface="Wingdings"/>
              <a:buChar char=""/>
              <a:tabLst>
                <a:tab pos="473275" algn="l"/>
                <a:tab pos="474121" algn="l"/>
              </a:tabLst>
            </a:pPr>
            <a:r>
              <a:rPr sz="1467" spc="-160" dirty="0">
                <a:latin typeface="Arial Black"/>
                <a:cs typeface="Arial Black"/>
              </a:rPr>
              <a:t>Configure </a:t>
            </a:r>
            <a:r>
              <a:rPr sz="1467" spc="-193" dirty="0">
                <a:latin typeface="Arial Black"/>
                <a:cs typeface="Arial Black"/>
              </a:rPr>
              <a:t>Kubelet </a:t>
            </a:r>
            <a:r>
              <a:rPr sz="1467" spc="-127" dirty="0">
                <a:latin typeface="Arial Black"/>
                <a:cs typeface="Arial Black"/>
              </a:rPr>
              <a:t>for</a:t>
            </a:r>
            <a:r>
              <a:rPr sz="1467" spc="33" dirty="0">
                <a:latin typeface="Arial Black"/>
                <a:cs typeface="Arial Black"/>
              </a:rPr>
              <a:t> </a:t>
            </a:r>
            <a:r>
              <a:rPr sz="1467" spc="-133" dirty="0">
                <a:latin typeface="Arial Black"/>
                <a:cs typeface="Arial Black"/>
              </a:rPr>
              <a:t>Worker-1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"/>
              <a:tabLst>
                <a:tab pos="473275" algn="l"/>
                <a:tab pos="474121" algn="l"/>
              </a:tabLst>
            </a:pPr>
            <a:r>
              <a:rPr sz="1467" spc="-240" dirty="0">
                <a:latin typeface="Arial Black"/>
                <a:cs typeface="Arial Black"/>
              </a:rPr>
              <a:t>Renew</a:t>
            </a:r>
            <a:r>
              <a:rPr sz="1467" spc="-93" dirty="0">
                <a:latin typeface="Arial Black"/>
                <a:cs typeface="Arial Black"/>
              </a:rPr>
              <a:t> </a:t>
            </a:r>
            <a:r>
              <a:rPr sz="1467" spc="-193" dirty="0">
                <a:latin typeface="Arial Black"/>
                <a:cs typeface="Arial Black"/>
              </a:rPr>
              <a:t>Certificates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"/>
              <a:tabLst>
                <a:tab pos="473275" algn="l"/>
                <a:tab pos="474121" algn="l"/>
              </a:tabLst>
            </a:pPr>
            <a:r>
              <a:rPr sz="1467" spc="-160" dirty="0">
                <a:latin typeface="Arial Black"/>
                <a:cs typeface="Arial Black"/>
              </a:rPr>
              <a:t>Configure</a:t>
            </a:r>
            <a:r>
              <a:rPr sz="1467" spc="-100" dirty="0">
                <a:latin typeface="Arial Black"/>
                <a:cs typeface="Arial Black"/>
              </a:rPr>
              <a:t> </a:t>
            </a:r>
            <a:r>
              <a:rPr sz="1467" spc="-152" dirty="0">
                <a:latin typeface="Arial Black"/>
                <a:cs typeface="Arial Black"/>
              </a:rPr>
              <a:t>kube-proxy</a:t>
            </a:r>
            <a:endParaRPr sz="1467">
              <a:latin typeface="Arial Black"/>
              <a:cs typeface="Arial Black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074490" y="4478630"/>
            <a:ext cx="3671993" cy="137255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113" dirty="0">
                <a:latin typeface="Arial"/>
                <a:cs typeface="Arial"/>
              </a:rPr>
              <a:t>TLS</a:t>
            </a:r>
            <a:r>
              <a:rPr sz="1467" b="1" spc="-33" dirty="0">
                <a:latin typeface="Arial"/>
                <a:cs typeface="Arial"/>
              </a:rPr>
              <a:t> </a:t>
            </a:r>
            <a:r>
              <a:rPr sz="1467" b="1" spc="-27" dirty="0">
                <a:latin typeface="Arial"/>
                <a:cs typeface="Arial"/>
              </a:rPr>
              <a:t>Bootstrap:</a:t>
            </a:r>
            <a:endParaRPr sz="1467">
              <a:latin typeface="Arial"/>
              <a:cs typeface="Arial"/>
            </a:endParaRPr>
          </a:p>
          <a:p>
            <a:pPr marL="474121" marR="430096" indent="-457189">
              <a:spcBef>
                <a:spcPts val="7"/>
              </a:spcBef>
              <a:buFont typeface="Wingdings"/>
              <a:buChar char=""/>
              <a:tabLst>
                <a:tab pos="473275" algn="l"/>
                <a:tab pos="474121" algn="l"/>
              </a:tabLst>
            </a:pPr>
            <a:r>
              <a:rPr sz="1467" spc="-133" dirty="0">
                <a:latin typeface="Arial Black"/>
                <a:cs typeface="Arial Black"/>
              </a:rPr>
              <a:t>Worker-2 </a:t>
            </a:r>
            <a:r>
              <a:rPr sz="1467" spc="-140" dirty="0">
                <a:latin typeface="Arial Black"/>
                <a:cs typeface="Arial Black"/>
              </a:rPr>
              <a:t>to </a:t>
            </a:r>
            <a:r>
              <a:rPr sz="1467" spc="-213" dirty="0">
                <a:latin typeface="Arial Black"/>
                <a:cs typeface="Arial Black"/>
              </a:rPr>
              <a:t>create </a:t>
            </a:r>
            <a:r>
              <a:rPr sz="1467" spc="-167" dirty="0">
                <a:latin typeface="Arial Black"/>
                <a:cs typeface="Arial Black"/>
              </a:rPr>
              <a:t>and </a:t>
            </a:r>
            <a:r>
              <a:rPr sz="1467" spc="-160" dirty="0">
                <a:latin typeface="Arial Black"/>
                <a:cs typeface="Arial Black"/>
              </a:rPr>
              <a:t>configure  </a:t>
            </a:r>
            <a:r>
              <a:rPr sz="1467" spc="-200" dirty="0">
                <a:latin typeface="Arial Black"/>
                <a:cs typeface="Arial Black"/>
              </a:rPr>
              <a:t>certificates </a:t>
            </a:r>
            <a:r>
              <a:rPr sz="1467" spc="-152" dirty="0">
                <a:latin typeface="Arial Black"/>
                <a:cs typeface="Arial Black"/>
              </a:rPr>
              <a:t>by</a:t>
            </a:r>
            <a:r>
              <a:rPr sz="1467" spc="-267" dirty="0">
                <a:latin typeface="Arial Black"/>
                <a:cs typeface="Arial Black"/>
              </a:rPr>
              <a:t> </a:t>
            </a:r>
            <a:r>
              <a:rPr sz="1467" spc="-173" dirty="0">
                <a:latin typeface="Arial Black"/>
                <a:cs typeface="Arial Black"/>
              </a:rPr>
              <a:t>itself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"/>
              <a:tabLst>
                <a:tab pos="473275" algn="l"/>
                <a:tab pos="474121" algn="l"/>
              </a:tabLst>
            </a:pPr>
            <a:r>
              <a:rPr sz="1467" spc="-160" dirty="0">
                <a:latin typeface="Arial Black"/>
                <a:cs typeface="Arial Black"/>
              </a:rPr>
              <a:t>Configure </a:t>
            </a:r>
            <a:r>
              <a:rPr sz="1467" spc="-193" dirty="0">
                <a:latin typeface="Arial Black"/>
                <a:cs typeface="Arial Black"/>
              </a:rPr>
              <a:t>Kubelet </a:t>
            </a:r>
            <a:r>
              <a:rPr sz="1467" spc="-127" dirty="0">
                <a:latin typeface="Arial Black"/>
                <a:cs typeface="Arial Black"/>
              </a:rPr>
              <a:t>for</a:t>
            </a:r>
            <a:r>
              <a:rPr sz="1467" spc="73" dirty="0">
                <a:latin typeface="Arial Black"/>
                <a:cs typeface="Arial Black"/>
              </a:rPr>
              <a:t> </a:t>
            </a:r>
            <a:r>
              <a:rPr sz="1467" spc="-133" dirty="0">
                <a:latin typeface="Arial Black"/>
                <a:cs typeface="Arial Black"/>
              </a:rPr>
              <a:t>Worker-2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"/>
              <a:tabLst>
                <a:tab pos="473275" algn="l"/>
                <a:tab pos="474121" algn="l"/>
              </a:tabLst>
            </a:pPr>
            <a:r>
              <a:rPr sz="1467" spc="-133" dirty="0">
                <a:latin typeface="Arial Black"/>
                <a:cs typeface="Arial Black"/>
              </a:rPr>
              <a:t>Worker-2 </a:t>
            </a:r>
            <a:r>
              <a:rPr sz="1467" spc="-140" dirty="0">
                <a:latin typeface="Arial Black"/>
                <a:cs typeface="Arial Black"/>
              </a:rPr>
              <a:t>to </a:t>
            </a:r>
            <a:r>
              <a:rPr sz="1467" spc="-207" dirty="0">
                <a:latin typeface="Arial Black"/>
                <a:cs typeface="Arial Black"/>
              </a:rPr>
              <a:t>renew </a:t>
            </a:r>
            <a:r>
              <a:rPr sz="1467" spc="-200" dirty="0">
                <a:latin typeface="Arial Black"/>
                <a:cs typeface="Arial Black"/>
              </a:rPr>
              <a:t>certificates </a:t>
            </a:r>
            <a:r>
              <a:rPr sz="1467" spc="-152" dirty="0">
                <a:latin typeface="Arial Black"/>
                <a:cs typeface="Arial Black"/>
              </a:rPr>
              <a:t>by</a:t>
            </a:r>
            <a:r>
              <a:rPr sz="1467" spc="160" dirty="0">
                <a:latin typeface="Arial Black"/>
                <a:cs typeface="Arial Black"/>
              </a:rPr>
              <a:t> </a:t>
            </a:r>
            <a:r>
              <a:rPr sz="1467" spc="-173" dirty="0">
                <a:latin typeface="Arial Black"/>
                <a:cs typeface="Arial Black"/>
              </a:rPr>
              <a:t>itself</a:t>
            </a:r>
            <a:endParaRPr sz="1467">
              <a:latin typeface="Arial Black"/>
              <a:cs typeface="Arial Black"/>
            </a:endParaRPr>
          </a:p>
          <a:p>
            <a:pPr marL="474121" indent="-457189">
              <a:buFont typeface="Wingdings"/>
              <a:buChar char=""/>
              <a:tabLst>
                <a:tab pos="473275" algn="l"/>
                <a:tab pos="474121" algn="l"/>
              </a:tabLst>
            </a:pPr>
            <a:r>
              <a:rPr sz="1467" spc="-160" dirty="0">
                <a:latin typeface="Arial Black"/>
                <a:cs typeface="Arial Black"/>
              </a:rPr>
              <a:t>Configure</a:t>
            </a:r>
            <a:r>
              <a:rPr sz="1467" spc="-100" dirty="0">
                <a:latin typeface="Arial Black"/>
                <a:cs typeface="Arial Black"/>
              </a:rPr>
              <a:t> </a:t>
            </a:r>
            <a:r>
              <a:rPr sz="1467" spc="-152" dirty="0">
                <a:latin typeface="Arial Black"/>
                <a:cs typeface="Arial Black"/>
              </a:rPr>
              <a:t>kube-proxy</a:t>
            </a:r>
            <a:endParaRPr sz="1467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582870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84536" y="1254759"/>
            <a:ext cx="1205653" cy="2245360"/>
          </a:xfrm>
          <a:custGeom>
            <a:avLst/>
            <a:gdLst/>
            <a:ahLst/>
            <a:cxnLst/>
            <a:rect l="l" t="t" r="r" b="b"/>
            <a:pathLst>
              <a:path w="904240" h="1684020">
                <a:moveTo>
                  <a:pt x="0" y="150621"/>
                </a:moveTo>
                <a:lnTo>
                  <a:pt x="7678" y="103014"/>
                </a:lnTo>
                <a:lnTo>
                  <a:pt x="29061" y="61667"/>
                </a:lnTo>
                <a:lnTo>
                  <a:pt x="61667" y="29061"/>
                </a:lnTo>
                <a:lnTo>
                  <a:pt x="103014" y="7678"/>
                </a:lnTo>
                <a:lnTo>
                  <a:pt x="150622" y="0"/>
                </a:lnTo>
                <a:lnTo>
                  <a:pt x="753109" y="0"/>
                </a:lnTo>
                <a:lnTo>
                  <a:pt x="800717" y="7678"/>
                </a:lnTo>
                <a:lnTo>
                  <a:pt x="842064" y="29061"/>
                </a:lnTo>
                <a:lnTo>
                  <a:pt x="874670" y="61667"/>
                </a:lnTo>
                <a:lnTo>
                  <a:pt x="896053" y="103014"/>
                </a:lnTo>
                <a:lnTo>
                  <a:pt x="903731" y="150621"/>
                </a:lnTo>
                <a:lnTo>
                  <a:pt x="903731" y="1533397"/>
                </a:lnTo>
                <a:lnTo>
                  <a:pt x="896053" y="1581005"/>
                </a:lnTo>
                <a:lnTo>
                  <a:pt x="874670" y="1622352"/>
                </a:lnTo>
                <a:lnTo>
                  <a:pt x="842064" y="1654958"/>
                </a:lnTo>
                <a:lnTo>
                  <a:pt x="800717" y="1676341"/>
                </a:lnTo>
                <a:lnTo>
                  <a:pt x="753109" y="1684019"/>
                </a:lnTo>
                <a:lnTo>
                  <a:pt x="150622" y="1684019"/>
                </a:lnTo>
                <a:lnTo>
                  <a:pt x="103014" y="1676341"/>
                </a:lnTo>
                <a:lnTo>
                  <a:pt x="61667" y="1654958"/>
                </a:lnTo>
                <a:lnTo>
                  <a:pt x="29061" y="1622352"/>
                </a:lnTo>
                <a:lnTo>
                  <a:pt x="7678" y="1581005"/>
                </a:lnTo>
                <a:lnTo>
                  <a:pt x="0" y="1533397"/>
                </a:lnTo>
                <a:lnTo>
                  <a:pt x="0" y="150621"/>
                </a:lnTo>
                <a:close/>
              </a:path>
            </a:pathLst>
          </a:custGeom>
          <a:ln w="19812">
            <a:solidFill>
              <a:srgbClr val="E10A87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868152" y="2217420"/>
            <a:ext cx="2404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80" dirty="0">
                <a:solidFill>
                  <a:srgbClr val="E10A87"/>
                </a:solidFill>
                <a:latin typeface="Arial Black"/>
                <a:cs typeface="Arial Black"/>
              </a:rPr>
              <a:t>M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97249" y="954786"/>
            <a:ext cx="7686040" cy="1953260"/>
            <a:chOff x="2547937" y="716089"/>
            <a:chExt cx="5764530" cy="1464945"/>
          </a:xfrm>
        </p:grpSpPr>
        <p:sp>
          <p:nvSpPr>
            <p:cNvPr id="5" name="object 5"/>
            <p:cNvSpPr/>
            <p:nvPr/>
          </p:nvSpPr>
          <p:spPr>
            <a:xfrm>
              <a:off x="8168640" y="2039112"/>
              <a:ext cx="143255" cy="1417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494160" y="767618"/>
              <a:ext cx="356235" cy="355600"/>
            </a:xfrm>
            <a:custGeom>
              <a:avLst/>
              <a:gdLst/>
              <a:ahLst/>
              <a:cxnLst/>
              <a:rect l="l" t="t" r="r" b="b"/>
              <a:pathLst>
                <a:path w="356235" h="355600">
                  <a:moveTo>
                    <a:pt x="178113" y="0"/>
                  </a:moveTo>
                  <a:lnTo>
                    <a:pt x="130742" y="6347"/>
                  </a:lnTo>
                  <a:lnTo>
                    <a:pt x="88188" y="24262"/>
                  </a:lnTo>
                  <a:lnTo>
                    <a:pt x="52145" y="52055"/>
                  </a:lnTo>
                  <a:lnTo>
                    <a:pt x="24304" y="88035"/>
                  </a:lnTo>
                  <a:lnTo>
                    <a:pt x="6358" y="130512"/>
                  </a:lnTo>
                  <a:lnTo>
                    <a:pt x="0" y="177796"/>
                  </a:lnTo>
                  <a:lnTo>
                    <a:pt x="6358" y="225078"/>
                  </a:lnTo>
                  <a:lnTo>
                    <a:pt x="24304" y="267552"/>
                  </a:lnTo>
                  <a:lnTo>
                    <a:pt x="52145" y="303529"/>
                  </a:lnTo>
                  <a:lnTo>
                    <a:pt x="88188" y="331318"/>
                  </a:lnTo>
                  <a:lnTo>
                    <a:pt x="130742" y="349230"/>
                  </a:lnTo>
                  <a:lnTo>
                    <a:pt x="178113" y="355576"/>
                  </a:lnTo>
                  <a:lnTo>
                    <a:pt x="225484" y="349230"/>
                  </a:lnTo>
                  <a:lnTo>
                    <a:pt x="268038" y="331318"/>
                  </a:lnTo>
                  <a:lnTo>
                    <a:pt x="304082" y="303529"/>
                  </a:lnTo>
                  <a:lnTo>
                    <a:pt x="331923" y="267552"/>
                  </a:lnTo>
                  <a:lnTo>
                    <a:pt x="342172" y="243294"/>
                  </a:lnTo>
                  <a:lnTo>
                    <a:pt x="178113" y="243294"/>
                  </a:lnTo>
                  <a:lnTo>
                    <a:pt x="152634" y="238126"/>
                  </a:lnTo>
                  <a:lnTo>
                    <a:pt x="131768" y="224054"/>
                  </a:lnTo>
                  <a:lnTo>
                    <a:pt x="117670" y="203227"/>
                  </a:lnTo>
                  <a:lnTo>
                    <a:pt x="112492" y="177796"/>
                  </a:lnTo>
                  <a:lnTo>
                    <a:pt x="117670" y="152364"/>
                  </a:lnTo>
                  <a:lnTo>
                    <a:pt x="131768" y="131538"/>
                  </a:lnTo>
                  <a:lnTo>
                    <a:pt x="152634" y="117466"/>
                  </a:lnTo>
                  <a:lnTo>
                    <a:pt x="178113" y="112298"/>
                  </a:lnTo>
                  <a:lnTo>
                    <a:pt x="342173" y="112298"/>
                  </a:lnTo>
                  <a:lnTo>
                    <a:pt x="331923" y="88035"/>
                  </a:lnTo>
                  <a:lnTo>
                    <a:pt x="304082" y="52055"/>
                  </a:lnTo>
                  <a:lnTo>
                    <a:pt x="268038" y="24262"/>
                  </a:lnTo>
                  <a:lnTo>
                    <a:pt x="225484" y="6347"/>
                  </a:lnTo>
                  <a:lnTo>
                    <a:pt x="178113" y="0"/>
                  </a:lnTo>
                  <a:close/>
                </a:path>
                <a:path w="356235" h="355600">
                  <a:moveTo>
                    <a:pt x="342173" y="112298"/>
                  </a:moveTo>
                  <a:lnTo>
                    <a:pt x="178113" y="112298"/>
                  </a:lnTo>
                  <a:lnTo>
                    <a:pt x="203593" y="117466"/>
                  </a:lnTo>
                  <a:lnTo>
                    <a:pt x="224458" y="131538"/>
                  </a:lnTo>
                  <a:lnTo>
                    <a:pt x="238556" y="152364"/>
                  </a:lnTo>
                  <a:lnTo>
                    <a:pt x="243734" y="177796"/>
                  </a:lnTo>
                  <a:lnTo>
                    <a:pt x="238556" y="203227"/>
                  </a:lnTo>
                  <a:lnTo>
                    <a:pt x="224458" y="224054"/>
                  </a:lnTo>
                  <a:lnTo>
                    <a:pt x="203593" y="238126"/>
                  </a:lnTo>
                  <a:lnTo>
                    <a:pt x="178113" y="243294"/>
                  </a:lnTo>
                  <a:lnTo>
                    <a:pt x="342172" y="243294"/>
                  </a:lnTo>
                  <a:lnTo>
                    <a:pt x="349869" y="225078"/>
                  </a:lnTo>
                  <a:lnTo>
                    <a:pt x="356227" y="177796"/>
                  </a:lnTo>
                  <a:lnTo>
                    <a:pt x="349869" y="130512"/>
                  </a:lnTo>
                  <a:lnTo>
                    <a:pt x="342173" y="1122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625401" y="898630"/>
              <a:ext cx="93744" cy="9356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2552700" y="720851"/>
              <a:ext cx="2237740" cy="876300"/>
            </a:xfrm>
            <a:custGeom>
              <a:avLst/>
              <a:gdLst/>
              <a:ahLst/>
              <a:cxnLst/>
              <a:rect l="l" t="t" r="r" b="b"/>
              <a:pathLst>
                <a:path w="2237740" h="876300">
                  <a:moveTo>
                    <a:pt x="0" y="146050"/>
                  </a:moveTo>
                  <a:lnTo>
                    <a:pt x="7447" y="99893"/>
                  </a:lnTo>
                  <a:lnTo>
                    <a:pt x="28183" y="59801"/>
                  </a:lnTo>
                  <a:lnTo>
                    <a:pt x="59801" y="28183"/>
                  </a:lnTo>
                  <a:lnTo>
                    <a:pt x="99893" y="7447"/>
                  </a:lnTo>
                  <a:lnTo>
                    <a:pt x="146050" y="0"/>
                  </a:lnTo>
                  <a:lnTo>
                    <a:pt x="2091182" y="0"/>
                  </a:lnTo>
                  <a:lnTo>
                    <a:pt x="2137338" y="7447"/>
                  </a:lnTo>
                  <a:lnTo>
                    <a:pt x="2177430" y="28183"/>
                  </a:lnTo>
                  <a:lnTo>
                    <a:pt x="2209048" y="59801"/>
                  </a:lnTo>
                  <a:lnTo>
                    <a:pt x="2229784" y="99893"/>
                  </a:lnTo>
                  <a:lnTo>
                    <a:pt x="2237232" y="146050"/>
                  </a:lnTo>
                  <a:lnTo>
                    <a:pt x="2237232" y="730250"/>
                  </a:lnTo>
                  <a:lnTo>
                    <a:pt x="2229784" y="776406"/>
                  </a:lnTo>
                  <a:lnTo>
                    <a:pt x="2209048" y="816498"/>
                  </a:lnTo>
                  <a:lnTo>
                    <a:pt x="2177430" y="848116"/>
                  </a:lnTo>
                  <a:lnTo>
                    <a:pt x="2137338" y="868852"/>
                  </a:lnTo>
                  <a:lnTo>
                    <a:pt x="2091182" y="876300"/>
                  </a:lnTo>
                  <a:lnTo>
                    <a:pt x="146050" y="876300"/>
                  </a:lnTo>
                  <a:lnTo>
                    <a:pt x="99893" y="868852"/>
                  </a:lnTo>
                  <a:lnTo>
                    <a:pt x="59801" y="848116"/>
                  </a:lnTo>
                  <a:lnTo>
                    <a:pt x="28183" y="816498"/>
                  </a:lnTo>
                  <a:lnTo>
                    <a:pt x="7447" y="776406"/>
                  </a:lnTo>
                  <a:lnTo>
                    <a:pt x="0" y="730250"/>
                  </a:lnTo>
                  <a:lnTo>
                    <a:pt x="0" y="14605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8506" y="5517828"/>
            <a:ext cx="9811173" cy="9201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indent="-457189">
              <a:spcBef>
                <a:spcPts val="133"/>
              </a:spcBef>
              <a:buAutoNum type="arabicPeriod"/>
              <a:tabLst>
                <a:tab pos="473275" algn="l"/>
                <a:tab pos="474121" algn="l"/>
              </a:tabLst>
            </a:pPr>
            <a:r>
              <a:rPr sz="1467" spc="-207" dirty="0">
                <a:latin typeface="Arial Black"/>
                <a:cs typeface="Arial Black"/>
              </a:rPr>
              <a:t>Create </a:t>
            </a:r>
            <a:r>
              <a:rPr sz="1467" spc="-180" dirty="0">
                <a:latin typeface="Arial Black"/>
                <a:cs typeface="Arial Black"/>
              </a:rPr>
              <a:t>Bootstrap </a:t>
            </a:r>
            <a:r>
              <a:rPr sz="1467" spc="-207" dirty="0">
                <a:latin typeface="Arial Black"/>
                <a:cs typeface="Arial Black"/>
              </a:rPr>
              <a:t>Token </a:t>
            </a:r>
            <a:r>
              <a:rPr sz="1467" spc="-167" dirty="0">
                <a:latin typeface="Arial Black"/>
                <a:cs typeface="Arial Black"/>
              </a:rPr>
              <a:t>and </a:t>
            </a:r>
            <a:r>
              <a:rPr sz="1467" spc="-220" dirty="0">
                <a:latin typeface="Arial Black"/>
                <a:cs typeface="Arial Black"/>
              </a:rPr>
              <a:t>associate </a:t>
            </a:r>
            <a:r>
              <a:rPr sz="1467" spc="-147" dirty="0">
                <a:latin typeface="Arial Black"/>
                <a:cs typeface="Arial Black"/>
              </a:rPr>
              <a:t>it </a:t>
            </a:r>
            <a:r>
              <a:rPr sz="1467" spc="-140" dirty="0">
                <a:latin typeface="Arial Black"/>
                <a:cs typeface="Arial Black"/>
              </a:rPr>
              <a:t>to </a:t>
            </a:r>
            <a:r>
              <a:rPr sz="1467" spc="-127" dirty="0">
                <a:latin typeface="Arial Black"/>
                <a:cs typeface="Arial Black"/>
              </a:rPr>
              <a:t>group</a:t>
            </a:r>
            <a:r>
              <a:rPr sz="1467" spc="7" dirty="0">
                <a:latin typeface="Arial Black"/>
                <a:cs typeface="Arial Black"/>
              </a:rPr>
              <a:t> </a:t>
            </a:r>
            <a:r>
              <a:rPr sz="1467" b="1" spc="-33" dirty="0">
                <a:latin typeface="Arial"/>
                <a:cs typeface="Arial"/>
              </a:rPr>
              <a:t>system:bootstrappers</a:t>
            </a:r>
            <a:endParaRPr sz="1467">
              <a:latin typeface="Arial"/>
              <a:cs typeface="Arial"/>
            </a:endParaRPr>
          </a:p>
          <a:p>
            <a:pPr marL="474121" indent="-457189">
              <a:buAutoNum type="arabicPeriod"/>
              <a:tabLst>
                <a:tab pos="473275" algn="l"/>
                <a:tab pos="474121" algn="l"/>
              </a:tabLst>
            </a:pPr>
            <a:r>
              <a:rPr sz="1467" spc="-193" dirty="0">
                <a:latin typeface="Arial Black"/>
                <a:cs typeface="Arial Black"/>
              </a:rPr>
              <a:t>Assign </a:t>
            </a:r>
            <a:r>
              <a:rPr sz="1467" spc="-187" dirty="0">
                <a:latin typeface="Arial Black"/>
                <a:cs typeface="Arial Black"/>
              </a:rPr>
              <a:t>Role </a:t>
            </a:r>
            <a:r>
              <a:rPr sz="1467" dirty="0">
                <a:latin typeface="Arial Black"/>
                <a:cs typeface="Arial Black"/>
              </a:rPr>
              <a:t>– </a:t>
            </a:r>
            <a:r>
              <a:rPr sz="1467" b="1" spc="-13" dirty="0">
                <a:latin typeface="Arial"/>
                <a:cs typeface="Arial"/>
              </a:rPr>
              <a:t>system:node-bootstrapper </a:t>
            </a:r>
            <a:r>
              <a:rPr sz="1467" spc="-133" dirty="0">
                <a:latin typeface="Arial Black"/>
                <a:cs typeface="Arial Black"/>
              </a:rPr>
              <a:t>to group</a:t>
            </a:r>
            <a:r>
              <a:rPr sz="1467" spc="47" dirty="0">
                <a:latin typeface="Arial Black"/>
                <a:cs typeface="Arial Black"/>
              </a:rPr>
              <a:t> </a:t>
            </a:r>
            <a:r>
              <a:rPr sz="1467" b="1" spc="-33" dirty="0">
                <a:latin typeface="Arial"/>
                <a:cs typeface="Arial"/>
              </a:rPr>
              <a:t>system:bootstrappers</a:t>
            </a:r>
            <a:endParaRPr sz="1467">
              <a:latin typeface="Arial"/>
              <a:cs typeface="Arial"/>
            </a:endParaRPr>
          </a:p>
          <a:p>
            <a:pPr marL="474121" indent="-457189">
              <a:spcBef>
                <a:spcPts val="7"/>
              </a:spcBef>
              <a:buAutoNum type="arabicPeriod"/>
              <a:tabLst>
                <a:tab pos="473275" algn="l"/>
                <a:tab pos="474121" algn="l"/>
              </a:tabLst>
            </a:pPr>
            <a:r>
              <a:rPr sz="1467" spc="-193" dirty="0">
                <a:latin typeface="Arial Black"/>
                <a:cs typeface="Arial Black"/>
              </a:rPr>
              <a:t>Assign </a:t>
            </a:r>
            <a:r>
              <a:rPr sz="1467" spc="-187" dirty="0">
                <a:latin typeface="Arial Black"/>
                <a:cs typeface="Arial Black"/>
              </a:rPr>
              <a:t>Role </a:t>
            </a:r>
            <a:r>
              <a:rPr sz="1467" spc="100" dirty="0">
                <a:latin typeface="Arial Black"/>
                <a:cs typeface="Arial Black"/>
              </a:rPr>
              <a:t>- </a:t>
            </a:r>
            <a:r>
              <a:rPr sz="1467" b="1" spc="-27" dirty="0">
                <a:latin typeface="Arial"/>
                <a:cs typeface="Arial"/>
              </a:rPr>
              <a:t>system:certificates.k8s.io:certificatesigningrequests:nodeclient </a:t>
            </a:r>
            <a:r>
              <a:rPr sz="1467" spc="-140" dirty="0">
                <a:latin typeface="Arial Black"/>
                <a:cs typeface="Arial Black"/>
              </a:rPr>
              <a:t>to </a:t>
            </a:r>
            <a:r>
              <a:rPr sz="1467" spc="-127" dirty="0">
                <a:latin typeface="Arial Black"/>
                <a:cs typeface="Arial Black"/>
              </a:rPr>
              <a:t>group</a:t>
            </a:r>
            <a:r>
              <a:rPr sz="1467" spc="-180" dirty="0">
                <a:latin typeface="Arial Black"/>
                <a:cs typeface="Arial Black"/>
              </a:rPr>
              <a:t> </a:t>
            </a:r>
            <a:r>
              <a:rPr sz="1467" b="1" spc="-33" dirty="0">
                <a:latin typeface="Arial"/>
                <a:cs typeface="Arial"/>
              </a:rPr>
              <a:t>system:bootstrappers</a:t>
            </a:r>
            <a:endParaRPr sz="1467">
              <a:latin typeface="Arial"/>
              <a:cs typeface="Arial"/>
            </a:endParaRPr>
          </a:p>
          <a:p>
            <a:pPr marL="474121" indent="-457189">
              <a:buAutoNum type="arabicPeriod"/>
              <a:tabLst>
                <a:tab pos="473275" algn="l"/>
                <a:tab pos="474121" algn="l"/>
              </a:tabLst>
            </a:pPr>
            <a:r>
              <a:rPr sz="1467" spc="-193" dirty="0">
                <a:latin typeface="Arial Black"/>
                <a:cs typeface="Arial Black"/>
              </a:rPr>
              <a:t>Assign </a:t>
            </a:r>
            <a:r>
              <a:rPr sz="1467" spc="-187" dirty="0">
                <a:latin typeface="Arial Black"/>
                <a:cs typeface="Arial Black"/>
              </a:rPr>
              <a:t>Role </a:t>
            </a:r>
            <a:r>
              <a:rPr sz="1467" spc="100" dirty="0">
                <a:latin typeface="Arial Black"/>
                <a:cs typeface="Arial Black"/>
              </a:rPr>
              <a:t>- </a:t>
            </a:r>
            <a:r>
              <a:rPr sz="1467" b="1" spc="-27" dirty="0">
                <a:latin typeface="Arial"/>
                <a:cs typeface="Arial"/>
              </a:rPr>
              <a:t>system:certificates.k8s.io:certificatesigningrequests:selfnodeclient </a:t>
            </a:r>
            <a:r>
              <a:rPr sz="1467" spc="-140" dirty="0">
                <a:latin typeface="Arial Black"/>
                <a:cs typeface="Arial Black"/>
              </a:rPr>
              <a:t>to </a:t>
            </a:r>
            <a:r>
              <a:rPr sz="1467" spc="-127" dirty="0">
                <a:latin typeface="Arial Black"/>
                <a:cs typeface="Arial Black"/>
              </a:rPr>
              <a:t>group</a:t>
            </a:r>
            <a:r>
              <a:rPr sz="1467" spc="-305" dirty="0">
                <a:latin typeface="Arial Black"/>
                <a:cs typeface="Arial Black"/>
              </a:rPr>
              <a:t> </a:t>
            </a:r>
            <a:r>
              <a:rPr sz="1467" b="1" spc="-47" dirty="0">
                <a:latin typeface="Arial"/>
                <a:cs typeface="Arial"/>
              </a:rPr>
              <a:t>system:nodes</a:t>
            </a:r>
            <a:endParaRPr sz="1467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796284" y="1722642"/>
            <a:ext cx="2197947" cy="294953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z="1800" spc="-227" dirty="0">
                <a:solidFill>
                  <a:srgbClr val="000000"/>
                </a:solidFill>
                <a:latin typeface="Arial Black"/>
                <a:cs typeface="Arial Black"/>
              </a:rPr>
              <a:t>system:bootstrappers</a:t>
            </a:r>
            <a:endParaRPr sz="1800">
              <a:latin typeface="Arial Black"/>
              <a:cs typeface="Arial Black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65645" y="2602652"/>
            <a:ext cx="2325793" cy="372533"/>
            <a:chOff x="1999233" y="1951989"/>
            <a:chExt cx="1744345" cy="279400"/>
          </a:xfrm>
        </p:grpSpPr>
        <p:sp>
          <p:nvSpPr>
            <p:cNvPr id="12" name="object 12"/>
            <p:cNvSpPr/>
            <p:nvPr/>
          </p:nvSpPr>
          <p:spPr>
            <a:xfrm>
              <a:off x="2005583" y="1958339"/>
              <a:ext cx="1731645" cy="266700"/>
            </a:xfrm>
            <a:custGeom>
              <a:avLst/>
              <a:gdLst/>
              <a:ahLst/>
              <a:cxnLst/>
              <a:rect l="l" t="t" r="r" b="b"/>
              <a:pathLst>
                <a:path w="1731645" h="266700">
                  <a:moveTo>
                    <a:pt x="1686814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8" y="239535"/>
                  </a:lnTo>
                  <a:lnTo>
                    <a:pt x="13033" y="253666"/>
                  </a:lnTo>
                  <a:lnTo>
                    <a:pt x="27164" y="263201"/>
                  </a:lnTo>
                  <a:lnTo>
                    <a:pt x="44450" y="266700"/>
                  </a:lnTo>
                  <a:lnTo>
                    <a:pt x="1686814" y="266700"/>
                  </a:lnTo>
                  <a:lnTo>
                    <a:pt x="1704099" y="263201"/>
                  </a:lnTo>
                  <a:lnTo>
                    <a:pt x="1718230" y="253666"/>
                  </a:lnTo>
                  <a:lnTo>
                    <a:pt x="1727765" y="239535"/>
                  </a:lnTo>
                  <a:lnTo>
                    <a:pt x="1731264" y="222250"/>
                  </a:lnTo>
                  <a:lnTo>
                    <a:pt x="1731264" y="44450"/>
                  </a:lnTo>
                  <a:lnTo>
                    <a:pt x="1727765" y="27164"/>
                  </a:lnTo>
                  <a:lnTo>
                    <a:pt x="1718230" y="13033"/>
                  </a:lnTo>
                  <a:lnTo>
                    <a:pt x="1704099" y="3498"/>
                  </a:lnTo>
                  <a:lnTo>
                    <a:pt x="16868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2005583" y="1958339"/>
              <a:ext cx="1731645" cy="266700"/>
            </a:xfrm>
            <a:custGeom>
              <a:avLst/>
              <a:gdLst/>
              <a:ahLst/>
              <a:cxnLst/>
              <a:rect l="l" t="t" r="r" b="b"/>
              <a:pathLst>
                <a:path w="1731645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686814" y="0"/>
                  </a:lnTo>
                  <a:lnTo>
                    <a:pt x="1704099" y="3498"/>
                  </a:lnTo>
                  <a:lnTo>
                    <a:pt x="1718230" y="13033"/>
                  </a:lnTo>
                  <a:lnTo>
                    <a:pt x="1727765" y="27164"/>
                  </a:lnTo>
                  <a:lnTo>
                    <a:pt x="1731264" y="44450"/>
                  </a:lnTo>
                  <a:lnTo>
                    <a:pt x="1731264" y="222250"/>
                  </a:lnTo>
                  <a:lnTo>
                    <a:pt x="1727765" y="239535"/>
                  </a:lnTo>
                  <a:lnTo>
                    <a:pt x="1718230" y="253666"/>
                  </a:lnTo>
                  <a:lnTo>
                    <a:pt x="1704099" y="263201"/>
                  </a:lnTo>
                  <a:lnTo>
                    <a:pt x="1686814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90929" y="2687591"/>
            <a:ext cx="2274993" cy="18216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70735">
              <a:spcBef>
                <a:spcPts val="140"/>
              </a:spcBef>
            </a:pPr>
            <a:r>
              <a:rPr sz="1067" b="1" spc="-13" dirty="0">
                <a:solidFill>
                  <a:srgbClr val="FFFFFF"/>
                </a:solidFill>
                <a:latin typeface="Arial"/>
                <a:cs typeface="Arial"/>
              </a:rPr>
              <a:t>system:node-bootstrapper</a:t>
            </a:r>
            <a:endParaRPr sz="1067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735439" y="2125303"/>
            <a:ext cx="4477172" cy="1484207"/>
            <a:chOff x="2051579" y="1593977"/>
            <a:chExt cx="3357879" cy="1113155"/>
          </a:xfrm>
        </p:grpSpPr>
        <p:sp>
          <p:nvSpPr>
            <p:cNvPr id="16" name="object 16"/>
            <p:cNvSpPr/>
            <p:nvPr/>
          </p:nvSpPr>
          <p:spPr>
            <a:xfrm>
              <a:off x="2051579" y="1984145"/>
              <a:ext cx="205390" cy="18436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871215" y="1597152"/>
              <a:ext cx="800100" cy="361950"/>
            </a:xfrm>
            <a:custGeom>
              <a:avLst/>
              <a:gdLst/>
              <a:ahLst/>
              <a:cxnLst/>
              <a:rect l="l" t="t" r="r" b="b"/>
              <a:pathLst>
                <a:path w="800100" h="361950">
                  <a:moveTo>
                    <a:pt x="800099" y="0"/>
                  </a:moveTo>
                  <a:lnTo>
                    <a:pt x="800099" y="180721"/>
                  </a:lnTo>
                  <a:lnTo>
                    <a:pt x="0" y="180721"/>
                  </a:lnTo>
                  <a:lnTo>
                    <a:pt x="0" y="361569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163823" y="2433827"/>
              <a:ext cx="2239010" cy="266700"/>
            </a:xfrm>
            <a:custGeom>
              <a:avLst/>
              <a:gdLst/>
              <a:ahLst/>
              <a:cxnLst/>
              <a:rect l="l" t="t" r="r" b="b"/>
              <a:pathLst>
                <a:path w="2239010" h="266700">
                  <a:moveTo>
                    <a:pt x="2194305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8" y="239535"/>
                  </a:lnTo>
                  <a:lnTo>
                    <a:pt x="13033" y="253666"/>
                  </a:lnTo>
                  <a:lnTo>
                    <a:pt x="27164" y="263201"/>
                  </a:lnTo>
                  <a:lnTo>
                    <a:pt x="44450" y="266700"/>
                  </a:lnTo>
                  <a:lnTo>
                    <a:pt x="2194305" y="266700"/>
                  </a:lnTo>
                  <a:lnTo>
                    <a:pt x="2211591" y="263201"/>
                  </a:lnTo>
                  <a:lnTo>
                    <a:pt x="2225722" y="253666"/>
                  </a:lnTo>
                  <a:lnTo>
                    <a:pt x="2235257" y="239535"/>
                  </a:lnTo>
                  <a:lnTo>
                    <a:pt x="2238755" y="222250"/>
                  </a:lnTo>
                  <a:lnTo>
                    <a:pt x="2238755" y="44450"/>
                  </a:lnTo>
                  <a:lnTo>
                    <a:pt x="2235257" y="27164"/>
                  </a:lnTo>
                  <a:lnTo>
                    <a:pt x="2225722" y="13033"/>
                  </a:lnTo>
                  <a:lnTo>
                    <a:pt x="2211591" y="3498"/>
                  </a:lnTo>
                  <a:lnTo>
                    <a:pt x="21943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63823" y="2433827"/>
              <a:ext cx="2239010" cy="266700"/>
            </a:xfrm>
            <a:custGeom>
              <a:avLst/>
              <a:gdLst/>
              <a:ahLst/>
              <a:cxnLst/>
              <a:rect l="l" t="t" r="r" b="b"/>
              <a:pathLst>
                <a:path w="2239010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2194305" y="0"/>
                  </a:lnTo>
                  <a:lnTo>
                    <a:pt x="2211591" y="3498"/>
                  </a:lnTo>
                  <a:lnTo>
                    <a:pt x="2225722" y="13033"/>
                  </a:lnTo>
                  <a:lnTo>
                    <a:pt x="2235257" y="27164"/>
                  </a:lnTo>
                  <a:lnTo>
                    <a:pt x="2238755" y="44450"/>
                  </a:lnTo>
                  <a:lnTo>
                    <a:pt x="2238755" y="222250"/>
                  </a:lnTo>
                  <a:lnTo>
                    <a:pt x="2235257" y="239535"/>
                  </a:lnTo>
                  <a:lnTo>
                    <a:pt x="2225722" y="253666"/>
                  </a:lnTo>
                  <a:lnTo>
                    <a:pt x="2211591" y="263201"/>
                  </a:lnTo>
                  <a:lnTo>
                    <a:pt x="2194305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35248" y="3321643"/>
            <a:ext cx="295148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9201">
              <a:spcBef>
                <a:spcPts val="133"/>
              </a:spcBef>
            </a:pPr>
            <a:r>
              <a:rPr sz="1067" b="1" spc="-20" dirty="0">
                <a:solidFill>
                  <a:srgbClr val="FFFFFF"/>
                </a:solidFill>
                <a:latin typeface="Arial"/>
                <a:cs typeface="Arial"/>
              </a:rPr>
              <a:t>certificatesigningrequests:nodeclient</a:t>
            </a:r>
            <a:endParaRPr sz="1067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79760" y="2125304"/>
            <a:ext cx="5521113" cy="2224193"/>
            <a:chOff x="3209819" y="1593977"/>
            <a:chExt cx="4140835" cy="1668145"/>
          </a:xfrm>
        </p:grpSpPr>
        <p:sp>
          <p:nvSpPr>
            <p:cNvPr id="22" name="object 22"/>
            <p:cNvSpPr/>
            <p:nvPr/>
          </p:nvSpPr>
          <p:spPr>
            <a:xfrm>
              <a:off x="3209819" y="2459633"/>
              <a:ext cx="205390" cy="18436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3671316" y="1597152"/>
              <a:ext cx="612140" cy="836930"/>
            </a:xfrm>
            <a:custGeom>
              <a:avLst/>
              <a:gdLst/>
              <a:ahLst/>
              <a:cxnLst/>
              <a:rect l="l" t="t" r="r" b="b"/>
              <a:pathLst>
                <a:path w="612139" h="836930">
                  <a:moveTo>
                    <a:pt x="0" y="0"/>
                  </a:moveTo>
                  <a:lnTo>
                    <a:pt x="0" y="183134"/>
                  </a:lnTo>
                  <a:lnTo>
                    <a:pt x="611759" y="183134"/>
                  </a:lnTo>
                  <a:lnTo>
                    <a:pt x="611759" y="836549"/>
                  </a:lnTo>
                </a:path>
              </a:pathLst>
            </a:custGeom>
            <a:ln w="609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6102096" y="1609344"/>
              <a:ext cx="7620" cy="1380490"/>
            </a:xfrm>
            <a:custGeom>
              <a:avLst/>
              <a:gdLst/>
              <a:ahLst/>
              <a:cxnLst/>
              <a:rect l="l" t="t" r="r" b="b"/>
              <a:pathLst>
                <a:path w="7620" h="1380489">
                  <a:moveTo>
                    <a:pt x="3809" y="-3048"/>
                  </a:moveTo>
                  <a:lnTo>
                    <a:pt x="3809" y="1383156"/>
                  </a:lnTo>
                </a:path>
              </a:pathLst>
            </a:custGeom>
            <a:ln w="137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876800" y="2988563"/>
              <a:ext cx="2467610" cy="266700"/>
            </a:xfrm>
            <a:custGeom>
              <a:avLst/>
              <a:gdLst/>
              <a:ahLst/>
              <a:cxnLst/>
              <a:rect l="l" t="t" r="r" b="b"/>
              <a:pathLst>
                <a:path w="2467609" h="266700">
                  <a:moveTo>
                    <a:pt x="2422905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8" y="239535"/>
                  </a:lnTo>
                  <a:lnTo>
                    <a:pt x="13033" y="253666"/>
                  </a:lnTo>
                  <a:lnTo>
                    <a:pt x="27164" y="263201"/>
                  </a:lnTo>
                  <a:lnTo>
                    <a:pt x="44450" y="266700"/>
                  </a:lnTo>
                  <a:lnTo>
                    <a:pt x="2422905" y="266700"/>
                  </a:lnTo>
                  <a:lnTo>
                    <a:pt x="2440191" y="263201"/>
                  </a:lnTo>
                  <a:lnTo>
                    <a:pt x="2454322" y="253666"/>
                  </a:lnTo>
                  <a:lnTo>
                    <a:pt x="2463857" y="239535"/>
                  </a:lnTo>
                  <a:lnTo>
                    <a:pt x="2467355" y="222250"/>
                  </a:lnTo>
                  <a:lnTo>
                    <a:pt x="2467355" y="44450"/>
                  </a:lnTo>
                  <a:lnTo>
                    <a:pt x="2463857" y="27164"/>
                  </a:lnTo>
                  <a:lnTo>
                    <a:pt x="2454322" y="13033"/>
                  </a:lnTo>
                  <a:lnTo>
                    <a:pt x="2440191" y="3498"/>
                  </a:lnTo>
                  <a:lnTo>
                    <a:pt x="24229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4876800" y="2988563"/>
              <a:ext cx="2467610" cy="266700"/>
            </a:xfrm>
            <a:custGeom>
              <a:avLst/>
              <a:gdLst/>
              <a:ahLst/>
              <a:cxnLst/>
              <a:rect l="l" t="t" r="r" b="b"/>
              <a:pathLst>
                <a:path w="2467609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2422905" y="0"/>
                  </a:lnTo>
                  <a:lnTo>
                    <a:pt x="2440191" y="3498"/>
                  </a:lnTo>
                  <a:lnTo>
                    <a:pt x="2454322" y="13033"/>
                  </a:lnTo>
                  <a:lnTo>
                    <a:pt x="2463857" y="27164"/>
                  </a:lnTo>
                  <a:lnTo>
                    <a:pt x="2467355" y="44450"/>
                  </a:lnTo>
                  <a:lnTo>
                    <a:pt x="2467355" y="222250"/>
                  </a:lnTo>
                  <a:lnTo>
                    <a:pt x="2463857" y="239535"/>
                  </a:lnTo>
                  <a:lnTo>
                    <a:pt x="2454322" y="253666"/>
                  </a:lnTo>
                  <a:lnTo>
                    <a:pt x="2440191" y="263201"/>
                  </a:lnTo>
                  <a:lnTo>
                    <a:pt x="2422905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130675" y="4062137"/>
            <a:ext cx="1507067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spc="-27" dirty="0">
                <a:solidFill>
                  <a:srgbClr val="FFFFFF"/>
                </a:solidFill>
                <a:latin typeface="Arial"/>
                <a:cs typeface="Arial"/>
              </a:rPr>
              <a:t>requests:selfnodeclient</a:t>
            </a:r>
            <a:endParaRPr sz="1067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375325" y="2602652"/>
            <a:ext cx="5461000" cy="1662853"/>
            <a:chOff x="1031494" y="1951989"/>
            <a:chExt cx="4095750" cy="1247140"/>
          </a:xfrm>
        </p:grpSpPr>
        <p:sp>
          <p:nvSpPr>
            <p:cNvPr id="29" name="object 29"/>
            <p:cNvSpPr/>
            <p:nvPr/>
          </p:nvSpPr>
          <p:spPr>
            <a:xfrm>
              <a:off x="4922695" y="3014369"/>
              <a:ext cx="204070" cy="18436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1037844" y="1958339"/>
              <a:ext cx="881380" cy="266700"/>
            </a:xfrm>
            <a:custGeom>
              <a:avLst/>
              <a:gdLst/>
              <a:ahLst/>
              <a:cxnLst/>
              <a:rect l="l" t="t" r="r" b="b"/>
              <a:pathLst>
                <a:path w="881380" h="266700">
                  <a:moveTo>
                    <a:pt x="836422" y="0"/>
                  </a:moveTo>
                  <a:lnTo>
                    <a:pt x="44450" y="0"/>
                  </a:lnTo>
                  <a:lnTo>
                    <a:pt x="27148" y="3498"/>
                  </a:lnTo>
                  <a:lnTo>
                    <a:pt x="13019" y="13033"/>
                  </a:lnTo>
                  <a:lnTo>
                    <a:pt x="3493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3" y="239535"/>
                  </a:lnTo>
                  <a:lnTo>
                    <a:pt x="13019" y="253666"/>
                  </a:lnTo>
                  <a:lnTo>
                    <a:pt x="27148" y="263201"/>
                  </a:lnTo>
                  <a:lnTo>
                    <a:pt x="44450" y="266700"/>
                  </a:lnTo>
                  <a:lnTo>
                    <a:pt x="836422" y="266700"/>
                  </a:lnTo>
                  <a:lnTo>
                    <a:pt x="853707" y="263201"/>
                  </a:lnTo>
                  <a:lnTo>
                    <a:pt x="867838" y="253666"/>
                  </a:lnTo>
                  <a:lnTo>
                    <a:pt x="877373" y="239535"/>
                  </a:lnTo>
                  <a:lnTo>
                    <a:pt x="880872" y="222250"/>
                  </a:lnTo>
                  <a:lnTo>
                    <a:pt x="880872" y="44450"/>
                  </a:lnTo>
                  <a:lnTo>
                    <a:pt x="877373" y="27164"/>
                  </a:lnTo>
                  <a:lnTo>
                    <a:pt x="867838" y="13033"/>
                  </a:lnTo>
                  <a:lnTo>
                    <a:pt x="853707" y="3498"/>
                  </a:lnTo>
                  <a:lnTo>
                    <a:pt x="8364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1037844" y="1958339"/>
              <a:ext cx="881380" cy="266700"/>
            </a:xfrm>
            <a:custGeom>
              <a:avLst/>
              <a:gdLst/>
              <a:ahLst/>
              <a:cxnLst/>
              <a:rect l="l" t="t" r="r" b="b"/>
              <a:pathLst>
                <a:path w="881380" h="266700">
                  <a:moveTo>
                    <a:pt x="0" y="44450"/>
                  </a:move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836422" y="0"/>
                  </a:lnTo>
                  <a:lnTo>
                    <a:pt x="853707" y="3498"/>
                  </a:lnTo>
                  <a:lnTo>
                    <a:pt x="867838" y="13033"/>
                  </a:lnTo>
                  <a:lnTo>
                    <a:pt x="877373" y="27164"/>
                  </a:lnTo>
                  <a:lnTo>
                    <a:pt x="880872" y="44450"/>
                  </a:lnTo>
                  <a:lnTo>
                    <a:pt x="880872" y="222250"/>
                  </a:lnTo>
                  <a:lnTo>
                    <a:pt x="877373" y="239535"/>
                  </a:lnTo>
                  <a:lnTo>
                    <a:pt x="867838" y="253666"/>
                  </a:lnTo>
                  <a:lnTo>
                    <a:pt x="853707" y="263201"/>
                  </a:lnTo>
                  <a:lnTo>
                    <a:pt x="836422" y="266700"/>
                  </a:lnTo>
                  <a:lnTo>
                    <a:pt x="44450" y="266700"/>
                  </a:lnTo>
                  <a:lnTo>
                    <a:pt x="27148" y="263201"/>
                  </a:lnTo>
                  <a:lnTo>
                    <a:pt x="13019" y="253666"/>
                  </a:lnTo>
                  <a:lnTo>
                    <a:pt x="3493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550144" y="2687998"/>
            <a:ext cx="84328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spc="-7" dirty="0">
                <a:latin typeface="Arial"/>
                <a:cs typeface="Arial"/>
              </a:rPr>
              <a:t>Submit</a:t>
            </a:r>
            <a:r>
              <a:rPr sz="1067" b="1" spc="-67" dirty="0">
                <a:latin typeface="Arial"/>
                <a:cs typeface="Arial"/>
              </a:rPr>
              <a:t> </a:t>
            </a:r>
            <a:r>
              <a:rPr sz="1067" b="1" spc="-120" dirty="0">
                <a:latin typeface="Arial"/>
                <a:cs typeface="Arial"/>
              </a:rPr>
              <a:t>CSR?</a:t>
            </a:r>
            <a:endParaRPr sz="1067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718476" y="3222414"/>
            <a:ext cx="1419013" cy="372533"/>
            <a:chOff x="2038857" y="2416810"/>
            <a:chExt cx="1064260" cy="279400"/>
          </a:xfrm>
        </p:grpSpPr>
        <p:sp>
          <p:nvSpPr>
            <p:cNvPr id="34" name="object 34"/>
            <p:cNvSpPr/>
            <p:nvPr/>
          </p:nvSpPr>
          <p:spPr>
            <a:xfrm>
              <a:off x="2045207" y="2423160"/>
              <a:ext cx="1051560" cy="266700"/>
            </a:xfrm>
            <a:custGeom>
              <a:avLst/>
              <a:gdLst/>
              <a:ahLst/>
              <a:cxnLst/>
              <a:rect l="l" t="t" r="r" b="b"/>
              <a:pathLst>
                <a:path w="1051560" h="266700">
                  <a:moveTo>
                    <a:pt x="1007110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8" y="239535"/>
                  </a:lnTo>
                  <a:lnTo>
                    <a:pt x="13033" y="253666"/>
                  </a:lnTo>
                  <a:lnTo>
                    <a:pt x="27164" y="263201"/>
                  </a:lnTo>
                  <a:lnTo>
                    <a:pt x="44450" y="266700"/>
                  </a:lnTo>
                  <a:lnTo>
                    <a:pt x="1007110" y="266700"/>
                  </a:lnTo>
                  <a:lnTo>
                    <a:pt x="1024395" y="263201"/>
                  </a:lnTo>
                  <a:lnTo>
                    <a:pt x="1038526" y="253666"/>
                  </a:lnTo>
                  <a:lnTo>
                    <a:pt x="1048061" y="239535"/>
                  </a:lnTo>
                  <a:lnTo>
                    <a:pt x="1051560" y="222250"/>
                  </a:lnTo>
                  <a:lnTo>
                    <a:pt x="1051560" y="44450"/>
                  </a:lnTo>
                  <a:lnTo>
                    <a:pt x="1048061" y="27164"/>
                  </a:lnTo>
                  <a:lnTo>
                    <a:pt x="1038526" y="13033"/>
                  </a:lnTo>
                  <a:lnTo>
                    <a:pt x="1024395" y="3498"/>
                  </a:lnTo>
                  <a:lnTo>
                    <a:pt x="10071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2045207" y="2423160"/>
              <a:ext cx="1051560" cy="266700"/>
            </a:xfrm>
            <a:custGeom>
              <a:avLst/>
              <a:gdLst/>
              <a:ahLst/>
              <a:cxnLst/>
              <a:rect l="l" t="t" r="r" b="b"/>
              <a:pathLst>
                <a:path w="1051560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07110" y="0"/>
                  </a:lnTo>
                  <a:lnTo>
                    <a:pt x="1024395" y="3498"/>
                  </a:lnTo>
                  <a:lnTo>
                    <a:pt x="1038526" y="13033"/>
                  </a:lnTo>
                  <a:lnTo>
                    <a:pt x="1048061" y="27164"/>
                  </a:lnTo>
                  <a:lnTo>
                    <a:pt x="1051560" y="44450"/>
                  </a:lnTo>
                  <a:lnTo>
                    <a:pt x="1051560" y="222250"/>
                  </a:lnTo>
                  <a:lnTo>
                    <a:pt x="1048061" y="239535"/>
                  </a:lnTo>
                  <a:lnTo>
                    <a:pt x="1038526" y="253666"/>
                  </a:lnTo>
                  <a:lnTo>
                    <a:pt x="1024395" y="263201"/>
                  </a:lnTo>
                  <a:lnTo>
                    <a:pt x="1007110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786888" y="3307758"/>
            <a:ext cx="1281853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b="1" spc="7" dirty="0">
                <a:latin typeface="Arial"/>
                <a:cs typeface="Arial"/>
              </a:rPr>
              <a:t>Auto </a:t>
            </a:r>
            <a:r>
              <a:rPr sz="1067" b="1" spc="-7" dirty="0">
                <a:latin typeface="Arial"/>
                <a:cs typeface="Arial"/>
              </a:rPr>
              <a:t>Approve</a:t>
            </a:r>
            <a:r>
              <a:rPr sz="1067" b="1" spc="-113" dirty="0">
                <a:latin typeface="Arial"/>
                <a:cs typeface="Arial"/>
              </a:rPr>
              <a:t> </a:t>
            </a:r>
            <a:r>
              <a:rPr sz="1067" b="1" spc="-120" dirty="0">
                <a:latin typeface="Arial"/>
                <a:cs typeface="Arial"/>
              </a:rPr>
              <a:t>CSR?</a:t>
            </a:r>
            <a:endParaRPr sz="1067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11361" y="4068302"/>
            <a:ext cx="3437467" cy="175327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>
              <a:spcBef>
                <a:spcPts val="87"/>
              </a:spcBef>
              <a:tabLst>
                <a:tab pos="2326582" algn="l"/>
              </a:tabLst>
            </a:pPr>
            <a:r>
              <a:rPr sz="1067" b="1" spc="-20" dirty="0">
                <a:latin typeface="Arial"/>
                <a:cs typeface="Arial"/>
              </a:rPr>
              <a:t>A</a:t>
            </a:r>
            <a:r>
              <a:rPr sz="1067" b="1" spc="-13" dirty="0">
                <a:latin typeface="Arial"/>
                <a:cs typeface="Arial"/>
              </a:rPr>
              <a:t>u</a:t>
            </a:r>
            <a:r>
              <a:rPr sz="1067" b="1" spc="13" dirty="0">
                <a:latin typeface="Arial"/>
                <a:cs typeface="Arial"/>
              </a:rPr>
              <a:t>t</a:t>
            </a:r>
            <a:r>
              <a:rPr sz="1067" b="1" spc="40" dirty="0">
                <a:latin typeface="Arial"/>
                <a:cs typeface="Arial"/>
              </a:rPr>
              <a:t>o</a:t>
            </a:r>
            <a:r>
              <a:rPr sz="1067" b="1" spc="-13" dirty="0">
                <a:latin typeface="Arial"/>
                <a:cs typeface="Arial"/>
              </a:rPr>
              <a:t> </a:t>
            </a:r>
            <a:r>
              <a:rPr sz="1067" b="1" spc="-73" dirty="0">
                <a:latin typeface="Arial"/>
                <a:cs typeface="Arial"/>
              </a:rPr>
              <a:t>R</a:t>
            </a:r>
            <a:r>
              <a:rPr sz="1067" b="1" spc="-20" dirty="0">
                <a:latin typeface="Arial"/>
                <a:cs typeface="Arial"/>
              </a:rPr>
              <a:t>e</a:t>
            </a:r>
            <a:r>
              <a:rPr sz="1067" b="1" spc="-7" dirty="0">
                <a:latin typeface="Arial"/>
                <a:cs typeface="Arial"/>
              </a:rPr>
              <a:t>n</a:t>
            </a:r>
            <a:r>
              <a:rPr sz="1067" b="1" spc="-20" dirty="0">
                <a:latin typeface="Arial"/>
                <a:cs typeface="Arial"/>
              </a:rPr>
              <a:t>e</a:t>
            </a:r>
            <a:r>
              <a:rPr sz="1067" b="1" spc="20" dirty="0">
                <a:latin typeface="Arial"/>
                <a:cs typeface="Arial"/>
              </a:rPr>
              <a:t>w</a:t>
            </a:r>
            <a:r>
              <a:rPr sz="1067" b="1" dirty="0">
                <a:latin typeface="Arial"/>
                <a:cs typeface="Arial"/>
              </a:rPr>
              <a:t> </a:t>
            </a:r>
            <a:r>
              <a:rPr sz="1067" b="1" spc="-113" dirty="0">
                <a:latin typeface="Arial"/>
                <a:cs typeface="Arial"/>
              </a:rPr>
              <a:t>C</a:t>
            </a:r>
            <a:r>
              <a:rPr sz="1067" b="1" spc="-100" dirty="0">
                <a:latin typeface="Arial"/>
                <a:cs typeface="Arial"/>
              </a:rPr>
              <a:t>S</a:t>
            </a:r>
            <a:r>
              <a:rPr sz="1067" b="1" spc="-73" dirty="0">
                <a:latin typeface="Arial"/>
                <a:cs typeface="Arial"/>
              </a:rPr>
              <a:t>R</a:t>
            </a:r>
            <a:r>
              <a:rPr sz="1067" b="1" spc="-187" dirty="0">
                <a:latin typeface="Arial"/>
                <a:cs typeface="Arial"/>
              </a:rPr>
              <a:t>?</a:t>
            </a:r>
            <a:r>
              <a:rPr sz="1067" b="1" dirty="0">
                <a:latin typeface="Arial"/>
                <a:cs typeface="Arial"/>
              </a:rPr>
              <a:t>	</a:t>
            </a:r>
            <a:r>
              <a:rPr sz="1067" b="1" spc="-47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067" b="1" spc="-53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067" b="1" spc="7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067" b="1" spc="33" dirty="0">
                <a:solidFill>
                  <a:srgbClr val="FFFFFF"/>
                </a:solidFill>
                <a:latin typeface="Arial"/>
                <a:cs typeface="Arial"/>
              </a:rPr>
              <a:t>ti</a:t>
            </a:r>
            <a:r>
              <a:rPr sz="1067" b="1" spc="4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067" b="1" spc="-40" dirty="0">
                <a:solidFill>
                  <a:srgbClr val="FFFFFF"/>
                </a:solidFill>
                <a:latin typeface="Arial"/>
                <a:cs typeface="Arial"/>
              </a:rPr>
              <a:t>ica</a:t>
            </a:r>
            <a:r>
              <a:rPr sz="1067" b="1" spc="13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1067" b="1" spc="-14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067" b="1" spc="-7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067" b="1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1067" b="1" spc="-7" dirty="0">
                <a:solidFill>
                  <a:srgbClr val="FFFFFF"/>
                </a:solidFill>
                <a:latin typeface="Arial"/>
                <a:cs typeface="Arial"/>
              </a:rPr>
              <a:t>ni</a:t>
            </a:r>
            <a:r>
              <a:rPr sz="1067" b="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067" b="1" spc="7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067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87917" y="3976286"/>
            <a:ext cx="1376680" cy="372533"/>
            <a:chOff x="3440938" y="2982214"/>
            <a:chExt cx="1032510" cy="279400"/>
          </a:xfrm>
        </p:grpSpPr>
        <p:sp>
          <p:nvSpPr>
            <p:cNvPr id="39" name="object 39"/>
            <p:cNvSpPr/>
            <p:nvPr/>
          </p:nvSpPr>
          <p:spPr>
            <a:xfrm>
              <a:off x="3447288" y="2988564"/>
              <a:ext cx="1019810" cy="266700"/>
            </a:xfrm>
            <a:custGeom>
              <a:avLst/>
              <a:gdLst/>
              <a:ahLst/>
              <a:cxnLst/>
              <a:rect l="l" t="t" r="r" b="b"/>
              <a:pathLst>
                <a:path w="1019810" h="266700">
                  <a:moveTo>
                    <a:pt x="975106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8" y="239535"/>
                  </a:lnTo>
                  <a:lnTo>
                    <a:pt x="13033" y="253666"/>
                  </a:lnTo>
                  <a:lnTo>
                    <a:pt x="27164" y="263201"/>
                  </a:lnTo>
                  <a:lnTo>
                    <a:pt x="44450" y="266700"/>
                  </a:lnTo>
                  <a:lnTo>
                    <a:pt x="975106" y="266700"/>
                  </a:lnTo>
                  <a:lnTo>
                    <a:pt x="992391" y="263201"/>
                  </a:lnTo>
                  <a:lnTo>
                    <a:pt x="1006522" y="253666"/>
                  </a:lnTo>
                  <a:lnTo>
                    <a:pt x="1016057" y="239535"/>
                  </a:lnTo>
                  <a:lnTo>
                    <a:pt x="1019556" y="222250"/>
                  </a:lnTo>
                  <a:lnTo>
                    <a:pt x="1019556" y="44450"/>
                  </a:lnTo>
                  <a:lnTo>
                    <a:pt x="1016057" y="27164"/>
                  </a:lnTo>
                  <a:lnTo>
                    <a:pt x="1006522" y="13033"/>
                  </a:lnTo>
                  <a:lnTo>
                    <a:pt x="992391" y="3498"/>
                  </a:lnTo>
                  <a:lnTo>
                    <a:pt x="9751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3447288" y="2988564"/>
              <a:ext cx="1019810" cy="266700"/>
            </a:xfrm>
            <a:custGeom>
              <a:avLst/>
              <a:gdLst/>
              <a:ahLst/>
              <a:cxnLst/>
              <a:rect l="l" t="t" r="r" b="b"/>
              <a:pathLst>
                <a:path w="1019810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975106" y="0"/>
                  </a:lnTo>
                  <a:lnTo>
                    <a:pt x="992391" y="3498"/>
                  </a:lnTo>
                  <a:lnTo>
                    <a:pt x="1006522" y="13033"/>
                  </a:lnTo>
                  <a:lnTo>
                    <a:pt x="1016057" y="27164"/>
                  </a:lnTo>
                  <a:lnTo>
                    <a:pt x="1019556" y="44450"/>
                  </a:lnTo>
                  <a:lnTo>
                    <a:pt x="1019556" y="222250"/>
                  </a:lnTo>
                  <a:lnTo>
                    <a:pt x="1016057" y="239535"/>
                  </a:lnTo>
                  <a:lnTo>
                    <a:pt x="1006522" y="253666"/>
                  </a:lnTo>
                  <a:lnTo>
                    <a:pt x="992391" y="263201"/>
                  </a:lnTo>
                  <a:lnTo>
                    <a:pt x="975106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272287" y="3816062"/>
            <a:ext cx="7967980" cy="722207"/>
            <a:chOff x="204215" y="2862046"/>
            <a:chExt cx="5975985" cy="541655"/>
          </a:xfrm>
        </p:grpSpPr>
        <p:sp>
          <p:nvSpPr>
            <p:cNvPr id="42" name="object 42"/>
            <p:cNvSpPr/>
            <p:nvPr/>
          </p:nvSpPr>
          <p:spPr>
            <a:xfrm>
              <a:off x="204215" y="2877299"/>
              <a:ext cx="5975604" cy="4511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396239" y="2862046"/>
              <a:ext cx="2025395" cy="54104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263651" y="2916936"/>
              <a:ext cx="5861685" cy="317500"/>
            </a:xfrm>
            <a:custGeom>
              <a:avLst/>
              <a:gdLst/>
              <a:ahLst/>
              <a:cxnLst/>
              <a:rect l="l" t="t" r="r" b="b"/>
              <a:pathLst>
                <a:path w="5861685" h="317500">
                  <a:moveTo>
                    <a:pt x="0" y="316991"/>
                  </a:moveTo>
                  <a:lnTo>
                    <a:pt x="5861304" y="316991"/>
                  </a:lnTo>
                  <a:lnTo>
                    <a:pt x="5861304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53601" y="3921930"/>
            <a:ext cx="2258060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spc="193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2133" spc="173" dirty="0">
                <a:solidFill>
                  <a:srgbClr val="D9D9D9"/>
                </a:solidFill>
                <a:latin typeface="Arial"/>
                <a:cs typeface="Arial"/>
              </a:rPr>
              <a:t>get</a:t>
            </a:r>
            <a:r>
              <a:rPr sz="2133" spc="7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2133" spc="213" dirty="0">
                <a:solidFill>
                  <a:srgbClr val="D9D9D9"/>
                </a:solidFill>
                <a:latin typeface="Arial"/>
                <a:cs typeface="Arial"/>
              </a:rPr>
              <a:t>csr</a:t>
            </a:r>
            <a:endParaRPr sz="2133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43070" y="3905553"/>
            <a:ext cx="11857567" cy="1031240"/>
            <a:chOff x="257302" y="2929165"/>
            <a:chExt cx="8893175" cy="773430"/>
          </a:xfrm>
        </p:grpSpPr>
        <p:sp>
          <p:nvSpPr>
            <p:cNvPr id="47" name="object 47"/>
            <p:cNvSpPr/>
            <p:nvPr/>
          </p:nvSpPr>
          <p:spPr>
            <a:xfrm>
              <a:off x="282264" y="2929165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263652" y="3233928"/>
              <a:ext cx="8880475" cy="462280"/>
            </a:xfrm>
            <a:custGeom>
              <a:avLst/>
              <a:gdLst/>
              <a:ahLst/>
              <a:cxnLst/>
              <a:rect l="l" t="t" r="r" b="b"/>
              <a:pathLst>
                <a:path w="8880475" h="462279">
                  <a:moveTo>
                    <a:pt x="8880348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8880348" y="461772"/>
                  </a:lnTo>
                  <a:lnTo>
                    <a:pt x="8880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263652" y="3233928"/>
              <a:ext cx="8880475" cy="462280"/>
            </a:xfrm>
            <a:custGeom>
              <a:avLst/>
              <a:gdLst/>
              <a:ahLst/>
              <a:cxnLst/>
              <a:rect l="l" t="t" r="r" b="b"/>
              <a:pathLst>
                <a:path w="8880475" h="462279">
                  <a:moveTo>
                    <a:pt x="0" y="461772"/>
                  </a:moveTo>
                  <a:lnTo>
                    <a:pt x="8880348" y="461772"/>
                  </a:lnTo>
                  <a:lnTo>
                    <a:pt x="8880348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56929" y="4345431"/>
            <a:ext cx="58665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280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  <a:p>
            <a:pPr marL="16933"/>
            <a:r>
              <a:rPr sz="1600" spc="-7" dirty="0">
                <a:solidFill>
                  <a:srgbClr val="FFFFFF"/>
                </a:solidFill>
                <a:latin typeface="Arial"/>
                <a:cs typeface="Arial"/>
              </a:rPr>
              <a:t>node-csr-VnzfkE6WdOMOna_S7jIuMTtQzu1-utgAA5gbk3dooUY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25833" y="4345431"/>
            <a:ext cx="530860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689169" algn="l"/>
                <a:tab pos="3604170" algn="l"/>
              </a:tabLst>
            </a:pPr>
            <a:r>
              <a:rPr sz="1600" spc="-247" dirty="0">
                <a:solidFill>
                  <a:srgbClr val="FFFFFF"/>
                </a:solidFill>
                <a:latin typeface="Arial"/>
                <a:cs typeface="Arial"/>
              </a:rPr>
              <a:t>AGE	REQUESTOR	</a:t>
            </a:r>
            <a:r>
              <a:rPr sz="1600" spc="-120" dirty="0">
                <a:solidFill>
                  <a:srgbClr val="FFFFFF"/>
                </a:solidFill>
                <a:latin typeface="Arial"/>
                <a:cs typeface="Arial"/>
              </a:rPr>
              <a:t>CONDITION</a:t>
            </a:r>
            <a:endParaRPr sz="1600">
              <a:latin typeface="Arial"/>
              <a:cs typeface="Arial"/>
            </a:endParaRPr>
          </a:p>
          <a:p>
            <a:pPr marL="18626">
              <a:tabLst>
                <a:tab pos="690861" algn="l"/>
                <a:tab pos="3608403" algn="l"/>
              </a:tabLst>
            </a:pPr>
            <a:r>
              <a:rPr sz="1600" spc="-160" dirty="0">
                <a:solidFill>
                  <a:srgbClr val="FFFFFF"/>
                </a:solidFill>
                <a:latin typeface="Arial"/>
                <a:cs typeface="Arial"/>
              </a:rPr>
              <a:t>13m	</a:t>
            </a:r>
            <a:r>
              <a:rPr sz="1600" spc="120" dirty="0">
                <a:solidFill>
                  <a:srgbClr val="FFFFFF"/>
                </a:solidFill>
                <a:latin typeface="Arial"/>
                <a:cs typeface="Arial"/>
              </a:rPr>
              <a:t>syst</a:t>
            </a:r>
            <a:r>
              <a:rPr sz="1600" spc="167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spc="-13" dirty="0">
                <a:solidFill>
                  <a:srgbClr val="FFFFFF"/>
                </a:solidFill>
                <a:latin typeface="Arial"/>
                <a:cs typeface="Arial"/>
              </a:rPr>
              <a:t>m:b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600" spc="28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600" spc="152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600" spc="167" dirty="0">
                <a:solidFill>
                  <a:srgbClr val="FFFFFF"/>
                </a:solidFill>
                <a:latin typeface="Arial"/>
                <a:cs typeface="Arial"/>
              </a:rPr>
              <a:t>strap:</a:t>
            </a:r>
            <a:r>
              <a:rPr sz="1600" spc="24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600" spc="-13" dirty="0">
                <a:solidFill>
                  <a:srgbClr val="FFFFFF"/>
                </a:solidFill>
                <a:latin typeface="Arial"/>
                <a:cs typeface="Arial"/>
              </a:rPr>
              <a:t>7401b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600" spc="-18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spc="-13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600" spc="187" dirty="0">
                <a:solidFill>
                  <a:srgbClr val="FFFFFF"/>
                </a:solidFill>
                <a:latin typeface="Arial"/>
                <a:cs typeface="Arial"/>
              </a:rPr>
              <a:t>roved,</a:t>
            </a:r>
            <a:r>
              <a:rPr sz="1600" spc="127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600" spc="20" dirty="0">
                <a:solidFill>
                  <a:srgbClr val="FFFFFF"/>
                </a:solidFill>
                <a:latin typeface="Arial"/>
                <a:cs typeface="Arial"/>
              </a:rPr>
              <a:t>ssued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644639" y="977392"/>
            <a:ext cx="2983653" cy="1168400"/>
          </a:xfrm>
          <a:custGeom>
            <a:avLst/>
            <a:gdLst/>
            <a:ahLst/>
            <a:cxnLst/>
            <a:rect l="l" t="t" r="r" b="b"/>
            <a:pathLst>
              <a:path w="2237740" h="876300">
                <a:moveTo>
                  <a:pt x="0" y="146050"/>
                </a:moveTo>
                <a:lnTo>
                  <a:pt x="7447" y="99893"/>
                </a:lnTo>
                <a:lnTo>
                  <a:pt x="28183" y="59801"/>
                </a:lnTo>
                <a:lnTo>
                  <a:pt x="59801" y="28183"/>
                </a:lnTo>
                <a:lnTo>
                  <a:pt x="99893" y="7447"/>
                </a:lnTo>
                <a:lnTo>
                  <a:pt x="146050" y="0"/>
                </a:lnTo>
                <a:lnTo>
                  <a:pt x="2091181" y="0"/>
                </a:lnTo>
                <a:lnTo>
                  <a:pt x="2137338" y="7447"/>
                </a:lnTo>
                <a:lnTo>
                  <a:pt x="2177430" y="28183"/>
                </a:lnTo>
                <a:lnTo>
                  <a:pt x="2209048" y="59801"/>
                </a:lnTo>
                <a:lnTo>
                  <a:pt x="2229784" y="99893"/>
                </a:lnTo>
                <a:lnTo>
                  <a:pt x="2237231" y="146050"/>
                </a:lnTo>
                <a:lnTo>
                  <a:pt x="2237231" y="730250"/>
                </a:lnTo>
                <a:lnTo>
                  <a:pt x="2229784" y="776406"/>
                </a:lnTo>
                <a:lnTo>
                  <a:pt x="2209048" y="816498"/>
                </a:lnTo>
                <a:lnTo>
                  <a:pt x="2177430" y="848116"/>
                </a:lnTo>
                <a:lnTo>
                  <a:pt x="2137338" y="868852"/>
                </a:lnTo>
                <a:lnTo>
                  <a:pt x="2091181" y="876300"/>
                </a:lnTo>
                <a:lnTo>
                  <a:pt x="146050" y="876300"/>
                </a:lnTo>
                <a:lnTo>
                  <a:pt x="99893" y="868852"/>
                </a:lnTo>
                <a:lnTo>
                  <a:pt x="59801" y="848116"/>
                </a:lnTo>
                <a:lnTo>
                  <a:pt x="28183" y="816498"/>
                </a:lnTo>
                <a:lnTo>
                  <a:pt x="7447" y="776406"/>
                </a:lnTo>
                <a:lnTo>
                  <a:pt x="0" y="730250"/>
                </a:lnTo>
                <a:lnTo>
                  <a:pt x="0" y="14605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3" name="object 53"/>
          <p:cNvSpPr txBox="1"/>
          <p:nvPr/>
        </p:nvSpPr>
        <p:spPr>
          <a:xfrm>
            <a:off x="7438136" y="1730588"/>
            <a:ext cx="139869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247" dirty="0">
                <a:latin typeface="Arial Black"/>
                <a:cs typeface="Arial Black"/>
              </a:rPr>
              <a:t>system:nodes</a:t>
            </a:r>
            <a:endParaRPr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490199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89464" y="671575"/>
            <a:ext cx="1253913" cy="2245360"/>
          </a:xfrm>
          <a:custGeom>
            <a:avLst/>
            <a:gdLst/>
            <a:ahLst/>
            <a:cxnLst/>
            <a:rect l="l" t="t" r="r" b="b"/>
            <a:pathLst>
              <a:path w="940434" h="1684020">
                <a:moveTo>
                  <a:pt x="0" y="156717"/>
                </a:moveTo>
                <a:lnTo>
                  <a:pt x="7983" y="107159"/>
                </a:lnTo>
                <a:lnTo>
                  <a:pt x="30219" y="64136"/>
                </a:lnTo>
                <a:lnTo>
                  <a:pt x="64136" y="30219"/>
                </a:lnTo>
                <a:lnTo>
                  <a:pt x="107159" y="7983"/>
                </a:lnTo>
                <a:lnTo>
                  <a:pt x="156718" y="0"/>
                </a:lnTo>
                <a:lnTo>
                  <a:pt x="783590" y="0"/>
                </a:lnTo>
                <a:lnTo>
                  <a:pt x="833148" y="7983"/>
                </a:lnTo>
                <a:lnTo>
                  <a:pt x="876171" y="30219"/>
                </a:lnTo>
                <a:lnTo>
                  <a:pt x="910088" y="64136"/>
                </a:lnTo>
                <a:lnTo>
                  <a:pt x="932324" y="107159"/>
                </a:lnTo>
                <a:lnTo>
                  <a:pt x="940307" y="156717"/>
                </a:lnTo>
                <a:lnTo>
                  <a:pt x="940307" y="1527301"/>
                </a:lnTo>
                <a:lnTo>
                  <a:pt x="932324" y="1576860"/>
                </a:lnTo>
                <a:lnTo>
                  <a:pt x="910088" y="1619883"/>
                </a:lnTo>
                <a:lnTo>
                  <a:pt x="876171" y="1653800"/>
                </a:lnTo>
                <a:lnTo>
                  <a:pt x="833148" y="1676036"/>
                </a:lnTo>
                <a:lnTo>
                  <a:pt x="783590" y="1684019"/>
                </a:lnTo>
                <a:lnTo>
                  <a:pt x="156718" y="1684019"/>
                </a:lnTo>
                <a:lnTo>
                  <a:pt x="107159" y="1676036"/>
                </a:lnTo>
                <a:lnTo>
                  <a:pt x="64136" y="1653800"/>
                </a:lnTo>
                <a:lnTo>
                  <a:pt x="30219" y="1619883"/>
                </a:lnTo>
                <a:lnTo>
                  <a:pt x="7983" y="1576860"/>
                </a:lnTo>
                <a:lnTo>
                  <a:pt x="0" y="1527301"/>
                </a:lnTo>
                <a:lnTo>
                  <a:pt x="0" y="156717"/>
                </a:lnTo>
                <a:close/>
              </a:path>
            </a:pathLst>
          </a:custGeom>
          <a:ln w="19812">
            <a:solidFill>
              <a:srgbClr val="1780C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690859" y="1633051"/>
            <a:ext cx="2489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13" dirty="0">
                <a:solidFill>
                  <a:srgbClr val="1780C3"/>
                </a:solidFill>
                <a:latin typeface="Arial Black"/>
                <a:cs typeface="Arial Black"/>
              </a:rPr>
              <a:t>W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93325" y="2121407"/>
            <a:ext cx="6182360" cy="4745567"/>
            <a:chOff x="4269994" y="1591055"/>
            <a:chExt cx="4636770" cy="3559175"/>
          </a:xfrm>
        </p:grpSpPr>
        <p:sp>
          <p:nvSpPr>
            <p:cNvPr id="5" name="object 5"/>
            <p:cNvSpPr/>
            <p:nvPr/>
          </p:nvSpPr>
          <p:spPr>
            <a:xfrm>
              <a:off x="8042147" y="1591055"/>
              <a:ext cx="138683" cy="1386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4276344" y="3523487"/>
              <a:ext cx="4624070" cy="1620520"/>
            </a:xfrm>
            <a:custGeom>
              <a:avLst/>
              <a:gdLst/>
              <a:ahLst/>
              <a:cxnLst/>
              <a:rect l="l" t="t" r="r" b="b"/>
              <a:pathLst>
                <a:path w="4624070" h="1620520">
                  <a:moveTo>
                    <a:pt x="4623815" y="1620010"/>
                  </a:moveTo>
                  <a:lnTo>
                    <a:pt x="4623815" y="0"/>
                  </a:lnTo>
                  <a:lnTo>
                    <a:pt x="0" y="0"/>
                  </a:lnTo>
                  <a:lnTo>
                    <a:pt x="0" y="162001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25404" y="4795401"/>
            <a:ext cx="5310293" cy="1807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3"/>
              </a:lnSpc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ExecStart=/usr/local/bin/kubelet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52" dirty="0">
                <a:solidFill>
                  <a:srgbClr val="FFFFFF"/>
                </a:solidFill>
                <a:latin typeface="Arial"/>
                <a:cs typeface="Arial"/>
              </a:rPr>
              <a:t>--config=/var/lib/kubelet/kubelet-config.yaml</a:t>
            </a:r>
            <a:r>
              <a:rPr sz="1333" spc="3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93" dirty="0">
                <a:solidFill>
                  <a:srgbClr val="FFFFFF"/>
                </a:solidFill>
                <a:latin typeface="Arial"/>
                <a:cs typeface="Arial"/>
              </a:rPr>
              <a:t>--image-pull-progress-deadline=2m</a:t>
            </a:r>
            <a:r>
              <a:rPr sz="1333" spc="3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--kubeconfig=/var/lib/kubelet/kubeconfig</a:t>
            </a:r>
            <a:r>
              <a:rPr sz="1333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93" dirty="0">
                <a:solidFill>
                  <a:srgbClr val="FFFFFF"/>
                </a:solidFill>
                <a:latin typeface="Arial"/>
                <a:cs typeface="Arial"/>
              </a:rPr>
              <a:t>--tls-cert-file=/var/lib/kubelet/worker-1.crt</a:t>
            </a:r>
            <a:r>
              <a:rPr sz="1333" spc="3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73" dirty="0">
                <a:solidFill>
                  <a:srgbClr val="FFFFFF"/>
                </a:solidFill>
                <a:latin typeface="Arial"/>
                <a:cs typeface="Arial"/>
              </a:rPr>
              <a:t>--tls-private-key-file=/var/lib/kubelet/worker-1.key</a:t>
            </a:r>
            <a:r>
              <a:rPr sz="1333" spc="40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27" dirty="0">
                <a:solidFill>
                  <a:srgbClr val="FFFFFF"/>
                </a:solidFill>
                <a:latin typeface="Arial"/>
                <a:cs typeface="Arial"/>
              </a:rPr>
              <a:t>--network-plugin=cni</a:t>
            </a:r>
            <a:r>
              <a:rPr sz="1333" spc="2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33" dirty="0">
                <a:solidFill>
                  <a:srgbClr val="FFFFFF"/>
                </a:solidFill>
                <a:latin typeface="Arial"/>
                <a:cs typeface="Arial"/>
              </a:rPr>
              <a:t>--register-node=true</a:t>
            </a:r>
            <a:r>
              <a:rPr sz="1333" spc="3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13" dirty="0">
                <a:solidFill>
                  <a:srgbClr val="FFFFFF"/>
                </a:solidFill>
                <a:latin typeface="Arial"/>
                <a:cs typeface="Arial"/>
              </a:rPr>
              <a:t>--v=2</a:t>
            </a:r>
            <a:endParaRPr sz="1333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01793" y="4378961"/>
            <a:ext cx="1680633" cy="319193"/>
          </a:xfrm>
          <a:custGeom>
            <a:avLst/>
            <a:gdLst/>
            <a:ahLst/>
            <a:cxnLst/>
            <a:rect l="l" t="t" r="r" b="b"/>
            <a:pathLst>
              <a:path w="1260475" h="239395">
                <a:moveTo>
                  <a:pt x="0" y="239267"/>
                </a:moveTo>
                <a:lnTo>
                  <a:pt x="1260348" y="239267"/>
                </a:lnTo>
                <a:lnTo>
                  <a:pt x="1260348" y="0"/>
                </a:lnTo>
                <a:lnTo>
                  <a:pt x="0" y="0"/>
                </a:lnTo>
                <a:lnTo>
                  <a:pt x="0" y="239267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5808471" y="4418924"/>
            <a:ext cx="136144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227" dirty="0">
                <a:solidFill>
                  <a:srgbClr val="FFFFFF"/>
                </a:solidFill>
                <a:latin typeface="Arial Black"/>
                <a:cs typeface="Arial Black"/>
              </a:rPr>
              <a:t>k</a:t>
            </a:r>
            <a:r>
              <a:rPr sz="1600" spc="-213" dirty="0">
                <a:solidFill>
                  <a:srgbClr val="FFFFFF"/>
                </a:solidFill>
                <a:latin typeface="Arial Black"/>
                <a:cs typeface="Arial Black"/>
              </a:rPr>
              <a:t>u</a:t>
            </a:r>
            <a:r>
              <a:rPr sz="1600" spc="-207" dirty="0">
                <a:solidFill>
                  <a:srgbClr val="FFFFFF"/>
                </a:solidFill>
                <a:latin typeface="Arial Black"/>
                <a:cs typeface="Arial Black"/>
              </a:rPr>
              <a:t>be</a:t>
            </a:r>
            <a:r>
              <a:rPr sz="1600" spc="-113" dirty="0">
                <a:solidFill>
                  <a:srgbClr val="FFFFFF"/>
                </a:solidFill>
                <a:latin typeface="Arial Black"/>
                <a:cs typeface="Arial Black"/>
              </a:rPr>
              <a:t>l</a:t>
            </a:r>
            <a:r>
              <a:rPr sz="1600" spc="-24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600" spc="-180" dirty="0">
                <a:solidFill>
                  <a:srgbClr val="FFFFFF"/>
                </a:solidFill>
                <a:latin typeface="Arial Black"/>
                <a:cs typeface="Arial Black"/>
              </a:rPr>
              <a:t>t.</a:t>
            </a:r>
            <a:r>
              <a:rPr sz="1600" spc="-313" dirty="0">
                <a:solidFill>
                  <a:srgbClr val="FFFFFF"/>
                </a:solidFill>
                <a:latin typeface="Arial Black"/>
                <a:cs typeface="Arial Black"/>
              </a:rPr>
              <a:t>s</a:t>
            </a:r>
            <a:r>
              <a:rPr sz="1600" spc="-24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600" spc="-100" dirty="0">
                <a:solidFill>
                  <a:srgbClr val="FFFFFF"/>
                </a:solidFill>
                <a:latin typeface="Arial Black"/>
                <a:cs typeface="Arial Black"/>
              </a:rPr>
              <a:t>r</a:t>
            </a:r>
            <a:r>
              <a:rPr sz="1600" spc="-207" dirty="0">
                <a:solidFill>
                  <a:srgbClr val="FFFFFF"/>
                </a:solidFill>
                <a:latin typeface="Arial Black"/>
                <a:cs typeface="Arial Black"/>
              </a:rPr>
              <a:t>vi</a:t>
            </a:r>
            <a:r>
              <a:rPr sz="1600" spc="-293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600" spc="-233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93325" y="4689516"/>
            <a:ext cx="6182360" cy="2177627"/>
            <a:chOff x="4269994" y="3517137"/>
            <a:chExt cx="4636770" cy="1633220"/>
          </a:xfrm>
        </p:grpSpPr>
        <p:sp>
          <p:nvSpPr>
            <p:cNvPr id="11" name="object 11"/>
            <p:cNvSpPr/>
            <p:nvPr/>
          </p:nvSpPr>
          <p:spPr>
            <a:xfrm>
              <a:off x="4276344" y="3523487"/>
              <a:ext cx="4624070" cy="1620520"/>
            </a:xfrm>
            <a:custGeom>
              <a:avLst/>
              <a:gdLst/>
              <a:ahLst/>
              <a:cxnLst/>
              <a:rect l="l" t="t" r="r" b="b"/>
              <a:pathLst>
                <a:path w="4624070" h="1620520">
                  <a:moveTo>
                    <a:pt x="4623815" y="0"/>
                  </a:moveTo>
                  <a:lnTo>
                    <a:pt x="0" y="0"/>
                  </a:lnTo>
                  <a:lnTo>
                    <a:pt x="0" y="1620010"/>
                  </a:lnTo>
                  <a:lnTo>
                    <a:pt x="4623815" y="1620010"/>
                  </a:lnTo>
                  <a:lnTo>
                    <a:pt x="46238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276344" y="3523487"/>
              <a:ext cx="4624070" cy="1620520"/>
            </a:xfrm>
            <a:custGeom>
              <a:avLst/>
              <a:gdLst/>
              <a:ahLst/>
              <a:cxnLst/>
              <a:rect l="l" t="t" r="r" b="b"/>
              <a:pathLst>
                <a:path w="4624070" h="1620520">
                  <a:moveTo>
                    <a:pt x="4623815" y="1620010"/>
                  </a:moveTo>
                  <a:lnTo>
                    <a:pt x="4623815" y="0"/>
                  </a:lnTo>
                  <a:lnTo>
                    <a:pt x="0" y="0"/>
                  </a:lnTo>
                  <a:lnTo>
                    <a:pt x="0" y="162001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08472" y="4735068"/>
            <a:ext cx="6278033" cy="1875279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ExecStart=/usr/local/bin/kubelet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52" dirty="0">
                <a:solidFill>
                  <a:srgbClr val="FFFFFF"/>
                </a:solidFill>
                <a:latin typeface="Arial"/>
                <a:cs typeface="Arial"/>
              </a:rPr>
              <a:t>--config=/var/lib/kubelet/kubelet-config.yaml</a:t>
            </a:r>
            <a:r>
              <a:rPr sz="1333" spc="3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93" dirty="0">
                <a:solidFill>
                  <a:srgbClr val="FFFFFF"/>
                </a:solidFill>
                <a:latin typeface="Arial"/>
                <a:cs typeface="Arial"/>
              </a:rPr>
              <a:t>--image-pull-progress-deadline=2m</a:t>
            </a:r>
            <a:r>
              <a:rPr sz="1333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6582">
              <a:lnSpc>
                <a:spcPts val="1573"/>
              </a:lnSpc>
              <a:spcBef>
                <a:spcPts val="53"/>
              </a:spcBef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--bootstrap-kubeconfig="/var/lib/kubelet/bootstrap-kubeconfig"</a:t>
            </a:r>
            <a:r>
              <a:rPr sz="1333" spc="3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>
              <a:lnSpc>
                <a:spcPts val="1573"/>
              </a:lnSpc>
            </a:pPr>
            <a:r>
              <a:rPr sz="1333" spc="193" dirty="0">
                <a:solidFill>
                  <a:srgbClr val="FFFFFF"/>
                </a:solidFill>
                <a:latin typeface="Arial"/>
                <a:cs typeface="Arial"/>
              </a:rPr>
              <a:t>--tls-cert-file=/var/lib/kubelet/worker-1.crt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73" dirty="0">
                <a:solidFill>
                  <a:srgbClr val="FFFFFF"/>
                </a:solidFill>
                <a:latin typeface="Arial"/>
                <a:cs typeface="Arial"/>
              </a:rPr>
              <a:t>--tls-private-key-file=/var/lib/kubelet/worker-1.key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27" dirty="0">
                <a:solidFill>
                  <a:srgbClr val="FFFFFF"/>
                </a:solidFill>
                <a:latin typeface="Arial"/>
                <a:cs typeface="Arial"/>
              </a:rPr>
              <a:t>--network-plugin=cni</a:t>
            </a:r>
            <a:r>
              <a:rPr sz="1333" spc="2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33" dirty="0">
                <a:solidFill>
                  <a:srgbClr val="FFFFFF"/>
                </a:solidFill>
                <a:latin typeface="Arial"/>
                <a:cs typeface="Arial"/>
              </a:rPr>
              <a:t>--register-node=true</a:t>
            </a:r>
            <a:r>
              <a:rPr sz="1333" spc="3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13" dirty="0">
                <a:solidFill>
                  <a:srgbClr val="FFFFFF"/>
                </a:solidFill>
                <a:latin typeface="Arial"/>
                <a:cs typeface="Arial"/>
              </a:rPr>
              <a:t>--v=2</a:t>
            </a:r>
            <a:endParaRPr sz="1333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4431" y="1282193"/>
            <a:ext cx="5405120" cy="3446780"/>
          </a:xfrm>
          <a:custGeom>
            <a:avLst/>
            <a:gdLst/>
            <a:ahLst/>
            <a:cxnLst/>
            <a:rect l="l" t="t" r="r" b="b"/>
            <a:pathLst>
              <a:path w="4053840" h="2585085">
                <a:moveTo>
                  <a:pt x="4053840" y="0"/>
                </a:moveTo>
                <a:lnTo>
                  <a:pt x="0" y="0"/>
                </a:lnTo>
                <a:lnTo>
                  <a:pt x="0" y="2584704"/>
                </a:lnTo>
                <a:lnTo>
                  <a:pt x="4053840" y="2584704"/>
                </a:lnTo>
                <a:lnTo>
                  <a:pt x="4053840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259825" y="1324526"/>
            <a:ext cx="4859020" cy="33564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apiVersion:</a:t>
            </a:r>
            <a:r>
              <a:rPr sz="1200" b="1" spc="-2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7" dirty="0">
                <a:solidFill>
                  <a:srgbClr val="A9B7C5"/>
                </a:solidFill>
                <a:latin typeface="Courier New"/>
                <a:cs typeface="Courier New"/>
              </a:rPr>
              <a:t>v1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clusters: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dirty="0">
                <a:solidFill>
                  <a:srgbClr val="A9B7C5"/>
                </a:solidFill>
                <a:latin typeface="Courier New"/>
                <a:cs typeface="Courier New"/>
              </a:rPr>
              <a:t>-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cluster:</a:t>
            </a:r>
            <a:endParaRPr sz="1200" dirty="0">
              <a:latin typeface="Courier New"/>
              <a:cs typeface="Courier New"/>
            </a:endParaRPr>
          </a:p>
          <a:p>
            <a:pPr marL="382684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certificate-authority:</a:t>
            </a:r>
            <a:r>
              <a:rPr sz="1200" b="1" spc="2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/var/lib/kubernetes/ca.crt</a:t>
            </a:r>
            <a:endParaRPr sz="1200" dirty="0">
              <a:latin typeface="Courier New"/>
              <a:cs typeface="Courier New"/>
            </a:endParaRPr>
          </a:p>
          <a:p>
            <a:pPr marL="382684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server:</a:t>
            </a:r>
            <a:r>
              <a:rPr sz="1200" b="1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https://192.168.5.30:6443</a:t>
            </a:r>
            <a:endParaRPr sz="1200" dirty="0">
              <a:latin typeface="Courier New"/>
              <a:cs typeface="Courier New"/>
            </a:endParaRPr>
          </a:p>
          <a:p>
            <a:pPr marL="198962"/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200" b="1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bootstrap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contexts: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dirty="0">
                <a:solidFill>
                  <a:srgbClr val="A9B7C5"/>
                </a:solidFill>
                <a:latin typeface="Courier New"/>
                <a:cs typeface="Courier New"/>
              </a:rPr>
              <a:t>-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context:</a:t>
            </a:r>
            <a:endParaRPr sz="1200" dirty="0">
              <a:latin typeface="Courier New"/>
              <a:cs typeface="Courier New"/>
            </a:endParaRPr>
          </a:p>
          <a:p>
            <a:pPr marL="382684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cluster:</a:t>
            </a: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bootstrap</a:t>
            </a:r>
            <a:endParaRPr sz="1200" dirty="0">
              <a:latin typeface="Courier New"/>
              <a:cs typeface="Courier New"/>
            </a:endParaRPr>
          </a:p>
          <a:p>
            <a:pPr marL="382684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user:</a:t>
            </a: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kubelet-bootstrap</a:t>
            </a:r>
            <a:endParaRPr sz="1200" dirty="0">
              <a:latin typeface="Courier New"/>
              <a:cs typeface="Courier New"/>
            </a:endParaRPr>
          </a:p>
          <a:p>
            <a:pPr marL="198962"/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200" b="1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bootstrap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current-context:</a:t>
            </a:r>
            <a:r>
              <a:rPr sz="1200" b="1" spc="-2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bootstrap</a:t>
            </a:r>
            <a:endParaRPr sz="1200" dirty="0">
              <a:latin typeface="Courier New"/>
              <a:cs typeface="Courier New"/>
            </a:endParaRPr>
          </a:p>
          <a:p>
            <a:pPr marL="16933" marR="3462780"/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kind: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Config  </a:t>
            </a: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preferences: </a:t>
            </a:r>
            <a:r>
              <a:rPr sz="1200" spc="-7" dirty="0">
                <a:solidFill>
                  <a:srgbClr val="A9B7C5"/>
                </a:solidFill>
                <a:latin typeface="Courier New"/>
                <a:cs typeface="Courier New"/>
              </a:rPr>
              <a:t>{}  </a:t>
            </a: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users:</a:t>
            </a:r>
            <a:endParaRPr sz="1200" dirty="0">
              <a:latin typeface="Courier New"/>
              <a:cs typeface="Courier New"/>
            </a:endParaRPr>
          </a:p>
          <a:p>
            <a:pPr marL="16933">
              <a:spcBef>
                <a:spcPts val="7"/>
              </a:spcBef>
            </a:pPr>
            <a:r>
              <a:rPr sz="1200" dirty="0">
                <a:solidFill>
                  <a:srgbClr val="A9B7C5"/>
                </a:solidFill>
                <a:latin typeface="Courier New"/>
                <a:cs typeface="Courier New"/>
              </a:rPr>
              <a:t>- </a:t>
            </a: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200" b="1" spc="-2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kubelet-bootstrap</a:t>
            </a:r>
            <a:endParaRPr sz="1200" dirty="0">
              <a:latin typeface="Courier New"/>
              <a:cs typeface="Courier New"/>
            </a:endParaRPr>
          </a:p>
          <a:p>
            <a:pPr marL="382684" marR="1609473" indent="-182875">
              <a:lnSpc>
                <a:spcPts val="1467"/>
              </a:lnSpc>
              <a:spcBef>
                <a:spcPts val="27"/>
              </a:spcBef>
              <a:tabLst>
                <a:tab pos="3238419" algn="l"/>
              </a:tabLst>
            </a:pP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us</a:t>
            </a:r>
            <a:r>
              <a:rPr sz="1200" b="1" u="dash" spc="-7" dirty="0">
                <a:solidFill>
                  <a:srgbClr val="CC7831"/>
                </a:solidFill>
                <a:uFill>
                  <a:solidFill>
                    <a:srgbClr val="F762B8"/>
                  </a:solidFill>
                </a:uFill>
                <a:latin typeface="Courier New"/>
                <a:cs typeface="Courier New"/>
              </a:rPr>
              <a:t>er: 	</a:t>
            </a:r>
            <a:r>
              <a:rPr sz="1200" b="1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token:</a:t>
            </a:r>
            <a:r>
              <a:rPr sz="1200" b="1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07401b.f395accd246ae52d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0527" y="912369"/>
            <a:ext cx="2306319" cy="369993"/>
          </a:xfrm>
          <a:custGeom>
            <a:avLst/>
            <a:gdLst/>
            <a:ahLst/>
            <a:cxnLst/>
            <a:rect l="l" t="t" r="r" b="b"/>
            <a:pathLst>
              <a:path w="1729739" h="277494">
                <a:moveTo>
                  <a:pt x="1729739" y="0"/>
                </a:moveTo>
                <a:lnTo>
                  <a:pt x="0" y="0"/>
                </a:lnTo>
                <a:lnTo>
                  <a:pt x="0" y="277367"/>
                </a:lnTo>
                <a:lnTo>
                  <a:pt x="1729739" y="277367"/>
                </a:lnTo>
                <a:lnTo>
                  <a:pt x="1729739" y="0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264702" y="950638"/>
            <a:ext cx="199305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67" dirty="0">
                <a:solidFill>
                  <a:srgbClr val="FFFFFF"/>
                </a:solidFill>
                <a:latin typeface="Arial Black"/>
                <a:cs typeface="Arial Black"/>
              </a:rPr>
              <a:t>bootstrap-kubeconfig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11631" y="4405376"/>
            <a:ext cx="2904067" cy="343747"/>
          </a:xfrm>
          <a:custGeom>
            <a:avLst/>
            <a:gdLst/>
            <a:ahLst/>
            <a:cxnLst/>
            <a:rect l="l" t="t" r="r" b="b"/>
            <a:pathLst>
              <a:path w="2178050" h="257810">
                <a:moveTo>
                  <a:pt x="2134870" y="0"/>
                </a:moveTo>
                <a:lnTo>
                  <a:pt x="42926" y="0"/>
                </a:lnTo>
                <a:lnTo>
                  <a:pt x="26215" y="3367"/>
                </a:lnTo>
                <a:lnTo>
                  <a:pt x="12571" y="12557"/>
                </a:lnTo>
                <a:lnTo>
                  <a:pt x="3372" y="26199"/>
                </a:lnTo>
                <a:lnTo>
                  <a:pt x="0" y="42926"/>
                </a:lnTo>
                <a:lnTo>
                  <a:pt x="0" y="214630"/>
                </a:lnTo>
                <a:lnTo>
                  <a:pt x="3372" y="231356"/>
                </a:lnTo>
                <a:lnTo>
                  <a:pt x="12571" y="244998"/>
                </a:lnTo>
                <a:lnTo>
                  <a:pt x="26215" y="254188"/>
                </a:lnTo>
                <a:lnTo>
                  <a:pt x="42926" y="257556"/>
                </a:lnTo>
                <a:lnTo>
                  <a:pt x="2134870" y="257556"/>
                </a:lnTo>
                <a:lnTo>
                  <a:pt x="2151596" y="254188"/>
                </a:lnTo>
                <a:lnTo>
                  <a:pt x="2165238" y="244998"/>
                </a:lnTo>
                <a:lnTo>
                  <a:pt x="2174428" y="231356"/>
                </a:lnTo>
                <a:lnTo>
                  <a:pt x="2177796" y="214630"/>
                </a:lnTo>
                <a:lnTo>
                  <a:pt x="2177796" y="42926"/>
                </a:lnTo>
                <a:lnTo>
                  <a:pt x="2174428" y="26199"/>
                </a:lnTo>
                <a:lnTo>
                  <a:pt x="2165238" y="12557"/>
                </a:lnTo>
                <a:lnTo>
                  <a:pt x="2151596" y="3367"/>
                </a:lnTo>
                <a:lnTo>
                  <a:pt x="2134870" y="0"/>
                </a:lnTo>
                <a:close/>
              </a:path>
            </a:pathLst>
          </a:custGeom>
          <a:solidFill>
            <a:srgbClr val="1780C3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5544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89464" y="671575"/>
            <a:ext cx="1253913" cy="2245360"/>
          </a:xfrm>
          <a:custGeom>
            <a:avLst/>
            <a:gdLst/>
            <a:ahLst/>
            <a:cxnLst/>
            <a:rect l="l" t="t" r="r" b="b"/>
            <a:pathLst>
              <a:path w="940434" h="1684020">
                <a:moveTo>
                  <a:pt x="0" y="156717"/>
                </a:moveTo>
                <a:lnTo>
                  <a:pt x="7983" y="107159"/>
                </a:lnTo>
                <a:lnTo>
                  <a:pt x="30219" y="64136"/>
                </a:lnTo>
                <a:lnTo>
                  <a:pt x="64136" y="30219"/>
                </a:lnTo>
                <a:lnTo>
                  <a:pt x="107159" y="7983"/>
                </a:lnTo>
                <a:lnTo>
                  <a:pt x="156718" y="0"/>
                </a:lnTo>
                <a:lnTo>
                  <a:pt x="783590" y="0"/>
                </a:lnTo>
                <a:lnTo>
                  <a:pt x="833148" y="7983"/>
                </a:lnTo>
                <a:lnTo>
                  <a:pt x="876171" y="30219"/>
                </a:lnTo>
                <a:lnTo>
                  <a:pt x="910088" y="64136"/>
                </a:lnTo>
                <a:lnTo>
                  <a:pt x="932324" y="107159"/>
                </a:lnTo>
                <a:lnTo>
                  <a:pt x="940307" y="156717"/>
                </a:lnTo>
                <a:lnTo>
                  <a:pt x="940307" y="1527301"/>
                </a:lnTo>
                <a:lnTo>
                  <a:pt x="932324" y="1576860"/>
                </a:lnTo>
                <a:lnTo>
                  <a:pt x="910088" y="1619883"/>
                </a:lnTo>
                <a:lnTo>
                  <a:pt x="876171" y="1653800"/>
                </a:lnTo>
                <a:lnTo>
                  <a:pt x="833148" y="1676036"/>
                </a:lnTo>
                <a:lnTo>
                  <a:pt x="783590" y="1684019"/>
                </a:lnTo>
                <a:lnTo>
                  <a:pt x="156718" y="1684019"/>
                </a:lnTo>
                <a:lnTo>
                  <a:pt x="107159" y="1676036"/>
                </a:lnTo>
                <a:lnTo>
                  <a:pt x="64136" y="1653800"/>
                </a:lnTo>
                <a:lnTo>
                  <a:pt x="30219" y="1619883"/>
                </a:lnTo>
                <a:lnTo>
                  <a:pt x="7983" y="1576860"/>
                </a:lnTo>
                <a:lnTo>
                  <a:pt x="0" y="1527301"/>
                </a:lnTo>
                <a:lnTo>
                  <a:pt x="0" y="156717"/>
                </a:lnTo>
                <a:close/>
              </a:path>
            </a:pathLst>
          </a:custGeom>
          <a:ln w="19812">
            <a:solidFill>
              <a:srgbClr val="1780C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690859" y="1633051"/>
            <a:ext cx="2489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13" dirty="0">
                <a:solidFill>
                  <a:srgbClr val="1780C3"/>
                </a:solidFill>
                <a:latin typeface="Arial Black"/>
                <a:cs typeface="Arial Black"/>
              </a:rPr>
              <a:t>W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4431" y="1282193"/>
            <a:ext cx="10753512" cy="3446780"/>
            <a:chOff x="115823" y="961644"/>
            <a:chExt cx="8065134" cy="2585085"/>
          </a:xfrm>
        </p:grpSpPr>
        <p:sp>
          <p:nvSpPr>
            <p:cNvPr id="5" name="object 5"/>
            <p:cNvSpPr/>
            <p:nvPr/>
          </p:nvSpPr>
          <p:spPr>
            <a:xfrm>
              <a:off x="8042147" y="1591056"/>
              <a:ext cx="138683" cy="1386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15823" y="961644"/>
              <a:ext cx="4053840" cy="2585085"/>
            </a:xfrm>
            <a:custGeom>
              <a:avLst/>
              <a:gdLst/>
              <a:ahLst/>
              <a:cxnLst/>
              <a:rect l="l" t="t" r="r" b="b"/>
              <a:pathLst>
                <a:path w="4053840" h="2585085">
                  <a:moveTo>
                    <a:pt x="4053840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4053840" y="2584704"/>
                  </a:lnTo>
                  <a:lnTo>
                    <a:pt x="4053840" y="0"/>
                  </a:lnTo>
                  <a:close/>
                </a:path>
              </a:pathLst>
            </a:custGeom>
            <a:solidFill>
              <a:srgbClr val="2B2B2B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9825" y="1324526"/>
            <a:ext cx="4859020" cy="33564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apiVersion:</a:t>
            </a:r>
            <a:r>
              <a:rPr sz="1200" b="1" spc="-2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7" dirty="0">
                <a:solidFill>
                  <a:srgbClr val="A9B7C5"/>
                </a:solidFill>
                <a:latin typeface="Courier New"/>
                <a:cs typeface="Courier New"/>
              </a:rPr>
              <a:t>v1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clusters: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dirty="0">
                <a:solidFill>
                  <a:srgbClr val="A9B7C5"/>
                </a:solidFill>
                <a:latin typeface="Courier New"/>
                <a:cs typeface="Courier New"/>
              </a:rPr>
              <a:t>-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cluster:</a:t>
            </a:r>
            <a:endParaRPr sz="1200" dirty="0">
              <a:latin typeface="Courier New"/>
              <a:cs typeface="Courier New"/>
            </a:endParaRPr>
          </a:p>
          <a:p>
            <a:pPr marL="382684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certificate-authority:</a:t>
            </a:r>
            <a:r>
              <a:rPr sz="1200" b="1" spc="2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/var/lib/kubernetes/ca.crt</a:t>
            </a:r>
            <a:endParaRPr sz="1200" dirty="0">
              <a:latin typeface="Courier New"/>
              <a:cs typeface="Courier New"/>
            </a:endParaRPr>
          </a:p>
          <a:p>
            <a:pPr marL="382684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server:</a:t>
            </a:r>
            <a:r>
              <a:rPr sz="1200" b="1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https://192.168.5.30:6443</a:t>
            </a:r>
            <a:endParaRPr sz="1200" dirty="0">
              <a:latin typeface="Courier New"/>
              <a:cs typeface="Courier New"/>
            </a:endParaRPr>
          </a:p>
          <a:p>
            <a:pPr marL="198962"/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200" b="1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bootstrap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contexts: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dirty="0">
                <a:solidFill>
                  <a:srgbClr val="A9B7C5"/>
                </a:solidFill>
                <a:latin typeface="Courier New"/>
                <a:cs typeface="Courier New"/>
              </a:rPr>
              <a:t>-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context:</a:t>
            </a:r>
            <a:endParaRPr sz="1200" dirty="0">
              <a:latin typeface="Courier New"/>
              <a:cs typeface="Courier New"/>
            </a:endParaRPr>
          </a:p>
          <a:p>
            <a:pPr marL="382684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cluster:</a:t>
            </a: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bootstrap</a:t>
            </a:r>
            <a:endParaRPr sz="1200" dirty="0">
              <a:latin typeface="Courier New"/>
              <a:cs typeface="Courier New"/>
            </a:endParaRPr>
          </a:p>
          <a:p>
            <a:pPr marL="382684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user:</a:t>
            </a: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kubelet-bootstrap</a:t>
            </a:r>
            <a:endParaRPr sz="1200" dirty="0">
              <a:latin typeface="Courier New"/>
              <a:cs typeface="Courier New"/>
            </a:endParaRPr>
          </a:p>
          <a:p>
            <a:pPr marL="198962"/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200" b="1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bootstrap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current-context:</a:t>
            </a:r>
            <a:r>
              <a:rPr sz="1200" b="1" spc="-2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bootstrap</a:t>
            </a:r>
            <a:endParaRPr sz="1200" dirty="0">
              <a:latin typeface="Courier New"/>
              <a:cs typeface="Courier New"/>
            </a:endParaRPr>
          </a:p>
          <a:p>
            <a:pPr marL="16933" marR="3462780"/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kind: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Config  </a:t>
            </a: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preferences: </a:t>
            </a:r>
            <a:r>
              <a:rPr sz="1200" spc="-7" dirty="0">
                <a:solidFill>
                  <a:srgbClr val="A9B7C5"/>
                </a:solidFill>
                <a:latin typeface="Courier New"/>
                <a:cs typeface="Courier New"/>
              </a:rPr>
              <a:t>{}  </a:t>
            </a: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users:</a:t>
            </a:r>
            <a:endParaRPr sz="1200" dirty="0">
              <a:latin typeface="Courier New"/>
              <a:cs typeface="Courier New"/>
            </a:endParaRPr>
          </a:p>
          <a:p>
            <a:pPr marL="16933">
              <a:spcBef>
                <a:spcPts val="7"/>
              </a:spcBef>
            </a:pPr>
            <a:r>
              <a:rPr sz="1200" dirty="0">
                <a:solidFill>
                  <a:srgbClr val="A9B7C5"/>
                </a:solidFill>
                <a:latin typeface="Courier New"/>
                <a:cs typeface="Courier New"/>
              </a:rPr>
              <a:t>- </a:t>
            </a: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200" b="1" spc="-2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kubelet-bootstrap</a:t>
            </a:r>
            <a:endParaRPr sz="1200" dirty="0">
              <a:latin typeface="Courier New"/>
              <a:cs typeface="Courier New"/>
            </a:endParaRPr>
          </a:p>
          <a:p>
            <a:pPr marL="382684" marR="1609473" indent="-182875">
              <a:lnSpc>
                <a:spcPts val="1467"/>
              </a:lnSpc>
              <a:spcBef>
                <a:spcPts val="27"/>
              </a:spcBef>
              <a:tabLst>
                <a:tab pos="3238419" algn="l"/>
              </a:tabLst>
            </a:pP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us</a:t>
            </a:r>
            <a:r>
              <a:rPr sz="1200" b="1" u="dash" spc="-7" dirty="0">
                <a:solidFill>
                  <a:srgbClr val="CC7831"/>
                </a:solidFill>
                <a:uFill>
                  <a:solidFill>
                    <a:srgbClr val="F762B8"/>
                  </a:solidFill>
                </a:uFill>
                <a:latin typeface="Courier New"/>
                <a:cs typeface="Courier New"/>
              </a:rPr>
              <a:t>er: 	</a:t>
            </a:r>
            <a:r>
              <a:rPr sz="1200" b="1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token:</a:t>
            </a:r>
            <a:r>
              <a:rPr sz="1200" b="1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07401b.f395accd246ae52d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0527" y="912369"/>
            <a:ext cx="2306319" cy="369993"/>
          </a:xfrm>
          <a:custGeom>
            <a:avLst/>
            <a:gdLst/>
            <a:ahLst/>
            <a:cxnLst/>
            <a:rect l="l" t="t" r="r" b="b"/>
            <a:pathLst>
              <a:path w="1729739" h="277494">
                <a:moveTo>
                  <a:pt x="1729739" y="0"/>
                </a:moveTo>
                <a:lnTo>
                  <a:pt x="0" y="0"/>
                </a:lnTo>
                <a:lnTo>
                  <a:pt x="0" y="277367"/>
                </a:lnTo>
                <a:lnTo>
                  <a:pt x="1729739" y="277367"/>
                </a:lnTo>
                <a:lnTo>
                  <a:pt x="1729739" y="0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264702" y="950638"/>
            <a:ext cx="199305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67" dirty="0">
                <a:solidFill>
                  <a:srgbClr val="FFFFFF"/>
                </a:solidFill>
                <a:latin typeface="Arial Black"/>
                <a:cs typeface="Arial Black"/>
              </a:rPr>
              <a:t>bootstrap-kubeconfig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1631" y="4405377"/>
            <a:ext cx="11264053" cy="2461260"/>
            <a:chOff x="458723" y="3304032"/>
            <a:chExt cx="8448040" cy="1845945"/>
          </a:xfrm>
        </p:grpSpPr>
        <p:sp>
          <p:nvSpPr>
            <p:cNvPr id="11" name="object 11"/>
            <p:cNvSpPr/>
            <p:nvPr/>
          </p:nvSpPr>
          <p:spPr>
            <a:xfrm>
              <a:off x="458723" y="3304032"/>
              <a:ext cx="2178050" cy="257810"/>
            </a:xfrm>
            <a:custGeom>
              <a:avLst/>
              <a:gdLst/>
              <a:ahLst/>
              <a:cxnLst/>
              <a:rect l="l" t="t" r="r" b="b"/>
              <a:pathLst>
                <a:path w="2178050" h="257810">
                  <a:moveTo>
                    <a:pt x="2134870" y="0"/>
                  </a:moveTo>
                  <a:lnTo>
                    <a:pt x="42926" y="0"/>
                  </a:lnTo>
                  <a:lnTo>
                    <a:pt x="26215" y="3367"/>
                  </a:lnTo>
                  <a:lnTo>
                    <a:pt x="12571" y="12557"/>
                  </a:lnTo>
                  <a:lnTo>
                    <a:pt x="3372" y="26199"/>
                  </a:lnTo>
                  <a:lnTo>
                    <a:pt x="0" y="42926"/>
                  </a:lnTo>
                  <a:lnTo>
                    <a:pt x="0" y="214630"/>
                  </a:lnTo>
                  <a:lnTo>
                    <a:pt x="3372" y="231356"/>
                  </a:lnTo>
                  <a:lnTo>
                    <a:pt x="12571" y="244998"/>
                  </a:lnTo>
                  <a:lnTo>
                    <a:pt x="26215" y="254188"/>
                  </a:lnTo>
                  <a:lnTo>
                    <a:pt x="42926" y="257556"/>
                  </a:lnTo>
                  <a:lnTo>
                    <a:pt x="2134870" y="257556"/>
                  </a:lnTo>
                  <a:lnTo>
                    <a:pt x="2151596" y="254188"/>
                  </a:lnTo>
                  <a:lnTo>
                    <a:pt x="2165238" y="244998"/>
                  </a:lnTo>
                  <a:lnTo>
                    <a:pt x="2174428" y="231356"/>
                  </a:lnTo>
                  <a:lnTo>
                    <a:pt x="2177796" y="214630"/>
                  </a:lnTo>
                  <a:lnTo>
                    <a:pt x="2177796" y="42926"/>
                  </a:lnTo>
                  <a:lnTo>
                    <a:pt x="2174428" y="26199"/>
                  </a:lnTo>
                  <a:lnTo>
                    <a:pt x="2165238" y="12557"/>
                  </a:lnTo>
                  <a:lnTo>
                    <a:pt x="2151596" y="3367"/>
                  </a:lnTo>
                  <a:lnTo>
                    <a:pt x="2134870" y="0"/>
                  </a:lnTo>
                  <a:close/>
                </a:path>
              </a:pathLst>
            </a:custGeom>
            <a:solidFill>
              <a:srgbClr val="1780C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276344" y="3523487"/>
              <a:ext cx="4624070" cy="1620520"/>
            </a:xfrm>
            <a:custGeom>
              <a:avLst/>
              <a:gdLst/>
              <a:ahLst/>
              <a:cxnLst/>
              <a:rect l="l" t="t" r="r" b="b"/>
              <a:pathLst>
                <a:path w="4624070" h="1620520">
                  <a:moveTo>
                    <a:pt x="4623815" y="1620010"/>
                  </a:moveTo>
                  <a:lnTo>
                    <a:pt x="4623815" y="0"/>
                  </a:lnTo>
                  <a:lnTo>
                    <a:pt x="0" y="0"/>
                  </a:lnTo>
                  <a:lnTo>
                    <a:pt x="0" y="162001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25404" y="4795401"/>
            <a:ext cx="5310293" cy="1807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3"/>
              </a:lnSpc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ExecStart=/usr/local/bin/kubelet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52" dirty="0">
                <a:solidFill>
                  <a:srgbClr val="FFFFFF"/>
                </a:solidFill>
                <a:latin typeface="Arial"/>
                <a:cs typeface="Arial"/>
              </a:rPr>
              <a:t>--config=/var/lib/kubelet/kubelet-config.yaml</a:t>
            </a:r>
            <a:r>
              <a:rPr sz="1333" spc="3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93" dirty="0">
                <a:solidFill>
                  <a:srgbClr val="FFFFFF"/>
                </a:solidFill>
                <a:latin typeface="Arial"/>
                <a:cs typeface="Arial"/>
              </a:rPr>
              <a:t>--image-pull-progress-deadline=2m</a:t>
            </a:r>
            <a:r>
              <a:rPr sz="1333" spc="3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--kubeconfig=/var/lib/kubelet/kubeconfig</a:t>
            </a:r>
            <a:r>
              <a:rPr sz="1333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93" dirty="0">
                <a:solidFill>
                  <a:srgbClr val="FFFFFF"/>
                </a:solidFill>
                <a:latin typeface="Arial"/>
                <a:cs typeface="Arial"/>
              </a:rPr>
              <a:t>--tls-cert-file=/var/lib/kubelet/worker-1.crt</a:t>
            </a:r>
            <a:r>
              <a:rPr sz="1333" spc="3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73" dirty="0">
                <a:solidFill>
                  <a:srgbClr val="FFFFFF"/>
                </a:solidFill>
                <a:latin typeface="Arial"/>
                <a:cs typeface="Arial"/>
              </a:rPr>
              <a:t>--tls-private-key-file=/var/lib/kubelet/worker-1.key</a:t>
            </a:r>
            <a:r>
              <a:rPr sz="1333" spc="40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27" dirty="0">
                <a:solidFill>
                  <a:srgbClr val="FFFFFF"/>
                </a:solidFill>
                <a:latin typeface="Arial"/>
                <a:cs typeface="Arial"/>
              </a:rPr>
              <a:t>--network-plugin=cni</a:t>
            </a:r>
            <a:r>
              <a:rPr sz="1333" spc="2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33" dirty="0">
                <a:solidFill>
                  <a:srgbClr val="FFFFFF"/>
                </a:solidFill>
                <a:latin typeface="Arial"/>
                <a:cs typeface="Arial"/>
              </a:rPr>
              <a:t>--register-node=true</a:t>
            </a:r>
            <a:r>
              <a:rPr sz="1333" spc="3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13" dirty="0">
                <a:solidFill>
                  <a:srgbClr val="FFFFFF"/>
                </a:solidFill>
                <a:latin typeface="Arial"/>
                <a:cs typeface="Arial"/>
              </a:rPr>
              <a:t>--v=2</a:t>
            </a:r>
            <a:endParaRPr sz="1333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01793" y="4378961"/>
            <a:ext cx="1680633" cy="319193"/>
          </a:xfrm>
          <a:custGeom>
            <a:avLst/>
            <a:gdLst/>
            <a:ahLst/>
            <a:cxnLst/>
            <a:rect l="l" t="t" r="r" b="b"/>
            <a:pathLst>
              <a:path w="1260475" h="239395">
                <a:moveTo>
                  <a:pt x="0" y="239267"/>
                </a:moveTo>
                <a:lnTo>
                  <a:pt x="1260348" y="239267"/>
                </a:lnTo>
                <a:lnTo>
                  <a:pt x="1260348" y="0"/>
                </a:lnTo>
                <a:lnTo>
                  <a:pt x="0" y="0"/>
                </a:lnTo>
                <a:lnTo>
                  <a:pt x="0" y="239267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5808471" y="4418924"/>
            <a:ext cx="136144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227" dirty="0">
                <a:solidFill>
                  <a:srgbClr val="FFFFFF"/>
                </a:solidFill>
                <a:latin typeface="Arial Black"/>
                <a:cs typeface="Arial Black"/>
              </a:rPr>
              <a:t>k</a:t>
            </a:r>
            <a:r>
              <a:rPr sz="1600" spc="-213" dirty="0">
                <a:solidFill>
                  <a:srgbClr val="FFFFFF"/>
                </a:solidFill>
                <a:latin typeface="Arial Black"/>
                <a:cs typeface="Arial Black"/>
              </a:rPr>
              <a:t>u</a:t>
            </a:r>
            <a:r>
              <a:rPr sz="1600" spc="-207" dirty="0">
                <a:solidFill>
                  <a:srgbClr val="FFFFFF"/>
                </a:solidFill>
                <a:latin typeface="Arial Black"/>
                <a:cs typeface="Arial Black"/>
              </a:rPr>
              <a:t>be</a:t>
            </a:r>
            <a:r>
              <a:rPr sz="1600" spc="-113" dirty="0">
                <a:solidFill>
                  <a:srgbClr val="FFFFFF"/>
                </a:solidFill>
                <a:latin typeface="Arial Black"/>
                <a:cs typeface="Arial Black"/>
              </a:rPr>
              <a:t>l</a:t>
            </a:r>
            <a:r>
              <a:rPr sz="1600" spc="-24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600" spc="-180" dirty="0">
                <a:solidFill>
                  <a:srgbClr val="FFFFFF"/>
                </a:solidFill>
                <a:latin typeface="Arial Black"/>
                <a:cs typeface="Arial Black"/>
              </a:rPr>
              <a:t>t.</a:t>
            </a:r>
            <a:r>
              <a:rPr sz="1600" spc="-313" dirty="0">
                <a:solidFill>
                  <a:srgbClr val="FFFFFF"/>
                </a:solidFill>
                <a:latin typeface="Arial Black"/>
                <a:cs typeface="Arial Black"/>
              </a:rPr>
              <a:t>s</a:t>
            </a:r>
            <a:r>
              <a:rPr sz="1600" spc="-24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600" spc="-100" dirty="0">
                <a:solidFill>
                  <a:srgbClr val="FFFFFF"/>
                </a:solidFill>
                <a:latin typeface="Arial Black"/>
                <a:cs typeface="Arial Black"/>
              </a:rPr>
              <a:t>r</a:t>
            </a:r>
            <a:r>
              <a:rPr sz="1600" spc="-207" dirty="0">
                <a:solidFill>
                  <a:srgbClr val="FFFFFF"/>
                </a:solidFill>
                <a:latin typeface="Arial Black"/>
                <a:cs typeface="Arial Black"/>
              </a:rPr>
              <a:t>vi</a:t>
            </a:r>
            <a:r>
              <a:rPr sz="1600" spc="-293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600" spc="-233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93664" y="4689855"/>
            <a:ext cx="6181513" cy="2176780"/>
            <a:chOff x="4270247" y="3517391"/>
            <a:chExt cx="4636135" cy="1632585"/>
          </a:xfrm>
        </p:grpSpPr>
        <p:sp>
          <p:nvSpPr>
            <p:cNvPr id="17" name="object 17"/>
            <p:cNvSpPr/>
            <p:nvPr/>
          </p:nvSpPr>
          <p:spPr>
            <a:xfrm>
              <a:off x="4276343" y="3523487"/>
              <a:ext cx="4624070" cy="1620520"/>
            </a:xfrm>
            <a:custGeom>
              <a:avLst/>
              <a:gdLst/>
              <a:ahLst/>
              <a:cxnLst/>
              <a:rect l="l" t="t" r="r" b="b"/>
              <a:pathLst>
                <a:path w="4624070" h="1620520">
                  <a:moveTo>
                    <a:pt x="4623815" y="0"/>
                  </a:moveTo>
                  <a:lnTo>
                    <a:pt x="0" y="0"/>
                  </a:lnTo>
                  <a:lnTo>
                    <a:pt x="0" y="1620010"/>
                  </a:lnTo>
                  <a:lnTo>
                    <a:pt x="4623815" y="1620010"/>
                  </a:lnTo>
                  <a:lnTo>
                    <a:pt x="46238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4276343" y="3523487"/>
              <a:ext cx="4624070" cy="1620520"/>
            </a:xfrm>
            <a:custGeom>
              <a:avLst/>
              <a:gdLst/>
              <a:ahLst/>
              <a:cxnLst/>
              <a:rect l="l" t="t" r="r" b="b"/>
              <a:pathLst>
                <a:path w="4624070" h="1620520">
                  <a:moveTo>
                    <a:pt x="4623815" y="1620010"/>
                  </a:moveTo>
                  <a:lnTo>
                    <a:pt x="4623815" y="0"/>
                  </a:lnTo>
                  <a:lnTo>
                    <a:pt x="0" y="0"/>
                  </a:lnTo>
                  <a:lnTo>
                    <a:pt x="0" y="162001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08472" y="4735069"/>
            <a:ext cx="6278033" cy="206764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ExecStart=/usr/local/bin/kubelet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52" dirty="0">
                <a:solidFill>
                  <a:srgbClr val="FFFFFF"/>
                </a:solidFill>
                <a:latin typeface="Arial"/>
                <a:cs typeface="Arial"/>
              </a:rPr>
              <a:t>--config=/var/lib/kubelet/kubelet-config.yaml</a:t>
            </a:r>
            <a:r>
              <a:rPr sz="1333" spc="3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93" dirty="0">
                <a:solidFill>
                  <a:srgbClr val="FFFFFF"/>
                </a:solidFill>
                <a:latin typeface="Arial"/>
                <a:cs typeface="Arial"/>
              </a:rPr>
              <a:t>--image-pull-progress-deadline=2m</a:t>
            </a:r>
            <a:r>
              <a:rPr sz="1333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6582">
              <a:lnSpc>
                <a:spcPts val="1567"/>
              </a:lnSpc>
              <a:spcBef>
                <a:spcPts val="133"/>
              </a:spcBef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--bootstrap-kubeconfig="/var/lib/kubelet/bootstrap-kubeconfig"</a:t>
            </a:r>
            <a:r>
              <a:rPr sz="1333" spc="3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6582">
              <a:lnSpc>
                <a:spcPts val="1533"/>
              </a:lnSpc>
            </a:pPr>
            <a:r>
              <a:rPr sz="1333" spc="180" dirty="0">
                <a:solidFill>
                  <a:srgbClr val="FFFFFF"/>
                </a:solidFill>
                <a:latin typeface="Arial"/>
                <a:cs typeface="Arial"/>
              </a:rPr>
              <a:t>--rotate-certificates=true</a:t>
            </a:r>
            <a:r>
              <a:rPr sz="1333" spc="3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>
              <a:lnSpc>
                <a:spcPts val="1567"/>
              </a:lnSpc>
            </a:pPr>
            <a:r>
              <a:rPr sz="1333" spc="193" dirty="0">
                <a:solidFill>
                  <a:srgbClr val="FFFFFF"/>
                </a:solidFill>
                <a:latin typeface="Arial"/>
                <a:cs typeface="Arial"/>
              </a:rPr>
              <a:t>--tls-cert-file=/var/lib/kubelet/worker-1.crt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73" dirty="0">
                <a:solidFill>
                  <a:srgbClr val="FFFFFF"/>
                </a:solidFill>
                <a:latin typeface="Arial"/>
                <a:cs typeface="Arial"/>
              </a:rPr>
              <a:t>--tls-private-key-file=/var/lib/kubelet/worker-1.key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27" dirty="0">
                <a:solidFill>
                  <a:srgbClr val="FFFFFF"/>
                </a:solidFill>
                <a:latin typeface="Arial"/>
                <a:cs typeface="Arial"/>
              </a:rPr>
              <a:t>--network-plugin=cni</a:t>
            </a:r>
            <a:r>
              <a:rPr sz="1333" spc="2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33" dirty="0">
                <a:solidFill>
                  <a:srgbClr val="FFFFFF"/>
                </a:solidFill>
                <a:latin typeface="Arial"/>
                <a:cs typeface="Arial"/>
              </a:rPr>
              <a:t>--register-node=true</a:t>
            </a:r>
            <a:r>
              <a:rPr sz="1333" spc="3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13" dirty="0">
                <a:solidFill>
                  <a:srgbClr val="FFFFFF"/>
                </a:solidFill>
                <a:latin typeface="Arial"/>
                <a:cs typeface="Arial"/>
              </a:rPr>
              <a:t>--v=2</a:t>
            </a:r>
            <a:endParaRPr sz="1333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27144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89464" y="671575"/>
            <a:ext cx="1253913" cy="2245360"/>
          </a:xfrm>
          <a:custGeom>
            <a:avLst/>
            <a:gdLst/>
            <a:ahLst/>
            <a:cxnLst/>
            <a:rect l="l" t="t" r="r" b="b"/>
            <a:pathLst>
              <a:path w="940434" h="1684020">
                <a:moveTo>
                  <a:pt x="0" y="156717"/>
                </a:moveTo>
                <a:lnTo>
                  <a:pt x="7983" y="107159"/>
                </a:lnTo>
                <a:lnTo>
                  <a:pt x="30219" y="64136"/>
                </a:lnTo>
                <a:lnTo>
                  <a:pt x="64136" y="30219"/>
                </a:lnTo>
                <a:lnTo>
                  <a:pt x="107159" y="7983"/>
                </a:lnTo>
                <a:lnTo>
                  <a:pt x="156718" y="0"/>
                </a:lnTo>
                <a:lnTo>
                  <a:pt x="783590" y="0"/>
                </a:lnTo>
                <a:lnTo>
                  <a:pt x="833148" y="7983"/>
                </a:lnTo>
                <a:lnTo>
                  <a:pt x="876171" y="30219"/>
                </a:lnTo>
                <a:lnTo>
                  <a:pt x="910088" y="64136"/>
                </a:lnTo>
                <a:lnTo>
                  <a:pt x="932324" y="107159"/>
                </a:lnTo>
                <a:lnTo>
                  <a:pt x="940307" y="156717"/>
                </a:lnTo>
                <a:lnTo>
                  <a:pt x="940307" y="1527301"/>
                </a:lnTo>
                <a:lnTo>
                  <a:pt x="932324" y="1576860"/>
                </a:lnTo>
                <a:lnTo>
                  <a:pt x="910088" y="1619883"/>
                </a:lnTo>
                <a:lnTo>
                  <a:pt x="876171" y="1653800"/>
                </a:lnTo>
                <a:lnTo>
                  <a:pt x="833148" y="1676036"/>
                </a:lnTo>
                <a:lnTo>
                  <a:pt x="783590" y="1684019"/>
                </a:lnTo>
                <a:lnTo>
                  <a:pt x="156718" y="1684019"/>
                </a:lnTo>
                <a:lnTo>
                  <a:pt x="107159" y="1676036"/>
                </a:lnTo>
                <a:lnTo>
                  <a:pt x="64136" y="1653800"/>
                </a:lnTo>
                <a:lnTo>
                  <a:pt x="30219" y="1619883"/>
                </a:lnTo>
                <a:lnTo>
                  <a:pt x="7983" y="1576860"/>
                </a:lnTo>
                <a:lnTo>
                  <a:pt x="0" y="1527301"/>
                </a:lnTo>
                <a:lnTo>
                  <a:pt x="0" y="156717"/>
                </a:lnTo>
                <a:close/>
              </a:path>
            </a:pathLst>
          </a:custGeom>
          <a:ln w="19812">
            <a:solidFill>
              <a:srgbClr val="1780C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690859" y="1633051"/>
            <a:ext cx="2489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13" dirty="0">
                <a:solidFill>
                  <a:srgbClr val="1780C3"/>
                </a:solidFill>
                <a:latin typeface="Arial Black"/>
                <a:cs typeface="Arial Black"/>
              </a:rPr>
              <a:t>W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671981" y="2121407"/>
            <a:ext cx="2203873" cy="1457960"/>
            <a:chOff x="7253985" y="1591055"/>
            <a:chExt cx="1652905" cy="1093470"/>
          </a:xfrm>
        </p:grpSpPr>
        <p:sp>
          <p:nvSpPr>
            <p:cNvPr id="5" name="object 5"/>
            <p:cNvSpPr/>
            <p:nvPr/>
          </p:nvSpPr>
          <p:spPr>
            <a:xfrm>
              <a:off x="8042147" y="1591055"/>
              <a:ext cx="138683" cy="1386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7260335" y="2342387"/>
              <a:ext cx="1640205" cy="335280"/>
            </a:xfrm>
            <a:custGeom>
              <a:avLst/>
              <a:gdLst/>
              <a:ahLst/>
              <a:cxnLst/>
              <a:rect l="l" t="t" r="r" b="b"/>
              <a:pathLst>
                <a:path w="1640204" h="335280">
                  <a:moveTo>
                    <a:pt x="1583944" y="0"/>
                  </a:moveTo>
                  <a:lnTo>
                    <a:pt x="55880" y="0"/>
                  </a:lnTo>
                  <a:lnTo>
                    <a:pt x="34129" y="4391"/>
                  </a:lnTo>
                  <a:lnTo>
                    <a:pt x="16367" y="16367"/>
                  </a:lnTo>
                  <a:lnTo>
                    <a:pt x="4391" y="34129"/>
                  </a:lnTo>
                  <a:lnTo>
                    <a:pt x="0" y="55880"/>
                  </a:lnTo>
                  <a:lnTo>
                    <a:pt x="0" y="279400"/>
                  </a:lnTo>
                  <a:lnTo>
                    <a:pt x="4391" y="301150"/>
                  </a:lnTo>
                  <a:lnTo>
                    <a:pt x="16367" y="318912"/>
                  </a:lnTo>
                  <a:lnTo>
                    <a:pt x="34129" y="330888"/>
                  </a:lnTo>
                  <a:lnTo>
                    <a:pt x="55880" y="335280"/>
                  </a:lnTo>
                  <a:lnTo>
                    <a:pt x="1583944" y="335280"/>
                  </a:lnTo>
                  <a:lnTo>
                    <a:pt x="1605694" y="330888"/>
                  </a:lnTo>
                  <a:lnTo>
                    <a:pt x="1623456" y="318912"/>
                  </a:lnTo>
                  <a:lnTo>
                    <a:pt x="1635432" y="301150"/>
                  </a:lnTo>
                  <a:lnTo>
                    <a:pt x="1639824" y="279400"/>
                  </a:lnTo>
                  <a:lnTo>
                    <a:pt x="1639824" y="55880"/>
                  </a:lnTo>
                  <a:lnTo>
                    <a:pt x="1635432" y="34129"/>
                  </a:lnTo>
                  <a:lnTo>
                    <a:pt x="1623456" y="16367"/>
                  </a:lnTo>
                  <a:lnTo>
                    <a:pt x="1605694" y="4391"/>
                  </a:lnTo>
                  <a:lnTo>
                    <a:pt x="1583944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260335" y="2342387"/>
              <a:ext cx="1640205" cy="335280"/>
            </a:xfrm>
            <a:custGeom>
              <a:avLst/>
              <a:gdLst/>
              <a:ahLst/>
              <a:cxnLst/>
              <a:rect l="l" t="t" r="r" b="b"/>
              <a:pathLst>
                <a:path w="1640204" h="335280">
                  <a:moveTo>
                    <a:pt x="0" y="55880"/>
                  </a:moveTo>
                  <a:lnTo>
                    <a:pt x="4391" y="34129"/>
                  </a:lnTo>
                  <a:lnTo>
                    <a:pt x="16367" y="16367"/>
                  </a:lnTo>
                  <a:lnTo>
                    <a:pt x="34129" y="4391"/>
                  </a:lnTo>
                  <a:lnTo>
                    <a:pt x="55880" y="0"/>
                  </a:lnTo>
                  <a:lnTo>
                    <a:pt x="1583944" y="0"/>
                  </a:lnTo>
                  <a:lnTo>
                    <a:pt x="1605694" y="4391"/>
                  </a:lnTo>
                  <a:lnTo>
                    <a:pt x="1623456" y="16367"/>
                  </a:lnTo>
                  <a:lnTo>
                    <a:pt x="1635432" y="34129"/>
                  </a:lnTo>
                  <a:lnTo>
                    <a:pt x="1639824" y="55880"/>
                  </a:lnTo>
                  <a:lnTo>
                    <a:pt x="1639824" y="279400"/>
                  </a:lnTo>
                  <a:lnTo>
                    <a:pt x="1635432" y="301150"/>
                  </a:lnTo>
                  <a:lnTo>
                    <a:pt x="1623456" y="318912"/>
                  </a:lnTo>
                  <a:lnTo>
                    <a:pt x="1605694" y="330888"/>
                  </a:lnTo>
                  <a:lnTo>
                    <a:pt x="1583944" y="335280"/>
                  </a:lnTo>
                  <a:lnTo>
                    <a:pt x="55880" y="335280"/>
                  </a:lnTo>
                  <a:lnTo>
                    <a:pt x="34129" y="330888"/>
                  </a:lnTo>
                  <a:lnTo>
                    <a:pt x="16367" y="318912"/>
                  </a:lnTo>
                  <a:lnTo>
                    <a:pt x="4391" y="301150"/>
                  </a:lnTo>
                  <a:lnTo>
                    <a:pt x="0" y="279400"/>
                  </a:lnTo>
                  <a:lnTo>
                    <a:pt x="0" y="55880"/>
                  </a:lnTo>
                  <a:close/>
                </a:path>
              </a:pathLst>
            </a:custGeom>
            <a:ln w="12192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99487" y="3187193"/>
            <a:ext cx="214884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91901">
              <a:spcBef>
                <a:spcPts val="140"/>
              </a:spcBef>
            </a:pPr>
            <a:r>
              <a:rPr spc="-213" dirty="0">
                <a:solidFill>
                  <a:srgbClr val="FFFFFF"/>
                </a:solidFill>
                <a:latin typeface="Arial Black"/>
                <a:cs typeface="Arial Black"/>
              </a:rPr>
              <a:t>Client</a:t>
            </a:r>
            <a:r>
              <a:rPr spc="-127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pc="-240" dirty="0">
                <a:solidFill>
                  <a:srgbClr val="FFFFFF"/>
                </a:solidFill>
                <a:latin typeface="Arial Black"/>
                <a:cs typeface="Arial Black"/>
              </a:rPr>
              <a:t>Certs</a:t>
            </a:r>
            <a:endParaRPr>
              <a:latin typeface="Arial Black"/>
              <a:cs typeface="Arial Blac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4431" y="1282193"/>
            <a:ext cx="5405120" cy="3446780"/>
          </a:xfrm>
          <a:custGeom>
            <a:avLst/>
            <a:gdLst/>
            <a:ahLst/>
            <a:cxnLst/>
            <a:rect l="l" t="t" r="r" b="b"/>
            <a:pathLst>
              <a:path w="4053840" h="2585085">
                <a:moveTo>
                  <a:pt x="4053840" y="0"/>
                </a:moveTo>
                <a:lnTo>
                  <a:pt x="0" y="0"/>
                </a:lnTo>
                <a:lnTo>
                  <a:pt x="0" y="2584704"/>
                </a:lnTo>
                <a:lnTo>
                  <a:pt x="4053840" y="2584704"/>
                </a:lnTo>
                <a:lnTo>
                  <a:pt x="4053840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 txBox="1"/>
          <p:nvPr/>
        </p:nvSpPr>
        <p:spPr>
          <a:xfrm>
            <a:off x="259825" y="1324526"/>
            <a:ext cx="4859020" cy="33564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apiVersion:</a:t>
            </a:r>
            <a:r>
              <a:rPr sz="1200" b="1" spc="-2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7" dirty="0">
                <a:solidFill>
                  <a:srgbClr val="A9B7C5"/>
                </a:solidFill>
                <a:latin typeface="Courier New"/>
                <a:cs typeface="Courier New"/>
              </a:rPr>
              <a:t>v1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clusters: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dirty="0">
                <a:solidFill>
                  <a:srgbClr val="A9B7C5"/>
                </a:solidFill>
                <a:latin typeface="Courier New"/>
                <a:cs typeface="Courier New"/>
              </a:rPr>
              <a:t>-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cluster:</a:t>
            </a:r>
            <a:endParaRPr sz="1200" dirty="0">
              <a:latin typeface="Courier New"/>
              <a:cs typeface="Courier New"/>
            </a:endParaRPr>
          </a:p>
          <a:p>
            <a:pPr marL="382684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certificate-authority:</a:t>
            </a:r>
            <a:r>
              <a:rPr sz="1200" b="1" spc="2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/var/lib/kubernetes/ca.crt</a:t>
            </a:r>
            <a:endParaRPr sz="1200" dirty="0">
              <a:latin typeface="Courier New"/>
              <a:cs typeface="Courier New"/>
            </a:endParaRPr>
          </a:p>
          <a:p>
            <a:pPr marL="382684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server:</a:t>
            </a:r>
            <a:r>
              <a:rPr sz="1200" b="1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https://192.168.5.30:6443</a:t>
            </a:r>
            <a:endParaRPr sz="1200" dirty="0">
              <a:latin typeface="Courier New"/>
              <a:cs typeface="Courier New"/>
            </a:endParaRPr>
          </a:p>
          <a:p>
            <a:pPr marL="198962"/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200" b="1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bootstrap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contexts: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dirty="0">
                <a:solidFill>
                  <a:srgbClr val="A9B7C5"/>
                </a:solidFill>
                <a:latin typeface="Courier New"/>
                <a:cs typeface="Courier New"/>
              </a:rPr>
              <a:t>-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context:</a:t>
            </a:r>
            <a:endParaRPr sz="1200" dirty="0">
              <a:latin typeface="Courier New"/>
              <a:cs typeface="Courier New"/>
            </a:endParaRPr>
          </a:p>
          <a:p>
            <a:pPr marL="382684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cluster:</a:t>
            </a: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bootstrap</a:t>
            </a:r>
            <a:endParaRPr sz="1200" dirty="0">
              <a:latin typeface="Courier New"/>
              <a:cs typeface="Courier New"/>
            </a:endParaRPr>
          </a:p>
          <a:p>
            <a:pPr marL="382684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user:</a:t>
            </a: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kubelet-bootstrap</a:t>
            </a:r>
            <a:endParaRPr sz="1200" dirty="0">
              <a:latin typeface="Courier New"/>
              <a:cs typeface="Courier New"/>
            </a:endParaRPr>
          </a:p>
          <a:p>
            <a:pPr marL="198962"/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200" b="1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bootstrap</a:t>
            </a:r>
            <a:endParaRPr sz="1200" dirty="0">
              <a:latin typeface="Courier New"/>
              <a:cs typeface="Courier New"/>
            </a:endParaRPr>
          </a:p>
          <a:p>
            <a:pPr marL="16933"/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current-context:</a:t>
            </a:r>
            <a:r>
              <a:rPr sz="1200" b="1" spc="-2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bootstrap</a:t>
            </a:r>
            <a:endParaRPr sz="1200" dirty="0">
              <a:latin typeface="Courier New"/>
              <a:cs typeface="Courier New"/>
            </a:endParaRPr>
          </a:p>
          <a:p>
            <a:pPr marL="16933" marR="3462780"/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kind: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Config  </a:t>
            </a: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preferences: </a:t>
            </a:r>
            <a:r>
              <a:rPr sz="1200" spc="-7" dirty="0">
                <a:solidFill>
                  <a:srgbClr val="A9B7C5"/>
                </a:solidFill>
                <a:latin typeface="Courier New"/>
                <a:cs typeface="Courier New"/>
              </a:rPr>
              <a:t>{}  </a:t>
            </a: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users:</a:t>
            </a:r>
            <a:endParaRPr sz="1200" dirty="0">
              <a:latin typeface="Courier New"/>
              <a:cs typeface="Courier New"/>
            </a:endParaRPr>
          </a:p>
          <a:p>
            <a:pPr marL="16933">
              <a:spcBef>
                <a:spcPts val="7"/>
              </a:spcBef>
            </a:pPr>
            <a:r>
              <a:rPr sz="1200" dirty="0">
                <a:solidFill>
                  <a:srgbClr val="A9B7C5"/>
                </a:solidFill>
                <a:latin typeface="Courier New"/>
                <a:cs typeface="Courier New"/>
              </a:rPr>
              <a:t>- </a:t>
            </a: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200" b="1" spc="-2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kubelet-bootstrap</a:t>
            </a:r>
            <a:endParaRPr sz="1200" dirty="0">
              <a:latin typeface="Courier New"/>
              <a:cs typeface="Courier New"/>
            </a:endParaRPr>
          </a:p>
          <a:p>
            <a:pPr marL="382684" marR="1609473" indent="-182875">
              <a:lnSpc>
                <a:spcPts val="1467"/>
              </a:lnSpc>
              <a:spcBef>
                <a:spcPts val="27"/>
              </a:spcBef>
              <a:tabLst>
                <a:tab pos="3238419" algn="l"/>
              </a:tabLst>
            </a:pPr>
            <a:r>
              <a:rPr sz="1200" b="1" spc="-7" dirty="0">
                <a:solidFill>
                  <a:srgbClr val="CC7831"/>
                </a:solidFill>
                <a:latin typeface="Courier New"/>
                <a:cs typeface="Courier New"/>
              </a:rPr>
              <a:t>us</a:t>
            </a:r>
            <a:r>
              <a:rPr sz="1200" b="1" u="dash" spc="-7" dirty="0">
                <a:solidFill>
                  <a:srgbClr val="CC7831"/>
                </a:solidFill>
                <a:uFill>
                  <a:solidFill>
                    <a:srgbClr val="F762B8"/>
                  </a:solidFill>
                </a:uFill>
                <a:latin typeface="Courier New"/>
                <a:cs typeface="Courier New"/>
              </a:rPr>
              <a:t>er: 	</a:t>
            </a:r>
            <a:r>
              <a:rPr sz="1200" b="1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b="1" spc="-13" dirty="0">
                <a:solidFill>
                  <a:srgbClr val="CC7831"/>
                </a:solidFill>
                <a:latin typeface="Courier New"/>
                <a:cs typeface="Courier New"/>
              </a:rPr>
              <a:t>token:</a:t>
            </a:r>
            <a:r>
              <a:rPr sz="1200" b="1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200" spc="-13" dirty="0">
                <a:solidFill>
                  <a:srgbClr val="A9B7C5"/>
                </a:solidFill>
                <a:latin typeface="Courier New"/>
                <a:cs typeface="Courier New"/>
              </a:rPr>
              <a:t>07401b.f395accd246ae52d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0527" y="912369"/>
            <a:ext cx="2306319" cy="369993"/>
          </a:xfrm>
          <a:custGeom>
            <a:avLst/>
            <a:gdLst/>
            <a:ahLst/>
            <a:cxnLst/>
            <a:rect l="l" t="t" r="r" b="b"/>
            <a:pathLst>
              <a:path w="1729739" h="277494">
                <a:moveTo>
                  <a:pt x="1729739" y="0"/>
                </a:moveTo>
                <a:lnTo>
                  <a:pt x="0" y="0"/>
                </a:lnTo>
                <a:lnTo>
                  <a:pt x="0" y="277367"/>
                </a:lnTo>
                <a:lnTo>
                  <a:pt x="1729739" y="277367"/>
                </a:lnTo>
                <a:lnTo>
                  <a:pt x="1729739" y="0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264702" y="950638"/>
            <a:ext cx="199305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67" dirty="0">
                <a:solidFill>
                  <a:srgbClr val="FFFFFF"/>
                </a:solidFill>
                <a:latin typeface="Arial Black"/>
                <a:cs typeface="Arial Black"/>
              </a:rPr>
              <a:t>bootstrap-kubeconfig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1631" y="4405377"/>
            <a:ext cx="11264053" cy="2461260"/>
            <a:chOff x="458723" y="3304032"/>
            <a:chExt cx="8448040" cy="1845945"/>
          </a:xfrm>
        </p:grpSpPr>
        <p:sp>
          <p:nvSpPr>
            <p:cNvPr id="14" name="object 14"/>
            <p:cNvSpPr/>
            <p:nvPr/>
          </p:nvSpPr>
          <p:spPr>
            <a:xfrm>
              <a:off x="458723" y="3304032"/>
              <a:ext cx="2178050" cy="257810"/>
            </a:xfrm>
            <a:custGeom>
              <a:avLst/>
              <a:gdLst/>
              <a:ahLst/>
              <a:cxnLst/>
              <a:rect l="l" t="t" r="r" b="b"/>
              <a:pathLst>
                <a:path w="2178050" h="257810">
                  <a:moveTo>
                    <a:pt x="2134870" y="0"/>
                  </a:moveTo>
                  <a:lnTo>
                    <a:pt x="42926" y="0"/>
                  </a:lnTo>
                  <a:lnTo>
                    <a:pt x="26215" y="3367"/>
                  </a:lnTo>
                  <a:lnTo>
                    <a:pt x="12571" y="12557"/>
                  </a:lnTo>
                  <a:lnTo>
                    <a:pt x="3372" y="26199"/>
                  </a:lnTo>
                  <a:lnTo>
                    <a:pt x="0" y="42926"/>
                  </a:lnTo>
                  <a:lnTo>
                    <a:pt x="0" y="214630"/>
                  </a:lnTo>
                  <a:lnTo>
                    <a:pt x="3372" y="231356"/>
                  </a:lnTo>
                  <a:lnTo>
                    <a:pt x="12571" y="244998"/>
                  </a:lnTo>
                  <a:lnTo>
                    <a:pt x="26215" y="254188"/>
                  </a:lnTo>
                  <a:lnTo>
                    <a:pt x="42926" y="257556"/>
                  </a:lnTo>
                  <a:lnTo>
                    <a:pt x="2134870" y="257556"/>
                  </a:lnTo>
                  <a:lnTo>
                    <a:pt x="2151596" y="254188"/>
                  </a:lnTo>
                  <a:lnTo>
                    <a:pt x="2165238" y="244998"/>
                  </a:lnTo>
                  <a:lnTo>
                    <a:pt x="2174428" y="231356"/>
                  </a:lnTo>
                  <a:lnTo>
                    <a:pt x="2177796" y="214630"/>
                  </a:lnTo>
                  <a:lnTo>
                    <a:pt x="2177796" y="42926"/>
                  </a:lnTo>
                  <a:lnTo>
                    <a:pt x="2174428" y="26199"/>
                  </a:lnTo>
                  <a:lnTo>
                    <a:pt x="2165238" y="12557"/>
                  </a:lnTo>
                  <a:lnTo>
                    <a:pt x="2151596" y="3367"/>
                  </a:lnTo>
                  <a:lnTo>
                    <a:pt x="2134870" y="0"/>
                  </a:lnTo>
                  <a:close/>
                </a:path>
              </a:pathLst>
            </a:custGeom>
            <a:solidFill>
              <a:srgbClr val="1780C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6344" y="3523487"/>
              <a:ext cx="4624070" cy="1620520"/>
            </a:xfrm>
            <a:custGeom>
              <a:avLst/>
              <a:gdLst/>
              <a:ahLst/>
              <a:cxnLst/>
              <a:rect l="l" t="t" r="r" b="b"/>
              <a:pathLst>
                <a:path w="4624070" h="1620520">
                  <a:moveTo>
                    <a:pt x="4623815" y="1620010"/>
                  </a:moveTo>
                  <a:lnTo>
                    <a:pt x="4623815" y="0"/>
                  </a:lnTo>
                  <a:lnTo>
                    <a:pt x="0" y="0"/>
                  </a:lnTo>
                  <a:lnTo>
                    <a:pt x="0" y="162001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825404" y="4795401"/>
            <a:ext cx="5310293" cy="1807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3"/>
              </a:lnSpc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ExecStart=/usr/local/bin/kubelet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52" dirty="0">
                <a:solidFill>
                  <a:srgbClr val="FFFFFF"/>
                </a:solidFill>
                <a:latin typeface="Arial"/>
                <a:cs typeface="Arial"/>
              </a:rPr>
              <a:t>--config=/var/lib/kubelet/kubelet-config.yaml</a:t>
            </a:r>
            <a:r>
              <a:rPr sz="1333" spc="3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93" dirty="0">
                <a:solidFill>
                  <a:srgbClr val="FFFFFF"/>
                </a:solidFill>
                <a:latin typeface="Arial"/>
                <a:cs typeface="Arial"/>
              </a:rPr>
              <a:t>--image-pull-progress-deadline=2m</a:t>
            </a:r>
            <a:r>
              <a:rPr sz="1333" spc="3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--kubeconfig=/var/lib/kubelet/kubeconfig</a:t>
            </a:r>
            <a:r>
              <a:rPr sz="1333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93" dirty="0">
                <a:solidFill>
                  <a:srgbClr val="FFFFFF"/>
                </a:solidFill>
                <a:latin typeface="Arial"/>
                <a:cs typeface="Arial"/>
              </a:rPr>
              <a:t>--tls-cert-file=/var/lib/kubelet/worker-1.crt</a:t>
            </a:r>
            <a:r>
              <a:rPr sz="1333" spc="3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73" dirty="0">
                <a:solidFill>
                  <a:srgbClr val="FFFFFF"/>
                </a:solidFill>
                <a:latin typeface="Arial"/>
                <a:cs typeface="Arial"/>
              </a:rPr>
              <a:t>--tls-private-key-file=/var/lib/kubelet/worker-1.key</a:t>
            </a:r>
            <a:r>
              <a:rPr sz="1333" spc="40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27" dirty="0">
                <a:solidFill>
                  <a:srgbClr val="FFFFFF"/>
                </a:solidFill>
                <a:latin typeface="Arial"/>
                <a:cs typeface="Arial"/>
              </a:rPr>
              <a:t>--network-plugin=cni</a:t>
            </a:r>
            <a:r>
              <a:rPr sz="1333" spc="2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33" dirty="0">
                <a:solidFill>
                  <a:srgbClr val="FFFFFF"/>
                </a:solidFill>
                <a:latin typeface="Arial"/>
                <a:cs typeface="Arial"/>
              </a:rPr>
              <a:t>--register-node=true</a:t>
            </a:r>
            <a:r>
              <a:rPr sz="1333" spc="3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13" dirty="0">
                <a:solidFill>
                  <a:srgbClr val="FFFFFF"/>
                </a:solidFill>
                <a:latin typeface="Arial"/>
                <a:cs typeface="Arial"/>
              </a:rPr>
              <a:t>--v=2</a:t>
            </a:r>
            <a:endParaRPr sz="1333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01793" y="4378960"/>
            <a:ext cx="1680633" cy="304800"/>
          </a:xfrm>
          <a:custGeom>
            <a:avLst/>
            <a:gdLst/>
            <a:ahLst/>
            <a:cxnLst/>
            <a:rect l="l" t="t" r="r" b="b"/>
            <a:pathLst>
              <a:path w="1260475" h="228600">
                <a:moveTo>
                  <a:pt x="0" y="228599"/>
                </a:moveTo>
                <a:lnTo>
                  <a:pt x="1260348" y="228599"/>
                </a:lnTo>
                <a:lnTo>
                  <a:pt x="1260348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5808471" y="4418924"/>
            <a:ext cx="136144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227" dirty="0">
                <a:solidFill>
                  <a:srgbClr val="FFFFFF"/>
                </a:solidFill>
                <a:latin typeface="Arial Black"/>
                <a:cs typeface="Arial Black"/>
              </a:rPr>
              <a:t>k</a:t>
            </a:r>
            <a:r>
              <a:rPr sz="1600" spc="-213" dirty="0">
                <a:solidFill>
                  <a:srgbClr val="FFFFFF"/>
                </a:solidFill>
                <a:latin typeface="Arial Black"/>
                <a:cs typeface="Arial Black"/>
              </a:rPr>
              <a:t>u</a:t>
            </a:r>
            <a:r>
              <a:rPr sz="1600" spc="-207" dirty="0">
                <a:solidFill>
                  <a:srgbClr val="FFFFFF"/>
                </a:solidFill>
                <a:latin typeface="Arial Black"/>
                <a:cs typeface="Arial Black"/>
              </a:rPr>
              <a:t>be</a:t>
            </a:r>
            <a:r>
              <a:rPr sz="1600" spc="-113" dirty="0">
                <a:solidFill>
                  <a:srgbClr val="FFFFFF"/>
                </a:solidFill>
                <a:latin typeface="Arial Black"/>
                <a:cs typeface="Arial Black"/>
              </a:rPr>
              <a:t>l</a:t>
            </a:r>
            <a:r>
              <a:rPr sz="1600" spc="-24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600" spc="-180" dirty="0">
                <a:solidFill>
                  <a:srgbClr val="FFFFFF"/>
                </a:solidFill>
                <a:latin typeface="Arial Black"/>
                <a:cs typeface="Arial Black"/>
              </a:rPr>
              <a:t>t.</a:t>
            </a:r>
            <a:r>
              <a:rPr sz="1600" spc="-313" dirty="0">
                <a:solidFill>
                  <a:srgbClr val="FFFFFF"/>
                </a:solidFill>
                <a:latin typeface="Arial Black"/>
                <a:cs typeface="Arial Black"/>
              </a:rPr>
              <a:t>s</a:t>
            </a:r>
            <a:r>
              <a:rPr sz="1600" spc="-24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600" spc="-100" dirty="0">
                <a:solidFill>
                  <a:srgbClr val="FFFFFF"/>
                </a:solidFill>
                <a:latin typeface="Arial Black"/>
                <a:cs typeface="Arial Black"/>
              </a:rPr>
              <a:t>r</a:t>
            </a:r>
            <a:r>
              <a:rPr sz="1600" spc="-207" dirty="0">
                <a:solidFill>
                  <a:srgbClr val="FFFFFF"/>
                </a:solidFill>
                <a:latin typeface="Arial Black"/>
                <a:cs typeface="Arial Black"/>
              </a:rPr>
              <a:t>vi</a:t>
            </a:r>
            <a:r>
              <a:rPr sz="1600" spc="-293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600" spc="-233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01792" y="4697983"/>
            <a:ext cx="6165427" cy="2160693"/>
          </a:xfrm>
          <a:custGeom>
            <a:avLst/>
            <a:gdLst/>
            <a:ahLst/>
            <a:cxnLst/>
            <a:rect l="l" t="t" r="r" b="b"/>
            <a:pathLst>
              <a:path w="4624070" h="1620520">
                <a:moveTo>
                  <a:pt x="4623815" y="1620010"/>
                </a:moveTo>
                <a:lnTo>
                  <a:pt x="4623815" y="0"/>
                </a:lnTo>
                <a:lnTo>
                  <a:pt x="0" y="0"/>
                </a:lnTo>
                <a:lnTo>
                  <a:pt x="0" y="162001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5825404" y="4795401"/>
            <a:ext cx="5310293" cy="2035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3"/>
              </a:lnSpc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ExecStart=/usr/local/bin/kubelet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52" dirty="0">
                <a:solidFill>
                  <a:srgbClr val="FFFFFF"/>
                </a:solidFill>
                <a:latin typeface="Arial"/>
                <a:cs typeface="Arial"/>
              </a:rPr>
              <a:t>--config=/var/lib/kubelet/kubelet-config.yaml</a:t>
            </a:r>
            <a:r>
              <a:rPr sz="1333" spc="3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93" dirty="0">
                <a:solidFill>
                  <a:srgbClr val="FFFFFF"/>
                </a:solidFill>
                <a:latin typeface="Arial"/>
                <a:cs typeface="Arial"/>
              </a:rPr>
              <a:t>--image-pull-progress-deadline=2m</a:t>
            </a:r>
            <a:r>
              <a:rPr sz="1333" spc="3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33">
              <a:latin typeface="Arial"/>
              <a:cs typeface="Arial"/>
            </a:endParaRPr>
          </a:p>
          <a:p>
            <a:pPr>
              <a:spcBef>
                <a:spcPts val="53"/>
              </a:spcBef>
            </a:pPr>
            <a:endParaRPr sz="1400">
              <a:latin typeface="Arial"/>
              <a:cs typeface="Arial"/>
            </a:endParaRPr>
          </a:p>
          <a:p>
            <a:pPr marL="186262"/>
            <a:r>
              <a:rPr sz="1333" spc="193" dirty="0">
                <a:solidFill>
                  <a:srgbClr val="FFFFFF"/>
                </a:solidFill>
                <a:latin typeface="Arial"/>
                <a:cs typeface="Arial"/>
              </a:rPr>
              <a:t>--tls-cert-file=/var/lib/kubelet/worker-1.crt</a:t>
            </a:r>
            <a:r>
              <a:rPr sz="1333" spc="3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73" dirty="0">
                <a:solidFill>
                  <a:srgbClr val="FFFFFF"/>
                </a:solidFill>
                <a:latin typeface="Arial"/>
                <a:cs typeface="Arial"/>
              </a:rPr>
              <a:t>--tls-private-key-file=/var/lib/kubelet/worker-1.key</a:t>
            </a:r>
            <a:r>
              <a:rPr sz="1333" spc="40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>
              <a:spcBef>
                <a:spcPts val="7"/>
              </a:spcBef>
            </a:pPr>
            <a:r>
              <a:rPr sz="1333" spc="127" dirty="0">
                <a:solidFill>
                  <a:srgbClr val="FFFFFF"/>
                </a:solidFill>
                <a:latin typeface="Arial"/>
                <a:cs typeface="Arial"/>
              </a:rPr>
              <a:t>--network-plugin=cni</a:t>
            </a:r>
            <a:r>
              <a:rPr sz="1333" spc="2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33" dirty="0">
                <a:solidFill>
                  <a:srgbClr val="FFFFFF"/>
                </a:solidFill>
                <a:latin typeface="Arial"/>
                <a:cs typeface="Arial"/>
              </a:rPr>
              <a:t>--register-node=true</a:t>
            </a:r>
            <a:r>
              <a:rPr sz="1333" spc="3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13" dirty="0">
                <a:solidFill>
                  <a:srgbClr val="FFFFFF"/>
                </a:solidFill>
                <a:latin typeface="Arial"/>
                <a:cs typeface="Arial"/>
              </a:rPr>
              <a:t>--v=2</a:t>
            </a:r>
            <a:endParaRPr sz="1333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01792" y="4683759"/>
            <a:ext cx="6165427" cy="2176780"/>
          </a:xfrm>
          <a:custGeom>
            <a:avLst/>
            <a:gdLst/>
            <a:ahLst/>
            <a:cxnLst/>
            <a:rect l="l" t="t" r="r" b="b"/>
            <a:pathLst>
              <a:path w="4624070" h="1632585">
                <a:moveTo>
                  <a:pt x="0" y="1632203"/>
                </a:moveTo>
                <a:lnTo>
                  <a:pt x="4623815" y="1632203"/>
                </a:lnTo>
                <a:lnTo>
                  <a:pt x="4623815" y="0"/>
                </a:lnTo>
                <a:lnTo>
                  <a:pt x="0" y="0"/>
                </a:lnTo>
                <a:lnTo>
                  <a:pt x="0" y="1632203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5825404" y="4782362"/>
            <a:ext cx="5310293" cy="2035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3"/>
              </a:lnSpc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ExecStart=/usr/local/bin/kubelet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52" dirty="0">
                <a:solidFill>
                  <a:srgbClr val="FFFFFF"/>
                </a:solidFill>
                <a:latin typeface="Arial"/>
                <a:cs typeface="Arial"/>
              </a:rPr>
              <a:t>--config=/var/lib/kubelet/kubelet-config.yaml</a:t>
            </a:r>
            <a:r>
              <a:rPr sz="1333" spc="3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93" dirty="0">
                <a:solidFill>
                  <a:srgbClr val="FFFFFF"/>
                </a:solidFill>
                <a:latin typeface="Arial"/>
                <a:cs typeface="Arial"/>
              </a:rPr>
              <a:t>--image-pull-progress-deadline=2m</a:t>
            </a:r>
            <a:r>
              <a:rPr sz="1333" spc="3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33">
              <a:latin typeface="Arial"/>
              <a:cs typeface="Arial"/>
            </a:endParaRPr>
          </a:p>
          <a:p>
            <a:pPr>
              <a:spcBef>
                <a:spcPts val="60"/>
              </a:spcBef>
            </a:pPr>
            <a:endParaRPr sz="1400">
              <a:latin typeface="Arial"/>
              <a:cs typeface="Arial"/>
            </a:endParaRPr>
          </a:p>
          <a:p>
            <a:pPr marL="186262"/>
            <a:r>
              <a:rPr sz="1333" spc="193" dirty="0">
                <a:solidFill>
                  <a:srgbClr val="FFFFFF"/>
                </a:solidFill>
                <a:latin typeface="Arial"/>
                <a:cs typeface="Arial"/>
              </a:rPr>
              <a:t>--tls-cert-file=/var/lib/kubelet/worker-1.crt</a:t>
            </a:r>
            <a:r>
              <a:rPr sz="1333" spc="3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73" dirty="0">
                <a:solidFill>
                  <a:srgbClr val="FFFFFF"/>
                </a:solidFill>
                <a:latin typeface="Arial"/>
                <a:cs typeface="Arial"/>
              </a:rPr>
              <a:t>--tls-private-key-file=/var/lib/kubelet/worker-1.key</a:t>
            </a:r>
            <a:r>
              <a:rPr sz="1333" spc="40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27" dirty="0">
                <a:solidFill>
                  <a:srgbClr val="FFFFFF"/>
                </a:solidFill>
                <a:latin typeface="Arial"/>
                <a:cs typeface="Arial"/>
              </a:rPr>
              <a:t>--network-plugin=cni</a:t>
            </a:r>
            <a:r>
              <a:rPr sz="1333" spc="2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33" dirty="0">
                <a:solidFill>
                  <a:srgbClr val="FFFFFF"/>
                </a:solidFill>
                <a:latin typeface="Arial"/>
                <a:cs typeface="Arial"/>
              </a:rPr>
              <a:t>--register-node=true</a:t>
            </a:r>
            <a:r>
              <a:rPr sz="1333" spc="3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86262"/>
            <a:r>
              <a:rPr sz="1333" spc="113" dirty="0">
                <a:solidFill>
                  <a:srgbClr val="FFFFFF"/>
                </a:solidFill>
                <a:latin typeface="Arial"/>
                <a:cs typeface="Arial"/>
              </a:rPr>
              <a:t>--v=2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93664" y="4687824"/>
            <a:ext cx="6181513" cy="2178473"/>
            <a:chOff x="4270247" y="3515867"/>
            <a:chExt cx="4636135" cy="1633855"/>
          </a:xfrm>
        </p:grpSpPr>
        <p:sp>
          <p:nvSpPr>
            <p:cNvPr id="24" name="object 24"/>
            <p:cNvSpPr/>
            <p:nvPr/>
          </p:nvSpPr>
          <p:spPr>
            <a:xfrm>
              <a:off x="4276343" y="3521963"/>
              <a:ext cx="4624070" cy="1621790"/>
            </a:xfrm>
            <a:custGeom>
              <a:avLst/>
              <a:gdLst/>
              <a:ahLst/>
              <a:cxnLst/>
              <a:rect l="l" t="t" r="r" b="b"/>
              <a:pathLst>
                <a:path w="4624070" h="1621789">
                  <a:moveTo>
                    <a:pt x="4623815" y="0"/>
                  </a:moveTo>
                  <a:lnTo>
                    <a:pt x="0" y="0"/>
                  </a:lnTo>
                  <a:lnTo>
                    <a:pt x="0" y="1621534"/>
                  </a:lnTo>
                  <a:lnTo>
                    <a:pt x="4623815" y="1621534"/>
                  </a:lnTo>
                  <a:lnTo>
                    <a:pt x="46238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276343" y="3521963"/>
              <a:ext cx="4624070" cy="1621790"/>
            </a:xfrm>
            <a:custGeom>
              <a:avLst/>
              <a:gdLst/>
              <a:ahLst/>
              <a:cxnLst/>
              <a:rect l="l" t="t" r="r" b="b"/>
              <a:pathLst>
                <a:path w="4624070" h="1621789">
                  <a:moveTo>
                    <a:pt x="4623815" y="1621534"/>
                  </a:moveTo>
                  <a:lnTo>
                    <a:pt x="4623815" y="0"/>
                  </a:lnTo>
                  <a:lnTo>
                    <a:pt x="0" y="0"/>
                  </a:lnTo>
                  <a:lnTo>
                    <a:pt x="0" y="1621534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808471" y="4733544"/>
            <a:ext cx="4691380" cy="63160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ExecStart=/usr/local/bin/kubelet</a:t>
            </a:r>
            <a:r>
              <a:rPr sz="1333" spc="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152" dirty="0">
                <a:solidFill>
                  <a:srgbClr val="FFFFFF"/>
                </a:solidFill>
                <a:latin typeface="Arial"/>
                <a:cs typeface="Arial"/>
              </a:rPr>
              <a:t>--config=/var/lib/kubelet/kubelet-config.yaml</a:t>
            </a:r>
            <a:r>
              <a:rPr sz="1333" spc="4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203195"/>
            <a:r>
              <a:rPr sz="1333" spc="93" dirty="0">
                <a:solidFill>
                  <a:srgbClr val="FFFFFF"/>
                </a:solidFill>
                <a:latin typeface="Arial"/>
                <a:cs typeface="Arial"/>
              </a:rPr>
              <a:t>--image-pull-progress-deadline=2m</a:t>
            </a:r>
            <a:r>
              <a:rPr sz="1333" spc="3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95415" y="6156282"/>
            <a:ext cx="2175933" cy="63160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127" dirty="0">
                <a:solidFill>
                  <a:srgbClr val="FFFFFF"/>
                </a:solidFill>
                <a:latin typeface="Arial"/>
                <a:cs typeface="Arial"/>
              </a:rPr>
              <a:t>--network-plugin=cni</a:t>
            </a:r>
            <a:r>
              <a:rPr sz="1333" spc="2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6933"/>
            <a:r>
              <a:rPr sz="1333" spc="133" dirty="0">
                <a:solidFill>
                  <a:srgbClr val="FFFFFF"/>
                </a:solidFill>
                <a:latin typeface="Arial"/>
                <a:cs typeface="Arial"/>
              </a:rPr>
              <a:t>--register-node=true</a:t>
            </a:r>
            <a:r>
              <a:rPr sz="1333" spc="3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6933"/>
            <a:r>
              <a:rPr sz="1333" spc="113" dirty="0">
                <a:solidFill>
                  <a:srgbClr val="FFFFFF"/>
                </a:solidFill>
                <a:latin typeface="Arial"/>
                <a:cs typeface="Arial"/>
              </a:rPr>
              <a:t>--v=2</a:t>
            </a:r>
            <a:endParaRPr sz="1333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98634" y="5361364"/>
            <a:ext cx="6087533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140" dirty="0">
                <a:solidFill>
                  <a:srgbClr val="FFFFFF"/>
                </a:solidFill>
                <a:latin typeface="Arial"/>
                <a:cs typeface="Arial"/>
              </a:rPr>
              <a:t>--bootstrap-kubeconfig="/var/lib/kubelet/bootstrap-kubeconfig"</a:t>
            </a:r>
            <a:r>
              <a:rPr sz="1333" spc="3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98633" y="5484503"/>
            <a:ext cx="3388360" cy="576098"/>
          </a:xfrm>
          <a:prstGeom prst="rect">
            <a:avLst/>
          </a:prstGeom>
        </p:spPr>
        <p:txBody>
          <a:bodyPr vert="horz" wrap="square" lIns="0" tIns="88053" rIns="0" bIns="0" rtlCol="0">
            <a:spAutoFit/>
          </a:bodyPr>
          <a:lstStyle/>
          <a:p>
            <a:pPr marL="16933">
              <a:spcBef>
                <a:spcPts val="693"/>
              </a:spcBef>
            </a:pPr>
            <a:r>
              <a:rPr sz="1333" spc="180" dirty="0">
                <a:solidFill>
                  <a:srgbClr val="FFFFFF"/>
                </a:solidFill>
                <a:latin typeface="Arial"/>
                <a:cs typeface="Arial"/>
              </a:rPr>
              <a:t>--rotate-certificates=true</a:t>
            </a:r>
            <a:r>
              <a:rPr sz="1333" spc="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  <a:p>
            <a:pPr marL="16933">
              <a:spcBef>
                <a:spcPts val="560"/>
              </a:spcBef>
            </a:pPr>
            <a:r>
              <a:rPr sz="1333" spc="167" dirty="0">
                <a:solidFill>
                  <a:srgbClr val="FFFFFF"/>
                </a:solidFill>
                <a:latin typeface="Arial"/>
                <a:cs typeface="Arial"/>
              </a:rPr>
              <a:t>--rotate-server-certificates=true</a:t>
            </a:r>
            <a:r>
              <a:rPr sz="1333" spc="4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\\</a:t>
            </a:r>
            <a:endParaRPr sz="1333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5720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1443227" y="1136903"/>
              <a:ext cx="1638300" cy="335280"/>
            </a:xfrm>
            <a:custGeom>
              <a:avLst/>
              <a:gdLst/>
              <a:ahLst/>
              <a:cxnLst/>
              <a:rect l="l" t="t" r="r" b="b"/>
              <a:pathLst>
                <a:path w="1638300" h="335280">
                  <a:moveTo>
                    <a:pt x="1582420" y="0"/>
                  </a:moveTo>
                  <a:lnTo>
                    <a:pt x="55880" y="0"/>
                  </a:lnTo>
                  <a:lnTo>
                    <a:pt x="34129" y="4391"/>
                  </a:lnTo>
                  <a:lnTo>
                    <a:pt x="16367" y="16367"/>
                  </a:lnTo>
                  <a:lnTo>
                    <a:pt x="4391" y="34129"/>
                  </a:lnTo>
                  <a:lnTo>
                    <a:pt x="0" y="55880"/>
                  </a:lnTo>
                  <a:lnTo>
                    <a:pt x="0" y="279400"/>
                  </a:lnTo>
                  <a:lnTo>
                    <a:pt x="4391" y="301150"/>
                  </a:lnTo>
                  <a:lnTo>
                    <a:pt x="16367" y="318912"/>
                  </a:lnTo>
                  <a:lnTo>
                    <a:pt x="34129" y="330888"/>
                  </a:lnTo>
                  <a:lnTo>
                    <a:pt x="55880" y="335280"/>
                  </a:lnTo>
                  <a:lnTo>
                    <a:pt x="1582420" y="335280"/>
                  </a:lnTo>
                  <a:lnTo>
                    <a:pt x="1604170" y="330888"/>
                  </a:lnTo>
                  <a:lnTo>
                    <a:pt x="1621932" y="318912"/>
                  </a:lnTo>
                  <a:lnTo>
                    <a:pt x="1633908" y="301150"/>
                  </a:lnTo>
                  <a:lnTo>
                    <a:pt x="1638300" y="279400"/>
                  </a:lnTo>
                  <a:lnTo>
                    <a:pt x="1638300" y="55880"/>
                  </a:lnTo>
                  <a:lnTo>
                    <a:pt x="1633908" y="34129"/>
                  </a:lnTo>
                  <a:lnTo>
                    <a:pt x="1621932" y="16367"/>
                  </a:lnTo>
                  <a:lnTo>
                    <a:pt x="1604170" y="4391"/>
                  </a:lnTo>
                  <a:lnTo>
                    <a:pt x="1582420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1443227" y="1136903"/>
              <a:ext cx="1638300" cy="335280"/>
            </a:xfrm>
            <a:custGeom>
              <a:avLst/>
              <a:gdLst/>
              <a:ahLst/>
              <a:cxnLst/>
              <a:rect l="l" t="t" r="r" b="b"/>
              <a:pathLst>
                <a:path w="1638300" h="335280">
                  <a:moveTo>
                    <a:pt x="0" y="55880"/>
                  </a:moveTo>
                  <a:lnTo>
                    <a:pt x="4391" y="34129"/>
                  </a:lnTo>
                  <a:lnTo>
                    <a:pt x="16367" y="16367"/>
                  </a:lnTo>
                  <a:lnTo>
                    <a:pt x="34129" y="4391"/>
                  </a:lnTo>
                  <a:lnTo>
                    <a:pt x="55880" y="0"/>
                  </a:lnTo>
                  <a:lnTo>
                    <a:pt x="1582420" y="0"/>
                  </a:lnTo>
                  <a:lnTo>
                    <a:pt x="1604170" y="4391"/>
                  </a:lnTo>
                  <a:lnTo>
                    <a:pt x="1621932" y="16367"/>
                  </a:lnTo>
                  <a:lnTo>
                    <a:pt x="1633908" y="34129"/>
                  </a:lnTo>
                  <a:lnTo>
                    <a:pt x="1638300" y="55880"/>
                  </a:lnTo>
                  <a:lnTo>
                    <a:pt x="1638300" y="279400"/>
                  </a:lnTo>
                  <a:lnTo>
                    <a:pt x="1633908" y="301150"/>
                  </a:lnTo>
                  <a:lnTo>
                    <a:pt x="1621932" y="318912"/>
                  </a:lnTo>
                  <a:lnTo>
                    <a:pt x="1604170" y="330888"/>
                  </a:lnTo>
                  <a:lnTo>
                    <a:pt x="1582420" y="335280"/>
                  </a:lnTo>
                  <a:lnTo>
                    <a:pt x="55880" y="335280"/>
                  </a:lnTo>
                  <a:lnTo>
                    <a:pt x="34129" y="330888"/>
                  </a:lnTo>
                  <a:lnTo>
                    <a:pt x="16367" y="318912"/>
                  </a:lnTo>
                  <a:lnTo>
                    <a:pt x="4391" y="301150"/>
                  </a:lnTo>
                  <a:lnTo>
                    <a:pt x="0" y="279400"/>
                  </a:lnTo>
                  <a:lnTo>
                    <a:pt x="0" y="55880"/>
                  </a:lnTo>
                  <a:close/>
                </a:path>
              </a:pathLst>
            </a:custGeom>
            <a:ln w="12192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43343" y="1587344"/>
            <a:ext cx="2147147" cy="294953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462268">
              <a:lnSpc>
                <a:spcPct val="100000"/>
              </a:lnSpc>
              <a:spcBef>
                <a:spcPts val="140"/>
              </a:spcBef>
            </a:pPr>
            <a:r>
              <a:rPr sz="1800" spc="-240" dirty="0">
                <a:latin typeface="Arial Black"/>
                <a:cs typeface="Arial Black"/>
              </a:rPr>
              <a:t>Server</a:t>
            </a:r>
            <a:r>
              <a:rPr sz="1800" spc="-127" dirty="0">
                <a:latin typeface="Arial Black"/>
                <a:cs typeface="Arial Black"/>
              </a:rPr>
              <a:t> </a:t>
            </a:r>
            <a:r>
              <a:rPr sz="1800" spc="-240" dirty="0">
                <a:latin typeface="Arial Black"/>
                <a:cs typeface="Arial Black"/>
              </a:rPr>
              <a:t>Certs</a:t>
            </a:r>
            <a:endParaRPr sz="1800"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273964" y="1511470"/>
            <a:ext cx="2201333" cy="463973"/>
            <a:chOff x="6205473" y="1133602"/>
            <a:chExt cx="1651000" cy="347980"/>
          </a:xfrm>
        </p:grpSpPr>
        <p:sp>
          <p:nvSpPr>
            <p:cNvPr id="7" name="object 7"/>
            <p:cNvSpPr/>
            <p:nvPr/>
          </p:nvSpPr>
          <p:spPr>
            <a:xfrm>
              <a:off x="6211823" y="1139952"/>
              <a:ext cx="1638300" cy="335280"/>
            </a:xfrm>
            <a:custGeom>
              <a:avLst/>
              <a:gdLst/>
              <a:ahLst/>
              <a:cxnLst/>
              <a:rect l="l" t="t" r="r" b="b"/>
              <a:pathLst>
                <a:path w="1638300" h="335280">
                  <a:moveTo>
                    <a:pt x="1582420" y="0"/>
                  </a:moveTo>
                  <a:lnTo>
                    <a:pt x="55879" y="0"/>
                  </a:lnTo>
                  <a:lnTo>
                    <a:pt x="34129" y="4391"/>
                  </a:lnTo>
                  <a:lnTo>
                    <a:pt x="16367" y="16367"/>
                  </a:lnTo>
                  <a:lnTo>
                    <a:pt x="4391" y="34129"/>
                  </a:lnTo>
                  <a:lnTo>
                    <a:pt x="0" y="55880"/>
                  </a:lnTo>
                  <a:lnTo>
                    <a:pt x="0" y="279400"/>
                  </a:lnTo>
                  <a:lnTo>
                    <a:pt x="4391" y="301150"/>
                  </a:lnTo>
                  <a:lnTo>
                    <a:pt x="16367" y="318912"/>
                  </a:lnTo>
                  <a:lnTo>
                    <a:pt x="34129" y="330888"/>
                  </a:lnTo>
                  <a:lnTo>
                    <a:pt x="55879" y="335280"/>
                  </a:lnTo>
                  <a:lnTo>
                    <a:pt x="1582420" y="335280"/>
                  </a:lnTo>
                  <a:lnTo>
                    <a:pt x="1604170" y="330888"/>
                  </a:lnTo>
                  <a:lnTo>
                    <a:pt x="1621932" y="318912"/>
                  </a:lnTo>
                  <a:lnTo>
                    <a:pt x="1633908" y="301150"/>
                  </a:lnTo>
                  <a:lnTo>
                    <a:pt x="1638300" y="279400"/>
                  </a:lnTo>
                  <a:lnTo>
                    <a:pt x="1638300" y="55880"/>
                  </a:lnTo>
                  <a:lnTo>
                    <a:pt x="1633908" y="34129"/>
                  </a:lnTo>
                  <a:lnTo>
                    <a:pt x="1621932" y="16367"/>
                  </a:lnTo>
                  <a:lnTo>
                    <a:pt x="1604170" y="4391"/>
                  </a:lnTo>
                  <a:lnTo>
                    <a:pt x="1582420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6211823" y="1139952"/>
              <a:ext cx="1638300" cy="335280"/>
            </a:xfrm>
            <a:custGeom>
              <a:avLst/>
              <a:gdLst/>
              <a:ahLst/>
              <a:cxnLst/>
              <a:rect l="l" t="t" r="r" b="b"/>
              <a:pathLst>
                <a:path w="1638300" h="335280">
                  <a:moveTo>
                    <a:pt x="0" y="55880"/>
                  </a:moveTo>
                  <a:lnTo>
                    <a:pt x="4391" y="34129"/>
                  </a:lnTo>
                  <a:lnTo>
                    <a:pt x="16367" y="16367"/>
                  </a:lnTo>
                  <a:lnTo>
                    <a:pt x="34129" y="4391"/>
                  </a:lnTo>
                  <a:lnTo>
                    <a:pt x="55879" y="0"/>
                  </a:lnTo>
                  <a:lnTo>
                    <a:pt x="1582420" y="0"/>
                  </a:lnTo>
                  <a:lnTo>
                    <a:pt x="1604170" y="4391"/>
                  </a:lnTo>
                  <a:lnTo>
                    <a:pt x="1621932" y="16367"/>
                  </a:lnTo>
                  <a:lnTo>
                    <a:pt x="1633908" y="34129"/>
                  </a:lnTo>
                  <a:lnTo>
                    <a:pt x="1638300" y="55880"/>
                  </a:lnTo>
                  <a:lnTo>
                    <a:pt x="1638300" y="279400"/>
                  </a:lnTo>
                  <a:lnTo>
                    <a:pt x="1633908" y="301150"/>
                  </a:lnTo>
                  <a:lnTo>
                    <a:pt x="1621932" y="318912"/>
                  </a:lnTo>
                  <a:lnTo>
                    <a:pt x="1604170" y="330888"/>
                  </a:lnTo>
                  <a:lnTo>
                    <a:pt x="1582420" y="335280"/>
                  </a:lnTo>
                  <a:lnTo>
                    <a:pt x="55879" y="335280"/>
                  </a:lnTo>
                  <a:lnTo>
                    <a:pt x="34129" y="330888"/>
                  </a:lnTo>
                  <a:lnTo>
                    <a:pt x="16367" y="318912"/>
                  </a:lnTo>
                  <a:lnTo>
                    <a:pt x="4391" y="301150"/>
                  </a:lnTo>
                  <a:lnTo>
                    <a:pt x="0" y="279400"/>
                  </a:lnTo>
                  <a:lnTo>
                    <a:pt x="0" y="55880"/>
                  </a:lnTo>
                  <a:close/>
                </a:path>
              </a:pathLst>
            </a:custGeom>
            <a:ln w="12192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301471" y="1583437"/>
            <a:ext cx="2147147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91054">
              <a:spcBef>
                <a:spcPts val="140"/>
              </a:spcBef>
            </a:pPr>
            <a:r>
              <a:rPr spc="-213" dirty="0">
                <a:solidFill>
                  <a:srgbClr val="FFFFFF"/>
                </a:solidFill>
                <a:latin typeface="Arial Black"/>
                <a:cs typeface="Arial Black"/>
              </a:rPr>
              <a:t>Client</a:t>
            </a:r>
            <a:r>
              <a:rPr spc="-127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pc="-240" dirty="0">
                <a:solidFill>
                  <a:srgbClr val="FFFFFF"/>
                </a:solidFill>
                <a:latin typeface="Arial Black"/>
                <a:cs typeface="Arial Black"/>
              </a:rPr>
              <a:t>Certs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73964" y="2279565"/>
            <a:ext cx="2201333" cy="679873"/>
            <a:chOff x="6205473" y="1709673"/>
            <a:chExt cx="1651000" cy="509905"/>
          </a:xfrm>
        </p:grpSpPr>
        <p:sp>
          <p:nvSpPr>
            <p:cNvPr id="11" name="object 11"/>
            <p:cNvSpPr/>
            <p:nvPr/>
          </p:nvSpPr>
          <p:spPr>
            <a:xfrm>
              <a:off x="6211823" y="1716023"/>
              <a:ext cx="1638300" cy="497205"/>
            </a:xfrm>
            <a:custGeom>
              <a:avLst/>
              <a:gdLst/>
              <a:ahLst/>
              <a:cxnLst/>
              <a:rect l="l" t="t" r="r" b="b"/>
              <a:pathLst>
                <a:path w="1638300" h="497205">
                  <a:moveTo>
                    <a:pt x="1555496" y="0"/>
                  </a:moveTo>
                  <a:lnTo>
                    <a:pt x="82803" y="0"/>
                  </a:lnTo>
                  <a:lnTo>
                    <a:pt x="50577" y="6508"/>
                  </a:lnTo>
                  <a:lnTo>
                    <a:pt x="24256" y="24257"/>
                  </a:lnTo>
                  <a:lnTo>
                    <a:pt x="6508" y="50577"/>
                  </a:lnTo>
                  <a:lnTo>
                    <a:pt x="0" y="82803"/>
                  </a:lnTo>
                  <a:lnTo>
                    <a:pt x="0" y="414019"/>
                  </a:lnTo>
                  <a:lnTo>
                    <a:pt x="6508" y="446246"/>
                  </a:lnTo>
                  <a:lnTo>
                    <a:pt x="24257" y="472567"/>
                  </a:lnTo>
                  <a:lnTo>
                    <a:pt x="50577" y="490315"/>
                  </a:lnTo>
                  <a:lnTo>
                    <a:pt x="82803" y="496824"/>
                  </a:lnTo>
                  <a:lnTo>
                    <a:pt x="1555496" y="496824"/>
                  </a:lnTo>
                  <a:lnTo>
                    <a:pt x="1587722" y="490315"/>
                  </a:lnTo>
                  <a:lnTo>
                    <a:pt x="1614042" y="472566"/>
                  </a:lnTo>
                  <a:lnTo>
                    <a:pt x="1631791" y="446246"/>
                  </a:lnTo>
                  <a:lnTo>
                    <a:pt x="1638300" y="414019"/>
                  </a:lnTo>
                  <a:lnTo>
                    <a:pt x="1638300" y="82803"/>
                  </a:lnTo>
                  <a:lnTo>
                    <a:pt x="1631791" y="50577"/>
                  </a:lnTo>
                  <a:lnTo>
                    <a:pt x="1614043" y="24256"/>
                  </a:lnTo>
                  <a:lnTo>
                    <a:pt x="1587722" y="6508"/>
                  </a:lnTo>
                  <a:lnTo>
                    <a:pt x="1555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211823" y="1716023"/>
              <a:ext cx="1638300" cy="497205"/>
            </a:xfrm>
            <a:custGeom>
              <a:avLst/>
              <a:gdLst/>
              <a:ahLst/>
              <a:cxnLst/>
              <a:rect l="l" t="t" r="r" b="b"/>
              <a:pathLst>
                <a:path w="1638300" h="497205">
                  <a:moveTo>
                    <a:pt x="0" y="82803"/>
                  </a:moveTo>
                  <a:lnTo>
                    <a:pt x="6508" y="50577"/>
                  </a:lnTo>
                  <a:lnTo>
                    <a:pt x="24256" y="24257"/>
                  </a:lnTo>
                  <a:lnTo>
                    <a:pt x="50577" y="6508"/>
                  </a:lnTo>
                  <a:lnTo>
                    <a:pt x="82803" y="0"/>
                  </a:lnTo>
                  <a:lnTo>
                    <a:pt x="1555496" y="0"/>
                  </a:lnTo>
                  <a:lnTo>
                    <a:pt x="1587722" y="6508"/>
                  </a:lnTo>
                  <a:lnTo>
                    <a:pt x="1614043" y="24256"/>
                  </a:lnTo>
                  <a:lnTo>
                    <a:pt x="1631791" y="50577"/>
                  </a:lnTo>
                  <a:lnTo>
                    <a:pt x="1638300" y="82803"/>
                  </a:lnTo>
                  <a:lnTo>
                    <a:pt x="1638300" y="414019"/>
                  </a:lnTo>
                  <a:lnTo>
                    <a:pt x="1631791" y="446246"/>
                  </a:lnTo>
                  <a:lnTo>
                    <a:pt x="1614042" y="472566"/>
                  </a:lnTo>
                  <a:lnTo>
                    <a:pt x="1587722" y="490315"/>
                  </a:lnTo>
                  <a:lnTo>
                    <a:pt x="1555496" y="496824"/>
                  </a:lnTo>
                  <a:lnTo>
                    <a:pt x="82803" y="496824"/>
                  </a:lnTo>
                  <a:lnTo>
                    <a:pt x="50577" y="490315"/>
                  </a:lnTo>
                  <a:lnTo>
                    <a:pt x="24257" y="472567"/>
                  </a:lnTo>
                  <a:lnTo>
                    <a:pt x="6508" y="446246"/>
                  </a:lnTo>
                  <a:lnTo>
                    <a:pt x="0" y="414019"/>
                  </a:lnTo>
                  <a:lnTo>
                    <a:pt x="0" y="8280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786028" y="2383198"/>
            <a:ext cx="1180253" cy="44884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50703" marR="6773" indent="-134617">
              <a:spcBef>
                <a:spcPts val="140"/>
              </a:spcBef>
            </a:pPr>
            <a:r>
              <a:rPr sz="1400" b="1" spc="-127" dirty="0">
                <a:latin typeface="Arial"/>
                <a:cs typeface="Arial"/>
              </a:rPr>
              <a:t>CSR </a:t>
            </a:r>
            <a:r>
              <a:rPr sz="1400" b="1" spc="-7" dirty="0">
                <a:latin typeface="Arial"/>
                <a:cs typeface="Arial"/>
              </a:rPr>
              <a:t>Approval  </a:t>
            </a:r>
            <a:r>
              <a:rPr sz="1400" b="1" dirty="0">
                <a:latin typeface="Arial"/>
                <a:cs typeface="Arial"/>
              </a:rPr>
              <a:t>Automatic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15836" y="2279565"/>
            <a:ext cx="2201333" cy="679873"/>
            <a:chOff x="1436877" y="1709673"/>
            <a:chExt cx="1651000" cy="509905"/>
          </a:xfrm>
        </p:grpSpPr>
        <p:sp>
          <p:nvSpPr>
            <p:cNvPr id="15" name="object 15"/>
            <p:cNvSpPr/>
            <p:nvPr/>
          </p:nvSpPr>
          <p:spPr>
            <a:xfrm>
              <a:off x="1443227" y="1716023"/>
              <a:ext cx="1638300" cy="497205"/>
            </a:xfrm>
            <a:custGeom>
              <a:avLst/>
              <a:gdLst/>
              <a:ahLst/>
              <a:cxnLst/>
              <a:rect l="l" t="t" r="r" b="b"/>
              <a:pathLst>
                <a:path w="1638300" h="497205">
                  <a:moveTo>
                    <a:pt x="1555496" y="0"/>
                  </a:moveTo>
                  <a:lnTo>
                    <a:pt x="82803" y="0"/>
                  </a:lnTo>
                  <a:lnTo>
                    <a:pt x="50577" y="6508"/>
                  </a:lnTo>
                  <a:lnTo>
                    <a:pt x="24256" y="24257"/>
                  </a:lnTo>
                  <a:lnTo>
                    <a:pt x="6508" y="50577"/>
                  </a:lnTo>
                  <a:lnTo>
                    <a:pt x="0" y="82803"/>
                  </a:lnTo>
                  <a:lnTo>
                    <a:pt x="0" y="414019"/>
                  </a:lnTo>
                  <a:lnTo>
                    <a:pt x="6508" y="446246"/>
                  </a:lnTo>
                  <a:lnTo>
                    <a:pt x="24256" y="472567"/>
                  </a:lnTo>
                  <a:lnTo>
                    <a:pt x="50577" y="490315"/>
                  </a:lnTo>
                  <a:lnTo>
                    <a:pt x="82803" y="496824"/>
                  </a:lnTo>
                  <a:lnTo>
                    <a:pt x="1555496" y="496824"/>
                  </a:lnTo>
                  <a:lnTo>
                    <a:pt x="1587722" y="490315"/>
                  </a:lnTo>
                  <a:lnTo>
                    <a:pt x="1614042" y="472566"/>
                  </a:lnTo>
                  <a:lnTo>
                    <a:pt x="1631791" y="446246"/>
                  </a:lnTo>
                  <a:lnTo>
                    <a:pt x="1638300" y="414019"/>
                  </a:lnTo>
                  <a:lnTo>
                    <a:pt x="1638300" y="82803"/>
                  </a:lnTo>
                  <a:lnTo>
                    <a:pt x="1631791" y="50577"/>
                  </a:lnTo>
                  <a:lnTo>
                    <a:pt x="1614042" y="24256"/>
                  </a:lnTo>
                  <a:lnTo>
                    <a:pt x="1587722" y="6508"/>
                  </a:lnTo>
                  <a:lnTo>
                    <a:pt x="1555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1443227" y="1716023"/>
              <a:ext cx="1638300" cy="497205"/>
            </a:xfrm>
            <a:custGeom>
              <a:avLst/>
              <a:gdLst/>
              <a:ahLst/>
              <a:cxnLst/>
              <a:rect l="l" t="t" r="r" b="b"/>
              <a:pathLst>
                <a:path w="1638300" h="497205">
                  <a:moveTo>
                    <a:pt x="0" y="82803"/>
                  </a:moveTo>
                  <a:lnTo>
                    <a:pt x="6508" y="50577"/>
                  </a:lnTo>
                  <a:lnTo>
                    <a:pt x="24256" y="24257"/>
                  </a:lnTo>
                  <a:lnTo>
                    <a:pt x="50577" y="6508"/>
                  </a:lnTo>
                  <a:lnTo>
                    <a:pt x="82803" y="0"/>
                  </a:lnTo>
                  <a:lnTo>
                    <a:pt x="1555496" y="0"/>
                  </a:lnTo>
                  <a:lnTo>
                    <a:pt x="1587722" y="6508"/>
                  </a:lnTo>
                  <a:lnTo>
                    <a:pt x="1614042" y="24256"/>
                  </a:lnTo>
                  <a:lnTo>
                    <a:pt x="1631791" y="50577"/>
                  </a:lnTo>
                  <a:lnTo>
                    <a:pt x="1638300" y="82803"/>
                  </a:lnTo>
                  <a:lnTo>
                    <a:pt x="1638300" y="414019"/>
                  </a:lnTo>
                  <a:lnTo>
                    <a:pt x="1631791" y="446246"/>
                  </a:lnTo>
                  <a:lnTo>
                    <a:pt x="1614042" y="472566"/>
                  </a:lnTo>
                  <a:lnTo>
                    <a:pt x="1587722" y="490315"/>
                  </a:lnTo>
                  <a:lnTo>
                    <a:pt x="1555496" y="496824"/>
                  </a:lnTo>
                  <a:lnTo>
                    <a:pt x="82803" y="496824"/>
                  </a:lnTo>
                  <a:lnTo>
                    <a:pt x="50577" y="490315"/>
                  </a:lnTo>
                  <a:lnTo>
                    <a:pt x="24256" y="472567"/>
                  </a:lnTo>
                  <a:lnTo>
                    <a:pt x="6508" y="446246"/>
                  </a:lnTo>
                  <a:lnTo>
                    <a:pt x="0" y="414019"/>
                  </a:lnTo>
                  <a:lnTo>
                    <a:pt x="0" y="8280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27223" y="2383198"/>
            <a:ext cx="1180253" cy="44884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74313" marR="6773" indent="-258227">
              <a:spcBef>
                <a:spcPts val="140"/>
              </a:spcBef>
            </a:pPr>
            <a:r>
              <a:rPr sz="1400" b="1" spc="-127" dirty="0">
                <a:latin typeface="Arial"/>
                <a:cs typeface="Arial"/>
              </a:rPr>
              <a:t>CSR </a:t>
            </a:r>
            <a:r>
              <a:rPr sz="1400" b="1" spc="-7" dirty="0">
                <a:latin typeface="Arial"/>
                <a:cs typeface="Arial"/>
              </a:rPr>
              <a:t>Approval  </a:t>
            </a:r>
            <a:r>
              <a:rPr sz="1400" b="1" spc="13" dirty="0">
                <a:latin typeface="Arial"/>
                <a:cs typeface="Arial"/>
              </a:rPr>
              <a:t>Manual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6080" y="3614894"/>
            <a:ext cx="7969673" cy="722207"/>
            <a:chOff x="289559" y="2711170"/>
            <a:chExt cx="5977255" cy="541655"/>
          </a:xfrm>
        </p:grpSpPr>
        <p:sp>
          <p:nvSpPr>
            <p:cNvPr id="19" name="object 19"/>
            <p:cNvSpPr/>
            <p:nvPr/>
          </p:nvSpPr>
          <p:spPr>
            <a:xfrm>
              <a:off x="289559" y="2726423"/>
              <a:ext cx="5977128" cy="4511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81583" y="2711170"/>
              <a:ext cx="2025395" cy="54104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48995" y="2766059"/>
              <a:ext cx="5862955" cy="317500"/>
            </a:xfrm>
            <a:custGeom>
              <a:avLst/>
              <a:gdLst/>
              <a:ahLst/>
              <a:cxnLst/>
              <a:rect l="l" t="t" r="r" b="b"/>
              <a:pathLst>
                <a:path w="5862955" h="317500">
                  <a:moveTo>
                    <a:pt x="0" y="316991"/>
                  </a:moveTo>
                  <a:lnTo>
                    <a:pt x="5862828" y="316991"/>
                  </a:lnTo>
                  <a:lnTo>
                    <a:pt x="5862828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68206" y="3720761"/>
            <a:ext cx="2257213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spc="193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2133" spc="173" dirty="0">
                <a:solidFill>
                  <a:srgbClr val="D9D9D9"/>
                </a:solidFill>
                <a:latin typeface="Arial"/>
                <a:cs typeface="Arial"/>
              </a:rPr>
              <a:t>get</a:t>
            </a:r>
            <a:r>
              <a:rPr sz="2133" spc="6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2133" spc="213" dirty="0">
                <a:solidFill>
                  <a:srgbClr val="D9D9D9"/>
                </a:solidFill>
                <a:latin typeface="Arial"/>
                <a:cs typeface="Arial"/>
              </a:rPr>
              <a:t>csr</a:t>
            </a:r>
            <a:endParaRPr sz="2133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6861" y="3704386"/>
            <a:ext cx="11744113" cy="1276773"/>
            <a:chOff x="342645" y="2778289"/>
            <a:chExt cx="8808085" cy="957580"/>
          </a:xfrm>
        </p:grpSpPr>
        <p:sp>
          <p:nvSpPr>
            <p:cNvPr id="24" name="object 24"/>
            <p:cNvSpPr/>
            <p:nvPr/>
          </p:nvSpPr>
          <p:spPr>
            <a:xfrm>
              <a:off x="367608" y="2778289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348995" y="3083051"/>
              <a:ext cx="8795385" cy="646430"/>
            </a:xfrm>
            <a:custGeom>
              <a:avLst/>
              <a:gdLst/>
              <a:ahLst/>
              <a:cxnLst/>
              <a:rect l="l" t="t" r="r" b="b"/>
              <a:pathLst>
                <a:path w="8795385" h="646429">
                  <a:moveTo>
                    <a:pt x="8795004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8795004" y="646176"/>
                  </a:lnTo>
                  <a:lnTo>
                    <a:pt x="8795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348995" y="3083051"/>
              <a:ext cx="8795385" cy="646430"/>
            </a:xfrm>
            <a:custGeom>
              <a:avLst/>
              <a:gdLst/>
              <a:ahLst/>
              <a:cxnLst/>
              <a:rect l="l" t="t" r="r" b="b"/>
              <a:pathLst>
                <a:path w="8795385" h="646429">
                  <a:moveTo>
                    <a:pt x="0" y="646176"/>
                  </a:moveTo>
                  <a:lnTo>
                    <a:pt x="8795004" y="646176"/>
                  </a:lnTo>
                  <a:lnTo>
                    <a:pt x="8795004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546134" y="4212675"/>
          <a:ext cx="11525671" cy="767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42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5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4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128">
                <a:tc>
                  <a:txBody>
                    <a:bodyPr/>
                    <a:lstStyle/>
                    <a:p>
                      <a:pPr marL="31750">
                        <a:lnSpc>
                          <a:spcPts val="1135"/>
                        </a:lnSpc>
                      </a:pPr>
                      <a:r>
                        <a:rPr sz="1600" spc="-2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18110" algn="r">
                        <a:lnSpc>
                          <a:spcPts val="1135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600" spc="-1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REQUESTOR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135"/>
                        </a:lnSpc>
                      </a:pPr>
                      <a:r>
                        <a:rPr sz="1600" spc="-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CONDITION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041">
                <a:tc>
                  <a:txBody>
                    <a:bodyPr/>
                    <a:lstStyle/>
                    <a:p>
                      <a:pPr marL="31750">
                        <a:lnSpc>
                          <a:spcPts val="1250"/>
                        </a:lnSpc>
                      </a:pPr>
                      <a:r>
                        <a:rPr sz="16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csr-x254z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125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13m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1250"/>
                        </a:lnSpc>
                      </a:pPr>
                      <a:r>
                        <a:rPr sz="1600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system:node:worker-2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sz="1600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Pending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585">
                <a:tc>
                  <a:txBody>
                    <a:bodyPr/>
                    <a:lstStyle/>
                    <a:p>
                      <a:pPr marL="31750">
                        <a:lnSpc>
                          <a:spcPts val="1250"/>
                        </a:lnSpc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node-csr-VnzfkE6WdOMOna_S7jIuMTtQzu1-utgAA5gbk3dooUY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17475" algn="r">
                        <a:lnSpc>
                          <a:spcPts val="125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13m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50"/>
                        </a:lnSpc>
                      </a:pPr>
                      <a:r>
                        <a:rPr sz="1600" spc="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system:bootstrap:07401b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250"/>
                        </a:lnSpc>
                      </a:pPr>
                      <a:r>
                        <a:rPr sz="1600" spc="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Approved,Issued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8" name="object 28"/>
          <p:cNvGrpSpPr/>
          <p:nvPr/>
        </p:nvGrpSpPr>
        <p:grpSpPr>
          <a:xfrm>
            <a:off x="386080" y="5177537"/>
            <a:ext cx="7969673" cy="722207"/>
            <a:chOff x="289559" y="3883152"/>
            <a:chExt cx="5977255" cy="541655"/>
          </a:xfrm>
        </p:grpSpPr>
        <p:sp>
          <p:nvSpPr>
            <p:cNvPr id="29" name="object 29"/>
            <p:cNvSpPr/>
            <p:nvPr/>
          </p:nvSpPr>
          <p:spPr>
            <a:xfrm>
              <a:off x="289559" y="3898392"/>
              <a:ext cx="5977128" cy="4511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481583" y="3883152"/>
              <a:ext cx="4469892" cy="54104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348995" y="3938016"/>
              <a:ext cx="5862955" cy="338455"/>
            </a:xfrm>
            <a:custGeom>
              <a:avLst/>
              <a:gdLst/>
              <a:ahLst/>
              <a:cxnLst/>
              <a:rect l="l" t="t" r="r" b="b"/>
              <a:pathLst>
                <a:path w="5862955" h="338454">
                  <a:moveTo>
                    <a:pt x="5862828" y="0"/>
                  </a:moveTo>
                  <a:lnTo>
                    <a:pt x="0" y="0"/>
                  </a:lnTo>
                  <a:lnTo>
                    <a:pt x="0" y="338328"/>
                  </a:lnTo>
                  <a:lnTo>
                    <a:pt x="5862828" y="33832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57200" y="5250687"/>
            <a:ext cx="7833360" cy="377818"/>
          </a:xfrm>
          <a:prstGeom prst="rect">
            <a:avLst/>
          </a:prstGeom>
        </p:spPr>
        <p:txBody>
          <a:bodyPr vert="horz" wrap="square" lIns="0" tIns="49107" rIns="0" bIns="0" rtlCol="0">
            <a:spAutoFit/>
          </a:bodyPr>
          <a:lstStyle/>
          <a:p>
            <a:pPr marL="427556">
              <a:spcBef>
                <a:spcPts val="387"/>
              </a:spcBef>
            </a:pPr>
            <a:r>
              <a:rPr sz="2133" spc="193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2133" spc="333" dirty="0">
                <a:solidFill>
                  <a:srgbClr val="D9D9D9"/>
                </a:solidFill>
                <a:latin typeface="Arial"/>
                <a:cs typeface="Arial"/>
              </a:rPr>
              <a:t>certificate </a:t>
            </a:r>
            <a:r>
              <a:rPr sz="2133" spc="60" dirty="0">
                <a:solidFill>
                  <a:srgbClr val="D9D9D9"/>
                </a:solidFill>
                <a:latin typeface="Arial"/>
                <a:cs typeface="Arial"/>
              </a:rPr>
              <a:t>approve</a:t>
            </a:r>
            <a:r>
              <a:rPr sz="2133" spc="40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2133" spc="133" dirty="0">
                <a:solidFill>
                  <a:srgbClr val="D9D9D9"/>
                </a:solidFill>
                <a:latin typeface="Arial"/>
                <a:cs typeface="Arial"/>
              </a:rPr>
              <a:t>csr-x254z</a:t>
            </a:r>
            <a:endParaRPr sz="2133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7200" y="5266993"/>
            <a:ext cx="7833360" cy="812800"/>
            <a:chOff x="342900" y="3950245"/>
            <a:chExt cx="5875020" cy="609600"/>
          </a:xfrm>
        </p:grpSpPr>
        <p:sp>
          <p:nvSpPr>
            <p:cNvPr id="34" name="object 34"/>
            <p:cNvSpPr/>
            <p:nvPr/>
          </p:nvSpPr>
          <p:spPr>
            <a:xfrm>
              <a:off x="367608" y="3950245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348995" y="4276344"/>
              <a:ext cx="5862955" cy="277495"/>
            </a:xfrm>
            <a:custGeom>
              <a:avLst/>
              <a:gdLst/>
              <a:ahLst/>
              <a:cxnLst/>
              <a:rect l="l" t="t" r="r" b="b"/>
              <a:pathLst>
                <a:path w="5862955" h="277495">
                  <a:moveTo>
                    <a:pt x="5862828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5862828" y="27736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348995" y="4276344"/>
              <a:ext cx="5862955" cy="277495"/>
            </a:xfrm>
            <a:custGeom>
              <a:avLst/>
              <a:gdLst/>
              <a:ahLst/>
              <a:cxnLst/>
              <a:rect l="l" t="t" r="r" b="b"/>
              <a:pathLst>
                <a:path w="5862955" h="277495">
                  <a:moveTo>
                    <a:pt x="0" y="277367"/>
                  </a:moveTo>
                  <a:lnTo>
                    <a:pt x="5862828" y="277367"/>
                  </a:lnTo>
                  <a:lnTo>
                    <a:pt x="5862828" y="0"/>
                  </a:lnTo>
                  <a:lnTo>
                    <a:pt x="0" y="0"/>
                  </a:lnTo>
                  <a:lnTo>
                    <a:pt x="0" y="27736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57200" y="5701793"/>
            <a:ext cx="7833360" cy="296662"/>
          </a:xfrm>
          <a:prstGeom prst="rect">
            <a:avLst/>
          </a:prstGeom>
        </p:spPr>
        <p:txBody>
          <a:bodyPr vert="horz" wrap="square" lIns="0" tIns="49953" rIns="0" bIns="0" rtlCol="0">
            <a:spAutoFit/>
          </a:bodyPr>
          <a:lstStyle/>
          <a:p>
            <a:pPr marL="131230">
              <a:spcBef>
                <a:spcPts val="393"/>
              </a:spcBef>
            </a:pPr>
            <a:r>
              <a:rPr sz="1600" spc="107" dirty="0">
                <a:solidFill>
                  <a:srgbClr val="FFFFFF"/>
                </a:solidFill>
                <a:latin typeface="Arial"/>
                <a:cs typeface="Arial"/>
              </a:rPr>
              <a:t>csr-x254z</a:t>
            </a:r>
            <a:r>
              <a:rPr sz="1600" spc="4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93" dirty="0">
                <a:solidFill>
                  <a:srgbClr val="FFFFFF"/>
                </a:solidFill>
                <a:latin typeface="Arial"/>
                <a:cs typeface="Arial"/>
              </a:rPr>
              <a:t>approved!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69599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792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9991343" y="6370319"/>
            <a:ext cx="2032000" cy="487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1545146" y="424856"/>
            <a:ext cx="29633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spc="13" dirty="0">
                <a:solidFill>
                  <a:srgbClr val="FFFFFF"/>
                </a:solidFill>
                <a:latin typeface="Arial"/>
                <a:cs typeface="Arial"/>
              </a:rPr>
              <a:t>128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16208" y="138176"/>
            <a:ext cx="751840" cy="796713"/>
          </a:xfrm>
          <a:custGeom>
            <a:avLst/>
            <a:gdLst/>
            <a:ahLst/>
            <a:cxnLst/>
            <a:rect l="l" t="t" r="r" b="b"/>
            <a:pathLst>
              <a:path w="563879" h="597535">
                <a:moveTo>
                  <a:pt x="297180" y="0"/>
                </a:moveTo>
                <a:lnTo>
                  <a:pt x="272415" y="0"/>
                </a:lnTo>
                <a:lnTo>
                  <a:pt x="272415" y="55499"/>
                </a:lnTo>
                <a:lnTo>
                  <a:pt x="224942" y="62280"/>
                </a:lnTo>
                <a:lnTo>
                  <a:pt x="180682" y="77444"/>
                </a:lnTo>
                <a:lnTo>
                  <a:pt x="140474" y="100126"/>
                </a:lnTo>
                <a:lnTo>
                  <a:pt x="105219" y="129463"/>
                </a:lnTo>
                <a:lnTo>
                  <a:pt x="75755" y="164579"/>
                </a:lnTo>
                <a:lnTo>
                  <a:pt x="52984" y="204609"/>
                </a:lnTo>
                <a:lnTo>
                  <a:pt x="37769" y="248678"/>
                </a:lnTo>
                <a:lnTo>
                  <a:pt x="30988" y="295910"/>
                </a:lnTo>
                <a:lnTo>
                  <a:pt x="0" y="295910"/>
                </a:lnTo>
                <a:lnTo>
                  <a:pt x="0" y="318516"/>
                </a:lnTo>
                <a:lnTo>
                  <a:pt x="55753" y="318516"/>
                </a:lnTo>
                <a:lnTo>
                  <a:pt x="55753" y="308229"/>
                </a:lnTo>
                <a:lnTo>
                  <a:pt x="60426" y="261772"/>
                </a:lnTo>
                <a:lnTo>
                  <a:pt x="73825" y="218541"/>
                </a:lnTo>
                <a:lnTo>
                  <a:pt x="95008" y="179451"/>
                </a:lnTo>
                <a:lnTo>
                  <a:pt x="123037" y="145402"/>
                </a:lnTo>
                <a:lnTo>
                  <a:pt x="156972" y="117335"/>
                </a:lnTo>
                <a:lnTo>
                  <a:pt x="195859" y="96151"/>
                </a:lnTo>
                <a:lnTo>
                  <a:pt x="238760" y="82778"/>
                </a:lnTo>
                <a:lnTo>
                  <a:pt x="284734" y="78105"/>
                </a:lnTo>
                <a:lnTo>
                  <a:pt x="297180" y="78105"/>
                </a:lnTo>
                <a:lnTo>
                  <a:pt x="297180" y="0"/>
                </a:lnTo>
                <a:close/>
              </a:path>
              <a:path w="563879" h="597535">
                <a:moveTo>
                  <a:pt x="473964" y="305562"/>
                </a:moveTo>
                <a:lnTo>
                  <a:pt x="468972" y="261937"/>
                </a:lnTo>
                <a:lnTo>
                  <a:pt x="454748" y="221780"/>
                </a:lnTo>
                <a:lnTo>
                  <a:pt x="449326" y="213182"/>
                </a:lnTo>
                <a:lnTo>
                  <a:pt x="449326" y="305562"/>
                </a:lnTo>
                <a:lnTo>
                  <a:pt x="443407" y="350062"/>
                </a:lnTo>
                <a:lnTo>
                  <a:pt x="426694" y="389915"/>
                </a:lnTo>
                <a:lnTo>
                  <a:pt x="400723" y="423595"/>
                </a:lnTo>
                <a:lnTo>
                  <a:pt x="367042" y="449567"/>
                </a:lnTo>
                <a:lnTo>
                  <a:pt x="327190" y="466280"/>
                </a:lnTo>
                <a:lnTo>
                  <a:pt x="282702" y="472186"/>
                </a:lnTo>
                <a:lnTo>
                  <a:pt x="238912" y="466280"/>
                </a:lnTo>
                <a:lnTo>
                  <a:pt x="199250" y="449567"/>
                </a:lnTo>
                <a:lnTo>
                  <a:pt x="165430" y="423595"/>
                </a:lnTo>
                <a:lnTo>
                  <a:pt x="139153" y="389915"/>
                </a:lnTo>
                <a:lnTo>
                  <a:pt x="122123" y="350062"/>
                </a:lnTo>
                <a:lnTo>
                  <a:pt x="116078" y="305562"/>
                </a:lnTo>
                <a:lnTo>
                  <a:pt x="122123" y="261785"/>
                </a:lnTo>
                <a:lnTo>
                  <a:pt x="139153" y="222123"/>
                </a:lnTo>
                <a:lnTo>
                  <a:pt x="165430" y="188302"/>
                </a:lnTo>
                <a:lnTo>
                  <a:pt x="199250" y="162026"/>
                </a:lnTo>
                <a:lnTo>
                  <a:pt x="238912" y="144995"/>
                </a:lnTo>
                <a:lnTo>
                  <a:pt x="282702" y="138938"/>
                </a:lnTo>
                <a:lnTo>
                  <a:pt x="327190" y="144995"/>
                </a:lnTo>
                <a:lnTo>
                  <a:pt x="367042" y="162026"/>
                </a:lnTo>
                <a:lnTo>
                  <a:pt x="400723" y="188302"/>
                </a:lnTo>
                <a:lnTo>
                  <a:pt x="426694" y="222123"/>
                </a:lnTo>
                <a:lnTo>
                  <a:pt x="443407" y="261785"/>
                </a:lnTo>
                <a:lnTo>
                  <a:pt x="449326" y="305562"/>
                </a:lnTo>
                <a:lnTo>
                  <a:pt x="449326" y="213182"/>
                </a:lnTo>
                <a:lnTo>
                  <a:pt x="402869" y="156552"/>
                </a:lnTo>
                <a:lnTo>
                  <a:pt x="367372" y="133870"/>
                </a:lnTo>
                <a:lnTo>
                  <a:pt x="326961" y="119392"/>
                </a:lnTo>
                <a:lnTo>
                  <a:pt x="282702" y="114300"/>
                </a:lnTo>
                <a:lnTo>
                  <a:pt x="239064" y="119392"/>
                </a:lnTo>
                <a:lnTo>
                  <a:pt x="198907" y="133870"/>
                </a:lnTo>
                <a:lnTo>
                  <a:pt x="163372" y="156552"/>
                </a:lnTo>
                <a:lnTo>
                  <a:pt x="133680" y="186245"/>
                </a:lnTo>
                <a:lnTo>
                  <a:pt x="110998" y="221780"/>
                </a:lnTo>
                <a:lnTo>
                  <a:pt x="96520" y="261937"/>
                </a:lnTo>
                <a:lnTo>
                  <a:pt x="91440" y="305562"/>
                </a:lnTo>
                <a:lnTo>
                  <a:pt x="96520" y="349834"/>
                </a:lnTo>
                <a:lnTo>
                  <a:pt x="110998" y="390245"/>
                </a:lnTo>
                <a:lnTo>
                  <a:pt x="133680" y="425742"/>
                </a:lnTo>
                <a:lnTo>
                  <a:pt x="163372" y="455218"/>
                </a:lnTo>
                <a:lnTo>
                  <a:pt x="198907" y="477621"/>
                </a:lnTo>
                <a:lnTo>
                  <a:pt x="239064" y="491845"/>
                </a:lnTo>
                <a:lnTo>
                  <a:pt x="282702" y="496824"/>
                </a:lnTo>
                <a:lnTo>
                  <a:pt x="326961" y="491845"/>
                </a:lnTo>
                <a:lnTo>
                  <a:pt x="367372" y="477621"/>
                </a:lnTo>
                <a:lnTo>
                  <a:pt x="375970" y="472186"/>
                </a:lnTo>
                <a:lnTo>
                  <a:pt x="402869" y="455218"/>
                </a:lnTo>
                <a:lnTo>
                  <a:pt x="432346" y="425742"/>
                </a:lnTo>
                <a:lnTo>
                  <a:pt x="454748" y="390245"/>
                </a:lnTo>
                <a:lnTo>
                  <a:pt x="468972" y="349834"/>
                </a:lnTo>
                <a:lnTo>
                  <a:pt x="473964" y="305562"/>
                </a:lnTo>
                <a:close/>
              </a:path>
              <a:path w="563879" h="597535">
                <a:moveTo>
                  <a:pt x="563880" y="295656"/>
                </a:moveTo>
                <a:lnTo>
                  <a:pt x="512318" y="295656"/>
                </a:lnTo>
                <a:lnTo>
                  <a:pt x="512318" y="307975"/>
                </a:lnTo>
                <a:lnTo>
                  <a:pt x="507720" y="353720"/>
                </a:lnTo>
                <a:lnTo>
                  <a:pt x="494538" y="396405"/>
                </a:lnTo>
                <a:lnTo>
                  <a:pt x="473633" y="435102"/>
                </a:lnTo>
                <a:lnTo>
                  <a:pt x="445858" y="468858"/>
                </a:lnTo>
                <a:lnTo>
                  <a:pt x="412102" y="496747"/>
                </a:lnTo>
                <a:lnTo>
                  <a:pt x="373227" y="517829"/>
                </a:lnTo>
                <a:lnTo>
                  <a:pt x="330098" y="531164"/>
                </a:lnTo>
                <a:lnTo>
                  <a:pt x="283591" y="535813"/>
                </a:lnTo>
                <a:lnTo>
                  <a:pt x="271272" y="535813"/>
                </a:lnTo>
                <a:lnTo>
                  <a:pt x="271272" y="597408"/>
                </a:lnTo>
                <a:lnTo>
                  <a:pt x="296037" y="597408"/>
                </a:lnTo>
                <a:lnTo>
                  <a:pt x="296037" y="558419"/>
                </a:lnTo>
                <a:lnTo>
                  <a:pt x="343395" y="551700"/>
                </a:lnTo>
                <a:lnTo>
                  <a:pt x="387578" y="536740"/>
                </a:lnTo>
                <a:lnTo>
                  <a:pt x="427697" y="514324"/>
                </a:lnTo>
                <a:lnTo>
                  <a:pt x="462889" y="485254"/>
                </a:lnTo>
                <a:lnTo>
                  <a:pt x="492302" y="450316"/>
                </a:lnTo>
                <a:lnTo>
                  <a:pt x="515035" y="410311"/>
                </a:lnTo>
                <a:lnTo>
                  <a:pt x="530250" y="366039"/>
                </a:lnTo>
                <a:lnTo>
                  <a:pt x="537083" y="318262"/>
                </a:lnTo>
                <a:lnTo>
                  <a:pt x="563880" y="318262"/>
                </a:lnTo>
                <a:lnTo>
                  <a:pt x="563880" y="29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1" y="2185756"/>
            <a:ext cx="5425439" cy="4672753"/>
          </a:xfrm>
          <a:custGeom>
            <a:avLst/>
            <a:gdLst/>
            <a:ahLst/>
            <a:cxnLst/>
            <a:rect l="l" t="t" r="r" b="b"/>
            <a:pathLst>
              <a:path w="4069079" h="3504565">
                <a:moveTo>
                  <a:pt x="43994" y="3450892"/>
                </a:moveTo>
                <a:lnTo>
                  <a:pt x="21947" y="3454098"/>
                </a:lnTo>
                <a:lnTo>
                  <a:pt x="2405" y="3466668"/>
                </a:lnTo>
                <a:lnTo>
                  <a:pt x="0" y="3469696"/>
                </a:lnTo>
                <a:lnTo>
                  <a:pt x="0" y="3504183"/>
                </a:lnTo>
                <a:lnTo>
                  <a:pt x="104762" y="3504183"/>
                </a:lnTo>
                <a:lnTo>
                  <a:pt x="104201" y="3500395"/>
                </a:lnTo>
                <a:lnTo>
                  <a:pt x="102271" y="3493373"/>
                </a:lnTo>
                <a:lnTo>
                  <a:pt x="124274" y="3483386"/>
                </a:lnTo>
                <a:lnTo>
                  <a:pt x="98935" y="3483386"/>
                </a:lnTo>
                <a:lnTo>
                  <a:pt x="85611" y="3470062"/>
                </a:lnTo>
                <a:lnTo>
                  <a:pt x="66047" y="3456422"/>
                </a:lnTo>
                <a:lnTo>
                  <a:pt x="43994" y="3450892"/>
                </a:lnTo>
                <a:close/>
              </a:path>
              <a:path w="4069079" h="3504565">
                <a:moveTo>
                  <a:pt x="184341" y="3460151"/>
                </a:moveTo>
                <a:lnTo>
                  <a:pt x="175463" y="3460151"/>
                </a:lnTo>
                <a:lnTo>
                  <a:pt x="162098" y="3504183"/>
                </a:lnTo>
                <a:lnTo>
                  <a:pt x="169698" y="3504183"/>
                </a:lnTo>
                <a:lnTo>
                  <a:pt x="184341" y="3460151"/>
                </a:lnTo>
                <a:close/>
              </a:path>
              <a:path w="4069079" h="3504565">
                <a:moveTo>
                  <a:pt x="387770" y="3377120"/>
                </a:moveTo>
                <a:lnTo>
                  <a:pt x="385064" y="3377120"/>
                </a:lnTo>
                <a:lnTo>
                  <a:pt x="358945" y="3504183"/>
                </a:lnTo>
                <a:lnTo>
                  <a:pt x="364046" y="3504183"/>
                </a:lnTo>
                <a:lnTo>
                  <a:pt x="387770" y="3377120"/>
                </a:lnTo>
                <a:close/>
              </a:path>
              <a:path w="4069079" h="3504565">
                <a:moveTo>
                  <a:pt x="2584417" y="2520137"/>
                </a:moveTo>
                <a:lnTo>
                  <a:pt x="2467737" y="2520137"/>
                </a:lnTo>
                <a:lnTo>
                  <a:pt x="2464435" y="2523464"/>
                </a:lnTo>
                <a:lnTo>
                  <a:pt x="2467864" y="2526792"/>
                </a:lnTo>
                <a:lnTo>
                  <a:pt x="1226801" y="3504183"/>
                </a:lnTo>
                <a:lnTo>
                  <a:pt x="1235267" y="3504183"/>
                </a:lnTo>
                <a:lnTo>
                  <a:pt x="2471166" y="2536786"/>
                </a:lnTo>
                <a:lnTo>
                  <a:pt x="2579779" y="2536786"/>
                </a:lnTo>
                <a:lnTo>
                  <a:pt x="2583894" y="2524810"/>
                </a:lnTo>
                <a:lnTo>
                  <a:pt x="2584417" y="2520137"/>
                </a:lnTo>
                <a:close/>
              </a:path>
              <a:path w="4069079" h="3504565">
                <a:moveTo>
                  <a:pt x="2579779" y="2536786"/>
                </a:moveTo>
                <a:lnTo>
                  <a:pt x="2471166" y="2536786"/>
                </a:lnTo>
                <a:lnTo>
                  <a:pt x="2474468" y="2540114"/>
                </a:lnTo>
                <a:lnTo>
                  <a:pt x="2477770" y="2550109"/>
                </a:lnTo>
                <a:lnTo>
                  <a:pt x="2481199" y="2553436"/>
                </a:lnTo>
                <a:lnTo>
                  <a:pt x="2487803" y="2560091"/>
                </a:lnTo>
                <a:lnTo>
                  <a:pt x="2173777" y="3504183"/>
                </a:lnTo>
                <a:lnTo>
                  <a:pt x="2184921" y="3504183"/>
                </a:lnTo>
                <a:lnTo>
                  <a:pt x="2497836" y="2563431"/>
                </a:lnTo>
                <a:lnTo>
                  <a:pt x="2554889" y="2563431"/>
                </a:lnTo>
                <a:lnTo>
                  <a:pt x="2564384" y="2556827"/>
                </a:lnTo>
                <a:lnTo>
                  <a:pt x="2577455" y="2556827"/>
                </a:lnTo>
                <a:lnTo>
                  <a:pt x="2570988" y="2550172"/>
                </a:lnTo>
                <a:lnTo>
                  <a:pt x="2579161" y="2538585"/>
                </a:lnTo>
                <a:lnTo>
                  <a:pt x="2579779" y="2536786"/>
                </a:lnTo>
                <a:close/>
              </a:path>
              <a:path w="4069079" h="3504565">
                <a:moveTo>
                  <a:pt x="2554889" y="2563431"/>
                </a:moveTo>
                <a:lnTo>
                  <a:pt x="2497836" y="2563431"/>
                </a:lnTo>
                <a:lnTo>
                  <a:pt x="2343940" y="3504183"/>
                </a:lnTo>
                <a:lnTo>
                  <a:pt x="2352424" y="3504183"/>
                </a:lnTo>
                <a:lnTo>
                  <a:pt x="2507742" y="2566771"/>
                </a:lnTo>
                <a:lnTo>
                  <a:pt x="2546764" y="2566771"/>
                </a:lnTo>
                <a:lnTo>
                  <a:pt x="2552729" y="2564933"/>
                </a:lnTo>
                <a:lnTo>
                  <a:pt x="2554889" y="2563431"/>
                </a:lnTo>
                <a:close/>
              </a:path>
              <a:path w="4069079" h="3504565">
                <a:moveTo>
                  <a:pt x="2577455" y="2556827"/>
                </a:moveTo>
                <a:lnTo>
                  <a:pt x="2564384" y="2556827"/>
                </a:lnTo>
                <a:lnTo>
                  <a:pt x="3257169" y="3262960"/>
                </a:lnTo>
                <a:lnTo>
                  <a:pt x="3250307" y="3283335"/>
                </a:lnTo>
                <a:lnTo>
                  <a:pt x="3255347" y="3322862"/>
                </a:lnTo>
                <a:lnTo>
                  <a:pt x="3277235" y="3342855"/>
                </a:lnTo>
                <a:lnTo>
                  <a:pt x="3189972" y="3504183"/>
                </a:lnTo>
                <a:lnTo>
                  <a:pt x="3195073" y="3504183"/>
                </a:lnTo>
                <a:lnTo>
                  <a:pt x="3280537" y="3346183"/>
                </a:lnTo>
                <a:lnTo>
                  <a:pt x="3344304" y="3346183"/>
                </a:lnTo>
                <a:lnTo>
                  <a:pt x="3353689" y="3339579"/>
                </a:lnTo>
                <a:lnTo>
                  <a:pt x="3366833" y="3319517"/>
                </a:lnTo>
                <a:lnTo>
                  <a:pt x="3371215" y="3296331"/>
                </a:lnTo>
                <a:lnTo>
                  <a:pt x="3366833" y="3273137"/>
                </a:lnTo>
                <a:lnTo>
                  <a:pt x="3357994" y="3259632"/>
                </a:lnTo>
                <a:lnTo>
                  <a:pt x="3260471" y="3259632"/>
                </a:lnTo>
                <a:lnTo>
                  <a:pt x="2577455" y="2556827"/>
                </a:lnTo>
                <a:close/>
              </a:path>
              <a:path w="4069079" h="3504565">
                <a:moveTo>
                  <a:pt x="0" y="2253388"/>
                </a:moveTo>
                <a:lnTo>
                  <a:pt x="0" y="2259722"/>
                </a:lnTo>
                <a:lnTo>
                  <a:pt x="533984" y="2322220"/>
                </a:lnTo>
                <a:lnTo>
                  <a:pt x="533317" y="2335166"/>
                </a:lnTo>
                <a:lnTo>
                  <a:pt x="550722" y="2372220"/>
                </a:lnTo>
                <a:lnTo>
                  <a:pt x="563981" y="2378824"/>
                </a:lnTo>
                <a:lnTo>
                  <a:pt x="182118" y="3453500"/>
                </a:lnTo>
                <a:lnTo>
                  <a:pt x="98935" y="3483386"/>
                </a:lnTo>
                <a:lnTo>
                  <a:pt x="124274" y="3483386"/>
                </a:lnTo>
                <a:lnTo>
                  <a:pt x="175463" y="3460151"/>
                </a:lnTo>
                <a:lnTo>
                  <a:pt x="184341" y="3460151"/>
                </a:lnTo>
                <a:lnTo>
                  <a:pt x="185445" y="3456832"/>
                </a:lnTo>
                <a:lnTo>
                  <a:pt x="210443" y="3446849"/>
                </a:lnTo>
                <a:lnTo>
                  <a:pt x="188760" y="3446849"/>
                </a:lnTo>
                <a:lnTo>
                  <a:pt x="570649" y="2385479"/>
                </a:lnTo>
                <a:lnTo>
                  <a:pt x="615455" y="2385479"/>
                </a:lnTo>
                <a:lnTo>
                  <a:pt x="623684" y="2382296"/>
                </a:lnTo>
                <a:lnTo>
                  <a:pt x="651211" y="2344147"/>
                </a:lnTo>
                <a:lnTo>
                  <a:pt x="653808" y="2335618"/>
                </a:lnTo>
                <a:lnTo>
                  <a:pt x="719740" y="2335618"/>
                </a:lnTo>
                <a:lnTo>
                  <a:pt x="653796" y="2328964"/>
                </a:lnTo>
                <a:lnTo>
                  <a:pt x="653707" y="2322220"/>
                </a:lnTo>
                <a:lnTo>
                  <a:pt x="650468" y="2318981"/>
                </a:lnTo>
                <a:lnTo>
                  <a:pt x="650462" y="2315552"/>
                </a:lnTo>
                <a:lnTo>
                  <a:pt x="533971" y="2315552"/>
                </a:lnTo>
                <a:lnTo>
                  <a:pt x="0" y="2253388"/>
                </a:lnTo>
                <a:close/>
              </a:path>
              <a:path w="4069079" h="3504565">
                <a:moveTo>
                  <a:pt x="615455" y="2385479"/>
                </a:moveTo>
                <a:lnTo>
                  <a:pt x="570649" y="2385479"/>
                </a:lnTo>
                <a:lnTo>
                  <a:pt x="385064" y="3370465"/>
                </a:lnTo>
                <a:lnTo>
                  <a:pt x="188760" y="3446849"/>
                </a:lnTo>
                <a:lnTo>
                  <a:pt x="210443" y="3446849"/>
                </a:lnTo>
                <a:lnTo>
                  <a:pt x="385064" y="3377120"/>
                </a:lnTo>
                <a:lnTo>
                  <a:pt x="387770" y="3377120"/>
                </a:lnTo>
                <a:lnTo>
                  <a:pt x="388391" y="3373793"/>
                </a:lnTo>
                <a:lnTo>
                  <a:pt x="412706" y="3363810"/>
                </a:lnTo>
                <a:lnTo>
                  <a:pt x="391718" y="3363810"/>
                </a:lnTo>
                <a:lnTo>
                  <a:pt x="580631" y="2388819"/>
                </a:lnTo>
                <a:lnTo>
                  <a:pt x="602813" y="2388819"/>
                </a:lnTo>
                <a:lnTo>
                  <a:pt x="608918" y="2388006"/>
                </a:lnTo>
                <a:lnTo>
                  <a:pt x="615455" y="2385479"/>
                </a:lnTo>
                <a:close/>
              </a:path>
              <a:path w="4069079" h="3504565">
                <a:moveTo>
                  <a:pt x="719740" y="2335618"/>
                </a:moveTo>
                <a:lnTo>
                  <a:pt x="653808" y="2335618"/>
                </a:lnTo>
                <a:lnTo>
                  <a:pt x="740346" y="2342349"/>
                </a:lnTo>
                <a:lnTo>
                  <a:pt x="2467737" y="2500172"/>
                </a:lnTo>
                <a:lnTo>
                  <a:pt x="2464435" y="2503500"/>
                </a:lnTo>
                <a:lnTo>
                  <a:pt x="2464435" y="2510155"/>
                </a:lnTo>
                <a:lnTo>
                  <a:pt x="2467737" y="2513482"/>
                </a:lnTo>
                <a:lnTo>
                  <a:pt x="391718" y="3363810"/>
                </a:lnTo>
                <a:lnTo>
                  <a:pt x="412706" y="3363810"/>
                </a:lnTo>
                <a:lnTo>
                  <a:pt x="2467737" y="2520137"/>
                </a:lnTo>
                <a:lnTo>
                  <a:pt x="2584417" y="2520137"/>
                </a:lnTo>
                <a:lnTo>
                  <a:pt x="2585507" y="2510407"/>
                </a:lnTo>
                <a:lnTo>
                  <a:pt x="2584323" y="2496934"/>
                </a:lnTo>
                <a:lnTo>
                  <a:pt x="2684003" y="2490279"/>
                </a:lnTo>
                <a:lnTo>
                  <a:pt x="2584196" y="2490279"/>
                </a:lnTo>
                <a:lnTo>
                  <a:pt x="2471039" y="2490190"/>
                </a:lnTo>
                <a:lnTo>
                  <a:pt x="719740" y="2335618"/>
                </a:lnTo>
                <a:close/>
              </a:path>
              <a:path w="4069079" h="3504565">
                <a:moveTo>
                  <a:pt x="3344304" y="3346183"/>
                </a:moveTo>
                <a:lnTo>
                  <a:pt x="3280537" y="3346183"/>
                </a:lnTo>
                <a:lnTo>
                  <a:pt x="3300414" y="3353582"/>
                </a:lnTo>
                <a:lnTo>
                  <a:pt x="3319637" y="3355363"/>
                </a:lnTo>
                <a:lnTo>
                  <a:pt x="3337597" y="3350903"/>
                </a:lnTo>
                <a:lnTo>
                  <a:pt x="3344304" y="3346183"/>
                </a:lnTo>
                <a:close/>
              </a:path>
              <a:path w="4069079" h="3504565">
                <a:moveTo>
                  <a:pt x="3305841" y="3235952"/>
                </a:moveTo>
                <a:lnTo>
                  <a:pt x="3284807" y="3241187"/>
                </a:lnTo>
                <a:lnTo>
                  <a:pt x="3267202" y="3252978"/>
                </a:lnTo>
                <a:lnTo>
                  <a:pt x="3263773" y="3256305"/>
                </a:lnTo>
                <a:lnTo>
                  <a:pt x="3260471" y="3259632"/>
                </a:lnTo>
                <a:lnTo>
                  <a:pt x="3357994" y="3259632"/>
                </a:lnTo>
                <a:lnTo>
                  <a:pt x="3353689" y="3253054"/>
                </a:lnTo>
                <a:lnTo>
                  <a:pt x="3350387" y="3249726"/>
                </a:lnTo>
                <a:lnTo>
                  <a:pt x="3353204" y="3246386"/>
                </a:lnTo>
                <a:lnTo>
                  <a:pt x="3346958" y="3246386"/>
                </a:lnTo>
                <a:lnTo>
                  <a:pt x="3327495" y="3237581"/>
                </a:lnTo>
                <a:lnTo>
                  <a:pt x="3305841" y="3235952"/>
                </a:lnTo>
                <a:close/>
              </a:path>
              <a:path w="4069079" h="3504565">
                <a:moveTo>
                  <a:pt x="4068572" y="2398293"/>
                </a:moveTo>
                <a:lnTo>
                  <a:pt x="4061841" y="2398293"/>
                </a:lnTo>
                <a:lnTo>
                  <a:pt x="3346958" y="3246386"/>
                </a:lnTo>
                <a:lnTo>
                  <a:pt x="3353204" y="3246386"/>
                </a:lnTo>
                <a:lnTo>
                  <a:pt x="4068572" y="2398293"/>
                </a:lnTo>
                <a:close/>
              </a:path>
              <a:path w="4069079" h="3504565">
                <a:moveTo>
                  <a:pt x="2546764" y="2566771"/>
                </a:moveTo>
                <a:lnTo>
                  <a:pt x="2507742" y="2566771"/>
                </a:lnTo>
                <a:lnTo>
                  <a:pt x="2523182" y="2569902"/>
                </a:lnTo>
                <a:lnTo>
                  <a:pt x="2538587" y="2569290"/>
                </a:lnTo>
                <a:lnTo>
                  <a:pt x="2546764" y="2566771"/>
                </a:lnTo>
                <a:close/>
              </a:path>
              <a:path w="4069079" h="3504565">
                <a:moveTo>
                  <a:pt x="4068572" y="2391638"/>
                </a:moveTo>
                <a:lnTo>
                  <a:pt x="2584196" y="2490279"/>
                </a:lnTo>
                <a:lnTo>
                  <a:pt x="2684003" y="2490279"/>
                </a:lnTo>
                <a:lnTo>
                  <a:pt x="4061841" y="2398293"/>
                </a:lnTo>
                <a:lnTo>
                  <a:pt x="4068572" y="2398293"/>
                </a:lnTo>
                <a:lnTo>
                  <a:pt x="4065270" y="2394966"/>
                </a:lnTo>
                <a:lnTo>
                  <a:pt x="4068572" y="2391638"/>
                </a:lnTo>
                <a:close/>
              </a:path>
              <a:path w="4069079" h="3504565">
                <a:moveTo>
                  <a:pt x="2525966" y="2451133"/>
                </a:moveTo>
                <a:lnTo>
                  <a:pt x="2503908" y="2456629"/>
                </a:lnTo>
                <a:lnTo>
                  <a:pt x="2484374" y="2470238"/>
                </a:lnTo>
                <a:lnTo>
                  <a:pt x="2477770" y="2476881"/>
                </a:lnTo>
                <a:lnTo>
                  <a:pt x="2471039" y="2483535"/>
                </a:lnTo>
                <a:lnTo>
                  <a:pt x="2471039" y="2490190"/>
                </a:lnTo>
                <a:lnTo>
                  <a:pt x="2584124" y="2490190"/>
                </a:lnTo>
                <a:lnTo>
                  <a:pt x="2579756" y="2484766"/>
                </a:lnTo>
                <a:lnTo>
                  <a:pt x="2572069" y="2472487"/>
                </a:lnTo>
                <a:lnTo>
                  <a:pt x="2567559" y="2466975"/>
                </a:lnTo>
                <a:lnTo>
                  <a:pt x="2548024" y="2454374"/>
                </a:lnTo>
                <a:lnTo>
                  <a:pt x="2525966" y="2451133"/>
                </a:lnTo>
                <a:close/>
              </a:path>
              <a:path w="4069079" h="3504565">
                <a:moveTo>
                  <a:pt x="602813" y="2388819"/>
                </a:moveTo>
                <a:lnTo>
                  <a:pt x="580631" y="2388819"/>
                </a:lnTo>
                <a:lnTo>
                  <a:pt x="594150" y="2389972"/>
                </a:lnTo>
                <a:lnTo>
                  <a:pt x="602813" y="2388819"/>
                </a:lnTo>
                <a:close/>
              </a:path>
              <a:path w="4069079" h="3504565">
                <a:moveTo>
                  <a:pt x="1570482" y="0"/>
                </a:moveTo>
                <a:lnTo>
                  <a:pt x="1567180" y="3301"/>
                </a:lnTo>
                <a:lnTo>
                  <a:pt x="607161" y="2269020"/>
                </a:lnTo>
                <a:lnTo>
                  <a:pt x="591765" y="2269738"/>
                </a:lnTo>
                <a:lnTo>
                  <a:pt x="550595" y="2285619"/>
                </a:lnTo>
                <a:lnTo>
                  <a:pt x="533971" y="2315552"/>
                </a:lnTo>
                <a:lnTo>
                  <a:pt x="650462" y="2315552"/>
                </a:lnTo>
                <a:lnTo>
                  <a:pt x="650455" y="2312327"/>
                </a:lnTo>
                <a:lnTo>
                  <a:pt x="665407" y="2308999"/>
                </a:lnTo>
                <a:lnTo>
                  <a:pt x="647128" y="2308999"/>
                </a:lnTo>
                <a:lnTo>
                  <a:pt x="647128" y="2302332"/>
                </a:lnTo>
                <a:lnTo>
                  <a:pt x="643788" y="2292350"/>
                </a:lnTo>
                <a:lnTo>
                  <a:pt x="633793" y="2282355"/>
                </a:lnTo>
                <a:lnTo>
                  <a:pt x="627138" y="2282355"/>
                </a:lnTo>
                <a:lnTo>
                  <a:pt x="623811" y="2279027"/>
                </a:lnTo>
                <a:lnTo>
                  <a:pt x="626136" y="2275687"/>
                </a:lnTo>
                <a:lnTo>
                  <a:pt x="613816" y="2275687"/>
                </a:lnTo>
                <a:lnTo>
                  <a:pt x="1570482" y="19938"/>
                </a:lnTo>
                <a:lnTo>
                  <a:pt x="1574133" y="19938"/>
                </a:lnTo>
                <a:lnTo>
                  <a:pt x="1573784" y="3301"/>
                </a:lnTo>
                <a:lnTo>
                  <a:pt x="1570482" y="0"/>
                </a:lnTo>
                <a:close/>
              </a:path>
              <a:path w="4069079" h="3504565">
                <a:moveTo>
                  <a:pt x="1649608" y="925322"/>
                </a:moveTo>
                <a:lnTo>
                  <a:pt x="1637792" y="925322"/>
                </a:lnTo>
                <a:lnTo>
                  <a:pt x="3052953" y="1735201"/>
                </a:lnTo>
                <a:lnTo>
                  <a:pt x="3049063" y="1745182"/>
                </a:lnTo>
                <a:lnTo>
                  <a:pt x="3047079" y="1755140"/>
                </a:lnTo>
                <a:lnTo>
                  <a:pt x="3046380" y="1765097"/>
                </a:lnTo>
                <a:lnTo>
                  <a:pt x="3046349" y="1775079"/>
                </a:lnTo>
                <a:lnTo>
                  <a:pt x="647128" y="2308999"/>
                </a:lnTo>
                <a:lnTo>
                  <a:pt x="665407" y="2308999"/>
                </a:lnTo>
                <a:lnTo>
                  <a:pt x="3049651" y="1778381"/>
                </a:lnTo>
                <a:lnTo>
                  <a:pt x="3163802" y="1778381"/>
                </a:lnTo>
                <a:lnTo>
                  <a:pt x="3166903" y="1761871"/>
                </a:lnTo>
                <a:lnTo>
                  <a:pt x="3162546" y="1738669"/>
                </a:lnTo>
                <a:lnTo>
                  <a:pt x="3155914" y="1728470"/>
                </a:lnTo>
                <a:lnTo>
                  <a:pt x="3059557" y="1728470"/>
                </a:lnTo>
                <a:lnTo>
                  <a:pt x="1649608" y="925322"/>
                </a:lnTo>
                <a:close/>
              </a:path>
              <a:path w="4069079" h="3504565">
                <a:moveTo>
                  <a:pt x="617143" y="2272360"/>
                </a:moveTo>
                <a:lnTo>
                  <a:pt x="613816" y="2275687"/>
                </a:lnTo>
                <a:lnTo>
                  <a:pt x="620471" y="2275687"/>
                </a:lnTo>
                <a:lnTo>
                  <a:pt x="617143" y="2272360"/>
                </a:lnTo>
                <a:close/>
              </a:path>
              <a:path w="4069079" h="3504565">
                <a:moveTo>
                  <a:pt x="1574133" y="19938"/>
                </a:moveTo>
                <a:lnTo>
                  <a:pt x="1570482" y="19938"/>
                </a:lnTo>
                <a:lnTo>
                  <a:pt x="1584452" y="832104"/>
                </a:lnTo>
                <a:lnTo>
                  <a:pt x="1572079" y="834683"/>
                </a:lnTo>
                <a:lnTo>
                  <a:pt x="1528145" y="868719"/>
                </a:lnTo>
                <a:lnTo>
                  <a:pt x="1523793" y="891921"/>
                </a:lnTo>
                <a:lnTo>
                  <a:pt x="1528181" y="915122"/>
                </a:lnTo>
                <a:lnTo>
                  <a:pt x="1541272" y="935228"/>
                </a:lnTo>
                <a:lnTo>
                  <a:pt x="1544574" y="938530"/>
                </a:lnTo>
                <a:lnTo>
                  <a:pt x="1548002" y="941832"/>
                </a:lnTo>
                <a:lnTo>
                  <a:pt x="620471" y="2275687"/>
                </a:lnTo>
                <a:lnTo>
                  <a:pt x="626136" y="2275687"/>
                </a:lnTo>
                <a:lnTo>
                  <a:pt x="1554607" y="941832"/>
                </a:lnTo>
                <a:lnTo>
                  <a:pt x="1618480" y="941832"/>
                </a:lnTo>
                <a:lnTo>
                  <a:pt x="1627758" y="935228"/>
                </a:lnTo>
                <a:lnTo>
                  <a:pt x="1631188" y="931926"/>
                </a:lnTo>
                <a:lnTo>
                  <a:pt x="1637792" y="925322"/>
                </a:lnTo>
                <a:lnTo>
                  <a:pt x="1649608" y="925322"/>
                </a:lnTo>
                <a:lnTo>
                  <a:pt x="1637792" y="918591"/>
                </a:lnTo>
                <a:lnTo>
                  <a:pt x="1643207" y="900676"/>
                </a:lnTo>
                <a:lnTo>
                  <a:pt x="1643967" y="882427"/>
                </a:lnTo>
                <a:lnTo>
                  <a:pt x="1619668" y="841908"/>
                </a:lnTo>
                <a:lnTo>
                  <a:pt x="1591183" y="832104"/>
                </a:lnTo>
                <a:lnTo>
                  <a:pt x="1574133" y="19938"/>
                </a:lnTo>
                <a:close/>
              </a:path>
              <a:path w="4069079" h="3504565">
                <a:moveTo>
                  <a:pt x="3163802" y="1778381"/>
                </a:moveTo>
                <a:lnTo>
                  <a:pt x="3049651" y="1778381"/>
                </a:lnTo>
                <a:lnTo>
                  <a:pt x="3052181" y="1785852"/>
                </a:lnTo>
                <a:lnTo>
                  <a:pt x="3083036" y="1818197"/>
                </a:lnTo>
                <a:lnTo>
                  <a:pt x="3106229" y="1822592"/>
                </a:lnTo>
                <a:lnTo>
                  <a:pt x="3129422" y="1818249"/>
                </a:lnTo>
                <a:lnTo>
                  <a:pt x="3149473" y="1805178"/>
                </a:lnTo>
                <a:lnTo>
                  <a:pt x="3162546" y="1785072"/>
                </a:lnTo>
                <a:lnTo>
                  <a:pt x="3163802" y="1778381"/>
                </a:lnTo>
                <a:close/>
              </a:path>
              <a:path w="4069079" h="3504565">
                <a:moveTo>
                  <a:pt x="3106166" y="1701133"/>
                </a:moveTo>
                <a:lnTo>
                  <a:pt x="3082964" y="1705490"/>
                </a:lnTo>
                <a:lnTo>
                  <a:pt x="3062859" y="1718564"/>
                </a:lnTo>
                <a:lnTo>
                  <a:pt x="3059557" y="1721866"/>
                </a:lnTo>
                <a:lnTo>
                  <a:pt x="3059557" y="1728470"/>
                </a:lnTo>
                <a:lnTo>
                  <a:pt x="3155914" y="1728470"/>
                </a:lnTo>
                <a:lnTo>
                  <a:pt x="3149473" y="1718564"/>
                </a:lnTo>
                <a:lnTo>
                  <a:pt x="3129367" y="1705490"/>
                </a:lnTo>
                <a:lnTo>
                  <a:pt x="3106166" y="1701133"/>
                </a:lnTo>
                <a:close/>
              </a:path>
              <a:path w="4069079" h="3504565">
                <a:moveTo>
                  <a:pt x="1618480" y="941832"/>
                </a:moveTo>
                <a:lnTo>
                  <a:pt x="1554607" y="941832"/>
                </a:lnTo>
                <a:lnTo>
                  <a:pt x="1573091" y="950622"/>
                </a:lnTo>
                <a:lnTo>
                  <a:pt x="1592468" y="952246"/>
                </a:lnTo>
                <a:lnTo>
                  <a:pt x="1611203" y="947011"/>
                </a:lnTo>
                <a:lnTo>
                  <a:pt x="1618480" y="941832"/>
                </a:lnTo>
                <a:close/>
              </a:path>
            </a:pathLst>
          </a:custGeom>
          <a:solidFill>
            <a:srgbClr val="FFFFFF">
              <a:alpha val="25097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68308" y="2027158"/>
            <a:ext cx="7303347" cy="1897955"/>
          </a:xfrm>
          <a:prstGeom prst="rect">
            <a:avLst/>
          </a:prstGeom>
        </p:spPr>
        <p:txBody>
          <a:bodyPr vert="horz" wrap="square" lIns="0" tIns="127000" rIns="0" bIns="0" rtlCol="0" anchor="ctr">
            <a:spAutoFit/>
          </a:bodyPr>
          <a:lstStyle/>
          <a:p>
            <a:pPr marL="16933" marR="6773">
              <a:lnSpc>
                <a:spcPts val="6920"/>
              </a:lnSpc>
              <a:spcBef>
                <a:spcPts val="1000"/>
              </a:spcBef>
            </a:pPr>
            <a:r>
              <a:rPr sz="6400" spc="327" dirty="0"/>
              <a:t>Node</a:t>
            </a:r>
            <a:r>
              <a:rPr sz="6400" spc="-607" dirty="0"/>
              <a:t> </a:t>
            </a:r>
            <a:r>
              <a:rPr sz="6400" spc="173" dirty="0"/>
              <a:t>end-to-end  </a:t>
            </a:r>
            <a:r>
              <a:rPr sz="6400" dirty="0"/>
              <a:t>Tests</a:t>
            </a:r>
            <a:endParaRPr sz="6400"/>
          </a:p>
        </p:txBody>
      </p:sp>
    </p:spTree>
    <p:extLst>
      <p:ext uri="{BB962C8B-B14F-4D97-AF65-F5344CB8AC3E}">
        <p14:creationId xmlns:p14="http://schemas.microsoft.com/office/powerpoint/2010/main" val="6541436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388535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20" dirty="0">
                <a:solidFill>
                  <a:srgbClr val="115F92"/>
                </a:solidFill>
              </a:rPr>
              <a:t>Test </a:t>
            </a:r>
            <a:r>
              <a:rPr spc="93" dirty="0">
                <a:solidFill>
                  <a:srgbClr val="115F92"/>
                </a:solidFill>
              </a:rPr>
              <a:t>-</a:t>
            </a:r>
            <a:r>
              <a:rPr spc="-833" dirty="0">
                <a:solidFill>
                  <a:srgbClr val="115F92"/>
                </a:solidFill>
              </a:rPr>
              <a:t> </a:t>
            </a:r>
            <a:r>
              <a:rPr spc="100" dirty="0">
                <a:solidFill>
                  <a:srgbClr val="115F92"/>
                </a:solidFill>
              </a:rPr>
              <a:t>Manual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79855" y="1125711"/>
            <a:ext cx="8959427" cy="651087"/>
            <a:chOff x="659891" y="844283"/>
            <a:chExt cx="6719570" cy="488315"/>
          </a:xfrm>
        </p:grpSpPr>
        <p:sp>
          <p:nvSpPr>
            <p:cNvPr id="5" name="object 5"/>
            <p:cNvSpPr/>
            <p:nvPr/>
          </p:nvSpPr>
          <p:spPr>
            <a:xfrm>
              <a:off x="659891" y="850341"/>
              <a:ext cx="6719316" cy="4206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841247" y="844283"/>
              <a:ext cx="2001012" cy="48769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19327" y="890015"/>
              <a:ext cx="6605270" cy="262255"/>
            </a:xfrm>
            <a:custGeom>
              <a:avLst/>
              <a:gdLst/>
              <a:ahLst/>
              <a:cxnLst/>
              <a:rect l="l" t="t" r="r" b="b"/>
              <a:pathLst>
                <a:path w="6605270" h="262255">
                  <a:moveTo>
                    <a:pt x="0" y="262127"/>
                  </a:moveTo>
                  <a:lnTo>
                    <a:pt x="6605016" y="262127"/>
                  </a:lnTo>
                  <a:lnTo>
                    <a:pt x="6605016" y="0"/>
                  </a:lnTo>
                  <a:lnTo>
                    <a:pt x="0" y="0"/>
                  </a:lnTo>
                  <a:lnTo>
                    <a:pt x="0" y="26212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26218" y="1219708"/>
            <a:ext cx="2263985" cy="30527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867" spc="180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867" spc="167" dirty="0">
                <a:solidFill>
                  <a:srgbClr val="D9D9D9"/>
                </a:solidFill>
                <a:latin typeface="Arial"/>
                <a:cs typeface="Arial"/>
              </a:rPr>
              <a:t>get</a:t>
            </a:r>
            <a:r>
              <a:rPr sz="1867" spc="6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867" spc="13" dirty="0">
                <a:solidFill>
                  <a:srgbClr val="D9D9D9"/>
                </a:solidFill>
                <a:latin typeface="Arial"/>
                <a:cs typeface="Arial"/>
              </a:rPr>
              <a:t>nodes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50636" y="1204796"/>
            <a:ext cx="8823960" cy="1080347"/>
            <a:chOff x="712977" y="903597"/>
            <a:chExt cx="6617970" cy="810260"/>
          </a:xfrm>
        </p:grpSpPr>
        <p:sp>
          <p:nvSpPr>
            <p:cNvPr id="10" name="object 10"/>
            <p:cNvSpPr/>
            <p:nvPr/>
          </p:nvSpPr>
          <p:spPr>
            <a:xfrm>
              <a:off x="737633" y="903597"/>
              <a:ext cx="158750" cy="204470"/>
            </a:xfrm>
            <a:custGeom>
              <a:avLst/>
              <a:gdLst/>
              <a:ahLst/>
              <a:cxnLst/>
              <a:rect l="l" t="t" r="r" b="b"/>
              <a:pathLst>
                <a:path w="158750" h="204469">
                  <a:moveTo>
                    <a:pt x="0" y="0"/>
                  </a:moveTo>
                  <a:lnTo>
                    <a:pt x="0" y="204209"/>
                  </a:lnTo>
                  <a:lnTo>
                    <a:pt x="158690" y="102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19327" y="1152143"/>
              <a:ext cx="6605270" cy="554990"/>
            </a:xfrm>
            <a:custGeom>
              <a:avLst/>
              <a:gdLst/>
              <a:ahLst/>
              <a:cxnLst/>
              <a:rect l="l" t="t" r="r" b="b"/>
              <a:pathLst>
                <a:path w="6605270" h="554989">
                  <a:moveTo>
                    <a:pt x="6605016" y="0"/>
                  </a:moveTo>
                  <a:lnTo>
                    <a:pt x="0" y="0"/>
                  </a:lnTo>
                  <a:lnTo>
                    <a:pt x="0" y="554736"/>
                  </a:lnTo>
                  <a:lnTo>
                    <a:pt x="6605016" y="554736"/>
                  </a:lnTo>
                  <a:lnTo>
                    <a:pt x="6605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719327" y="1152143"/>
              <a:ext cx="6605270" cy="554990"/>
            </a:xfrm>
            <a:custGeom>
              <a:avLst/>
              <a:gdLst/>
              <a:ahLst/>
              <a:cxnLst/>
              <a:rect l="l" t="t" r="r" b="b"/>
              <a:pathLst>
                <a:path w="6605270" h="554989">
                  <a:moveTo>
                    <a:pt x="0" y="554736"/>
                  </a:moveTo>
                  <a:lnTo>
                    <a:pt x="6605016" y="554736"/>
                  </a:lnTo>
                  <a:lnTo>
                    <a:pt x="6605016" y="0"/>
                  </a:lnTo>
                  <a:lnTo>
                    <a:pt x="0" y="0"/>
                  </a:lnTo>
                  <a:lnTo>
                    <a:pt x="0" y="55473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64092" y="1572938"/>
            <a:ext cx="781473" cy="63160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-233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endParaRPr sz="1333">
              <a:latin typeface="Arial"/>
              <a:cs typeface="Arial"/>
            </a:endParaRPr>
          </a:p>
          <a:p>
            <a:pPr marL="16933" marR="6773"/>
            <a:r>
              <a:rPr sz="1333" spc="60" dirty="0">
                <a:solidFill>
                  <a:srgbClr val="FFFFFF"/>
                </a:solidFill>
                <a:latin typeface="Arial"/>
                <a:cs typeface="Arial"/>
              </a:rPr>
              <a:t>worker</a:t>
            </a:r>
            <a:r>
              <a:rPr sz="1333" spc="28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1  </a:t>
            </a:r>
            <a:r>
              <a:rPr sz="1333" spc="60" dirty="0">
                <a:solidFill>
                  <a:srgbClr val="FFFFFF"/>
                </a:solidFill>
                <a:latin typeface="Arial"/>
                <a:cs typeface="Arial"/>
              </a:rPr>
              <a:t>worker</a:t>
            </a:r>
            <a:r>
              <a:rPr sz="1333" spc="28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3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0251" y="1572938"/>
            <a:ext cx="593512" cy="63160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-152" dirty="0">
                <a:solidFill>
                  <a:srgbClr val="FFFFFF"/>
                </a:solidFill>
                <a:latin typeface="Arial"/>
                <a:cs typeface="Arial"/>
              </a:rPr>
              <a:t>STATUS</a:t>
            </a:r>
            <a:endParaRPr sz="1333">
              <a:latin typeface="Arial"/>
              <a:cs typeface="Arial"/>
            </a:endParaRPr>
          </a:p>
          <a:p>
            <a:pPr marL="16933" marR="101597"/>
            <a:r>
              <a:rPr sz="1333" spc="-233" dirty="0">
                <a:solidFill>
                  <a:srgbClr val="39B54A"/>
                </a:solidFill>
                <a:latin typeface="Arial"/>
                <a:cs typeface="Arial"/>
              </a:rPr>
              <a:t>R</a:t>
            </a:r>
            <a:r>
              <a:rPr sz="1333" spc="-13" dirty="0">
                <a:solidFill>
                  <a:srgbClr val="39B54A"/>
                </a:solidFill>
                <a:latin typeface="Arial"/>
                <a:cs typeface="Arial"/>
              </a:rPr>
              <a:t>e</a:t>
            </a:r>
            <a:r>
              <a:rPr sz="1333" spc="-27" dirty="0">
                <a:solidFill>
                  <a:srgbClr val="39B54A"/>
                </a:solidFill>
                <a:latin typeface="Arial"/>
                <a:cs typeface="Arial"/>
              </a:rPr>
              <a:t>a</a:t>
            </a:r>
            <a:r>
              <a:rPr sz="1333" spc="-13" dirty="0">
                <a:solidFill>
                  <a:srgbClr val="39B54A"/>
                </a:solidFill>
                <a:latin typeface="Arial"/>
                <a:cs typeface="Arial"/>
              </a:rPr>
              <a:t>d</a:t>
            </a:r>
            <a:r>
              <a:rPr sz="1333" spc="40" dirty="0">
                <a:solidFill>
                  <a:srgbClr val="39B54A"/>
                </a:solidFill>
                <a:latin typeface="Arial"/>
                <a:cs typeface="Arial"/>
              </a:rPr>
              <a:t>y  </a:t>
            </a:r>
            <a:r>
              <a:rPr sz="1333" spc="-233" dirty="0">
                <a:solidFill>
                  <a:srgbClr val="39B54A"/>
                </a:solidFill>
                <a:latin typeface="Arial"/>
                <a:cs typeface="Arial"/>
              </a:rPr>
              <a:t>R</a:t>
            </a:r>
            <a:r>
              <a:rPr sz="1333" spc="-13" dirty="0">
                <a:solidFill>
                  <a:srgbClr val="39B54A"/>
                </a:solidFill>
                <a:latin typeface="Arial"/>
                <a:cs typeface="Arial"/>
              </a:rPr>
              <a:t>e</a:t>
            </a:r>
            <a:r>
              <a:rPr sz="1333" spc="-27" dirty="0">
                <a:solidFill>
                  <a:srgbClr val="39B54A"/>
                </a:solidFill>
                <a:latin typeface="Arial"/>
                <a:cs typeface="Arial"/>
              </a:rPr>
              <a:t>a</a:t>
            </a:r>
            <a:r>
              <a:rPr sz="1333" spc="-13" dirty="0">
                <a:solidFill>
                  <a:srgbClr val="39B54A"/>
                </a:solidFill>
                <a:latin typeface="Arial"/>
                <a:cs typeface="Arial"/>
              </a:rPr>
              <a:t>d</a:t>
            </a:r>
            <a:r>
              <a:rPr sz="1333" spc="60" dirty="0">
                <a:solidFill>
                  <a:srgbClr val="39B54A"/>
                </a:solidFill>
                <a:latin typeface="Arial"/>
                <a:cs typeface="Arial"/>
              </a:rPr>
              <a:t>y</a:t>
            </a:r>
            <a:endParaRPr sz="1333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7690" y="1572938"/>
            <a:ext cx="591820" cy="63160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-180" dirty="0">
                <a:solidFill>
                  <a:srgbClr val="FFFFFF"/>
                </a:solidFill>
                <a:latin typeface="Arial"/>
                <a:cs typeface="Arial"/>
              </a:rPr>
              <a:t>ROLES</a:t>
            </a:r>
            <a:endParaRPr sz="1333">
              <a:latin typeface="Arial"/>
              <a:cs typeface="Arial"/>
            </a:endParaRPr>
          </a:p>
          <a:p>
            <a:pPr marL="16933"/>
            <a:r>
              <a:rPr sz="1333" spc="-53" dirty="0">
                <a:solidFill>
                  <a:srgbClr val="FFFFFF"/>
                </a:solidFill>
                <a:latin typeface="Arial"/>
                <a:cs typeface="Arial"/>
              </a:rPr>
              <a:t>&lt;</a:t>
            </a:r>
            <a:r>
              <a:rPr sz="1333" spc="-27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1333" spc="-53" dirty="0">
                <a:solidFill>
                  <a:srgbClr val="FFFFFF"/>
                </a:solidFill>
                <a:latin typeface="Arial"/>
                <a:cs typeface="Arial"/>
              </a:rPr>
              <a:t>&gt;</a:t>
            </a:r>
            <a:endParaRPr sz="1333">
              <a:latin typeface="Arial"/>
              <a:cs typeface="Arial"/>
            </a:endParaRPr>
          </a:p>
          <a:p>
            <a:pPr marL="16933"/>
            <a:r>
              <a:rPr sz="1333" spc="-53" dirty="0">
                <a:solidFill>
                  <a:srgbClr val="FFFFFF"/>
                </a:solidFill>
                <a:latin typeface="Arial"/>
                <a:cs typeface="Arial"/>
              </a:rPr>
              <a:t>&lt;</a:t>
            </a:r>
            <a:r>
              <a:rPr sz="1333" spc="-27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1333" spc="-53" dirty="0">
                <a:solidFill>
                  <a:srgbClr val="FFFFFF"/>
                </a:solidFill>
                <a:latin typeface="Arial"/>
                <a:cs typeface="Arial"/>
              </a:rPr>
              <a:t>&gt;</a:t>
            </a:r>
            <a:endParaRPr sz="1333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65319" y="1572937"/>
            <a:ext cx="1247140" cy="63160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8626">
              <a:spcBef>
                <a:spcPts val="127"/>
              </a:spcBef>
              <a:tabLst>
                <a:tab pos="576564" algn="l"/>
              </a:tabLst>
            </a:pPr>
            <a:r>
              <a:rPr sz="1333" spc="-213" dirty="0">
                <a:solidFill>
                  <a:srgbClr val="FFFFFF"/>
                </a:solidFill>
                <a:latin typeface="Arial"/>
                <a:cs typeface="Arial"/>
              </a:rPr>
              <a:t>AGE	</a:t>
            </a:r>
            <a:r>
              <a:rPr sz="1333" spc="-133" dirty="0">
                <a:solidFill>
                  <a:srgbClr val="FFFFFF"/>
                </a:solidFill>
                <a:latin typeface="Arial"/>
                <a:cs typeface="Arial"/>
              </a:rPr>
              <a:t>VERSION</a:t>
            </a:r>
            <a:endParaRPr sz="1333">
              <a:latin typeface="Arial"/>
              <a:cs typeface="Arial"/>
            </a:endParaRPr>
          </a:p>
          <a:p>
            <a:pPr marL="16933">
              <a:tabLst>
                <a:tab pos="574026" algn="l"/>
              </a:tabLst>
            </a:pPr>
            <a:r>
              <a:rPr sz="1333" spc="-20" dirty="0">
                <a:solidFill>
                  <a:srgbClr val="FFFFFF"/>
                </a:solidFill>
                <a:latin typeface="Arial"/>
                <a:cs typeface="Arial"/>
              </a:rPr>
              <a:t>8d	</a:t>
            </a:r>
            <a:r>
              <a:rPr sz="1333" spc="100" dirty="0">
                <a:solidFill>
                  <a:srgbClr val="FFFFFF"/>
                </a:solidFill>
                <a:latin typeface="Arial"/>
                <a:cs typeface="Arial"/>
              </a:rPr>
              <a:t>v1.13.0</a:t>
            </a:r>
            <a:endParaRPr sz="1333">
              <a:latin typeface="Arial"/>
              <a:cs typeface="Arial"/>
            </a:endParaRPr>
          </a:p>
          <a:p>
            <a:pPr marL="16933">
              <a:tabLst>
                <a:tab pos="574026" algn="l"/>
              </a:tabLst>
            </a:pPr>
            <a:r>
              <a:rPr sz="1333" spc="-20" dirty="0">
                <a:solidFill>
                  <a:srgbClr val="FFFFFF"/>
                </a:solidFill>
                <a:latin typeface="Arial"/>
                <a:cs typeface="Arial"/>
              </a:rPr>
              <a:t>8d	</a:t>
            </a:r>
            <a:r>
              <a:rPr sz="1333" spc="100" dirty="0">
                <a:solidFill>
                  <a:srgbClr val="FFFFFF"/>
                </a:solidFill>
                <a:latin typeface="Arial"/>
                <a:cs typeface="Arial"/>
              </a:rPr>
              <a:t>v1.13.0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79855" y="3285727"/>
            <a:ext cx="8959427" cy="651087"/>
            <a:chOff x="659891" y="2464295"/>
            <a:chExt cx="6719570" cy="488315"/>
          </a:xfrm>
        </p:grpSpPr>
        <p:sp>
          <p:nvSpPr>
            <p:cNvPr id="18" name="object 18"/>
            <p:cNvSpPr/>
            <p:nvPr/>
          </p:nvSpPr>
          <p:spPr>
            <a:xfrm>
              <a:off x="659891" y="2470353"/>
              <a:ext cx="6719316" cy="4206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841247" y="2464295"/>
              <a:ext cx="1903476" cy="4876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/>
          <p:nvPr/>
        </p:nvSpPr>
        <p:spPr>
          <a:xfrm>
            <a:off x="983511" y="3363009"/>
            <a:ext cx="211667" cy="274320"/>
          </a:xfrm>
          <a:custGeom>
            <a:avLst/>
            <a:gdLst/>
            <a:ahLst/>
            <a:cxnLst/>
            <a:rect l="l" t="t" r="r" b="b"/>
            <a:pathLst>
              <a:path w="158750" h="205739">
                <a:moveTo>
                  <a:pt x="0" y="0"/>
                </a:moveTo>
                <a:lnTo>
                  <a:pt x="0" y="205385"/>
                </a:lnTo>
                <a:lnTo>
                  <a:pt x="158690" y="102697"/>
                </a:lnTo>
                <a:lnTo>
                  <a:pt x="0" y="0"/>
                </a:lnTo>
                <a:close/>
              </a:path>
            </a:pathLst>
          </a:custGeom>
          <a:solidFill>
            <a:srgbClr val="39B54A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950975" y="3346703"/>
          <a:ext cx="8824804" cy="1505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7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0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46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9503">
                <a:tc gridSpan="6">
                  <a:txBody>
                    <a:bodyPr/>
                    <a:lstStyle/>
                    <a:p>
                      <a:pPr marL="294005">
                        <a:lnSpc>
                          <a:spcPts val="1664"/>
                        </a:lnSpc>
                        <a:spcBef>
                          <a:spcPts val="300"/>
                        </a:spcBef>
                      </a:pPr>
                      <a:r>
                        <a:rPr sz="1900" spc="135" dirty="0">
                          <a:solidFill>
                            <a:srgbClr val="D9D9D9"/>
                          </a:solidFill>
                          <a:latin typeface="Arial"/>
                          <a:cs typeface="Arial"/>
                        </a:rPr>
                        <a:t>kubectl </a:t>
                      </a:r>
                      <a:r>
                        <a:rPr sz="1900" spc="125" dirty="0">
                          <a:solidFill>
                            <a:srgbClr val="D9D9D9"/>
                          </a:solidFill>
                          <a:latin typeface="Arial"/>
                          <a:cs typeface="Arial"/>
                        </a:rPr>
                        <a:t>get</a:t>
                      </a:r>
                      <a:r>
                        <a:rPr sz="1900" spc="105" dirty="0">
                          <a:solidFill>
                            <a:srgbClr val="D9D9D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10" dirty="0">
                          <a:solidFill>
                            <a:srgbClr val="D9D9D9"/>
                          </a:solidFill>
                          <a:latin typeface="Arial"/>
                          <a:cs typeface="Arial"/>
                        </a:rPr>
                        <a:t>pods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00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NAMESPACE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2493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648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2493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READY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2493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2493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RESTARTS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2493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2493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97155">
                        <a:lnSpc>
                          <a:spcPts val="1040"/>
                        </a:lnSpc>
                      </a:pPr>
                      <a:r>
                        <a:rPr sz="1300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kube-system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61035">
                        <a:lnSpc>
                          <a:spcPts val="1040"/>
                        </a:lnSpc>
                      </a:pPr>
                      <a:r>
                        <a:rPr sz="1300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coredns-69cbb76ff8-9p45d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</a:pPr>
                      <a:r>
                        <a:rPr sz="1300" spc="10" dirty="0">
                          <a:solidFill>
                            <a:srgbClr val="39B54A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04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04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97155">
                        <a:lnSpc>
                          <a:spcPts val="1040"/>
                        </a:lnSpc>
                      </a:pPr>
                      <a:r>
                        <a:rPr sz="1300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kube-system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61035">
                        <a:lnSpc>
                          <a:spcPts val="1040"/>
                        </a:lnSpc>
                      </a:pPr>
                      <a:r>
                        <a:rPr sz="1300" spc="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coredns-69cbb76ff8-rmhzt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</a:pPr>
                      <a:r>
                        <a:rPr sz="1300" spc="10" dirty="0">
                          <a:solidFill>
                            <a:srgbClr val="39B54A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04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04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048">
                <a:tc>
                  <a:txBody>
                    <a:bodyPr/>
                    <a:lstStyle/>
                    <a:p>
                      <a:pPr marL="97155">
                        <a:lnSpc>
                          <a:spcPts val="1040"/>
                        </a:lnSpc>
                      </a:pPr>
                      <a:r>
                        <a:rPr sz="1300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kube-system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61035">
                        <a:lnSpc>
                          <a:spcPts val="1040"/>
                        </a:lnSpc>
                      </a:pPr>
                      <a:r>
                        <a:rPr sz="1300" spc="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weave-net-58j2j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2/2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</a:pPr>
                      <a:r>
                        <a:rPr sz="1300" spc="10" dirty="0">
                          <a:solidFill>
                            <a:srgbClr val="39B54A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04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04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52">
                <a:tc>
                  <a:txBody>
                    <a:bodyPr/>
                    <a:lstStyle/>
                    <a:p>
                      <a:pPr marL="97155">
                        <a:lnSpc>
                          <a:spcPts val="1045"/>
                        </a:lnSpc>
                      </a:pPr>
                      <a:r>
                        <a:rPr sz="1300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kube-system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63575">
                        <a:lnSpc>
                          <a:spcPts val="1045"/>
                        </a:lnSpc>
                      </a:pPr>
                      <a:r>
                        <a:rPr sz="1300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weave-net-rr5dk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1045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2/2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045"/>
                        </a:lnSpc>
                      </a:pPr>
                      <a:r>
                        <a:rPr sz="1300" spc="15" dirty="0">
                          <a:solidFill>
                            <a:srgbClr val="39B54A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045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045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2352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388535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20" dirty="0">
                <a:solidFill>
                  <a:srgbClr val="115F92"/>
                </a:solidFill>
              </a:rPr>
              <a:t>Test </a:t>
            </a:r>
            <a:r>
              <a:rPr spc="93" dirty="0">
                <a:solidFill>
                  <a:srgbClr val="115F92"/>
                </a:solidFill>
              </a:rPr>
              <a:t>-</a:t>
            </a:r>
            <a:r>
              <a:rPr spc="-833" dirty="0">
                <a:solidFill>
                  <a:srgbClr val="115F92"/>
                </a:solidFill>
              </a:rPr>
              <a:t> </a:t>
            </a:r>
            <a:r>
              <a:rPr spc="100" dirty="0">
                <a:solidFill>
                  <a:srgbClr val="115F92"/>
                </a:solidFill>
              </a:rPr>
              <a:t>Manual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79855" y="1125711"/>
            <a:ext cx="7518400" cy="651087"/>
            <a:chOff x="659891" y="844283"/>
            <a:chExt cx="5638800" cy="488315"/>
          </a:xfrm>
        </p:grpSpPr>
        <p:sp>
          <p:nvSpPr>
            <p:cNvPr id="5" name="object 5"/>
            <p:cNvSpPr/>
            <p:nvPr/>
          </p:nvSpPr>
          <p:spPr>
            <a:xfrm>
              <a:off x="659891" y="850341"/>
              <a:ext cx="5638800" cy="4206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841247" y="844283"/>
              <a:ext cx="3380232" cy="48769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19327" y="890015"/>
              <a:ext cx="5524500" cy="262255"/>
            </a:xfrm>
            <a:custGeom>
              <a:avLst/>
              <a:gdLst/>
              <a:ahLst/>
              <a:cxnLst/>
              <a:rect l="l" t="t" r="r" b="b"/>
              <a:pathLst>
                <a:path w="5524500" h="262255">
                  <a:moveTo>
                    <a:pt x="0" y="262128"/>
                  </a:moveTo>
                  <a:lnTo>
                    <a:pt x="5524500" y="262128"/>
                  </a:lnTo>
                  <a:lnTo>
                    <a:pt x="5524500" y="0"/>
                  </a:lnTo>
                  <a:lnTo>
                    <a:pt x="0" y="0"/>
                  </a:lnTo>
                  <a:lnTo>
                    <a:pt x="0" y="262128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26218" y="1219708"/>
            <a:ext cx="4102100" cy="30527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867" spc="180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867" spc="167" dirty="0">
                <a:solidFill>
                  <a:srgbClr val="D9D9D9"/>
                </a:solidFill>
                <a:latin typeface="Arial"/>
                <a:cs typeface="Arial"/>
              </a:rPr>
              <a:t>get </a:t>
            </a:r>
            <a:r>
              <a:rPr sz="1867" spc="20" dirty="0">
                <a:solidFill>
                  <a:srgbClr val="D9D9D9"/>
                </a:solidFill>
                <a:latin typeface="Arial"/>
                <a:cs typeface="Arial"/>
              </a:rPr>
              <a:t>pods </a:t>
            </a:r>
            <a:r>
              <a:rPr sz="1867" spc="193" dirty="0">
                <a:solidFill>
                  <a:srgbClr val="D9D9D9"/>
                </a:solidFill>
                <a:latin typeface="Arial"/>
                <a:cs typeface="Arial"/>
              </a:rPr>
              <a:t>-n</a:t>
            </a:r>
            <a:r>
              <a:rPr sz="1867" spc="41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867" spc="67" dirty="0">
                <a:solidFill>
                  <a:srgbClr val="D9D9D9"/>
                </a:solidFill>
                <a:latin typeface="Arial"/>
                <a:cs typeface="Arial"/>
              </a:rPr>
              <a:t>kube-system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50975" y="1204796"/>
            <a:ext cx="7382933" cy="2719493"/>
            <a:chOff x="713231" y="903597"/>
            <a:chExt cx="5537200" cy="2039620"/>
          </a:xfrm>
        </p:grpSpPr>
        <p:sp>
          <p:nvSpPr>
            <p:cNvPr id="10" name="object 10"/>
            <p:cNvSpPr/>
            <p:nvPr/>
          </p:nvSpPr>
          <p:spPr>
            <a:xfrm>
              <a:off x="737633" y="903597"/>
              <a:ext cx="158750" cy="204470"/>
            </a:xfrm>
            <a:custGeom>
              <a:avLst/>
              <a:gdLst/>
              <a:ahLst/>
              <a:cxnLst/>
              <a:rect l="l" t="t" r="r" b="b"/>
              <a:pathLst>
                <a:path w="158750" h="204469">
                  <a:moveTo>
                    <a:pt x="0" y="0"/>
                  </a:moveTo>
                  <a:lnTo>
                    <a:pt x="0" y="204209"/>
                  </a:lnTo>
                  <a:lnTo>
                    <a:pt x="158690" y="102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19327" y="1152143"/>
              <a:ext cx="5524500" cy="1784985"/>
            </a:xfrm>
            <a:custGeom>
              <a:avLst/>
              <a:gdLst/>
              <a:ahLst/>
              <a:cxnLst/>
              <a:rect l="l" t="t" r="r" b="b"/>
              <a:pathLst>
                <a:path w="5524500" h="1784985">
                  <a:moveTo>
                    <a:pt x="5524500" y="0"/>
                  </a:moveTo>
                  <a:lnTo>
                    <a:pt x="0" y="0"/>
                  </a:lnTo>
                  <a:lnTo>
                    <a:pt x="0" y="1784603"/>
                  </a:lnTo>
                  <a:lnTo>
                    <a:pt x="5524500" y="1784603"/>
                  </a:lnTo>
                  <a:lnTo>
                    <a:pt x="5524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719327" y="1152143"/>
              <a:ext cx="5524500" cy="1784985"/>
            </a:xfrm>
            <a:custGeom>
              <a:avLst/>
              <a:gdLst/>
              <a:ahLst/>
              <a:cxnLst/>
              <a:rect l="l" t="t" r="r" b="b"/>
              <a:pathLst>
                <a:path w="5524500" h="1784985">
                  <a:moveTo>
                    <a:pt x="0" y="1784603"/>
                  </a:moveTo>
                  <a:lnTo>
                    <a:pt x="5524500" y="1784603"/>
                  </a:lnTo>
                  <a:lnTo>
                    <a:pt x="5524500" y="0"/>
                  </a:lnTo>
                  <a:lnTo>
                    <a:pt x="0" y="0"/>
                  </a:lnTo>
                  <a:lnTo>
                    <a:pt x="0" y="178460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038691" y="1536192"/>
          <a:ext cx="6323752" cy="23875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4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48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0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2493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READY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2493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2493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RESTARTS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2493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1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52493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31750">
                        <a:lnSpc>
                          <a:spcPts val="1040"/>
                        </a:lnSpc>
                      </a:pPr>
                      <a:r>
                        <a:rPr sz="1300" spc="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coredns-78fcdf6894-5dntv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1040"/>
                        </a:lnSpc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04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31750">
                        <a:lnSpc>
                          <a:spcPts val="1040"/>
                        </a:lnSpc>
                      </a:pPr>
                      <a:r>
                        <a:rPr sz="1300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coredns-78fcdf6894-knpzl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1040"/>
                        </a:lnSpc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04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31750">
                        <a:lnSpc>
                          <a:spcPts val="1040"/>
                        </a:lnSpc>
                      </a:pPr>
                      <a:r>
                        <a:rPr sz="1300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etcd-master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040"/>
                        </a:lnSpc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04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ts val="104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68">
                <a:tc>
                  <a:txBody>
                    <a:bodyPr/>
                    <a:lstStyle/>
                    <a:p>
                      <a:pPr marL="31750">
                        <a:lnSpc>
                          <a:spcPts val="1040"/>
                        </a:lnSpc>
                      </a:pPr>
                      <a:r>
                        <a:rPr sz="1300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kube-apiserver-master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1040"/>
                        </a:lnSpc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04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04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68">
                <a:tc>
                  <a:txBody>
                    <a:bodyPr/>
                    <a:lstStyle/>
                    <a:p>
                      <a:pPr marL="31750">
                        <a:lnSpc>
                          <a:spcPts val="1045"/>
                        </a:lnSpc>
                      </a:pPr>
                      <a:r>
                        <a:rPr sz="1300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kube-controller-manager-master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1045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1045"/>
                        </a:lnSpc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045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1045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31750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kube-proxy-fvbpj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ts val="1040"/>
                        </a:lnSpc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104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31750">
                        <a:lnSpc>
                          <a:spcPts val="1040"/>
                        </a:lnSpc>
                      </a:pPr>
                      <a:r>
                        <a:rPr sz="1300" spc="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kube-proxy-v5r2t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ts val="1040"/>
                        </a:lnSpc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104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104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31750">
                        <a:lnSpc>
                          <a:spcPts val="1040"/>
                        </a:lnSpc>
                      </a:pPr>
                      <a:r>
                        <a:rPr sz="13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kube-scheduler-master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1040"/>
                        </a:lnSpc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04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04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31750">
                        <a:lnSpc>
                          <a:spcPts val="1040"/>
                        </a:lnSpc>
                      </a:pPr>
                      <a:r>
                        <a:rPr sz="1300" spc="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weave-net-7kd52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2/2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1040"/>
                        </a:lnSpc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104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104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455">
                <a:tc>
                  <a:txBody>
                    <a:bodyPr/>
                    <a:lstStyle/>
                    <a:p>
                      <a:pPr marL="31750">
                        <a:lnSpc>
                          <a:spcPts val="1040"/>
                        </a:lnSpc>
                      </a:pPr>
                      <a:r>
                        <a:rPr sz="1300" spc="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weave-net-jtl5m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040"/>
                        </a:lnSpc>
                      </a:pPr>
                      <a:r>
                        <a:rPr sz="1300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2/2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1040"/>
                        </a:lnSpc>
                      </a:pPr>
                      <a:r>
                        <a:rPr sz="1300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104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104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1h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9504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388535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20" dirty="0">
                <a:solidFill>
                  <a:srgbClr val="115F92"/>
                </a:solidFill>
              </a:rPr>
              <a:t>Test </a:t>
            </a:r>
            <a:r>
              <a:rPr spc="93" dirty="0">
                <a:solidFill>
                  <a:srgbClr val="115F92"/>
                </a:solidFill>
              </a:rPr>
              <a:t>-</a:t>
            </a:r>
            <a:r>
              <a:rPr spc="-833" dirty="0">
                <a:solidFill>
                  <a:srgbClr val="115F92"/>
                </a:solidFill>
              </a:rPr>
              <a:t> </a:t>
            </a:r>
            <a:r>
              <a:rPr spc="100" dirty="0">
                <a:solidFill>
                  <a:srgbClr val="115F92"/>
                </a:solidFill>
              </a:rPr>
              <a:t>Manual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45744" y="1286308"/>
            <a:ext cx="5869093" cy="546945"/>
            <a:chOff x="559308" y="964730"/>
            <a:chExt cx="4401820" cy="410209"/>
          </a:xfrm>
        </p:grpSpPr>
        <p:sp>
          <p:nvSpPr>
            <p:cNvPr id="5" name="object 5"/>
            <p:cNvSpPr/>
            <p:nvPr/>
          </p:nvSpPr>
          <p:spPr>
            <a:xfrm>
              <a:off x="559308" y="964730"/>
              <a:ext cx="4401312" cy="3733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719328" y="967739"/>
              <a:ext cx="2491740" cy="4069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618744" y="1004315"/>
              <a:ext cx="4287520" cy="260985"/>
            </a:xfrm>
            <a:custGeom>
              <a:avLst/>
              <a:gdLst/>
              <a:ahLst/>
              <a:cxnLst/>
              <a:rect l="l" t="t" r="r" b="b"/>
              <a:pathLst>
                <a:path w="4287520" h="260984">
                  <a:moveTo>
                    <a:pt x="4287011" y="0"/>
                  </a:moveTo>
                  <a:lnTo>
                    <a:pt x="0" y="0"/>
                  </a:lnTo>
                  <a:lnTo>
                    <a:pt x="0" y="260603"/>
                  </a:lnTo>
                  <a:lnTo>
                    <a:pt x="4287011" y="260603"/>
                  </a:lnTo>
                  <a:lnTo>
                    <a:pt x="428701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16865" y="1339088"/>
            <a:ext cx="5724313" cy="277064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32730">
              <a:spcBef>
                <a:spcPts val="400"/>
              </a:spcBef>
            </a:pPr>
            <a:r>
              <a:rPr sz="1467" spc="133" dirty="0">
                <a:solidFill>
                  <a:srgbClr val="D9D9D9"/>
                </a:solidFill>
                <a:latin typeface="Arial"/>
                <a:cs typeface="Arial"/>
              </a:rPr>
              <a:t>service </a:t>
            </a:r>
            <a:r>
              <a:rPr sz="1467" spc="100" dirty="0">
                <a:solidFill>
                  <a:srgbClr val="D9D9D9"/>
                </a:solidFill>
                <a:latin typeface="Arial"/>
                <a:cs typeface="Arial"/>
              </a:rPr>
              <a:t>kube-apiserver</a:t>
            </a:r>
            <a:r>
              <a:rPr sz="1467" spc="8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67" spc="140" dirty="0">
                <a:solidFill>
                  <a:srgbClr val="D9D9D9"/>
                </a:solidFill>
                <a:latin typeface="Arial"/>
                <a:cs typeface="Arial"/>
              </a:rPr>
              <a:t>status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6526" y="1355394"/>
            <a:ext cx="7616613" cy="1449493"/>
            <a:chOff x="612394" y="1016545"/>
            <a:chExt cx="5712460" cy="1087120"/>
          </a:xfrm>
        </p:grpSpPr>
        <p:sp>
          <p:nvSpPr>
            <p:cNvPr id="10" name="object 10"/>
            <p:cNvSpPr/>
            <p:nvPr/>
          </p:nvSpPr>
          <p:spPr>
            <a:xfrm>
              <a:off x="637049" y="1016545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40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18744" y="1264920"/>
              <a:ext cx="5699760" cy="832485"/>
            </a:xfrm>
            <a:custGeom>
              <a:avLst/>
              <a:gdLst/>
              <a:ahLst/>
              <a:cxnLst/>
              <a:rect l="l" t="t" r="r" b="b"/>
              <a:pathLst>
                <a:path w="5699760" h="832485">
                  <a:moveTo>
                    <a:pt x="5699759" y="0"/>
                  </a:moveTo>
                  <a:lnTo>
                    <a:pt x="0" y="0"/>
                  </a:lnTo>
                  <a:lnTo>
                    <a:pt x="0" y="832103"/>
                  </a:lnTo>
                  <a:lnTo>
                    <a:pt x="5699759" y="832103"/>
                  </a:lnTo>
                  <a:lnTo>
                    <a:pt x="56997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18744" y="1264920"/>
              <a:ext cx="5699760" cy="832485"/>
            </a:xfrm>
            <a:custGeom>
              <a:avLst/>
              <a:gdLst/>
              <a:ahLst/>
              <a:cxnLst/>
              <a:rect l="l" t="t" r="r" b="b"/>
              <a:pathLst>
                <a:path w="5699760" h="832485">
                  <a:moveTo>
                    <a:pt x="0" y="832103"/>
                  </a:moveTo>
                  <a:lnTo>
                    <a:pt x="5699759" y="832103"/>
                  </a:lnTo>
                  <a:lnTo>
                    <a:pt x="5699759" y="0"/>
                  </a:lnTo>
                  <a:lnTo>
                    <a:pt x="0" y="0"/>
                  </a:lnTo>
                  <a:lnTo>
                    <a:pt x="0" y="83210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6864" y="1686559"/>
            <a:ext cx="7616613" cy="1039986"/>
          </a:xfrm>
          <a:prstGeom prst="rect">
            <a:avLst/>
          </a:prstGeom>
        </p:spPr>
        <p:txBody>
          <a:bodyPr vert="horz" wrap="square" lIns="0" tIns="54187" rIns="0" bIns="0" rtlCol="0">
            <a:spAutoFit/>
          </a:bodyPr>
          <a:lstStyle/>
          <a:p>
            <a:pPr marL="277698" indent="-149010">
              <a:spcBef>
                <a:spcPts val="427"/>
              </a:spcBef>
              <a:buChar char="●"/>
              <a:tabLst>
                <a:tab pos="278546" algn="l"/>
              </a:tabLst>
            </a:pPr>
            <a:r>
              <a:rPr sz="1067" spc="93" dirty="0">
                <a:solidFill>
                  <a:srgbClr val="FFFFFF"/>
                </a:solidFill>
                <a:latin typeface="Arial"/>
                <a:cs typeface="Arial"/>
              </a:rPr>
              <a:t>kube-apiserver.service </a:t>
            </a:r>
            <a:r>
              <a:rPr sz="1067" spc="233" dirty="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Kubernetes </a:t>
            </a:r>
            <a:r>
              <a:rPr sz="1067" spc="7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067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53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067" dirty="0">
              <a:latin typeface="Arial"/>
              <a:cs typeface="Arial"/>
            </a:endParaRPr>
          </a:p>
          <a:p>
            <a:pPr marL="353051" marR="433482">
              <a:spcBef>
                <a:spcPts val="7"/>
              </a:spcBef>
            </a:pPr>
            <a:r>
              <a:rPr sz="1067" spc="27" dirty="0">
                <a:solidFill>
                  <a:srgbClr val="FFFFFF"/>
                </a:solidFill>
                <a:latin typeface="Arial"/>
                <a:cs typeface="Arial"/>
              </a:rPr>
              <a:t>Loaded: </a:t>
            </a:r>
            <a:r>
              <a:rPr sz="1067" spc="47" dirty="0">
                <a:solidFill>
                  <a:srgbClr val="FFFFFF"/>
                </a:solidFill>
                <a:latin typeface="Arial"/>
                <a:cs typeface="Arial"/>
              </a:rPr>
              <a:t>loaded </a:t>
            </a:r>
            <a:r>
              <a:rPr sz="1067" spc="93" dirty="0">
                <a:solidFill>
                  <a:srgbClr val="FFFFFF"/>
                </a:solidFill>
                <a:latin typeface="Arial"/>
                <a:cs typeface="Arial"/>
              </a:rPr>
              <a:t>(/etc/systemd/system/kube-apiserver.service; </a:t>
            </a:r>
            <a:r>
              <a:rPr sz="1067" spc="67" dirty="0">
                <a:solidFill>
                  <a:srgbClr val="FFFFFF"/>
                </a:solidFill>
                <a:latin typeface="Arial"/>
                <a:cs typeface="Arial"/>
              </a:rPr>
              <a:t>enabled;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vendor </a:t>
            </a:r>
            <a:r>
              <a:rPr sz="1067" spc="113" dirty="0">
                <a:solidFill>
                  <a:srgbClr val="FFFFFF"/>
                </a:solidFill>
                <a:latin typeface="Arial"/>
                <a:cs typeface="Arial"/>
              </a:rPr>
              <a:t>preset: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enabled)  </a:t>
            </a:r>
            <a:r>
              <a:rPr sz="1067" spc="120" dirty="0">
                <a:solidFill>
                  <a:srgbClr val="FFFFFF"/>
                </a:solidFill>
                <a:latin typeface="Arial"/>
                <a:cs typeface="Arial"/>
              </a:rPr>
              <a:t>Active: </a:t>
            </a:r>
            <a:r>
              <a:rPr sz="1067" spc="120" dirty="0">
                <a:solidFill>
                  <a:srgbClr val="39B54A"/>
                </a:solidFill>
                <a:latin typeface="Arial"/>
                <a:cs typeface="Arial"/>
              </a:rPr>
              <a:t>active </a:t>
            </a:r>
            <a:r>
              <a:rPr sz="1067" spc="100" dirty="0">
                <a:solidFill>
                  <a:srgbClr val="39B54A"/>
                </a:solidFill>
                <a:latin typeface="Arial"/>
                <a:cs typeface="Arial"/>
              </a:rPr>
              <a:t>(running) </a:t>
            </a:r>
            <a:r>
              <a:rPr sz="1067" spc="80" dirty="0">
                <a:solidFill>
                  <a:srgbClr val="FFFFFF"/>
                </a:solidFill>
                <a:latin typeface="Arial"/>
                <a:cs typeface="Arial"/>
              </a:rPr>
              <a:t>since </a:t>
            </a:r>
            <a:r>
              <a:rPr sz="1067" spc="-147" dirty="0">
                <a:solidFill>
                  <a:srgbClr val="FFFFFF"/>
                </a:solidFill>
                <a:latin typeface="Arial"/>
                <a:cs typeface="Arial"/>
              </a:rPr>
              <a:t>Wed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2019-03-20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07:57:25 </a:t>
            </a:r>
            <a:r>
              <a:rPr sz="1067" spc="-40" dirty="0">
                <a:solidFill>
                  <a:srgbClr val="FFFFFF"/>
                </a:solidFill>
                <a:latin typeface="Arial"/>
                <a:cs typeface="Arial"/>
              </a:rPr>
              <a:t>UTC;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r>
              <a:rPr sz="1067" spc="-27" dirty="0">
                <a:solidFill>
                  <a:srgbClr val="FFFFFF"/>
                </a:solidFill>
                <a:latin typeface="Arial"/>
                <a:cs typeface="Arial"/>
              </a:rPr>
              <a:t>weeks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r>
              <a:rPr sz="1067" spc="20" dirty="0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-20" dirty="0">
                <a:solidFill>
                  <a:srgbClr val="FFFFFF"/>
                </a:solidFill>
                <a:latin typeface="Arial"/>
                <a:cs typeface="Arial"/>
              </a:rPr>
              <a:t>ago</a:t>
            </a:r>
            <a:endParaRPr sz="1067" dirty="0">
              <a:latin typeface="Arial"/>
              <a:cs typeface="Arial"/>
            </a:endParaRPr>
          </a:p>
          <a:p>
            <a:pPr marL="204042" marR="3693068" indent="296326"/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Docs: </a:t>
            </a:r>
            <a:r>
              <a:rPr sz="1067" spc="87" dirty="0">
                <a:solidFill>
                  <a:srgbClr val="FFFFFF"/>
                </a:solidFill>
                <a:latin typeface="Arial"/>
                <a:cs typeface="Arial"/>
              </a:rPr>
              <a:t>https://github.com/kubernetes/kubernetes  </a:t>
            </a:r>
            <a:r>
              <a:rPr sz="1067" dirty="0">
                <a:solidFill>
                  <a:srgbClr val="FFFFFF"/>
                </a:solidFill>
                <a:latin typeface="Arial"/>
                <a:cs typeface="Arial"/>
              </a:rPr>
              <a:t>Main </a:t>
            </a:r>
            <a:r>
              <a:rPr sz="1067" spc="67" dirty="0">
                <a:solidFill>
                  <a:srgbClr val="FFFFFF"/>
                </a:solidFill>
                <a:latin typeface="Arial"/>
                <a:cs typeface="Arial"/>
              </a:rPr>
              <a:t>PID: </a:t>
            </a:r>
            <a:r>
              <a:rPr sz="1067" spc="-13" dirty="0">
                <a:solidFill>
                  <a:srgbClr val="FFFFFF"/>
                </a:solidFill>
                <a:latin typeface="Arial"/>
                <a:cs typeface="Arial"/>
              </a:rPr>
              <a:t>15767</a:t>
            </a:r>
            <a:r>
              <a:rPr sz="106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93" dirty="0">
                <a:solidFill>
                  <a:srgbClr val="FFFFFF"/>
                </a:solidFill>
                <a:latin typeface="Arial"/>
                <a:cs typeface="Arial"/>
              </a:rPr>
              <a:t>(kube-apiserver)</a:t>
            </a:r>
            <a:endParaRPr sz="1067" dirty="0">
              <a:latin typeface="Arial"/>
              <a:cs typeface="Arial"/>
            </a:endParaRPr>
          </a:p>
          <a:p>
            <a:pPr marL="425863"/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Tasks: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13 </a:t>
            </a:r>
            <a:r>
              <a:rPr sz="1067" spc="213" dirty="0">
                <a:solidFill>
                  <a:srgbClr val="FFFFFF"/>
                </a:solidFill>
                <a:latin typeface="Arial"/>
                <a:cs typeface="Arial"/>
              </a:rPr>
              <a:t>(limit:</a:t>
            </a:r>
            <a:r>
              <a:rPr sz="1067" spc="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2362)</a:t>
            </a:r>
            <a:endParaRPr sz="1067" dirty="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5744" y="3145588"/>
            <a:ext cx="5869093" cy="546945"/>
            <a:chOff x="559308" y="2359190"/>
            <a:chExt cx="4401820" cy="410209"/>
          </a:xfrm>
        </p:grpSpPr>
        <p:sp>
          <p:nvSpPr>
            <p:cNvPr id="15" name="object 15"/>
            <p:cNvSpPr/>
            <p:nvPr/>
          </p:nvSpPr>
          <p:spPr>
            <a:xfrm>
              <a:off x="559308" y="2359190"/>
              <a:ext cx="4401312" cy="3733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719328" y="2362200"/>
              <a:ext cx="3177540" cy="40690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18744" y="2398776"/>
              <a:ext cx="4287520" cy="260985"/>
            </a:xfrm>
            <a:custGeom>
              <a:avLst/>
              <a:gdLst/>
              <a:ahLst/>
              <a:cxnLst/>
              <a:rect l="l" t="t" r="r" b="b"/>
              <a:pathLst>
                <a:path w="4287520" h="260985">
                  <a:moveTo>
                    <a:pt x="4287011" y="0"/>
                  </a:moveTo>
                  <a:lnTo>
                    <a:pt x="0" y="0"/>
                  </a:lnTo>
                  <a:lnTo>
                    <a:pt x="0" y="260604"/>
                  </a:lnTo>
                  <a:lnTo>
                    <a:pt x="4287011" y="260604"/>
                  </a:lnTo>
                  <a:lnTo>
                    <a:pt x="428701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16865" y="3198369"/>
            <a:ext cx="5724313" cy="277919"/>
          </a:xfrm>
          <a:prstGeom prst="rect">
            <a:avLst/>
          </a:prstGeom>
        </p:spPr>
        <p:txBody>
          <a:bodyPr vert="horz" wrap="square" lIns="0" tIns="51647" rIns="0" bIns="0" rtlCol="0">
            <a:spAutoFit/>
          </a:bodyPr>
          <a:lstStyle/>
          <a:p>
            <a:pPr marL="332730">
              <a:spcBef>
                <a:spcPts val="407"/>
              </a:spcBef>
            </a:pPr>
            <a:r>
              <a:rPr sz="1467" spc="133" dirty="0">
                <a:solidFill>
                  <a:srgbClr val="D9D9D9"/>
                </a:solidFill>
                <a:latin typeface="Arial"/>
                <a:cs typeface="Arial"/>
              </a:rPr>
              <a:t>service </a:t>
            </a:r>
            <a:r>
              <a:rPr sz="1467" spc="100" dirty="0">
                <a:solidFill>
                  <a:srgbClr val="D9D9D9"/>
                </a:solidFill>
                <a:latin typeface="Arial"/>
                <a:cs typeface="Arial"/>
              </a:rPr>
              <a:t>kube-controller-manager</a:t>
            </a:r>
            <a:r>
              <a:rPr sz="1467" spc="8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67" spc="140" dirty="0">
                <a:solidFill>
                  <a:srgbClr val="D9D9D9"/>
                </a:solidFill>
                <a:latin typeface="Arial"/>
                <a:cs typeface="Arial"/>
              </a:rPr>
              <a:t>status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6526" y="3214674"/>
            <a:ext cx="9069493" cy="1449493"/>
            <a:chOff x="612394" y="2411005"/>
            <a:chExt cx="6802120" cy="1087120"/>
          </a:xfrm>
        </p:grpSpPr>
        <p:sp>
          <p:nvSpPr>
            <p:cNvPr id="20" name="object 20"/>
            <p:cNvSpPr/>
            <p:nvPr/>
          </p:nvSpPr>
          <p:spPr>
            <a:xfrm>
              <a:off x="637049" y="2411005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39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18744" y="2659379"/>
              <a:ext cx="6789420" cy="832485"/>
            </a:xfrm>
            <a:custGeom>
              <a:avLst/>
              <a:gdLst/>
              <a:ahLst/>
              <a:cxnLst/>
              <a:rect l="l" t="t" r="r" b="b"/>
              <a:pathLst>
                <a:path w="6789420" h="832485">
                  <a:moveTo>
                    <a:pt x="6789420" y="0"/>
                  </a:moveTo>
                  <a:lnTo>
                    <a:pt x="0" y="0"/>
                  </a:lnTo>
                  <a:lnTo>
                    <a:pt x="0" y="832104"/>
                  </a:lnTo>
                  <a:lnTo>
                    <a:pt x="6789420" y="832104"/>
                  </a:lnTo>
                  <a:lnTo>
                    <a:pt x="6789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18744" y="2659379"/>
              <a:ext cx="6789420" cy="832485"/>
            </a:xfrm>
            <a:custGeom>
              <a:avLst/>
              <a:gdLst/>
              <a:ahLst/>
              <a:cxnLst/>
              <a:rect l="l" t="t" r="r" b="b"/>
              <a:pathLst>
                <a:path w="6789420" h="832485">
                  <a:moveTo>
                    <a:pt x="0" y="832104"/>
                  </a:moveTo>
                  <a:lnTo>
                    <a:pt x="6789420" y="832104"/>
                  </a:lnTo>
                  <a:lnTo>
                    <a:pt x="6789420" y="0"/>
                  </a:lnTo>
                  <a:lnTo>
                    <a:pt x="0" y="0"/>
                  </a:lnTo>
                  <a:lnTo>
                    <a:pt x="0" y="83210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16864" y="3545839"/>
            <a:ext cx="9069493" cy="1040840"/>
          </a:xfrm>
          <a:prstGeom prst="rect">
            <a:avLst/>
          </a:prstGeom>
        </p:spPr>
        <p:txBody>
          <a:bodyPr vert="horz" wrap="square" lIns="0" tIns="55033" rIns="0" bIns="0" rtlCol="0">
            <a:spAutoFit/>
          </a:bodyPr>
          <a:lstStyle/>
          <a:p>
            <a:pPr marL="277698" indent="-149010">
              <a:spcBef>
                <a:spcPts val="433"/>
              </a:spcBef>
              <a:buChar char="●"/>
              <a:tabLst>
                <a:tab pos="278546" algn="l"/>
              </a:tabLst>
            </a:pPr>
            <a:r>
              <a:rPr sz="1067" spc="87" dirty="0">
                <a:solidFill>
                  <a:srgbClr val="FFFFFF"/>
                </a:solidFill>
                <a:latin typeface="Arial"/>
                <a:cs typeface="Arial"/>
              </a:rPr>
              <a:t>kube-controller-manager.service </a:t>
            </a:r>
            <a:r>
              <a:rPr sz="1067" spc="233" dirty="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Kubernetes </a:t>
            </a:r>
            <a:r>
              <a:rPr sz="1067" spc="113" dirty="0">
                <a:solidFill>
                  <a:srgbClr val="FFFFFF"/>
                </a:solidFill>
                <a:latin typeface="Arial"/>
                <a:cs typeface="Arial"/>
              </a:rPr>
              <a:t>Controller</a:t>
            </a:r>
            <a:r>
              <a:rPr sz="1067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-20" dirty="0">
                <a:solidFill>
                  <a:srgbClr val="FFFFFF"/>
                </a:solidFill>
                <a:latin typeface="Arial"/>
                <a:cs typeface="Arial"/>
              </a:rPr>
              <a:t>Manager</a:t>
            </a:r>
            <a:endParaRPr sz="1067" dirty="0">
              <a:latin typeface="Arial"/>
              <a:cs typeface="Arial"/>
            </a:endParaRPr>
          </a:p>
          <a:p>
            <a:pPr marL="353051" marR="1220016"/>
            <a:r>
              <a:rPr sz="1067" spc="27" dirty="0">
                <a:solidFill>
                  <a:srgbClr val="FFFFFF"/>
                </a:solidFill>
                <a:latin typeface="Arial"/>
                <a:cs typeface="Arial"/>
              </a:rPr>
              <a:t>Loaded: </a:t>
            </a:r>
            <a:r>
              <a:rPr sz="1067" spc="47" dirty="0">
                <a:solidFill>
                  <a:srgbClr val="FFFFFF"/>
                </a:solidFill>
                <a:latin typeface="Arial"/>
                <a:cs typeface="Arial"/>
              </a:rPr>
              <a:t>loaded </a:t>
            </a:r>
            <a:r>
              <a:rPr sz="1067" spc="87" dirty="0">
                <a:solidFill>
                  <a:srgbClr val="FFFFFF"/>
                </a:solidFill>
                <a:latin typeface="Arial"/>
                <a:cs typeface="Arial"/>
              </a:rPr>
              <a:t>(/etc/systemd/system/kube-controller-manager.service; </a:t>
            </a:r>
            <a:r>
              <a:rPr sz="1067" spc="67" dirty="0">
                <a:solidFill>
                  <a:srgbClr val="FFFFFF"/>
                </a:solidFill>
                <a:latin typeface="Arial"/>
                <a:cs typeface="Arial"/>
              </a:rPr>
              <a:t>enabled;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vendor </a:t>
            </a:r>
            <a:r>
              <a:rPr sz="1067" spc="113" dirty="0">
                <a:solidFill>
                  <a:srgbClr val="FFFFFF"/>
                </a:solidFill>
                <a:latin typeface="Arial"/>
                <a:cs typeface="Arial"/>
              </a:rPr>
              <a:t>preset: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enabled)  </a:t>
            </a:r>
            <a:r>
              <a:rPr sz="1067" spc="120" dirty="0">
                <a:solidFill>
                  <a:srgbClr val="FFFFFF"/>
                </a:solidFill>
                <a:latin typeface="Arial"/>
                <a:cs typeface="Arial"/>
              </a:rPr>
              <a:t>Active: </a:t>
            </a:r>
            <a:r>
              <a:rPr sz="1067" spc="120" dirty="0">
                <a:solidFill>
                  <a:srgbClr val="39B54A"/>
                </a:solidFill>
                <a:latin typeface="Arial"/>
                <a:cs typeface="Arial"/>
              </a:rPr>
              <a:t>active </a:t>
            </a:r>
            <a:r>
              <a:rPr sz="1067" spc="107" dirty="0">
                <a:solidFill>
                  <a:srgbClr val="39B54A"/>
                </a:solidFill>
                <a:latin typeface="Arial"/>
                <a:cs typeface="Arial"/>
              </a:rPr>
              <a:t>(running) </a:t>
            </a:r>
            <a:r>
              <a:rPr sz="1067" spc="80" dirty="0">
                <a:solidFill>
                  <a:srgbClr val="FFFFFF"/>
                </a:solidFill>
                <a:latin typeface="Arial"/>
                <a:cs typeface="Arial"/>
              </a:rPr>
              <a:t>since </a:t>
            </a:r>
            <a:r>
              <a:rPr sz="1067" spc="-147" dirty="0">
                <a:solidFill>
                  <a:srgbClr val="FFFFFF"/>
                </a:solidFill>
                <a:latin typeface="Arial"/>
                <a:cs typeface="Arial"/>
              </a:rPr>
              <a:t>Wed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2019-03-20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07:57:25 </a:t>
            </a:r>
            <a:r>
              <a:rPr sz="1067" spc="-40" dirty="0">
                <a:solidFill>
                  <a:srgbClr val="FFFFFF"/>
                </a:solidFill>
                <a:latin typeface="Arial"/>
                <a:cs typeface="Arial"/>
              </a:rPr>
              <a:t>UTC;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r>
              <a:rPr sz="1067" spc="-27" dirty="0">
                <a:solidFill>
                  <a:srgbClr val="FFFFFF"/>
                </a:solidFill>
                <a:latin typeface="Arial"/>
                <a:cs typeface="Arial"/>
              </a:rPr>
              <a:t>weeks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r>
              <a:rPr sz="1067" spc="20" dirty="0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r>
              <a:rPr sz="1067" spc="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-20" dirty="0">
                <a:solidFill>
                  <a:srgbClr val="FFFFFF"/>
                </a:solidFill>
                <a:latin typeface="Arial"/>
                <a:cs typeface="Arial"/>
              </a:rPr>
              <a:t>ago</a:t>
            </a:r>
            <a:endParaRPr sz="1067" dirty="0">
              <a:latin typeface="Arial"/>
              <a:cs typeface="Arial"/>
            </a:endParaRPr>
          </a:p>
          <a:p>
            <a:pPr marL="501214"/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Docs:</a:t>
            </a:r>
            <a:r>
              <a:rPr sz="1067" spc="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87" dirty="0">
                <a:solidFill>
                  <a:srgbClr val="FFFFFF"/>
                </a:solidFill>
                <a:latin typeface="Arial"/>
                <a:cs typeface="Arial"/>
              </a:rPr>
              <a:t>https://github.com/kubernetes/kubernetes</a:t>
            </a:r>
            <a:endParaRPr sz="1067" dirty="0">
              <a:latin typeface="Arial"/>
              <a:cs typeface="Arial"/>
            </a:endParaRPr>
          </a:p>
          <a:p>
            <a:pPr marL="425863" marR="6406566" indent="-221821"/>
            <a:r>
              <a:rPr sz="1067" dirty="0">
                <a:solidFill>
                  <a:srgbClr val="FFFFFF"/>
                </a:solidFill>
                <a:latin typeface="Arial"/>
                <a:cs typeface="Arial"/>
              </a:rPr>
              <a:t>Main </a:t>
            </a:r>
            <a:r>
              <a:rPr sz="1067" spc="67" dirty="0">
                <a:solidFill>
                  <a:srgbClr val="FFFFFF"/>
                </a:solidFill>
                <a:latin typeface="Arial"/>
                <a:cs typeface="Arial"/>
              </a:rPr>
              <a:t>PID: </a:t>
            </a:r>
            <a:r>
              <a:rPr sz="1067" spc="-13" dirty="0">
                <a:solidFill>
                  <a:srgbClr val="FFFFFF"/>
                </a:solidFill>
                <a:latin typeface="Arial"/>
                <a:cs typeface="Arial"/>
              </a:rPr>
              <a:t>15771 </a:t>
            </a:r>
            <a:r>
              <a:rPr sz="1067" spc="120" dirty="0">
                <a:solidFill>
                  <a:srgbClr val="FFFFFF"/>
                </a:solidFill>
                <a:latin typeface="Arial"/>
                <a:cs typeface="Arial"/>
              </a:rPr>
              <a:t>(kube-controller) 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Tasks: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10 </a:t>
            </a:r>
            <a:r>
              <a:rPr sz="1067" spc="213" dirty="0">
                <a:solidFill>
                  <a:srgbClr val="FFFFFF"/>
                </a:solidFill>
                <a:latin typeface="Arial"/>
                <a:cs typeface="Arial"/>
              </a:rPr>
              <a:t>(limit:</a:t>
            </a:r>
            <a:r>
              <a:rPr sz="1067" spc="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2362)</a:t>
            </a:r>
            <a:endParaRPr sz="1067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45744" y="5118608"/>
            <a:ext cx="5869093" cy="546945"/>
            <a:chOff x="559308" y="3838955"/>
            <a:chExt cx="4401820" cy="410209"/>
          </a:xfrm>
        </p:grpSpPr>
        <p:sp>
          <p:nvSpPr>
            <p:cNvPr id="25" name="object 25"/>
            <p:cNvSpPr/>
            <p:nvPr/>
          </p:nvSpPr>
          <p:spPr>
            <a:xfrm>
              <a:off x="559308" y="3838955"/>
              <a:ext cx="4401312" cy="3733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719328" y="3842003"/>
              <a:ext cx="2491740" cy="40690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618744" y="3878579"/>
              <a:ext cx="4287520" cy="260985"/>
            </a:xfrm>
            <a:custGeom>
              <a:avLst/>
              <a:gdLst/>
              <a:ahLst/>
              <a:cxnLst/>
              <a:rect l="l" t="t" r="r" b="b"/>
              <a:pathLst>
                <a:path w="4287520" h="260985">
                  <a:moveTo>
                    <a:pt x="4287011" y="0"/>
                  </a:moveTo>
                  <a:lnTo>
                    <a:pt x="0" y="0"/>
                  </a:lnTo>
                  <a:lnTo>
                    <a:pt x="0" y="260604"/>
                  </a:lnTo>
                  <a:lnTo>
                    <a:pt x="4287011" y="260604"/>
                  </a:lnTo>
                  <a:lnTo>
                    <a:pt x="428701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16865" y="5171439"/>
            <a:ext cx="5724313" cy="277919"/>
          </a:xfrm>
          <a:prstGeom prst="rect">
            <a:avLst/>
          </a:prstGeom>
        </p:spPr>
        <p:txBody>
          <a:bodyPr vert="horz" wrap="square" lIns="0" tIns="51647" rIns="0" bIns="0" rtlCol="0">
            <a:spAutoFit/>
          </a:bodyPr>
          <a:lstStyle/>
          <a:p>
            <a:pPr marL="332730">
              <a:spcBef>
                <a:spcPts val="407"/>
              </a:spcBef>
            </a:pPr>
            <a:r>
              <a:rPr sz="1467" spc="133" dirty="0">
                <a:solidFill>
                  <a:srgbClr val="D9D9D9"/>
                </a:solidFill>
                <a:latin typeface="Arial"/>
                <a:cs typeface="Arial"/>
              </a:rPr>
              <a:t>service </a:t>
            </a:r>
            <a:r>
              <a:rPr sz="1467" spc="80" dirty="0">
                <a:solidFill>
                  <a:srgbClr val="D9D9D9"/>
                </a:solidFill>
                <a:latin typeface="Arial"/>
                <a:cs typeface="Arial"/>
              </a:rPr>
              <a:t>kube-scheduler </a:t>
            </a:r>
            <a:r>
              <a:rPr sz="1467" spc="140" dirty="0">
                <a:solidFill>
                  <a:srgbClr val="D9D9D9"/>
                </a:solidFill>
                <a:latin typeface="Arial"/>
                <a:cs typeface="Arial"/>
              </a:rPr>
              <a:t>status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16864" y="5187516"/>
            <a:ext cx="9069493" cy="1449493"/>
            <a:chOff x="612648" y="3890637"/>
            <a:chExt cx="6802120" cy="1087120"/>
          </a:xfrm>
        </p:grpSpPr>
        <p:sp>
          <p:nvSpPr>
            <p:cNvPr id="30" name="object 30"/>
            <p:cNvSpPr/>
            <p:nvPr/>
          </p:nvSpPr>
          <p:spPr>
            <a:xfrm>
              <a:off x="637049" y="3890637"/>
              <a:ext cx="158750" cy="204470"/>
            </a:xfrm>
            <a:custGeom>
              <a:avLst/>
              <a:gdLst/>
              <a:ahLst/>
              <a:cxnLst/>
              <a:rect l="l" t="t" r="r" b="b"/>
              <a:pathLst>
                <a:path w="158750" h="204470">
                  <a:moveTo>
                    <a:pt x="0" y="0"/>
                  </a:moveTo>
                  <a:lnTo>
                    <a:pt x="0" y="204209"/>
                  </a:lnTo>
                  <a:lnTo>
                    <a:pt x="158690" y="102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618744" y="4139183"/>
              <a:ext cx="6789420" cy="832485"/>
            </a:xfrm>
            <a:custGeom>
              <a:avLst/>
              <a:gdLst/>
              <a:ahLst/>
              <a:cxnLst/>
              <a:rect l="l" t="t" r="r" b="b"/>
              <a:pathLst>
                <a:path w="6789420" h="832485">
                  <a:moveTo>
                    <a:pt x="6789420" y="0"/>
                  </a:moveTo>
                  <a:lnTo>
                    <a:pt x="0" y="0"/>
                  </a:lnTo>
                  <a:lnTo>
                    <a:pt x="0" y="832103"/>
                  </a:lnTo>
                  <a:lnTo>
                    <a:pt x="6789420" y="832103"/>
                  </a:lnTo>
                  <a:lnTo>
                    <a:pt x="6789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618744" y="4139183"/>
              <a:ext cx="6789420" cy="832485"/>
            </a:xfrm>
            <a:custGeom>
              <a:avLst/>
              <a:gdLst/>
              <a:ahLst/>
              <a:cxnLst/>
              <a:rect l="l" t="t" r="r" b="b"/>
              <a:pathLst>
                <a:path w="6789420" h="832485">
                  <a:moveTo>
                    <a:pt x="0" y="832103"/>
                  </a:moveTo>
                  <a:lnTo>
                    <a:pt x="6789420" y="832103"/>
                  </a:lnTo>
                  <a:lnTo>
                    <a:pt x="6789420" y="0"/>
                  </a:lnTo>
                  <a:lnTo>
                    <a:pt x="0" y="0"/>
                  </a:lnTo>
                  <a:lnTo>
                    <a:pt x="0" y="83210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16864" y="5518912"/>
            <a:ext cx="9069493" cy="1040840"/>
          </a:xfrm>
          <a:prstGeom prst="rect">
            <a:avLst/>
          </a:prstGeom>
        </p:spPr>
        <p:txBody>
          <a:bodyPr vert="horz" wrap="square" lIns="0" tIns="55033" rIns="0" bIns="0" rtlCol="0">
            <a:spAutoFit/>
          </a:bodyPr>
          <a:lstStyle/>
          <a:p>
            <a:pPr marL="277698" indent="-149010">
              <a:spcBef>
                <a:spcPts val="433"/>
              </a:spcBef>
              <a:buChar char="●"/>
              <a:tabLst>
                <a:tab pos="278546" algn="l"/>
              </a:tabLst>
            </a:pPr>
            <a:r>
              <a:rPr sz="1067" spc="80" dirty="0">
                <a:solidFill>
                  <a:srgbClr val="FFFFFF"/>
                </a:solidFill>
                <a:latin typeface="Arial"/>
                <a:cs typeface="Arial"/>
              </a:rPr>
              <a:t>kube-scheduler.service </a:t>
            </a:r>
            <a:r>
              <a:rPr sz="1067" spc="233" dirty="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Kubernetes</a:t>
            </a:r>
            <a:r>
              <a:rPr sz="1067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47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067" dirty="0">
              <a:latin typeface="Arial"/>
              <a:cs typeface="Arial"/>
            </a:endParaRPr>
          </a:p>
          <a:p>
            <a:pPr marL="353051" marR="1886326"/>
            <a:r>
              <a:rPr sz="1067" spc="27" dirty="0">
                <a:solidFill>
                  <a:srgbClr val="FFFFFF"/>
                </a:solidFill>
                <a:latin typeface="Arial"/>
                <a:cs typeface="Arial"/>
              </a:rPr>
              <a:t>Loaded: </a:t>
            </a:r>
            <a:r>
              <a:rPr sz="1067" spc="47" dirty="0">
                <a:solidFill>
                  <a:srgbClr val="FFFFFF"/>
                </a:solidFill>
                <a:latin typeface="Arial"/>
                <a:cs typeface="Arial"/>
              </a:rPr>
              <a:t>loaded </a:t>
            </a:r>
            <a:r>
              <a:rPr sz="1067" spc="87" dirty="0">
                <a:solidFill>
                  <a:srgbClr val="FFFFFF"/>
                </a:solidFill>
                <a:latin typeface="Arial"/>
                <a:cs typeface="Arial"/>
              </a:rPr>
              <a:t>(/etc/systemd/system/kube-scheduler.service; </a:t>
            </a:r>
            <a:r>
              <a:rPr sz="1067" spc="67" dirty="0">
                <a:solidFill>
                  <a:srgbClr val="FFFFFF"/>
                </a:solidFill>
                <a:latin typeface="Arial"/>
                <a:cs typeface="Arial"/>
              </a:rPr>
              <a:t>enabled;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vendor </a:t>
            </a:r>
            <a:r>
              <a:rPr sz="1067" spc="113" dirty="0">
                <a:solidFill>
                  <a:srgbClr val="FFFFFF"/>
                </a:solidFill>
                <a:latin typeface="Arial"/>
                <a:cs typeface="Arial"/>
              </a:rPr>
              <a:t>preset: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enabled)  </a:t>
            </a:r>
            <a:r>
              <a:rPr sz="1067" spc="120" dirty="0">
                <a:solidFill>
                  <a:srgbClr val="FFFFFF"/>
                </a:solidFill>
                <a:latin typeface="Arial"/>
                <a:cs typeface="Arial"/>
              </a:rPr>
              <a:t>Active: </a:t>
            </a:r>
            <a:r>
              <a:rPr sz="1067" spc="120" dirty="0">
                <a:solidFill>
                  <a:srgbClr val="39B54A"/>
                </a:solidFill>
                <a:latin typeface="Arial"/>
                <a:cs typeface="Arial"/>
              </a:rPr>
              <a:t>active </a:t>
            </a:r>
            <a:r>
              <a:rPr sz="1067" spc="107" dirty="0">
                <a:solidFill>
                  <a:srgbClr val="39B54A"/>
                </a:solidFill>
                <a:latin typeface="Arial"/>
                <a:cs typeface="Arial"/>
              </a:rPr>
              <a:t>(running) </a:t>
            </a:r>
            <a:r>
              <a:rPr sz="1067" spc="80" dirty="0">
                <a:solidFill>
                  <a:srgbClr val="FFFFFF"/>
                </a:solidFill>
                <a:latin typeface="Arial"/>
                <a:cs typeface="Arial"/>
              </a:rPr>
              <a:t>since </a:t>
            </a:r>
            <a:r>
              <a:rPr sz="1067" spc="167" dirty="0">
                <a:solidFill>
                  <a:srgbClr val="FFFFFF"/>
                </a:solidFill>
                <a:latin typeface="Arial"/>
                <a:cs typeface="Arial"/>
              </a:rPr>
              <a:t>Fri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2019-03-29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01:45:32 </a:t>
            </a:r>
            <a:r>
              <a:rPr sz="1067" spc="-40" dirty="0">
                <a:solidFill>
                  <a:srgbClr val="FFFFFF"/>
                </a:solidFill>
                <a:latin typeface="Arial"/>
                <a:cs typeface="Arial"/>
              </a:rPr>
              <a:t>UTC;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11min</a:t>
            </a:r>
            <a:r>
              <a:rPr sz="1067" spc="1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-13" dirty="0">
                <a:solidFill>
                  <a:srgbClr val="FFFFFF"/>
                </a:solidFill>
                <a:latin typeface="Arial"/>
                <a:cs typeface="Arial"/>
              </a:rPr>
              <a:t>ago</a:t>
            </a:r>
            <a:endParaRPr sz="1067" dirty="0">
              <a:latin typeface="Arial"/>
              <a:cs typeface="Arial"/>
            </a:endParaRPr>
          </a:p>
          <a:p>
            <a:pPr marL="204042" marR="5145910" indent="296326">
              <a:spcBef>
                <a:spcPts val="7"/>
              </a:spcBef>
            </a:pP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Docs: </a:t>
            </a:r>
            <a:r>
              <a:rPr sz="1067" spc="87" dirty="0">
                <a:solidFill>
                  <a:srgbClr val="FFFFFF"/>
                </a:solidFill>
                <a:latin typeface="Arial"/>
                <a:cs typeface="Arial"/>
              </a:rPr>
              <a:t>https://github.com/kubernetes/kubernetes  </a:t>
            </a:r>
            <a:r>
              <a:rPr sz="1067" dirty="0">
                <a:solidFill>
                  <a:srgbClr val="FFFFFF"/>
                </a:solidFill>
                <a:latin typeface="Arial"/>
                <a:cs typeface="Arial"/>
              </a:rPr>
              <a:t>Main </a:t>
            </a:r>
            <a:r>
              <a:rPr sz="1067" spc="67" dirty="0">
                <a:solidFill>
                  <a:srgbClr val="FFFFFF"/>
                </a:solidFill>
                <a:latin typeface="Arial"/>
                <a:cs typeface="Arial"/>
              </a:rPr>
              <a:t>PID: </a:t>
            </a:r>
            <a:r>
              <a:rPr sz="1067" spc="-13" dirty="0">
                <a:solidFill>
                  <a:srgbClr val="FFFFFF"/>
                </a:solidFill>
                <a:latin typeface="Arial"/>
                <a:cs typeface="Arial"/>
              </a:rPr>
              <a:t>28390</a:t>
            </a:r>
            <a:r>
              <a:rPr sz="1067" spc="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80" dirty="0">
                <a:solidFill>
                  <a:srgbClr val="FFFFFF"/>
                </a:solidFill>
                <a:latin typeface="Arial"/>
                <a:cs typeface="Arial"/>
              </a:rPr>
              <a:t>(kube-scheduler)</a:t>
            </a:r>
            <a:endParaRPr sz="1067" dirty="0">
              <a:latin typeface="Arial"/>
              <a:cs typeface="Arial"/>
            </a:endParaRPr>
          </a:p>
          <a:p>
            <a:pPr marL="425863"/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Tasks: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10 </a:t>
            </a:r>
            <a:r>
              <a:rPr sz="1067" spc="213" dirty="0">
                <a:solidFill>
                  <a:srgbClr val="FFFFFF"/>
                </a:solidFill>
                <a:latin typeface="Arial"/>
                <a:cs typeface="Arial"/>
              </a:rPr>
              <a:t>(limit:</a:t>
            </a:r>
            <a:r>
              <a:rPr sz="1067" spc="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2362)</a:t>
            </a:r>
            <a:endParaRPr sz="106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65364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388535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20" dirty="0">
                <a:solidFill>
                  <a:srgbClr val="115F92"/>
                </a:solidFill>
              </a:rPr>
              <a:t>Test </a:t>
            </a:r>
            <a:r>
              <a:rPr spc="93" dirty="0">
                <a:solidFill>
                  <a:srgbClr val="115F92"/>
                </a:solidFill>
              </a:rPr>
              <a:t>-</a:t>
            </a:r>
            <a:r>
              <a:rPr spc="-833" dirty="0">
                <a:solidFill>
                  <a:srgbClr val="115F92"/>
                </a:solidFill>
              </a:rPr>
              <a:t> </a:t>
            </a:r>
            <a:r>
              <a:rPr spc="100" dirty="0">
                <a:solidFill>
                  <a:srgbClr val="115F92"/>
                </a:solidFill>
              </a:rPr>
              <a:t>Manual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45744" y="1286308"/>
            <a:ext cx="5869093" cy="546945"/>
            <a:chOff x="559308" y="964730"/>
            <a:chExt cx="4401820" cy="410209"/>
          </a:xfrm>
        </p:grpSpPr>
        <p:sp>
          <p:nvSpPr>
            <p:cNvPr id="5" name="object 5"/>
            <p:cNvSpPr/>
            <p:nvPr/>
          </p:nvSpPr>
          <p:spPr>
            <a:xfrm>
              <a:off x="559308" y="964730"/>
              <a:ext cx="4401312" cy="3733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719328" y="967739"/>
              <a:ext cx="1958339" cy="4069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618744" y="1004315"/>
              <a:ext cx="4287520" cy="260985"/>
            </a:xfrm>
            <a:custGeom>
              <a:avLst/>
              <a:gdLst/>
              <a:ahLst/>
              <a:cxnLst/>
              <a:rect l="l" t="t" r="r" b="b"/>
              <a:pathLst>
                <a:path w="4287520" h="260984">
                  <a:moveTo>
                    <a:pt x="4287011" y="0"/>
                  </a:moveTo>
                  <a:lnTo>
                    <a:pt x="0" y="0"/>
                  </a:lnTo>
                  <a:lnTo>
                    <a:pt x="0" y="260603"/>
                  </a:lnTo>
                  <a:lnTo>
                    <a:pt x="4287011" y="260603"/>
                  </a:lnTo>
                  <a:lnTo>
                    <a:pt x="428701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16865" y="1339088"/>
            <a:ext cx="5724313" cy="277064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32730">
              <a:spcBef>
                <a:spcPts val="400"/>
              </a:spcBef>
            </a:pPr>
            <a:r>
              <a:rPr sz="1467" spc="133" dirty="0">
                <a:solidFill>
                  <a:srgbClr val="D9D9D9"/>
                </a:solidFill>
                <a:latin typeface="Arial"/>
                <a:cs typeface="Arial"/>
              </a:rPr>
              <a:t>service </a:t>
            </a:r>
            <a:r>
              <a:rPr sz="1467" spc="120" dirty="0">
                <a:solidFill>
                  <a:srgbClr val="D9D9D9"/>
                </a:solidFill>
                <a:latin typeface="Arial"/>
                <a:cs typeface="Arial"/>
              </a:rPr>
              <a:t>kubelet</a:t>
            </a:r>
            <a:r>
              <a:rPr sz="1467" spc="8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67" spc="140" dirty="0">
                <a:solidFill>
                  <a:srgbClr val="D9D9D9"/>
                </a:solidFill>
                <a:latin typeface="Arial"/>
                <a:cs typeface="Arial"/>
              </a:rPr>
              <a:t>status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6526" y="1355394"/>
            <a:ext cx="7616613" cy="1449493"/>
            <a:chOff x="612394" y="1016545"/>
            <a:chExt cx="5712460" cy="1087120"/>
          </a:xfrm>
        </p:grpSpPr>
        <p:sp>
          <p:nvSpPr>
            <p:cNvPr id="10" name="object 10"/>
            <p:cNvSpPr/>
            <p:nvPr/>
          </p:nvSpPr>
          <p:spPr>
            <a:xfrm>
              <a:off x="637049" y="1016545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40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18744" y="1264920"/>
              <a:ext cx="5699760" cy="832485"/>
            </a:xfrm>
            <a:custGeom>
              <a:avLst/>
              <a:gdLst/>
              <a:ahLst/>
              <a:cxnLst/>
              <a:rect l="l" t="t" r="r" b="b"/>
              <a:pathLst>
                <a:path w="5699760" h="832485">
                  <a:moveTo>
                    <a:pt x="5699759" y="0"/>
                  </a:moveTo>
                  <a:lnTo>
                    <a:pt x="0" y="0"/>
                  </a:lnTo>
                  <a:lnTo>
                    <a:pt x="0" y="832103"/>
                  </a:lnTo>
                  <a:lnTo>
                    <a:pt x="5699759" y="832103"/>
                  </a:lnTo>
                  <a:lnTo>
                    <a:pt x="56997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18744" y="1264920"/>
              <a:ext cx="5699760" cy="832485"/>
            </a:xfrm>
            <a:custGeom>
              <a:avLst/>
              <a:gdLst/>
              <a:ahLst/>
              <a:cxnLst/>
              <a:rect l="l" t="t" r="r" b="b"/>
              <a:pathLst>
                <a:path w="5699760" h="832485">
                  <a:moveTo>
                    <a:pt x="0" y="832103"/>
                  </a:moveTo>
                  <a:lnTo>
                    <a:pt x="5699759" y="832103"/>
                  </a:lnTo>
                  <a:lnTo>
                    <a:pt x="5699759" y="0"/>
                  </a:lnTo>
                  <a:lnTo>
                    <a:pt x="0" y="0"/>
                  </a:lnTo>
                  <a:lnTo>
                    <a:pt x="0" y="83210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6864" y="1686559"/>
            <a:ext cx="7616613" cy="1039986"/>
          </a:xfrm>
          <a:prstGeom prst="rect">
            <a:avLst/>
          </a:prstGeom>
        </p:spPr>
        <p:txBody>
          <a:bodyPr vert="horz" wrap="square" lIns="0" tIns="54187" rIns="0" bIns="0" rtlCol="0">
            <a:spAutoFit/>
          </a:bodyPr>
          <a:lstStyle/>
          <a:p>
            <a:pPr marL="277698" indent="-149010">
              <a:spcBef>
                <a:spcPts val="427"/>
              </a:spcBef>
              <a:buChar char="●"/>
              <a:tabLst>
                <a:tab pos="278546" algn="l"/>
              </a:tabLst>
            </a:pPr>
            <a:r>
              <a:rPr sz="1067" spc="107" dirty="0">
                <a:solidFill>
                  <a:srgbClr val="FFFFFF"/>
                </a:solidFill>
                <a:latin typeface="Arial"/>
                <a:cs typeface="Arial"/>
              </a:rPr>
              <a:t>kubelet.service </a:t>
            </a:r>
            <a:r>
              <a:rPr sz="1067" spc="233" dirty="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Kubernetes</a:t>
            </a:r>
            <a:r>
              <a:rPr sz="1067" spc="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1067" dirty="0">
              <a:latin typeface="Arial"/>
              <a:cs typeface="Arial"/>
            </a:endParaRPr>
          </a:p>
          <a:p>
            <a:pPr marL="353051" marR="951630">
              <a:spcBef>
                <a:spcPts val="7"/>
              </a:spcBef>
            </a:pPr>
            <a:r>
              <a:rPr sz="1067" spc="27" dirty="0">
                <a:solidFill>
                  <a:srgbClr val="FFFFFF"/>
                </a:solidFill>
                <a:latin typeface="Arial"/>
                <a:cs typeface="Arial"/>
              </a:rPr>
              <a:t>Loaded: </a:t>
            </a:r>
            <a:r>
              <a:rPr sz="1067" spc="47" dirty="0">
                <a:solidFill>
                  <a:srgbClr val="FFFFFF"/>
                </a:solidFill>
                <a:latin typeface="Arial"/>
                <a:cs typeface="Arial"/>
              </a:rPr>
              <a:t>loaded </a:t>
            </a:r>
            <a:r>
              <a:rPr sz="1067" spc="100" dirty="0">
                <a:solidFill>
                  <a:srgbClr val="FFFFFF"/>
                </a:solidFill>
                <a:latin typeface="Arial"/>
                <a:cs typeface="Arial"/>
              </a:rPr>
              <a:t>(/etc/systemd/system/kubelet.service; </a:t>
            </a:r>
            <a:r>
              <a:rPr sz="1067" spc="67" dirty="0">
                <a:solidFill>
                  <a:srgbClr val="FFFFFF"/>
                </a:solidFill>
                <a:latin typeface="Arial"/>
                <a:cs typeface="Arial"/>
              </a:rPr>
              <a:t>enabled;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vendor </a:t>
            </a:r>
            <a:r>
              <a:rPr sz="1067" spc="113" dirty="0">
                <a:solidFill>
                  <a:srgbClr val="FFFFFF"/>
                </a:solidFill>
                <a:latin typeface="Arial"/>
                <a:cs typeface="Arial"/>
              </a:rPr>
              <a:t>preset: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enabled)  </a:t>
            </a:r>
            <a:r>
              <a:rPr sz="1067" spc="120" dirty="0">
                <a:solidFill>
                  <a:srgbClr val="FFFFFF"/>
                </a:solidFill>
                <a:latin typeface="Arial"/>
                <a:cs typeface="Arial"/>
              </a:rPr>
              <a:t>Active: </a:t>
            </a:r>
            <a:r>
              <a:rPr sz="1067" spc="120" dirty="0">
                <a:solidFill>
                  <a:srgbClr val="39B54A"/>
                </a:solidFill>
                <a:latin typeface="Arial"/>
                <a:cs typeface="Arial"/>
              </a:rPr>
              <a:t>active </a:t>
            </a:r>
            <a:r>
              <a:rPr sz="1067" spc="107" dirty="0">
                <a:solidFill>
                  <a:srgbClr val="39B54A"/>
                </a:solidFill>
                <a:latin typeface="Arial"/>
                <a:cs typeface="Arial"/>
              </a:rPr>
              <a:t>(running) </a:t>
            </a:r>
            <a:r>
              <a:rPr sz="1067" spc="80" dirty="0">
                <a:solidFill>
                  <a:srgbClr val="FFFFFF"/>
                </a:solidFill>
                <a:latin typeface="Arial"/>
                <a:cs typeface="Arial"/>
              </a:rPr>
              <a:t>since </a:t>
            </a:r>
            <a:r>
              <a:rPr sz="1067" spc="-147" dirty="0">
                <a:solidFill>
                  <a:srgbClr val="FFFFFF"/>
                </a:solidFill>
                <a:latin typeface="Arial"/>
                <a:cs typeface="Arial"/>
              </a:rPr>
              <a:t>Wed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2019-03-20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14:22:06 </a:t>
            </a:r>
            <a:r>
              <a:rPr sz="1067" spc="-40" dirty="0">
                <a:solidFill>
                  <a:srgbClr val="FFFFFF"/>
                </a:solidFill>
                <a:latin typeface="Arial"/>
                <a:cs typeface="Arial"/>
              </a:rPr>
              <a:t>UTC;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r>
              <a:rPr sz="1067" spc="-27" dirty="0">
                <a:solidFill>
                  <a:srgbClr val="FFFFFF"/>
                </a:solidFill>
                <a:latin typeface="Arial"/>
                <a:cs typeface="Arial"/>
              </a:rPr>
              <a:t>weeks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r>
              <a:rPr sz="1067" spc="20" dirty="0">
                <a:solidFill>
                  <a:srgbClr val="FFFFFF"/>
                </a:solidFill>
                <a:latin typeface="Arial"/>
                <a:cs typeface="Arial"/>
              </a:rPr>
              <a:t>days </a:t>
            </a:r>
            <a:r>
              <a:rPr sz="1067" spc="-20" dirty="0">
                <a:solidFill>
                  <a:srgbClr val="FFFFFF"/>
                </a:solidFill>
                <a:latin typeface="Arial"/>
                <a:cs typeface="Arial"/>
              </a:rPr>
              <a:t>ago</a:t>
            </a:r>
            <a:endParaRPr sz="1067" dirty="0">
              <a:latin typeface="Arial"/>
              <a:cs typeface="Arial"/>
            </a:endParaRPr>
          </a:p>
          <a:p>
            <a:pPr marL="204042" marR="3693068" indent="296326"/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Docs: </a:t>
            </a:r>
            <a:r>
              <a:rPr sz="1067" spc="87" dirty="0">
                <a:solidFill>
                  <a:srgbClr val="FFFFFF"/>
                </a:solidFill>
                <a:latin typeface="Arial"/>
                <a:cs typeface="Arial"/>
              </a:rPr>
              <a:t>https://github.com/kubernetes/kubernetes  </a:t>
            </a:r>
            <a:r>
              <a:rPr sz="1067" dirty="0">
                <a:solidFill>
                  <a:srgbClr val="FFFFFF"/>
                </a:solidFill>
                <a:latin typeface="Arial"/>
                <a:cs typeface="Arial"/>
              </a:rPr>
              <a:t>Main </a:t>
            </a:r>
            <a:r>
              <a:rPr sz="1067" spc="67" dirty="0">
                <a:solidFill>
                  <a:srgbClr val="FFFFFF"/>
                </a:solidFill>
                <a:latin typeface="Arial"/>
                <a:cs typeface="Arial"/>
              </a:rPr>
              <a:t>PID: </a:t>
            </a:r>
            <a:r>
              <a:rPr sz="1067" spc="-13" dirty="0">
                <a:solidFill>
                  <a:srgbClr val="FFFFFF"/>
                </a:solidFill>
                <a:latin typeface="Arial"/>
                <a:cs typeface="Arial"/>
              </a:rPr>
              <a:t>1281</a:t>
            </a:r>
            <a:r>
              <a:rPr sz="106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120" dirty="0">
                <a:solidFill>
                  <a:srgbClr val="FFFFFF"/>
                </a:solidFill>
                <a:latin typeface="Arial"/>
                <a:cs typeface="Arial"/>
              </a:rPr>
              <a:t>(kubelet)</a:t>
            </a:r>
            <a:endParaRPr sz="1067" dirty="0">
              <a:latin typeface="Arial"/>
              <a:cs typeface="Arial"/>
            </a:endParaRPr>
          </a:p>
          <a:p>
            <a:pPr marL="425863"/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Tasks: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24 </a:t>
            </a:r>
            <a:r>
              <a:rPr sz="1067" spc="213" dirty="0">
                <a:solidFill>
                  <a:srgbClr val="FFFFFF"/>
                </a:solidFill>
                <a:latin typeface="Arial"/>
                <a:cs typeface="Arial"/>
              </a:rPr>
              <a:t>(limit:</a:t>
            </a:r>
            <a:r>
              <a:rPr sz="1067" spc="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1152)</a:t>
            </a:r>
            <a:endParaRPr sz="1067" dirty="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5744" y="3145588"/>
            <a:ext cx="5869093" cy="546945"/>
            <a:chOff x="559308" y="2359190"/>
            <a:chExt cx="4401820" cy="410209"/>
          </a:xfrm>
        </p:grpSpPr>
        <p:sp>
          <p:nvSpPr>
            <p:cNvPr id="15" name="object 15"/>
            <p:cNvSpPr/>
            <p:nvPr/>
          </p:nvSpPr>
          <p:spPr>
            <a:xfrm>
              <a:off x="559308" y="2359190"/>
              <a:ext cx="4401312" cy="3733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719328" y="2362200"/>
              <a:ext cx="2186940" cy="40690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18744" y="2398776"/>
              <a:ext cx="4287520" cy="260985"/>
            </a:xfrm>
            <a:custGeom>
              <a:avLst/>
              <a:gdLst/>
              <a:ahLst/>
              <a:cxnLst/>
              <a:rect l="l" t="t" r="r" b="b"/>
              <a:pathLst>
                <a:path w="4287520" h="260985">
                  <a:moveTo>
                    <a:pt x="4287011" y="0"/>
                  </a:moveTo>
                  <a:lnTo>
                    <a:pt x="0" y="0"/>
                  </a:lnTo>
                  <a:lnTo>
                    <a:pt x="0" y="260604"/>
                  </a:lnTo>
                  <a:lnTo>
                    <a:pt x="4287011" y="260604"/>
                  </a:lnTo>
                  <a:lnTo>
                    <a:pt x="428701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16865" y="3198369"/>
            <a:ext cx="5724313" cy="277919"/>
          </a:xfrm>
          <a:prstGeom prst="rect">
            <a:avLst/>
          </a:prstGeom>
        </p:spPr>
        <p:txBody>
          <a:bodyPr vert="horz" wrap="square" lIns="0" tIns="51647" rIns="0" bIns="0" rtlCol="0">
            <a:spAutoFit/>
          </a:bodyPr>
          <a:lstStyle/>
          <a:p>
            <a:pPr marL="332730">
              <a:spcBef>
                <a:spcPts val="407"/>
              </a:spcBef>
            </a:pPr>
            <a:r>
              <a:rPr sz="1467" spc="133" dirty="0">
                <a:solidFill>
                  <a:srgbClr val="D9D9D9"/>
                </a:solidFill>
                <a:latin typeface="Arial"/>
                <a:cs typeface="Arial"/>
              </a:rPr>
              <a:t>service </a:t>
            </a:r>
            <a:r>
              <a:rPr sz="1467" spc="67" dirty="0">
                <a:solidFill>
                  <a:srgbClr val="D9D9D9"/>
                </a:solidFill>
                <a:latin typeface="Arial"/>
                <a:cs typeface="Arial"/>
              </a:rPr>
              <a:t>kube-proxy</a:t>
            </a:r>
            <a:r>
              <a:rPr sz="1467" spc="8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67" spc="140" dirty="0">
                <a:solidFill>
                  <a:srgbClr val="D9D9D9"/>
                </a:solidFill>
                <a:latin typeface="Arial"/>
                <a:cs typeface="Arial"/>
              </a:rPr>
              <a:t>status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6864" y="3214674"/>
            <a:ext cx="9069493" cy="1449493"/>
            <a:chOff x="612648" y="2411005"/>
            <a:chExt cx="6802120" cy="1087120"/>
          </a:xfrm>
        </p:grpSpPr>
        <p:sp>
          <p:nvSpPr>
            <p:cNvPr id="20" name="object 20"/>
            <p:cNvSpPr/>
            <p:nvPr/>
          </p:nvSpPr>
          <p:spPr>
            <a:xfrm>
              <a:off x="637049" y="2411005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39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18744" y="2659379"/>
              <a:ext cx="6789420" cy="832485"/>
            </a:xfrm>
            <a:custGeom>
              <a:avLst/>
              <a:gdLst/>
              <a:ahLst/>
              <a:cxnLst/>
              <a:rect l="l" t="t" r="r" b="b"/>
              <a:pathLst>
                <a:path w="6789420" h="832485">
                  <a:moveTo>
                    <a:pt x="6789420" y="0"/>
                  </a:moveTo>
                  <a:lnTo>
                    <a:pt x="0" y="0"/>
                  </a:lnTo>
                  <a:lnTo>
                    <a:pt x="0" y="832104"/>
                  </a:lnTo>
                  <a:lnTo>
                    <a:pt x="6789420" y="832104"/>
                  </a:lnTo>
                  <a:lnTo>
                    <a:pt x="6789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18744" y="2659379"/>
              <a:ext cx="6789420" cy="832485"/>
            </a:xfrm>
            <a:custGeom>
              <a:avLst/>
              <a:gdLst/>
              <a:ahLst/>
              <a:cxnLst/>
              <a:rect l="l" t="t" r="r" b="b"/>
              <a:pathLst>
                <a:path w="6789420" h="832485">
                  <a:moveTo>
                    <a:pt x="0" y="832104"/>
                  </a:moveTo>
                  <a:lnTo>
                    <a:pt x="6789420" y="832104"/>
                  </a:lnTo>
                  <a:lnTo>
                    <a:pt x="6789420" y="0"/>
                  </a:lnTo>
                  <a:lnTo>
                    <a:pt x="0" y="0"/>
                  </a:lnTo>
                  <a:lnTo>
                    <a:pt x="0" y="83210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16864" y="3545839"/>
            <a:ext cx="9069493" cy="1040840"/>
          </a:xfrm>
          <a:prstGeom prst="rect">
            <a:avLst/>
          </a:prstGeom>
        </p:spPr>
        <p:txBody>
          <a:bodyPr vert="horz" wrap="square" lIns="0" tIns="55033" rIns="0" bIns="0" rtlCol="0">
            <a:spAutoFit/>
          </a:bodyPr>
          <a:lstStyle/>
          <a:p>
            <a:pPr marL="277698" indent="-149010">
              <a:spcBef>
                <a:spcPts val="433"/>
              </a:spcBef>
              <a:buChar char="●"/>
              <a:tabLst>
                <a:tab pos="278546" algn="l"/>
              </a:tabLst>
            </a:pPr>
            <a:r>
              <a:rPr sz="1067" spc="80" dirty="0">
                <a:solidFill>
                  <a:srgbClr val="FFFFFF"/>
                </a:solidFill>
                <a:latin typeface="Arial"/>
                <a:cs typeface="Arial"/>
              </a:rPr>
              <a:t>kube-proxy.service </a:t>
            </a:r>
            <a:r>
              <a:rPr sz="1067" spc="233" dirty="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Kubernetes </a:t>
            </a:r>
            <a:r>
              <a:rPr sz="1067" spc="-40" dirty="0">
                <a:solidFill>
                  <a:srgbClr val="FFFFFF"/>
                </a:solidFill>
                <a:latin typeface="Arial"/>
                <a:cs typeface="Arial"/>
              </a:rPr>
              <a:t>Kube</a:t>
            </a:r>
            <a:r>
              <a:rPr sz="1067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Proxy</a:t>
            </a:r>
            <a:endParaRPr sz="1067" dirty="0">
              <a:latin typeface="Arial"/>
              <a:cs typeface="Arial"/>
            </a:endParaRPr>
          </a:p>
          <a:p>
            <a:pPr marL="353051" marR="2183497"/>
            <a:r>
              <a:rPr sz="1067" spc="27" dirty="0">
                <a:solidFill>
                  <a:srgbClr val="FFFFFF"/>
                </a:solidFill>
                <a:latin typeface="Arial"/>
                <a:cs typeface="Arial"/>
              </a:rPr>
              <a:t>Loaded: </a:t>
            </a:r>
            <a:r>
              <a:rPr sz="1067" spc="47" dirty="0">
                <a:solidFill>
                  <a:srgbClr val="FFFFFF"/>
                </a:solidFill>
                <a:latin typeface="Arial"/>
                <a:cs typeface="Arial"/>
              </a:rPr>
              <a:t>loaded </a:t>
            </a:r>
            <a:r>
              <a:rPr sz="1067" spc="87" dirty="0">
                <a:solidFill>
                  <a:srgbClr val="FFFFFF"/>
                </a:solidFill>
                <a:latin typeface="Arial"/>
                <a:cs typeface="Arial"/>
              </a:rPr>
              <a:t>(/etc/systemd/system/kube-proxy.service; </a:t>
            </a:r>
            <a:r>
              <a:rPr sz="1067" spc="67" dirty="0">
                <a:solidFill>
                  <a:srgbClr val="FFFFFF"/>
                </a:solidFill>
                <a:latin typeface="Arial"/>
                <a:cs typeface="Arial"/>
              </a:rPr>
              <a:t>enabled;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vendor </a:t>
            </a:r>
            <a:r>
              <a:rPr sz="1067" spc="113" dirty="0">
                <a:solidFill>
                  <a:srgbClr val="FFFFFF"/>
                </a:solidFill>
                <a:latin typeface="Arial"/>
                <a:cs typeface="Arial"/>
              </a:rPr>
              <a:t>preset: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enabled)  </a:t>
            </a:r>
            <a:r>
              <a:rPr sz="1067" spc="120" dirty="0">
                <a:solidFill>
                  <a:srgbClr val="FFFFFF"/>
                </a:solidFill>
                <a:latin typeface="Arial"/>
                <a:cs typeface="Arial"/>
              </a:rPr>
              <a:t>Active: </a:t>
            </a:r>
            <a:r>
              <a:rPr sz="1067" spc="120" dirty="0">
                <a:solidFill>
                  <a:srgbClr val="39B54A"/>
                </a:solidFill>
                <a:latin typeface="Arial"/>
                <a:cs typeface="Arial"/>
              </a:rPr>
              <a:t>active </a:t>
            </a:r>
            <a:r>
              <a:rPr sz="1067" spc="107" dirty="0">
                <a:solidFill>
                  <a:srgbClr val="39B54A"/>
                </a:solidFill>
                <a:latin typeface="Arial"/>
                <a:cs typeface="Arial"/>
              </a:rPr>
              <a:t>(running) </a:t>
            </a:r>
            <a:r>
              <a:rPr sz="1067" spc="80" dirty="0">
                <a:solidFill>
                  <a:srgbClr val="FFFFFF"/>
                </a:solidFill>
                <a:latin typeface="Arial"/>
                <a:cs typeface="Arial"/>
              </a:rPr>
              <a:t>since </a:t>
            </a:r>
            <a:r>
              <a:rPr sz="1067" spc="-147" dirty="0">
                <a:solidFill>
                  <a:srgbClr val="FFFFFF"/>
                </a:solidFill>
                <a:latin typeface="Arial"/>
                <a:cs typeface="Arial"/>
              </a:rPr>
              <a:t>Wed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2019-03-20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14:21:54 </a:t>
            </a:r>
            <a:r>
              <a:rPr sz="1067" spc="-40" dirty="0">
                <a:solidFill>
                  <a:srgbClr val="FFFFFF"/>
                </a:solidFill>
                <a:latin typeface="Arial"/>
                <a:cs typeface="Arial"/>
              </a:rPr>
              <a:t>UTC;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r>
              <a:rPr sz="1067" spc="-27" dirty="0">
                <a:solidFill>
                  <a:srgbClr val="FFFFFF"/>
                </a:solidFill>
                <a:latin typeface="Arial"/>
                <a:cs typeface="Arial"/>
              </a:rPr>
              <a:t>weeks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r>
              <a:rPr sz="1067" spc="20" dirty="0">
                <a:solidFill>
                  <a:srgbClr val="FFFFFF"/>
                </a:solidFill>
                <a:latin typeface="Arial"/>
                <a:cs typeface="Arial"/>
              </a:rPr>
              <a:t>days </a:t>
            </a:r>
            <a:r>
              <a:rPr sz="1067" spc="-20" dirty="0">
                <a:solidFill>
                  <a:srgbClr val="FFFFFF"/>
                </a:solidFill>
                <a:latin typeface="Arial"/>
                <a:cs typeface="Arial"/>
              </a:rPr>
              <a:t>ago</a:t>
            </a:r>
            <a:endParaRPr sz="1067" dirty="0">
              <a:latin typeface="Arial"/>
              <a:cs typeface="Arial"/>
            </a:endParaRPr>
          </a:p>
          <a:p>
            <a:pPr marL="501214"/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Docs:</a:t>
            </a:r>
            <a:r>
              <a:rPr sz="1067" spc="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87" dirty="0">
                <a:solidFill>
                  <a:srgbClr val="FFFFFF"/>
                </a:solidFill>
                <a:latin typeface="Arial"/>
                <a:cs typeface="Arial"/>
              </a:rPr>
              <a:t>https://github.com/kubernetes/kubernetes</a:t>
            </a:r>
            <a:endParaRPr sz="1067" dirty="0">
              <a:latin typeface="Arial"/>
              <a:cs typeface="Arial"/>
            </a:endParaRPr>
          </a:p>
          <a:p>
            <a:pPr marL="425863" marR="6926407" indent="-221821"/>
            <a:r>
              <a:rPr sz="1067" dirty="0">
                <a:solidFill>
                  <a:srgbClr val="FFFFFF"/>
                </a:solidFill>
                <a:latin typeface="Arial"/>
                <a:cs typeface="Arial"/>
              </a:rPr>
              <a:t>Main </a:t>
            </a:r>
            <a:r>
              <a:rPr sz="1067" spc="67" dirty="0">
                <a:solidFill>
                  <a:srgbClr val="FFFFFF"/>
                </a:solidFill>
                <a:latin typeface="Arial"/>
                <a:cs typeface="Arial"/>
              </a:rPr>
              <a:t>PID: </a:t>
            </a:r>
            <a:r>
              <a:rPr sz="1067" spc="-13" dirty="0">
                <a:solidFill>
                  <a:srgbClr val="FFFFFF"/>
                </a:solidFill>
                <a:latin typeface="Arial"/>
                <a:cs typeface="Arial"/>
              </a:rPr>
              <a:t>794 </a:t>
            </a:r>
            <a:r>
              <a:rPr sz="1067" spc="80" dirty="0">
                <a:solidFill>
                  <a:srgbClr val="FFFFFF"/>
                </a:solidFill>
                <a:latin typeface="Arial"/>
                <a:cs typeface="Arial"/>
              </a:rPr>
              <a:t>(kube-proxy)  </a:t>
            </a:r>
            <a:r>
              <a:rPr sz="1067" spc="60" dirty="0">
                <a:solidFill>
                  <a:srgbClr val="FFFFFF"/>
                </a:solidFill>
                <a:latin typeface="Arial"/>
                <a:cs typeface="Arial"/>
              </a:rPr>
              <a:t>Tasks: </a:t>
            </a:r>
            <a:r>
              <a:rPr sz="1067" spc="-7" dirty="0">
                <a:solidFill>
                  <a:srgbClr val="FFFFFF"/>
                </a:solidFill>
                <a:latin typeface="Arial"/>
                <a:cs typeface="Arial"/>
              </a:rPr>
              <a:t>7 </a:t>
            </a:r>
            <a:r>
              <a:rPr sz="1067" spc="213" dirty="0">
                <a:solidFill>
                  <a:srgbClr val="FFFFFF"/>
                </a:solidFill>
                <a:latin typeface="Arial"/>
                <a:cs typeface="Arial"/>
              </a:rPr>
              <a:t>(limit:</a:t>
            </a:r>
            <a:r>
              <a:rPr sz="1067" spc="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33" dirty="0">
                <a:solidFill>
                  <a:srgbClr val="FFFFFF"/>
                </a:solidFill>
                <a:latin typeface="Arial"/>
                <a:cs typeface="Arial"/>
              </a:rPr>
              <a:t>1152)</a:t>
            </a:r>
            <a:endParaRPr sz="106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73733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388535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20" dirty="0">
                <a:solidFill>
                  <a:srgbClr val="115F92"/>
                </a:solidFill>
              </a:rPr>
              <a:t>Test </a:t>
            </a:r>
            <a:r>
              <a:rPr spc="93" dirty="0">
                <a:solidFill>
                  <a:srgbClr val="115F92"/>
                </a:solidFill>
              </a:rPr>
              <a:t>-</a:t>
            </a:r>
            <a:r>
              <a:rPr spc="-833" dirty="0">
                <a:solidFill>
                  <a:srgbClr val="115F92"/>
                </a:solidFill>
              </a:rPr>
              <a:t> </a:t>
            </a:r>
            <a:r>
              <a:rPr spc="100" dirty="0">
                <a:solidFill>
                  <a:srgbClr val="115F92"/>
                </a:solidFill>
              </a:rPr>
              <a:t>Manual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45744" y="1286308"/>
            <a:ext cx="5869093" cy="546945"/>
            <a:chOff x="559308" y="964730"/>
            <a:chExt cx="4401820" cy="410209"/>
          </a:xfrm>
        </p:grpSpPr>
        <p:sp>
          <p:nvSpPr>
            <p:cNvPr id="5" name="object 5"/>
            <p:cNvSpPr/>
            <p:nvPr/>
          </p:nvSpPr>
          <p:spPr>
            <a:xfrm>
              <a:off x="559308" y="964730"/>
              <a:ext cx="4401312" cy="3733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719328" y="967739"/>
              <a:ext cx="1577340" cy="4069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618744" y="1004315"/>
              <a:ext cx="4287520" cy="260985"/>
            </a:xfrm>
            <a:custGeom>
              <a:avLst/>
              <a:gdLst/>
              <a:ahLst/>
              <a:cxnLst/>
              <a:rect l="l" t="t" r="r" b="b"/>
              <a:pathLst>
                <a:path w="4287520" h="260984">
                  <a:moveTo>
                    <a:pt x="4287011" y="0"/>
                  </a:moveTo>
                  <a:lnTo>
                    <a:pt x="0" y="0"/>
                  </a:lnTo>
                  <a:lnTo>
                    <a:pt x="0" y="260603"/>
                  </a:lnTo>
                  <a:lnTo>
                    <a:pt x="4287011" y="260603"/>
                  </a:lnTo>
                  <a:lnTo>
                    <a:pt x="428701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16865" y="1339088"/>
            <a:ext cx="5724313" cy="277064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32730">
              <a:spcBef>
                <a:spcPts val="400"/>
              </a:spcBef>
            </a:pPr>
            <a:r>
              <a:rPr sz="1467" spc="133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467" spc="93" dirty="0">
                <a:solidFill>
                  <a:srgbClr val="D9D9D9"/>
                </a:solidFill>
                <a:latin typeface="Arial"/>
                <a:cs typeface="Arial"/>
              </a:rPr>
              <a:t>run</a:t>
            </a:r>
            <a:r>
              <a:rPr sz="1467" spc="8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67" spc="93" dirty="0">
                <a:solidFill>
                  <a:srgbClr val="D9D9D9"/>
                </a:solidFill>
                <a:latin typeface="Arial"/>
                <a:cs typeface="Arial"/>
              </a:rPr>
              <a:t>nginx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6526" y="1355393"/>
            <a:ext cx="7616613" cy="628227"/>
            <a:chOff x="612394" y="1016545"/>
            <a:chExt cx="5712460" cy="471170"/>
          </a:xfrm>
        </p:grpSpPr>
        <p:sp>
          <p:nvSpPr>
            <p:cNvPr id="10" name="object 10"/>
            <p:cNvSpPr/>
            <p:nvPr/>
          </p:nvSpPr>
          <p:spPr>
            <a:xfrm>
              <a:off x="637049" y="1016545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40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18744" y="1264920"/>
              <a:ext cx="5699760" cy="216535"/>
            </a:xfrm>
            <a:custGeom>
              <a:avLst/>
              <a:gdLst/>
              <a:ahLst/>
              <a:cxnLst/>
              <a:rect l="l" t="t" r="r" b="b"/>
              <a:pathLst>
                <a:path w="5699760" h="216534">
                  <a:moveTo>
                    <a:pt x="5699759" y="0"/>
                  </a:moveTo>
                  <a:lnTo>
                    <a:pt x="0" y="0"/>
                  </a:lnTo>
                  <a:lnTo>
                    <a:pt x="0" y="216408"/>
                  </a:lnTo>
                  <a:lnTo>
                    <a:pt x="5699759" y="216408"/>
                  </a:lnTo>
                  <a:lnTo>
                    <a:pt x="56997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18744" y="1264920"/>
              <a:ext cx="5699760" cy="216535"/>
            </a:xfrm>
            <a:custGeom>
              <a:avLst/>
              <a:gdLst/>
              <a:ahLst/>
              <a:cxnLst/>
              <a:rect l="l" t="t" r="r" b="b"/>
              <a:pathLst>
                <a:path w="5699760" h="216534">
                  <a:moveTo>
                    <a:pt x="0" y="216408"/>
                  </a:moveTo>
                  <a:lnTo>
                    <a:pt x="5699759" y="216408"/>
                  </a:lnTo>
                  <a:lnTo>
                    <a:pt x="5699759" y="0"/>
                  </a:lnTo>
                  <a:lnTo>
                    <a:pt x="0" y="0"/>
                  </a:lnTo>
                  <a:lnTo>
                    <a:pt x="0" y="21640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6864" y="1686560"/>
            <a:ext cx="7616613" cy="218928"/>
          </a:xfrm>
          <a:prstGeom prst="rect">
            <a:avLst/>
          </a:prstGeom>
        </p:spPr>
        <p:txBody>
          <a:bodyPr vert="horz" wrap="square" lIns="0" tIns="54187" rIns="0" bIns="0" rtlCol="0">
            <a:spAutoFit/>
          </a:bodyPr>
          <a:lstStyle/>
          <a:p>
            <a:pPr marL="129537">
              <a:spcBef>
                <a:spcPts val="427"/>
              </a:spcBef>
            </a:pPr>
            <a:r>
              <a:rPr sz="1067" spc="53" dirty="0">
                <a:solidFill>
                  <a:srgbClr val="FFFFFF"/>
                </a:solidFill>
                <a:latin typeface="Arial"/>
                <a:cs typeface="Arial"/>
              </a:rPr>
              <a:t>deployment.apps/nginx</a:t>
            </a:r>
            <a:r>
              <a:rPr sz="1067" spc="27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67" dirty="0">
                <a:solidFill>
                  <a:srgbClr val="39B54A"/>
                </a:solidFill>
                <a:latin typeface="Arial"/>
                <a:cs typeface="Arial"/>
              </a:rPr>
              <a:t>created</a:t>
            </a:r>
            <a:endParaRPr sz="1067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5744" y="2294061"/>
            <a:ext cx="5869093" cy="549487"/>
            <a:chOff x="559308" y="1720545"/>
            <a:chExt cx="4401820" cy="412115"/>
          </a:xfrm>
        </p:grpSpPr>
        <p:sp>
          <p:nvSpPr>
            <p:cNvPr id="15" name="object 15"/>
            <p:cNvSpPr/>
            <p:nvPr/>
          </p:nvSpPr>
          <p:spPr>
            <a:xfrm>
              <a:off x="559308" y="1720545"/>
              <a:ext cx="4401312" cy="37495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719328" y="1723656"/>
              <a:ext cx="1501140" cy="40841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18744" y="1760219"/>
              <a:ext cx="4287520" cy="262255"/>
            </a:xfrm>
            <a:custGeom>
              <a:avLst/>
              <a:gdLst/>
              <a:ahLst/>
              <a:cxnLst/>
              <a:rect l="l" t="t" r="r" b="b"/>
              <a:pathLst>
                <a:path w="4287520" h="262255">
                  <a:moveTo>
                    <a:pt x="4287011" y="0"/>
                  </a:moveTo>
                  <a:lnTo>
                    <a:pt x="0" y="0"/>
                  </a:lnTo>
                  <a:lnTo>
                    <a:pt x="0" y="262127"/>
                  </a:lnTo>
                  <a:lnTo>
                    <a:pt x="4287011" y="262127"/>
                  </a:lnTo>
                  <a:lnTo>
                    <a:pt x="428701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32773" y="2382521"/>
            <a:ext cx="166031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spc="133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467" spc="120" dirty="0">
                <a:solidFill>
                  <a:srgbClr val="D9D9D9"/>
                </a:solidFill>
                <a:latin typeface="Arial"/>
                <a:cs typeface="Arial"/>
              </a:rPr>
              <a:t>get</a:t>
            </a:r>
            <a:r>
              <a:rPr sz="1467" spc="-2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D9D9D9"/>
                </a:solidFill>
                <a:latin typeface="Arial"/>
                <a:cs typeface="Arial"/>
              </a:rPr>
              <a:t>pods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6526" y="2363266"/>
            <a:ext cx="9069493" cy="793327"/>
            <a:chOff x="612394" y="1772449"/>
            <a:chExt cx="6802120" cy="594995"/>
          </a:xfrm>
        </p:grpSpPr>
        <p:sp>
          <p:nvSpPr>
            <p:cNvPr id="20" name="object 20"/>
            <p:cNvSpPr/>
            <p:nvPr/>
          </p:nvSpPr>
          <p:spPr>
            <a:xfrm>
              <a:off x="637049" y="1772449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39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18744" y="2022347"/>
              <a:ext cx="6789420" cy="338455"/>
            </a:xfrm>
            <a:custGeom>
              <a:avLst/>
              <a:gdLst/>
              <a:ahLst/>
              <a:cxnLst/>
              <a:rect l="l" t="t" r="r" b="b"/>
              <a:pathLst>
                <a:path w="6789420" h="338455">
                  <a:moveTo>
                    <a:pt x="6789420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6789420" y="338327"/>
                  </a:lnTo>
                  <a:lnTo>
                    <a:pt x="6789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18744" y="2022347"/>
              <a:ext cx="6789420" cy="338455"/>
            </a:xfrm>
            <a:custGeom>
              <a:avLst/>
              <a:gdLst/>
              <a:ahLst/>
              <a:cxnLst/>
              <a:rect l="l" t="t" r="r" b="b"/>
              <a:pathLst>
                <a:path w="6789420" h="338455">
                  <a:moveTo>
                    <a:pt x="0" y="338327"/>
                  </a:moveTo>
                  <a:lnTo>
                    <a:pt x="6789420" y="338327"/>
                  </a:lnTo>
                  <a:lnTo>
                    <a:pt x="6789420" y="0"/>
                  </a:lnTo>
                  <a:lnTo>
                    <a:pt x="0" y="0"/>
                  </a:lnTo>
                  <a:lnTo>
                    <a:pt x="0" y="33832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904173" y="2696465"/>
          <a:ext cx="4310374" cy="4592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4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5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806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READY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RESTARTS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68">
                <a:tc>
                  <a:txBody>
                    <a:bodyPr/>
                    <a:lstStyle/>
                    <a:p>
                      <a:pPr marL="31750">
                        <a:lnSpc>
                          <a:spcPts val="835"/>
                        </a:lnSpc>
                      </a:pPr>
                      <a:r>
                        <a:rPr sz="1100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nginx-7cdbd8cdc9-g5q8d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5" dirty="0">
                          <a:solidFill>
                            <a:srgbClr val="39B54A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83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83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4" name="object 24"/>
          <p:cNvGrpSpPr/>
          <p:nvPr/>
        </p:nvGrpSpPr>
        <p:grpSpPr>
          <a:xfrm>
            <a:off x="745744" y="3543741"/>
            <a:ext cx="5869093" cy="549487"/>
            <a:chOff x="559308" y="2657805"/>
            <a:chExt cx="4401820" cy="412115"/>
          </a:xfrm>
        </p:grpSpPr>
        <p:sp>
          <p:nvSpPr>
            <p:cNvPr id="25" name="object 25"/>
            <p:cNvSpPr/>
            <p:nvPr/>
          </p:nvSpPr>
          <p:spPr>
            <a:xfrm>
              <a:off x="559308" y="2657805"/>
              <a:ext cx="4401312" cy="37495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719328" y="2660916"/>
              <a:ext cx="3253740" cy="40841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618744" y="2697480"/>
              <a:ext cx="4287520" cy="262255"/>
            </a:xfrm>
            <a:custGeom>
              <a:avLst/>
              <a:gdLst/>
              <a:ahLst/>
              <a:cxnLst/>
              <a:rect l="l" t="t" r="r" b="b"/>
              <a:pathLst>
                <a:path w="4287520" h="262255">
                  <a:moveTo>
                    <a:pt x="4287011" y="0"/>
                  </a:moveTo>
                  <a:lnTo>
                    <a:pt x="0" y="0"/>
                  </a:lnTo>
                  <a:lnTo>
                    <a:pt x="0" y="262128"/>
                  </a:lnTo>
                  <a:lnTo>
                    <a:pt x="4287011" y="262128"/>
                  </a:lnTo>
                  <a:lnTo>
                    <a:pt x="428701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16865" y="3596639"/>
            <a:ext cx="5724313" cy="278773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332730">
              <a:spcBef>
                <a:spcPts val="413"/>
              </a:spcBef>
            </a:pPr>
            <a:r>
              <a:rPr sz="1467" spc="133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467" spc="113" dirty="0">
                <a:solidFill>
                  <a:srgbClr val="D9D9D9"/>
                </a:solidFill>
                <a:latin typeface="Arial"/>
                <a:cs typeface="Arial"/>
              </a:rPr>
              <a:t>scale </a:t>
            </a:r>
            <a:r>
              <a:rPr sz="1467" spc="152" dirty="0">
                <a:solidFill>
                  <a:srgbClr val="D9D9D9"/>
                </a:solidFill>
                <a:latin typeface="Arial"/>
                <a:cs typeface="Arial"/>
              </a:rPr>
              <a:t>--replicas=3</a:t>
            </a:r>
            <a:r>
              <a:rPr sz="1467" spc="36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67" spc="107" dirty="0">
                <a:solidFill>
                  <a:srgbClr val="D9D9D9"/>
                </a:solidFill>
                <a:latin typeface="Arial"/>
                <a:cs typeface="Arial"/>
              </a:rPr>
              <a:t>deploy/nginx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16526" y="3612945"/>
            <a:ext cx="9069493" cy="628227"/>
            <a:chOff x="612394" y="2709709"/>
            <a:chExt cx="6802120" cy="471170"/>
          </a:xfrm>
        </p:grpSpPr>
        <p:sp>
          <p:nvSpPr>
            <p:cNvPr id="30" name="object 30"/>
            <p:cNvSpPr/>
            <p:nvPr/>
          </p:nvSpPr>
          <p:spPr>
            <a:xfrm>
              <a:off x="637049" y="2709709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39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618744" y="2959608"/>
              <a:ext cx="6789420" cy="215265"/>
            </a:xfrm>
            <a:custGeom>
              <a:avLst/>
              <a:gdLst/>
              <a:ahLst/>
              <a:cxnLst/>
              <a:rect l="l" t="t" r="r" b="b"/>
              <a:pathLst>
                <a:path w="6789420" h="215264">
                  <a:moveTo>
                    <a:pt x="6789420" y="0"/>
                  </a:moveTo>
                  <a:lnTo>
                    <a:pt x="0" y="0"/>
                  </a:lnTo>
                  <a:lnTo>
                    <a:pt x="0" y="214883"/>
                  </a:lnTo>
                  <a:lnTo>
                    <a:pt x="6789420" y="214883"/>
                  </a:lnTo>
                  <a:lnTo>
                    <a:pt x="6789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618744" y="2959608"/>
              <a:ext cx="6789420" cy="215265"/>
            </a:xfrm>
            <a:custGeom>
              <a:avLst/>
              <a:gdLst/>
              <a:ahLst/>
              <a:cxnLst/>
              <a:rect l="l" t="t" r="r" b="b"/>
              <a:pathLst>
                <a:path w="6789420" h="215264">
                  <a:moveTo>
                    <a:pt x="0" y="214883"/>
                  </a:moveTo>
                  <a:lnTo>
                    <a:pt x="6789420" y="214883"/>
                  </a:lnTo>
                  <a:lnTo>
                    <a:pt x="6789420" y="0"/>
                  </a:lnTo>
                  <a:lnTo>
                    <a:pt x="0" y="0"/>
                  </a:lnTo>
                  <a:lnTo>
                    <a:pt x="0" y="21488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16864" y="3946144"/>
            <a:ext cx="9069493" cy="218928"/>
          </a:xfrm>
          <a:prstGeom prst="rect">
            <a:avLst/>
          </a:prstGeom>
        </p:spPr>
        <p:txBody>
          <a:bodyPr vert="horz" wrap="square" lIns="0" tIns="54187" rIns="0" bIns="0" rtlCol="0">
            <a:spAutoFit/>
          </a:bodyPr>
          <a:lstStyle/>
          <a:p>
            <a:pPr marL="129537">
              <a:spcBef>
                <a:spcPts val="427"/>
              </a:spcBef>
            </a:pPr>
            <a:r>
              <a:rPr sz="1067" spc="67" dirty="0">
                <a:solidFill>
                  <a:srgbClr val="FFFFFF"/>
                </a:solidFill>
                <a:latin typeface="Arial"/>
                <a:cs typeface="Arial"/>
              </a:rPr>
              <a:t>deployment.extensions/nginx</a:t>
            </a:r>
            <a:r>
              <a:rPr sz="1067" spc="27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67" spc="67" dirty="0">
                <a:solidFill>
                  <a:srgbClr val="39B54A"/>
                </a:solidFill>
                <a:latin typeface="Arial"/>
                <a:cs typeface="Arial"/>
              </a:rPr>
              <a:t>scaled</a:t>
            </a:r>
            <a:endParaRPr sz="1067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45744" y="4628829"/>
            <a:ext cx="5869093" cy="549487"/>
            <a:chOff x="559308" y="3471621"/>
            <a:chExt cx="4401820" cy="412115"/>
          </a:xfrm>
        </p:grpSpPr>
        <p:sp>
          <p:nvSpPr>
            <p:cNvPr id="35" name="object 35"/>
            <p:cNvSpPr/>
            <p:nvPr/>
          </p:nvSpPr>
          <p:spPr>
            <a:xfrm>
              <a:off x="559308" y="3471621"/>
              <a:ext cx="4401312" cy="37495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719328" y="3474719"/>
              <a:ext cx="1501140" cy="40841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824992" y="4681729"/>
            <a:ext cx="5716693" cy="349673"/>
            <a:chOff x="618744" y="3511296"/>
            <a:chExt cx="4287520" cy="262255"/>
          </a:xfrm>
        </p:grpSpPr>
        <p:sp>
          <p:nvSpPr>
            <p:cNvPr id="38" name="object 38"/>
            <p:cNvSpPr/>
            <p:nvPr/>
          </p:nvSpPr>
          <p:spPr>
            <a:xfrm>
              <a:off x="618744" y="3511296"/>
              <a:ext cx="4287520" cy="262255"/>
            </a:xfrm>
            <a:custGeom>
              <a:avLst/>
              <a:gdLst/>
              <a:ahLst/>
              <a:cxnLst/>
              <a:rect l="l" t="t" r="r" b="b"/>
              <a:pathLst>
                <a:path w="4287520" h="262254">
                  <a:moveTo>
                    <a:pt x="4287011" y="0"/>
                  </a:moveTo>
                  <a:lnTo>
                    <a:pt x="0" y="0"/>
                  </a:lnTo>
                  <a:lnTo>
                    <a:pt x="0" y="262127"/>
                  </a:lnTo>
                  <a:lnTo>
                    <a:pt x="4287011" y="262127"/>
                  </a:lnTo>
                  <a:lnTo>
                    <a:pt x="428701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637049" y="3523525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39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816864" y="4681729"/>
          <a:ext cx="9065258" cy="11358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18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8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3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9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892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9503">
                <a:tc gridSpan="7">
                  <a:txBody>
                    <a:bodyPr/>
                    <a:lstStyle/>
                    <a:p>
                      <a:pPr marL="24955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100" dirty="0">
                          <a:solidFill>
                            <a:srgbClr val="D9D9D9"/>
                          </a:solidFill>
                          <a:latin typeface="Arial"/>
                          <a:cs typeface="Arial"/>
                        </a:rPr>
                        <a:t>kubectl </a:t>
                      </a:r>
                      <a:r>
                        <a:rPr sz="1500" spc="90" dirty="0">
                          <a:solidFill>
                            <a:srgbClr val="D9D9D9"/>
                          </a:solidFill>
                          <a:latin typeface="Arial"/>
                          <a:cs typeface="Arial"/>
                        </a:rPr>
                        <a:t>get</a:t>
                      </a:r>
                      <a:r>
                        <a:rPr sz="1500" spc="60" dirty="0">
                          <a:solidFill>
                            <a:srgbClr val="D9D9D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D9D9D9"/>
                          </a:solidFill>
                          <a:latin typeface="Arial"/>
                          <a:cs typeface="Arial"/>
                        </a:rPr>
                        <a:t>pods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02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READY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RESTARTS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IP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NOMINATED</a:t>
                      </a:r>
                      <a:r>
                        <a:rPr sz="1100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READINESS</a:t>
                      </a:r>
                      <a:r>
                        <a:rPr sz="1100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GATES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4187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408">
                <a:tc>
                  <a:txBody>
                    <a:bodyPr/>
                    <a:lstStyle/>
                    <a:p>
                      <a:pPr marL="97155">
                        <a:lnSpc>
                          <a:spcPts val="835"/>
                        </a:lnSpc>
                      </a:pPr>
                      <a:r>
                        <a:rPr sz="1100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nginx-7cdbd8cdc9-djj6x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5" dirty="0">
                          <a:solidFill>
                            <a:srgbClr val="39B54A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83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74s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835"/>
                        </a:lnSpc>
                      </a:pPr>
                      <a:r>
                        <a:rPr sz="1100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10.40.0.5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835"/>
                        </a:lnSpc>
                      </a:pPr>
                      <a:r>
                        <a:rPr sz="1100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worker-2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&lt;none&gt;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&lt;none&gt;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965">
                <a:tc>
                  <a:txBody>
                    <a:bodyPr/>
                    <a:lstStyle/>
                    <a:p>
                      <a:pPr marL="97155">
                        <a:lnSpc>
                          <a:spcPts val="835"/>
                        </a:lnSpc>
                      </a:pPr>
                      <a:r>
                        <a:rPr sz="1100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nginx-7cdbd8cdc9-g5q8d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5" dirty="0">
                          <a:solidFill>
                            <a:srgbClr val="39B54A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83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835"/>
                        </a:lnSpc>
                      </a:pPr>
                      <a:r>
                        <a:rPr sz="110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3m29s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10.32.0.5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worker-1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&lt;none&gt;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&lt;none&gt;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977">
                <a:tc>
                  <a:txBody>
                    <a:bodyPr/>
                    <a:lstStyle/>
                    <a:p>
                      <a:pPr marL="97155">
                        <a:lnSpc>
                          <a:spcPts val="835"/>
                        </a:lnSpc>
                      </a:pPr>
                      <a:r>
                        <a:rPr sz="1100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nginx-7cdbd8cdc9-rsskt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1/1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5" dirty="0">
                          <a:solidFill>
                            <a:srgbClr val="39B54A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83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74s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835"/>
                        </a:lnSpc>
                      </a:pPr>
                      <a:r>
                        <a:rPr sz="1100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10.32.0.6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835"/>
                        </a:lnSpc>
                      </a:pPr>
                      <a:r>
                        <a:rPr sz="1100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worker-1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&lt;none&gt;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5"/>
                        </a:lnSpc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&lt;none&gt;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5053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388535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20" dirty="0">
                <a:solidFill>
                  <a:srgbClr val="115F92"/>
                </a:solidFill>
              </a:rPr>
              <a:t>Test </a:t>
            </a:r>
            <a:r>
              <a:rPr spc="93" dirty="0">
                <a:solidFill>
                  <a:srgbClr val="115F92"/>
                </a:solidFill>
              </a:rPr>
              <a:t>-</a:t>
            </a:r>
            <a:r>
              <a:rPr spc="-833" dirty="0">
                <a:solidFill>
                  <a:srgbClr val="115F92"/>
                </a:solidFill>
              </a:rPr>
              <a:t> </a:t>
            </a:r>
            <a:r>
              <a:rPr spc="100" dirty="0">
                <a:solidFill>
                  <a:srgbClr val="115F92"/>
                </a:solidFill>
              </a:rPr>
              <a:t>Manual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45745" y="1286308"/>
            <a:ext cx="7197513" cy="546945"/>
            <a:chOff x="559308" y="964730"/>
            <a:chExt cx="5398135" cy="410209"/>
          </a:xfrm>
        </p:grpSpPr>
        <p:sp>
          <p:nvSpPr>
            <p:cNvPr id="5" name="object 5"/>
            <p:cNvSpPr/>
            <p:nvPr/>
          </p:nvSpPr>
          <p:spPr>
            <a:xfrm>
              <a:off x="559308" y="964730"/>
              <a:ext cx="5398008" cy="3733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719328" y="967739"/>
              <a:ext cx="4625340" cy="4069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618744" y="1004315"/>
              <a:ext cx="5283835" cy="260985"/>
            </a:xfrm>
            <a:custGeom>
              <a:avLst/>
              <a:gdLst/>
              <a:ahLst/>
              <a:cxnLst/>
              <a:rect l="l" t="t" r="r" b="b"/>
              <a:pathLst>
                <a:path w="5283835" h="260984">
                  <a:moveTo>
                    <a:pt x="5283708" y="0"/>
                  </a:moveTo>
                  <a:lnTo>
                    <a:pt x="0" y="0"/>
                  </a:lnTo>
                  <a:lnTo>
                    <a:pt x="0" y="260603"/>
                  </a:lnTo>
                  <a:lnTo>
                    <a:pt x="5283708" y="260603"/>
                  </a:lnTo>
                  <a:lnTo>
                    <a:pt x="528370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16865" y="1339088"/>
            <a:ext cx="7053580" cy="277064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32730">
              <a:spcBef>
                <a:spcPts val="400"/>
              </a:spcBef>
            </a:pPr>
            <a:r>
              <a:rPr sz="1467" spc="133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467" spc="7" dirty="0">
                <a:solidFill>
                  <a:srgbClr val="D9D9D9"/>
                </a:solidFill>
                <a:latin typeface="Arial"/>
                <a:cs typeface="Arial"/>
              </a:rPr>
              <a:t>expose </a:t>
            </a:r>
            <a:r>
              <a:rPr sz="1467" spc="33" dirty="0">
                <a:solidFill>
                  <a:srgbClr val="D9D9D9"/>
                </a:solidFill>
                <a:latin typeface="Arial"/>
                <a:cs typeface="Arial"/>
              </a:rPr>
              <a:t>deployment </a:t>
            </a:r>
            <a:r>
              <a:rPr sz="1467" spc="93" dirty="0">
                <a:solidFill>
                  <a:srgbClr val="D9D9D9"/>
                </a:solidFill>
                <a:latin typeface="Arial"/>
                <a:cs typeface="Arial"/>
              </a:rPr>
              <a:t>nginx </a:t>
            </a:r>
            <a:r>
              <a:rPr sz="1467" spc="127" dirty="0">
                <a:solidFill>
                  <a:srgbClr val="D9D9D9"/>
                </a:solidFill>
                <a:latin typeface="Arial"/>
                <a:cs typeface="Arial"/>
              </a:rPr>
              <a:t>--port=80</a:t>
            </a:r>
            <a:r>
              <a:rPr sz="1467" spc="28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67" spc="73" dirty="0">
                <a:solidFill>
                  <a:srgbClr val="D9D9D9"/>
                </a:solidFill>
                <a:latin typeface="Arial"/>
                <a:cs typeface="Arial"/>
              </a:rPr>
              <a:t>--type=NodePort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6526" y="1355393"/>
            <a:ext cx="7616613" cy="668867"/>
            <a:chOff x="612394" y="1016545"/>
            <a:chExt cx="5712460" cy="501650"/>
          </a:xfrm>
        </p:grpSpPr>
        <p:sp>
          <p:nvSpPr>
            <p:cNvPr id="10" name="object 10"/>
            <p:cNvSpPr/>
            <p:nvPr/>
          </p:nvSpPr>
          <p:spPr>
            <a:xfrm>
              <a:off x="637049" y="1016545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40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18744" y="1264920"/>
              <a:ext cx="5699760" cy="247015"/>
            </a:xfrm>
            <a:custGeom>
              <a:avLst/>
              <a:gdLst/>
              <a:ahLst/>
              <a:cxnLst/>
              <a:rect l="l" t="t" r="r" b="b"/>
              <a:pathLst>
                <a:path w="5699760" h="247015">
                  <a:moveTo>
                    <a:pt x="5699759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5699759" y="246887"/>
                  </a:lnTo>
                  <a:lnTo>
                    <a:pt x="56997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18744" y="1264920"/>
              <a:ext cx="5699760" cy="247015"/>
            </a:xfrm>
            <a:custGeom>
              <a:avLst/>
              <a:gdLst/>
              <a:ahLst/>
              <a:cxnLst/>
              <a:rect l="l" t="t" r="r" b="b"/>
              <a:pathLst>
                <a:path w="5699760" h="247015">
                  <a:moveTo>
                    <a:pt x="0" y="246887"/>
                  </a:moveTo>
                  <a:lnTo>
                    <a:pt x="5699759" y="246887"/>
                  </a:lnTo>
                  <a:lnTo>
                    <a:pt x="5699759" y="0"/>
                  </a:lnTo>
                  <a:lnTo>
                    <a:pt x="0" y="0"/>
                  </a:lnTo>
                  <a:lnTo>
                    <a:pt x="0" y="24688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6864" y="1686559"/>
            <a:ext cx="7616613" cy="258982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9537">
              <a:spcBef>
                <a:spcPts val="420"/>
              </a:spcBef>
            </a:pPr>
            <a:r>
              <a:rPr sz="1333" spc="127" dirty="0">
                <a:solidFill>
                  <a:srgbClr val="FFFFFF"/>
                </a:solidFill>
                <a:latin typeface="Arial"/>
                <a:cs typeface="Arial"/>
              </a:rPr>
              <a:t>service/nginx</a:t>
            </a:r>
            <a:r>
              <a:rPr sz="1333" spc="3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7" dirty="0">
                <a:solidFill>
                  <a:srgbClr val="39B54A"/>
                </a:solidFill>
                <a:latin typeface="Arial"/>
                <a:cs typeface="Arial"/>
              </a:rPr>
              <a:t>exposed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5744" y="2294061"/>
            <a:ext cx="5869093" cy="549487"/>
            <a:chOff x="559308" y="1720545"/>
            <a:chExt cx="4401820" cy="412115"/>
          </a:xfrm>
        </p:grpSpPr>
        <p:sp>
          <p:nvSpPr>
            <p:cNvPr id="15" name="object 15"/>
            <p:cNvSpPr/>
            <p:nvPr/>
          </p:nvSpPr>
          <p:spPr>
            <a:xfrm>
              <a:off x="559308" y="1720545"/>
              <a:ext cx="4401312" cy="37495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719328" y="1723656"/>
              <a:ext cx="1729739" cy="40841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18744" y="1760219"/>
              <a:ext cx="4287520" cy="262255"/>
            </a:xfrm>
            <a:custGeom>
              <a:avLst/>
              <a:gdLst/>
              <a:ahLst/>
              <a:cxnLst/>
              <a:rect l="l" t="t" r="r" b="b"/>
              <a:pathLst>
                <a:path w="4287520" h="262255">
                  <a:moveTo>
                    <a:pt x="4287011" y="0"/>
                  </a:moveTo>
                  <a:lnTo>
                    <a:pt x="0" y="0"/>
                  </a:lnTo>
                  <a:lnTo>
                    <a:pt x="0" y="262127"/>
                  </a:lnTo>
                  <a:lnTo>
                    <a:pt x="4287011" y="262127"/>
                  </a:lnTo>
                  <a:lnTo>
                    <a:pt x="428701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16865" y="2346961"/>
            <a:ext cx="5724313" cy="279628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32730">
              <a:spcBef>
                <a:spcPts val="420"/>
              </a:spcBef>
            </a:pPr>
            <a:r>
              <a:rPr sz="1467" spc="133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467" spc="120" dirty="0">
                <a:solidFill>
                  <a:srgbClr val="D9D9D9"/>
                </a:solidFill>
                <a:latin typeface="Arial"/>
                <a:cs typeface="Arial"/>
              </a:rPr>
              <a:t>get</a:t>
            </a:r>
            <a:r>
              <a:rPr sz="1467" spc="8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67" spc="127" dirty="0">
                <a:solidFill>
                  <a:srgbClr val="D9D9D9"/>
                </a:solidFill>
                <a:latin typeface="Arial"/>
                <a:cs typeface="Arial"/>
              </a:rPr>
              <a:t>service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6526" y="2363265"/>
            <a:ext cx="9069493" cy="1082040"/>
            <a:chOff x="612394" y="1772449"/>
            <a:chExt cx="6802120" cy="811530"/>
          </a:xfrm>
        </p:grpSpPr>
        <p:sp>
          <p:nvSpPr>
            <p:cNvPr id="20" name="object 20"/>
            <p:cNvSpPr/>
            <p:nvPr/>
          </p:nvSpPr>
          <p:spPr>
            <a:xfrm>
              <a:off x="637049" y="1772449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39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18744" y="2022347"/>
              <a:ext cx="6789420" cy="554990"/>
            </a:xfrm>
            <a:custGeom>
              <a:avLst/>
              <a:gdLst/>
              <a:ahLst/>
              <a:cxnLst/>
              <a:rect l="l" t="t" r="r" b="b"/>
              <a:pathLst>
                <a:path w="6789420" h="554989">
                  <a:moveTo>
                    <a:pt x="6789420" y="0"/>
                  </a:moveTo>
                  <a:lnTo>
                    <a:pt x="0" y="0"/>
                  </a:lnTo>
                  <a:lnTo>
                    <a:pt x="0" y="554736"/>
                  </a:lnTo>
                  <a:lnTo>
                    <a:pt x="6789420" y="554736"/>
                  </a:lnTo>
                  <a:lnTo>
                    <a:pt x="6789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18744" y="2022347"/>
              <a:ext cx="6789420" cy="554990"/>
            </a:xfrm>
            <a:custGeom>
              <a:avLst/>
              <a:gdLst/>
              <a:ahLst/>
              <a:cxnLst/>
              <a:rect l="l" t="t" r="r" b="b"/>
              <a:pathLst>
                <a:path w="6789420" h="554989">
                  <a:moveTo>
                    <a:pt x="0" y="554736"/>
                  </a:moveTo>
                  <a:lnTo>
                    <a:pt x="6789420" y="554736"/>
                  </a:lnTo>
                  <a:lnTo>
                    <a:pt x="6789420" y="0"/>
                  </a:lnTo>
                  <a:lnTo>
                    <a:pt x="0" y="0"/>
                  </a:lnTo>
                  <a:lnTo>
                    <a:pt x="0" y="55473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16864" y="2696464"/>
            <a:ext cx="9069493" cy="668367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129537">
              <a:spcBef>
                <a:spcPts val="413"/>
              </a:spcBef>
              <a:tabLst>
                <a:tab pos="1341933" algn="l"/>
                <a:tab pos="2457812" algn="l"/>
                <a:tab pos="3668515" algn="l"/>
                <a:tab pos="4971502" algn="l"/>
                <a:tab pos="6364234" algn="l"/>
              </a:tabLst>
            </a:pPr>
            <a:r>
              <a:rPr sz="1333" spc="-233" dirty="0">
                <a:solidFill>
                  <a:srgbClr val="FFFFFF"/>
                </a:solidFill>
                <a:latin typeface="Arial"/>
                <a:cs typeface="Arial"/>
              </a:rPr>
              <a:t>NAME	</a:t>
            </a:r>
            <a:r>
              <a:rPr sz="1333" spc="-147" dirty="0">
                <a:solidFill>
                  <a:srgbClr val="FFFFFF"/>
                </a:solidFill>
                <a:latin typeface="Arial"/>
                <a:cs typeface="Arial"/>
              </a:rPr>
              <a:t>TYPE	</a:t>
            </a:r>
            <a:r>
              <a:rPr sz="1333" spc="-67" dirty="0">
                <a:solidFill>
                  <a:srgbClr val="FFFFFF"/>
                </a:solidFill>
                <a:latin typeface="Arial"/>
                <a:cs typeface="Arial"/>
              </a:rPr>
              <a:t>CLUSTER-IP	EXTERNAL-IP	</a:t>
            </a:r>
            <a:r>
              <a:rPr sz="1333" spc="-60" dirty="0">
                <a:solidFill>
                  <a:srgbClr val="FFFFFF"/>
                </a:solidFill>
                <a:latin typeface="Arial"/>
                <a:cs typeface="Arial"/>
              </a:rPr>
              <a:t>PORT(S)	</a:t>
            </a:r>
            <a:r>
              <a:rPr sz="1333" spc="-213" dirty="0">
                <a:solidFill>
                  <a:srgbClr val="FFFFFF"/>
                </a:solidFill>
                <a:latin typeface="Arial"/>
                <a:cs typeface="Arial"/>
              </a:rPr>
              <a:t>AGE</a:t>
            </a:r>
            <a:endParaRPr sz="1333" dirty="0">
              <a:latin typeface="Arial"/>
              <a:cs typeface="Arial"/>
            </a:endParaRPr>
          </a:p>
          <a:p>
            <a:pPr marL="129537">
              <a:tabLst>
                <a:tab pos="1342780" algn="l"/>
                <a:tab pos="2457812" algn="l"/>
                <a:tab pos="3666822" algn="l"/>
                <a:tab pos="4967269" algn="l"/>
                <a:tab pos="6360001" algn="l"/>
              </a:tabLst>
            </a:pPr>
            <a:r>
              <a:rPr sz="1333" spc="67" dirty="0">
                <a:solidFill>
                  <a:srgbClr val="FFFFFF"/>
                </a:solidFill>
                <a:latin typeface="Arial"/>
                <a:cs typeface="Arial"/>
              </a:rPr>
              <a:t>kubernetes	</a:t>
            </a:r>
            <a:r>
              <a:rPr sz="1333" spc="113" dirty="0">
                <a:solidFill>
                  <a:srgbClr val="FFFFFF"/>
                </a:solidFill>
                <a:latin typeface="Arial"/>
                <a:cs typeface="Arial"/>
              </a:rPr>
              <a:t>ClusterIP	</a:t>
            </a:r>
            <a:r>
              <a:rPr sz="1333" spc="107" dirty="0">
                <a:solidFill>
                  <a:srgbClr val="FFFFFF"/>
                </a:solidFill>
                <a:latin typeface="Arial"/>
                <a:cs typeface="Arial"/>
              </a:rPr>
              <a:t>10.96.0.1	</a:t>
            </a:r>
            <a:r>
              <a:rPr sz="1333" spc="-27" dirty="0">
                <a:solidFill>
                  <a:srgbClr val="FFFFFF"/>
                </a:solidFill>
                <a:latin typeface="Arial"/>
                <a:cs typeface="Arial"/>
              </a:rPr>
              <a:t>&lt;none&gt;	443/TCP	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8d</a:t>
            </a:r>
            <a:endParaRPr sz="1333" dirty="0">
              <a:latin typeface="Arial"/>
              <a:cs typeface="Arial"/>
            </a:endParaRPr>
          </a:p>
          <a:p>
            <a:pPr marL="129537">
              <a:tabLst>
                <a:tab pos="1342780" algn="l"/>
                <a:tab pos="2457812" algn="l"/>
                <a:tab pos="3668515" algn="l"/>
                <a:tab pos="4970656" algn="l"/>
                <a:tab pos="6365928" algn="l"/>
              </a:tabLst>
            </a:pPr>
            <a:r>
              <a:rPr sz="1333" spc="93" dirty="0">
                <a:solidFill>
                  <a:srgbClr val="39B54A"/>
                </a:solidFill>
                <a:latin typeface="Arial"/>
                <a:cs typeface="Arial"/>
              </a:rPr>
              <a:t>nginx	</a:t>
            </a:r>
            <a:r>
              <a:rPr sz="1333" spc="20" dirty="0">
                <a:solidFill>
                  <a:srgbClr val="39B54A"/>
                </a:solidFill>
                <a:latin typeface="Arial"/>
                <a:cs typeface="Arial"/>
              </a:rPr>
              <a:t>NodePort	</a:t>
            </a:r>
            <a:r>
              <a:rPr sz="1333" spc="100" dirty="0">
                <a:solidFill>
                  <a:srgbClr val="39B54A"/>
                </a:solidFill>
                <a:latin typeface="Arial"/>
                <a:cs typeface="Arial"/>
              </a:rPr>
              <a:t>10.96.0.88	</a:t>
            </a:r>
            <a:r>
              <a:rPr sz="1333" spc="-27" dirty="0">
                <a:solidFill>
                  <a:srgbClr val="39B54A"/>
                </a:solidFill>
                <a:latin typeface="Arial"/>
                <a:cs typeface="Arial"/>
              </a:rPr>
              <a:t>&lt;none&gt;	</a:t>
            </a:r>
            <a:r>
              <a:rPr sz="1333" spc="13" dirty="0">
                <a:solidFill>
                  <a:srgbClr val="39B54A"/>
                </a:solidFill>
                <a:latin typeface="Arial"/>
                <a:cs typeface="Arial"/>
              </a:rPr>
              <a:t>80:31850/TCP	</a:t>
            </a:r>
            <a:r>
              <a:rPr sz="1333" spc="27" dirty="0">
                <a:solidFill>
                  <a:srgbClr val="39B54A"/>
                </a:solidFill>
                <a:latin typeface="Arial"/>
                <a:cs typeface="Arial"/>
              </a:rPr>
              <a:t>3s</a:t>
            </a:r>
            <a:endParaRPr sz="1333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45744" y="3543741"/>
            <a:ext cx="5869093" cy="549487"/>
            <a:chOff x="559308" y="2657805"/>
            <a:chExt cx="4401820" cy="412115"/>
          </a:xfrm>
        </p:grpSpPr>
        <p:sp>
          <p:nvSpPr>
            <p:cNvPr id="25" name="object 25"/>
            <p:cNvSpPr/>
            <p:nvPr/>
          </p:nvSpPr>
          <p:spPr>
            <a:xfrm>
              <a:off x="559308" y="2657805"/>
              <a:ext cx="4401312" cy="37495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719328" y="2660916"/>
              <a:ext cx="2263140" cy="40841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618744" y="2697480"/>
              <a:ext cx="4287520" cy="262255"/>
            </a:xfrm>
            <a:custGeom>
              <a:avLst/>
              <a:gdLst/>
              <a:ahLst/>
              <a:cxnLst/>
              <a:rect l="l" t="t" r="r" b="b"/>
              <a:pathLst>
                <a:path w="4287520" h="262255">
                  <a:moveTo>
                    <a:pt x="4287011" y="0"/>
                  </a:moveTo>
                  <a:lnTo>
                    <a:pt x="0" y="0"/>
                  </a:lnTo>
                  <a:lnTo>
                    <a:pt x="0" y="262128"/>
                  </a:lnTo>
                  <a:lnTo>
                    <a:pt x="4287011" y="262128"/>
                  </a:lnTo>
                  <a:lnTo>
                    <a:pt x="4287011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16865" y="3596639"/>
            <a:ext cx="5724313" cy="278773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332730">
              <a:spcBef>
                <a:spcPts val="413"/>
              </a:spcBef>
            </a:pPr>
            <a:r>
              <a:rPr sz="1467" spc="207" dirty="0">
                <a:solidFill>
                  <a:srgbClr val="D9D9D9"/>
                </a:solidFill>
                <a:latin typeface="Arial"/>
                <a:cs typeface="Arial"/>
              </a:rPr>
              <a:t>curl</a:t>
            </a:r>
            <a:r>
              <a:rPr sz="1467" spc="37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67" spc="133" dirty="0">
                <a:solidFill>
                  <a:srgbClr val="D9D9D9"/>
                </a:solidFill>
                <a:latin typeface="Arial"/>
                <a:cs typeface="Arial"/>
              </a:rPr>
              <a:t>http://worker-1:31850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16864" y="3612946"/>
            <a:ext cx="9069493" cy="1008380"/>
            <a:chOff x="612648" y="2709709"/>
            <a:chExt cx="6802120" cy="756285"/>
          </a:xfrm>
        </p:grpSpPr>
        <p:sp>
          <p:nvSpPr>
            <p:cNvPr id="30" name="object 30"/>
            <p:cNvSpPr/>
            <p:nvPr/>
          </p:nvSpPr>
          <p:spPr>
            <a:xfrm>
              <a:off x="637049" y="2709709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39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618744" y="2959608"/>
              <a:ext cx="6789420" cy="500380"/>
            </a:xfrm>
            <a:custGeom>
              <a:avLst/>
              <a:gdLst/>
              <a:ahLst/>
              <a:cxnLst/>
              <a:rect l="l" t="t" r="r" b="b"/>
              <a:pathLst>
                <a:path w="6789420" h="500379">
                  <a:moveTo>
                    <a:pt x="6789420" y="0"/>
                  </a:moveTo>
                  <a:lnTo>
                    <a:pt x="0" y="0"/>
                  </a:lnTo>
                  <a:lnTo>
                    <a:pt x="0" y="499871"/>
                  </a:lnTo>
                  <a:lnTo>
                    <a:pt x="6789420" y="499871"/>
                  </a:lnTo>
                  <a:lnTo>
                    <a:pt x="6789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618744" y="2959608"/>
              <a:ext cx="6789420" cy="500380"/>
            </a:xfrm>
            <a:custGeom>
              <a:avLst/>
              <a:gdLst/>
              <a:ahLst/>
              <a:cxnLst/>
              <a:rect l="l" t="t" r="r" b="b"/>
              <a:pathLst>
                <a:path w="6789420" h="500379">
                  <a:moveTo>
                    <a:pt x="0" y="499871"/>
                  </a:moveTo>
                  <a:lnTo>
                    <a:pt x="6789420" y="499871"/>
                  </a:lnTo>
                  <a:lnTo>
                    <a:pt x="6789420" y="0"/>
                  </a:lnTo>
                  <a:lnTo>
                    <a:pt x="0" y="0"/>
                  </a:lnTo>
                  <a:lnTo>
                    <a:pt x="0" y="49987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16864" y="3946143"/>
            <a:ext cx="9069493" cy="603649"/>
          </a:xfrm>
          <a:prstGeom prst="rect">
            <a:avLst/>
          </a:prstGeom>
        </p:spPr>
        <p:txBody>
          <a:bodyPr vert="horz" wrap="square" lIns="0" tIns="54187" rIns="0" bIns="0" rtlCol="0">
            <a:spAutoFit/>
          </a:bodyPr>
          <a:lstStyle/>
          <a:p>
            <a:pPr marL="129537">
              <a:lnSpc>
                <a:spcPts val="1273"/>
              </a:lnSpc>
              <a:spcBef>
                <a:spcPts val="427"/>
              </a:spcBef>
            </a:pPr>
            <a:r>
              <a:rPr sz="1067" spc="287" dirty="0">
                <a:solidFill>
                  <a:srgbClr val="FFFFFF"/>
                </a:solidFill>
                <a:latin typeface="Arial"/>
                <a:cs typeface="Arial"/>
              </a:rPr>
              <a:t>...</a:t>
            </a:r>
            <a:endParaRPr sz="1067">
              <a:latin typeface="Arial"/>
              <a:cs typeface="Arial"/>
            </a:endParaRPr>
          </a:p>
          <a:p>
            <a:pPr marL="129537">
              <a:lnSpc>
                <a:spcPts val="1673"/>
              </a:lnSpc>
            </a:pPr>
            <a:r>
              <a:rPr sz="1400" spc="-53" dirty="0">
                <a:solidFill>
                  <a:srgbClr val="FFFFFF"/>
                </a:solidFill>
                <a:latin typeface="Arial"/>
                <a:cs typeface="Arial"/>
              </a:rPr>
              <a:t>&lt;h1&gt;Welcome </a:t>
            </a:r>
            <a:r>
              <a:rPr sz="1400" spc="187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400" spc="4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93" dirty="0">
                <a:solidFill>
                  <a:srgbClr val="FFFFFF"/>
                </a:solidFill>
                <a:latin typeface="Arial"/>
                <a:cs typeface="Arial"/>
              </a:rPr>
              <a:t>nginx!&lt;/h1&gt;</a:t>
            </a:r>
            <a:endParaRPr sz="1400">
              <a:latin typeface="Arial"/>
              <a:cs typeface="Arial"/>
            </a:endParaRPr>
          </a:p>
          <a:p>
            <a:pPr marL="129537">
              <a:spcBef>
                <a:spcPts val="13"/>
              </a:spcBef>
            </a:pPr>
            <a:r>
              <a:rPr sz="1067" spc="287" dirty="0">
                <a:solidFill>
                  <a:srgbClr val="FFFFFF"/>
                </a:solidFill>
                <a:latin typeface="Arial"/>
                <a:cs typeface="Arial"/>
              </a:rPr>
              <a:t>...</a:t>
            </a:r>
            <a:endParaRPr sz="10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8838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51434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7493507" y="4777739"/>
              <a:ext cx="1524000" cy="36575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524255" y="394715"/>
              <a:ext cx="73660" cy="317500"/>
            </a:xfrm>
            <a:custGeom>
              <a:avLst/>
              <a:gdLst/>
              <a:ahLst/>
              <a:cxnLst/>
              <a:rect l="l" t="t" r="r" b="b"/>
              <a:pathLst>
                <a:path w="73659" h="317500">
                  <a:moveTo>
                    <a:pt x="73151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73151" y="316991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253746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67" dirty="0">
                <a:solidFill>
                  <a:srgbClr val="115F92"/>
                </a:solidFill>
              </a:rPr>
              <a:t>kubetest</a:t>
            </a:r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27633" y="1245615"/>
            <a:ext cx="8814815" cy="51551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206631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4587239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67" dirty="0">
                <a:solidFill>
                  <a:srgbClr val="115F92"/>
                </a:solidFill>
              </a:rPr>
              <a:t>kubetest </a:t>
            </a:r>
            <a:r>
              <a:rPr spc="93" dirty="0">
                <a:solidFill>
                  <a:srgbClr val="115F92"/>
                </a:solidFill>
              </a:rPr>
              <a:t>-</a:t>
            </a:r>
            <a:r>
              <a:rPr spc="-860" dirty="0">
                <a:solidFill>
                  <a:srgbClr val="115F92"/>
                </a:solidFill>
              </a:rPr>
              <a:t> </a:t>
            </a:r>
            <a:r>
              <a:rPr dirty="0">
                <a:solidFill>
                  <a:srgbClr val="115F92"/>
                </a:solidFill>
              </a:rPr>
              <a:t>Tests</a:t>
            </a:r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0593" y="2802127"/>
            <a:ext cx="4215383" cy="14925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4147480" y="2986023"/>
            <a:ext cx="3364653" cy="83691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5333" spc="-713" dirty="0">
                <a:solidFill>
                  <a:srgbClr val="1780C3"/>
                </a:solidFill>
                <a:latin typeface="Arial Black"/>
                <a:cs typeface="Arial Black"/>
              </a:rPr>
              <a:t>e2e:</a:t>
            </a:r>
            <a:r>
              <a:rPr sz="5333" spc="-420" dirty="0">
                <a:solidFill>
                  <a:srgbClr val="1780C3"/>
                </a:solidFill>
                <a:latin typeface="Arial Black"/>
                <a:cs typeface="Arial Black"/>
              </a:rPr>
              <a:t> </a:t>
            </a:r>
            <a:r>
              <a:rPr sz="5333" spc="-527" dirty="0">
                <a:solidFill>
                  <a:srgbClr val="1780C3"/>
                </a:solidFill>
                <a:latin typeface="Arial Black"/>
                <a:cs typeface="Arial Black"/>
              </a:rPr>
              <a:t>~1000</a:t>
            </a:r>
            <a:endParaRPr sz="5333"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78092" y="4370494"/>
            <a:ext cx="2241973" cy="555412"/>
            <a:chOff x="1258569" y="3277870"/>
            <a:chExt cx="1681480" cy="416559"/>
          </a:xfrm>
        </p:grpSpPr>
        <p:sp>
          <p:nvSpPr>
            <p:cNvPr id="7" name="object 7"/>
            <p:cNvSpPr/>
            <p:nvPr/>
          </p:nvSpPr>
          <p:spPr>
            <a:xfrm>
              <a:off x="1264919" y="3284220"/>
              <a:ext cx="1668780" cy="403860"/>
            </a:xfrm>
            <a:custGeom>
              <a:avLst/>
              <a:gdLst/>
              <a:ahLst/>
              <a:cxnLst/>
              <a:rect l="l" t="t" r="r" b="b"/>
              <a:pathLst>
                <a:path w="1668780" h="403860">
                  <a:moveTo>
                    <a:pt x="1601470" y="0"/>
                  </a:moveTo>
                  <a:lnTo>
                    <a:pt x="67310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09"/>
                  </a:lnTo>
                  <a:lnTo>
                    <a:pt x="0" y="336549"/>
                  </a:lnTo>
                  <a:lnTo>
                    <a:pt x="5284" y="362765"/>
                  </a:lnTo>
                  <a:lnTo>
                    <a:pt x="19700" y="384159"/>
                  </a:lnTo>
                  <a:lnTo>
                    <a:pt x="41094" y="398575"/>
                  </a:lnTo>
                  <a:lnTo>
                    <a:pt x="67310" y="403859"/>
                  </a:lnTo>
                  <a:lnTo>
                    <a:pt x="1601470" y="403859"/>
                  </a:lnTo>
                  <a:lnTo>
                    <a:pt x="1627685" y="398575"/>
                  </a:lnTo>
                  <a:lnTo>
                    <a:pt x="1649079" y="384159"/>
                  </a:lnTo>
                  <a:lnTo>
                    <a:pt x="1663495" y="362765"/>
                  </a:lnTo>
                  <a:lnTo>
                    <a:pt x="1668780" y="336549"/>
                  </a:lnTo>
                  <a:lnTo>
                    <a:pt x="1668780" y="67309"/>
                  </a:lnTo>
                  <a:lnTo>
                    <a:pt x="1663495" y="41094"/>
                  </a:lnTo>
                  <a:lnTo>
                    <a:pt x="1649079" y="19700"/>
                  </a:lnTo>
                  <a:lnTo>
                    <a:pt x="1627685" y="5284"/>
                  </a:lnTo>
                  <a:lnTo>
                    <a:pt x="1601470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1264919" y="3284220"/>
              <a:ext cx="1668780" cy="403860"/>
            </a:xfrm>
            <a:custGeom>
              <a:avLst/>
              <a:gdLst/>
              <a:ahLst/>
              <a:cxnLst/>
              <a:rect l="l" t="t" r="r" b="b"/>
              <a:pathLst>
                <a:path w="1668780" h="403860">
                  <a:moveTo>
                    <a:pt x="0" y="67309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10" y="0"/>
                  </a:lnTo>
                  <a:lnTo>
                    <a:pt x="1601470" y="0"/>
                  </a:lnTo>
                  <a:lnTo>
                    <a:pt x="1627685" y="5284"/>
                  </a:lnTo>
                  <a:lnTo>
                    <a:pt x="1649079" y="19700"/>
                  </a:lnTo>
                  <a:lnTo>
                    <a:pt x="1663495" y="41094"/>
                  </a:lnTo>
                  <a:lnTo>
                    <a:pt x="1668780" y="67309"/>
                  </a:lnTo>
                  <a:lnTo>
                    <a:pt x="1668780" y="336549"/>
                  </a:lnTo>
                  <a:lnTo>
                    <a:pt x="1663495" y="362765"/>
                  </a:lnTo>
                  <a:lnTo>
                    <a:pt x="1649079" y="384159"/>
                  </a:lnTo>
                  <a:lnTo>
                    <a:pt x="1627685" y="398575"/>
                  </a:lnTo>
                  <a:lnTo>
                    <a:pt x="1601470" y="403859"/>
                  </a:lnTo>
                  <a:lnTo>
                    <a:pt x="67310" y="403859"/>
                  </a:lnTo>
                  <a:lnTo>
                    <a:pt x="41094" y="398575"/>
                  </a:lnTo>
                  <a:lnTo>
                    <a:pt x="19700" y="384159"/>
                  </a:lnTo>
                  <a:lnTo>
                    <a:pt x="5284" y="362765"/>
                  </a:lnTo>
                  <a:lnTo>
                    <a:pt x="0" y="336549"/>
                  </a:lnTo>
                  <a:lnTo>
                    <a:pt x="0" y="67309"/>
                  </a:lnTo>
                  <a:close/>
                </a:path>
              </a:pathLst>
            </a:custGeom>
            <a:ln w="12192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67070" y="4489196"/>
            <a:ext cx="18618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93" dirty="0">
                <a:solidFill>
                  <a:srgbClr val="FFFFFF"/>
                </a:solidFill>
                <a:latin typeface="Arial Black"/>
                <a:cs typeface="Arial Black"/>
              </a:rPr>
              <a:t>si</a:t>
            </a:r>
            <a:r>
              <a:rPr spc="-267" dirty="0">
                <a:solidFill>
                  <a:srgbClr val="FFFFFF"/>
                </a:solidFill>
                <a:latin typeface="Arial Black"/>
                <a:cs typeface="Arial Black"/>
              </a:rPr>
              <a:t>g</a:t>
            </a:r>
            <a:r>
              <a:rPr spc="113" dirty="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spc="-247" dirty="0">
                <a:solidFill>
                  <a:srgbClr val="FFFFFF"/>
                </a:solidFill>
                <a:latin typeface="Arial Black"/>
                <a:cs typeface="Arial Black"/>
              </a:rPr>
              <a:t>ap</a:t>
            </a:r>
            <a:r>
              <a:rPr spc="-127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pc="113" dirty="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spc="-327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pc="-227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pc="-287" dirty="0">
                <a:solidFill>
                  <a:srgbClr val="FFFFFF"/>
                </a:solidFill>
                <a:latin typeface="Arial Black"/>
                <a:cs typeface="Arial Black"/>
              </a:rPr>
              <a:t>ch</a:t>
            </a:r>
            <a:r>
              <a:rPr spc="-160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pc="-227" dirty="0">
                <a:solidFill>
                  <a:srgbClr val="FFFFFF"/>
                </a:solidFill>
                <a:latin typeface="Arial Black"/>
                <a:cs typeface="Arial Black"/>
              </a:rPr>
              <a:t>ne</a:t>
            </a:r>
            <a:r>
              <a:rPr spc="-100" dirty="0">
                <a:solidFill>
                  <a:srgbClr val="FFFFFF"/>
                </a:solidFill>
                <a:latin typeface="Arial Black"/>
                <a:cs typeface="Arial Black"/>
              </a:rPr>
              <a:t>r</a:t>
            </a:r>
            <a:r>
              <a:rPr spc="-227" dirty="0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96172" y="4370494"/>
            <a:ext cx="1954107" cy="555412"/>
            <a:chOff x="3072129" y="3277870"/>
            <a:chExt cx="1465580" cy="416559"/>
          </a:xfrm>
        </p:grpSpPr>
        <p:sp>
          <p:nvSpPr>
            <p:cNvPr id="11" name="object 11"/>
            <p:cNvSpPr/>
            <p:nvPr/>
          </p:nvSpPr>
          <p:spPr>
            <a:xfrm>
              <a:off x="3078479" y="3284220"/>
              <a:ext cx="1452880" cy="403860"/>
            </a:xfrm>
            <a:custGeom>
              <a:avLst/>
              <a:gdLst/>
              <a:ahLst/>
              <a:cxnLst/>
              <a:rect l="l" t="t" r="r" b="b"/>
              <a:pathLst>
                <a:path w="1452879" h="403860">
                  <a:moveTo>
                    <a:pt x="1385061" y="0"/>
                  </a:moveTo>
                  <a:lnTo>
                    <a:pt x="67309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09"/>
                  </a:lnTo>
                  <a:lnTo>
                    <a:pt x="0" y="336549"/>
                  </a:lnTo>
                  <a:lnTo>
                    <a:pt x="5284" y="362765"/>
                  </a:lnTo>
                  <a:lnTo>
                    <a:pt x="19700" y="384159"/>
                  </a:lnTo>
                  <a:lnTo>
                    <a:pt x="41094" y="398575"/>
                  </a:lnTo>
                  <a:lnTo>
                    <a:pt x="67309" y="403859"/>
                  </a:lnTo>
                  <a:lnTo>
                    <a:pt x="1385061" y="403859"/>
                  </a:lnTo>
                  <a:lnTo>
                    <a:pt x="1411277" y="398575"/>
                  </a:lnTo>
                  <a:lnTo>
                    <a:pt x="1432671" y="384159"/>
                  </a:lnTo>
                  <a:lnTo>
                    <a:pt x="1447087" y="362765"/>
                  </a:lnTo>
                  <a:lnTo>
                    <a:pt x="1452371" y="336549"/>
                  </a:lnTo>
                  <a:lnTo>
                    <a:pt x="1452371" y="67309"/>
                  </a:lnTo>
                  <a:lnTo>
                    <a:pt x="1447087" y="41094"/>
                  </a:lnTo>
                  <a:lnTo>
                    <a:pt x="1432671" y="19700"/>
                  </a:lnTo>
                  <a:lnTo>
                    <a:pt x="1411277" y="5284"/>
                  </a:lnTo>
                  <a:lnTo>
                    <a:pt x="1385061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8479" y="3284220"/>
              <a:ext cx="1452880" cy="403860"/>
            </a:xfrm>
            <a:custGeom>
              <a:avLst/>
              <a:gdLst/>
              <a:ahLst/>
              <a:cxnLst/>
              <a:rect l="l" t="t" r="r" b="b"/>
              <a:pathLst>
                <a:path w="1452879" h="403860">
                  <a:moveTo>
                    <a:pt x="0" y="67309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09" y="0"/>
                  </a:lnTo>
                  <a:lnTo>
                    <a:pt x="1385061" y="0"/>
                  </a:lnTo>
                  <a:lnTo>
                    <a:pt x="1411277" y="5284"/>
                  </a:lnTo>
                  <a:lnTo>
                    <a:pt x="1432671" y="19700"/>
                  </a:lnTo>
                  <a:lnTo>
                    <a:pt x="1447087" y="41094"/>
                  </a:lnTo>
                  <a:lnTo>
                    <a:pt x="1452371" y="67309"/>
                  </a:lnTo>
                  <a:lnTo>
                    <a:pt x="1452371" y="336549"/>
                  </a:lnTo>
                  <a:lnTo>
                    <a:pt x="1447087" y="362765"/>
                  </a:lnTo>
                  <a:lnTo>
                    <a:pt x="1432671" y="384159"/>
                  </a:lnTo>
                  <a:lnTo>
                    <a:pt x="1411277" y="398575"/>
                  </a:lnTo>
                  <a:lnTo>
                    <a:pt x="1385061" y="403859"/>
                  </a:lnTo>
                  <a:lnTo>
                    <a:pt x="67309" y="403859"/>
                  </a:lnTo>
                  <a:lnTo>
                    <a:pt x="41094" y="398575"/>
                  </a:lnTo>
                  <a:lnTo>
                    <a:pt x="19700" y="384159"/>
                  </a:lnTo>
                  <a:lnTo>
                    <a:pt x="5284" y="362765"/>
                  </a:lnTo>
                  <a:lnTo>
                    <a:pt x="0" y="336549"/>
                  </a:lnTo>
                  <a:lnTo>
                    <a:pt x="0" y="67309"/>
                  </a:lnTo>
                  <a:close/>
                </a:path>
              </a:pathLst>
            </a:custGeom>
            <a:ln w="12192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625001" y="4489196"/>
            <a:ext cx="89408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87" dirty="0">
                <a:solidFill>
                  <a:srgbClr val="FFFFFF"/>
                </a:solidFill>
                <a:latin typeface="Arial Black"/>
                <a:cs typeface="Arial Black"/>
              </a:rPr>
              <a:t>sig-apps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25710" y="4370494"/>
            <a:ext cx="1951567" cy="555412"/>
            <a:chOff x="4669282" y="3277870"/>
            <a:chExt cx="1463675" cy="416559"/>
          </a:xfrm>
        </p:grpSpPr>
        <p:sp>
          <p:nvSpPr>
            <p:cNvPr id="15" name="object 15"/>
            <p:cNvSpPr/>
            <p:nvPr/>
          </p:nvSpPr>
          <p:spPr>
            <a:xfrm>
              <a:off x="4675632" y="3284220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60">
                  <a:moveTo>
                    <a:pt x="1383538" y="0"/>
                  </a:moveTo>
                  <a:lnTo>
                    <a:pt x="67309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09"/>
                  </a:lnTo>
                  <a:lnTo>
                    <a:pt x="0" y="336549"/>
                  </a:lnTo>
                  <a:lnTo>
                    <a:pt x="5284" y="362765"/>
                  </a:lnTo>
                  <a:lnTo>
                    <a:pt x="19700" y="384159"/>
                  </a:lnTo>
                  <a:lnTo>
                    <a:pt x="41094" y="398575"/>
                  </a:lnTo>
                  <a:lnTo>
                    <a:pt x="67309" y="403859"/>
                  </a:lnTo>
                  <a:lnTo>
                    <a:pt x="1383538" y="403859"/>
                  </a:lnTo>
                  <a:lnTo>
                    <a:pt x="1409753" y="398575"/>
                  </a:lnTo>
                  <a:lnTo>
                    <a:pt x="1431147" y="384159"/>
                  </a:lnTo>
                  <a:lnTo>
                    <a:pt x="1445563" y="362765"/>
                  </a:lnTo>
                  <a:lnTo>
                    <a:pt x="1450847" y="336549"/>
                  </a:lnTo>
                  <a:lnTo>
                    <a:pt x="1450847" y="67309"/>
                  </a:lnTo>
                  <a:lnTo>
                    <a:pt x="1445563" y="41094"/>
                  </a:lnTo>
                  <a:lnTo>
                    <a:pt x="1431147" y="19700"/>
                  </a:lnTo>
                  <a:lnTo>
                    <a:pt x="1409753" y="5284"/>
                  </a:lnTo>
                  <a:lnTo>
                    <a:pt x="1383538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4675632" y="3284220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60">
                  <a:moveTo>
                    <a:pt x="0" y="67309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09" y="0"/>
                  </a:lnTo>
                  <a:lnTo>
                    <a:pt x="1383538" y="0"/>
                  </a:lnTo>
                  <a:lnTo>
                    <a:pt x="1409753" y="5284"/>
                  </a:lnTo>
                  <a:lnTo>
                    <a:pt x="1431147" y="19700"/>
                  </a:lnTo>
                  <a:lnTo>
                    <a:pt x="1445563" y="41094"/>
                  </a:lnTo>
                  <a:lnTo>
                    <a:pt x="1450847" y="67309"/>
                  </a:lnTo>
                  <a:lnTo>
                    <a:pt x="1450847" y="336549"/>
                  </a:lnTo>
                  <a:lnTo>
                    <a:pt x="1445563" y="362765"/>
                  </a:lnTo>
                  <a:lnTo>
                    <a:pt x="1431147" y="384159"/>
                  </a:lnTo>
                  <a:lnTo>
                    <a:pt x="1409753" y="398575"/>
                  </a:lnTo>
                  <a:lnTo>
                    <a:pt x="1383538" y="403859"/>
                  </a:lnTo>
                  <a:lnTo>
                    <a:pt x="67309" y="403859"/>
                  </a:lnTo>
                  <a:lnTo>
                    <a:pt x="41094" y="398575"/>
                  </a:lnTo>
                  <a:lnTo>
                    <a:pt x="19700" y="384159"/>
                  </a:lnTo>
                  <a:lnTo>
                    <a:pt x="5284" y="362765"/>
                  </a:lnTo>
                  <a:lnTo>
                    <a:pt x="0" y="336549"/>
                  </a:lnTo>
                  <a:lnTo>
                    <a:pt x="0" y="67309"/>
                  </a:lnTo>
                  <a:close/>
                </a:path>
              </a:pathLst>
            </a:custGeom>
            <a:ln w="12192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68254" y="4489196"/>
            <a:ext cx="86783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93" dirty="0">
                <a:solidFill>
                  <a:srgbClr val="FFFFFF"/>
                </a:solidFill>
                <a:latin typeface="Arial Black"/>
                <a:cs typeface="Arial Black"/>
              </a:rPr>
              <a:t>si</a:t>
            </a:r>
            <a:r>
              <a:rPr spc="-267" dirty="0">
                <a:solidFill>
                  <a:srgbClr val="FFFFFF"/>
                </a:solidFill>
                <a:latin typeface="Arial Black"/>
                <a:cs typeface="Arial Black"/>
              </a:rPr>
              <a:t>g</a:t>
            </a:r>
            <a:r>
              <a:rPr spc="113" dirty="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spc="-3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pc="-187" dirty="0">
                <a:solidFill>
                  <a:srgbClr val="FFFFFF"/>
                </a:solidFill>
                <a:latin typeface="Arial Black"/>
                <a:cs typeface="Arial Black"/>
              </a:rPr>
              <a:t>uth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349149" y="4370494"/>
            <a:ext cx="1951567" cy="555412"/>
            <a:chOff x="6261861" y="3277870"/>
            <a:chExt cx="1463675" cy="416559"/>
          </a:xfrm>
        </p:grpSpPr>
        <p:sp>
          <p:nvSpPr>
            <p:cNvPr id="19" name="object 19"/>
            <p:cNvSpPr/>
            <p:nvPr/>
          </p:nvSpPr>
          <p:spPr>
            <a:xfrm>
              <a:off x="6268211" y="3284220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60">
                  <a:moveTo>
                    <a:pt x="1383538" y="0"/>
                  </a:moveTo>
                  <a:lnTo>
                    <a:pt x="67310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09"/>
                  </a:lnTo>
                  <a:lnTo>
                    <a:pt x="0" y="336549"/>
                  </a:lnTo>
                  <a:lnTo>
                    <a:pt x="5284" y="362765"/>
                  </a:lnTo>
                  <a:lnTo>
                    <a:pt x="19700" y="384159"/>
                  </a:lnTo>
                  <a:lnTo>
                    <a:pt x="41094" y="398575"/>
                  </a:lnTo>
                  <a:lnTo>
                    <a:pt x="67310" y="403859"/>
                  </a:lnTo>
                  <a:lnTo>
                    <a:pt x="1383538" y="403859"/>
                  </a:lnTo>
                  <a:lnTo>
                    <a:pt x="1409753" y="398575"/>
                  </a:lnTo>
                  <a:lnTo>
                    <a:pt x="1431147" y="384159"/>
                  </a:lnTo>
                  <a:lnTo>
                    <a:pt x="1445563" y="362765"/>
                  </a:lnTo>
                  <a:lnTo>
                    <a:pt x="1450847" y="336549"/>
                  </a:lnTo>
                  <a:lnTo>
                    <a:pt x="1450847" y="67309"/>
                  </a:lnTo>
                  <a:lnTo>
                    <a:pt x="1445563" y="41094"/>
                  </a:lnTo>
                  <a:lnTo>
                    <a:pt x="1431147" y="19700"/>
                  </a:lnTo>
                  <a:lnTo>
                    <a:pt x="1409753" y="5284"/>
                  </a:lnTo>
                  <a:lnTo>
                    <a:pt x="1383538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6268211" y="3284220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60">
                  <a:moveTo>
                    <a:pt x="0" y="67309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10" y="0"/>
                  </a:lnTo>
                  <a:lnTo>
                    <a:pt x="1383538" y="0"/>
                  </a:lnTo>
                  <a:lnTo>
                    <a:pt x="1409753" y="5284"/>
                  </a:lnTo>
                  <a:lnTo>
                    <a:pt x="1431147" y="19700"/>
                  </a:lnTo>
                  <a:lnTo>
                    <a:pt x="1445563" y="41094"/>
                  </a:lnTo>
                  <a:lnTo>
                    <a:pt x="1450847" y="67309"/>
                  </a:lnTo>
                  <a:lnTo>
                    <a:pt x="1450847" y="336549"/>
                  </a:lnTo>
                  <a:lnTo>
                    <a:pt x="1445563" y="362765"/>
                  </a:lnTo>
                  <a:lnTo>
                    <a:pt x="1431147" y="384159"/>
                  </a:lnTo>
                  <a:lnTo>
                    <a:pt x="1409753" y="398575"/>
                  </a:lnTo>
                  <a:lnTo>
                    <a:pt x="1383538" y="403859"/>
                  </a:lnTo>
                  <a:lnTo>
                    <a:pt x="67310" y="403859"/>
                  </a:lnTo>
                  <a:lnTo>
                    <a:pt x="41094" y="398575"/>
                  </a:lnTo>
                  <a:lnTo>
                    <a:pt x="19700" y="384159"/>
                  </a:lnTo>
                  <a:lnTo>
                    <a:pt x="5284" y="362765"/>
                  </a:lnTo>
                  <a:lnTo>
                    <a:pt x="0" y="336549"/>
                  </a:lnTo>
                  <a:lnTo>
                    <a:pt x="0" y="67309"/>
                  </a:lnTo>
                  <a:close/>
                </a:path>
              </a:pathLst>
            </a:custGeom>
            <a:ln w="12192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010058" y="4489196"/>
            <a:ext cx="630767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80" dirty="0">
                <a:solidFill>
                  <a:srgbClr val="FFFFFF"/>
                </a:solidFill>
                <a:latin typeface="Arial Black"/>
                <a:cs typeface="Arial Black"/>
              </a:rPr>
              <a:t>sig-cli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935902" y="5087789"/>
            <a:ext cx="1951567" cy="555412"/>
            <a:chOff x="2201926" y="3815841"/>
            <a:chExt cx="1463675" cy="416559"/>
          </a:xfrm>
        </p:grpSpPr>
        <p:sp>
          <p:nvSpPr>
            <p:cNvPr id="23" name="object 23"/>
            <p:cNvSpPr/>
            <p:nvPr/>
          </p:nvSpPr>
          <p:spPr>
            <a:xfrm>
              <a:off x="2208276" y="3822191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60">
                  <a:moveTo>
                    <a:pt x="1383538" y="0"/>
                  </a:moveTo>
                  <a:lnTo>
                    <a:pt x="67310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336550"/>
                  </a:lnTo>
                  <a:lnTo>
                    <a:pt x="5284" y="362749"/>
                  </a:lnTo>
                  <a:lnTo>
                    <a:pt x="19700" y="384144"/>
                  </a:lnTo>
                  <a:lnTo>
                    <a:pt x="41094" y="398570"/>
                  </a:lnTo>
                  <a:lnTo>
                    <a:pt x="67310" y="403860"/>
                  </a:lnTo>
                  <a:lnTo>
                    <a:pt x="1383538" y="403860"/>
                  </a:lnTo>
                  <a:lnTo>
                    <a:pt x="1409753" y="398570"/>
                  </a:lnTo>
                  <a:lnTo>
                    <a:pt x="1431147" y="384144"/>
                  </a:lnTo>
                  <a:lnTo>
                    <a:pt x="1445563" y="362749"/>
                  </a:lnTo>
                  <a:lnTo>
                    <a:pt x="1450848" y="336550"/>
                  </a:lnTo>
                  <a:lnTo>
                    <a:pt x="1450848" y="67310"/>
                  </a:lnTo>
                  <a:lnTo>
                    <a:pt x="1445563" y="41094"/>
                  </a:lnTo>
                  <a:lnTo>
                    <a:pt x="1431147" y="19700"/>
                  </a:lnTo>
                  <a:lnTo>
                    <a:pt x="1409753" y="5284"/>
                  </a:lnTo>
                  <a:lnTo>
                    <a:pt x="1383538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2208276" y="3822191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60">
                  <a:moveTo>
                    <a:pt x="0" y="67310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10" y="0"/>
                  </a:lnTo>
                  <a:lnTo>
                    <a:pt x="1383538" y="0"/>
                  </a:lnTo>
                  <a:lnTo>
                    <a:pt x="1409753" y="5284"/>
                  </a:lnTo>
                  <a:lnTo>
                    <a:pt x="1431147" y="19700"/>
                  </a:lnTo>
                  <a:lnTo>
                    <a:pt x="1445563" y="41094"/>
                  </a:lnTo>
                  <a:lnTo>
                    <a:pt x="1450848" y="67310"/>
                  </a:lnTo>
                  <a:lnTo>
                    <a:pt x="1450848" y="336550"/>
                  </a:lnTo>
                  <a:lnTo>
                    <a:pt x="1445563" y="362749"/>
                  </a:lnTo>
                  <a:lnTo>
                    <a:pt x="1431147" y="384144"/>
                  </a:lnTo>
                  <a:lnTo>
                    <a:pt x="1409753" y="398570"/>
                  </a:lnTo>
                  <a:lnTo>
                    <a:pt x="1383538" y="403860"/>
                  </a:lnTo>
                  <a:lnTo>
                    <a:pt x="67310" y="403860"/>
                  </a:lnTo>
                  <a:lnTo>
                    <a:pt x="41094" y="398570"/>
                  </a:lnTo>
                  <a:lnTo>
                    <a:pt x="19700" y="384144"/>
                  </a:lnTo>
                  <a:lnTo>
                    <a:pt x="5284" y="362749"/>
                  </a:lnTo>
                  <a:lnTo>
                    <a:pt x="0" y="336550"/>
                  </a:lnTo>
                  <a:lnTo>
                    <a:pt x="0" y="67310"/>
                  </a:lnTo>
                  <a:close/>
                </a:path>
              </a:pathLst>
            </a:custGeom>
            <a:ln w="12191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293534" y="5206526"/>
            <a:ext cx="123613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200" dirty="0">
                <a:solidFill>
                  <a:srgbClr val="FFFFFF"/>
                </a:solidFill>
                <a:latin typeface="Arial Black"/>
                <a:cs typeface="Arial Black"/>
              </a:rPr>
              <a:t>sig-network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138589" y="5087789"/>
            <a:ext cx="1951567" cy="555412"/>
            <a:chOff x="3853941" y="3815841"/>
            <a:chExt cx="1463675" cy="416559"/>
          </a:xfrm>
        </p:grpSpPr>
        <p:sp>
          <p:nvSpPr>
            <p:cNvPr id="27" name="object 27"/>
            <p:cNvSpPr/>
            <p:nvPr/>
          </p:nvSpPr>
          <p:spPr>
            <a:xfrm>
              <a:off x="3860291" y="3822191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60">
                  <a:moveTo>
                    <a:pt x="1383538" y="0"/>
                  </a:moveTo>
                  <a:lnTo>
                    <a:pt x="67310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336550"/>
                  </a:lnTo>
                  <a:lnTo>
                    <a:pt x="5284" y="362749"/>
                  </a:lnTo>
                  <a:lnTo>
                    <a:pt x="19700" y="384144"/>
                  </a:lnTo>
                  <a:lnTo>
                    <a:pt x="41094" y="398570"/>
                  </a:lnTo>
                  <a:lnTo>
                    <a:pt x="67310" y="403860"/>
                  </a:lnTo>
                  <a:lnTo>
                    <a:pt x="1383538" y="403860"/>
                  </a:lnTo>
                  <a:lnTo>
                    <a:pt x="1409753" y="398570"/>
                  </a:lnTo>
                  <a:lnTo>
                    <a:pt x="1431147" y="384144"/>
                  </a:lnTo>
                  <a:lnTo>
                    <a:pt x="1445563" y="362749"/>
                  </a:lnTo>
                  <a:lnTo>
                    <a:pt x="1450848" y="336550"/>
                  </a:lnTo>
                  <a:lnTo>
                    <a:pt x="1450848" y="67310"/>
                  </a:lnTo>
                  <a:lnTo>
                    <a:pt x="1445563" y="41094"/>
                  </a:lnTo>
                  <a:lnTo>
                    <a:pt x="1431147" y="19700"/>
                  </a:lnTo>
                  <a:lnTo>
                    <a:pt x="1409753" y="5284"/>
                  </a:lnTo>
                  <a:lnTo>
                    <a:pt x="1383538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3860291" y="3822191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60">
                  <a:moveTo>
                    <a:pt x="0" y="67310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10" y="0"/>
                  </a:lnTo>
                  <a:lnTo>
                    <a:pt x="1383538" y="0"/>
                  </a:lnTo>
                  <a:lnTo>
                    <a:pt x="1409753" y="5284"/>
                  </a:lnTo>
                  <a:lnTo>
                    <a:pt x="1431147" y="19700"/>
                  </a:lnTo>
                  <a:lnTo>
                    <a:pt x="1445563" y="41094"/>
                  </a:lnTo>
                  <a:lnTo>
                    <a:pt x="1450848" y="67310"/>
                  </a:lnTo>
                  <a:lnTo>
                    <a:pt x="1450848" y="336550"/>
                  </a:lnTo>
                  <a:lnTo>
                    <a:pt x="1445563" y="362749"/>
                  </a:lnTo>
                  <a:lnTo>
                    <a:pt x="1431147" y="384144"/>
                  </a:lnTo>
                  <a:lnTo>
                    <a:pt x="1409753" y="398570"/>
                  </a:lnTo>
                  <a:lnTo>
                    <a:pt x="1383538" y="403860"/>
                  </a:lnTo>
                  <a:lnTo>
                    <a:pt x="67310" y="403860"/>
                  </a:lnTo>
                  <a:lnTo>
                    <a:pt x="41094" y="398570"/>
                  </a:lnTo>
                  <a:lnTo>
                    <a:pt x="19700" y="384144"/>
                  </a:lnTo>
                  <a:lnTo>
                    <a:pt x="5284" y="362749"/>
                  </a:lnTo>
                  <a:lnTo>
                    <a:pt x="0" y="336550"/>
                  </a:lnTo>
                  <a:lnTo>
                    <a:pt x="0" y="67310"/>
                  </a:lnTo>
                  <a:close/>
                </a:path>
              </a:pathLst>
            </a:custGeom>
            <a:ln w="12191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359738" y="5206526"/>
            <a:ext cx="150791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93" dirty="0">
                <a:solidFill>
                  <a:srgbClr val="FFFFFF"/>
                </a:solidFill>
                <a:latin typeface="Arial Black"/>
                <a:cs typeface="Arial Black"/>
              </a:rPr>
              <a:t>sig-scheduling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339585" y="5088129"/>
            <a:ext cx="1953260" cy="555412"/>
            <a:chOff x="5504688" y="3816096"/>
            <a:chExt cx="1464945" cy="416559"/>
          </a:xfrm>
        </p:grpSpPr>
        <p:sp>
          <p:nvSpPr>
            <p:cNvPr id="31" name="object 31"/>
            <p:cNvSpPr/>
            <p:nvPr/>
          </p:nvSpPr>
          <p:spPr>
            <a:xfrm>
              <a:off x="5510784" y="3822192"/>
              <a:ext cx="1452880" cy="403860"/>
            </a:xfrm>
            <a:custGeom>
              <a:avLst/>
              <a:gdLst/>
              <a:ahLst/>
              <a:cxnLst/>
              <a:rect l="l" t="t" r="r" b="b"/>
              <a:pathLst>
                <a:path w="1452879" h="403860">
                  <a:moveTo>
                    <a:pt x="1385062" y="0"/>
                  </a:moveTo>
                  <a:lnTo>
                    <a:pt x="67310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336550"/>
                  </a:lnTo>
                  <a:lnTo>
                    <a:pt x="5284" y="362749"/>
                  </a:lnTo>
                  <a:lnTo>
                    <a:pt x="19700" y="384144"/>
                  </a:lnTo>
                  <a:lnTo>
                    <a:pt x="41094" y="398570"/>
                  </a:lnTo>
                  <a:lnTo>
                    <a:pt x="67310" y="403860"/>
                  </a:lnTo>
                  <a:lnTo>
                    <a:pt x="1385062" y="403860"/>
                  </a:lnTo>
                  <a:lnTo>
                    <a:pt x="1411277" y="398570"/>
                  </a:lnTo>
                  <a:lnTo>
                    <a:pt x="1432671" y="384144"/>
                  </a:lnTo>
                  <a:lnTo>
                    <a:pt x="1447087" y="362749"/>
                  </a:lnTo>
                  <a:lnTo>
                    <a:pt x="1452371" y="336550"/>
                  </a:lnTo>
                  <a:lnTo>
                    <a:pt x="1452371" y="67310"/>
                  </a:lnTo>
                  <a:lnTo>
                    <a:pt x="1447087" y="41094"/>
                  </a:lnTo>
                  <a:lnTo>
                    <a:pt x="1432671" y="19700"/>
                  </a:lnTo>
                  <a:lnTo>
                    <a:pt x="1411277" y="5284"/>
                  </a:lnTo>
                  <a:lnTo>
                    <a:pt x="1385062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510784" y="3822192"/>
              <a:ext cx="1452880" cy="403860"/>
            </a:xfrm>
            <a:custGeom>
              <a:avLst/>
              <a:gdLst/>
              <a:ahLst/>
              <a:cxnLst/>
              <a:rect l="l" t="t" r="r" b="b"/>
              <a:pathLst>
                <a:path w="1452879" h="403860">
                  <a:moveTo>
                    <a:pt x="0" y="67310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10" y="0"/>
                  </a:lnTo>
                  <a:lnTo>
                    <a:pt x="1385062" y="0"/>
                  </a:lnTo>
                  <a:lnTo>
                    <a:pt x="1411277" y="5284"/>
                  </a:lnTo>
                  <a:lnTo>
                    <a:pt x="1432671" y="19700"/>
                  </a:lnTo>
                  <a:lnTo>
                    <a:pt x="1447087" y="41094"/>
                  </a:lnTo>
                  <a:lnTo>
                    <a:pt x="1452371" y="67310"/>
                  </a:lnTo>
                  <a:lnTo>
                    <a:pt x="1452371" y="336550"/>
                  </a:lnTo>
                  <a:lnTo>
                    <a:pt x="1447087" y="362749"/>
                  </a:lnTo>
                  <a:lnTo>
                    <a:pt x="1432671" y="384144"/>
                  </a:lnTo>
                  <a:lnTo>
                    <a:pt x="1411277" y="398570"/>
                  </a:lnTo>
                  <a:lnTo>
                    <a:pt x="1385062" y="403860"/>
                  </a:lnTo>
                  <a:lnTo>
                    <a:pt x="67310" y="403860"/>
                  </a:lnTo>
                  <a:lnTo>
                    <a:pt x="41094" y="398570"/>
                  </a:lnTo>
                  <a:lnTo>
                    <a:pt x="19700" y="384144"/>
                  </a:lnTo>
                  <a:lnTo>
                    <a:pt x="5284" y="362749"/>
                  </a:lnTo>
                  <a:lnTo>
                    <a:pt x="0" y="336550"/>
                  </a:lnTo>
                  <a:lnTo>
                    <a:pt x="0" y="67310"/>
                  </a:lnTo>
                  <a:close/>
                </a:path>
              </a:pathLst>
            </a:custGeom>
            <a:ln w="12192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31081" y="5206526"/>
            <a:ext cx="1171787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93" dirty="0">
                <a:solidFill>
                  <a:srgbClr val="FFFFFF"/>
                </a:solidFill>
                <a:latin typeface="Arial Black"/>
                <a:cs typeface="Arial Black"/>
              </a:rPr>
              <a:t>sig-storage</a:t>
            </a:r>
            <a:endParaRPr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7517038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4587239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67" dirty="0">
                <a:solidFill>
                  <a:srgbClr val="115F92"/>
                </a:solidFill>
              </a:rPr>
              <a:t>kubetest </a:t>
            </a:r>
            <a:r>
              <a:rPr spc="93" dirty="0">
                <a:solidFill>
                  <a:srgbClr val="115F92"/>
                </a:solidFill>
              </a:rPr>
              <a:t>-</a:t>
            </a:r>
            <a:r>
              <a:rPr spc="-860" dirty="0">
                <a:solidFill>
                  <a:srgbClr val="115F92"/>
                </a:solidFill>
              </a:rPr>
              <a:t> </a:t>
            </a:r>
            <a:r>
              <a:rPr dirty="0">
                <a:solidFill>
                  <a:srgbClr val="115F92"/>
                </a:solidFill>
              </a:rPr>
              <a:t>Tests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820334" y="1413934"/>
            <a:ext cx="2241973" cy="555412"/>
            <a:chOff x="1365250" y="1060450"/>
            <a:chExt cx="1681480" cy="416559"/>
          </a:xfrm>
        </p:grpSpPr>
        <p:sp>
          <p:nvSpPr>
            <p:cNvPr id="5" name="object 5"/>
            <p:cNvSpPr/>
            <p:nvPr/>
          </p:nvSpPr>
          <p:spPr>
            <a:xfrm>
              <a:off x="1371600" y="1066800"/>
              <a:ext cx="1668780" cy="403860"/>
            </a:xfrm>
            <a:custGeom>
              <a:avLst/>
              <a:gdLst/>
              <a:ahLst/>
              <a:cxnLst/>
              <a:rect l="l" t="t" r="r" b="b"/>
              <a:pathLst>
                <a:path w="1668780" h="403859">
                  <a:moveTo>
                    <a:pt x="1601470" y="0"/>
                  </a:moveTo>
                  <a:lnTo>
                    <a:pt x="67309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336550"/>
                  </a:lnTo>
                  <a:lnTo>
                    <a:pt x="5284" y="362765"/>
                  </a:lnTo>
                  <a:lnTo>
                    <a:pt x="19700" y="384159"/>
                  </a:lnTo>
                  <a:lnTo>
                    <a:pt x="41094" y="398575"/>
                  </a:lnTo>
                  <a:lnTo>
                    <a:pt x="67309" y="403860"/>
                  </a:lnTo>
                  <a:lnTo>
                    <a:pt x="1601470" y="403860"/>
                  </a:lnTo>
                  <a:lnTo>
                    <a:pt x="1627685" y="398575"/>
                  </a:lnTo>
                  <a:lnTo>
                    <a:pt x="1649079" y="384159"/>
                  </a:lnTo>
                  <a:lnTo>
                    <a:pt x="1663495" y="362765"/>
                  </a:lnTo>
                  <a:lnTo>
                    <a:pt x="1668780" y="336550"/>
                  </a:lnTo>
                  <a:lnTo>
                    <a:pt x="1668780" y="67310"/>
                  </a:lnTo>
                  <a:lnTo>
                    <a:pt x="1663495" y="41094"/>
                  </a:lnTo>
                  <a:lnTo>
                    <a:pt x="1649079" y="19700"/>
                  </a:lnTo>
                  <a:lnTo>
                    <a:pt x="1627685" y="5284"/>
                  </a:lnTo>
                  <a:lnTo>
                    <a:pt x="1601470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371600" y="1066800"/>
              <a:ext cx="1668780" cy="403860"/>
            </a:xfrm>
            <a:custGeom>
              <a:avLst/>
              <a:gdLst/>
              <a:ahLst/>
              <a:cxnLst/>
              <a:rect l="l" t="t" r="r" b="b"/>
              <a:pathLst>
                <a:path w="1668780" h="403859">
                  <a:moveTo>
                    <a:pt x="0" y="67310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09" y="0"/>
                  </a:lnTo>
                  <a:lnTo>
                    <a:pt x="1601470" y="0"/>
                  </a:lnTo>
                  <a:lnTo>
                    <a:pt x="1627685" y="5284"/>
                  </a:lnTo>
                  <a:lnTo>
                    <a:pt x="1649079" y="19700"/>
                  </a:lnTo>
                  <a:lnTo>
                    <a:pt x="1663495" y="41094"/>
                  </a:lnTo>
                  <a:lnTo>
                    <a:pt x="1668780" y="67310"/>
                  </a:lnTo>
                  <a:lnTo>
                    <a:pt x="1668780" y="336550"/>
                  </a:lnTo>
                  <a:lnTo>
                    <a:pt x="1663495" y="362765"/>
                  </a:lnTo>
                  <a:lnTo>
                    <a:pt x="1649079" y="384159"/>
                  </a:lnTo>
                  <a:lnTo>
                    <a:pt x="1627685" y="398575"/>
                  </a:lnTo>
                  <a:lnTo>
                    <a:pt x="1601470" y="403860"/>
                  </a:lnTo>
                  <a:lnTo>
                    <a:pt x="67309" y="403860"/>
                  </a:lnTo>
                  <a:lnTo>
                    <a:pt x="41094" y="398575"/>
                  </a:lnTo>
                  <a:lnTo>
                    <a:pt x="19700" y="384159"/>
                  </a:lnTo>
                  <a:lnTo>
                    <a:pt x="5284" y="362765"/>
                  </a:lnTo>
                  <a:lnTo>
                    <a:pt x="0" y="336550"/>
                  </a:lnTo>
                  <a:lnTo>
                    <a:pt x="0" y="67310"/>
                  </a:lnTo>
                  <a:close/>
                </a:path>
              </a:pathLst>
            </a:custGeom>
            <a:ln w="12192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09310" y="1531452"/>
            <a:ext cx="186182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93" dirty="0">
                <a:solidFill>
                  <a:srgbClr val="FFFFFF"/>
                </a:solidFill>
                <a:latin typeface="Arial Black"/>
                <a:cs typeface="Arial Black"/>
              </a:rPr>
              <a:t>si</a:t>
            </a:r>
            <a:r>
              <a:rPr spc="-267" dirty="0">
                <a:solidFill>
                  <a:srgbClr val="FFFFFF"/>
                </a:solidFill>
                <a:latin typeface="Arial Black"/>
                <a:cs typeface="Arial Black"/>
              </a:rPr>
              <a:t>g</a:t>
            </a:r>
            <a:r>
              <a:rPr spc="113" dirty="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spc="-247" dirty="0">
                <a:solidFill>
                  <a:srgbClr val="FFFFFF"/>
                </a:solidFill>
                <a:latin typeface="Arial Black"/>
                <a:cs typeface="Arial Black"/>
              </a:rPr>
              <a:t>ap</a:t>
            </a:r>
            <a:r>
              <a:rPr spc="-127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pc="113" dirty="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spc="-327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pc="-227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pc="-287" dirty="0">
                <a:solidFill>
                  <a:srgbClr val="FFFFFF"/>
                </a:solidFill>
                <a:latin typeface="Arial Black"/>
                <a:cs typeface="Arial Black"/>
              </a:rPr>
              <a:t>ch</a:t>
            </a:r>
            <a:r>
              <a:rPr spc="-160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pc="-227" dirty="0">
                <a:solidFill>
                  <a:srgbClr val="FFFFFF"/>
                </a:solidFill>
                <a:latin typeface="Arial Black"/>
                <a:cs typeface="Arial Black"/>
              </a:rPr>
              <a:t>ne</a:t>
            </a:r>
            <a:r>
              <a:rPr spc="-100" dirty="0">
                <a:solidFill>
                  <a:srgbClr val="FFFFFF"/>
                </a:solidFill>
                <a:latin typeface="Arial Black"/>
                <a:cs typeface="Arial Black"/>
              </a:rPr>
              <a:t>r</a:t>
            </a:r>
            <a:r>
              <a:rPr spc="-227" dirty="0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38413" y="1413934"/>
            <a:ext cx="1954107" cy="555412"/>
            <a:chOff x="3178810" y="1060450"/>
            <a:chExt cx="1465580" cy="416559"/>
          </a:xfrm>
        </p:grpSpPr>
        <p:sp>
          <p:nvSpPr>
            <p:cNvPr id="9" name="object 9"/>
            <p:cNvSpPr/>
            <p:nvPr/>
          </p:nvSpPr>
          <p:spPr>
            <a:xfrm>
              <a:off x="3185160" y="1066800"/>
              <a:ext cx="1452880" cy="403860"/>
            </a:xfrm>
            <a:custGeom>
              <a:avLst/>
              <a:gdLst/>
              <a:ahLst/>
              <a:cxnLst/>
              <a:rect l="l" t="t" r="r" b="b"/>
              <a:pathLst>
                <a:path w="1452879" h="403859">
                  <a:moveTo>
                    <a:pt x="1385062" y="0"/>
                  </a:moveTo>
                  <a:lnTo>
                    <a:pt x="67310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336550"/>
                  </a:lnTo>
                  <a:lnTo>
                    <a:pt x="5284" y="362765"/>
                  </a:lnTo>
                  <a:lnTo>
                    <a:pt x="19700" y="384159"/>
                  </a:lnTo>
                  <a:lnTo>
                    <a:pt x="41094" y="398575"/>
                  </a:lnTo>
                  <a:lnTo>
                    <a:pt x="67310" y="403860"/>
                  </a:lnTo>
                  <a:lnTo>
                    <a:pt x="1385062" y="403860"/>
                  </a:lnTo>
                  <a:lnTo>
                    <a:pt x="1411277" y="398575"/>
                  </a:lnTo>
                  <a:lnTo>
                    <a:pt x="1432671" y="384159"/>
                  </a:lnTo>
                  <a:lnTo>
                    <a:pt x="1447087" y="362765"/>
                  </a:lnTo>
                  <a:lnTo>
                    <a:pt x="1452372" y="336550"/>
                  </a:lnTo>
                  <a:lnTo>
                    <a:pt x="1452372" y="67310"/>
                  </a:lnTo>
                  <a:lnTo>
                    <a:pt x="1447087" y="41094"/>
                  </a:lnTo>
                  <a:lnTo>
                    <a:pt x="1432671" y="19700"/>
                  </a:lnTo>
                  <a:lnTo>
                    <a:pt x="1411277" y="5284"/>
                  </a:lnTo>
                  <a:lnTo>
                    <a:pt x="1385062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185160" y="1066800"/>
              <a:ext cx="1452880" cy="403860"/>
            </a:xfrm>
            <a:custGeom>
              <a:avLst/>
              <a:gdLst/>
              <a:ahLst/>
              <a:cxnLst/>
              <a:rect l="l" t="t" r="r" b="b"/>
              <a:pathLst>
                <a:path w="1452879" h="403859">
                  <a:moveTo>
                    <a:pt x="0" y="67310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10" y="0"/>
                  </a:lnTo>
                  <a:lnTo>
                    <a:pt x="1385062" y="0"/>
                  </a:lnTo>
                  <a:lnTo>
                    <a:pt x="1411277" y="5284"/>
                  </a:lnTo>
                  <a:lnTo>
                    <a:pt x="1432671" y="19700"/>
                  </a:lnTo>
                  <a:lnTo>
                    <a:pt x="1447087" y="41094"/>
                  </a:lnTo>
                  <a:lnTo>
                    <a:pt x="1452372" y="67310"/>
                  </a:lnTo>
                  <a:lnTo>
                    <a:pt x="1452372" y="336550"/>
                  </a:lnTo>
                  <a:lnTo>
                    <a:pt x="1447087" y="362765"/>
                  </a:lnTo>
                  <a:lnTo>
                    <a:pt x="1432671" y="384159"/>
                  </a:lnTo>
                  <a:lnTo>
                    <a:pt x="1411277" y="398575"/>
                  </a:lnTo>
                  <a:lnTo>
                    <a:pt x="1385062" y="403860"/>
                  </a:lnTo>
                  <a:lnTo>
                    <a:pt x="67310" y="403860"/>
                  </a:lnTo>
                  <a:lnTo>
                    <a:pt x="41094" y="398575"/>
                  </a:lnTo>
                  <a:lnTo>
                    <a:pt x="19700" y="384159"/>
                  </a:lnTo>
                  <a:lnTo>
                    <a:pt x="5284" y="362765"/>
                  </a:lnTo>
                  <a:lnTo>
                    <a:pt x="0" y="336550"/>
                  </a:lnTo>
                  <a:lnTo>
                    <a:pt x="0" y="67310"/>
                  </a:lnTo>
                  <a:close/>
                </a:path>
              </a:pathLst>
            </a:custGeom>
            <a:ln w="12192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67241" y="1531452"/>
            <a:ext cx="894927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87" dirty="0">
                <a:solidFill>
                  <a:srgbClr val="FFFFFF"/>
                </a:solidFill>
                <a:latin typeface="Arial Black"/>
                <a:cs typeface="Arial Black"/>
              </a:rPr>
              <a:t>sig-apps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367949" y="1413934"/>
            <a:ext cx="1951567" cy="555412"/>
            <a:chOff x="4775961" y="1060450"/>
            <a:chExt cx="1463675" cy="416559"/>
          </a:xfrm>
        </p:grpSpPr>
        <p:sp>
          <p:nvSpPr>
            <p:cNvPr id="13" name="object 13"/>
            <p:cNvSpPr/>
            <p:nvPr/>
          </p:nvSpPr>
          <p:spPr>
            <a:xfrm>
              <a:off x="4782311" y="1066800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59">
                  <a:moveTo>
                    <a:pt x="1383538" y="0"/>
                  </a:moveTo>
                  <a:lnTo>
                    <a:pt x="67310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336550"/>
                  </a:lnTo>
                  <a:lnTo>
                    <a:pt x="5284" y="362765"/>
                  </a:lnTo>
                  <a:lnTo>
                    <a:pt x="19700" y="384159"/>
                  </a:lnTo>
                  <a:lnTo>
                    <a:pt x="41094" y="398575"/>
                  </a:lnTo>
                  <a:lnTo>
                    <a:pt x="67310" y="403860"/>
                  </a:lnTo>
                  <a:lnTo>
                    <a:pt x="1383538" y="403860"/>
                  </a:lnTo>
                  <a:lnTo>
                    <a:pt x="1409753" y="398575"/>
                  </a:lnTo>
                  <a:lnTo>
                    <a:pt x="1431147" y="384159"/>
                  </a:lnTo>
                  <a:lnTo>
                    <a:pt x="1445563" y="362765"/>
                  </a:lnTo>
                  <a:lnTo>
                    <a:pt x="1450848" y="336550"/>
                  </a:lnTo>
                  <a:lnTo>
                    <a:pt x="1450848" y="67310"/>
                  </a:lnTo>
                  <a:lnTo>
                    <a:pt x="1445563" y="41094"/>
                  </a:lnTo>
                  <a:lnTo>
                    <a:pt x="1431147" y="19700"/>
                  </a:lnTo>
                  <a:lnTo>
                    <a:pt x="1409753" y="5284"/>
                  </a:lnTo>
                  <a:lnTo>
                    <a:pt x="1383538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782311" y="1066800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59">
                  <a:moveTo>
                    <a:pt x="0" y="67310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10" y="0"/>
                  </a:lnTo>
                  <a:lnTo>
                    <a:pt x="1383538" y="0"/>
                  </a:lnTo>
                  <a:lnTo>
                    <a:pt x="1409753" y="5284"/>
                  </a:lnTo>
                  <a:lnTo>
                    <a:pt x="1431147" y="19700"/>
                  </a:lnTo>
                  <a:lnTo>
                    <a:pt x="1445563" y="41094"/>
                  </a:lnTo>
                  <a:lnTo>
                    <a:pt x="1450848" y="67310"/>
                  </a:lnTo>
                  <a:lnTo>
                    <a:pt x="1450848" y="336550"/>
                  </a:lnTo>
                  <a:lnTo>
                    <a:pt x="1445563" y="362765"/>
                  </a:lnTo>
                  <a:lnTo>
                    <a:pt x="1431147" y="384159"/>
                  </a:lnTo>
                  <a:lnTo>
                    <a:pt x="1409753" y="398575"/>
                  </a:lnTo>
                  <a:lnTo>
                    <a:pt x="1383538" y="403860"/>
                  </a:lnTo>
                  <a:lnTo>
                    <a:pt x="67310" y="403860"/>
                  </a:lnTo>
                  <a:lnTo>
                    <a:pt x="41094" y="398575"/>
                  </a:lnTo>
                  <a:lnTo>
                    <a:pt x="19700" y="384159"/>
                  </a:lnTo>
                  <a:lnTo>
                    <a:pt x="5284" y="362765"/>
                  </a:lnTo>
                  <a:lnTo>
                    <a:pt x="0" y="336550"/>
                  </a:lnTo>
                  <a:lnTo>
                    <a:pt x="0" y="67310"/>
                  </a:lnTo>
                  <a:close/>
                </a:path>
              </a:pathLst>
            </a:custGeom>
            <a:ln w="12191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910494" y="1531452"/>
            <a:ext cx="86783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93" dirty="0">
                <a:solidFill>
                  <a:srgbClr val="FFFFFF"/>
                </a:solidFill>
                <a:latin typeface="Arial Black"/>
                <a:cs typeface="Arial Black"/>
              </a:rPr>
              <a:t>si</a:t>
            </a:r>
            <a:r>
              <a:rPr spc="-267" dirty="0">
                <a:solidFill>
                  <a:srgbClr val="FFFFFF"/>
                </a:solidFill>
                <a:latin typeface="Arial Black"/>
                <a:cs typeface="Arial Black"/>
              </a:rPr>
              <a:t>g</a:t>
            </a:r>
            <a:r>
              <a:rPr spc="113" dirty="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spc="-3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pc="-187" dirty="0">
                <a:solidFill>
                  <a:srgbClr val="FFFFFF"/>
                </a:solidFill>
                <a:latin typeface="Arial Black"/>
                <a:cs typeface="Arial Black"/>
              </a:rPr>
              <a:t>uth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491389" y="1413934"/>
            <a:ext cx="1951567" cy="555412"/>
            <a:chOff x="6368541" y="1060450"/>
            <a:chExt cx="1463675" cy="416559"/>
          </a:xfrm>
        </p:grpSpPr>
        <p:sp>
          <p:nvSpPr>
            <p:cNvPr id="17" name="object 17"/>
            <p:cNvSpPr/>
            <p:nvPr/>
          </p:nvSpPr>
          <p:spPr>
            <a:xfrm>
              <a:off x="6374891" y="1066800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59">
                  <a:moveTo>
                    <a:pt x="1383538" y="0"/>
                  </a:moveTo>
                  <a:lnTo>
                    <a:pt x="67310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336550"/>
                  </a:lnTo>
                  <a:lnTo>
                    <a:pt x="5284" y="362765"/>
                  </a:lnTo>
                  <a:lnTo>
                    <a:pt x="19700" y="384159"/>
                  </a:lnTo>
                  <a:lnTo>
                    <a:pt x="41094" y="398575"/>
                  </a:lnTo>
                  <a:lnTo>
                    <a:pt x="67310" y="403860"/>
                  </a:lnTo>
                  <a:lnTo>
                    <a:pt x="1383538" y="403860"/>
                  </a:lnTo>
                  <a:lnTo>
                    <a:pt x="1409753" y="398575"/>
                  </a:lnTo>
                  <a:lnTo>
                    <a:pt x="1431147" y="384159"/>
                  </a:lnTo>
                  <a:lnTo>
                    <a:pt x="1445563" y="362765"/>
                  </a:lnTo>
                  <a:lnTo>
                    <a:pt x="1450848" y="336550"/>
                  </a:lnTo>
                  <a:lnTo>
                    <a:pt x="1450848" y="67310"/>
                  </a:lnTo>
                  <a:lnTo>
                    <a:pt x="1445563" y="41094"/>
                  </a:lnTo>
                  <a:lnTo>
                    <a:pt x="1431147" y="19700"/>
                  </a:lnTo>
                  <a:lnTo>
                    <a:pt x="1409753" y="5284"/>
                  </a:lnTo>
                  <a:lnTo>
                    <a:pt x="1383538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374891" y="1066800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59">
                  <a:moveTo>
                    <a:pt x="0" y="67310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10" y="0"/>
                  </a:lnTo>
                  <a:lnTo>
                    <a:pt x="1383538" y="0"/>
                  </a:lnTo>
                  <a:lnTo>
                    <a:pt x="1409753" y="5284"/>
                  </a:lnTo>
                  <a:lnTo>
                    <a:pt x="1431147" y="19700"/>
                  </a:lnTo>
                  <a:lnTo>
                    <a:pt x="1445563" y="41094"/>
                  </a:lnTo>
                  <a:lnTo>
                    <a:pt x="1450848" y="67310"/>
                  </a:lnTo>
                  <a:lnTo>
                    <a:pt x="1450848" y="336550"/>
                  </a:lnTo>
                  <a:lnTo>
                    <a:pt x="1445563" y="362765"/>
                  </a:lnTo>
                  <a:lnTo>
                    <a:pt x="1431147" y="384159"/>
                  </a:lnTo>
                  <a:lnTo>
                    <a:pt x="1409753" y="398575"/>
                  </a:lnTo>
                  <a:lnTo>
                    <a:pt x="1383538" y="403860"/>
                  </a:lnTo>
                  <a:lnTo>
                    <a:pt x="67310" y="403860"/>
                  </a:lnTo>
                  <a:lnTo>
                    <a:pt x="41094" y="398575"/>
                  </a:lnTo>
                  <a:lnTo>
                    <a:pt x="19700" y="384159"/>
                  </a:lnTo>
                  <a:lnTo>
                    <a:pt x="5284" y="362765"/>
                  </a:lnTo>
                  <a:lnTo>
                    <a:pt x="0" y="336550"/>
                  </a:lnTo>
                  <a:lnTo>
                    <a:pt x="0" y="67310"/>
                  </a:lnTo>
                  <a:close/>
                </a:path>
              </a:pathLst>
            </a:custGeom>
            <a:ln w="12191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152297" y="1531452"/>
            <a:ext cx="630767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80" dirty="0">
                <a:solidFill>
                  <a:srgbClr val="FFFFFF"/>
                </a:solidFill>
                <a:latin typeface="Arial Black"/>
                <a:cs typeface="Arial Black"/>
              </a:rPr>
              <a:t>sig-cli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78141" y="2131230"/>
            <a:ext cx="1951567" cy="555412"/>
            <a:chOff x="2308605" y="1598422"/>
            <a:chExt cx="1463675" cy="416559"/>
          </a:xfrm>
        </p:grpSpPr>
        <p:sp>
          <p:nvSpPr>
            <p:cNvPr id="21" name="object 21"/>
            <p:cNvSpPr/>
            <p:nvPr/>
          </p:nvSpPr>
          <p:spPr>
            <a:xfrm>
              <a:off x="2314955" y="1604772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60">
                  <a:moveTo>
                    <a:pt x="1383538" y="0"/>
                  </a:moveTo>
                  <a:lnTo>
                    <a:pt x="67310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336550"/>
                  </a:lnTo>
                  <a:lnTo>
                    <a:pt x="5284" y="362765"/>
                  </a:lnTo>
                  <a:lnTo>
                    <a:pt x="19700" y="384159"/>
                  </a:lnTo>
                  <a:lnTo>
                    <a:pt x="41094" y="398575"/>
                  </a:lnTo>
                  <a:lnTo>
                    <a:pt x="67310" y="403859"/>
                  </a:lnTo>
                  <a:lnTo>
                    <a:pt x="1383538" y="403859"/>
                  </a:lnTo>
                  <a:lnTo>
                    <a:pt x="1409753" y="398575"/>
                  </a:lnTo>
                  <a:lnTo>
                    <a:pt x="1431147" y="384159"/>
                  </a:lnTo>
                  <a:lnTo>
                    <a:pt x="1445563" y="362765"/>
                  </a:lnTo>
                  <a:lnTo>
                    <a:pt x="1450847" y="336550"/>
                  </a:lnTo>
                  <a:lnTo>
                    <a:pt x="1450847" y="67310"/>
                  </a:lnTo>
                  <a:lnTo>
                    <a:pt x="1445563" y="41094"/>
                  </a:lnTo>
                  <a:lnTo>
                    <a:pt x="1431147" y="19700"/>
                  </a:lnTo>
                  <a:lnTo>
                    <a:pt x="1409753" y="5284"/>
                  </a:lnTo>
                  <a:lnTo>
                    <a:pt x="1383538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2314955" y="1604772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60">
                  <a:moveTo>
                    <a:pt x="0" y="67310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10" y="0"/>
                  </a:lnTo>
                  <a:lnTo>
                    <a:pt x="1383538" y="0"/>
                  </a:lnTo>
                  <a:lnTo>
                    <a:pt x="1409753" y="5284"/>
                  </a:lnTo>
                  <a:lnTo>
                    <a:pt x="1431147" y="19700"/>
                  </a:lnTo>
                  <a:lnTo>
                    <a:pt x="1445563" y="41094"/>
                  </a:lnTo>
                  <a:lnTo>
                    <a:pt x="1450847" y="67310"/>
                  </a:lnTo>
                  <a:lnTo>
                    <a:pt x="1450847" y="336550"/>
                  </a:lnTo>
                  <a:lnTo>
                    <a:pt x="1445563" y="362765"/>
                  </a:lnTo>
                  <a:lnTo>
                    <a:pt x="1431147" y="384159"/>
                  </a:lnTo>
                  <a:lnTo>
                    <a:pt x="1409753" y="398575"/>
                  </a:lnTo>
                  <a:lnTo>
                    <a:pt x="1383538" y="403859"/>
                  </a:lnTo>
                  <a:lnTo>
                    <a:pt x="67310" y="403859"/>
                  </a:lnTo>
                  <a:lnTo>
                    <a:pt x="41094" y="398575"/>
                  </a:lnTo>
                  <a:lnTo>
                    <a:pt x="19700" y="384159"/>
                  </a:lnTo>
                  <a:lnTo>
                    <a:pt x="5284" y="362765"/>
                  </a:lnTo>
                  <a:lnTo>
                    <a:pt x="0" y="336550"/>
                  </a:lnTo>
                  <a:lnTo>
                    <a:pt x="0" y="67310"/>
                  </a:lnTo>
                  <a:close/>
                </a:path>
              </a:pathLst>
            </a:custGeom>
            <a:ln w="12191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435772" y="2248408"/>
            <a:ext cx="123613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200" dirty="0">
                <a:solidFill>
                  <a:srgbClr val="FFFFFF"/>
                </a:solidFill>
                <a:latin typeface="Arial Black"/>
                <a:cs typeface="Arial Black"/>
              </a:rPr>
              <a:t>sig-network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80829" y="2131230"/>
            <a:ext cx="1951567" cy="555412"/>
            <a:chOff x="3960621" y="1598422"/>
            <a:chExt cx="1463675" cy="416559"/>
          </a:xfrm>
        </p:grpSpPr>
        <p:sp>
          <p:nvSpPr>
            <p:cNvPr id="25" name="object 25"/>
            <p:cNvSpPr/>
            <p:nvPr/>
          </p:nvSpPr>
          <p:spPr>
            <a:xfrm>
              <a:off x="3966971" y="1604772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60">
                  <a:moveTo>
                    <a:pt x="1383538" y="0"/>
                  </a:moveTo>
                  <a:lnTo>
                    <a:pt x="67310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336550"/>
                  </a:lnTo>
                  <a:lnTo>
                    <a:pt x="5284" y="362765"/>
                  </a:lnTo>
                  <a:lnTo>
                    <a:pt x="19700" y="384159"/>
                  </a:lnTo>
                  <a:lnTo>
                    <a:pt x="41094" y="398575"/>
                  </a:lnTo>
                  <a:lnTo>
                    <a:pt x="67310" y="403859"/>
                  </a:lnTo>
                  <a:lnTo>
                    <a:pt x="1383538" y="403859"/>
                  </a:lnTo>
                  <a:lnTo>
                    <a:pt x="1409753" y="398575"/>
                  </a:lnTo>
                  <a:lnTo>
                    <a:pt x="1431147" y="384159"/>
                  </a:lnTo>
                  <a:lnTo>
                    <a:pt x="1445563" y="362765"/>
                  </a:lnTo>
                  <a:lnTo>
                    <a:pt x="1450848" y="336550"/>
                  </a:lnTo>
                  <a:lnTo>
                    <a:pt x="1450848" y="67310"/>
                  </a:lnTo>
                  <a:lnTo>
                    <a:pt x="1445563" y="41094"/>
                  </a:lnTo>
                  <a:lnTo>
                    <a:pt x="1431147" y="19700"/>
                  </a:lnTo>
                  <a:lnTo>
                    <a:pt x="1409753" y="5284"/>
                  </a:lnTo>
                  <a:lnTo>
                    <a:pt x="1383538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3966971" y="1604772"/>
              <a:ext cx="1450975" cy="403860"/>
            </a:xfrm>
            <a:custGeom>
              <a:avLst/>
              <a:gdLst/>
              <a:ahLst/>
              <a:cxnLst/>
              <a:rect l="l" t="t" r="r" b="b"/>
              <a:pathLst>
                <a:path w="1450975" h="403860">
                  <a:moveTo>
                    <a:pt x="0" y="67310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10" y="0"/>
                  </a:lnTo>
                  <a:lnTo>
                    <a:pt x="1383538" y="0"/>
                  </a:lnTo>
                  <a:lnTo>
                    <a:pt x="1409753" y="5284"/>
                  </a:lnTo>
                  <a:lnTo>
                    <a:pt x="1431147" y="19700"/>
                  </a:lnTo>
                  <a:lnTo>
                    <a:pt x="1445563" y="41094"/>
                  </a:lnTo>
                  <a:lnTo>
                    <a:pt x="1450848" y="67310"/>
                  </a:lnTo>
                  <a:lnTo>
                    <a:pt x="1450848" y="336550"/>
                  </a:lnTo>
                  <a:lnTo>
                    <a:pt x="1445563" y="362765"/>
                  </a:lnTo>
                  <a:lnTo>
                    <a:pt x="1431147" y="384159"/>
                  </a:lnTo>
                  <a:lnTo>
                    <a:pt x="1409753" y="398575"/>
                  </a:lnTo>
                  <a:lnTo>
                    <a:pt x="1383538" y="403859"/>
                  </a:lnTo>
                  <a:lnTo>
                    <a:pt x="67310" y="403859"/>
                  </a:lnTo>
                  <a:lnTo>
                    <a:pt x="41094" y="398575"/>
                  </a:lnTo>
                  <a:lnTo>
                    <a:pt x="19700" y="384159"/>
                  </a:lnTo>
                  <a:lnTo>
                    <a:pt x="5284" y="362765"/>
                  </a:lnTo>
                  <a:lnTo>
                    <a:pt x="0" y="336550"/>
                  </a:lnTo>
                  <a:lnTo>
                    <a:pt x="0" y="67310"/>
                  </a:lnTo>
                  <a:close/>
                </a:path>
              </a:pathLst>
            </a:custGeom>
            <a:ln w="12192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501980" y="2248408"/>
            <a:ext cx="150791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93" dirty="0">
                <a:solidFill>
                  <a:srgbClr val="FFFFFF"/>
                </a:solidFill>
                <a:latin typeface="Arial Black"/>
                <a:cs typeface="Arial Black"/>
              </a:rPr>
              <a:t>sig-scheduling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481823" y="2131567"/>
            <a:ext cx="1953260" cy="555412"/>
            <a:chOff x="5611367" y="1598675"/>
            <a:chExt cx="1464945" cy="416559"/>
          </a:xfrm>
        </p:grpSpPr>
        <p:sp>
          <p:nvSpPr>
            <p:cNvPr id="29" name="object 29"/>
            <p:cNvSpPr/>
            <p:nvPr/>
          </p:nvSpPr>
          <p:spPr>
            <a:xfrm>
              <a:off x="5617463" y="1604771"/>
              <a:ext cx="1452880" cy="403860"/>
            </a:xfrm>
            <a:custGeom>
              <a:avLst/>
              <a:gdLst/>
              <a:ahLst/>
              <a:cxnLst/>
              <a:rect l="l" t="t" r="r" b="b"/>
              <a:pathLst>
                <a:path w="1452879" h="403860">
                  <a:moveTo>
                    <a:pt x="1385062" y="0"/>
                  </a:moveTo>
                  <a:lnTo>
                    <a:pt x="67310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336550"/>
                  </a:lnTo>
                  <a:lnTo>
                    <a:pt x="5284" y="362765"/>
                  </a:lnTo>
                  <a:lnTo>
                    <a:pt x="19700" y="384159"/>
                  </a:lnTo>
                  <a:lnTo>
                    <a:pt x="41094" y="398575"/>
                  </a:lnTo>
                  <a:lnTo>
                    <a:pt x="67310" y="403859"/>
                  </a:lnTo>
                  <a:lnTo>
                    <a:pt x="1385062" y="403859"/>
                  </a:lnTo>
                  <a:lnTo>
                    <a:pt x="1411277" y="398575"/>
                  </a:lnTo>
                  <a:lnTo>
                    <a:pt x="1432671" y="384159"/>
                  </a:lnTo>
                  <a:lnTo>
                    <a:pt x="1447087" y="362765"/>
                  </a:lnTo>
                  <a:lnTo>
                    <a:pt x="1452371" y="336550"/>
                  </a:lnTo>
                  <a:lnTo>
                    <a:pt x="1452371" y="67310"/>
                  </a:lnTo>
                  <a:lnTo>
                    <a:pt x="1447087" y="41094"/>
                  </a:lnTo>
                  <a:lnTo>
                    <a:pt x="1432671" y="19700"/>
                  </a:lnTo>
                  <a:lnTo>
                    <a:pt x="1411277" y="5284"/>
                  </a:lnTo>
                  <a:lnTo>
                    <a:pt x="1385062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617463" y="1604771"/>
              <a:ext cx="1452880" cy="403860"/>
            </a:xfrm>
            <a:custGeom>
              <a:avLst/>
              <a:gdLst/>
              <a:ahLst/>
              <a:cxnLst/>
              <a:rect l="l" t="t" r="r" b="b"/>
              <a:pathLst>
                <a:path w="1452879" h="403860">
                  <a:moveTo>
                    <a:pt x="0" y="67310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10" y="0"/>
                  </a:lnTo>
                  <a:lnTo>
                    <a:pt x="1385062" y="0"/>
                  </a:lnTo>
                  <a:lnTo>
                    <a:pt x="1411277" y="5284"/>
                  </a:lnTo>
                  <a:lnTo>
                    <a:pt x="1432671" y="19700"/>
                  </a:lnTo>
                  <a:lnTo>
                    <a:pt x="1447087" y="41094"/>
                  </a:lnTo>
                  <a:lnTo>
                    <a:pt x="1452371" y="67310"/>
                  </a:lnTo>
                  <a:lnTo>
                    <a:pt x="1452371" y="336550"/>
                  </a:lnTo>
                  <a:lnTo>
                    <a:pt x="1447087" y="362765"/>
                  </a:lnTo>
                  <a:lnTo>
                    <a:pt x="1432671" y="384159"/>
                  </a:lnTo>
                  <a:lnTo>
                    <a:pt x="1411277" y="398575"/>
                  </a:lnTo>
                  <a:lnTo>
                    <a:pt x="1385062" y="403859"/>
                  </a:lnTo>
                  <a:lnTo>
                    <a:pt x="67310" y="403859"/>
                  </a:lnTo>
                  <a:lnTo>
                    <a:pt x="41094" y="398575"/>
                  </a:lnTo>
                  <a:lnTo>
                    <a:pt x="19700" y="384159"/>
                  </a:lnTo>
                  <a:lnTo>
                    <a:pt x="5284" y="362765"/>
                  </a:lnTo>
                  <a:lnTo>
                    <a:pt x="0" y="336550"/>
                  </a:lnTo>
                  <a:lnTo>
                    <a:pt x="0" y="67310"/>
                  </a:lnTo>
                  <a:close/>
                </a:path>
              </a:pathLst>
            </a:custGeom>
            <a:ln w="12191">
              <a:solidFill>
                <a:srgbClr val="0D5C8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873321" y="2248408"/>
            <a:ext cx="1171787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93" dirty="0">
                <a:solidFill>
                  <a:srgbClr val="FFFFFF"/>
                </a:solidFill>
                <a:latin typeface="Arial Black"/>
                <a:cs typeface="Arial Black"/>
              </a:rPr>
              <a:t>sig-storage</a:t>
            </a:r>
            <a:endParaRPr>
              <a:latin typeface="Arial Black"/>
              <a:cs typeface="Arial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47463" y="4929361"/>
            <a:ext cx="7183967" cy="848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8770" indent="-382684">
              <a:spcBef>
                <a:spcPts val="140"/>
              </a:spcBef>
              <a:buFont typeface="Wingdings"/>
              <a:buChar char=""/>
              <a:tabLst>
                <a:tab pos="398770" algn="l"/>
                <a:tab pos="399617" algn="l"/>
              </a:tabLst>
            </a:pPr>
            <a:r>
              <a:rPr spc="-287" dirty="0">
                <a:latin typeface="Arial Black"/>
                <a:cs typeface="Arial Black"/>
              </a:rPr>
              <a:t>Secrets </a:t>
            </a:r>
            <a:r>
              <a:rPr spc="-193" dirty="0">
                <a:solidFill>
                  <a:srgbClr val="2B8738"/>
                </a:solidFill>
                <a:latin typeface="Arial Black"/>
                <a:cs typeface="Arial Black"/>
              </a:rPr>
              <a:t>should </a:t>
            </a:r>
            <a:r>
              <a:rPr spc="-207" dirty="0">
                <a:latin typeface="Arial Black"/>
                <a:cs typeface="Arial Black"/>
              </a:rPr>
              <a:t>be </a:t>
            </a:r>
            <a:r>
              <a:rPr spc="-233" dirty="0">
                <a:latin typeface="Arial Black"/>
                <a:cs typeface="Arial Black"/>
              </a:rPr>
              <a:t>consumable </a:t>
            </a:r>
            <a:r>
              <a:rPr spc="-173" dirty="0">
                <a:latin typeface="Arial Black"/>
                <a:cs typeface="Arial Black"/>
              </a:rPr>
              <a:t>in </a:t>
            </a:r>
            <a:r>
              <a:rPr spc="-193" dirty="0">
                <a:latin typeface="Arial Black"/>
                <a:cs typeface="Arial Black"/>
              </a:rPr>
              <a:t>multiple </a:t>
            </a:r>
            <a:r>
              <a:rPr spc="-227" dirty="0">
                <a:latin typeface="Arial Black"/>
                <a:cs typeface="Arial Black"/>
              </a:rPr>
              <a:t>volumes </a:t>
            </a:r>
            <a:r>
              <a:rPr spc="-173" dirty="0">
                <a:latin typeface="Arial Black"/>
                <a:cs typeface="Arial Black"/>
              </a:rPr>
              <a:t>in </a:t>
            </a:r>
            <a:r>
              <a:rPr spc="-287" dirty="0">
                <a:latin typeface="Arial Black"/>
                <a:cs typeface="Arial Black"/>
              </a:rPr>
              <a:t>a</a:t>
            </a:r>
            <a:r>
              <a:rPr spc="-27" dirty="0">
                <a:latin typeface="Arial Black"/>
                <a:cs typeface="Arial Black"/>
              </a:rPr>
              <a:t> </a:t>
            </a:r>
            <a:r>
              <a:rPr spc="-147" dirty="0">
                <a:latin typeface="Arial Black"/>
                <a:cs typeface="Arial Black"/>
              </a:rPr>
              <a:t>pod</a:t>
            </a:r>
            <a:endParaRPr>
              <a:latin typeface="Arial Black"/>
              <a:cs typeface="Arial Black"/>
            </a:endParaRPr>
          </a:p>
          <a:p>
            <a:pPr marL="398770" indent="-382684">
              <a:buFont typeface="Wingdings"/>
              <a:buChar char=""/>
              <a:tabLst>
                <a:tab pos="398770" algn="l"/>
                <a:tab pos="399617" algn="l"/>
              </a:tabLst>
            </a:pPr>
            <a:r>
              <a:rPr spc="-287" dirty="0">
                <a:latin typeface="Arial Black"/>
                <a:cs typeface="Arial Black"/>
              </a:rPr>
              <a:t>Secrets </a:t>
            </a:r>
            <a:r>
              <a:rPr spc="-193" dirty="0">
                <a:solidFill>
                  <a:srgbClr val="2B8738"/>
                </a:solidFill>
                <a:latin typeface="Arial Black"/>
                <a:cs typeface="Arial Black"/>
              </a:rPr>
              <a:t>should </a:t>
            </a:r>
            <a:r>
              <a:rPr spc="-207" dirty="0">
                <a:latin typeface="Arial Black"/>
                <a:cs typeface="Arial Black"/>
              </a:rPr>
              <a:t>be </a:t>
            </a:r>
            <a:r>
              <a:rPr spc="-233" dirty="0">
                <a:latin typeface="Arial Black"/>
                <a:cs typeface="Arial Black"/>
              </a:rPr>
              <a:t>consumable </a:t>
            </a:r>
            <a:r>
              <a:rPr spc="-187" dirty="0">
                <a:latin typeface="Arial Black"/>
                <a:cs typeface="Arial Black"/>
              </a:rPr>
              <a:t>from </a:t>
            </a:r>
            <a:r>
              <a:rPr spc="-193" dirty="0">
                <a:latin typeface="Arial Black"/>
                <a:cs typeface="Arial Black"/>
              </a:rPr>
              <a:t>pods </a:t>
            </a:r>
            <a:r>
              <a:rPr spc="-173" dirty="0">
                <a:latin typeface="Arial Black"/>
                <a:cs typeface="Arial Black"/>
              </a:rPr>
              <a:t>in </a:t>
            </a:r>
            <a:r>
              <a:rPr spc="-213" dirty="0">
                <a:latin typeface="Arial Black"/>
                <a:cs typeface="Arial Black"/>
              </a:rPr>
              <a:t>volume </a:t>
            </a:r>
            <a:r>
              <a:rPr spc="-233" dirty="0">
                <a:latin typeface="Arial Black"/>
                <a:cs typeface="Arial Black"/>
              </a:rPr>
              <a:t>with</a:t>
            </a:r>
            <a:r>
              <a:rPr spc="-53" dirty="0">
                <a:latin typeface="Arial Black"/>
                <a:cs typeface="Arial Black"/>
              </a:rPr>
              <a:t> </a:t>
            </a:r>
            <a:r>
              <a:rPr spc="-207" dirty="0">
                <a:latin typeface="Arial Black"/>
                <a:cs typeface="Arial Black"/>
              </a:rPr>
              <a:t>mappings</a:t>
            </a:r>
            <a:endParaRPr>
              <a:latin typeface="Arial Black"/>
              <a:cs typeface="Arial Black"/>
            </a:endParaRPr>
          </a:p>
          <a:p>
            <a:pPr marL="398770" indent="-382684">
              <a:buFont typeface="Wingdings"/>
              <a:buChar char=""/>
              <a:tabLst>
                <a:tab pos="398770" algn="l"/>
                <a:tab pos="399617" algn="l"/>
              </a:tabLst>
            </a:pPr>
            <a:r>
              <a:rPr spc="-180" dirty="0">
                <a:latin typeface="Arial Black"/>
                <a:cs typeface="Arial Black"/>
              </a:rPr>
              <a:t>ConfigMap </a:t>
            </a:r>
            <a:r>
              <a:rPr spc="-193" dirty="0">
                <a:solidFill>
                  <a:srgbClr val="2B8738"/>
                </a:solidFill>
                <a:latin typeface="Arial Black"/>
                <a:cs typeface="Arial Black"/>
              </a:rPr>
              <a:t>should </a:t>
            </a:r>
            <a:r>
              <a:rPr spc="-207" dirty="0">
                <a:latin typeface="Arial Black"/>
                <a:cs typeface="Arial Black"/>
              </a:rPr>
              <a:t>be </a:t>
            </a:r>
            <a:r>
              <a:rPr spc="-233" dirty="0">
                <a:latin typeface="Arial Black"/>
                <a:cs typeface="Arial Black"/>
              </a:rPr>
              <a:t>consumable </a:t>
            </a:r>
            <a:r>
              <a:rPr spc="-187" dirty="0">
                <a:latin typeface="Arial Black"/>
                <a:cs typeface="Arial Black"/>
              </a:rPr>
              <a:t>from </a:t>
            </a:r>
            <a:r>
              <a:rPr spc="-193" dirty="0">
                <a:latin typeface="Arial Black"/>
                <a:cs typeface="Arial Black"/>
              </a:rPr>
              <a:t>pods </a:t>
            </a:r>
            <a:r>
              <a:rPr spc="-173" dirty="0">
                <a:latin typeface="Arial Black"/>
                <a:cs typeface="Arial Black"/>
              </a:rPr>
              <a:t>in</a:t>
            </a:r>
            <a:r>
              <a:rPr spc="-73" dirty="0">
                <a:latin typeface="Arial Black"/>
                <a:cs typeface="Arial Black"/>
              </a:rPr>
              <a:t> </a:t>
            </a:r>
            <a:r>
              <a:rPr spc="-213" dirty="0">
                <a:latin typeface="Arial Black"/>
                <a:cs typeface="Arial Black"/>
              </a:rPr>
              <a:t>volume</a:t>
            </a:r>
            <a:endParaRPr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5109" y="3127858"/>
            <a:ext cx="6848687" cy="112594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8770" indent="-382684">
              <a:spcBef>
                <a:spcPts val="140"/>
              </a:spcBef>
              <a:buFont typeface="Wingdings"/>
              <a:buChar char=""/>
              <a:tabLst>
                <a:tab pos="398770" algn="l"/>
                <a:tab pos="399617" algn="l"/>
              </a:tabLst>
            </a:pPr>
            <a:r>
              <a:rPr spc="-213" dirty="0">
                <a:latin typeface="Arial Black"/>
                <a:cs typeface="Arial Black"/>
              </a:rPr>
              <a:t>Networking </a:t>
            </a:r>
            <a:r>
              <a:rPr spc="-193" dirty="0">
                <a:solidFill>
                  <a:srgbClr val="2B8738"/>
                </a:solidFill>
                <a:latin typeface="Arial Black"/>
                <a:cs typeface="Arial Black"/>
              </a:rPr>
              <a:t>should </a:t>
            </a:r>
            <a:r>
              <a:rPr spc="-200" dirty="0">
                <a:latin typeface="Arial Black"/>
                <a:cs typeface="Arial Black"/>
              </a:rPr>
              <a:t>function </a:t>
            </a:r>
            <a:r>
              <a:rPr spc="-152" dirty="0">
                <a:latin typeface="Arial Black"/>
                <a:cs typeface="Arial Black"/>
              </a:rPr>
              <a:t>for </a:t>
            </a:r>
            <a:r>
              <a:rPr spc="-147" dirty="0">
                <a:latin typeface="Arial Black"/>
                <a:cs typeface="Arial Black"/>
              </a:rPr>
              <a:t>intra-pod </a:t>
            </a:r>
            <a:r>
              <a:rPr spc="-227" dirty="0">
                <a:latin typeface="Arial Black"/>
                <a:cs typeface="Arial Black"/>
              </a:rPr>
              <a:t>communication</a:t>
            </a:r>
            <a:r>
              <a:rPr spc="-173" dirty="0">
                <a:latin typeface="Arial Black"/>
                <a:cs typeface="Arial Black"/>
              </a:rPr>
              <a:t> (http)</a:t>
            </a:r>
            <a:endParaRPr>
              <a:latin typeface="Arial Black"/>
              <a:cs typeface="Arial Black"/>
            </a:endParaRPr>
          </a:p>
          <a:p>
            <a:pPr marL="398770" indent="-382684">
              <a:spcBef>
                <a:spcPts val="7"/>
              </a:spcBef>
              <a:buFont typeface="Wingdings"/>
              <a:buChar char=""/>
              <a:tabLst>
                <a:tab pos="398770" algn="l"/>
                <a:tab pos="399617" algn="l"/>
              </a:tabLst>
            </a:pPr>
            <a:r>
              <a:rPr spc="-267" dirty="0">
                <a:latin typeface="Arial Black"/>
                <a:cs typeface="Arial Black"/>
              </a:rPr>
              <a:t>Services </a:t>
            </a:r>
            <a:r>
              <a:rPr spc="-193" dirty="0">
                <a:solidFill>
                  <a:srgbClr val="2B8738"/>
                </a:solidFill>
                <a:latin typeface="Arial Black"/>
                <a:cs typeface="Arial Black"/>
              </a:rPr>
              <a:t>should </a:t>
            </a:r>
            <a:r>
              <a:rPr spc="-247" dirty="0">
                <a:latin typeface="Arial Black"/>
                <a:cs typeface="Arial Black"/>
              </a:rPr>
              <a:t>serve </a:t>
            </a:r>
            <a:r>
              <a:rPr spc="-287" dirty="0">
                <a:latin typeface="Arial Black"/>
                <a:cs typeface="Arial Black"/>
              </a:rPr>
              <a:t>a </a:t>
            </a:r>
            <a:r>
              <a:rPr spc="-267" dirty="0">
                <a:latin typeface="Arial Black"/>
                <a:cs typeface="Arial Black"/>
              </a:rPr>
              <a:t>basic </a:t>
            </a:r>
            <a:r>
              <a:rPr spc="-180" dirty="0">
                <a:latin typeface="Arial Black"/>
                <a:cs typeface="Arial Black"/>
              </a:rPr>
              <a:t>endpoint </a:t>
            </a:r>
            <a:r>
              <a:rPr spc="-187" dirty="0">
                <a:latin typeface="Arial Black"/>
                <a:cs typeface="Arial Black"/>
              </a:rPr>
              <a:t>from</a:t>
            </a:r>
            <a:r>
              <a:rPr spc="-113" dirty="0">
                <a:latin typeface="Arial Black"/>
                <a:cs typeface="Arial Black"/>
              </a:rPr>
              <a:t> </a:t>
            </a:r>
            <a:r>
              <a:rPr spc="-193" dirty="0">
                <a:latin typeface="Arial Black"/>
                <a:cs typeface="Arial Black"/>
              </a:rPr>
              <a:t>pods</a:t>
            </a:r>
            <a:endParaRPr>
              <a:latin typeface="Arial Black"/>
              <a:cs typeface="Arial Black"/>
            </a:endParaRPr>
          </a:p>
          <a:p>
            <a:pPr marL="398770" indent="-382684">
              <a:buFont typeface="Wingdings"/>
              <a:buChar char=""/>
              <a:tabLst>
                <a:tab pos="398770" algn="l"/>
                <a:tab pos="399617" algn="l"/>
              </a:tabLst>
            </a:pPr>
            <a:r>
              <a:rPr spc="-253" dirty="0">
                <a:latin typeface="Arial Black"/>
                <a:cs typeface="Arial Black"/>
              </a:rPr>
              <a:t>Service </a:t>
            </a:r>
            <a:r>
              <a:rPr spc="-193" dirty="0">
                <a:latin typeface="Arial Black"/>
                <a:cs typeface="Arial Black"/>
              </a:rPr>
              <a:t>endpoints </a:t>
            </a:r>
            <a:r>
              <a:rPr spc="-247" dirty="0">
                <a:latin typeface="Arial Black"/>
                <a:cs typeface="Arial Black"/>
              </a:rPr>
              <a:t>latency </a:t>
            </a:r>
            <a:r>
              <a:rPr spc="-193" dirty="0">
                <a:solidFill>
                  <a:srgbClr val="2B8738"/>
                </a:solidFill>
                <a:latin typeface="Arial Black"/>
                <a:cs typeface="Arial Black"/>
              </a:rPr>
              <a:t>should </a:t>
            </a:r>
            <a:r>
              <a:rPr spc="-173" dirty="0">
                <a:latin typeface="Arial Black"/>
                <a:cs typeface="Arial Black"/>
              </a:rPr>
              <a:t>not </a:t>
            </a:r>
            <a:r>
              <a:rPr spc="-207" dirty="0">
                <a:latin typeface="Arial Black"/>
                <a:cs typeface="Arial Black"/>
              </a:rPr>
              <a:t>be </a:t>
            </a:r>
            <a:r>
              <a:rPr spc="-213" dirty="0">
                <a:latin typeface="Arial Black"/>
                <a:cs typeface="Arial Black"/>
              </a:rPr>
              <a:t>very</a:t>
            </a:r>
            <a:r>
              <a:rPr spc="-267" dirty="0">
                <a:latin typeface="Arial Black"/>
                <a:cs typeface="Arial Black"/>
              </a:rPr>
              <a:t> </a:t>
            </a:r>
            <a:r>
              <a:rPr spc="-167" dirty="0">
                <a:latin typeface="Arial Black"/>
                <a:cs typeface="Arial Black"/>
              </a:rPr>
              <a:t>high</a:t>
            </a:r>
            <a:endParaRPr>
              <a:latin typeface="Arial Black"/>
              <a:cs typeface="Arial Black"/>
            </a:endParaRPr>
          </a:p>
          <a:p>
            <a:pPr marL="398770" indent="-382684">
              <a:buFont typeface="Wingdings"/>
              <a:buChar char=""/>
              <a:tabLst>
                <a:tab pos="398770" algn="l"/>
                <a:tab pos="399617" algn="l"/>
              </a:tabLst>
            </a:pPr>
            <a:r>
              <a:rPr spc="-213" dirty="0">
                <a:latin typeface="Arial Black"/>
                <a:cs typeface="Arial Black"/>
              </a:rPr>
              <a:t>DNS </a:t>
            </a:r>
            <a:r>
              <a:rPr spc="-193" dirty="0">
                <a:solidFill>
                  <a:srgbClr val="2B8738"/>
                </a:solidFill>
                <a:latin typeface="Arial Black"/>
                <a:cs typeface="Arial Black"/>
              </a:rPr>
              <a:t>should </a:t>
            </a:r>
            <a:r>
              <a:rPr spc="-187" dirty="0">
                <a:latin typeface="Arial Black"/>
                <a:cs typeface="Arial Black"/>
              </a:rPr>
              <a:t>provide </a:t>
            </a:r>
            <a:r>
              <a:rPr spc="-213" dirty="0">
                <a:latin typeface="Arial Black"/>
                <a:cs typeface="Arial Black"/>
              </a:rPr>
              <a:t>DNS </a:t>
            </a:r>
            <a:r>
              <a:rPr spc="-152" dirty="0">
                <a:latin typeface="Arial Black"/>
                <a:cs typeface="Arial Black"/>
              </a:rPr>
              <a:t>for</a:t>
            </a:r>
            <a:r>
              <a:rPr spc="207" dirty="0">
                <a:latin typeface="Arial Black"/>
                <a:cs typeface="Arial Black"/>
              </a:rPr>
              <a:t> </a:t>
            </a:r>
            <a:r>
              <a:rPr spc="-260" dirty="0">
                <a:latin typeface="Arial Black"/>
                <a:cs typeface="Arial Black"/>
              </a:rPr>
              <a:t>services</a:t>
            </a:r>
            <a:endParaRPr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1677919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4587239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67" dirty="0">
                <a:solidFill>
                  <a:srgbClr val="115F92"/>
                </a:solidFill>
              </a:rPr>
              <a:t>kubetest </a:t>
            </a:r>
            <a:r>
              <a:rPr spc="93" dirty="0">
                <a:solidFill>
                  <a:srgbClr val="115F92"/>
                </a:solidFill>
              </a:rPr>
              <a:t>-</a:t>
            </a:r>
            <a:r>
              <a:rPr spc="-860" dirty="0">
                <a:solidFill>
                  <a:srgbClr val="115F92"/>
                </a:solidFill>
              </a:rPr>
              <a:t> </a:t>
            </a:r>
            <a:r>
              <a:rPr dirty="0">
                <a:solidFill>
                  <a:srgbClr val="115F92"/>
                </a:solidFill>
              </a:rPr>
              <a:t>Tests</a:t>
            </a:r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6164" y="2983947"/>
            <a:ext cx="130387" cy="29580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>
              <a:spcBef>
                <a:spcPts val="147"/>
              </a:spcBef>
            </a:pPr>
            <a:r>
              <a:rPr spc="-180" dirty="0">
                <a:latin typeface="Arial Black"/>
                <a:cs typeface="Arial Black"/>
              </a:rPr>
              <a:t>h</a:t>
            </a:r>
            <a:endParaRPr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590" y="1887388"/>
            <a:ext cx="4335780" cy="223394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74121" marR="6773" indent="-457189">
              <a:spcBef>
                <a:spcPts val="140"/>
              </a:spcBef>
              <a:buAutoNum type="arabicPeriod"/>
              <a:tabLst>
                <a:tab pos="473275" algn="l"/>
                <a:tab pos="474121" algn="l"/>
              </a:tabLst>
            </a:pPr>
            <a:r>
              <a:rPr b="1" spc="-40" dirty="0">
                <a:latin typeface="Arial"/>
                <a:cs typeface="Arial"/>
              </a:rPr>
              <a:t>Prepare: </a:t>
            </a:r>
            <a:r>
              <a:rPr spc="-267" dirty="0">
                <a:latin typeface="Arial Black"/>
                <a:cs typeface="Arial Black"/>
              </a:rPr>
              <a:t>Creates </a:t>
            </a:r>
            <a:r>
              <a:rPr spc="-287" dirty="0">
                <a:latin typeface="Arial Black"/>
                <a:cs typeface="Arial Black"/>
              </a:rPr>
              <a:t>a </a:t>
            </a:r>
            <a:r>
              <a:rPr spc="-267" dirty="0">
                <a:latin typeface="Arial Black"/>
                <a:cs typeface="Arial Black"/>
              </a:rPr>
              <a:t>namespace </a:t>
            </a:r>
            <a:r>
              <a:rPr spc="-152" dirty="0">
                <a:latin typeface="Arial Black"/>
                <a:cs typeface="Arial Black"/>
              </a:rPr>
              <a:t>for </a:t>
            </a:r>
            <a:r>
              <a:rPr spc="-220" dirty="0">
                <a:latin typeface="Arial Black"/>
                <a:cs typeface="Arial Black"/>
              </a:rPr>
              <a:t>this  </a:t>
            </a:r>
            <a:r>
              <a:rPr spc="-247" dirty="0">
                <a:latin typeface="Arial Black"/>
                <a:cs typeface="Arial Black"/>
              </a:rPr>
              <a:t>test</a:t>
            </a:r>
            <a:endParaRPr>
              <a:latin typeface="Arial Black"/>
              <a:cs typeface="Arial Black"/>
            </a:endParaRPr>
          </a:p>
          <a:p>
            <a:pPr marL="474121" indent="-457189">
              <a:buAutoNum type="arabicPeriod"/>
              <a:tabLst>
                <a:tab pos="473275" algn="l"/>
                <a:tab pos="474121" algn="l"/>
              </a:tabLst>
            </a:pPr>
            <a:r>
              <a:rPr spc="-267" dirty="0">
                <a:latin typeface="Arial Black"/>
                <a:cs typeface="Arial Black"/>
              </a:rPr>
              <a:t>Creates  </a:t>
            </a:r>
            <a:r>
              <a:rPr spc="-333" dirty="0">
                <a:latin typeface="Arial Black"/>
                <a:cs typeface="Arial Black"/>
              </a:rPr>
              <a:t>Test  </a:t>
            </a:r>
            <a:r>
              <a:rPr spc="-213" dirty="0">
                <a:latin typeface="Arial Black"/>
                <a:cs typeface="Arial Black"/>
              </a:rPr>
              <a:t>Pod </a:t>
            </a:r>
            <a:r>
              <a:rPr spc="-173" dirty="0">
                <a:latin typeface="Arial Black"/>
                <a:cs typeface="Arial Black"/>
              </a:rPr>
              <a:t>in </a:t>
            </a:r>
            <a:r>
              <a:rPr spc="-220" dirty="0">
                <a:latin typeface="Arial Black"/>
                <a:cs typeface="Arial Black"/>
              </a:rPr>
              <a:t>this </a:t>
            </a:r>
            <a:r>
              <a:rPr spc="-267" dirty="0">
                <a:latin typeface="Arial Black"/>
                <a:cs typeface="Arial Black"/>
              </a:rPr>
              <a:t>namespace</a:t>
            </a:r>
            <a:endParaRPr>
              <a:latin typeface="Arial Black"/>
              <a:cs typeface="Arial Black"/>
            </a:endParaRPr>
          </a:p>
          <a:p>
            <a:pPr marL="474121">
              <a:spcBef>
                <a:spcPts val="7"/>
              </a:spcBef>
            </a:pPr>
            <a:r>
              <a:rPr spc="-233" dirty="0">
                <a:latin typeface="Arial Black"/>
                <a:cs typeface="Arial Black"/>
              </a:rPr>
              <a:t>Waits </a:t>
            </a:r>
            <a:r>
              <a:rPr spc="-152" dirty="0">
                <a:latin typeface="Arial Black"/>
                <a:cs typeface="Arial Black"/>
              </a:rPr>
              <a:t>for </a:t>
            </a:r>
            <a:r>
              <a:rPr spc="-207" dirty="0">
                <a:latin typeface="Arial Black"/>
                <a:cs typeface="Arial Black"/>
              </a:rPr>
              <a:t>the </a:t>
            </a:r>
            <a:r>
              <a:rPr spc="-233" dirty="0">
                <a:latin typeface="Arial Black"/>
                <a:cs typeface="Arial Black"/>
              </a:rPr>
              <a:t>PODs </a:t>
            </a:r>
            <a:r>
              <a:rPr spc="-180" dirty="0">
                <a:latin typeface="Arial Black"/>
                <a:cs typeface="Arial Black"/>
              </a:rPr>
              <a:t>to </a:t>
            </a:r>
            <a:r>
              <a:rPr spc="-260" dirty="0">
                <a:latin typeface="Arial Black"/>
                <a:cs typeface="Arial Black"/>
              </a:rPr>
              <a:t>come</a:t>
            </a:r>
            <a:r>
              <a:rPr spc="-20" dirty="0">
                <a:latin typeface="Arial Black"/>
                <a:cs typeface="Arial Black"/>
              </a:rPr>
              <a:t> </a:t>
            </a:r>
            <a:r>
              <a:rPr spc="-160" dirty="0">
                <a:latin typeface="Arial Black"/>
                <a:cs typeface="Arial Black"/>
              </a:rPr>
              <a:t>up</a:t>
            </a:r>
            <a:endParaRPr>
              <a:latin typeface="Arial Black"/>
              <a:cs typeface="Arial Black"/>
            </a:endParaRPr>
          </a:p>
          <a:p>
            <a:pPr marL="474121" marR="6773" indent="-457189">
              <a:buAutoNum type="arabicPeriod" startAt="3"/>
              <a:tabLst>
                <a:tab pos="473275" algn="l"/>
                <a:tab pos="474121" algn="l"/>
              </a:tabLst>
            </a:pPr>
            <a:r>
              <a:rPr b="1" spc="-93" dirty="0">
                <a:latin typeface="Arial"/>
                <a:cs typeface="Arial"/>
              </a:rPr>
              <a:t>Test: </a:t>
            </a:r>
            <a:r>
              <a:rPr spc="-300" dirty="0">
                <a:latin typeface="Arial Black"/>
                <a:cs typeface="Arial Black"/>
              </a:rPr>
              <a:t>Executes </a:t>
            </a:r>
            <a:r>
              <a:rPr spc="-227" dirty="0">
                <a:latin typeface="Arial Black"/>
                <a:cs typeface="Arial Black"/>
              </a:rPr>
              <a:t>curl </a:t>
            </a:r>
            <a:r>
              <a:rPr spc="-160" dirty="0">
                <a:latin typeface="Arial Black"/>
                <a:cs typeface="Arial Black"/>
              </a:rPr>
              <a:t>on </a:t>
            </a:r>
            <a:r>
              <a:rPr spc="-193" dirty="0">
                <a:latin typeface="Arial Black"/>
                <a:cs typeface="Arial Black"/>
              </a:rPr>
              <a:t>one </a:t>
            </a:r>
            <a:r>
              <a:rPr spc="-147" dirty="0">
                <a:latin typeface="Arial Black"/>
                <a:cs typeface="Arial Black"/>
              </a:rPr>
              <a:t>pod </a:t>
            </a:r>
            <a:r>
              <a:rPr spc="-180" dirty="0">
                <a:latin typeface="Arial Black"/>
                <a:cs typeface="Arial Black"/>
              </a:rPr>
              <a:t>to </a:t>
            </a:r>
            <a:r>
              <a:rPr spc="-280" dirty="0">
                <a:latin typeface="Arial Black"/>
                <a:cs typeface="Arial Black"/>
              </a:rPr>
              <a:t>reac  </a:t>
            </a:r>
            <a:r>
              <a:rPr spc="-207" dirty="0">
                <a:latin typeface="Arial Black"/>
                <a:cs typeface="Arial Black"/>
              </a:rPr>
              <a:t>the </a:t>
            </a:r>
            <a:r>
              <a:rPr spc="-260" dirty="0">
                <a:latin typeface="Arial Black"/>
                <a:cs typeface="Arial Black"/>
              </a:rPr>
              <a:t>IP </a:t>
            </a:r>
            <a:r>
              <a:rPr spc="-160" dirty="0">
                <a:latin typeface="Arial Black"/>
                <a:cs typeface="Arial Black"/>
              </a:rPr>
              <a:t>of </a:t>
            </a:r>
            <a:r>
              <a:rPr spc="-207" dirty="0">
                <a:latin typeface="Arial Black"/>
                <a:cs typeface="Arial Black"/>
              </a:rPr>
              <a:t>another over</a:t>
            </a:r>
            <a:r>
              <a:rPr spc="-87" dirty="0">
                <a:latin typeface="Arial Black"/>
                <a:cs typeface="Arial Black"/>
              </a:rPr>
              <a:t> </a:t>
            </a:r>
            <a:r>
              <a:rPr spc="-300" dirty="0">
                <a:latin typeface="Arial Black"/>
                <a:cs typeface="Arial Black"/>
              </a:rPr>
              <a:t>HTTP</a:t>
            </a:r>
            <a:endParaRPr>
              <a:latin typeface="Arial Black"/>
              <a:cs typeface="Arial Black"/>
            </a:endParaRPr>
          </a:p>
          <a:p>
            <a:pPr marL="474121" indent="-457189">
              <a:buAutoNum type="arabicPeriod" startAt="3"/>
              <a:tabLst>
                <a:tab pos="473275" algn="l"/>
                <a:tab pos="474121" algn="l"/>
              </a:tabLst>
            </a:pPr>
            <a:r>
              <a:rPr spc="-247" dirty="0">
                <a:latin typeface="Arial Black"/>
                <a:cs typeface="Arial Black"/>
              </a:rPr>
              <a:t>Record </a:t>
            </a:r>
            <a:r>
              <a:rPr spc="-207" dirty="0">
                <a:latin typeface="Arial Black"/>
                <a:cs typeface="Arial Black"/>
              </a:rPr>
              <a:t>the</a:t>
            </a:r>
            <a:r>
              <a:rPr spc="-360" dirty="0">
                <a:latin typeface="Arial Black"/>
                <a:cs typeface="Arial Black"/>
              </a:rPr>
              <a:t> </a:t>
            </a:r>
            <a:r>
              <a:rPr spc="-220" dirty="0">
                <a:latin typeface="Arial Black"/>
                <a:cs typeface="Arial Black"/>
              </a:rPr>
              <a:t>result</a:t>
            </a:r>
            <a:endParaRPr>
              <a:latin typeface="Arial Black"/>
              <a:cs typeface="Arial Black"/>
            </a:endParaRPr>
          </a:p>
          <a:p>
            <a:pPr marL="474121" indent="-457189">
              <a:buAutoNum type="arabicPeriod" startAt="3"/>
              <a:tabLst>
                <a:tab pos="473275" algn="l"/>
                <a:tab pos="474121" algn="l"/>
              </a:tabLst>
            </a:pPr>
            <a:r>
              <a:rPr b="1" spc="-47" dirty="0">
                <a:latin typeface="Arial"/>
                <a:cs typeface="Arial"/>
              </a:rPr>
              <a:t>Cleanup: </a:t>
            </a:r>
            <a:r>
              <a:rPr spc="-220" dirty="0">
                <a:latin typeface="Arial Black"/>
                <a:cs typeface="Arial Black"/>
              </a:rPr>
              <a:t>Delete </a:t>
            </a:r>
            <a:r>
              <a:rPr spc="-207" dirty="0">
                <a:latin typeface="Arial Black"/>
                <a:cs typeface="Arial Black"/>
              </a:rPr>
              <a:t>the</a:t>
            </a:r>
            <a:r>
              <a:rPr spc="-40" dirty="0">
                <a:latin typeface="Arial Black"/>
                <a:cs typeface="Arial Black"/>
              </a:rPr>
              <a:t> </a:t>
            </a:r>
            <a:r>
              <a:rPr spc="-267" dirty="0">
                <a:latin typeface="Arial Black"/>
                <a:cs typeface="Arial Black"/>
              </a:rPr>
              <a:t>namespace</a:t>
            </a:r>
            <a:endParaRPr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12945" y="1617471"/>
            <a:ext cx="7187353" cy="3832860"/>
            <a:chOff x="3759708" y="1213103"/>
            <a:chExt cx="5390515" cy="2874645"/>
          </a:xfrm>
        </p:grpSpPr>
        <p:sp>
          <p:nvSpPr>
            <p:cNvPr id="7" name="object 7"/>
            <p:cNvSpPr/>
            <p:nvPr/>
          </p:nvSpPr>
          <p:spPr>
            <a:xfrm>
              <a:off x="3765804" y="1219199"/>
              <a:ext cx="5378450" cy="2862580"/>
            </a:xfrm>
            <a:custGeom>
              <a:avLst/>
              <a:gdLst/>
              <a:ahLst/>
              <a:cxnLst/>
              <a:rect l="l" t="t" r="r" b="b"/>
              <a:pathLst>
                <a:path w="5378450" h="2862579">
                  <a:moveTo>
                    <a:pt x="0" y="2862072"/>
                  </a:moveTo>
                  <a:lnTo>
                    <a:pt x="5378196" y="2862072"/>
                  </a:lnTo>
                  <a:lnTo>
                    <a:pt x="5378196" y="0"/>
                  </a:lnTo>
                  <a:lnTo>
                    <a:pt x="0" y="0"/>
                  </a:lnTo>
                  <a:lnTo>
                    <a:pt x="0" y="286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765804" y="4075175"/>
              <a:ext cx="5378450" cy="12700"/>
            </a:xfrm>
            <a:custGeom>
              <a:avLst/>
              <a:gdLst/>
              <a:ahLst/>
              <a:cxnLst/>
              <a:rect l="l" t="t" r="r" b="b"/>
              <a:pathLst>
                <a:path w="5378450" h="12700">
                  <a:moveTo>
                    <a:pt x="0" y="12192"/>
                  </a:moveTo>
                  <a:lnTo>
                    <a:pt x="5378196" y="12192"/>
                  </a:lnTo>
                  <a:lnTo>
                    <a:pt x="5378196" y="0"/>
                  </a:lnTo>
                  <a:lnTo>
                    <a:pt x="0" y="0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765804" y="1219199"/>
              <a:ext cx="5378450" cy="2862580"/>
            </a:xfrm>
            <a:custGeom>
              <a:avLst/>
              <a:gdLst/>
              <a:ahLst/>
              <a:cxnLst/>
              <a:rect l="l" t="t" r="r" b="b"/>
              <a:pathLst>
                <a:path w="5378450" h="2862579">
                  <a:moveTo>
                    <a:pt x="5378196" y="0"/>
                  </a:moveTo>
                  <a:lnTo>
                    <a:pt x="0" y="0"/>
                  </a:lnTo>
                  <a:lnTo>
                    <a:pt x="0" y="286207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58149" y="1224957"/>
            <a:ext cx="8978900" cy="66678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8770" indent="-382684">
              <a:spcBef>
                <a:spcPts val="140"/>
              </a:spcBef>
              <a:buFont typeface="Wingdings"/>
              <a:buChar char=""/>
              <a:tabLst>
                <a:tab pos="398770" algn="l"/>
                <a:tab pos="399617" algn="l"/>
              </a:tabLst>
            </a:pPr>
            <a:r>
              <a:rPr spc="-213" dirty="0">
                <a:latin typeface="Arial Black"/>
                <a:cs typeface="Arial Black"/>
              </a:rPr>
              <a:t>Networking </a:t>
            </a:r>
            <a:r>
              <a:rPr spc="-193" dirty="0">
                <a:solidFill>
                  <a:srgbClr val="2B8738"/>
                </a:solidFill>
                <a:latin typeface="Arial Black"/>
                <a:cs typeface="Arial Black"/>
              </a:rPr>
              <a:t>should </a:t>
            </a:r>
            <a:r>
              <a:rPr spc="-200" dirty="0">
                <a:latin typeface="Arial Black"/>
                <a:cs typeface="Arial Black"/>
              </a:rPr>
              <a:t>function </a:t>
            </a:r>
            <a:r>
              <a:rPr spc="-152" dirty="0">
                <a:latin typeface="Arial Black"/>
                <a:cs typeface="Arial Black"/>
              </a:rPr>
              <a:t>for </a:t>
            </a:r>
            <a:r>
              <a:rPr spc="-147" dirty="0">
                <a:latin typeface="Arial Black"/>
                <a:cs typeface="Arial Black"/>
              </a:rPr>
              <a:t>intra-pod </a:t>
            </a:r>
            <a:r>
              <a:rPr spc="-227" dirty="0">
                <a:latin typeface="Arial Black"/>
                <a:cs typeface="Arial Black"/>
              </a:rPr>
              <a:t>communication</a:t>
            </a:r>
            <a:r>
              <a:rPr spc="-160" dirty="0">
                <a:latin typeface="Arial Black"/>
                <a:cs typeface="Arial Black"/>
              </a:rPr>
              <a:t> </a:t>
            </a:r>
            <a:r>
              <a:rPr spc="-173" dirty="0">
                <a:latin typeface="Arial Black"/>
                <a:cs typeface="Arial Black"/>
              </a:rPr>
              <a:t>(http)</a:t>
            </a:r>
            <a:endParaRPr>
              <a:latin typeface="Arial Black"/>
              <a:cs typeface="Arial Black"/>
            </a:endParaRPr>
          </a:p>
          <a:p>
            <a:pPr marL="4685336">
              <a:spcBef>
                <a:spcPts val="1259"/>
              </a:spcBef>
            </a:pPr>
            <a:r>
              <a:rPr sz="1333" spc="147" dirty="0">
                <a:solidFill>
                  <a:srgbClr val="BEBEBE"/>
                </a:solidFill>
                <a:latin typeface="Arial"/>
                <a:cs typeface="Arial"/>
              </a:rPr>
              <a:t>[sig-network] </a:t>
            </a:r>
            <a:r>
              <a:rPr sz="1333" spc="60" dirty="0">
                <a:solidFill>
                  <a:srgbClr val="BEBEBE"/>
                </a:solidFill>
                <a:latin typeface="Arial"/>
                <a:cs typeface="Arial"/>
              </a:rPr>
              <a:t>Networking </a:t>
            </a:r>
            <a:r>
              <a:rPr sz="1333" spc="80" dirty="0">
                <a:solidFill>
                  <a:srgbClr val="BEBEBE"/>
                </a:solidFill>
                <a:latin typeface="Arial"/>
                <a:cs typeface="Arial"/>
              </a:rPr>
              <a:t>Granular </a:t>
            </a:r>
            <a:r>
              <a:rPr sz="1333" spc="40" dirty="0">
                <a:solidFill>
                  <a:srgbClr val="BEBEBE"/>
                </a:solidFill>
                <a:latin typeface="Arial"/>
                <a:cs typeface="Arial"/>
              </a:rPr>
              <a:t>Checks:</a:t>
            </a:r>
            <a:r>
              <a:rPr sz="1333" spc="160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333" spc="-33" dirty="0">
                <a:solidFill>
                  <a:srgbClr val="BEBEBE"/>
                </a:solidFill>
                <a:latin typeface="Arial"/>
                <a:cs typeface="Arial"/>
              </a:rPr>
              <a:t>Pods</a:t>
            </a:r>
            <a:endParaRPr sz="1333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14187" y="1864359"/>
            <a:ext cx="692404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73" dirty="0">
                <a:solidFill>
                  <a:srgbClr val="BEBEBE"/>
                </a:solidFill>
                <a:latin typeface="Arial"/>
                <a:cs typeface="Arial"/>
              </a:rPr>
              <a:t>should </a:t>
            </a:r>
            <a:r>
              <a:rPr sz="1333" spc="140" dirty="0">
                <a:solidFill>
                  <a:srgbClr val="BEBEBE"/>
                </a:solidFill>
                <a:latin typeface="Arial"/>
                <a:cs typeface="Arial"/>
              </a:rPr>
              <a:t>function </a:t>
            </a:r>
            <a:r>
              <a:rPr sz="1333" spc="207" dirty="0">
                <a:solidFill>
                  <a:srgbClr val="BEBEBE"/>
                </a:solidFill>
                <a:latin typeface="Arial"/>
                <a:cs typeface="Arial"/>
              </a:rPr>
              <a:t>for </a:t>
            </a:r>
            <a:r>
              <a:rPr sz="1333" spc="147" dirty="0">
                <a:solidFill>
                  <a:srgbClr val="BEBEBE"/>
                </a:solidFill>
                <a:latin typeface="Arial"/>
                <a:cs typeface="Arial"/>
              </a:rPr>
              <a:t>intra-pod </a:t>
            </a:r>
            <a:r>
              <a:rPr sz="1333" spc="60" dirty="0">
                <a:solidFill>
                  <a:srgbClr val="BEBEBE"/>
                </a:solidFill>
                <a:latin typeface="Arial"/>
                <a:cs typeface="Arial"/>
              </a:rPr>
              <a:t>communication: </a:t>
            </a:r>
            <a:r>
              <a:rPr sz="1333" spc="173" dirty="0">
                <a:solidFill>
                  <a:srgbClr val="BEBEBE"/>
                </a:solidFill>
                <a:latin typeface="Arial"/>
                <a:cs typeface="Arial"/>
              </a:rPr>
              <a:t>http </a:t>
            </a:r>
            <a:r>
              <a:rPr sz="1333" spc="27" dirty="0">
                <a:solidFill>
                  <a:srgbClr val="BEBEBE"/>
                </a:solidFill>
                <a:latin typeface="Arial"/>
                <a:cs typeface="Arial"/>
              </a:rPr>
              <a:t>[NodeConformance]</a:t>
            </a:r>
            <a:r>
              <a:rPr sz="1333" spc="60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333" spc="67" dirty="0">
                <a:solidFill>
                  <a:srgbClr val="BEBEBE"/>
                </a:solidFill>
                <a:latin typeface="Arial"/>
                <a:cs typeface="Arial"/>
              </a:rPr>
              <a:t>[Confo</a:t>
            </a:r>
            <a:endParaRPr sz="1333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27244" y="2067898"/>
            <a:ext cx="347980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-47" dirty="0">
                <a:solidFill>
                  <a:srgbClr val="2B8738"/>
                </a:solidFill>
                <a:latin typeface="Arial"/>
                <a:cs typeface="Arial"/>
              </a:rPr>
              <a:t>STEP: </a:t>
            </a:r>
            <a:r>
              <a:rPr sz="1333" spc="133" dirty="0">
                <a:solidFill>
                  <a:srgbClr val="2B8738"/>
                </a:solidFill>
                <a:latin typeface="Arial"/>
                <a:cs typeface="Arial"/>
              </a:rPr>
              <a:t>Building </a:t>
            </a:r>
            <a:r>
              <a:rPr sz="1333" spc="-13" dirty="0">
                <a:solidFill>
                  <a:srgbClr val="2B8738"/>
                </a:solidFill>
                <a:latin typeface="Arial"/>
                <a:cs typeface="Arial"/>
              </a:rPr>
              <a:t>a </a:t>
            </a:r>
            <a:r>
              <a:rPr sz="1333" spc="-40" dirty="0">
                <a:solidFill>
                  <a:srgbClr val="2B8738"/>
                </a:solidFill>
                <a:latin typeface="Arial"/>
                <a:cs typeface="Arial"/>
              </a:rPr>
              <a:t>namespace </a:t>
            </a:r>
            <a:r>
              <a:rPr sz="1333" spc="133" dirty="0">
                <a:solidFill>
                  <a:srgbClr val="2B8738"/>
                </a:solidFill>
                <a:latin typeface="Arial"/>
                <a:cs typeface="Arial"/>
              </a:rPr>
              <a:t>api</a:t>
            </a:r>
            <a:r>
              <a:rPr sz="1333" spc="213" dirty="0">
                <a:solidFill>
                  <a:srgbClr val="2B8738"/>
                </a:solidFill>
                <a:latin typeface="Arial"/>
                <a:cs typeface="Arial"/>
              </a:rPr>
              <a:t> </a:t>
            </a:r>
            <a:r>
              <a:rPr sz="1333" spc="133" dirty="0">
                <a:solidFill>
                  <a:srgbClr val="2B8738"/>
                </a:solidFill>
                <a:latin typeface="Arial"/>
                <a:cs typeface="Arial"/>
              </a:rPr>
              <a:t>object</a:t>
            </a:r>
            <a:endParaRPr sz="1333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7245" y="2271098"/>
            <a:ext cx="7111153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-47" dirty="0">
                <a:solidFill>
                  <a:srgbClr val="BEBEBE"/>
                </a:solidFill>
                <a:latin typeface="Arial"/>
                <a:cs typeface="Arial"/>
              </a:rPr>
              <a:t>STEP: </a:t>
            </a:r>
            <a:r>
              <a:rPr sz="1333" spc="73" dirty="0">
                <a:solidFill>
                  <a:srgbClr val="BEBEBE"/>
                </a:solidFill>
                <a:latin typeface="Arial"/>
                <a:cs typeface="Arial"/>
              </a:rPr>
              <a:t>Performing setup </a:t>
            </a:r>
            <a:r>
              <a:rPr sz="1333" spc="207" dirty="0">
                <a:solidFill>
                  <a:srgbClr val="BEBEBE"/>
                </a:solidFill>
                <a:latin typeface="Arial"/>
                <a:cs typeface="Arial"/>
              </a:rPr>
              <a:t>for </a:t>
            </a:r>
            <a:r>
              <a:rPr sz="1333" spc="80" dirty="0">
                <a:solidFill>
                  <a:srgbClr val="BEBEBE"/>
                </a:solidFill>
                <a:latin typeface="Arial"/>
                <a:cs typeface="Arial"/>
              </a:rPr>
              <a:t>networking </a:t>
            </a:r>
            <a:r>
              <a:rPr sz="1333" spc="187" dirty="0">
                <a:solidFill>
                  <a:srgbClr val="BEBEBE"/>
                </a:solidFill>
                <a:latin typeface="Arial"/>
                <a:cs typeface="Arial"/>
              </a:rPr>
              <a:t>test </a:t>
            </a:r>
            <a:r>
              <a:rPr sz="1333" spc="200" dirty="0">
                <a:solidFill>
                  <a:srgbClr val="BEBEBE"/>
                </a:solidFill>
                <a:latin typeface="Arial"/>
                <a:cs typeface="Arial"/>
              </a:rPr>
              <a:t>in </a:t>
            </a:r>
            <a:r>
              <a:rPr sz="1333" spc="-40" dirty="0">
                <a:solidFill>
                  <a:srgbClr val="BEBEBE"/>
                </a:solidFill>
                <a:latin typeface="Arial"/>
                <a:cs typeface="Arial"/>
              </a:rPr>
              <a:t>namespace</a:t>
            </a:r>
            <a:r>
              <a:rPr sz="1333" spc="272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333" spc="93" dirty="0">
                <a:solidFill>
                  <a:srgbClr val="BEBEBE"/>
                </a:solidFill>
                <a:latin typeface="Arial"/>
                <a:cs typeface="Arial"/>
              </a:rPr>
              <a:t>e2e-tests-pod-networ</a:t>
            </a:r>
            <a:endParaRPr sz="133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27244" y="2474298"/>
            <a:ext cx="711200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-40" dirty="0">
                <a:solidFill>
                  <a:srgbClr val="BEBEBE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BEBEBE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11:35:19.315: </a:t>
            </a:r>
            <a:r>
              <a:rPr sz="1333" spc="13" dirty="0">
                <a:solidFill>
                  <a:srgbClr val="BEBEBE"/>
                </a:solidFill>
                <a:latin typeface="Arial"/>
                <a:cs typeface="Arial"/>
              </a:rPr>
              <a:t>INFO: </a:t>
            </a:r>
            <a:r>
              <a:rPr sz="1333" spc="87" dirty="0">
                <a:solidFill>
                  <a:srgbClr val="BEBEBE"/>
                </a:solidFill>
                <a:latin typeface="Arial"/>
                <a:cs typeface="Arial"/>
              </a:rPr>
              <a:t>Waiting </a:t>
            </a:r>
            <a:r>
              <a:rPr sz="1333" spc="-20" dirty="0">
                <a:solidFill>
                  <a:srgbClr val="BEBEBE"/>
                </a:solidFill>
                <a:latin typeface="Arial"/>
                <a:cs typeface="Arial"/>
              </a:rPr>
              <a:t>up </a:t>
            </a:r>
            <a:r>
              <a:rPr sz="1333" spc="173" dirty="0">
                <a:solidFill>
                  <a:srgbClr val="BEBEBE"/>
                </a:solidFill>
                <a:latin typeface="Arial"/>
                <a:cs typeface="Arial"/>
              </a:rPr>
              <a:t>to </a:t>
            </a:r>
            <a:r>
              <a:rPr sz="1333" spc="-80" dirty="0">
                <a:solidFill>
                  <a:srgbClr val="BEBEBE"/>
                </a:solidFill>
                <a:latin typeface="Arial"/>
                <a:cs typeface="Arial"/>
              </a:rPr>
              <a:t>10m0s </a:t>
            </a:r>
            <a:r>
              <a:rPr sz="1333" spc="207" dirty="0">
                <a:solidFill>
                  <a:srgbClr val="BEBEBE"/>
                </a:solidFill>
                <a:latin typeface="Arial"/>
                <a:cs typeface="Arial"/>
              </a:rPr>
              <a:t>for </a:t>
            </a:r>
            <a:r>
              <a:rPr sz="1333" spc="280" dirty="0">
                <a:solidFill>
                  <a:srgbClr val="BEBEBE"/>
                </a:solidFill>
                <a:latin typeface="Arial"/>
                <a:cs typeface="Arial"/>
              </a:rPr>
              <a:t>all </a:t>
            </a:r>
            <a:r>
              <a:rPr sz="1333" spc="147" dirty="0">
                <a:solidFill>
                  <a:srgbClr val="BEBEBE"/>
                </a:solidFill>
                <a:latin typeface="Arial"/>
                <a:cs typeface="Arial"/>
              </a:rPr>
              <a:t>(but </a:t>
            </a:r>
            <a:r>
              <a:rPr sz="1333" spc="133" dirty="0">
                <a:solidFill>
                  <a:srgbClr val="BEBEBE"/>
                </a:solidFill>
                <a:latin typeface="Arial"/>
                <a:cs typeface="Arial"/>
              </a:rPr>
              <a:t>0) </a:t>
            </a:r>
            <a:r>
              <a:rPr sz="1333" spc="-7" dirty="0">
                <a:solidFill>
                  <a:srgbClr val="BEBEBE"/>
                </a:solidFill>
                <a:latin typeface="Arial"/>
                <a:cs typeface="Arial"/>
              </a:rPr>
              <a:t>nodes </a:t>
            </a:r>
            <a:r>
              <a:rPr sz="1333" spc="173" dirty="0">
                <a:solidFill>
                  <a:srgbClr val="BEBEBE"/>
                </a:solidFill>
                <a:latin typeface="Arial"/>
                <a:cs typeface="Arial"/>
              </a:rPr>
              <a:t>to </a:t>
            </a:r>
            <a:r>
              <a:rPr sz="1333" spc="-13" dirty="0">
                <a:solidFill>
                  <a:srgbClr val="BEBEBE"/>
                </a:solidFill>
                <a:latin typeface="Arial"/>
                <a:cs typeface="Arial"/>
              </a:rPr>
              <a:t>be</a:t>
            </a:r>
            <a:r>
              <a:rPr sz="1333" spc="107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333" spc="60" dirty="0">
                <a:solidFill>
                  <a:srgbClr val="BEBEBE"/>
                </a:solidFill>
                <a:latin typeface="Arial"/>
                <a:cs typeface="Arial"/>
              </a:rPr>
              <a:t>s</a:t>
            </a:r>
            <a:endParaRPr sz="1333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27245" y="2677498"/>
            <a:ext cx="2269913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-47" dirty="0">
                <a:solidFill>
                  <a:srgbClr val="2B8738"/>
                </a:solidFill>
                <a:latin typeface="Arial"/>
                <a:cs typeface="Arial"/>
              </a:rPr>
              <a:t>STEP: </a:t>
            </a:r>
            <a:r>
              <a:rPr sz="1333" spc="93" dirty="0">
                <a:solidFill>
                  <a:srgbClr val="2B8738"/>
                </a:solidFill>
                <a:latin typeface="Arial"/>
                <a:cs typeface="Arial"/>
              </a:rPr>
              <a:t>Creating </a:t>
            </a:r>
            <a:r>
              <a:rPr sz="1333" spc="187" dirty="0">
                <a:solidFill>
                  <a:srgbClr val="2B8738"/>
                </a:solidFill>
                <a:latin typeface="Arial"/>
                <a:cs typeface="Arial"/>
              </a:rPr>
              <a:t>test</a:t>
            </a:r>
            <a:r>
              <a:rPr sz="1333" spc="213" dirty="0">
                <a:solidFill>
                  <a:srgbClr val="2B8738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2B8738"/>
                </a:solidFill>
                <a:latin typeface="Arial"/>
                <a:cs typeface="Arial"/>
              </a:rPr>
              <a:t>pods</a:t>
            </a:r>
            <a:endParaRPr sz="1333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27244" y="2880698"/>
            <a:ext cx="711200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-40" dirty="0">
                <a:solidFill>
                  <a:srgbClr val="BEBEBE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BEBEBE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11:35:39.522: </a:t>
            </a:r>
            <a:r>
              <a:rPr sz="1333" spc="13" dirty="0">
                <a:solidFill>
                  <a:srgbClr val="BEBEBE"/>
                </a:solidFill>
                <a:latin typeface="Arial"/>
                <a:cs typeface="Arial"/>
              </a:rPr>
              <a:t>INFO: </a:t>
            </a:r>
            <a:r>
              <a:rPr sz="1333" spc="47" dirty="0">
                <a:solidFill>
                  <a:srgbClr val="2B8738"/>
                </a:solidFill>
                <a:latin typeface="Arial"/>
                <a:cs typeface="Arial"/>
              </a:rPr>
              <a:t>ExecWithOptions </a:t>
            </a:r>
            <a:r>
              <a:rPr sz="1333" spc="60" dirty="0">
                <a:solidFill>
                  <a:srgbClr val="BEBEBE"/>
                </a:solidFill>
                <a:latin typeface="Arial"/>
                <a:cs typeface="Arial"/>
              </a:rPr>
              <a:t>{Command:[/bin/sh </a:t>
            </a:r>
            <a:r>
              <a:rPr sz="1333" spc="173" dirty="0">
                <a:solidFill>
                  <a:srgbClr val="BEBEBE"/>
                </a:solidFill>
                <a:latin typeface="Arial"/>
                <a:cs typeface="Arial"/>
              </a:rPr>
              <a:t>-c </a:t>
            </a:r>
            <a:r>
              <a:rPr sz="1333" spc="187" dirty="0">
                <a:solidFill>
                  <a:srgbClr val="2B8738"/>
                </a:solidFill>
                <a:latin typeface="Arial"/>
                <a:cs typeface="Arial"/>
              </a:rPr>
              <a:t>curl </a:t>
            </a:r>
            <a:r>
              <a:rPr sz="1333" spc="133" dirty="0">
                <a:solidFill>
                  <a:srgbClr val="BEBEBE"/>
                </a:solidFill>
                <a:latin typeface="Arial"/>
                <a:cs typeface="Arial"/>
              </a:rPr>
              <a:t>-g -q</a:t>
            </a:r>
            <a:r>
              <a:rPr sz="1333" spc="152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333" spc="280" dirty="0">
                <a:solidFill>
                  <a:srgbClr val="BEBEBE"/>
                </a:solidFill>
                <a:latin typeface="Arial"/>
                <a:cs typeface="Arial"/>
              </a:rPr>
              <a:t>-</a:t>
            </a:r>
            <a:endParaRPr sz="1333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27244" y="3083898"/>
            <a:ext cx="711200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'http://</a:t>
            </a:r>
            <a:r>
              <a:rPr sz="1333" spc="100" dirty="0">
                <a:solidFill>
                  <a:srgbClr val="2B8738"/>
                </a:solidFill>
                <a:latin typeface="Arial"/>
                <a:cs typeface="Arial"/>
              </a:rPr>
              <a:t>10.32.0.8</a:t>
            </a: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:8080/dial?request=hostName&amp;protocol=</a:t>
            </a:r>
            <a:r>
              <a:rPr sz="1333" spc="100" dirty="0">
                <a:solidFill>
                  <a:srgbClr val="2B8738"/>
                </a:solidFill>
                <a:latin typeface="Arial"/>
                <a:cs typeface="Arial"/>
              </a:rPr>
              <a:t>http</a:t>
            </a: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&amp;host=</a:t>
            </a:r>
            <a:r>
              <a:rPr sz="1333" spc="100" dirty="0">
                <a:solidFill>
                  <a:srgbClr val="2B8738"/>
                </a:solidFill>
                <a:latin typeface="Arial"/>
                <a:cs typeface="Arial"/>
              </a:rPr>
              <a:t>10.32.0.7</a:t>
            </a: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&amp;po</a:t>
            </a:r>
            <a:endParaRPr sz="1333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27244" y="3287098"/>
            <a:ext cx="711200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133" dirty="0">
                <a:solidFill>
                  <a:srgbClr val="BEBEBE"/>
                </a:solidFill>
                <a:latin typeface="Arial"/>
                <a:cs typeface="Arial"/>
              </a:rPr>
              <a:t>drstd </a:t>
            </a:r>
            <a:r>
              <a:rPr sz="1333" spc="80" dirty="0">
                <a:solidFill>
                  <a:srgbClr val="BEBEBE"/>
                </a:solidFill>
                <a:latin typeface="Arial"/>
                <a:cs typeface="Arial"/>
              </a:rPr>
              <a:t>PodName:host-test-container-pod </a:t>
            </a:r>
            <a:r>
              <a:rPr sz="1333" spc="40" dirty="0">
                <a:solidFill>
                  <a:srgbClr val="BEBEBE"/>
                </a:solidFill>
                <a:latin typeface="Arial"/>
                <a:cs typeface="Arial"/>
              </a:rPr>
              <a:t>ContainerName:hostexec </a:t>
            </a:r>
            <a:r>
              <a:rPr sz="1333" spc="152" dirty="0">
                <a:solidFill>
                  <a:srgbClr val="BEBEBE"/>
                </a:solidFill>
                <a:latin typeface="Arial"/>
                <a:cs typeface="Arial"/>
              </a:rPr>
              <a:t>Stdin:&lt;nil&gt;</a:t>
            </a:r>
            <a:r>
              <a:rPr sz="1333" spc="-7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333" spc="-93" dirty="0">
                <a:solidFill>
                  <a:srgbClr val="BEBEBE"/>
                </a:solidFill>
                <a:latin typeface="Arial"/>
                <a:cs typeface="Arial"/>
              </a:rPr>
              <a:t>Cap</a:t>
            </a:r>
            <a:endParaRPr sz="1333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27244" y="3490636"/>
            <a:ext cx="5715000" cy="63160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87" dirty="0">
                <a:solidFill>
                  <a:srgbClr val="BEBEBE"/>
                </a:solidFill>
                <a:latin typeface="Arial"/>
                <a:cs typeface="Arial"/>
              </a:rPr>
              <a:t>PreserveWhitespace:false}</a:t>
            </a:r>
            <a:endParaRPr sz="1333">
              <a:latin typeface="Arial"/>
              <a:cs typeface="Arial"/>
            </a:endParaRPr>
          </a:p>
          <a:p>
            <a:pPr marL="16933" marR="6773"/>
            <a:r>
              <a:rPr sz="1333" spc="-40" dirty="0">
                <a:solidFill>
                  <a:srgbClr val="BEBEBE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BEBEBE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11:35:39.522: </a:t>
            </a:r>
            <a:r>
              <a:rPr sz="1333" spc="13" dirty="0">
                <a:solidFill>
                  <a:srgbClr val="BEBEBE"/>
                </a:solidFill>
                <a:latin typeface="Arial"/>
                <a:cs typeface="Arial"/>
              </a:rPr>
              <a:t>INFO: </a:t>
            </a:r>
            <a:r>
              <a:rPr sz="1333" spc="-53" dirty="0">
                <a:solidFill>
                  <a:srgbClr val="BEBEBE"/>
                </a:solidFill>
                <a:latin typeface="Arial"/>
                <a:cs typeface="Arial"/>
              </a:rPr>
              <a:t>&gt;&gt;&gt; </a:t>
            </a:r>
            <a:r>
              <a:rPr sz="1333" spc="80" dirty="0">
                <a:solidFill>
                  <a:srgbClr val="BEBEBE"/>
                </a:solidFill>
                <a:latin typeface="Arial"/>
                <a:cs typeface="Arial"/>
              </a:rPr>
              <a:t>kubeConfig: </a:t>
            </a:r>
            <a:r>
              <a:rPr sz="1333" spc="160" dirty="0">
                <a:solidFill>
                  <a:srgbClr val="BEBEBE"/>
                </a:solidFill>
                <a:latin typeface="Arial"/>
                <a:cs typeface="Arial"/>
              </a:rPr>
              <a:t>/root/.kube/config  </a:t>
            </a:r>
            <a:r>
              <a:rPr sz="1333" spc="-40" dirty="0">
                <a:solidFill>
                  <a:srgbClr val="BEBEBE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BEBEBE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11:35:39.656: </a:t>
            </a:r>
            <a:r>
              <a:rPr sz="1333" spc="13" dirty="0">
                <a:solidFill>
                  <a:srgbClr val="BEBEBE"/>
                </a:solidFill>
                <a:latin typeface="Arial"/>
                <a:cs typeface="Arial"/>
              </a:rPr>
              <a:t>INFO: </a:t>
            </a:r>
            <a:r>
              <a:rPr sz="1333" spc="87" dirty="0">
                <a:solidFill>
                  <a:srgbClr val="BEBEBE"/>
                </a:solidFill>
                <a:latin typeface="Arial"/>
                <a:cs typeface="Arial"/>
              </a:rPr>
              <a:t>Waiting </a:t>
            </a:r>
            <a:r>
              <a:rPr sz="1333" spc="207" dirty="0">
                <a:solidFill>
                  <a:srgbClr val="BEBEBE"/>
                </a:solidFill>
                <a:latin typeface="Arial"/>
                <a:cs typeface="Arial"/>
              </a:rPr>
              <a:t>for </a:t>
            </a:r>
            <a:r>
              <a:rPr sz="1333" spc="107" dirty="0">
                <a:solidFill>
                  <a:srgbClr val="BEBEBE"/>
                </a:solidFill>
                <a:latin typeface="Arial"/>
                <a:cs typeface="Arial"/>
              </a:rPr>
              <a:t>endpoints:</a:t>
            </a:r>
            <a:r>
              <a:rPr sz="1333" spc="227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333" spc="60" dirty="0">
                <a:solidFill>
                  <a:srgbClr val="BEBEBE"/>
                </a:solidFill>
                <a:latin typeface="Arial"/>
                <a:cs typeface="Arial"/>
              </a:rPr>
              <a:t>map[]</a:t>
            </a:r>
            <a:endParaRPr sz="1333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27244" y="4100237"/>
            <a:ext cx="7112000" cy="1246966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6773" algn="just">
              <a:spcBef>
                <a:spcPts val="127"/>
              </a:spcBef>
            </a:pPr>
            <a:r>
              <a:rPr sz="1333" spc="-40" dirty="0">
                <a:solidFill>
                  <a:srgbClr val="BEBEBE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BEBEBE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11:35:39.660: </a:t>
            </a:r>
            <a:r>
              <a:rPr sz="1333" spc="13" dirty="0">
                <a:solidFill>
                  <a:srgbClr val="BEBEBE"/>
                </a:solidFill>
                <a:latin typeface="Arial"/>
                <a:cs typeface="Arial"/>
              </a:rPr>
              <a:t>INFO: </a:t>
            </a:r>
            <a:r>
              <a:rPr sz="1333" spc="47" dirty="0">
                <a:solidFill>
                  <a:srgbClr val="BEBEBE"/>
                </a:solidFill>
                <a:latin typeface="Arial"/>
                <a:cs typeface="Arial"/>
              </a:rPr>
              <a:t>ExecWithOptions </a:t>
            </a:r>
            <a:r>
              <a:rPr sz="1333" spc="60" dirty="0">
                <a:solidFill>
                  <a:srgbClr val="BEBEBE"/>
                </a:solidFill>
                <a:latin typeface="Arial"/>
                <a:cs typeface="Arial"/>
              </a:rPr>
              <a:t>{Command:[/bin/sh </a:t>
            </a:r>
            <a:r>
              <a:rPr sz="1333" spc="173" dirty="0">
                <a:solidFill>
                  <a:srgbClr val="BEBEBE"/>
                </a:solidFill>
                <a:latin typeface="Arial"/>
                <a:cs typeface="Arial"/>
              </a:rPr>
              <a:t>-c </a:t>
            </a:r>
            <a:r>
              <a:rPr sz="1333" spc="187" dirty="0">
                <a:solidFill>
                  <a:srgbClr val="BEBEBE"/>
                </a:solidFill>
                <a:latin typeface="Arial"/>
                <a:cs typeface="Arial"/>
              </a:rPr>
              <a:t>curl </a:t>
            </a:r>
            <a:r>
              <a:rPr sz="1333" spc="133" dirty="0">
                <a:solidFill>
                  <a:srgbClr val="BEBEBE"/>
                </a:solidFill>
                <a:latin typeface="Arial"/>
                <a:cs typeface="Arial"/>
              </a:rPr>
              <a:t>-g -q </a:t>
            </a:r>
            <a:r>
              <a:rPr sz="1333" spc="280" dirty="0">
                <a:solidFill>
                  <a:srgbClr val="BEBEBE"/>
                </a:solidFill>
                <a:latin typeface="Arial"/>
                <a:cs typeface="Arial"/>
              </a:rPr>
              <a:t>-  </a:t>
            </a: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'http://</a:t>
            </a:r>
            <a:r>
              <a:rPr sz="1333" spc="100" dirty="0">
                <a:solidFill>
                  <a:srgbClr val="2B8738"/>
                </a:solidFill>
                <a:latin typeface="Arial"/>
                <a:cs typeface="Arial"/>
              </a:rPr>
              <a:t>10.32.0.8</a:t>
            </a: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:8080/dial?request=hostName&amp;protocol=http&amp;host=</a:t>
            </a:r>
            <a:r>
              <a:rPr sz="1333" spc="100" dirty="0">
                <a:solidFill>
                  <a:srgbClr val="2B8738"/>
                </a:solidFill>
                <a:latin typeface="Arial"/>
                <a:cs typeface="Arial"/>
              </a:rPr>
              <a:t>10.38.0.12</a:t>
            </a: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&amp;p  </a:t>
            </a:r>
            <a:r>
              <a:rPr sz="1333" spc="133" dirty="0">
                <a:solidFill>
                  <a:srgbClr val="BEBEBE"/>
                </a:solidFill>
                <a:latin typeface="Arial"/>
                <a:cs typeface="Arial"/>
              </a:rPr>
              <a:t>drstd </a:t>
            </a:r>
            <a:r>
              <a:rPr sz="1333" spc="80" dirty="0">
                <a:solidFill>
                  <a:srgbClr val="BEBEBE"/>
                </a:solidFill>
                <a:latin typeface="Arial"/>
                <a:cs typeface="Arial"/>
              </a:rPr>
              <a:t>PodName:host-test-container-pod </a:t>
            </a:r>
            <a:r>
              <a:rPr sz="1333" spc="40" dirty="0">
                <a:solidFill>
                  <a:srgbClr val="BEBEBE"/>
                </a:solidFill>
                <a:latin typeface="Arial"/>
                <a:cs typeface="Arial"/>
              </a:rPr>
              <a:t>ContainerName:hostexec </a:t>
            </a:r>
            <a:r>
              <a:rPr sz="1333" spc="152" dirty="0">
                <a:solidFill>
                  <a:srgbClr val="BEBEBE"/>
                </a:solidFill>
                <a:latin typeface="Arial"/>
                <a:cs typeface="Arial"/>
              </a:rPr>
              <a:t>Stdin:&lt;nil&gt; </a:t>
            </a:r>
            <a:r>
              <a:rPr sz="1333" spc="-93" dirty="0">
                <a:solidFill>
                  <a:srgbClr val="BEBEBE"/>
                </a:solidFill>
                <a:latin typeface="Arial"/>
                <a:cs typeface="Arial"/>
              </a:rPr>
              <a:t>Cap  </a:t>
            </a:r>
            <a:r>
              <a:rPr sz="1333" spc="87" dirty="0">
                <a:solidFill>
                  <a:srgbClr val="BEBEBE"/>
                </a:solidFill>
                <a:latin typeface="Arial"/>
                <a:cs typeface="Arial"/>
              </a:rPr>
              <a:t>PreserveWhitespace:false}</a:t>
            </a:r>
            <a:endParaRPr sz="1333">
              <a:latin typeface="Arial"/>
              <a:cs typeface="Arial"/>
            </a:endParaRPr>
          </a:p>
          <a:p>
            <a:pPr marL="16933" algn="just"/>
            <a:r>
              <a:rPr sz="1333" spc="-40" dirty="0">
                <a:solidFill>
                  <a:srgbClr val="BEBEBE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BEBEBE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BEBEBE"/>
                </a:solidFill>
                <a:latin typeface="Arial"/>
                <a:cs typeface="Arial"/>
              </a:rPr>
              <a:t>11:35:39.660: </a:t>
            </a:r>
            <a:r>
              <a:rPr sz="1333" spc="13" dirty="0">
                <a:solidFill>
                  <a:srgbClr val="BEBEBE"/>
                </a:solidFill>
                <a:latin typeface="Arial"/>
                <a:cs typeface="Arial"/>
              </a:rPr>
              <a:t>INFO: </a:t>
            </a:r>
            <a:r>
              <a:rPr sz="1333" spc="-53" dirty="0">
                <a:solidFill>
                  <a:srgbClr val="BEBEBE"/>
                </a:solidFill>
                <a:latin typeface="Arial"/>
                <a:cs typeface="Arial"/>
              </a:rPr>
              <a:t>&gt;&gt;&gt; </a:t>
            </a:r>
            <a:r>
              <a:rPr sz="1333" spc="80" dirty="0">
                <a:solidFill>
                  <a:srgbClr val="BEBEBE"/>
                </a:solidFill>
                <a:latin typeface="Arial"/>
                <a:cs typeface="Arial"/>
              </a:rPr>
              <a:t>kubeConfig:</a:t>
            </a:r>
            <a:r>
              <a:rPr sz="1333" spc="287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333" spc="160" dirty="0">
                <a:solidFill>
                  <a:srgbClr val="BEBEBE"/>
                </a:solidFill>
                <a:latin typeface="Arial"/>
                <a:cs typeface="Arial"/>
              </a:rPr>
              <a:t>/root/.kube/config</a:t>
            </a:r>
            <a:endParaRPr sz="1333">
              <a:latin typeface="Arial"/>
              <a:cs typeface="Arial"/>
            </a:endParaRPr>
          </a:p>
          <a:p>
            <a:pPr marL="16933" algn="just"/>
            <a:r>
              <a:rPr sz="1333" spc="-47" dirty="0">
                <a:solidFill>
                  <a:srgbClr val="2B8738"/>
                </a:solidFill>
                <a:latin typeface="Arial"/>
                <a:cs typeface="Arial"/>
              </a:rPr>
              <a:t>STEP: </a:t>
            </a:r>
            <a:r>
              <a:rPr sz="1333" spc="87" dirty="0">
                <a:solidFill>
                  <a:srgbClr val="2B8738"/>
                </a:solidFill>
                <a:latin typeface="Arial"/>
                <a:cs typeface="Arial"/>
              </a:rPr>
              <a:t>Destroying </a:t>
            </a:r>
            <a:r>
              <a:rPr sz="1333" spc="-40" dirty="0">
                <a:solidFill>
                  <a:srgbClr val="2B8738"/>
                </a:solidFill>
                <a:latin typeface="Arial"/>
                <a:cs typeface="Arial"/>
              </a:rPr>
              <a:t>namespace </a:t>
            </a:r>
            <a:r>
              <a:rPr sz="1333" spc="133" dirty="0">
                <a:solidFill>
                  <a:srgbClr val="BEBEBE"/>
                </a:solidFill>
                <a:latin typeface="Arial"/>
                <a:cs typeface="Arial"/>
              </a:rPr>
              <a:t>"e2e-tests-pod-network-test-drstd" </a:t>
            </a:r>
            <a:r>
              <a:rPr sz="1333" spc="207" dirty="0">
                <a:solidFill>
                  <a:srgbClr val="BEBEBE"/>
                </a:solidFill>
                <a:latin typeface="Arial"/>
                <a:cs typeface="Arial"/>
              </a:rPr>
              <a:t>for this</a:t>
            </a:r>
            <a:r>
              <a:rPr sz="1333" spc="253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333" spc="160" dirty="0">
                <a:solidFill>
                  <a:srgbClr val="BEBEBE"/>
                </a:solidFill>
                <a:latin typeface="Arial"/>
                <a:cs typeface="Arial"/>
              </a:rPr>
              <a:t>suite</a:t>
            </a:r>
            <a:endParaRPr sz="1333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21165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621876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53" dirty="0">
                <a:solidFill>
                  <a:srgbClr val="115F92"/>
                </a:solidFill>
              </a:rPr>
              <a:t>Kubernetes</a:t>
            </a:r>
            <a:r>
              <a:rPr spc="-380" dirty="0">
                <a:solidFill>
                  <a:srgbClr val="115F92"/>
                </a:solidFill>
              </a:rPr>
              <a:t> </a:t>
            </a:r>
            <a:r>
              <a:rPr spc="-33" dirty="0">
                <a:solidFill>
                  <a:srgbClr val="115F92"/>
                </a:solidFill>
              </a:rPr>
              <a:t>Test-Infra</a:t>
            </a:r>
            <a:endParaRPr dirty="0"/>
          </a:p>
        </p:txBody>
      </p:sp>
      <p:grpSp>
        <p:nvGrpSpPr>
          <p:cNvPr id="4" name="object 4"/>
          <p:cNvGrpSpPr/>
          <p:nvPr/>
        </p:nvGrpSpPr>
        <p:grpSpPr>
          <a:xfrm>
            <a:off x="1956815" y="1867391"/>
            <a:ext cx="2346960" cy="1028700"/>
            <a:chOff x="1467611" y="1400543"/>
            <a:chExt cx="1760220" cy="771525"/>
          </a:xfrm>
        </p:grpSpPr>
        <p:sp>
          <p:nvSpPr>
            <p:cNvPr id="5" name="object 5"/>
            <p:cNvSpPr/>
            <p:nvPr/>
          </p:nvSpPr>
          <p:spPr>
            <a:xfrm>
              <a:off x="1467611" y="1400543"/>
              <a:ext cx="1760220" cy="7711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909571" y="1485925"/>
              <a:ext cx="923569" cy="64767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527047" y="1440179"/>
              <a:ext cx="1645920" cy="6583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12457" y="2143928"/>
            <a:ext cx="7086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280" dirty="0">
                <a:solidFill>
                  <a:srgbClr val="FFFFFF"/>
                </a:solidFill>
                <a:latin typeface="Arial Black"/>
                <a:cs typeface="Arial Black"/>
              </a:rPr>
              <a:t>Build</a:t>
            </a:r>
            <a:endParaRPr sz="24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31920" y="1867391"/>
            <a:ext cx="4322233" cy="1028700"/>
            <a:chOff x="2948939" y="1400543"/>
            <a:chExt cx="3241675" cy="771525"/>
          </a:xfrm>
        </p:grpSpPr>
        <p:sp>
          <p:nvSpPr>
            <p:cNvPr id="10" name="object 10"/>
            <p:cNvSpPr/>
            <p:nvPr/>
          </p:nvSpPr>
          <p:spPr>
            <a:xfrm>
              <a:off x="2948939" y="1400543"/>
              <a:ext cx="1760219" cy="7711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285743" y="1485925"/>
              <a:ext cx="1132319" cy="6476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008375" y="1440179"/>
              <a:ext cx="1645920" cy="6583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430267" y="1400543"/>
              <a:ext cx="1760219" cy="7711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928616" y="1485925"/>
              <a:ext cx="810755" cy="6476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4489703" y="1440179"/>
              <a:ext cx="1645920" cy="6583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647693" y="2143928"/>
            <a:ext cx="274658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2207205" algn="l"/>
              </a:tabLst>
            </a:pPr>
            <a:r>
              <a:rPr sz="2400" spc="-293" dirty="0">
                <a:solidFill>
                  <a:srgbClr val="FFFFFF"/>
                </a:solidFill>
                <a:latin typeface="Arial Black"/>
                <a:cs typeface="Arial Black"/>
              </a:rPr>
              <a:t>D</a:t>
            </a:r>
            <a:r>
              <a:rPr sz="2400" spc="-26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2400" spc="-272" dirty="0">
                <a:solidFill>
                  <a:srgbClr val="FFFFFF"/>
                </a:solidFill>
                <a:latin typeface="Arial Black"/>
                <a:cs typeface="Arial Black"/>
              </a:rPr>
              <a:t>p</a:t>
            </a:r>
            <a:r>
              <a:rPr sz="2400" spc="-152" dirty="0">
                <a:solidFill>
                  <a:srgbClr val="FFFFFF"/>
                </a:solidFill>
                <a:latin typeface="Arial Black"/>
                <a:cs typeface="Arial Black"/>
              </a:rPr>
              <a:t>l</a:t>
            </a:r>
            <a:r>
              <a:rPr sz="2400" spc="-253" dirty="0">
                <a:solidFill>
                  <a:srgbClr val="FFFFFF"/>
                </a:solidFill>
                <a:latin typeface="Arial Black"/>
                <a:cs typeface="Arial Black"/>
              </a:rPr>
              <a:t>oy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2400" spc="-713" dirty="0">
                <a:solidFill>
                  <a:srgbClr val="FFFFFF"/>
                </a:solidFill>
                <a:latin typeface="Arial Black"/>
                <a:cs typeface="Arial Black"/>
              </a:rPr>
              <a:t>T</a:t>
            </a:r>
            <a:r>
              <a:rPr sz="2400" spc="-360" dirty="0">
                <a:solidFill>
                  <a:srgbClr val="FFFFFF"/>
                </a:solidFill>
                <a:latin typeface="Arial Black"/>
                <a:cs typeface="Arial Black"/>
              </a:rPr>
              <a:t>est</a:t>
            </a:r>
            <a:endParaRPr sz="2400">
              <a:latin typeface="Arial Black"/>
              <a:cs typeface="Arial Black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882128" y="1867391"/>
            <a:ext cx="2346960" cy="1028700"/>
            <a:chOff x="5911596" y="1400543"/>
            <a:chExt cx="1760220" cy="771525"/>
          </a:xfrm>
        </p:grpSpPr>
        <p:sp>
          <p:nvSpPr>
            <p:cNvPr id="18" name="object 18"/>
            <p:cNvSpPr/>
            <p:nvPr/>
          </p:nvSpPr>
          <p:spPr>
            <a:xfrm>
              <a:off x="5911596" y="1400543"/>
              <a:ext cx="1760220" cy="7711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193536" y="1485925"/>
              <a:ext cx="1243596" cy="64767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5971032" y="1440179"/>
              <a:ext cx="1645919" cy="6583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525595" y="2143928"/>
            <a:ext cx="113453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305" dirty="0">
                <a:solidFill>
                  <a:srgbClr val="FFFFFF"/>
                </a:solidFill>
                <a:latin typeface="Arial Black"/>
                <a:cs typeface="Arial Black"/>
              </a:rPr>
              <a:t>Cl</a:t>
            </a:r>
            <a:r>
              <a:rPr sz="2400" spc="-373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2400" spc="-267" dirty="0">
                <a:solidFill>
                  <a:srgbClr val="FFFFFF"/>
                </a:solidFill>
                <a:latin typeface="Arial Black"/>
                <a:cs typeface="Arial Black"/>
              </a:rPr>
              <a:t>anup</a:t>
            </a:r>
            <a:endParaRPr sz="2400">
              <a:latin typeface="Arial Black"/>
              <a:cs typeface="Arial Black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644639" y="3354832"/>
            <a:ext cx="1704340" cy="3270673"/>
            <a:chOff x="4983479" y="2516123"/>
            <a:chExt cx="1278255" cy="2453005"/>
          </a:xfrm>
        </p:grpSpPr>
        <p:sp>
          <p:nvSpPr>
            <p:cNvPr id="23" name="object 23"/>
            <p:cNvSpPr/>
            <p:nvPr/>
          </p:nvSpPr>
          <p:spPr>
            <a:xfrm>
              <a:off x="4983479" y="2516123"/>
              <a:ext cx="1235964" cy="167182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5984443" y="4610823"/>
              <a:ext cx="276860" cy="358140"/>
            </a:xfrm>
            <a:custGeom>
              <a:avLst/>
              <a:gdLst/>
              <a:ahLst/>
              <a:cxnLst/>
              <a:rect l="l" t="t" r="r" b="b"/>
              <a:pathLst>
                <a:path w="276860" h="358139">
                  <a:moveTo>
                    <a:pt x="111620" y="129705"/>
                  </a:moveTo>
                  <a:lnTo>
                    <a:pt x="53568" y="129705"/>
                  </a:lnTo>
                  <a:lnTo>
                    <a:pt x="53568" y="147599"/>
                  </a:lnTo>
                  <a:lnTo>
                    <a:pt x="111620" y="147599"/>
                  </a:lnTo>
                  <a:lnTo>
                    <a:pt x="111620" y="129705"/>
                  </a:lnTo>
                  <a:close/>
                </a:path>
                <a:path w="276860" h="358139">
                  <a:moveTo>
                    <a:pt x="223227" y="272821"/>
                  </a:moveTo>
                  <a:lnTo>
                    <a:pt x="53568" y="272821"/>
                  </a:lnTo>
                  <a:lnTo>
                    <a:pt x="53568" y="290703"/>
                  </a:lnTo>
                  <a:lnTo>
                    <a:pt x="223227" y="290703"/>
                  </a:lnTo>
                  <a:lnTo>
                    <a:pt x="223227" y="272821"/>
                  </a:lnTo>
                  <a:close/>
                </a:path>
                <a:path w="276860" h="358139">
                  <a:moveTo>
                    <a:pt x="223227" y="237032"/>
                  </a:moveTo>
                  <a:lnTo>
                    <a:pt x="53568" y="237032"/>
                  </a:lnTo>
                  <a:lnTo>
                    <a:pt x="53568" y="254927"/>
                  </a:lnTo>
                  <a:lnTo>
                    <a:pt x="223227" y="254927"/>
                  </a:lnTo>
                  <a:lnTo>
                    <a:pt x="223227" y="237032"/>
                  </a:lnTo>
                  <a:close/>
                </a:path>
                <a:path w="276860" h="358139">
                  <a:moveTo>
                    <a:pt x="223227" y="201256"/>
                  </a:moveTo>
                  <a:lnTo>
                    <a:pt x="53568" y="201256"/>
                  </a:lnTo>
                  <a:lnTo>
                    <a:pt x="53568" y="219151"/>
                  </a:lnTo>
                  <a:lnTo>
                    <a:pt x="223227" y="219151"/>
                  </a:lnTo>
                  <a:lnTo>
                    <a:pt x="223227" y="201256"/>
                  </a:lnTo>
                  <a:close/>
                </a:path>
                <a:path w="276860" h="358139">
                  <a:moveTo>
                    <a:pt x="223227" y="165481"/>
                  </a:moveTo>
                  <a:lnTo>
                    <a:pt x="53568" y="165481"/>
                  </a:lnTo>
                  <a:lnTo>
                    <a:pt x="53568" y="183375"/>
                  </a:lnTo>
                  <a:lnTo>
                    <a:pt x="223227" y="183375"/>
                  </a:lnTo>
                  <a:lnTo>
                    <a:pt x="223227" y="165481"/>
                  </a:lnTo>
                  <a:close/>
                </a:path>
                <a:path w="276860" h="358139">
                  <a:moveTo>
                    <a:pt x="276809" y="98399"/>
                  </a:moveTo>
                  <a:lnTo>
                    <a:pt x="271741" y="93929"/>
                  </a:lnTo>
                  <a:lnTo>
                    <a:pt x="250024" y="74790"/>
                  </a:lnTo>
                  <a:lnTo>
                    <a:pt x="250024" y="120764"/>
                  </a:lnTo>
                  <a:lnTo>
                    <a:pt x="250024" y="330949"/>
                  </a:lnTo>
                  <a:lnTo>
                    <a:pt x="26784" y="330949"/>
                  </a:lnTo>
                  <a:lnTo>
                    <a:pt x="26784" y="26847"/>
                  </a:lnTo>
                  <a:lnTo>
                    <a:pt x="138404" y="26847"/>
                  </a:lnTo>
                  <a:lnTo>
                    <a:pt x="138404" y="120764"/>
                  </a:lnTo>
                  <a:lnTo>
                    <a:pt x="250024" y="120764"/>
                  </a:lnTo>
                  <a:lnTo>
                    <a:pt x="250024" y="74790"/>
                  </a:lnTo>
                  <a:lnTo>
                    <a:pt x="221005" y="49199"/>
                  </a:lnTo>
                  <a:lnTo>
                    <a:pt x="221005" y="93929"/>
                  </a:lnTo>
                  <a:lnTo>
                    <a:pt x="165188" y="93929"/>
                  </a:lnTo>
                  <a:lnTo>
                    <a:pt x="165188" y="38023"/>
                  </a:lnTo>
                  <a:lnTo>
                    <a:pt x="221005" y="93929"/>
                  </a:lnTo>
                  <a:lnTo>
                    <a:pt x="221005" y="49199"/>
                  </a:lnTo>
                  <a:lnTo>
                    <a:pt x="208330" y="38023"/>
                  </a:lnTo>
                  <a:lnTo>
                    <a:pt x="195643" y="26847"/>
                  </a:lnTo>
                  <a:lnTo>
                    <a:pt x="165188" y="0"/>
                  </a:lnTo>
                  <a:lnTo>
                    <a:pt x="0" y="0"/>
                  </a:lnTo>
                  <a:lnTo>
                    <a:pt x="0" y="357784"/>
                  </a:lnTo>
                  <a:lnTo>
                    <a:pt x="276809" y="357784"/>
                  </a:lnTo>
                  <a:lnTo>
                    <a:pt x="276809" y="330949"/>
                  </a:lnTo>
                  <a:lnTo>
                    <a:pt x="276809" y="98399"/>
                  </a:lnTo>
                  <a:close/>
                </a:path>
              </a:pathLst>
            </a:custGeom>
            <a:solidFill>
              <a:srgbClr val="61B7E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742943" y="2954527"/>
            <a:ext cx="4706620" cy="3831818"/>
          </a:xfrm>
          <a:prstGeom prst="rect">
            <a:avLst/>
          </a:prstGeom>
          <a:ln w="9144">
            <a:solidFill>
              <a:srgbClr val="1780C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536662">
              <a:spcBef>
                <a:spcPts val="1773"/>
              </a:spcBef>
            </a:pPr>
            <a:r>
              <a:rPr spc="-200" dirty="0">
                <a:solidFill>
                  <a:srgbClr val="1780C3"/>
                </a:solidFill>
                <a:latin typeface="Arial Black"/>
                <a:cs typeface="Arial Black"/>
              </a:rPr>
              <a:t>My-kubeadm.sh</a:t>
            </a:r>
            <a:endParaRPr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0431663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29" y="331247"/>
            <a:ext cx="465836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80" dirty="0">
                <a:solidFill>
                  <a:srgbClr val="115F92"/>
                </a:solidFill>
              </a:rPr>
              <a:t>Kubetest </a:t>
            </a:r>
            <a:r>
              <a:rPr spc="93" dirty="0">
                <a:solidFill>
                  <a:srgbClr val="115F92"/>
                </a:solidFill>
              </a:rPr>
              <a:t>-</a:t>
            </a:r>
            <a:r>
              <a:rPr spc="-860" dirty="0">
                <a:solidFill>
                  <a:srgbClr val="115F92"/>
                </a:solidFill>
              </a:rPr>
              <a:t> </a:t>
            </a:r>
            <a:r>
              <a:rPr dirty="0">
                <a:solidFill>
                  <a:srgbClr val="115F92"/>
                </a:solidFill>
              </a:rPr>
              <a:t>Tests</a:t>
            </a:r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00753" y="2032001"/>
            <a:ext cx="2120391" cy="756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5211741" y="2117005"/>
            <a:ext cx="1702647" cy="4283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667" spc="-360" dirty="0">
                <a:solidFill>
                  <a:srgbClr val="1780C3"/>
                </a:solidFill>
                <a:latin typeface="Arial Black"/>
                <a:cs typeface="Arial Black"/>
              </a:rPr>
              <a:t>e2e:</a:t>
            </a:r>
            <a:r>
              <a:rPr sz="2667" spc="-233" dirty="0">
                <a:solidFill>
                  <a:srgbClr val="1780C3"/>
                </a:solidFill>
                <a:latin typeface="Arial Black"/>
                <a:cs typeface="Arial Black"/>
              </a:rPr>
              <a:t> </a:t>
            </a:r>
            <a:r>
              <a:rPr sz="2667" spc="-267" dirty="0">
                <a:solidFill>
                  <a:srgbClr val="1780C3"/>
                </a:solidFill>
                <a:latin typeface="Arial Black"/>
                <a:cs typeface="Arial Black"/>
              </a:rPr>
              <a:t>~1000</a:t>
            </a:r>
            <a:endParaRPr sz="2667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68880" y="2924047"/>
            <a:ext cx="6692392" cy="14925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2894584" y="3106588"/>
            <a:ext cx="5838613" cy="83691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5333" spc="-679" dirty="0">
                <a:solidFill>
                  <a:srgbClr val="1780C3"/>
                </a:solidFill>
                <a:latin typeface="Arial Black"/>
                <a:cs typeface="Arial Black"/>
              </a:rPr>
              <a:t>conformance:</a:t>
            </a:r>
            <a:r>
              <a:rPr sz="5333" spc="-339" dirty="0">
                <a:solidFill>
                  <a:srgbClr val="1780C3"/>
                </a:solidFill>
                <a:latin typeface="Arial Black"/>
                <a:cs typeface="Arial Black"/>
              </a:rPr>
              <a:t> </a:t>
            </a:r>
            <a:r>
              <a:rPr sz="5333" spc="-487" dirty="0">
                <a:solidFill>
                  <a:srgbClr val="1780C3"/>
                </a:solidFill>
                <a:latin typeface="Arial Black"/>
                <a:cs typeface="Arial Black"/>
              </a:rPr>
              <a:t>~160</a:t>
            </a:r>
            <a:endParaRPr sz="5333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4660140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29" y="331247"/>
            <a:ext cx="465836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80" dirty="0">
                <a:solidFill>
                  <a:srgbClr val="115F92"/>
                </a:solidFill>
              </a:rPr>
              <a:t>Kubetest </a:t>
            </a:r>
            <a:r>
              <a:rPr spc="93" dirty="0">
                <a:solidFill>
                  <a:srgbClr val="115F92"/>
                </a:solidFill>
              </a:rPr>
              <a:t>-</a:t>
            </a:r>
            <a:r>
              <a:rPr spc="-860" dirty="0">
                <a:solidFill>
                  <a:srgbClr val="115F92"/>
                </a:solidFill>
              </a:rPr>
              <a:t> </a:t>
            </a:r>
            <a:r>
              <a:rPr dirty="0">
                <a:solidFill>
                  <a:srgbClr val="115F92"/>
                </a:solidFill>
              </a:rPr>
              <a:t>Tests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269232" y="1121647"/>
            <a:ext cx="3362113" cy="1287780"/>
            <a:chOff x="3201923" y="841235"/>
            <a:chExt cx="2521585" cy="965835"/>
          </a:xfrm>
        </p:grpSpPr>
        <p:sp>
          <p:nvSpPr>
            <p:cNvPr id="5" name="object 5"/>
            <p:cNvSpPr/>
            <p:nvPr/>
          </p:nvSpPr>
          <p:spPr>
            <a:xfrm>
              <a:off x="3750563" y="841235"/>
              <a:ext cx="1590293" cy="567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201923" y="1239011"/>
              <a:ext cx="2521457" cy="5676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80729" y="1084752"/>
            <a:ext cx="2943860" cy="109017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747588">
              <a:spcBef>
                <a:spcPts val="1100"/>
              </a:spcBef>
            </a:pPr>
            <a:r>
              <a:rPr sz="2667" spc="-360" dirty="0">
                <a:solidFill>
                  <a:srgbClr val="1780C3"/>
                </a:solidFill>
                <a:latin typeface="Arial Black"/>
                <a:cs typeface="Arial Black"/>
              </a:rPr>
              <a:t>e2e:</a:t>
            </a:r>
            <a:r>
              <a:rPr sz="2667" spc="-173" dirty="0">
                <a:solidFill>
                  <a:srgbClr val="1780C3"/>
                </a:solidFill>
                <a:latin typeface="Arial Black"/>
                <a:cs typeface="Arial Black"/>
              </a:rPr>
              <a:t> </a:t>
            </a:r>
            <a:r>
              <a:rPr sz="2667" spc="-267" dirty="0">
                <a:solidFill>
                  <a:srgbClr val="1780C3"/>
                </a:solidFill>
                <a:latin typeface="Arial Black"/>
                <a:cs typeface="Arial Black"/>
              </a:rPr>
              <a:t>~1000</a:t>
            </a:r>
            <a:endParaRPr sz="2667">
              <a:latin typeface="Arial Black"/>
              <a:cs typeface="Arial Black"/>
            </a:endParaRPr>
          </a:p>
          <a:p>
            <a:pPr marL="16933">
              <a:spcBef>
                <a:spcPts val="973"/>
              </a:spcBef>
            </a:pPr>
            <a:r>
              <a:rPr sz="2667" spc="-333" dirty="0">
                <a:solidFill>
                  <a:srgbClr val="1780C3"/>
                </a:solidFill>
                <a:latin typeface="Arial Black"/>
                <a:cs typeface="Arial Black"/>
              </a:rPr>
              <a:t>conformance:</a:t>
            </a:r>
            <a:r>
              <a:rPr sz="2667" spc="-253" dirty="0">
                <a:solidFill>
                  <a:srgbClr val="1780C3"/>
                </a:solidFill>
                <a:latin typeface="Arial Black"/>
                <a:cs typeface="Arial Black"/>
              </a:rPr>
              <a:t> </a:t>
            </a:r>
            <a:r>
              <a:rPr sz="2667" spc="-247" dirty="0">
                <a:solidFill>
                  <a:srgbClr val="1780C3"/>
                </a:solidFill>
                <a:latin typeface="Arial Black"/>
                <a:cs typeface="Arial Black"/>
              </a:rPr>
              <a:t>~160</a:t>
            </a:r>
            <a:endParaRPr sz="2667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80335" y="2174239"/>
            <a:ext cx="7831667" cy="4582160"/>
            <a:chOff x="1635251" y="1630679"/>
            <a:chExt cx="5873750" cy="3436620"/>
          </a:xfrm>
        </p:grpSpPr>
        <p:sp>
          <p:nvSpPr>
            <p:cNvPr id="9" name="object 9"/>
            <p:cNvSpPr/>
            <p:nvPr/>
          </p:nvSpPr>
          <p:spPr>
            <a:xfrm>
              <a:off x="1635251" y="1630679"/>
              <a:ext cx="5873496" cy="19735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954779" y="3395470"/>
              <a:ext cx="1235964" cy="167182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340155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4578772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80" dirty="0">
                <a:solidFill>
                  <a:srgbClr val="115F92"/>
                </a:solidFill>
              </a:rPr>
              <a:t>Kubetest </a:t>
            </a:r>
            <a:r>
              <a:rPr spc="93" dirty="0">
                <a:solidFill>
                  <a:srgbClr val="115F92"/>
                </a:solidFill>
              </a:rPr>
              <a:t>-</a:t>
            </a:r>
            <a:r>
              <a:rPr spc="-867" dirty="0">
                <a:solidFill>
                  <a:srgbClr val="115F92"/>
                </a:solidFill>
              </a:rPr>
              <a:t> </a:t>
            </a:r>
            <a:r>
              <a:rPr spc="53" dirty="0">
                <a:solidFill>
                  <a:srgbClr val="115F92"/>
                </a:solidFill>
              </a:rPr>
              <a:t>Time</a:t>
            </a:r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67549" y="2670150"/>
            <a:ext cx="5653193" cy="139281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617205">
              <a:spcBef>
                <a:spcPts val="140"/>
              </a:spcBef>
            </a:pPr>
            <a:r>
              <a:rPr sz="2667" spc="-305" dirty="0">
                <a:latin typeface="Arial Black"/>
                <a:cs typeface="Arial Black"/>
              </a:rPr>
              <a:t>Full </a:t>
            </a:r>
            <a:r>
              <a:rPr sz="2667" spc="-367" dirty="0">
                <a:latin typeface="Arial Black"/>
                <a:cs typeface="Arial Black"/>
              </a:rPr>
              <a:t>e2e </a:t>
            </a:r>
            <a:r>
              <a:rPr sz="2667" spc="67" dirty="0">
                <a:latin typeface="Arial Black"/>
                <a:cs typeface="Arial Black"/>
              </a:rPr>
              <a:t>= </a:t>
            </a:r>
            <a:r>
              <a:rPr sz="2667" spc="-267" dirty="0">
                <a:latin typeface="Arial Black"/>
                <a:cs typeface="Arial Black"/>
              </a:rPr>
              <a:t>~1000 </a:t>
            </a:r>
            <a:r>
              <a:rPr sz="2667" spc="-493" dirty="0">
                <a:latin typeface="Arial Black"/>
                <a:cs typeface="Arial Black"/>
              </a:rPr>
              <a:t>Tests </a:t>
            </a:r>
            <a:r>
              <a:rPr sz="2667" spc="300" dirty="0">
                <a:latin typeface="Arial Black"/>
                <a:cs typeface="Arial Black"/>
              </a:rPr>
              <a:t>/ </a:t>
            </a:r>
            <a:r>
              <a:rPr sz="2667" spc="-339" dirty="0">
                <a:latin typeface="Arial Black"/>
                <a:cs typeface="Arial Black"/>
              </a:rPr>
              <a:t>12</a:t>
            </a:r>
            <a:r>
              <a:rPr sz="2667" spc="-627" dirty="0">
                <a:latin typeface="Arial Black"/>
                <a:cs typeface="Arial Black"/>
              </a:rPr>
              <a:t> </a:t>
            </a:r>
            <a:r>
              <a:rPr sz="2667" spc="-305" dirty="0">
                <a:latin typeface="Arial Black"/>
                <a:cs typeface="Arial Black"/>
              </a:rPr>
              <a:t>Hours</a:t>
            </a:r>
            <a:endParaRPr sz="2667">
              <a:latin typeface="Arial Black"/>
              <a:cs typeface="Arial Black"/>
            </a:endParaRPr>
          </a:p>
          <a:p>
            <a:pPr>
              <a:spcBef>
                <a:spcPts val="13"/>
              </a:spcBef>
            </a:pPr>
            <a:endParaRPr sz="3600">
              <a:latin typeface="Arial Black"/>
              <a:cs typeface="Arial Black"/>
            </a:endParaRPr>
          </a:p>
          <a:p>
            <a:pPr marL="16933"/>
            <a:r>
              <a:rPr sz="2667" spc="-327" dirty="0">
                <a:latin typeface="Arial Black"/>
                <a:cs typeface="Arial Black"/>
              </a:rPr>
              <a:t>Conformance </a:t>
            </a:r>
            <a:r>
              <a:rPr sz="2667" spc="67" dirty="0">
                <a:latin typeface="Arial Black"/>
                <a:cs typeface="Arial Black"/>
              </a:rPr>
              <a:t>= </a:t>
            </a:r>
            <a:r>
              <a:rPr sz="2667" spc="-347" dirty="0">
                <a:latin typeface="Arial Black"/>
                <a:cs typeface="Arial Black"/>
              </a:rPr>
              <a:t>164 </a:t>
            </a:r>
            <a:r>
              <a:rPr sz="2667" spc="-493" dirty="0">
                <a:latin typeface="Arial Black"/>
                <a:cs typeface="Arial Black"/>
              </a:rPr>
              <a:t>Tests </a:t>
            </a:r>
            <a:r>
              <a:rPr sz="2667" spc="300" dirty="0">
                <a:latin typeface="Arial Black"/>
                <a:cs typeface="Arial Black"/>
              </a:rPr>
              <a:t>/ </a:t>
            </a:r>
            <a:r>
              <a:rPr sz="2667" spc="-333" dirty="0">
                <a:latin typeface="Arial Black"/>
                <a:cs typeface="Arial Black"/>
              </a:rPr>
              <a:t>1.5</a:t>
            </a:r>
            <a:r>
              <a:rPr sz="2667" spc="-293" dirty="0">
                <a:latin typeface="Arial Black"/>
                <a:cs typeface="Arial Black"/>
              </a:rPr>
              <a:t> </a:t>
            </a:r>
            <a:r>
              <a:rPr sz="2667" spc="-300" dirty="0">
                <a:latin typeface="Arial Black"/>
                <a:cs typeface="Arial Black"/>
              </a:rPr>
              <a:t>hours</a:t>
            </a:r>
            <a:endParaRPr sz="2667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232247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33729"/>
            <a:ext cx="12192000" cy="35905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38457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792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9991343" y="6370319"/>
            <a:ext cx="2032000" cy="487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1545146" y="424856"/>
            <a:ext cx="29633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spc="13" dirty="0">
                <a:solidFill>
                  <a:srgbClr val="FFFFFF"/>
                </a:solidFill>
                <a:latin typeface="Arial"/>
                <a:cs typeface="Arial"/>
              </a:rPr>
              <a:t>146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16208" y="138176"/>
            <a:ext cx="751840" cy="796713"/>
          </a:xfrm>
          <a:custGeom>
            <a:avLst/>
            <a:gdLst/>
            <a:ahLst/>
            <a:cxnLst/>
            <a:rect l="l" t="t" r="r" b="b"/>
            <a:pathLst>
              <a:path w="563879" h="597535">
                <a:moveTo>
                  <a:pt x="297180" y="0"/>
                </a:moveTo>
                <a:lnTo>
                  <a:pt x="272415" y="0"/>
                </a:lnTo>
                <a:lnTo>
                  <a:pt x="272415" y="55499"/>
                </a:lnTo>
                <a:lnTo>
                  <a:pt x="224942" y="62280"/>
                </a:lnTo>
                <a:lnTo>
                  <a:pt x="180682" y="77444"/>
                </a:lnTo>
                <a:lnTo>
                  <a:pt x="140474" y="100126"/>
                </a:lnTo>
                <a:lnTo>
                  <a:pt x="105219" y="129463"/>
                </a:lnTo>
                <a:lnTo>
                  <a:pt x="75755" y="164579"/>
                </a:lnTo>
                <a:lnTo>
                  <a:pt x="52984" y="204609"/>
                </a:lnTo>
                <a:lnTo>
                  <a:pt x="37769" y="248678"/>
                </a:lnTo>
                <a:lnTo>
                  <a:pt x="30988" y="295910"/>
                </a:lnTo>
                <a:lnTo>
                  <a:pt x="0" y="295910"/>
                </a:lnTo>
                <a:lnTo>
                  <a:pt x="0" y="318516"/>
                </a:lnTo>
                <a:lnTo>
                  <a:pt x="55753" y="318516"/>
                </a:lnTo>
                <a:lnTo>
                  <a:pt x="55753" y="308229"/>
                </a:lnTo>
                <a:lnTo>
                  <a:pt x="60426" y="261772"/>
                </a:lnTo>
                <a:lnTo>
                  <a:pt x="73825" y="218541"/>
                </a:lnTo>
                <a:lnTo>
                  <a:pt x="95008" y="179451"/>
                </a:lnTo>
                <a:lnTo>
                  <a:pt x="123037" y="145402"/>
                </a:lnTo>
                <a:lnTo>
                  <a:pt x="156972" y="117335"/>
                </a:lnTo>
                <a:lnTo>
                  <a:pt x="195859" y="96151"/>
                </a:lnTo>
                <a:lnTo>
                  <a:pt x="238760" y="82778"/>
                </a:lnTo>
                <a:lnTo>
                  <a:pt x="284734" y="78105"/>
                </a:lnTo>
                <a:lnTo>
                  <a:pt x="297180" y="78105"/>
                </a:lnTo>
                <a:lnTo>
                  <a:pt x="297180" y="0"/>
                </a:lnTo>
                <a:close/>
              </a:path>
              <a:path w="563879" h="597535">
                <a:moveTo>
                  <a:pt x="473964" y="305562"/>
                </a:moveTo>
                <a:lnTo>
                  <a:pt x="468972" y="261937"/>
                </a:lnTo>
                <a:lnTo>
                  <a:pt x="454748" y="221780"/>
                </a:lnTo>
                <a:lnTo>
                  <a:pt x="449326" y="213182"/>
                </a:lnTo>
                <a:lnTo>
                  <a:pt x="449326" y="305562"/>
                </a:lnTo>
                <a:lnTo>
                  <a:pt x="443407" y="350062"/>
                </a:lnTo>
                <a:lnTo>
                  <a:pt x="426694" y="389915"/>
                </a:lnTo>
                <a:lnTo>
                  <a:pt x="400723" y="423595"/>
                </a:lnTo>
                <a:lnTo>
                  <a:pt x="367042" y="449567"/>
                </a:lnTo>
                <a:lnTo>
                  <a:pt x="327190" y="466280"/>
                </a:lnTo>
                <a:lnTo>
                  <a:pt x="282702" y="472186"/>
                </a:lnTo>
                <a:lnTo>
                  <a:pt x="238912" y="466280"/>
                </a:lnTo>
                <a:lnTo>
                  <a:pt x="199250" y="449567"/>
                </a:lnTo>
                <a:lnTo>
                  <a:pt x="165430" y="423595"/>
                </a:lnTo>
                <a:lnTo>
                  <a:pt x="139153" y="389915"/>
                </a:lnTo>
                <a:lnTo>
                  <a:pt x="122123" y="350062"/>
                </a:lnTo>
                <a:lnTo>
                  <a:pt x="116078" y="305562"/>
                </a:lnTo>
                <a:lnTo>
                  <a:pt x="122123" y="261785"/>
                </a:lnTo>
                <a:lnTo>
                  <a:pt x="139153" y="222123"/>
                </a:lnTo>
                <a:lnTo>
                  <a:pt x="165430" y="188302"/>
                </a:lnTo>
                <a:lnTo>
                  <a:pt x="199250" y="162026"/>
                </a:lnTo>
                <a:lnTo>
                  <a:pt x="238912" y="144995"/>
                </a:lnTo>
                <a:lnTo>
                  <a:pt x="282702" y="138938"/>
                </a:lnTo>
                <a:lnTo>
                  <a:pt x="327190" y="144995"/>
                </a:lnTo>
                <a:lnTo>
                  <a:pt x="367042" y="162026"/>
                </a:lnTo>
                <a:lnTo>
                  <a:pt x="400723" y="188302"/>
                </a:lnTo>
                <a:lnTo>
                  <a:pt x="426694" y="222123"/>
                </a:lnTo>
                <a:lnTo>
                  <a:pt x="443407" y="261785"/>
                </a:lnTo>
                <a:lnTo>
                  <a:pt x="449326" y="305562"/>
                </a:lnTo>
                <a:lnTo>
                  <a:pt x="449326" y="213182"/>
                </a:lnTo>
                <a:lnTo>
                  <a:pt x="402869" y="156552"/>
                </a:lnTo>
                <a:lnTo>
                  <a:pt x="367372" y="133870"/>
                </a:lnTo>
                <a:lnTo>
                  <a:pt x="326961" y="119392"/>
                </a:lnTo>
                <a:lnTo>
                  <a:pt x="282702" y="114300"/>
                </a:lnTo>
                <a:lnTo>
                  <a:pt x="239064" y="119392"/>
                </a:lnTo>
                <a:lnTo>
                  <a:pt x="198907" y="133870"/>
                </a:lnTo>
                <a:lnTo>
                  <a:pt x="163372" y="156552"/>
                </a:lnTo>
                <a:lnTo>
                  <a:pt x="133680" y="186245"/>
                </a:lnTo>
                <a:lnTo>
                  <a:pt x="110998" y="221780"/>
                </a:lnTo>
                <a:lnTo>
                  <a:pt x="96520" y="261937"/>
                </a:lnTo>
                <a:lnTo>
                  <a:pt x="91440" y="305562"/>
                </a:lnTo>
                <a:lnTo>
                  <a:pt x="96520" y="349834"/>
                </a:lnTo>
                <a:lnTo>
                  <a:pt x="110998" y="390245"/>
                </a:lnTo>
                <a:lnTo>
                  <a:pt x="133680" y="425742"/>
                </a:lnTo>
                <a:lnTo>
                  <a:pt x="163372" y="455218"/>
                </a:lnTo>
                <a:lnTo>
                  <a:pt x="198907" y="477621"/>
                </a:lnTo>
                <a:lnTo>
                  <a:pt x="239064" y="491845"/>
                </a:lnTo>
                <a:lnTo>
                  <a:pt x="282702" y="496824"/>
                </a:lnTo>
                <a:lnTo>
                  <a:pt x="326961" y="491845"/>
                </a:lnTo>
                <a:lnTo>
                  <a:pt x="367372" y="477621"/>
                </a:lnTo>
                <a:lnTo>
                  <a:pt x="375970" y="472186"/>
                </a:lnTo>
                <a:lnTo>
                  <a:pt x="402869" y="455218"/>
                </a:lnTo>
                <a:lnTo>
                  <a:pt x="432346" y="425742"/>
                </a:lnTo>
                <a:lnTo>
                  <a:pt x="454748" y="390245"/>
                </a:lnTo>
                <a:lnTo>
                  <a:pt x="468972" y="349834"/>
                </a:lnTo>
                <a:lnTo>
                  <a:pt x="473964" y="305562"/>
                </a:lnTo>
                <a:close/>
              </a:path>
              <a:path w="563879" h="597535">
                <a:moveTo>
                  <a:pt x="563880" y="295656"/>
                </a:moveTo>
                <a:lnTo>
                  <a:pt x="512318" y="295656"/>
                </a:lnTo>
                <a:lnTo>
                  <a:pt x="512318" y="307975"/>
                </a:lnTo>
                <a:lnTo>
                  <a:pt x="507720" y="353720"/>
                </a:lnTo>
                <a:lnTo>
                  <a:pt x="494538" y="396405"/>
                </a:lnTo>
                <a:lnTo>
                  <a:pt x="473633" y="435102"/>
                </a:lnTo>
                <a:lnTo>
                  <a:pt x="445858" y="468858"/>
                </a:lnTo>
                <a:lnTo>
                  <a:pt x="412102" y="496747"/>
                </a:lnTo>
                <a:lnTo>
                  <a:pt x="373227" y="517829"/>
                </a:lnTo>
                <a:lnTo>
                  <a:pt x="330098" y="531164"/>
                </a:lnTo>
                <a:lnTo>
                  <a:pt x="283591" y="535813"/>
                </a:lnTo>
                <a:lnTo>
                  <a:pt x="271272" y="535813"/>
                </a:lnTo>
                <a:lnTo>
                  <a:pt x="271272" y="597408"/>
                </a:lnTo>
                <a:lnTo>
                  <a:pt x="296037" y="597408"/>
                </a:lnTo>
                <a:lnTo>
                  <a:pt x="296037" y="558419"/>
                </a:lnTo>
                <a:lnTo>
                  <a:pt x="343395" y="551700"/>
                </a:lnTo>
                <a:lnTo>
                  <a:pt x="387578" y="536740"/>
                </a:lnTo>
                <a:lnTo>
                  <a:pt x="427697" y="514324"/>
                </a:lnTo>
                <a:lnTo>
                  <a:pt x="462889" y="485254"/>
                </a:lnTo>
                <a:lnTo>
                  <a:pt x="492302" y="450316"/>
                </a:lnTo>
                <a:lnTo>
                  <a:pt x="515035" y="410311"/>
                </a:lnTo>
                <a:lnTo>
                  <a:pt x="530250" y="366039"/>
                </a:lnTo>
                <a:lnTo>
                  <a:pt x="537083" y="318262"/>
                </a:lnTo>
                <a:lnTo>
                  <a:pt x="563880" y="318262"/>
                </a:lnTo>
                <a:lnTo>
                  <a:pt x="563880" y="295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1" y="2185756"/>
            <a:ext cx="5425439" cy="4672753"/>
          </a:xfrm>
          <a:custGeom>
            <a:avLst/>
            <a:gdLst/>
            <a:ahLst/>
            <a:cxnLst/>
            <a:rect l="l" t="t" r="r" b="b"/>
            <a:pathLst>
              <a:path w="4069079" h="3504565">
                <a:moveTo>
                  <a:pt x="43994" y="3450892"/>
                </a:moveTo>
                <a:lnTo>
                  <a:pt x="21947" y="3454098"/>
                </a:lnTo>
                <a:lnTo>
                  <a:pt x="2405" y="3466668"/>
                </a:lnTo>
                <a:lnTo>
                  <a:pt x="0" y="3469696"/>
                </a:lnTo>
                <a:lnTo>
                  <a:pt x="0" y="3504183"/>
                </a:lnTo>
                <a:lnTo>
                  <a:pt x="104762" y="3504183"/>
                </a:lnTo>
                <a:lnTo>
                  <a:pt x="104201" y="3500395"/>
                </a:lnTo>
                <a:lnTo>
                  <a:pt x="102271" y="3493373"/>
                </a:lnTo>
                <a:lnTo>
                  <a:pt x="124274" y="3483386"/>
                </a:lnTo>
                <a:lnTo>
                  <a:pt x="98935" y="3483386"/>
                </a:lnTo>
                <a:lnTo>
                  <a:pt x="85611" y="3470062"/>
                </a:lnTo>
                <a:lnTo>
                  <a:pt x="66047" y="3456422"/>
                </a:lnTo>
                <a:lnTo>
                  <a:pt x="43994" y="3450892"/>
                </a:lnTo>
                <a:close/>
              </a:path>
              <a:path w="4069079" h="3504565">
                <a:moveTo>
                  <a:pt x="184341" y="3460151"/>
                </a:moveTo>
                <a:lnTo>
                  <a:pt x="175463" y="3460151"/>
                </a:lnTo>
                <a:lnTo>
                  <a:pt x="162098" y="3504183"/>
                </a:lnTo>
                <a:lnTo>
                  <a:pt x="169698" y="3504183"/>
                </a:lnTo>
                <a:lnTo>
                  <a:pt x="184341" y="3460151"/>
                </a:lnTo>
                <a:close/>
              </a:path>
              <a:path w="4069079" h="3504565">
                <a:moveTo>
                  <a:pt x="387770" y="3377120"/>
                </a:moveTo>
                <a:lnTo>
                  <a:pt x="385064" y="3377120"/>
                </a:lnTo>
                <a:lnTo>
                  <a:pt x="358945" y="3504183"/>
                </a:lnTo>
                <a:lnTo>
                  <a:pt x="364046" y="3504183"/>
                </a:lnTo>
                <a:lnTo>
                  <a:pt x="387770" y="3377120"/>
                </a:lnTo>
                <a:close/>
              </a:path>
              <a:path w="4069079" h="3504565">
                <a:moveTo>
                  <a:pt x="2584417" y="2520137"/>
                </a:moveTo>
                <a:lnTo>
                  <a:pt x="2467737" y="2520137"/>
                </a:lnTo>
                <a:lnTo>
                  <a:pt x="2464435" y="2523464"/>
                </a:lnTo>
                <a:lnTo>
                  <a:pt x="2467864" y="2526792"/>
                </a:lnTo>
                <a:lnTo>
                  <a:pt x="1226801" y="3504183"/>
                </a:lnTo>
                <a:lnTo>
                  <a:pt x="1235267" y="3504183"/>
                </a:lnTo>
                <a:lnTo>
                  <a:pt x="2471166" y="2536786"/>
                </a:lnTo>
                <a:lnTo>
                  <a:pt x="2579779" y="2536786"/>
                </a:lnTo>
                <a:lnTo>
                  <a:pt x="2583894" y="2524810"/>
                </a:lnTo>
                <a:lnTo>
                  <a:pt x="2584417" y="2520137"/>
                </a:lnTo>
                <a:close/>
              </a:path>
              <a:path w="4069079" h="3504565">
                <a:moveTo>
                  <a:pt x="2579779" y="2536786"/>
                </a:moveTo>
                <a:lnTo>
                  <a:pt x="2471166" y="2536786"/>
                </a:lnTo>
                <a:lnTo>
                  <a:pt x="2474468" y="2540114"/>
                </a:lnTo>
                <a:lnTo>
                  <a:pt x="2477770" y="2550109"/>
                </a:lnTo>
                <a:lnTo>
                  <a:pt x="2481199" y="2553436"/>
                </a:lnTo>
                <a:lnTo>
                  <a:pt x="2487803" y="2560091"/>
                </a:lnTo>
                <a:lnTo>
                  <a:pt x="2173777" y="3504183"/>
                </a:lnTo>
                <a:lnTo>
                  <a:pt x="2184921" y="3504183"/>
                </a:lnTo>
                <a:lnTo>
                  <a:pt x="2497836" y="2563431"/>
                </a:lnTo>
                <a:lnTo>
                  <a:pt x="2554889" y="2563431"/>
                </a:lnTo>
                <a:lnTo>
                  <a:pt x="2564384" y="2556827"/>
                </a:lnTo>
                <a:lnTo>
                  <a:pt x="2577455" y="2556827"/>
                </a:lnTo>
                <a:lnTo>
                  <a:pt x="2570988" y="2550172"/>
                </a:lnTo>
                <a:lnTo>
                  <a:pt x="2579161" y="2538585"/>
                </a:lnTo>
                <a:lnTo>
                  <a:pt x="2579779" y="2536786"/>
                </a:lnTo>
                <a:close/>
              </a:path>
              <a:path w="4069079" h="3504565">
                <a:moveTo>
                  <a:pt x="2554889" y="2563431"/>
                </a:moveTo>
                <a:lnTo>
                  <a:pt x="2497836" y="2563431"/>
                </a:lnTo>
                <a:lnTo>
                  <a:pt x="2343940" y="3504183"/>
                </a:lnTo>
                <a:lnTo>
                  <a:pt x="2352424" y="3504183"/>
                </a:lnTo>
                <a:lnTo>
                  <a:pt x="2507742" y="2566771"/>
                </a:lnTo>
                <a:lnTo>
                  <a:pt x="2546764" y="2566771"/>
                </a:lnTo>
                <a:lnTo>
                  <a:pt x="2552729" y="2564933"/>
                </a:lnTo>
                <a:lnTo>
                  <a:pt x="2554889" y="2563431"/>
                </a:lnTo>
                <a:close/>
              </a:path>
              <a:path w="4069079" h="3504565">
                <a:moveTo>
                  <a:pt x="2577455" y="2556827"/>
                </a:moveTo>
                <a:lnTo>
                  <a:pt x="2564384" y="2556827"/>
                </a:lnTo>
                <a:lnTo>
                  <a:pt x="3257169" y="3262960"/>
                </a:lnTo>
                <a:lnTo>
                  <a:pt x="3250307" y="3283335"/>
                </a:lnTo>
                <a:lnTo>
                  <a:pt x="3255347" y="3322862"/>
                </a:lnTo>
                <a:lnTo>
                  <a:pt x="3277235" y="3342855"/>
                </a:lnTo>
                <a:lnTo>
                  <a:pt x="3189972" y="3504183"/>
                </a:lnTo>
                <a:lnTo>
                  <a:pt x="3195073" y="3504183"/>
                </a:lnTo>
                <a:lnTo>
                  <a:pt x="3280537" y="3346183"/>
                </a:lnTo>
                <a:lnTo>
                  <a:pt x="3344304" y="3346183"/>
                </a:lnTo>
                <a:lnTo>
                  <a:pt x="3353689" y="3339579"/>
                </a:lnTo>
                <a:lnTo>
                  <a:pt x="3366833" y="3319517"/>
                </a:lnTo>
                <a:lnTo>
                  <a:pt x="3371215" y="3296331"/>
                </a:lnTo>
                <a:lnTo>
                  <a:pt x="3366833" y="3273137"/>
                </a:lnTo>
                <a:lnTo>
                  <a:pt x="3357994" y="3259632"/>
                </a:lnTo>
                <a:lnTo>
                  <a:pt x="3260471" y="3259632"/>
                </a:lnTo>
                <a:lnTo>
                  <a:pt x="2577455" y="2556827"/>
                </a:lnTo>
                <a:close/>
              </a:path>
              <a:path w="4069079" h="3504565">
                <a:moveTo>
                  <a:pt x="0" y="2253388"/>
                </a:moveTo>
                <a:lnTo>
                  <a:pt x="0" y="2259722"/>
                </a:lnTo>
                <a:lnTo>
                  <a:pt x="533984" y="2322220"/>
                </a:lnTo>
                <a:lnTo>
                  <a:pt x="533317" y="2335166"/>
                </a:lnTo>
                <a:lnTo>
                  <a:pt x="550722" y="2372220"/>
                </a:lnTo>
                <a:lnTo>
                  <a:pt x="563981" y="2378824"/>
                </a:lnTo>
                <a:lnTo>
                  <a:pt x="182118" y="3453500"/>
                </a:lnTo>
                <a:lnTo>
                  <a:pt x="98935" y="3483386"/>
                </a:lnTo>
                <a:lnTo>
                  <a:pt x="124274" y="3483386"/>
                </a:lnTo>
                <a:lnTo>
                  <a:pt x="175463" y="3460151"/>
                </a:lnTo>
                <a:lnTo>
                  <a:pt x="184341" y="3460151"/>
                </a:lnTo>
                <a:lnTo>
                  <a:pt x="185445" y="3456832"/>
                </a:lnTo>
                <a:lnTo>
                  <a:pt x="210443" y="3446849"/>
                </a:lnTo>
                <a:lnTo>
                  <a:pt x="188760" y="3446849"/>
                </a:lnTo>
                <a:lnTo>
                  <a:pt x="570649" y="2385479"/>
                </a:lnTo>
                <a:lnTo>
                  <a:pt x="615455" y="2385479"/>
                </a:lnTo>
                <a:lnTo>
                  <a:pt x="623684" y="2382296"/>
                </a:lnTo>
                <a:lnTo>
                  <a:pt x="651211" y="2344147"/>
                </a:lnTo>
                <a:lnTo>
                  <a:pt x="653808" y="2335618"/>
                </a:lnTo>
                <a:lnTo>
                  <a:pt x="719740" y="2335618"/>
                </a:lnTo>
                <a:lnTo>
                  <a:pt x="653796" y="2328964"/>
                </a:lnTo>
                <a:lnTo>
                  <a:pt x="653707" y="2322220"/>
                </a:lnTo>
                <a:lnTo>
                  <a:pt x="650468" y="2318981"/>
                </a:lnTo>
                <a:lnTo>
                  <a:pt x="650462" y="2315552"/>
                </a:lnTo>
                <a:lnTo>
                  <a:pt x="533971" y="2315552"/>
                </a:lnTo>
                <a:lnTo>
                  <a:pt x="0" y="2253388"/>
                </a:lnTo>
                <a:close/>
              </a:path>
              <a:path w="4069079" h="3504565">
                <a:moveTo>
                  <a:pt x="615455" y="2385479"/>
                </a:moveTo>
                <a:lnTo>
                  <a:pt x="570649" y="2385479"/>
                </a:lnTo>
                <a:lnTo>
                  <a:pt x="385064" y="3370465"/>
                </a:lnTo>
                <a:lnTo>
                  <a:pt x="188760" y="3446849"/>
                </a:lnTo>
                <a:lnTo>
                  <a:pt x="210443" y="3446849"/>
                </a:lnTo>
                <a:lnTo>
                  <a:pt x="385064" y="3377120"/>
                </a:lnTo>
                <a:lnTo>
                  <a:pt x="387770" y="3377120"/>
                </a:lnTo>
                <a:lnTo>
                  <a:pt x="388391" y="3373793"/>
                </a:lnTo>
                <a:lnTo>
                  <a:pt x="412706" y="3363810"/>
                </a:lnTo>
                <a:lnTo>
                  <a:pt x="391718" y="3363810"/>
                </a:lnTo>
                <a:lnTo>
                  <a:pt x="580631" y="2388819"/>
                </a:lnTo>
                <a:lnTo>
                  <a:pt x="602813" y="2388819"/>
                </a:lnTo>
                <a:lnTo>
                  <a:pt x="608918" y="2388006"/>
                </a:lnTo>
                <a:lnTo>
                  <a:pt x="615455" y="2385479"/>
                </a:lnTo>
                <a:close/>
              </a:path>
              <a:path w="4069079" h="3504565">
                <a:moveTo>
                  <a:pt x="719740" y="2335618"/>
                </a:moveTo>
                <a:lnTo>
                  <a:pt x="653808" y="2335618"/>
                </a:lnTo>
                <a:lnTo>
                  <a:pt x="740346" y="2342349"/>
                </a:lnTo>
                <a:lnTo>
                  <a:pt x="2467737" y="2500172"/>
                </a:lnTo>
                <a:lnTo>
                  <a:pt x="2464435" y="2503500"/>
                </a:lnTo>
                <a:lnTo>
                  <a:pt x="2464435" y="2510155"/>
                </a:lnTo>
                <a:lnTo>
                  <a:pt x="2467737" y="2513482"/>
                </a:lnTo>
                <a:lnTo>
                  <a:pt x="391718" y="3363810"/>
                </a:lnTo>
                <a:lnTo>
                  <a:pt x="412706" y="3363810"/>
                </a:lnTo>
                <a:lnTo>
                  <a:pt x="2467737" y="2520137"/>
                </a:lnTo>
                <a:lnTo>
                  <a:pt x="2584417" y="2520137"/>
                </a:lnTo>
                <a:lnTo>
                  <a:pt x="2585507" y="2510407"/>
                </a:lnTo>
                <a:lnTo>
                  <a:pt x="2584323" y="2496934"/>
                </a:lnTo>
                <a:lnTo>
                  <a:pt x="2684003" y="2490279"/>
                </a:lnTo>
                <a:lnTo>
                  <a:pt x="2584196" y="2490279"/>
                </a:lnTo>
                <a:lnTo>
                  <a:pt x="2471039" y="2490190"/>
                </a:lnTo>
                <a:lnTo>
                  <a:pt x="719740" y="2335618"/>
                </a:lnTo>
                <a:close/>
              </a:path>
              <a:path w="4069079" h="3504565">
                <a:moveTo>
                  <a:pt x="3344304" y="3346183"/>
                </a:moveTo>
                <a:lnTo>
                  <a:pt x="3280537" y="3346183"/>
                </a:lnTo>
                <a:lnTo>
                  <a:pt x="3300414" y="3353582"/>
                </a:lnTo>
                <a:lnTo>
                  <a:pt x="3319637" y="3355363"/>
                </a:lnTo>
                <a:lnTo>
                  <a:pt x="3337597" y="3350903"/>
                </a:lnTo>
                <a:lnTo>
                  <a:pt x="3344304" y="3346183"/>
                </a:lnTo>
                <a:close/>
              </a:path>
              <a:path w="4069079" h="3504565">
                <a:moveTo>
                  <a:pt x="3305841" y="3235952"/>
                </a:moveTo>
                <a:lnTo>
                  <a:pt x="3284807" y="3241187"/>
                </a:lnTo>
                <a:lnTo>
                  <a:pt x="3267202" y="3252978"/>
                </a:lnTo>
                <a:lnTo>
                  <a:pt x="3263773" y="3256305"/>
                </a:lnTo>
                <a:lnTo>
                  <a:pt x="3260471" y="3259632"/>
                </a:lnTo>
                <a:lnTo>
                  <a:pt x="3357994" y="3259632"/>
                </a:lnTo>
                <a:lnTo>
                  <a:pt x="3353689" y="3253054"/>
                </a:lnTo>
                <a:lnTo>
                  <a:pt x="3350387" y="3249726"/>
                </a:lnTo>
                <a:lnTo>
                  <a:pt x="3353204" y="3246386"/>
                </a:lnTo>
                <a:lnTo>
                  <a:pt x="3346958" y="3246386"/>
                </a:lnTo>
                <a:lnTo>
                  <a:pt x="3327495" y="3237581"/>
                </a:lnTo>
                <a:lnTo>
                  <a:pt x="3305841" y="3235952"/>
                </a:lnTo>
                <a:close/>
              </a:path>
              <a:path w="4069079" h="3504565">
                <a:moveTo>
                  <a:pt x="4068572" y="2398293"/>
                </a:moveTo>
                <a:lnTo>
                  <a:pt x="4061841" y="2398293"/>
                </a:lnTo>
                <a:lnTo>
                  <a:pt x="3346958" y="3246386"/>
                </a:lnTo>
                <a:lnTo>
                  <a:pt x="3353204" y="3246386"/>
                </a:lnTo>
                <a:lnTo>
                  <a:pt x="4068572" y="2398293"/>
                </a:lnTo>
                <a:close/>
              </a:path>
              <a:path w="4069079" h="3504565">
                <a:moveTo>
                  <a:pt x="2546764" y="2566771"/>
                </a:moveTo>
                <a:lnTo>
                  <a:pt x="2507742" y="2566771"/>
                </a:lnTo>
                <a:lnTo>
                  <a:pt x="2523182" y="2569902"/>
                </a:lnTo>
                <a:lnTo>
                  <a:pt x="2538587" y="2569290"/>
                </a:lnTo>
                <a:lnTo>
                  <a:pt x="2546764" y="2566771"/>
                </a:lnTo>
                <a:close/>
              </a:path>
              <a:path w="4069079" h="3504565">
                <a:moveTo>
                  <a:pt x="4068572" y="2391638"/>
                </a:moveTo>
                <a:lnTo>
                  <a:pt x="2584196" y="2490279"/>
                </a:lnTo>
                <a:lnTo>
                  <a:pt x="2684003" y="2490279"/>
                </a:lnTo>
                <a:lnTo>
                  <a:pt x="4061841" y="2398293"/>
                </a:lnTo>
                <a:lnTo>
                  <a:pt x="4068572" y="2398293"/>
                </a:lnTo>
                <a:lnTo>
                  <a:pt x="4065270" y="2394966"/>
                </a:lnTo>
                <a:lnTo>
                  <a:pt x="4068572" y="2391638"/>
                </a:lnTo>
                <a:close/>
              </a:path>
              <a:path w="4069079" h="3504565">
                <a:moveTo>
                  <a:pt x="2525966" y="2451133"/>
                </a:moveTo>
                <a:lnTo>
                  <a:pt x="2503908" y="2456629"/>
                </a:lnTo>
                <a:lnTo>
                  <a:pt x="2484374" y="2470238"/>
                </a:lnTo>
                <a:lnTo>
                  <a:pt x="2477770" y="2476881"/>
                </a:lnTo>
                <a:lnTo>
                  <a:pt x="2471039" y="2483535"/>
                </a:lnTo>
                <a:lnTo>
                  <a:pt x="2471039" y="2490190"/>
                </a:lnTo>
                <a:lnTo>
                  <a:pt x="2584124" y="2490190"/>
                </a:lnTo>
                <a:lnTo>
                  <a:pt x="2579756" y="2484766"/>
                </a:lnTo>
                <a:lnTo>
                  <a:pt x="2572069" y="2472487"/>
                </a:lnTo>
                <a:lnTo>
                  <a:pt x="2567559" y="2466975"/>
                </a:lnTo>
                <a:lnTo>
                  <a:pt x="2548024" y="2454374"/>
                </a:lnTo>
                <a:lnTo>
                  <a:pt x="2525966" y="2451133"/>
                </a:lnTo>
                <a:close/>
              </a:path>
              <a:path w="4069079" h="3504565">
                <a:moveTo>
                  <a:pt x="602813" y="2388819"/>
                </a:moveTo>
                <a:lnTo>
                  <a:pt x="580631" y="2388819"/>
                </a:lnTo>
                <a:lnTo>
                  <a:pt x="594150" y="2389972"/>
                </a:lnTo>
                <a:lnTo>
                  <a:pt x="602813" y="2388819"/>
                </a:lnTo>
                <a:close/>
              </a:path>
              <a:path w="4069079" h="3504565">
                <a:moveTo>
                  <a:pt x="1570482" y="0"/>
                </a:moveTo>
                <a:lnTo>
                  <a:pt x="1567180" y="3301"/>
                </a:lnTo>
                <a:lnTo>
                  <a:pt x="607161" y="2269020"/>
                </a:lnTo>
                <a:lnTo>
                  <a:pt x="591765" y="2269738"/>
                </a:lnTo>
                <a:lnTo>
                  <a:pt x="550595" y="2285619"/>
                </a:lnTo>
                <a:lnTo>
                  <a:pt x="533971" y="2315552"/>
                </a:lnTo>
                <a:lnTo>
                  <a:pt x="650462" y="2315552"/>
                </a:lnTo>
                <a:lnTo>
                  <a:pt x="650455" y="2312327"/>
                </a:lnTo>
                <a:lnTo>
                  <a:pt x="665407" y="2308999"/>
                </a:lnTo>
                <a:lnTo>
                  <a:pt x="647128" y="2308999"/>
                </a:lnTo>
                <a:lnTo>
                  <a:pt x="647128" y="2302332"/>
                </a:lnTo>
                <a:lnTo>
                  <a:pt x="643788" y="2292350"/>
                </a:lnTo>
                <a:lnTo>
                  <a:pt x="633793" y="2282355"/>
                </a:lnTo>
                <a:lnTo>
                  <a:pt x="627138" y="2282355"/>
                </a:lnTo>
                <a:lnTo>
                  <a:pt x="623811" y="2279027"/>
                </a:lnTo>
                <a:lnTo>
                  <a:pt x="626136" y="2275687"/>
                </a:lnTo>
                <a:lnTo>
                  <a:pt x="613816" y="2275687"/>
                </a:lnTo>
                <a:lnTo>
                  <a:pt x="1570482" y="19938"/>
                </a:lnTo>
                <a:lnTo>
                  <a:pt x="1574133" y="19938"/>
                </a:lnTo>
                <a:lnTo>
                  <a:pt x="1573784" y="3301"/>
                </a:lnTo>
                <a:lnTo>
                  <a:pt x="1570482" y="0"/>
                </a:lnTo>
                <a:close/>
              </a:path>
              <a:path w="4069079" h="3504565">
                <a:moveTo>
                  <a:pt x="1649608" y="925322"/>
                </a:moveTo>
                <a:lnTo>
                  <a:pt x="1637792" y="925322"/>
                </a:lnTo>
                <a:lnTo>
                  <a:pt x="3052953" y="1735201"/>
                </a:lnTo>
                <a:lnTo>
                  <a:pt x="3049063" y="1745182"/>
                </a:lnTo>
                <a:lnTo>
                  <a:pt x="3047079" y="1755140"/>
                </a:lnTo>
                <a:lnTo>
                  <a:pt x="3046380" y="1765097"/>
                </a:lnTo>
                <a:lnTo>
                  <a:pt x="3046349" y="1775079"/>
                </a:lnTo>
                <a:lnTo>
                  <a:pt x="647128" y="2308999"/>
                </a:lnTo>
                <a:lnTo>
                  <a:pt x="665407" y="2308999"/>
                </a:lnTo>
                <a:lnTo>
                  <a:pt x="3049651" y="1778381"/>
                </a:lnTo>
                <a:lnTo>
                  <a:pt x="3163802" y="1778381"/>
                </a:lnTo>
                <a:lnTo>
                  <a:pt x="3166903" y="1761871"/>
                </a:lnTo>
                <a:lnTo>
                  <a:pt x="3162546" y="1738669"/>
                </a:lnTo>
                <a:lnTo>
                  <a:pt x="3155914" y="1728470"/>
                </a:lnTo>
                <a:lnTo>
                  <a:pt x="3059557" y="1728470"/>
                </a:lnTo>
                <a:lnTo>
                  <a:pt x="1649608" y="925322"/>
                </a:lnTo>
                <a:close/>
              </a:path>
              <a:path w="4069079" h="3504565">
                <a:moveTo>
                  <a:pt x="617143" y="2272360"/>
                </a:moveTo>
                <a:lnTo>
                  <a:pt x="613816" y="2275687"/>
                </a:lnTo>
                <a:lnTo>
                  <a:pt x="620471" y="2275687"/>
                </a:lnTo>
                <a:lnTo>
                  <a:pt x="617143" y="2272360"/>
                </a:lnTo>
                <a:close/>
              </a:path>
              <a:path w="4069079" h="3504565">
                <a:moveTo>
                  <a:pt x="1574133" y="19938"/>
                </a:moveTo>
                <a:lnTo>
                  <a:pt x="1570482" y="19938"/>
                </a:lnTo>
                <a:lnTo>
                  <a:pt x="1584452" y="832104"/>
                </a:lnTo>
                <a:lnTo>
                  <a:pt x="1572079" y="834683"/>
                </a:lnTo>
                <a:lnTo>
                  <a:pt x="1528145" y="868719"/>
                </a:lnTo>
                <a:lnTo>
                  <a:pt x="1523793" y="891921"/>
                </a:lnTo>
                <a:lnTo>
                  <a:pt x="1528181" y="915122"/>
                </a:lnTo>
                <a:lnTo>
                  <a:pt x="1541272" y="935228"/>
                </a:lnTo>
                <a:lnTo>
                  <a:pt x="1544574" y="938530"/>
                </a:lnTo>
                <a:lnTo>
                  <a:pt x="1548002" y="941832"/>
                </a:lnTo>
                <a:lnTo>
                  <a:pt x="620471" y="2275687"/>
                </a:lnTo>
                <a:lnTo>
                  <a:pt x="626136" y="2275687"/>
                </a:lnTo>
                <a:lnTo>
                  <a:pt x="1554607" y="941832"/>
                </a:lnTo>
                <a:lnTo>
                  <a:pt x="1618480" y="941832"/>
                </a:lnTo>
                <a:lnTo>
                  <a:pt x="1627758" y="935228"/>
                </a:lnTo>
                <a:lnTo>
                  <a:pt x="1631188" y="931926"/>
                </a:lnTo>
                <a:lnTo>
                  <a:pt x="1637792" y="925322"/>
                </a:lnTo>
                <a:lnTo>
                  <a:pt x="1649608" y="925322"/>
                </a:lnTo>
                <a:lnTo>
                  <a:pt x="1637792" y="918591"/>
                </a:lnTo>
                <a:lnTo>
                  <a:pt x="1643207" y="900676"/>
                </a:lnTo>
                <a:lnTo>
                  <a:pt x="1643967" y="882427"/>
                </a:lnTo>
                <a:lnTo>
                  <a:pt x="1619668" y="841908"/>
                </a:lnTo>
                <a:lnTo>
                  <a:pt x="1591183" y="832104"/>
                </a:lnTo>
                <a:lnTo>
                  <a:pt x="1574133" y="19938"/>
                </a:lnTo>
                <a:close/>
              </a:path>
              <a:path w="4069079" h="3504565">
                <a:moveTo>
                  <a:pt x="3163802" y="1778381"/>
                </a:moveTo>
                <a:lnTo>
                  <a:pt x="3049651" y="1778381"/>
                </a:lnTo>
                <a:lnTo>
                  <a:pt x="3052181" y="1785852"/>
                </a:lnTo>
                <a:lnTo>
                  <a:pt x="3083036" y="1818197"/>
                </a:lnTo>
                <a:lnTo>
                  <a:pt x="3106229" y="1822592"/>
                </a:lnTo>
                <a:lnTo>
                  <a:pt x="3129422" y="1818249"/>
                </a:lnTo>
                <a:lnTo>
                  <a:pt x="3149473" y="1805178"/>
                </a:lnTo>
                <a:lnTo>
                  <a:pt x="3162546" y="1785072"/>
                </a:lnTo>
                <a:lnTo>
                  <a:pt x="3163802" y="1778381"/>
                </a:lnTo>
                <a:close/>
              </a:path>
              <a:path w="4069079" h="3504565">
                <a:moveTo>
                  <a:pt x="3106166" y="1701133"/>
                </a:moveTo>
                <a:lnTo>
                  <a:pt x="3082964" y="1705490"/>
                </a:lnTo>
                <a:lnTo>
                  <a:pt x="3062859" y="1718564"/>
                </a:lnTo>
                <a:lnTo>
                  <a:pt x="3059557" y="1721866"/>
                </a:lnTo>
                <a:lnTo>
                  <a:pt x="3059557" y="1728470"/>
                </a:lnTo>
                <a:lnTo>
                  <a:pt x="3155914" y="1728470"/>
                </a:lnTo>
                <a:lnTo>
                  <a:pt x="3149473" y="1718564"/>
                </a:lnTo>
                <a:lnTo>
                  <a:pt x="3129367" y="1705490"/>
                </a:lnTo>
                <a:lnTo>
                  <a:pt x="3106166" y="1701133"/>
                </a:lnTo>
                <a:close/>
              </a:path>
              <a:path w="4069079" h="3504565">
                <a:moveTo>
                  <a:pt x="1618480" y="941832"/>
                </a:moveTo>
                <a:lnTo>
                  <a:pt x="1554607" y="941832"/>
                </a:lnTo>
                <a:lnTo>
                  <a:pt x="1573091" y="950622"/>
                </a:lnTo>
                <a:lnTo>
                  <a:pt x="1592468" y="952246"/>
                </a:lnTo>
                <a:lnTo>
                  <a:pt x="1611203" y="947011"/>
                </a:lnTo>
                <a:lnTo>
                  <a:pt x="1618480" y="941832"/>
                </a:lnTo>
                <a:close/>
              </a:path>
            </a:pathLst>
          </a:custGeom>
          <a:solidFill>
            <a:srgbClr val="FFFFFF">
              <a:alpha val="25097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68309" y="2027159"/>
            <a:ext cx="5920740" cy="1897955"/>
          </a:xfrm>
          <a:prstGeom prst="rect">
            <a:avLst/>
          </a:prstGeom>
        </p:spPr>
        <p:txBody>
          <a:bodyPr vert="horz" wrap="square" lIns="0" tIns="127000" rIns="0" bIns="0" rtlCol="0" anchor="ctr">
            <a:spAutoFit/>
          </a:bodyPr>
          <a:lstStyle/>
          <a:p>
            <a:pPr marL="16933" marR="6773">
              <a:lnSpc>
                <a:spcPts val="6920"/>
              </a:lnSpc>
              <a:spcBef>
                <a:spcPts val="1000"/>
              </a:spcBef>
            </a:pPr>
            <a:r>
              <a:rPr sz="6400" spc="127" dirty="0"/>
              <a:t>Run </a:t>
            </a:r>
            <a:r>
              <a:rPr sz="6400" spc="-207" dirty="0"/>
              <a:t>&amp;</a:t>
            </a:r>
            <a:r>
              <a:rPr sz="6400" spc="-1247" dirty="0"/>
              <a:t> </a:t>
            </a:r>
            <a:r>
              <a:rPr sz="6400" spc="67" dirty="0"/>
              <a:t>Analyze  </a:t>
            </a:r>
            <a:r>
              <a:rPr sz="6400" spc="-13" dirty="0"/>
              <a:t>E2E</a:t>
            </a:r>
            <a:r>
              <a:rPr sz="6400" spc="-527" dirty="0"/>
              <a:t> </a:t>
            </a:r>
            <a:r>
              <a:rPr sz="6400" dirty="0"/>
              <a:t>Tests</a:t>
            </a:r>
            <a:endParaRPr sz="6400"/>
          </a:p>
        </p:txBody>
      </p:sp>
    </p:spTree>
    <p:extLst>
      <p:ext uri="{BB962C8B-B14F-4D97-AF65-F5344CB8AC3E}">
        <p14:creationId xmlns:p14="http://schemas.microsoft.com/office/powerpoint/2010/main" val="18628063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408178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73" dirty="0">
                <a:solidFill>
                  <a:srgbClr val="115F92"/>
                </a:solidFill>
              </a:rPr>
              <a:t>kubetest-</a:t>
            </a:r>
            <a:r>
              <a:rPr spc="-487" dirty="0">
                <a:solidFill>
                  <a:srgbClr val="115F92"/>
                </a:solidFill>
              </a:rPr>
              <a:t> </a:t>
            </a:r>
            <a:r>
              <a:rPr spc="87" dirty="0">
                <a:solidFill>
                  <a:srgbClr val="115F92"/>
                </a:solidFill>
              </a:rPr>
              <a:t>Run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14831" y="1463057"/>
            <a:ext cx="5686213" cy="581660"/>
            <a:chOff x="611123" y="1097292"/>
            <a:chExt cx="4264660" cy="436245"/>
          </a:xfrm>
        </p:grpSpPr>
        <p:sp>
          <p:nvSpPr>
            <p:cNvPr id="5" name="object 5"/>
            <p:cNvSpPr/>
            <p:nvPr/>
          </p:nvSpPr>
          <p:spPr>
            <a:xfrm>
              <a:off x="611123" y="1097292"/>
              <a:ext cx="4264152" cy="3901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862583" y="1098804"/>
              <a:ext cx="3328416" cy="4343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670559" y="1136904"/>
              <a:ext cx="4150360" cy="277495"/>
            </a:xfrm>
            <a:custGeom>
              <a:avLst/>
              <a:gdLst/>
              <a:ahLst/>
              <a:cxnLst/>
              <a:rect l="l" t="t" r="r" b="b"/>
              <a:pathLst>
                <a:path w="4150360" h="277494">
                  <a:moveTo>
                    <a:pt x="4149852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4149852" y="277367"/>
                  </a:lnTo>
                  <a:lnTo>
                    <a:pt x="414985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4079" y="1515871"/>
            <a:ext cx="5533813" cy="298373"/>
          </a:xfrm>
          <a:prstGeom prst="rect">
            <a:avLst/>
          </a:prstGeom>
        </p:spPr>
        <p:txBody>
          <a:bodyPr vert="horz" wrap="square" lIns="0" tIns="51647" rIns="0" bIns="0" rtlCol="0">
            <a:spAutoFit/>
          </a:bodyPr>
          <a:lstStyle/>
          <a:p>
            <a:pPr marL="456342">
              <a:spcBef>
                <a:spcPts val="407"/>
              </a:spcBef>
            </a:pPr>
            <a:r>
              <a:rPr sz="1600" spc="-13" dirty="0">
                <a:solidFill>
                  <a:srgbClr val="D9D9D9"/>
                </a:solidFill>
                <a:latin typeface="Arial"/>
                <a:cs typeface="Arial"/>
              </a:rPr>
              <a:t>go </a:t>
            </a:r>
            <a:r>
              <a:rPr sz="1600" spc="140" dirty="0">
                <a:solidFill>
                  <a:srgbClr val="D9D9D9"/>
                </a:solidFill>
                <a:latin typeface="Arial"/>
                <a:cs typeface="Arial"/>
              </a:rPr>
              <a:t>get </a:t>
            </a:r>
            <a:r>
              <a:rPr sz="1600" spc="167" dirty="0">
                <a:solidFill>
                  <a:srgbClr val="D9D9D9"/>
                </a:solidFill>
                <a:latin typeface="Arial"/>
                <a:cs typeface="Arial"/>
              </a:rPr>
              <a:t>-u</a:t>
            </a:r>
            <a:r>
              <a:rPr sz="1600" spc="14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213" dirty="0">
                <a:solidFill>
                  <a:srgbClr val="D9D9D9"/>
                </a:solidFill>
                <a:latin typeface="Arial"/>
                <a:cs typeface="Arial"/>
              </a:rPr>
              <a:t>k8s.io/test-infra/kubetest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8896" y="1533980"/>
            <a:ext cx="5686213" cy="1132840"/>
            <a:chOff x="614172" y="1150485"/>
            <a:chExt cx="4264660" cy="849630"/>
          </a:xfrm>
        </p:grpSpPr>
        <p:sp>
          <p:nvSpPr>
            <p:cNvPr id="10" name="object 10"/>
            <p:cNvSpPr/>
            <p:nvPr/>
          </p:nvSpPr>
          <p:spPr>
            <a:xfrm>
              <a:off x="687648" y="1150485"/>
              <a:ext cx="160020" cy="204470"/>
            </a:xfrm>
            <a:custGeom>
              <a:avLst/>
              <a:gdLst/>
              <a:ahLst/>
              <a:cxnLst/>
              <a:rect l="l" t="t" r="r" b="b"/>
              <a:pathLst>
                <a:path w="160019" h="204469">
                  <a:moveTo>
                    <a:pt x="0" y="0"/>
                  </a:moveTo>
                  <a:lnTo>
                    <a:pt x="0" y="204209"/>
                  </a:lnTo>
                  <a:lnTo>
                    <a:pt x="159603" y="102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14172" y="1563636"/>
              <a:ext cx="4264152" cy="3901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865631" y="1565148"/>
              <a:ext cx="2569464" cy="43433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73608" y="1603248"/>
              <a:ext cx="4150360" cy="265430"/>
            </a:xfrm>
            <a:custGeom>
              <a:avLst/>
              <a:gdLst/>
              <a:ahLst/>
              <a:cxnLst/>
              <a:rect l="l" t="t" r="r" b="b"/>
              <a:pathLst>
                <a:path w="4150360" h="265430">
                  <a:moveTo>
                    <a:pt x="0" y="265175"/>
                  </a:moveTo>
                  <a:lnTo>
                    <a:pt x="4149852" y="265175"/>
                  </a:lnTo>
                  <a:lnTo>
                    <a:pt x="4149852" y="0"/>
                  </a:lnTo>
                  <a:lnTo>
                    <a:pt x="0" y="0"/>
                  </a:lnTo>
                  <a:lnTo>
                    <a:pt x="0" y="265175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85951" y="2137663"/>
            <a:ext cx="5549900" cy="299226"/>
          </a:xfrm>
          <a:prstGeom prst="rect">
            <a:avLst/>
          </a:prstGeom>
        </p:spPr>
        <p:txBody>
          <a:bodyPr vert="horz" wrap="square" lIns="0" tIns="52492" rIns="0" bIns="0" rtlCol="0">
            <a:spAutoFit/>
          </a:bodyPr>
          <a:lstStyle/>
          <a:p>
            <a:pPr marL="468195">
              <a:spcBef>
                <a:spcPts val="412"/>
              </a:spcBef>
            </a:pPr>
            <a:r>
              <a:rPr sz="1600" spc="120" dirty="0">
                <a:solidFill>
                  <a:srgbClr val="D9D9D9"/>
                </a:solidFill>
                <a:latin typeface="Arial"/>
                <a:cs typeface="Arial"/>
              </a:rPr>
              <a:t>kubetest</a:t>
            </a:r>
            <a:r>
              <a:rPr sz="1600" spc="44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167" dirty="0">
                <a:solidFill>
                  <a:srgbClr val="D9D9D9"/>
                </a:solidFill>
                <a:latin typeface="Arial"/>
                <a:cs typeface="Arial"/>
              </a:rPr>
              <a:t>--extract=v1.11.3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4831" y="2155772"/>
            <a:ext cx="6461760" cy="3239347"/>
            <a:chOff x="611123" y="1616829"/>
            <a:chExt cx="4846320" cy="2429510"/>
          </a:xfrm>
        </p:grpSpPr>
        <p:sp>
          <p:nvSpPr>
            <p:cNvPr id="16" name="object 16"/>
            <p:cNvSpPr/>
            <p:nvPr/>
          </p:nvSpPr>
          <p:spPr>
            <a:xfrm>
              <a:off x="690696" y="1616829"/>
              <a:ext cx="160020" cy="204470"/>
            </a:xfrm>
            <a:custGeom>
              <a:avLst/>
              <a:gdLst/>
              <a:ahLst/>
              <a:cxnLst/>
              <a:rect l="l" t="t" r="r" b="b"/>
              <a:pathLst>
                <a:path w="160019" h="204469">
                  <a:moveTo>
                    <a:pt x="0" y="0"/>
                  </a:moveTo>
                  <a:lnTo>
                    <a:pt x="0" y="204209"/>
                  </a:lnTo>
                  <a:lnTo>
                    <a:pt x="159603" y="102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123" y="3610356"/>
              <a:ext cx="4846320" cy="39013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862583" y="3611880"/>
              <a:ext cx="4421124" cy="4343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70559" y="3649980"/>
              <a:ext cx="4732020" cy="277495"/>
            </a:xfrm>
            <a:custGeom>
              <a:avLst/>
              <a:gdLst/>
              <a:ahLst/>
              <a:cxnLst/>
              <a:rect l="l" t="t" r="r" b="b"/>
              <a:pathLst>
                <a:path w="4732020" h="277495">
                  <a:moveTo>
                    <a:pt x="4732020" y="0"/>
                  </a:moveTo>
                  <a:lnTo>
                    <a:pt x="0" y="0"/>
                  </a:lnTo>
                  <a:lnTo>
                    <a:pt x="0" y="277368"/>
                  </a:lnTo>
                  <a:lnTo>
                    <a:pt x="4732020" y="277368"/>
                  </a:lnTo>
                  <a:lnTo>
                    <a:pt x="473202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94079" y="4866639"/>
            <a:ext cx="6309360" cy="299227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456342">
              <a:spcBef>
                <a:spcPts val="413"/>
              </a:spcBef>
            </a:pPr>
            <a:r>
              <a:rPr sz="1600" spc="120" dirty="0">
                <a:solidFill>
                  <a:srgbClr val="D9D9D9"/>
                </a:solidFill>
                <a:latin typeface="Arial"/>
                <a:cs typeface="Arial"/>
              </a:rPr>
              <a:t>kubetest </a:t>
            </a:r>
            <a:r>
              <a:rPr sz="1600" spc="272" dirty="0">
                <a:solidFill>
                  <a:srgbClr val="D9D9D9"/>
                </a:solidFill>
                <a:latin typeface="Arial"/>
                <a:cs typeface="Arial"/>
              </a:rPr>
              <a:t>--test </a:t>
            </a:r>
            <a:r>
              <a:rPr sz="1600" spc="152" dirty="0">
                <a:solidFill>
                  <a:srgbClr val="D9D9D9"/>
                </a:solidFill>
                <a:latin typeface="Arial"/>
                <a:cs typeface="Arial"/>
              </a:rPr>
              <a:t>--provider=skeleton </a:t>
            </a: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&gt;</a:t>
            </a:r>
            <a:r>
              <a:rPr sz="1600" spc="113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247" dirty="0">
                <a:solidFill>
                  <a:srgbClr val="7E7E7E"/>
                </a:solidFill>
                <a:latin typeface="Arial"/>
                <a:cs typeface="Arial"/>
              </a:rPr>
              <a:t>testout.txt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14831" y="2972815"/>
            <a:ext cx="5686213" cy="2184400"/>
            <a:chOff x="611123" y="2229611"/>
            <a:chExt cx="4264660" cy="1638300"/>
          </a:xfrm>
        </p:grpSpPr>
        <p:sp>
          <p:nvSpPr>
            <p:cNvPr id="22" name="object 22"/>
            <p:cNvSpPr/>
            <p:nvPr/>
          </p:nvSpPr>
          <p:spPr>
            <a:xfrm>
              <a:off x="687648" y="3662209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19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611123" y="2229624"/>
              <a:ext cx="4264152" cy="3901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862583" y="2229611"/>
              <a:ext cx="1391412" cy="43433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670559" y="2269235"/>
              <a:ext cx="4150360" cy="277495"/>
            </a:xfrm>
            <a:custGeom>
              <a:avLst/>
              <a:gdLst/>
              <a:ahLst/>
              <a:cxnLst/>
              <a:rect l="l" t="t" r="r" b="b"/>
              <a:pathLst>
                <a:path w="4150360" h="277494">
                  <a:moveTo>
                    <a:pt x="4149852" y="0"/>
                  </a:moveTo>
                  <a:lnTo>
                    <a:pt x="0" y="0"/>
                  </a:lnTo>
                  <a:lnTo>
                    <a:pt x="0" y="277368"/>
                  </a:lnTo>
                  <a:lnTo>
                    <a:pt x="4149852" y="277368"/>
                  </a:lnTo>
                  <a:lnTo>
                    <a:pt x="414985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94079" y="3025647"/>
            <a:ext cx="5533813" cy="297517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56342">
              <a:spcBef>
                <a:spcPts val="400"/>
              </a:spcBef>
            </a:pPr>
            <a:r>
              <a:rPr sz="1600" spc="33" dirty="0">
                <a:solidFill>
                  <a:srgbClr val="D9D9D9"/>
                </a:solidFill>
                <a:latin typeface="Arial"/>
                <a:cs typeface="Arial"/>
              </a:rPr>
              <a:t>cd</a:t>
            </a:r>
            <a:r>
              <a:rPr sz="1600" spc="42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87" dirty="0">
                <a:solidFill>
                  <a:srgbClr val="D9D9D9"/>
                </a:solidFill>
                <a:latin typeface="Arial"/>
                <a:cs typeface="Arial"/>
              </a:rPr>
              <a:t>kubernetes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85612" y="2482764"/>
            <a:ext cx="5550747" cy="833120"/>
            <a:chOff x="664209" y="1862073"/>
            <a:chExt cx="4163060" cy="624840"/>
          </a:xfrm>
        </p:grpSpPr>
        <p:sp>
          <p:nvSpPr>
            <p:cNvPr id="28" name="object 28"/>
            <p:cNvSpPr/>
            <p:nvPr/>
          </p:nvSpPr>
          <p:spPr>
            <a:xfrm>
              <a:off x="687648" y="2281465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19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670559" y="1868423"/>
              <a:ext cx="4150360" cy="247015"/>
            </a:xfrm>
            <a:custGeom>
              <a:avLst/>
              <a:gdLst/>
              <a:ahLst/>
              <a:cxnLst/>
              <a:rect l="l" t="t" r="r" b="b"/>
              <a:pathLst>
                <a:path w="4150360" h="247014">
                  <a:moveTo>
                    <a:pt x="4149852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4149852" y="246887"/>
                  </a:lnTo>
                  <a:lnTo>
                    <a:pt x="41498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670559" y="1868423"/>
              <a:ext cx="4150360" cy="247015"/>
            </a:xfrm>
            <a:custGeom>
              <a:avLst/>
              <a:gdLst/>
              <a:ahLst/>
              <a:cxnLst/>
              <a:rect l="l" t="t" r="r" b="b"/>
              <a:pathLst>
                <a:path w="4150360" h="247014">
                  <a:moveTo>
                    <a:pt x="0" y="246887"/>
                  </a:moveTo>
                  <a:lnTo>
                    <a:pt x="4149852" y="246887"/>
                  </a:lnTo>
                  <a:lnTo>
                    <a:pt x="4149852" y="0"/>
                  </a:lnTo>
                  <a:lnTo>
                    <a:pt x="0" y="0"/>
                  </a:lnTo>
                  <a:lnTo>
                    <a:pt x="0" y="24688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85951" y="2491231"/>
            <a:ext cx="5549900" cy="258126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129537">
              <a:spcBef>
                <a:spcPts val="413"/>
              </a:spcBef>
            </a:pPr>
            <a:r>
              <a:rPr sz="1333" spc="67" dirty="0">
                <a:solidFill>
                  <a:srgbClr val="1780C3"/>
                </a:solidFill>
                <a:latin typeface="Arial"/>
                <a:cs typeface="Arial"/>
              </a:rPr>
              <a:t>kubernetes</a:t>
            </a:r>
            <a:endParaRPr sz="1333" dirty="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14831" y="3523505"/>
            <a:ext cx="5686213" cy="581660"/>
            <a:chOff x="611123" y="2642628"/>
            <a:chExt cx="4264660" cy="436245"/>
          </a:xfrm>
        </p:grpSpPr>
        <p:sp>
          <p:nvSpPr>
            <p:cNvPr id="33" name="object 33"/>
            <p:cNvSpPr/>
            <p:nvPr/>
          </p:nvSpPr>
          <p:spPr>
            <a:xfrm>
              <a:off x="611123" y="2642628"/>
              <a:ext cx="4264152" cy="3901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862583" y="2644139"/>
              <a:ext cx="3832860" cy="43434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670559" y="2682239"/>
              <a:ext cx="4150360" cy="277495"/>
            </a:xfrm>
            <a:custGeom>
              <a:avLst/>
              <a:gdLst/>
              <a:ahLst/>
              <a:cxnLst/>
              <a:rect l="l" t="t" r="r" b="b"/>
              <a:pathLst>
                <a:path w="4150360" h="277494">
                  <a:moveTo>
                    <a:pt x="4149852" y="0"/>
                  </a:moveTo>
                  <a:lnTo>
                    <a:pt x="0" y="0"/>
                  </a:lnTo>
                  <a:lnTo>
                    <a:pt x="0" y="277368"/>
                  </a:lnTo>
                  <a:lnTo>
                    <a:pt x="4149852" y="277368"/>
                  </a:lnTo>
                  <a:lnTo>
                    <a:pt x="414985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94079" y="3576319"/>
            <a:ext cx="5533813" cy="298373"/>
          </a:xfrm>
          <a:prstGeom prst="rect">
            <a:avLst/>
          </a:prstGeom>
        </p:spPr>
        <p:txBody>
          <a:bodyPr vert="horz" wrap="square" lIns="0" tIns="51647" rIns="0" bIns="0" rtlCol="0">
            <a:spAutoFit/>
          </a:bodyPr>
          <a:lstStyle/>
          <a:p>
            <a:pPr marL="456342">
              <a:spcBef>
                <a:spcPts val="407"/>
              </a:spcBef>
            </a:pPr>
            <a:r>
              <a:rPr sz="1600" spc="140" dirty="0">
                <a:solidFill>
                  <a:srgbClr val="D9D9D9"/>
                </a:solidFill>
                <a:latin typeface="Arial"/>
                <a:cs typeface="Arial"/>
              </a:rPr>
              <a:t>export</a:t>
            </a:r>
            <a:r>
              <a:rPr sz="1600" spc="42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7" dirty="0">
                <a:solidFill>
                  <a:srgbClr val="D9D9D9"/>
                </a:solidFill>
                <a:latin typeface="Arial"/>
                <a:cs typeface="Arial"/>
              </a:rPr>
              <a:t>KUBE_MASTER_IP=“192.168.26.10:6443”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14831" y="3592626"/>
            <a:ext cx="5686213" cy="1104053"/>
            <a:chOff x="611123" y="2694469"/>
            <a:chExt cx="4264660" cy="828040"/>
          </a:xfrm>
        </p:grpSpPr>
        <p:sp>
          <p:nvSpPr>
            <p:cNvPr id="38" name="object 38"/>
            <p:cNvSpPr/>
            <p:nvPr/>
          </p:nvSpPr>
          <p:spPr>
            <a:xfrm>
              <a:off x="687648" y="2694469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19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123" y="3086112"/>
              <a:ext cx="4264152" cy="3901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862583" y="3087624"/>
              <a:ext cx="2822448" cy="43433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670559" y="3125724"/>
              <a:ext cx="4150360" cy="277495"/>
            </a:xfrm>
            <a:custGeom>
              <a:avLst/>
              <a:gdLst/>
              <a:ahLst/>
              <a:cxnLst/>
              <a:rect l="l" t="t" r="r" b="b"/>
              <a:pathLst>
                <a:path w="4150360" h="277495">
                  <a:moveTo>
                    <a:pt x="4149852" y="0"/>
                  </a:moveTo>
                  <a:lnTo>
                    <a:pt x="0" y="0"/>
                  </a:lnTo>
                  <a:lnTo>
                    <a:pt x="0" y="277368"/>
                  </a:lnTo>
                  <a:lnTo>
                    <a:pt x="4149852" y="277368"/>
                  </a:lnTo>
                  <a:lnTo>
                    <a:pt x="414985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94079" y="4167631"/>
            <a:ext cx="5533813" cy="299227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456342">
              <a:spcBef>
                <a:spcPts val="413"/>
              </a:spcBef>
            </a:pPr>
            <a:r>
              <a:rPr sz="1600" spc="140" dirty="0">
                <a:solidFill>
                  <a:srgbClr val="D9D9D9"/>
                </a:solidFill>
                <a:latin typeface="Arial"/>
                <a:cs typeface="Arial"/>
              </a:rPr>
              <a:t>export</a:t>
            </a:r>
            <a:r>
              <a:rPr sz="1600" spc="42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-67" dirty="0">
                <a:solidFill>
                  <a:srgbClr val="D9D9D9"/>
                </a:solidFill>
                <a:latin typeface="Arial"/>
                <a:cs typeface="Arial"/>
              </a:rPr>
              <a:t>KUBE_MASTER=kube-master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14831" y="4183938"/>
            <a:ext cx="11377507" cy="2546773"/>
            <a:chOff x="611123" y="3137953"/>
            <a:chExt cx="8533130" cy="1910080"/>
          </a:xfrm>
        </p:grpSpPr>
        <p:sp>
          <p:nvSpPr>
            <p:cNvPr id="44" name="object 44"/>
            <p:cNvSpPr/>
            <p:nvPr/>
          </p:nvSpPr>
          <p:spPr>
            <a:xfrm>
              <a:off x="687648" y="3137953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19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611123" y="4094988"/>
              <a:ext cx="8532875" cy="39013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862583" y="4096512"/>
              <a:ext cx="7536180" cy="43433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670559" y="4134612"/>
              <a:ext cx="8473440" cy="277495"/>
            </a:xfrm>
            <a:custGeom>
              <a:avLst/>
              <a:gdLst/>
              <a:ahLst/>
              <a:cxnLst/>
              <a:rect l="l" t="t" r="r" b="b"/>
              <a:pathLst>
                <a:path w="8473440" h="277495">
                  <a:moveTo>
                    <a:pt x="8473440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8473440" y="277367"/>
                  </a:lnTo>
                  <a:lnTo>
                    <a:pt x="847344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687648" y="4146841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19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611123" y="4613148"/>
              <a:ext cx="8532875" cy="39013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0" name="object 50"/>
            <p:cNvSpPr/>
            <p:nvPr/>
          </p:nvSpPr>
          <p:spPr>
            <a:xfrm>
              <a:off x="862583" y="4613148"/>
              <a:ext cx="8208264" cy="43434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1" name="object 51"/>
            <p:cNvSpPr/>
            <p:nvPr/>
          </p:nvSpPr>
          <p:spPr>
            <a:xfrm>
              <a:off x="670559" y="4652772"/>
              <a:ext cx="8473440" cy="277495"/>
            </a:xfrm>
            <a:custGeom>
              <a:avLst/>
              <a:gdLst/>
              <a:ahLst/>
              <a:cxnLst/>
              <a:rect l="l" t="t" r="r" b="b"/>
              <a:pathLst>
                <a:path w="8473440" h="277495">
                  <a:moveTo>
                    <a:pt x="8473440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8473440" y="277367"/>
                  </a:lnTo>
                  <a:lnTo>
                    <a:pt x="847344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309612" y="2174748"/>
            <a:ext cx="4214707" cy="57195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>
              <a:spcBef>
                <a:spcPts val="140"/>
              </a:spcBef>
            </a:pPr>
            <a:r>
              <a:rPr spc="-193" dirty="0">
                <a:latin typeface="Arial Black"/>
                <a:cs typeface="Arial Black"/>
              </a:rPr>
              <a:t>Note: </a:t>
            </a:r>
            <a:r>
              <a:rPr spc="-240" dirty="0">
                <a:latin typeface="Arial Black"/>
                <a:cs typeface="Arial Black"/>
              </a:rPr>
              <a:t>Version must </a:t>
            </a:r>
            <a:r>
              <a:rPr spc="-260" dirty="0">
                <a:latin typeface="Arial Black"/>
                <a:cs typeface="Arial Black"/>
              </a:rPr>
              <a:t>match </a:t>
            </a:r>
            <a:r>
              <a:rPr spc="-213" dirty="0">
                <a:latin typeface="Arial Black"/>
                <a:cs typeface="Arial Black"/>
              </a:rPr>
              <a:t>the </a:t>
            </a:r>
            <a:r>
              <a:rPr spc="-233" dirty="0">
                <a:latin typeface="Arial Black"/>
                <a:cs typeface="Arial Black"/>
              </a:rPr>
              <a:t>kubernetes  server</a:t>
            </a:r>
            <a:r>
              <a:rPr spc="-107" dirty="0">
                <a:latin typeface="Arial Black"/>
                <a:cs typeface="Arial Black"/>
              </a:rPr>
              <a:t> </a:t>
            </a:r>
            <a:r>
              <a:rPr spc="-220" dirty="0">
                <a:latin typeface="Arial Black"/>
                <a:cs typeface="Arial Black"/>
              </a:rPr>
              <a:t>version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33940" y="5548713"/>
            <a:ext cx="10581640" cy="9840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120" dirty="0">
                <a:solidFill>
                  <a:srgbClr val="D9D9D9"/>
                </a:solidFill>
                <a:latin typeface="Arial"/>
                <a:cs typeface="Arial"/>
              </a:rPr>
              <a:t>kubetest </a:t>
            </a:r>
            <a:r>
              <a:rPr sz="1600" spc="272" dirty="0">
                <a:solidFill>
                  <a:srgbClr val="D9D9D9"/>
                </a:solidFill>
                <a:latin typeface="Arial"/>
                <a:cs typeface="Arial"/>
              </a:rPr>
              <a:t>--test </a:t>
            </a:r>
            <a:r>
              <a:rPr sz="1600" spc="152" dirty="0">
                <a:solidFill>
                  <a:srgbClr val="D9D9D9"/>
                </a:solidFill>
                <a:latin typeface="Arial"/>
                <a:cs typeface="Arial"/>
              </a:rPr>
              <a:t>--provider=skeleton --test_args="--ginkgo.focus=Secrets" </a:t>
            </a: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&gt;</a:t>
            </a:r>
            <a:r>
              <a:rPr sz="1600" spc="-16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247" dirty="0">
                <a:solidFill>
                  <a:srgbClr val="7E7E7E"/>
                </a:solidFill>
                <a:latin typeface="Arial"/>
                <a:cs typeface="Arial"/>
              </a:rPr>
              <a:t>testout.txt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1400">
              <a:latin typeface="Arial"/>
              <a:cs typeface="Arial"/>
            </a:endParaRPr>
          </a:p>
          <a:p>
            <a:pPr marL="16933"/>
            <a:r>
              <a:rPr sz="1600" spc="120" dirty="0">
                <a:solidFill>
                  <a:srgbClr val="D9D9D9"/>
                </a:solidFill>
                <a:latin typeface="Arial"/>
                <a:cs typeface="Arial"/>
              </a:rPr>
              <a:t>kubetest </a:t>
            </a:r>
            <a:r>
              <a:rPr sz="1600" spc="272" dirty="0">
                <a:solidFill>
                  <a:srgbClr val="D9D9D9"/>
                </a:solidFill>
                <a:latin typeface="Arial"/>
                <a:cs typeface="Arial"/>
              </a:rPr>
              <a:t>--test </a:t>
            </a:r>
            <a:r>
              <a:rPr sz="1600" spc="152" dirty="0">
                <a:solidFill>
                  <a:srgbClr val="D9D9D9"/>
                </a:solidFill>
                <a:latin typeface="Arial"/>
                <a:cs typeface="Arial"/>
              </a:rPr>
              <a:t>--provider=skeleton --test_args="--ginkgo.focus=\[Conformance\]" </a:t>
            </a: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&gt;</a:t>
            </a:r>
            <a:r>
              <a:rPr sz="1600" spc="-147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247" dirty="0">
                <a:solidFill>
                  <a:srgbClr val="7E7E7E"/>
                </a:solidFill>
                <a:latin typeface="Arial"/>
                <a:cs typeface="Arial"/>
              </a:rPr>
              <a:t>testout.txt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16864" y="6220001"/>
            <a:ext cx="213360" cy="274320"/>
          </a:xfrm>
          <a:custGeom>
            <a:avLst/>
            <a:gdLst/>
            <a:ahLst/>
            <a:cxnLst/>
            <a:rect l="l" t="t" r="r" b="b"/>
            <a:pathLst>
              <a:path w="160019" h="205739">
                <a:moveTo>
                  <a:pt x="0" y="0"/>
                </a:moveTo>
                <a:lnTo>
                  <a:pt x="0" y="205385"/>
                </a:lnTo>
                <a:lnTo>
                  <a:pt x="159603" y="102697"/>
                </a:lnTo>
                <a:lnTo>
                  <a:pt x="0" y="0"/>
                </a:lnTo>
                <a:close/>
              </a:path>
            </a:pathLst>
          </a:custGeom>
          <a:solidFill>
            <a:srgbClr val="39B54A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044306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3390" y="372224"/>
            <a:ext cx="408178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73" dirty="0">
                <a:solidFill>
                  <a:srgbClr val="115F92"/>
                </a:solidFill>
              </a:rPr>
              <a:t>kubetest-</a:t>
            </a:r>
            <a:r>
              <a:rPr spc="-487" dirty="0">
                <a:solidFill>
                  <a:srgbClr val="115F92"/>
                </a:solidFill>
              </a:rPr>
              <a:t> </a:t>
            </a:r>
            <a:r>
              <a:rPr spc="87" dirty="0">
                <a:solidFill>
                  <a:srgbClr val="115F92"/>
                </a:solidFill>
              </a:rPr>
              <a:t>Run</a:t>
            </a:r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87551" y="1162303"/>
            <a:ext cx="11213253" cy="5704840"/>
            <a:chOff x="740663" y="871727"/>
            <a:chExt cx="8409940" cy="4278630"/>
          </a:xfrm>
        </p:grpSpPr>
        <p:sp>
          <p:nvSpPr>
            <p:cNvPr id="5" name="object 5"/>
            <p:cNvSpPr/>
            <p:nvPr/>
          </p:nvSpPr>
          <p:spPr>
            <a:xfrm>
              <a:off x="800099" y="1647444"/>
              <a:ext cx="8343900" cy="3496310"/>
            </a:xfrm>
            <a:custGeom>
              <a:avLst/>
              <a:gdLst/>
              <a:ahLst/>
              <a:cxnLst/>
              <a:rect l="l" t="t" r="r" b="b"/>
              <a:pathLst>
                <a:path w="8343900" h="3496310">
                  <a:moveTo>
                    <a:pt x="8343900" y="0"/>
                  </a:moveTo>
                  <a:lnTo>
                    <a:pt x="0" y="0"/>
                  </a:lnTo>
                  <a:lnTo>
                    <a:pt x="0" y="3496054"/>
                  </a:lnTo>
                  <a:lnTo>
                    <a:pt x="8343900" y="3496054"/>
                  </a:lnTo>
                  <a:lnTo>
                    <a:pt x="8343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800099" y="1647444"/>
              <a:ext cx="8343900" cy="3496310"/>
            </a:xfrm>
            <a:custGeom>
              <a:avLst/>
              <a:gdLst/>
              <a:ahLst/>
              <a:cxnLst/>
              <a:rect l="l" t="t" r="r" b="b"/>
              <a:pathLst>
                <a:path w="8343900" h="3496310">
                  <a:moveTo>
                    <a:pt x="8343900" y="0"/>
                  </a:moveTo>
                  <a:lnTo>
                    <a:pt x="0" y="0"/>
                  </a:lnTo>
                  <a:lnTo>
                    <a:pt x="0" y="3496054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40663" y="871727"/>
              <a:ext cx="8366759" cy="3886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824483" y="871727"/>
              <a:ext cx="8208264" cy="4343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800099" y="911351"/>
              <a:ext cx="8252459" cy="276225"/>
            </a:xfrm>
            <a:custGeom>
              <a:avLst/>
              <a:gdLst/>
              <a:ahLst/>
              <a:cxnLst/>
              <a:rect l="l" t="t" r="r" b="b"/>
              <a:pathLst>
                <a:path w="8252459" h="276225">
                  <a:moveTo>
                    <a:pt x="8252459" y="0"/>
                  </a:moveTo>
                  <a:lnTo>
                    <a:pt x="0" y="0"/>
                  </a:lnTo>
                  <a:lnTo>
                    <a:pt x="0" y="275844"/>
                  </a:lnTo>
                  <a:lnTo>
                    <a:pt x="8252459" y="275844"/>
                  </a:lnTo>
                  <a:lnTo>
                    <a:pt x="825245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818405" y="923409"/>
              <a:ext cx="158750" cy="204470"/>
            </a:xfrm>
            <a:custGeom>
              <a:avLst/>
              <a:gdLst/>
              <a:ahLst/>
              <a:cxnLst/>
              <a:rect l="l" t="t" r="r" b="b"/>
              <a:pathLst>
                <a:path w="158750" h="204469">
                  <a:moveTo>
                    <a:pt x="0" y="0"/>
                  </a:moveTo>
                  <a:lnTo>
                    <a:pt x="0" y="204209"/>
                  </a:lnTo>
                  <a:lnTo>
                    <a:pt x="158690" y="102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40663" y="1359420"/>
              <a:ext cx="7104888" cy="3901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992123" y="1359408"/>
              <a:ext cx="1560576" cy="4343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800099" y="1399031"/>
              <a:ext cx="6990715" cy="277495"/>
            </a:xfrm>
            <a:custGeom>
              <a:avLst/>
              <a:gdLst/>
              <a:ahLst/>
              <a:cxnLst/>
              <a:rect l="l" t="t" r="r" b="b"/>
              <a:pathLst>
                <a:path w="6990715" h="277494">
                  <a:moveTo>
                    <a:pt x="6990588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6990588" y="277367"/>
                  </a:lnTo>
                  <a:lnTo>
                    <a:pt x="699058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71786" y="1248663"/>
            <a:ext cx="11021060" cy="575565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843">
              <a:spcBef>
                <a:spcPts val="133"/>
              </a:spcBef>
            </a:pPr>
            <a:r>
              <a:rPr sz="1600" spc="120" dirty="0">
                <a:solidFill>
                  <a:srgbClr val="D9D9D9"/>
                </a:solidFill>
                <a:latin typeface="Arial"/>
                <a:cs typeface="Arial"/>
              </a:rPr>
              <a:t>kubetest </a:t>
            </a:r>
            <a:r>
              <a:rPr sz="1600" spc="272" dirty="0">
                <a:solidFill>
                  <a:srgbClr val="D9D9D9"/>
                </a:solidFill>
                <a:latin typeface="Arial"/>
                <a:cs typeface="Arial"/>
              </a:rPr>
              <a:t>--test </a:t>
            </a:r>
            <a:r>
              <a:rPr sz="1600" spc="152" dirty="0">
                <a:solidFill>
                  <a:srgbClr val="D9D9D9"/>
                </a:solidFill>
                <a:latin typeface="Arial"/>
                <a:cs typeface="Arial"/>
              </a:rPr>
              <a:t>--provider=skeleton --test_args="--ginkgo.focus=\[Conformance\]" </a:t>
            </a:r>
            <a:r>
              <a:rPr sz="1600" spc="-60" dirty="0">
                <a:solidFill>
                  <a:srgbClr val="7E7E7E"/>
                </a:solidFill>
                <a:latin typeface="Arial"/>
                <a:cs typeface="Arial"/>
              </a:rPr>
              <a:t>&gt;</a:t>
            </a:r>
            <a:r>
              <a:rPr sz="1600" spc="27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00" spc="247" dirty="0">
                <a:solidFill>
                  <a:srgbClr val="7E7E7E"/>
                </a:solidFill>
                <a:latin typeface="Arial"/>
                <a:cs typeface="Arial"/>
              </a:rPr>
              <a:t>testout.txt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"/>
              <a:cs typeface="Arial"/>
            </a:endParaRPr>
          </a:p>
          <a:p>
            <a:pPr marL="352205">
              <a:spcBef>
                <a:spcPts val="1367"/>
              </a:spcBef>
            </a:pPr>
            <a:r>
              <a:rPr sz="1600" spc="167" dirty="0">
                <a:solidFill>
                  <a:srgbClr val="D9D9D9"/>
                </a:solidFill>
                <a:latin typeface="Arial"/>
                <a:cs typeface="Arial"/>
              </a:rPr>
              <a:t>cat</a:t>
            </a:r>
            <a:r>
              <a:rPr sz="1600" spc="4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spc="247" dirty="0">
                <a:solidFill>
                  <a:srgbClr val="D9D9D9"/>
                </a:solidFill>
                <a:latin typeface="Arial"/>
                <a:cs typeface="Arial"/>
              </a:rPr>
              <a:t>testout.txt</a:t>
            </a:r>
            <a:endParaRPr sz="1600" dirty="0">
              <a:latin typeface="Arial"/>
              <a:cs typeface="Arial"/>
            </a:endParaRPr>
          </a:p>
          <a:p>
            <a:pPr marL="16933" marR="844106">
              <a:spcBef>
                <a:spcPts val="693"/>
              </a:spcBef>
            </a:pPr>
            <a:r>
              <a:rPr sz="1333" spc="160" dirty="0">
                <a:solidFill>
                  <a:srgbClr val="2B8738"/>
                </a:solidFill>
                <a:latin typeface="Arial"/>
                <a:cs typeface="Arial"/>
              </a:rPr>
              <a:t>Client </a:t>
            </a:r>
            <a:r>
              <a:rPr sz="1333" spc="113" dirty="0">
                <a:solidFill>
                  <a:srgbClr val="2B8738"/>
                </a:solidFill>
                <a:latin typeface="Arial"/>
                <a:cs typeface="Arial"/>
              </a:rPr>
              <a:t>Version: </a:t>
            </a:r>
            <a:r>
              <a:rPr sz="1333" spc="152" dirty="0">
                <a:solidFill>
                  <a:srgbClr val="1780C3"/>
                </a:solidFill>
                <a:latin typeface="Arial"/>
                <a:cs typeface="Arial"/>
              </a:rPr>
              <a:t>version.Info{Major:"1", </a:t>
            </a:r>
            <a:r>
              <a:rPr sz="1333" spc="133" dirty="0">
                <a:solidFill>
                  <a:srgbClr val="1780C3"/>
                </a:solidFill>
                <a:latin typeface="Arial"/>
                <a:cs typeface="Arial"/>
              </a:rPr>
              <a:t>Minor:"11", </a:t>
            </a:r>
            <a:r>
              <a:rPr sz="1333" spc="140" dirty="0">
                <a:solidFill>
                  <a:srgbClr val="1780C3"/>
                </a:solidFill>
                <a:latin typeface="Arial"/>
                <a:cs typeface="Arial"/>
              </a:rPr>
              <a:t>GitVersion:"v1.11.8",  </a:t>
            </a:r>
            <a:r>
              <a:rPr sz="1333" spc="27" dirty="0">
                <a:solidFill>
                  <a:srgbClr val="1780C3"/>
                </a:solidFill>
                <a:latin typeface="Arial"/>
                <a:cs typeface="Arial"/>
              </a:rPr>
              <a:t>GitCommit:"4e209c9383fa00631d124c8adcc011d617339b3c", </a:t>
            </a:r>
            <a:r>
              <a:rPr sz="1333" spc="133" dirty="0">
                <a:solidFill>
                  <a:srgbClr val="1780C3"/>
                </a:solidFill>
                <a:latin typeface="Arial"/>
                <a:cs typeface="Arial"/>
              </a:rPr>
              <a:t>GitTreeState:"clean",</a:t>
            </a:r>
            <a:r>
              <a:rPr sz="1333" spc="507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BuildDate:"2019-02-28T18:49:34Z",</a:t>
            </a:r>
            <a:endParaRPr sz="1333" dirty="0">
              <a:latin typeface="Arial"/>
              <a:cs typeface="Arial"/>
            </a:endParaRPr>
          </a:p>
          <a:p>
            <a:pPr marL="16933" marR="7547845"/>
            <a:r>
              <a:rPr sz="1333" spc="100" dirty="0">
                <a:solidFill>
                  <a:srgbClr val="1780C3"/>
                </a:solidFill>
                <a:latin typeface="Arial"/>
                <a:cs typeface="Arial"/>
              </a:rPr>
              <a:t>GoVersion:"go1.10.8", </a:t>
            </a:r>
            <a:r>
              <a:rPr sz="1333" spc="-233" dirty="0">
                <a:solidFill>
                  <a:srgbClr val="1780C3"/>
                </a:solidFill>
                <a:latin typeface="Arial"/>
                <a:cs typeface="Arial"/>
              </a:rPr>
              <a:t>C  </a:t>
            </a:r>
            <a:r>
              <a:rPr sz="1333" spc="152" dirty="0">
                <a:solidFill>
                  <a:srgbClr val="1780C3"/>
                </a:solidFill>
                <a:latin typeface="Arial"/>
                <a:cs typeface="Arial"/>
              </a:rPr>
              <a:t>ompiler:"gc",</a:t>
            </a:r>
            <a:r>
              <a:rPr sz="1333" spc="327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120" dirty="0">
                <a:solidFill>
                  <a:srgbClr val="1780C3"/>
                </a:solidFill>
                <a:latin typeface="Arial"/>
                <a:cs typeface="Arial"/>
              </a:rPr>
              <a:t>Platform:"linux/amd64"}</a:t>
            </a:r>
            <a:endParaRPr sz="1333" dirty="0">
              <a:latin typeface="Arial"/>
              <a:cs typeface="Arial"/>
            </a:endParaRPr>
          </a:p>
          <a:p>
            <a:pPr marL="16933" marR="844106">
              <a:spcBef>
                <a:spcPts val="7"/>
              </a:spcBef>
            </a:pPr>
            <a:r>
              <a:rPr sz="1333" spc="73" dirty="0">
                <a:solidFill>
                  <a:srgbClr val="2B8738"/>
                </a:solidFill>
                <a:latin typeface="Arial"/>
                <a:cs typeface="Arial"/>
              </a:rPr>
              <a:t>Server </a:t>
            </a:r>
            <a:r>
              <a:rPr sz="1333" spc="113" dirty="0">
                <a:solidFill>
                  <a:srgbClr val="2B8738"/>
                </a:solidFill>
                <a:latin typeface="Arial"/>
                <a:cs typeface="Arial"/>
              </a:rPr>
              <a:t>Version: </a:t>
            </a:r>
            <a:r>
              <a:rPr sz="1333" spc="152" dirty="0">
                <a:solidFill>
                  <a:srgbClr val="1780C3"/>
                </a:solidFill>
                <a:latin typeface="Arial"/>
                <a:cs typeface="Arial"/>
              </a:rPr>
              <a:t>version.Info{Major:"1", </a:t>
            </a:r>
            <a:r>
              <a:rPr sz="1333" spc="133" dirty="0">
                <a:solidFill>
                  <a:srgbClr val="1780C3"/>
                </a:solidFill>
                <a:latin typeface="Arial"/>
                <a:cs typeface="Arial"/>
              </a:rPr>
              <a:t>Minor:"11", </a:t>
            </a:r>
            <a:r>
              <a:rPr sz="1333" spc="140" dirty="0">
                <a:solidFill>
                  <a:srgbClr val="1780C3"/>
                </a:solidFill>
                <a:latin typeface="Arial"/>
                <a:cs typeface="Arial"/>
              </a:rPr>
              <a:t>GitVersion:"v1.11.8",  </a:t>
            </a:r>
            <a:r>
              <a:rPr sz="1333" spc="27" dirty="0">
                <a:solidFill>
                  <a:srgbClr val="1780C3"/>
                </a:solidFill>
                <a:latin typeface="Arial"/>
                <a:cs typeface="Arial"/>
              </a:rPr>
              <a:t>GitCommit:"4e209c9383fa00631d124c8adcc011d617339b3c", </a:t>
            </a:r>
            <a:r>
              <a:rPr sz="1333" spc="133" dirty="0">
                <a:solidFill>
                  <a:srgbClr val="1780C3"/>
                </a:solidFill>
                <a:latin typeface="Arial"/>
                <a:cs typeface="Arial"/>
              </a:rPr>
              <a:t>GitTreeState:"clean",</a:t>
            </a:r>
            <a:r>
              <a:rPr sz="1333" spc="507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BuildDate:"2019-02-28T18:40:05Z",</a:t>
            </a:r>
            <a:endParaRPr sz="1333" dirty="0">
              <a:latin typeface="Arial"/>
              <a:cs typeface="Arial"/>
            </a:endParaRPr>
          </a:p>
          <a:p>
            <a:pPr marL="16933" marR="7547845"/>
            <a:r>
              <a:rPr sz="1333" spc="100" dirty="0">
                <a:solidFill>
                  <a:srgbClr val="1780C3"/>
                </a:solidFill>
                <a:latin typeface="Arial"/>
                <a:cs typeface="Arial"/>
              </a:rPr>
              <a:t>GoVersion:"go1.10.8", </a:t>
            </a:r>
            <a:r>
              <a:rPr sz="1333" spc="-233" dirty="0">
                <a:solidFill>
                  <a:srgbClr val="1780C3"/>
                </a:solidFill>
                <a:latin typeface="Arial"/>
                <a:cs typeface="Arial"/>
              </a:rPr>
              <a:t>C  </a:t>
            </a:r>
            <a:r>
              <a:rPr sz="1333" spc="152" dirty="0">
                <a:solidFill>
                  <a:srgbClr val="1780C3"/>
                </a:solidFill>
                <a:latin typeface="Arial"/>
                <a:cs typeface="Arial"/>
              </a:rPr>
              <a:t>ompiler:"gc",</a:t>
            </a:r>
            <a:r>
              <a:rPr sz="1333" spc="327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120" dirty="0">
                <a:solidFill>
                  <a:srgbClr val="1780C3"/>
                </a:solidFill>
                <a:latin typeface="Arial"/>
                <a:cs typeface="Arial"/>
              </a:rPr>
              <a:t>Platform:"linux/amd64"}</a:t>
            </a:r>
            <a:endParaRPr sz="1333" dirty="0">
              <a:latin typeface="Arial"/>
              <a:cs typeface="Arial"/>
            </a:endParaRPr>
          </a:p>
          <a:p>
            <a:pPr marL="16933"/>
            <a:r>
              <a:rPr sz="1333" spc="133" dirty="0">
                <a:solidFill>
                  <a:srgbClr val="1780C3"/>
                </a:solidFill>
                <a:latin typeface="Arial"/>
                <a:cs typeface="Arial"/>
              </a:rPr>
              <a:t>Setting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up </a:t>
            </a:r>
            <a:r>
              <a:rPr sz="1333" spc="207" dirty="0">
                <a:solidFill>
                  <a:srgbClr val="1780C3"/>
                </a:solidFill>
                <a:latin typeface="Arial"/>
                <a:cs typeface="Arial"/>
              </a:rPr>
              <a:t>for</a:t>
            </a:r>
            <a:r>
              <a:rPr sz="1333" spc="93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-47" dirty="0">
                <a:solidFill>
                  <a:srgbClr val="1780C3"/>
                </a:solidFill>
                <a:latin typeface="Arial"/>
                <a:cs typeface="Arial"/>
              </a:rPr>
              <a:t>KUBERNETES_PROVIDER="skeleton".</a:t>
            </a:r>
            <a:endParaRPr sz="1333" dirty="0">
              <a:latin typeface="Arial"/>
              <a:cs typeface="Arial"/>
            </a:endParaRPr>
          </a:p>
          <a:p>
            <a:pPr marL="16933"/>
            <a:r>
              <a:rPr sz="1333" spc="-40" dirty="0">
                <a:solidFill>
                  <a:srgbClr val="1780C3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1780C3"/>
                </a:solidFill>
                <a:latin typeface="Arial"/>
                <a:cs typeface="Arial"/>
              </a:rPr>
              <a:t>11:16:12.419: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INFO: </a:t>
            </a:r>
            <a:r>
              <a:rPr sz="1333" spc="107" dirty="0">
                <a:solidFill>
                  <a:srgbClr val="1780C3"/>
                </a:solidFill>
                <a:latin typeface="Arial"/>
                <a:cs typeface="Arial"/>
              </a:rPr>
              <a:t>Overriding </a:t>
            </a:r>
            <a:r>
              <a:rPr sz="1333" spc="152" dirty="0">
                <a:solidFill>
                  <a:srgbClr val="1780C3"/>
                </a:solidFill>
                <a:latin typeface="Arial"/>
                <a:cs typeface="Arial"/>
              </a:rPr>
              <a:t>default </a:t>
            </a:r>
            <a:r>
              <a:rPr sz="1333" spc="107" dirty="0">
                <a:solidFill>
                  <a:srgbClr val="1780C3"/>
                </a:solidFill>
                <a:latin typeface="Arial"/>
                <a:cs typeface="Arial"/>
              </a:rPr>
              <a:t>scale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value </a:t>
            </a:r>
            <a:r>
              <a:rPr sz="1333" spc="173" dirty="0">
                <a:solidFill>
                  <a:srgbClr val="1780C3"/>
                </a:solidFill>
                <a:latin typeface="Arial"/>
                <a:cs typeface="Arial"/>
              </a:rPr>
              <a:t>of </a:t>
            </a:r>
            <a:r>
              <a:rPr sz="1333" spc="73" dirty="0">
                <a:solidFill>
                  <a:srgbClr val="1780C3"/>
                </a:solidFill>
                <a:latin typeface="Arial"/>
                <a:cs typeface="Arial"/>
              </a:rPr>
              <a:t>zero </a:t>
            </a:r>
            <a:r>
              <a:rPr sz="1333" spc="173" dirty="0">
                <a:solidFill>
                  <a:srgbClr val="1780C3"/>
                </a:solidFill>
                <a:latin typeface="Arial"/>
                <a:cs typeface="Arial"/>
              </a:rPr>
              <a:t>to</a:t>
            </a:r>
            <a:r>
              <a:rPr sz="1333" spc="247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</a:t>
            </a:r>
            <a:endParaRPr sz="1333" dirty="0">
              <a:latin typeface="Arial"/>
              <a:cs typeface="Arial"/>
            </a:endParaRPr>
          </a:p>
          <a:p>
            <a:pPr marL="16933"/>
            <a:r>
              <a:rPr sz="1333" spc="-40" dirty="0">
                <a:solidFill>
                  <a:srgbClr val="1780C3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1780C3"/>
                </a:solidFill>
                <a:latin typeface="Arial"/>
                <a:cs typeface="Arial"/>
              </a:rPr>
              <a:t>11:16:12.419: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INFO: </a:t>
            </a:r>
            <a:r>
              <a:rPr sz="1333" spc="107" dirty="0">
                <a:solidFill>
                  <a:srgbClr val="1780C3"/>
                </a:solidFill>
                <a:latin typeface="Arial"/>
                <a:cs typeface="Arial"/>
              </a:rPr>
              <a:t>Overriding </a:t>
            </a:r>
            <a:r>
              <a:rPr sz="1333" spc="152" dirty="0">
                <a:solidFill>
                  <a:srgbClr val="1780C3"/>
                </a:solidFill>
                <a:latin typeface="Arial"/>
                <a:cs typeface="Arial"/>
              </a:rPr>
              <a:t>default </a:t>
            </a:r>
            <a:r>
              <a:rPr sz="1333" spc="120" dirty="0">
                <a:solidFill>
                  <a:srgbClr val="1780C3"/>
                </a:solidFill>
                <a:latin typeface="Arial"/>
                <a:cs typeface="Arial"/>
              </a:rPr>
              <a:t>milliseconds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value </a:t>
            </a:r>
            <a:r>
              <a:rPr sz="1333" spc="167" dirty="0">
                <a:solidFill>
                  <a:srgbClr val="1780C3"/>
                </a:solidFill>
                <a:latin typeface="Arial"/>
                <a:cs typeface="Arial"/>
              </a:rPr>
              <a:t>of </a:t>
            </a:r>
            <a:r>
              <a:rPr sz="1333" spc="80" dirty="0">
                <a:solidFill>
                  <a:srgbClr val="1780C3"/>
                </a:solidFill>
                <a:latin typeface="Arial"/>
                <a:cs typeface="Arial"/>
              </a:rPr>
              <a:t>zero </a:t>
            </a:r>
            <a:r>
              <a:rPr sz="1333" spc="167" dirty="0">
                <a:solidFill>
                  <a:srgbClr val="1780C3"/>
                </a:solidFill>
                <a:latin typeface="Arial"/>
                <a:cs typeface="Arial"/>
              </a:rPr>
              <a:t>to</a:t>
            </a:r>
            <a:r>
              <a:rPr sz="1333" spc="327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5000</a:t>
            </a:r>
            <a:endParaRPr sz="1333" dirty="0">
              <a:latin typeface="Arial"/>
              <a:cs typeface="Arial"/>
            </a:endParaRPr>
          </a:p>
          <a:p>
            <a:pPr marL="16933" marR="381837">
              <a:tabLst>
                <a:tab pos="2252077" algn="l"/>
              </a:tabLst>
            </a:pPr>
            <a:r>
              <a:rPr sz="1333" spc="60" dirty="0">
                <a:solidFill>
                  <a:srgbClr val="1780C3"/>
                </a:solidFill>
                <a:latin typeface="Arial"/>
                <a:cs typeface="Arial"/>
              </a:rPr>
              <a:t>I0314</a:t>
            </a:r>
            <a:r>
              <a:rPr sz="1333" spc="373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60" dirty="0">
                <a:solidFill>
                  <a:srgbClr val="1780C3"/>
                </a:solidFill>
                <a:latin typeface="Arial"/>
                <a:cs typeface="Arial"/>
              </a:rPr>
              <a:t>11:16:12.674596	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20093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e2e.go:333] </a:t>
            </a:r>
            <a:r>
              <a:rPr sz="1333" spc="152" dirty="0">
                <a:solidFill>
                  <a:srgbClr val="1780C3"/>
                </a:solidFill>
                <a:latin typeface="Arial"/>
                <a:cs typeface="Arial"/>
              </a:rPr>
              <a:t>Starting </a:t>
            </a:r>
            <a:r>
              <a:rPr sz="1333" spc="-20" dirty="0">
                <a:solidFill>
                  <a:srgbClr val="1780C3"/>
                </a:solidFill>
                <a:latin typeface="Arial"/>
                <a:cs typeface="Arial"/>
              </a:rPr>
              <a:t>e2e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run </a:t>
            </a:r>
            <a:r>
              <a:rPr sz="1333" spc="47" dirty="0">
                <a:solidFill>
                  <a:srgbClr val="1780C3"/>
                </a:solidFill>
                <a:latin typeface="Arial"/>
                <a:cs typeface="Arial"/>
              </a:rPr>
              <a:t>"933b1eae-464a-11e9-81ea-02f0aa2d49f4"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on </a:t>
            </a:r>
            <a:r>
              <a:rPr sz="1333" spc="20" dirty="0">
                <a:solidFill>
                  <a:srgbClr val="1780C3"/>
                </a:solidFill>
                <a:latin typeface="Arial"/>
                <a:cs typeface="Arial"/>
              </a:rPr>
              <a:t>Ginkgo </a:t>
            </a:r>
            <a:r>
              <a:rPr sz="1333" spc="-20" dirty="0">
                <a:solidFill>
                  <a:srgbClr val="1780C3"/>
                </a:solidFill>
                <a:latin typeface="Arial"/>
                <a:cs typeface="Arial"/>
              </a:rPr>
              <a:t>node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  </a:t>
            </a:r>
            <a:r>
              <a:rPr sz="1333" spc="20" dirty="0">
                <a:solidFill>
                  <a:srgbClr val="1780C3"/>
                </a:solidFill>
                <a:latin typeface="Arial"/>
                <a:cs typeface="Arial"/>
              </a:rPr>
              <a:t>Running </a:t>
            </a:r>
            <a:r>
              <a:rPr sz="1333" spc="160" dirty="0">
                <a:solidFill>
                  <a:srgbClr val="1780C3"/>
                </a:solidFill>
                <a:latin typeface="Arial"/>
                <a:cs typeface="Arial"/>
              </a:rPr>
              <a:t>Suite: </a:t>
            </a:r>
            <a:r>
              <a:rPr sz="1333" spc="40" dirty="0">
                <a:solidFill>
                  <a:srgbClr val="1780C3"/>
                </a:solidFill>
                <a:latin typeface="Arial"/>
                <a:cs typeface="Arial"/>
              </a:rPr>
              <a:t>Kubernetes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e2e</a:t>
            </a:r>
            <a:r>
              <a:rPr sz="1333" spc="-133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167" dirty="0">
                <a:solidFill>
                  <a:srgbClr val="1780C3"/>
                </a:solidFill>
                <a:latin typeface="Arial"/>
                <a:cs typeface="Arial"/>
              </a:rPr>
              <a:t>suite</a:t>
            </a:r>
            <a:endParaRPr sz="1333" dirty="0">
              <a:latin typeface="Arial"/>
              <a:cs typeface="Arial"/>
            </a:endParaRPr>
          </a:p>
          <a:p>
            <a:pPr marL="16933"/>
            <a:r>
              <a:rPr sz="1333" spc="-53" dirty="0">
                <a:solidFill>
                  <a:srgbClr val="1780C3"/>
                </a:solidFill>
                <a:latin typeface="Arial"/>
                <a:cs typeface="Arial"/>
              </a:rPr>
              <a:t>===================================</a:t>
            </a:r>
            <a:endParaRPr sz="1333" dirty="0">
              <a:latin typeface="Arial"/>
              <a:cs typeface="Arial"/>
            </a:endParaRPr>
          </a:p>
          <a:p>
            <a:pPr marL="16933" marR="6339682"/>
            <a:r>
              <a:rPr sz="1333" spc="-113" dirty="0">
                <a:solidFill>
                  <a:srgbClr val="1780C3"/>
                </a:solidFill>
                <a:latin typeface="Arial"/>
                <a:cs typeface="Arial"/>
              </a:rPr>
              <a:t>Random</a:t>
            </a:r>
            <a:r>
              <a:rPr sz="1333" spc="140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27" dirty="0">
                <a:solidFill>
                  <a:srgbClr val="1780C3"/>
                </a:solidFill>
                <a:latin typeface="Arial"/>
                <a:cs typeface="Arial"/>
              </a:rPr>
              <a:t>Seed: </a:t>
            </a:r>
            <a:r>
              <a:rPr sz="1333" spc="-20" dirty="0">
                <a:solidFill>
                  <a:srgbClr val="1780C3"/>
                </a:solidFill>
                <a:latin typeface="Arial"/>
                <a:cs typeface="Arial"/>
              </a:rPr>
              <a:t>1552562172 </a:t>
            </a:r>
            <a:r>
              <a:rPr sz="1333" spc="280" dirty="0">
                <a:solidFill>
                  <a:srgbClr val="1780C3"/>
                </a:solidFill>
                <a:latin typeface="Arial"/>
                <a:cs typeface="Arial"/>
              </a:rPr>
              <a:t>- </a:t>
            </a:r>
            <a:r>
              <a:rPr sz="1333" spc="193" dirty="0">
                <a:solidFill>
                  <a:srgbClr val="1780C3"/>
                </a:solidFill>
                <a:latin typeface="Arial"/>
                <a:cs typeface="Arial"/>
              </a:rPr>
              <a:t>Will </a:t>
            </a:r>
            <a:r>
              <a:rPr sz="1333" spc="33" dirty="0">
                <a:solidFill>
                  <a:srgbClr val="1780C3"/>
                </a:solidFill>
                <a:latin typeface="Arial"/>
                <a:cs typeface="Arial"/>
              </a:rPr>
              <a:t>randomize </a:t>
            </a:r>
            <a:r>
              <a:rPr sz="1333" spc="280" dirty="0">
                <a:solidFill>
                  <a:srgbClr val="1780C3"/>
                </a:solidFill>
                <a:latin typeface="Arial"/>
                <a:cs typeface="Arial"/>
              </a:rPr>
              <a:t>all </a:t>
            </a:r>
            <a:r>
              <a:rPr sz="1333" spc="33" dirty="0">
                <a:solidFill>
                  <a:srgbClr val="1780C3"/>
                </a:solidFill>
                <a:latin typeface="Arial"/>
                <a:cs typeface="Arial"/>
              </a:rPr>
              <a:t>specs  </a:t>
            </a:r>
            <a:r>
              <a:rPr sz="1333" spc="193" dirty="0">
                <a:solidFill>
                  <a:srgbClr val="1780C3"/>
                </a:solidFill>
                <a:latin typeface="Arial"/>
                <a:cs typeface="Arial"/>
              </a:rPr>
              <a:t>Will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run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167 </a:t>
            </a:r>
            <a:r>
              <a:rPr sz="1333" spc="167" dirty="0">
                <a:solidFill>
                  <a:srgbClr val="1780C3"/>
                </a:solidFill>
                <a:latin typeface="Arial"/>
                <a:cs typeface="Arial"/>
              </a:rPr>
              <a:t>of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1008</a:t>
            </a:r>
            <a:r>
              <a:rPr sz="1333" spc="7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27" dirty="0">
                <a:solidFill>
                  <a:srgbClr val="1780C3"/>
                </a:solidFill>
                <a:latin typeface="Arial"/>
                <a:cs typeface="Arial"/>
              </a:rPr>
              <a:t>specs</a:t>
            </a:r>
            <a:endParaRPr sz="1333" dirty="0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1333" dirty="0">
              <a:latin typeface="Arial"/>
              <a:cs typeface="Arial"/>
            </a:endParaRPr>
          </a:p>
          <a:p>
            <a:pPr marL="16933"/>
            <a:r>
              <a:rPr sz="1333" spc="-40" dirty="0">
                <a:solidFill>
                  <a:srgbClr val="1780C3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1780C3"/>
                </a:solidFill>
                <a:latin typeface="Arial"/>
                <a:cs typeface="Arial"/>
              </a:rPr>
              <a:t>11:16:12.731: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INFO: </a:t>
            </a:r>
            <a:r>
              <a:rPr sz="1333" spc="-53" dirty="0">
                <a:solidFill>
                  <a:srgbClr val="1780C3"/>
                </a:solidFill>
                <a:latin typeface="Arial"/>
                <a:cs typeface="Arial"/>
              </a:rPr>
              <a:t>&gt;&gt;&gt; </a:t>
            </a:r>
            <a:r>
              <a:rPr sz="1333" spc="80" dirty="0">
                <a:solidFill>
                  <a:srgbClr val="1780C3"/>
                </a:solidFill>
                <a:latin typeface="Arial"/>
                <a:cs typeface="Arial"/>
              </a:rPr>
              <a:t>kubeConfig:</a:t>
            </a:r>
            <a:r>
              <a:rPr sz="1333" spc="293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160" dirty="0">
                <a:solidFill>
                  <a:srgbClr val="1780C3"/>
                </a:solidFill>
                <a:latin typeface="Arial"/>
                <a:cs typeface="Arial"/>
              </a:rPr>
              <a:t>/root/.kube/config</a:t>
            </a:r>
            <a:endParaRPr sz="1333" dirty="0">
              <a:latin typeface="Arial"/>
              <a:cs typeface="Arial"/>
            </a:endParaRPr>
          </a:p>
          <a:p>
            <a:pPr marL="16933">
              <a:spcBef>
                <a:spcPts val="7"/>
              </a:spcBef>
            </a:pPr>
            <a:r>
              <a:rPr sz="1333" spc="-40" dirty="0">
                <a:solidFill>
                  <a:srgbClr val="1780C3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1780C3"/>
                </a:solidFill>
                <a:latin typeface="Arial"/>
                <a:cs typeface="Arial"/>
              </a:rPr>
              <a:t>11:16:12.745: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INFO: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Waiting </a:t>
            </a:r>
            <a:r>
              <a:rPr sz="1333" spc="-20" dirty="0">
                <a:solidFill>
                  <a:srgbClr val="1780C3"/>
                </a:solidFill>
                <a:latin typeface="Arial"/>
                <a:cs typeface="Arial"/>
              </a:rPr>
              <a:t>up </a:t>
            </a:r>
            <a:r>
              <a:rPr sz="1333" spc="173" dirty="0">
                <a:solidFill>
                  <a:srgbClr val="1780C3"/>
                </a:solidFill>
                <a:latin typeface="Arial"/>
                <a:cs typeface="Arial"/>
              </a:rPr>
              <a:t>to </a:t>
            </a:r>
            <a:r>
              <a:rPr sz="1333" spc="-80" dirty="0">
                <a:solidFill>
                  <a:srgbClr val="1780C3"/>
                </a:solidFill>
                <a:latin typeface="Arial"/>
                <a:cs typeface="Arial"/>
              </a:rPr>
              <a:t>30m0s </a:t>
            </a:r>
            <a:r>
              <a:rPr sz="1333" spc="207" dirty="0">
                <a:solidFill>
                  <a:srgbClr val="1780C3"/>
                </a:solidFill>
                <a:latin typeface="Arial"/>
                <a:cs typeface="Arial"/>
              </a:rPr>
              <a:t>for </a:t>
            </a:r>
            <a:r>
              <a:rPr sz="1333" spc="280" dirty="0">
                <a:solidFill>
                  <a:srgbClr val="1780C3"/>
                </a:solidFill>
                <a:latin typeface="Arial"/>
                <a:cs typeface="Arial"/>
              </a:rPr>
              <a:t>all </a:t>
            </a:r>
            <a:r>
              <a:rPr sz="1333" spc="147" dirty="0">
                <a:solidFill>
                  <a:srgbClr val="1780C3"/>
                </a:solidFill>
                <a:latin typeface="Arial"/>
                <a:cs typeface="Arial"/>
              </a:rPr>
              <a:t>(but </a:t>
            </a:r>
            <a:r>
              <a:rPr sz="1333" spc="133" dirty="0">
                <a:solidFill>
                  <a:srgbClr val="1780C3"/>
                </a:solidFill>
                <a:latin typeface="Arial"/>
                <a:cs typeface="Arial"/>
              </a:rPr>
              <a:t>0) </a:t>
            </a:r>
            <a:r>
              <a:rPr sz="1333" spc="-7" dirty="0">
                <a:solidFill>
                  <a:srgbClr val="1780C3"/>
                </a:solidFill>
                <a:latin typeface="Arial"/>
                <a:cs typeface="Arial"/>
              </a:rPr>
              <a:t>nodes </a:t>
            </a:r>
            <a:r>
              <a:rPr sz="1333" spc="173" dirty="0">
                <a:solidFill>
                  <a:srgbClr val="1780C3"/>
                </a:solidFill>
                <a:latin typeface="Arial"/>
                <a:cs typeface="Arial"/>
              </a:rPr>
              <a:t>to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be</a:t>
            </a:r>
            <a:r>
              <a:rPr sz="1333" spc="73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80" dirty="0">
                <a:solidFill>
                  <a:srgbClr val="1780C3"/>
                </a:solidFill>
                <a:latin typeface="Arial"/>
                <a:cs typeface="Arial"/>
              </a:rPr>
              <a:t>schedulable</a:t>
            </a:r>
            <a:endParaRPr sz="1333" dirty="0">
              <a:latin typeface="Arial"/>
              <a:cs typeface="Arial"/>
            </a:endParaRPr>
          </a:p>
          <a:p>
            <a:pPr marL="16933" marR="6773"/>
            <a:r>
              <a:rPr sz="1333" spc="-40" dirty="0">
                <a:solidFill>
                  <a:srgbClr val="1780C3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1780C3"/>
                </a:solidFill>
                <a:latin typeface="Arial"/>
                <a:cs typeface="Arial"/>
              </a:rPr>
              <a:t>11:16:12.770: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INFO: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Waiting </a:t>
            </a:r>
            <a:r>
              <a:rPr sz="1333" spc="-20" dirty="0">
                <a:solidFill>
                  <a:srgbClr val="1780C3"/>
                </a:solidFill>
                <a:latin typeface="Arial"/>
                <a:cs typeface="Arial"/>
              </a:rPr>
              <a:t>up </a:t>
            </a:r>
            <a:r>
              <a:rPr sz="1333" spc="173" dirty="0">
                <a:solidFill>
                  <a:srgbClr val="1780C3"/>
                </a:solidFill>
                <a:latin typeface="Arial"/>
                <a:cs typeface="Arial"/>
              </a:rPr>
              <a:t>to </a:t>
            </a:r>
            <a:r>
              <a:rPr sz="1333" spc="-80" dirty="0">
                <a:solidFill>
                  <a:srgbClr val="1780C3"/>
                </a:solidFill>
                <a:latin typeface="Arial"/>
                <a:cs typeface="Arial"/>
              </a:rPr>
              <a:t>10m0s </a:t>
            </a:r>
            <a:r>
              <a:rPr sz="1333" spc="207" dirty="0">
                <a:solidFill>
                  <a:srgbClr val="1780C3"/>
                </a:solidFill>
                <a:latin typeface="Arial"/>
                <a:cs typeface="Arial"/>
              </a:rPr>
              <a:t>for </a:t>
            </a:r>
            <a:r>
              <a:rPr sz="1333" spc="280" dirty="0">
                <a:solidFill>
                  <a:srgbClr val="1780C3"/>
                </a:solidFill>
                <a:latin typeface="Arial"/>
                <a:cs typeface="Arial"/>
              </a:rPr>
              <a:t>all </a:t>
            </a:r>
            <a:r>
              <a:rPr sz="1333" dirty="0">
                <a:solidFill>
                  <a:srgbClr val="1780C3"/>
                </a:solidFill>
                <a:latin typeface="Arial"/>
                <a:cs typeface="Arial"/>
              </a:rPr>
              <a:t>pods </a:t>
            </a:r>
            <a:r>
              <a:rPr sz="1333" spc="40" dirty="0">
                <a:solidFill>
                  <a:srgbClr val="1780C3"/>
                </a:solidFill>
                <a:latin typeface="Arial"/>
                <a:cs typeface="Arial"/>
              </a:rPr>
              <a:t>(need </a:t>
            </a:r>
            <a:r>
              <a:rPr sz="1333" spc="173" dirty="0">
                <a:solidFill>
                  <a:srgbClr val="1780C3"/>
                </a:solidFill>
                <a:latin typeface="Arial"/>
                <a:cs typeface="Arial"/>
              </a:rPr>
              <a:t>at </a:t>
            </a:r>
            <a:r>
              <a:rPr sz="1333" spc="167" dirty="0">
                <a:solidFill>
                  <a:srgbClr val="1780C3"/>
                </a:solidFill>
                <a:latin typeface="Arial"/>
                <a:cs typeface="Arial"/>
              </a:rPr>
              <a:t>least </a:t>
            </a:r>
            <a:r>
              <a:rPr sz="1333" spc="133" dirty="0">
                <a:solidFill>
                  <a:srgbClr val="1780C3"/>
                </a:solidFill>
                <a:latin typeface="Arial"/>
                <a:cs typeface="Arial"/>
              </a:rPr>
              <a:t>0) </a:t>
            </a:r>
            <a:r>
              <a:rPr sz="1333" spc="207" dirty="0">
                <a:solidFill>
                  <a:srgbClr val="1780C3"/>
                </a:solidFill>
                <a:latin typeface="Arial"/>
                <a:cs typeface="Arial"/>
              </a:rPr>
              <a:t>in </a:t>
            </a:r>
            <a:r>
              <a:rPr sz="1333" spc="-40" dirty="0">
                <a:solidFill>
                  <a:srgbClr val="1780C3"/>
                </a:solidFill>
                <a:latin typeface="Arial"/>
                <a:cs typeface="Arial"/>
              </a:rPr>
              <a:t>namespace </a:t>
            </a:r>
            <a:r>
              <a:rPr sz="1333" spc="107" dirty="0">
                <a:solidFill>
                  <a:srgbClr val="1780C3"/>
                </a:solidFill>
                <a:latin typeface="Arial"/>
                <a:cs typeface="Arial"/>
              </a:rPr>
              <a:t>'kube-system' </a:t>
            </a:r>
            <a:r>
              <a:rPr sz="1333" spc="173" dirty="0">
                <a:solidFill>
                  <a:srgbClr val="1780C3"/>
                </a:solidFill>
                <a:latin typeface="Arial"/>
                <a:cs typeface="Arial"/>
              </a:rPr>
              <a:t>to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be </a:t>
            </a:r>
            <a:r>
              <a:rPr sz="1333" spc="93" dirty="0">
                <a:solidFill>
                  <a:srgbClr val="1780C3"/>
                </a:solidFill>
                <a:latin typeface="Arial"/>
                <a:cs typeface="Arial"/>
              </a:rPr>
              <a:t>running 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and</a:t>
            </a:r>
            <a:r>
              <a:rPr sz="1333" spc="7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60" dirty="0">
                <a:solidFill>
                  <a:srgbClr val="1780C3"/>
                </a:solidFill>
                <a:latin typeface="Arial"/>
                <a:cs typeface="Arial"/>
              </a:rPr>
              <a:t>ready</a:t>
            </a:r>
            <a:endParaRPr sz="1333" dirty="0">
              <a:latin typeface="Arial"/>
              <a:cs typeface="Arial"/>
            </a:endParaRPr>
          </a:p>
          <a:p>
            <a:pPr marL="16933" marR="938930"/>
            <a:r>
              <a:rPr sz="1333" spc="-40" dirty="0">
                <a:solidFill>
                  <a:srgbClr val="1780C3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1780C3"/>
                </a:solidFill>
                <a:latin typeface="Arial"/>
                <a:cs typeface="Arial"/>
              </a:rPr>
              <a:t>11:16:12.831: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INFO: </a:t>
            </a:r>
            <a:r>
              <a:rPr sz="1333" spc="-13" dirty="0">
                <a:solidFill>
                  <a:srgbClr val="2B8738"/>
                </a:solidFill>
                <a:latin typeface="Arial"/>
                <a:cs typeface="Arial"/>
              </a:rPr>
              <a:t>12 </a:t>
            </a:r>
            <a:r>
              <a:rPr sz="1333" spc="353" dirty="0">
                <a:solidFill>
                  <a:srgbClr val="2B8738"/>
                </a:solidFill>
                <a:latin typeface="Arial"/>
                <a:cs typeface="Arial"/>
              </a:rPr>
              <a:t>/ </a:t>
            </a:r>
            <a:r>
              <a:rPr sz="1333" spc="-13" dirty="0">
                <a:solidFill>
                  <a:srgbClr val="2B8738"/>
                </a:solidFill>
                <a:latin typeface="Arial"/>
                <a:cs typeface="Arial"/>
              </a:rPr>
              <a:t>13 </a:t>
            </a:r>
            <a:r>
              <a:rPr sz="1333" dirty="0">
                <a:solidFill>
                  <a:srgbClr val="2B8738"/>
                </a:solidFill>
                <a:latin typeface="Arial"/>
                <a:cs typeface="Arial"/>
              </a:rPr>
              <a:t>pods </a:t>
            </a:r>
            <a:r>
              <a:rPr sz="1333" spc="207" dirty="0">
                <a:solidFill>
                  <a:srgbClr val="2B8738"/>
                </a:solidFill>
                <a:latin typeface="Arial"/>
                <a:cs typeface="Arial"/>
              </a:rPr>
              <a:t>in </a:t>
            </a:r>
            <a:r>
              <a:rPr sz="1333" spc="-40" dirty="0">
                <a:solidFill>
                  <a:srgbClr val="2B8738"/>
                </a:solidFill>
                <a:latin typeface="Arial"/>
                <a:cs typeface="Arial"/>
              </a:rPr>
              <a:t>namespace </a:t>
            </a:r>
            <a:r>
              <a:rPr sz="1333" spc="107" dirty="0">
                <a:solidFill>
                  <a:srgbClr val="2B8738"/>
                </a:solidFill>
                <a:latin typeface="Arial"/>
                <a:cs typeface="Arial"/>
              </a:rPr>
              <a:t>'kube-system' </a:t>
            </a:r>
            <a:r>
              <a:rPr sz="1333" spc="87" dirty="0">
                <a:solidFill>
                  <a:srgbClr val="2B8738"/>
                </a:solidFill>
                <a:latin typeface="Arial"/>
                <a:cs typeface="Arial"/>
              </a:rPr>
              <a:t>are running </a:t>
            </a:r>
            <a:r>
              <a:rPr sz="1333" spc="-20" dirty="0">
                <a:solidFill>
                  <a:srgbClr val="1780C3"/>
                </a:solidFill>
                <a:latin typeface="Arial"/>
                <a:cs typeface="Arial"/>
              </a:rPr>
              <a:t>and </a:t>
            </a:r>
            <a:r>
              <a:rPr sz="1333" spc="60" dirty="0">
                <a:solidFill>
                  <a:srgbClr val="1780C3"/>
                </a:solidFill>
                <a:latin typeface="Arial"/>
                <a:cs typeface="Arial"/>
              </a:rPr>
              <a:t>ready </a:t>
            </a:r>
            <a:r>
              <a:rPr sz="1333" spc="133" dirty="0">
                <a:solidFill>
                  <a:srgbClr val="1780C3"/>
                </a:solidFill>
                <a:latin typeface="Arial"/>
                <a:cs typeface="Arial"/>
              </a:rPr>
              <a:t>(0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seconds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elapsed)  </a:t>
            </a:r>
            <a:r>
              <a:rPr sz="1333" spc="-40" dirty="0">
                <a:solidFill>
                  <a:srgbClr val="1780C3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1780C3"/>
                </a:solidFill>
                <a:latin typeface="Arial"/>
                <a:cs typeface="Arial"/>
              </a:rPr>
              <a:t>11:16:12.831: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INFO: </a:t>
            </a:r>
            <a:r>
              <a:rPr sz="1333" spc="47" dirty="0">
                <a:solidFill>
                  <a:srgbClr val="1780C3"/>
                </a:solidFill>
                <a:latin typeface="Arial"/>
                <a:cs typeface="Arial"/>
              </a:rPr>
              <a:t>expected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2 pod </a:t>
            </a:r>
            <a:r>
              <a:rPr sz="1333" spc="152" dirty="0">
                <a:solidFill>
                  <a:srgbClr val="1780C3"/>
                </a:solidFill>
                <a:latin typeface="Arial"/>
                <a:cs typeface="Arial"/>
              </a:rPr>
              <a:t>replicas </a:t>
            </a:r>
            <a:r>
              <a:rPr sz="1333" spc="200" dirty="0">
                <a:solidFill>
                  <a:srgbClr val="1780C3"/>
                </a:solidFill>
                <a:latin typeface="Arial"/>
                <a:cs typeface="Arial"/>
              </a:rPr>
              <a:t>in </a:t>
            </a:r>
            <a:r>
              <a:rPr sz="1333" spc="-40" dirty="0">
                <a:solidFill>
                  <a:srgbClr val="1780C3"/>
                </a:solidFill>
                <a:latin typeface="Arial"/>
                <a:cs typeface="Arial"/>
              </a:rPr>
              <a:t>namespace </a:t>
            </a:r>
            <a:r>
              <a:rPr sz="1333" spc="120" dirty="0">
                <a:solidFill>
                  <a:srgbClr val="1780C3"/>
                </a:solidFill>
                <a:latin typeface="Arial"/>
                <a:cs typeface="Arial"/>
              </a:rPr>
              <a:t>'kube-system',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2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are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Running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and</a:t>
            </a:r>
            <a:r>
              <a:rPr sz="1333" spc="233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20" dirty="0">
                <a:solidFill>
                  <a:srgbClr val="1780C3"/>
                </a:solidFill>
                <a:latin typeface="Arial"/>
                <a:cs typeface="Arial"/>
              </a:rPr>
              <a:t>Ready.</a:t>
            </a:r>
            <a:endParaRPr sz="1333" dirty="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91207" y="1881681"/>
            <a:ext cx="211667" cy="274320"/>
          </a:xfrm>
          <a:custGeom>
            <a:avLst/>
            <a:gdLst/>
            <a:ahLst/>
            <a:cxnLst/>
            <a:rect l="l" t="t" r="r" b="b"/>
            <a:pathLst>
              <a:path w="158750" h="205740">
                <a:moveTo>
                  <a:pt x="0" y="0"/>
                </a:moveTo>
                <a:lnTo>
                  <a:pt x="0" y="205385"/>
                </a:lnTo>
                <a:lnTo>
                  <a:pt x="158690" y="102697"/>
                </a:lnTo>
                <a:lnTo>
                  <a:pt x="0" y="0"/>
                </a:lnTo>
                <a:close/>
              </a:path>
            </a:pathLst>
          </a:custGeom>
          <a:solidFill>
            <a:srgbClr val="39B54A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635529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943389" y="367114"/>
            <a:ext cx="358987" cy="69420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400" spc="-53" dirty="0">
                <a:solidFill>
                  <a:srgbClr val="115F92"/>
                </a:solidFill>
                <a:latin typeface="Verdana"/>
                <a:cs typeface="Verdana"/>
              </a:rPr>
              <a:t>k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4986" y="401929"/>
            <a:ext cx="3722793" cy="6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139"/>
              </a:lnSpc>
            </a:pPr>
            <a:r>
              <a:rPr sz="4400" spc="87" dirty="0">
                <a:solidFill>
                  <a:srgbClr val="115F92"/>
                </a:solidFill>
                <a:latin typeface="Verdana"/>
                <a:cs typeface="Verdana"/>
              </a:rPr>
              <a:t>ubetest-</a:t>
            </a:r>
            <a:r>
              <a:rPr sz="4400" spc="-487" dirty="0">
                <a:solidFill>
                  <a:srgbClr val="115F92"/>
                </a:solidFill>
                <a:latin typeface="Verdana"/>
                <a:cs typeface="Verdana"/>
              </a:rPr>
              <a:t> </a:t>
            </a:r>
            <a:r>
              <a:rPr sz="4400" spc="87" dirty="0">
                <a:solidFill>
                  <a:srgbClr val="115F92"/>
                </a:solidFill>
                <a:latin typeface="Verdana"/>
                <a:cs typeface="Verdana"/>
              </a:rPr>
              <a:t>Run</a:t>
            </a:r>
            <a:endParaRPr sz="44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58333" y="0"/>
            <a:ext cx="11133667" cy="6874933"/>
            <a:chOff x="793750" y="0"/>
            <a:chExt cx="8350250" cy="5156200"/>
          </a:xfrm>
        </p:grpSpPr>
        <p:sp>
          <p:nvSpPr>
            <p:cNvPr id="6" name="object 6"/>
            <p:cNvSpPr/>
            <p:nvPr/>
          </p:nvSpPr>
          <p:spPr>
            <a:xfrm>
              <a:off x="800100" y="0"/>
              <a:ext cx="8343900" cy="5143500"/>
            </a:xfrm>
            <a:custGeom>
              <a:avLst/>
              <a:gdLst/>
              <a:ahLst/>
              <a:cxnLst/>
              <a:rect l="l" t="t" r="r" b="b"/>
              <a:pathLst>
                <a:path w="8343900" h="5143500">
                  <a:moveTo>
                    <a:pt x="0" y="0"/>
                  </a:moveTo>
                  <a:lnTo>
                    <a:pt x="0" y="5143497"/>
                  </a:lnTo>
                  <a:lnTo>
                    <a:pt x="8343900" y="5143497"/>
                  </a:lnTo>
                  <a:lnTo>
                    <a:pt x="83439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800100" y="0"/>
              <a:ext cx="0" cy="5143500"/>
            </a:xfrm>
            <a:custGeom>
              <a:avLst/>
              <a:gdLst/>
              <a:ahLst/>
              <a:cxnLst/>
              <a:rect l="l" t="t" r="r" b="b"/>
              <a:pathLst>
                <a:path h="5143500">
                  <a:moveTo>
                    <a:pt x="0" y="0"/>
                  </a:moveTo>
                  <a:lnTo>
                    <a:pt x="0" y="514349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71785" y="77826"/>
            <a:ext cx="255016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203195" indent="-187109">
              <a:spcBef>
                <a:spcPts val="127"/>
              </a:spcBef>
              <a:buChar char="•"/>
              <a:tabLst>
                <a:tab pos="204042" algn="l"/>
              </a:tabLst>
            </a:pPr>
            <a:r>
              <a:rPr sz="1333" spc="-133" dirty="0">
                <a:solidFill>
                  <a:srgbClr val="1780C3"/>
                </a:solidFill>
                <a:latin typeface="Arial"/>
                <a:cs typeface="Arial"/>
              </a:rPr>
              <a:t>[SLOW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TEST:8.486</a:t>
            </a:r>
            <a:r>
              <a:rPr sz="1333" spc="339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60" dirty="0">
                <a:solidFill>
                  <a:srgbClr val="1780C3"/>
                </a:solidFill>
                <a:latin typeface="Arial"/>
                <a:cs typeface="Arial"/>
              </a:rPr>
              <a:t>seconds]</a:t>
            </a:r>
            <a:endParaRPr sz="1333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1786" y="281771"/>
            <a:ext cx="2830407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160" dirty="0">
                <a:solidFill>
                  <a:srgbClr val="1780C3"/>
                </a:solidFill>
                <a:latin typeface="Arial"/>
                <a:cs typeface="Arial"/>
              </a:rPr>
              <a:t>[sig-storage] </a:t>
            </a:r>
            <a:r>
              <a:rPr sz="1333" spc="40" dirty="0">
                <a:solidFill>
                  <a:srgbClr val="1780C3"/>
                </a:solidFill>
                <a:latin typeface="Arial"/>
                <a:cs typeface="Arial"/>
              </a:rPr>
              <a:t>EmptyDir</a:t>
            </a:r>
            <a:r>
              <a:rPr sz="1333" spc="7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20" dirty="0">
                <a:solidFill>
                  <a:srgbClr val="1780C3"/>
                </a:solidFill>
                <a:latin typeface="Arial"/>
                <a:cs typeface="Arial"/>
              </a:rPr>
              <a:t>volumes</a:t>
            </a:r>
            <a:endParaRPr sz="1333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1785" y="484971"/>
            <a:ext cx="236220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80" dirty="0">
                <a:solidFill>
                  <a:srgbClr val="1780C3"/>
                </a:solidFill>
                <a:latin typeface="Arial"/>
                <a:cs typeface="Arial"/>
              </a:rPr>
              <a:t>/workspace/anago-v1.11.8-</a:t>
            </a:r>
            <a:endParaRPr sz="1333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1786" y="688171"/>
            <a:ext cx="11019367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100" dirty="0">
                <a:solidFill>
                  <a:srgbClr val="1780C3"/>
                </a:solidFill>
                <a:latin typeface="Arial"/>
                <a:cs typeface="Arial"/>
              </a:rPr>
              <a:t>beta.0.41+4e209c9383fa00/src/k8s.io/kubernetes/_output/dockerized/go/src/k8s.io/kubernetes/test/e2e/common/empty_dir.g</a:t>
            </a:r>
            <a:endParaRPr sz="1333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1786" y="891372"/>
            <a:ext cx="11022753" cy="1041846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80" dirty="0">
                <a:solidFill>
                  <a:srgbClr val="1780C3"/>
                </a:solidFill>
                <a:latin typeface="Arial"/>
                <a:cs typeface="Arial"/>
              </a:rPr>
              <a:t>o:40</a:t>
            </a:r>
            <a:endParaRPr sz="1333">
              <a:latin typeface="Arial"/>
              <a:cs typeface="Arial"/>
            </a:endParaRPr>
          </a:p>
          <a:p>
            <a:pPr marL="204042"/>
            <a:r>
              <a:rPr sz="1333" spc="73" dirty="0">
                <a:solidFill>
                  <a:srgbClr val="1780C3"/>
                </a:solidFill>
                <a:latin typeface="Arial"/>
                <a:cs typeface="Arial"/>
              </a:rPr>
              <a:t>should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support </a:t>
            </a:r>
            <a:r>
              <a:rPr sz="1333" spc="127" dirty="0">
                <a:solidFill>
                  <a:srgbClr val="1780C3"/>
                </a:solidFill>
                <a:latin typeface="Arial"/>
                <a:cs typeface="Arial"/>
              </a:rPr>
              <a:t>(root,0777,tmpfs) </a:t>
            </a:r>
            <a:r>
              <a:rPr sz="1333" spc="27" dirty="0">
                <a:solidFill>
                  <a:srgbClr val="1780C3"/>
                </a:solidFill>
                <a:latin typeface="Arial"/>
                <a:cs typeface="Arial"/>
              </a:rPr>
              <a:t>[NodeConformance]</a:t>
            </a:r>
            <a:r>
              <a:rPr sz="1333" spc="240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53" dirty="0">
                <a:solidFill>
                  <a:srgbClr val="1780C3"/>
                </a:solidFill>
                <a:latin typeface="Arial"/>
                <a:cs typeface="Arial"/>
              </a:rPr>
              <a:t>[Conformance]</a:t>
            </a:r>
            <a:endParaRPr sz="1333">
              <a:latin typeface="Arial"/>
              <a:cs typeface="Arial"/>
            </a:endParaRPr>
          </a:p>
          <a:p>
            <a:pPr marL="16933" marR="6773" indent="187109"/>
            <a:r>
              <a:rPr sz="1333" spc="80" dirty="0">
                <a:solidFill>
                  <a:srgbClr val="1780C3"/>
                </a:solidFill>
                <a:latin typeface="Arial"/>
                <a:cs typeface="Arial"/>
              </a:rPr>
              <a:t>/workspace/anago-v1.11.8-  </a:t>
            </a:r>
            <a:r>
              <a:rPr sz="1333" spc="107" dirty="0">
                <a:solidFill>
                  <a:srgbClr val="1780C3"/>
                </a:solidFill>
                <a:latin typeface="Arial"/>
                <a:cs typeface="Arial"/>
              </a:rPr>
              <a:t>beta.0.41+4e209c9383fa00/src/k8s.io/kubernetes/_output/dockerized/go/src/k8s.io/kubernetes/test/e2e/framework/framewor 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k.go:684</a:t>
            </a:r>
            <a:endParaRPr sz="1333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8719" y="2048416"/>
            <a:ext cx="2796540" cy="0"/>
          </a:xfrm>
          <a:custGeom>
            <a:avLst/>
            <a:gdLst/>
            <a:ahLst/>
            <a:cxnLst/>
            <a:rect l="l" t="t" r="r" b="b"/>
            <a:pathLst>
              <a:path w="2097405">
                <a:moveTo>
                  <a:pt x="0" y="0"/>
                </a:moveTo>
                <a:lnTo>
                  <a:pt x="2097048" y="0"/>
                </a:lnTo>
              </a:path>
            </a:pathLst>
          </a:custGeom>
          <a:ln w="10129">
            <a:solidFill>
              <a:srgbClr val="167FC2"/>
            </a:solidFill>
            <a:prstDash val="dash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1171786" y="2110909"/>
            <a:ext cx="11019367" cy="4603334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4755608">
              <a:spcBef>
                <a:spcPts val="127"/>
              </a:spcBef>
            </a:pPr>
            <a:r>
              <a:rPr sz="1333" spc="-87" dirty="0">
                <a:solidFill>
                  <a:srgbClr val="1780C3"/>
                </a:solidFill>
                <a:latin typeface="Arial"/>
                <a:cs typeface="Arial"/>
              </a:rPr>
              <a:t>SSMar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1780C3"/>
                </a:solidFill>
                <a:latin typeface="Arial"/>
                <a:cs typeface="Arial"/>
              </a:rPr>
              <a:t>13:01:15.397: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INFO: Running </a:t>
            </a:r>
            <a:r>
              <a:rPr sz="1333" spc="140" dirty="0">
                <a:solidFill>
                  <a:srgbClr val="1780C3"/>
                </a:solidFill>
                <a:latin typeface="Arial"/>
                <a:cs typeface="Arial"/>
              </a:rPr>
              <a:t>AfterSuite </a:t>
            </a:r>
            <a:r>
              <a:rPr sz="1333" spc="120" dirty="0">
                <a:solidFill>
                  <a:srgbClr val="1780C3"/>
                </a:solidFill>
                <a:latin typeface="Arial"/>
                <a:cs typeface="Arial"/>
              </a:rPr>
              <a:t>actions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on </a:t>
            </a:r>
            <a:r>
              <a:rPr sz="1333" spc="280" dirty="0">
                <a:solidFill>
                  <a:srgbClr val="1780C3"/>
                </a:solidFill>
                <a:latin typeface="Arial"/>
                <a:cs typeface="Arial"/>
              </a:rPr>
              <a:t>all </a:t>
            </a:r>
            <a:r>
              <a:rPr sz="1333" spc="-20" dirty="0">
                <a:solidFill>
                  <a:srgbClr val="1780C3"/>
                </a:solidFill>
                <a:latin typeface="Arial"/>
                <a:cs typeface="Arial"/>
              </a:rPr>
              <a:t>node  </a:t>
            </a:r>
            <a:r>
              <a:rPr sz="1333" spc="-40" dirty="0">
                <a:solidFill>
                  <a:srgbClr val="1780C3"/>
                </a:solidFill>
                <a:latin typeface="Arial"/>
                <a:cs typeface="Arial"/>
              </a:rPr>
              <a:t>Mar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14 </a:t>
            </a:r>
            <a:r>
              <a:rPr sz="1333" spc="100" dirty="0">
                <a:solidFill>
                  <a:srgbClr val="1780C3"/>
                </a:solidFill>
                <a:latin typeface="Arial"/>
                <a:cs typeface="Arial"/>
              </a:rPr>
              <a:t>13:01:15.397: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INFO: Running </a:t>
            </a:r>
            <a:r>
              <a:rPr sz="1333" spc="140" dirty="0">
                <a:solidFill>
                  <a:srgbClr val="1780C3"/>
                </a:solidFill>
                <a:latin typeface="Arial"/>
                <a:cs typeface="Arial"/>
              </a:rPr>
              <a:t>AfterSuite </a:t>
            </a:r>
            <a:r>
              <a:rPr sz="1333" spc="120" dirty="0">
                <a:solidFill>
                  <a:srgbClr val="1780C3"/>
                </a:solidFill>
                <a:latin typeface="Arial"/>
                <a:cs typeface="Arial"/>
              </a:rPr>
              <a:t>actions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on </a:t>
            </a:r>
            <a:r>
              <a:rPr sz="1333" spc="-20" dirty="0">
                <a:solidFill>
                  <a:srgbClr val="1780C3"/>
                </a:solidFill>
                <a:latin typeface="Arial"/>
                <a:cs typeface="Arial"/>
              </a:rPr>
              <a:t>node</a:t>
            </a:r>
            <a:r>
              <a:rPr sz="1333" spc="213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</a:t>
            </a:r>
            <a:endParaRPr sz="1333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33">
              <a:latin typeface="Arial"/>
              <a:cs typeface="Arial"/>
            </a:endParaRPr>
          </a:p>
          <a:p>
            <a:pPr>
              <a:spcBef>
                <a:spcPts val="53"/>
              </a:spcBef>
            </a:pPr>
            <a:endParaRPr sz="1400">
              <a:latin typeface="Arial"/>
              <a:cs typeface="Arial"/>
            </a:endParaRPr>
          </a:p>
          <a:p>
            <a:pPr marL="16933"/>
            <a:r>
              <a:rPr sz="1333" spc="20" dirty="0">
                <a:solidFill>
                  <a:srgbClr val="2B8738"/>
                </a:solidFill>
                <a:latin typeface="Arial"/>
                <a:cs typeface="Arial"/>
              </a:rPr>
              <a:t>Summarizing </a:t>
            </a:r>
            <a:r>
              <a:rPr sz="1333" spc="-13" dirty="0">
                <a:solidFill>
                  <a:srgbClr val="2B8738"/>
                </a:solidFill>
                <a:latin typeface="Arial"/>
                <a:cs typeface="Arial"/>
              </a:rPr>
              <a:t>2</a:t>
            </a:r>
            <a:r>
              <a:rPr sz="1333" spc="300" dirty="0">
                <a:solidFill>
                  <a:srgbClr val="2B8738"/>
                </a:solidFill>
                <a:latin typeface="Arial"/>
                <a:cs typeface="Arial"/>
              </a:rPr>
              <a:t> </a:t>
            </a:r>
            <a:r>
              <a:rPr sz="1333" spc="160" dirty="0">
                <a:solidFill>
                  <a:srgbClr val="2B8738"/>
                </a:solidFill>
                <a:latin typeface="Arial"/>
                <a:cs typeface="Arial"/>
              </a:rPr>
              <a:t>Failures: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73"/>
              </a:spcBef>
            </a:pPr>
            <a:endParaRPr sz="1333">
              <a:latin typeface="Arial"/>
              <a:cs typeface="Arial"/>
            </a:endParaRPr>
          </a:p>
          <a:p>
            <a:pPr marL="16933">
              <a:tabLst>
                <a:tab pos="5885880" algn="l"/>
              </a:tabLst>
            </a:pPr>
            <a:r>
              <a:rPr sz="1333" spc="247" dirty="0">
                <a:solidFill>
                  <a:srgbClr val="C00000"/>
                </a:solidFill>
                <a:latin typeface="Arial"/>
                <a:cs typeface="Arial"/>
              </a:rPr>
              <a:t>[Fail] </a:t>
            </a:r>
            <a:r>
              <a:rPr sz="1333" spc="147" dirty="0">
                <a:solidFill>
                  <a:srgbClr val="C00000"/>
                </a:solidFill>
                <a:latin typeface="Arial"/>
                <a:cs typeface="Arial"/>
              </a:rPr>
              <a:t>[sig-network] </a:t>
            </a:r>
            <a:r>
              <a:rPr sz="1333" spc="-213" dirty="0">
                <a:solidFill>
                  <a:srgbClr val="C00000"/>
                </a:solidFill>
                <a:latin typeface="Arial"/>
                <a:cs typeface="Arial"/>
              </a:rPr>
              <a:t>DNS     </a:t>
            </a:r>
            <a:r>
              <a:rPr sz="1333" spc="353" dirty="0">
                <a:solidFill>
                  <a:srgbClr val="C00000"/>
                </a:solidFill>
                <a:latin typeface="Arial"/>
                <a:cs typeface="Arial"/>
              </a:rPr>
              <a:t>[It] </a:t>
            </a:r>
            <a:r>
              <a:rPr sz="1333" spc="73" dirty="0">
                <a:solidFill>
                  <a:srgbClr val="C00000"/>
                </a:solidFill>
                <a:latin typeface="Arial"/>
                <a:cs typeface="Arial"/>
              </a:rPr>
              <a:t>should</a:t>
            </a:r>
            <a:r>
              <a:rPr sz="1333" spc="51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333" spc="100" dirty="0">
                <a:solidFill>
                  <a:srgbClr val="C00000"/>
                </a:solidFill>
                <a:latin typeface="Arial"/>
                <a:cs typeface="Arial"/>
              </a:rPr>
              <a:t>provide  </a:t>
            </a:r>
            <a:r>
              <a:rPr sz="1333" spc="-213" dirty="0">
                <a:solidFill>
                  <a:srgbClr val="C00000"/>
                </a:solidFill>
                <a:latin typeface="Arial"/>
                <a:cs typeface="Arial"/>
              </a:rPr>
              <a:t>DNS   </a:t>
            </a:r>
            <a:r>
              <a:rPr sz="1333" spc="-10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333" spc="207" dirty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1333" spc="36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333" spc="113" dirty="0">
                <a:solidFill>
                  <a:srgbClr val="C00000"/>
                </a:solidFill>
                <a:latin typeface="Arial"/>
                <a:cs typeface="Arial"/>
              </a:rPr>
              <a:t>services	</a:t>
            </a:r>
            <a:r>
              <a:rPr sz="1333" spc="53" dirty="0">
                <a:solidFill>
                  <a:srgbClr val="1780C3"/>
                </a:solidFill>
                <a:latin typeface="Arial"/>
                <a:cs typeface="Arial"/>
              </a:rPr>
              <a:t>[Conformance]</a:t>
            </a:r>
            <a:endParaRPr sz="1333">
              <a:latin typeface="Arial"/>
              <a:cs typeface="Arial"/>
            </a:endParaRPr>
          </a:p>
          <a:p>
            <a:pPr marL="16933" marR="6773"/>
            <a:r>
              <a:rPr sz="1333" spc="80" dirty="0">
                <a:solidFill>
                  <a:srgbClr val="1780C3"/>
                </a:solidFill>
                <a:latin typeface="Arial"/>
                <a:cs typeface="Arial"/>
              </a:rPr>
              <a:t>/workspace/anago-v1.11.8-  </a:t>
            </a:r>
            <a:r>
              <a:rPr sz="1333" spc="93" dirty="0">
                <a:solidFill>
                  <a:srgbClr val="1780C3"/>
                </a:solidFill>
                <a:latin typeface="Arial"/>
                <a:cs typeface="Arial"/>
              </a:rPr>
              <a:t>beta.0.41+4e209c9383fa00/src/k8s.io/kubernetes/_output/dockerized/go/src/k8s.io/kubernetes/test/e2e/network/dns_common</a:t>
            </a:r>
            <a:endParaRPr sz="1333">
              <a:latin typeface="Arial"/>
              <a:cs typeface="Arial"/>
            </a:endParaRPr>
          </a:p>
          <a:p>
            <a:pPr marL="16933"/>
            <a:r>
              <a:rPr sz="1333" spc="93" dirty="0">
                <a:solidFill>
                  <a:srgbClr val="1780C3"/>
                </a:solidFill>
                <a:latin typeface="Arial"/>
                <a:cs typeface="Arial"/>
              </a:rPr>
              <a:t>.go:497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1333">
              <a:latin typeface="Arial"/>
              <a:cs typeface="Arial"/>
            </a:endParaRPr>
          </a:p>
          <a:p>
            <a:pPr marL="16933">
              <a:tabLst>
                <a:tab pos="6161886" algn="l"/>
              </a:tabLst>
            </a:pPr>
            <a:r>
              <a:rPr sz="1333" spc="247" dirty="0">
                <a:solidFill>
                  <a:srgbClr val="C00000"/>
                </a:solidFill>
                <a:latin typeface="Arial"/>
                <a:cs typeface="Arial"/>
              </a:rPr>
              <a:t>[Fail] </a:t>
            </a:r>
            <a:r>
              <a:rPr sz="1333" spc="147" dirty="0">
                <a:solidFill>
                  <a:srgbClr val="C00000"/>
                </a:solidFill>
                <a:latin typeface="Arial"/>
                <a:cs typeface="Arial"/>
              </a:rPr>
              <a:t>[sig-network] </a:t>
            </a:r>
            <a:r>
              <a:rPr sz="1333" spc="-213" dirty="0">
                <a:solidFill>
                  <a:srgbClr val="C00000"/>
                </a:solidFill>
                <a:latin typeface="Arial"/>
                <a:cs typeface="Arial"/>
              </a:rPr>
              <a:t>DNS     </a:t>
            </a:r>
            <a:r>
              <a:rPr sz="1333" spc="360" dirty="0">
                <a:solidFill>
                  <a:srgbClr val="C00000"/>
                </a:solidFill>
                <a:latin typeface="Arial"/>
                <a:cs typeface="Arial"/>
              </a:rPr>
              <a:t>[It] </a:t>
            </a:r>
            <a:r>
              <a:rPr sz="1333" spc="73" dirty="0">
                <a:solidFill>
                  <a:srgbClr val="C00000"/>
                </a:solidFill>
                <a:latin typeface="Arial"/>
                <a:cs typeface="Arial"/>
              </a:rPr>
              <a:t>should</a:t>
            </a:r>
            <a:r>
              <a:rPr sz="1333" spc="51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333" spc="107" dirty="0">
                <a:solidFill>
                  <a:srgbClr val="C00000"/>
                </a:solidFill>
                <a:latin typeface="Arial"/>
                <a:cs typeface="Arial"/>
              </a:rPr>
              <a:t>provide  </a:t>
            </a:r>
            <a:r>
              <a:rPr sz="1333" spc="-207" dirty="0">
                <a:solidFill>
                  <a:srgbClr val="C00000"/>
                </a:solidFill>
                <a:latin typeface="Arial"/>
                <a:cs typeface="Arial"/>
              </a:rPr>
              <a:t>DNS     </a:t>
            </a:r>
            <a:r>
              <a:rPr sz="1333" spc="213" dirty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1333" spc="26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333" spc="113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333" spc="3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333" spc="167" dirty="0">
                <a:solidFill>
                  <a:srgbClr val="C00000"/>
                </a:solidFill>
                <a:latin typeface="Arial"/>
                <a:cs typeface="Arial"/>
              </a:rPr>
              <a:t>cluster	</a:t>
            </a:r>
            <a:r>
              <a:rPr sz="1333" spc="53" dirty="0">
                <a:solidFill>
                  <a:srgbClr val="1780C3"/>
                </a:solidFill>
                <a:latin typeface="Arial"/>
                <a:cs typeface="Arial"/>
              </a:rPr>
              <a:t>[Conformance]</a:t>
            </a:r>
            <a:endParaRPr sz="1333">
              <a:latin typeface="Arial"/>
              <a:cs typeface="Arial"/>
            </a:endParaRPr>
          </a:p>
          <a:p>
            <a:pPr marL="16933" marR="6773"/>
            <a:r>
              <a:rPr sz="1333" spc="80" dirty="0">
                <a:solidFill>
                  <a:srgbClr val="1780C3"/>
                </a:solidFill>
                <a:latin typeface="Arial"/>
                <a:cs typeface="Arial"/>
              </a:rPr>
              <a:t>/workspace/anago-v1.11.8-  </a:t>
            </a:r>
            <a:r>
              <a:rPr sz="1333" spc="93" dirty="0">
                <a:solidFill>
                  <a:srgbClr val="1780C3"/>
                </a:solidFill>
                <a:latin typeface="Arial"/>
                <a:cs typeface="Arial"/>
              </a:rPr>
              <a:t>beta.0.41+4e209c9383fa00/src/k8s.io/kubernetes/_output/dockerized/go/src/k8s.io/kubernetes/test/e2e/network/dns_common</a:t>
            </a:r>
            <a:endParaRPr sz="1333">
              <a:latin typeface="Arial"/>
              <a:cs typeface="Arial"/>
            </a:endParaRPr>
          </a:p>
          <a:p>
            <a:pPr marL="16933"/>
            <a:r>
              <a:rPr sz="1333" spc="93" dirty="0">
                <a:solidFill>
                  <a:srgbClr val="1780C3"/>
                </a:solidFill>
                <a:latin typeface="Arial"/>
                <a:cs typeface="Arial"/>
              </a:rPr>
              <a:t>.go:497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1333">
              <a:latin typeface="Arial"/>
              <a:cs typeface="Arial"/>
            </a:endParaRPr>
          </a:p>
          <a:p>
            <a:pPr marL="16933">
              <a:spcBef>
                <a:spcPts val="7"/>
              </a:spcBef>
            </a:pPr>
            <a:r>
              <a:rPr sz="1333" spc="-87" dirty="0">
                <a:solidFill>
                  <a:srgbClr val="D5F1DA"/>
                </a:solidFill>
                <a:latin typeface="Arial"/>
                <a:cs typeface="Arial"/>
              </a:rPr>
              <a:t>Ran </a:t>
            </a:r>
            <a:r>
              <a:rPr sz="1333" spc="-13" dirty="0">
                <a:solidFill>
                  <a:srgbClr val="D5F1DA"/>
                </a:solidFill>
                <a:latin typeface="Arial"/>
                <a:cs typeface="Arial"/>
              </a:rPr>
              <a:t>166 </a:t>
            </a:r>
            <a:r>
              <a:rPr sz="1333" spc="173" dirty="0">
                <a:solidFill>
                  <a:srgbClr val="D5F1DA"/>
                </a:solidFill>
                <a:latin typeface="Arial"/>
                <a:cs typeface="Arial"/>
              </a:rPr>
              <a:t>of </a:t>
            </a:r>
            <a:r>
              <a:rPr sz="1333" spc="-20" dirty="0">
                <a:solidFill>
                  <a:srgbClr val="D5F1DA"/>
                </a:solidFill>
                <a:latin typeface="Arial"/>
                <a:cs typeface="Arial"/>
              </a:rPr>
              <a:t>1008 </a:t>
            </a:r>
            <a:r>
              <a:rPr sz="1333" spc="-20" dirty="0">
                <a:solidFill>
                  <a:srgbClr val="1780C3"/>
                </a:solidFill>
                <a:latin typeface="Arial"/>
                <a:cs typeface="Arial"/>
              </a:rPr>
              <a:t>Specs </a:t>
            </a:r>
            <a:r>
              <a:rPr sz="1333" spc="207" dirty="0">
                <a:solidFill>
                  <a:srgbClr val="1780C3"/>
                </a:solidFill>
                <a:latin typeface="Arial"/>
                <a:cs typeface="Arial"/>
              </a:rPr>
              <a:t>in </a:t>
            </a:r>
            <a:r>
              <a:rPr sz="1333" spc="33" dirty="0">
                <a:solidFill>
                  <a:srgbClr val="1780C3"/>
                </a:solidFill>
                <a:latin typeface="Arial"/>
                <a:cs typeface="Arial"/>
              </a:rPr>
              <a:t>6302.670</a:t>
            </a:r>
            <a:r>
              <a:rPr sz="1333" spc="127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13" dirty="0">
                <a:solidFill>
                  <a:srgbClr val="1780C3"/>
                </a:solidFill>
                <a:latin typeface="Arial"/>
                <a:cs typeface="Arial"/>
              </a:rPr>
              <a:t>seconds</a:t>
            </a:r>
            <a:endParaRPr sz="1333">
              <a:latin typeface="Arial"/>
              <a:cs typeface="Arial"/>
            </a:endParaRPr>
          </a:p>
          <a:p>
            <a:pPr marL="16933"/>
            <a:r>
              <a:rPr sz="1333" spc="87" dirty="0">
                <a:solidFill>
                  <a:srgbClr val="C00000"/>
                </a:solidFill>
                <a:latin typeface="Arial"/>
                <a:cs typeface="Arial"/>
              </a:rPr>
              <a:t>FAIL! </a:t>
            </a:r>
            <a:r>
              <a:rPr sz="1333" spc="280" dirty="0">
                <a:solidFill>
                  <a:srgbClr val="1780C3"/>
                </a:solidFill>
                <a:latin typeface="Arial"/>
                <a:cs typeface="Arial"/>
              </a:rPr>
              <a:t>-- </a:t>
            </a:r>
            <a:r>
              <a:rPr sz="1333" spc="-13" dirty="0">
                <a:solidFill>
                  <a:srgbClr val="2B8738"/>
                </a:solidFill>
                <a:latin typeface="Arial"/>
                <a:cs typeface="Arial"/>
              </a:rPr>
              <a:t>164 Passed </a:t>
            </a:r>
            <a:r>
              <a:rPr sz="1333" spc="380" dirty="0">
                <a:solidFill>
                  <a:srgbClr val="1780C3"/>
                </a:solidFill>
                <a:latin typeface="Arial"/>
                <a:cs typeface="Arial"/>
              </a:rPr>
              <a:t>| </a:t>
            </a:r>
            <a:r>
              <a:rPr sz="1333" spc="-13" dirty="0">
                <a:solidFill>
                  <a:srgbClr val="C00000"/>
                </a:solidFill>
                <a:latin typeface="Arial"/>
                <a:cs typeface="Arial"/>
              </a:rPr>
              <a:t>2 </a:t>
            </a:r>
            <a:r>
              <a:rPr sz="1333" spc="120" dirty="0">
                <a:solidFill>
                  <a:srgbClr val="C00000"/>
                </a:solidFill>
                <a:latin typeface="Arial"/>
                <a:cs typeface="Arial"/>
              </a:rPr>
              <a:t>Failed </a:t>
            </a:r>
            <a:r>
              <a:rPr sz="1333" spc="380" dirty="0">
                <a:solidFill>
                  <a:srgbClr val="1780C3"/>
                </a:solidFill>
                <a:latin typeface="Arial"/>
                <a:cs typeface="Arial"/>
              </a:rPr>
              <a:t>|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0 </a:t>
            </a:r>
            <a:r>
              <a:rPr sz="1333" spc="27" dirty="0">
                <a:solidFill>
                  <a:srgbClr val="1780C3"/>
                </a:solidFill>
                <a:latin typeface="Arial"/>
                <a:cs typeface="Arial"/>
              </a:rPr>
              <a:t>Pending </a:t>
            </a:r>
            <a:r>
              <a:rPr sz="1333" spc="380" dirty="0">
                <a:solidFill>
                  <a:srgbClr val="1780C3"/>
                </a:solidFill>
                <a:latin typeface="Arial"/>
                <a:cs typeface="Arial"/>
              </a:rPr>
              <a:t>|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842 </a:t>
            </a:r>
            <a:r>
              <a:rPr sz="1333" spc="33" dirty="0">
                <a:solidFill>
                  <a:srgbClr val="1780C3"/>
                </a:solidFill>
                <a:latin typeface="Arial"/>
                <a:cs typeface="Arial"/>
              </a:rPr>
              <a:t>Skipped </a:t>
            </a:r>
            <a:r>
              <a:rPr sz="1333" spc="280" dirty="0">
                <a:solidFill>
                  <a:srgbClr val="1780C3"/>
                </a:solidFill>
                <a:latin typeface="Arial"/>
                <a:cs typeface="Arial"/>
              </a:rPr>
              <a:t>---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FAIL: </a:t>
            </a:r>
            <a:r>
              <a:rPr sz="1333" spc="-7" dirty="0">
                <a:solidFill>
                  <a:srgbClr val="1780C3"/>
                </a:solidFill>
                <a:latin typeface="Arial"/>
                <a:cs typeface="Arial"/>
              </a:rPr>
              <a:t>TestE2E</a:t>
            </a:r>
            <a:r>
              <a:rPr sz="1333" spc="-147" dirty="0">
                <a:solidFill>
                  <a:srgbClr val="1780C3"/>
                </a:solidFill>
                <a:latin typeface="Arial"/>
                <a:cs typeface="Arial"/>
              </a:rPr>
              <a:t> </a:t>
            </a:r>
            <a:r>
              <a:rPr sz="1333" spc="87" dirty="0">
                <a:solidFill>
                  <a:srgbClr val="1780C3"/>
                </a:solidFill>
                <a:latin typeface="Arial"/>
                <a:cs typeface="Arial"/>
              </a:rPr>
              <a:t>(6302.72s)</a:t>
            </a:r>
            <a:endParaRPr sz="1333">
              <a:latin typeface="Arial"/>
              <a:cs typeface="Arial"/>
            </a:endParaRPr>
          </a:p>
          <a:p>
            <a:pPr marL="16933"/>
            <a:r>
              <a:rPr sz="1333" spc="27" dirty="0">
                <a:solidFill>
                  <a:srgbClr val="C00000"/>
                </a:solidFill>
                <a:latin typeface="Arial"/>
                <a:cs typeface="Arial"/>
              </a:rPr>
              <a:t>FAIL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1333">
              <a:latin typeface="Arial"/>
              <a:cs typeface="Arial"/>
            </a:endParaRPr>
          </a:p>
          <a:p>
            <a:pPr marL="16933" marR="7450480"/>
            <a:r>
              <a:rPr sz="1333" spc="20" dirty="0">
                <a:solidFill>
                  <a:srgbClr val="1780C3"/>
                </a:solidFill>
                <a:latin typeface="Arial"/>
                <a:cs typeface="Arial"/>
              </a:rPr>
              <a:t>Ginkgo </a:t>
            </a:r>
            <a:r>
              <a:rPr sz="1333" spc="80" dirty="0">
                <a:solidFill>
                  <a:srgbClr val="1780C3"/>
                </a:solidFill>
                <a:latin typeface="Arial"/>
                <a:cs typeface="Arial"/>
              </a:rPr>
              <a:t>ran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 </a:t>
            </a:r>
            <a:r>
              <a:rPr sz="1333" spc="160" dirty="0">
                <a:solidFill>
                  <a:srgbClr val="1780C3"/>
                </a:solidFill>
                <a:latin typeface="Arial"/>
                <a:cs typeface="Arial"/>
              </a:rPr>
              <a:t>suite </a:t>
            </a:r>
            <a:r>
              <a:rPr sz="1333" spc="200" dirty="0">
                <a:solidFill>
                  <a:srgbClr val="1780C3"/>
                </a:solidFill>
                <a:latin typeface="Arial"/>
                <a:cs typeface="Arial"/>
              </a:rPr>
              <a:t>in </a:t>
            </a:r>
            <a:r>
              <a:rPr sz="1333" spc="-13" dirty="0">
                <a:solidFill>
                  <a:srgbClr val="1780C3"/>
                </a:solidFill>
                <a:latin typeface="Arial"/>
                <a:cs typeface="Arial"/>
              </a:rPr>
              <a:t>1h45m3.31433997s  </a:t>
            </a:r>
            <a:r>
              <a:rPr sz="1333" spc="80" dirty="0">
                <a:solidFill>
                  <a:srgbClr val="C00000"/>
                </a:solidFill>
                <a:latin typeface="Arial"/>
                <a:cs typeface="Arial"/>
              </a:rPr>
              <a:t>Test </a:t>
            </a:r>
            <a:r>
              <a:rPr sz="1333" spc="113" dirty="0">
                <a:solidFill>
                  <a:srgbClr val="C00000"/>
                </a:solidFill>
                <a:latin typeface="Arial"/>
                <a:cs typeface="Arial"/>
              </a:rPr>
              <a:t>Suite</a:t>
            </a:r>
            <a:r>
              <a:rPr sz="1333" spc="2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333" spc="120" dirty="0">
                <a:solidFill>
                  <a:srgbClr val="C00000"/>
                </a:solidFill>
                <a:latin typeface="Arial"/>
                <a:cs typeface="Arial"/>
              </a:rPr>
              <a:t>Failed</a:t>
            </a:r>
            <a:endParaRPr sz="1333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8702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836" y="208107"/>
            <a:ext cx="10515600" cy="1325563"/>
          </a:xfrm>
        </p:spPr>
        <p:txBody>
          <a:bodyPr/>
          <a:lstStyle/>
          <a:p>
            <a:r>
              <a:rPr lang="en-US" dirty="0" smtClean="0"/>
              <a:t>Replication Controller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Controllers are the brain behind Kubernetes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  </a:t>
            </a:r>
            <a:r>
              <a:rPr lang="en-US" dirty="0"/>
              <a:t>They are processes that monitor kubernetes objects and respond accordingly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High Availability</a:t>
            </a:r>
          </a:p>
          <a:p>
            <a:endParaRPr lang="en-US" dirty="0"/>
          </a:p>
          <a:p>
            <a:r>
              <a:rPr lang="en-US" dirty="0" smtClean="0"/>
              <a:t>Load balancing</a:t>
            </a:r>
          </a:p>
          <a:p>
            <a:endParaRPr lang="en-US" dirty="0"/>
          </a:p>
          <a:p>
            <a:r>
              <a:rPr lang="en-US" dirty="0" smtClean="0"/>
              <a:t>Scale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9038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kubectl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491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052945" y="2119437"/>
          <a:ext cx="8128000" cy="51292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37332459"/>
                    </a:ext>
                  </a:extLst>
                </a:gridCol>
              </a:tblGrid>
              <a:tr h="512927">
                <a:tc>
                  <a:txBody>
                    <a:bodyPr/>
                    <a:lstStyle/>
                    <a:p>
                      <a:r>
                        <a:rPr lang="en-US" dirty="0" smtClean="0"/>
                        <a:t>Kubectl run </a:t>
                      </a:r>
                      <a:r>
                        <a:rPr lang="en-US" dirty="0" err="1" smtClean="0"/>
                        <a:t>ngnix</a:t>
                      </a:r>
                      <a:r>
                        <a:rPr lang="en-US" dirty="0" smtClean="0"/>
                        <a:t>  --image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nginx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85155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043709" y="3306618"/>
          <a:ext cx="8128000" cy="5172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000620704"/>
                    </a:ext>
                  </a:extLst>
                </a:gridCol>
              </a:tblGrid>
              <a:tr h="517238">
                <a:tc>
                  <a:txBody>
                    <a:bodyPr/>
                    <a:lstStyle/>
                    <a:p>
                      <a:r>
                        <a:rPr lang="en-US" dirty="0" smtClean="0"/>
                        <a:t>Kubectl get pods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45525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099127" y="4821382"/>
          <a:ext cx="8128000" cy="5363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704587864"/>
                    </a:ext>
                  </a:extLst>
                </a:gridCol>
              </a:tblGrid>
              <a:tr h="536324">
                <a:tc>
                  <a:txBody>
                    <a:bodyPr/>
                    <a:lstStyle/>
                    <a:p>
                      <a:r>
                        <a:rPr lang="en-US" dirty="0" smtClean="0"/>
                        <a:t>Kubectl describe pod </a:t>
                      </a:r>
                      <a:r>
                        <a:rPr lang="en-US" dirty="0" err="1" smtClean="0"/>
                        <a:t>nginx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72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68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297424" y="1505711"/>
            <a:ext cx="6333913" cy="4464472"/>
            <a:chOff x="3973067" y="1129283"/>
            <a:chExt cx="4750435" cy="3348354"/>
          </a:xfrm>
        </p:grpSpPr>
        <p:sp>
          <p:nvSpPr>
            <p:cNvPr id="4" name="object 4"/>
            <p:cNvSpPr/>
            <p:nvPr/>
          </p:nvSpPr>
          <p:spPr>
            <a:xfrm>
              <a:off x="3973067" y="1429511"/>
              <a:ext cx="4750435" cy="3048000"/>
            </a:xfrm>
            <a:custGeom>
              <a:avLst/>
              <a:gdLst/>
              <a:ahLst/>
              <a:cxnLst/>
              <a:rect l="l" t="t" r="r" b="b"/>
              <a:pathLst>
                <a:path w="4750434" h="3048000">
                  <a:moveTo>
                    <a:pt x="4750308" y="0"/>
                  </a:moveTo>
                  <a:lnTo>
                    <a:pt x="0" y="0"/>
                  </a:lnTo>
                  <a:lnTo>
                    <a:pt x="0" y="3048000"/>
                  </a:lnTo>
                  <a:lnTo>
                    <a:pt x="4750308" y="3048000"/>
                  </a:lnTo>
                  <a:lnTo>
                    <a:pt x="4750308" y="0"/>
                  </a:lnTo>
                  <a:close/>
                </a:path>
              </a:pathLst>
            </a:custGeom>
            <a:solidFill>
              <a:srgbClr val="2B2B2B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973067" y="1129283"/>
              <a:ext cx="1685925" cy="300355"/>
            </a:xfrm>
            <a:custGeom>
              <a:avLst/>
              <a:gdLst/>
              <a:ahLst/>
              <a:cxnLst/>
              <a:rect l="l" t="t" r="r" b="b"/>
              <a:pathLst>
                <a:path w="1685925" h="300355">
                  <a:moveTo>
                    <a:pt x="1685543" y="0"/>
                  </a:moveTo>
                  <a:lnTo>
                    <a:pt x="0" y="0"/>
                  </a:lnTo>
                  <a:lnTo>
                    <a:pt x="0" y="300227"/>
                  </a:lnTo>
                  <a:lnTo>
                    <a:pt x="1685543" y="300227"/>
                  </a:lnTo>
                  <a:lnTo>
                    <a:pt x="1685543" y="0"/>
                  </a:lnTo>
                  <a:close/>
                </a:path>
              </a:pathLst>
            </a:custGeom>
            <a:solidFill>
              <a:srgbClr val="000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03256" y="1537208"/>
            <a:ext cx="21200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0" lvl="0" indent="0" algn="l" defTabSz="914400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+mn-ea"/>
                <a:cs typeface="Noto Sans"/>
              </a:rPr>
              <a:t>pod-definition.yaml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Noto San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82429" y="331247"/>
            <a:ext cx="343916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27" dirty="0"/>
              <a:t>Conf</a:t>
            </a:r>
            <a:r>
              <a:rPr spc="47" dirty="0"/>
              <a:t>i</a:t>
            </a:r>
            <a:r>
              <a:rPr spc="167" dirty="0"/>
              <a:t>gMaps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69390" y="1946826"/>
            <a:ext cx="3783753" cy="385404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 marR="2003163" lvl="0" indent="0" algn="l" defTabSz="914400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apiVersion:</a:t>
            </a:r>
            <a:r>
              <a:rPr kumimoji="0" sz="1600" b="1" i="0" u="none" strike="noStrike" kern="1200" cap="none" spc="-113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1600" b="0" i="0" u="none" strike="noStrike" kern="1200" cap="none" spc="13" normalizeH="0" baseline="0" noProof="0" dirty="0">
                <a:ln>
                  <a:noFill/>
                </a:ln>
                <a:solidFill>
                  <a:srgbClr val="A9B7C5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v1  </a:t>
            </a:r>
            <a:r>
              <a:rPr kumimoji="0" sz="1600" b="1" i="0" u="none" strike="noStrike" kern="1200" cap="none" spc="-7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kind: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9B7C5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Pod  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metadata: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29463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name:</a:t>
            </a:r>
            <a:r>
              <a:rPr kumimoji="0" sz="1600" b="1" i="0" u="none" strike="noStrike" kern="1200" cap="none" spc="-7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9B7C5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simple-webapp-color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5079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-7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spec: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29463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containers: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540160" marR="40639" lvl="0" indent="-24637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7C5"/>
              </a:buClr>
              <a:buSzTx/>
              <a:buFont typeface="Courier New"/>
              <a:buChar char="-"/>
              <a:tabLst>
                <a:tab pos="541006" algn="l"/>
              </a:tabLst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name: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9B7C5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simple-webapp-color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image: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9B7C5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simple-webapp-color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ports: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032061" marR="0" lvl="1" indent="-2472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7C5"/>
              </a:buClr>
              <a:buSzTx/>
              <a:buFont typeface="Courier New"/>
              <a:buChar char="-"/>
              <a:tabLst>
                <a:tab pos="1032908" algn="l"/>
              </a:tabLst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containerPort:</a:t>
            </a:r>
            <a:r>
              <a:rPr kumimoji="0" sz="1600" b="1" i="0" u="none" strike="noStrike" kern="1200" cap="none" spc="-7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9B7C5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8080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535080" marR="0" lvl="0" indent="0" algn="l" defTabSz="914400" rtl="0" eaLnBrk="1" fontAlgn="auto" latinLnBrk="0" hangingPunct="1">
              <a:lnSpc>
                <a:spcPts val="1713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env: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025288" marR="0" lvl="1" indent="-246374" algn="l" defTabSz="914400" rtl="0" eaLnBrk="1" fontAlgn="auto" latinLnBrk="0" hangingPunct="1">
              <a:lnSpc>
                <a:spcPts val="1713"/>
              </a:lnSpc>
              <a:spcBef>
                <a:spcPts val="0"/>
              </a:spcBef>
              <a:spcAft>
                <a:spcPts val="0"/>
              </a:spcAft>
              <a:buClr>
                <a:srgbClr val="A9B7C5"/>
              </a:buClr>
              <a:buSzTx/>
              <a:buFont typeface="Courier New"/>
              <a:buChar char="-"/>
              <a:tabLst>
                <a:tab pos="1025288" algn="l"/>
              </a:tabLst>
              <a:defRPr/>
            </a:pPr>
            <a:r>
              <a:rPr kumimoji="0" sz="2400" b="1" i="0" u="none" strike="noStrike" kern="1200" cap="none" spc="0" normalizeH="0" baseline="-13888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name:</a:t>
            </a:r>
            <a:r>
              <a:rPr kumimoji="0" sz="2400" b="1" i="0" u="none" strike="noStrike" kern="1200" cap="none" spc="-540" normalizeH="0" baseline="-13888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9B7C5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APP_COLOR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025288" marR="0" lvl="0" indent="0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value:</a:t>
            </a:r>
            <a:r>
              <a:rPr kumimoji="0" sz="1600" b="1" i="0" u="none" strike="noStrike" kern="1200" cap="none" spc="-46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400" b="0" i="0" u="none" strike="noStrike" kern="1200" cap="none" spc="0" normalizeH="0" baseline="2314" noProof="0" dirty="0">
                <a:ln>
                  <a:noFill/>
                </a:ln>
                <a:solidFill>
                  <a:srgbClr val="A9B7C5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blue</a:t>
            </a:r>
            <a:endParaRPr kumimoji="0" sz="2400" b="0" i="0" u="none" strike="noStrike" kern="1200" cap="none" spc="0" normalizeH="0" baseline="2314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025288" marR="0" lvl="1" indent="-246374" algn="l" defTabSz="914400" rtl="0" eaLnBrk="1" fontAlgn="auto" latinLnBrk="0" hangingPunct="1">
              <a:lnSpc>
                <a:spcPts val="1813"/>
              </a:lnSpc>
              <a:spcBef>
                <a:spcPts val="220"/>
              </a:spcBef>
              <a:spcAft>
                <a:spcPts val="0"/>
              </a:spcAft>
              <a:buClr>
                <a:srgbClr val="A9B7C5"/>
              </a:buClr>
              <a:buSzTx/>
              <a:buFont typeface="Courier New"/>
              <a:buChar char="-"/>
              <a:tabLst>
                <a:tab pos="1025288" algn="l"/>
              </a:tabLst>
              <a:defRPr/>
            </a:pPr>
            <a:r>
              <a:rPr kumimoji="0" sz="2400" b="1" i="0" u="none" strike="noStrike" kern="1200" cap="none" spc="0" normalizeH="0" baseline="6944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name:</a:t>
            </a:r>
            <a:r>
              <a:rPr kumimoji="0" sz="2400" b="1" i="0" u="none" strike="noStrike" kern="1200" cap="none" spc="-529" normalizeH="0" baseline="6944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1600" b="0" i="0" u="none" strike="noStrike" kern="1200" cap="none" spc="-7" normalizeH="0" baseline="0" noProof="0" dirty="0">
                <a:ln>
                  <a:noFill/>
                </a:ln>
                <a:solidFill>
                  <a:srgbClr val="A9B7C5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APP_MODE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025288" marR="0" lvl="0" indent="0" algn="l" defTabSz="914400" rtl="0" eaLnBrk="1" fontAlgn="auto" latinLnBrk="0" hangingPunct="1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value:</a:t>
            </a:r>
            <a:r>
              <a:rPr kumimoji="0" sz="1600" b="1" i="0" u="none" strike="noStrike" kern="1200" cap="none" spc="-460" normalizeH="0" baseline="0" noProof="0" dirty="0">
                <a:ln>
                  <a:noFill/>
                </a:ln>
                <a:solidFill>
                  <a:srgbClr val="CC783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400" b="0" i="0" u="none" strike="noStrike" kern="1200" cap="none" spc="0" normalizeH="0" baseline="2314" noProof="0" dirty="0">
                <a:ln>
                  <a:noFill/>
                </a:ln>
                <a:solidFill>
                  <a:srgbClr val="A9B7C5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prod</a:t>
            </a:r>
            <a:endParaRPr kumimoji="0" sz="2400" b="0" i="0" u="none" strike="noStrike" kern="1200" cap="none" spc="0" normalizeH="0" baseline="2314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9424" y="1946655"/>
            <a:ext cx="2993813" cy="1642533"/>
          </a:xfrm>
          <a:custGeom>
            <a:avLst/>
            <a:gdLst/>
            <a:ahLst/>
            <a:cxnLst/>
            <a:rect l="l" t="t" r="r" b="b"/>
            <a:pathLst>
              <a:path w="2245360" h="1231900">
                <a:moveTo>
                  <a:pt x="2244852" y="0"/>
                </a:moveTo>
                <a:lnTo>
                  <a:pt x="0" y="0"/>
                </a:lnTo>
                <a:lnTo>
                  <a:pt x="0" y="1231392"/>
                </a:lnTo>
                <a:lnTo>
                  <a:pt x="2244852" y="1231392"/>
                </a:lnTo>
                <a:lnTo>
                  <a:pt x="2244852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6128" y="1546352"/>
            <a:ext cx="1380067" cy="325729"/>
          </a:xfrm>
          <a:prstGeom prst="rect">
            <a:avLst/>
          </a:prstGeom>
          <a:solidFill>
            <a:srgbClr val="000000">
              <a:alpha val="50195"/>
            </a:srgbClr>
          </a:solidFill>
        </p:spPr>
        <p:txBody>
          <a:bodyPr vert="horz" wrap="square" lIns="0" tIns="48259" rIns="0" bIns="0" rtlCol="0">
            <a:spAutoFit/>
          </a:bodyPr>
          <a:lstStyle/>
          <a:p>
            <a:pPr marL="121917" marR="0" lvl="0" indent="0" algn="l" defTabSz="914400" rtl="0" eaLnBrk="1" fontAlgn="auto" latinLnBrk="0" hangingPunct="1">
              <a:lnSpc>
                <a:spcPct val="100000"/>
              </a:lnSpc>
              <a:spcBef>
                <a:spcPts val="3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/>
                <a:ea typeface="+mn-ea"/>
                <a:cs typeface="Noto Sans"/>
              </a:rPr>
              <a:t>ConfigMap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03575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100531" y="2028807"/>
            <a:ext cx="2129367" cy="530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3"/>
              </a:lnSpc>
            </a:pP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APP_COLOR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r>
              <a:rPr sz="1867" spc="-12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blue</a:t>
            </a:r>
            <a:endParaRPr sz="1867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APP_MODE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r>
              <a:rPr sz="1867" spc="-6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prod</a:t>
            </a:r>
            <a:endParaRPr sz="1867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97424" y="1505711"/>
            <a:ext cx="6333913" cy="4464472"/>
            <a:chOff x="3973067" y="1129283"/>
            <a:chExt cx="4750435" cy="3348354"/>
          </a:xfrm>
        </p:grpSpPr>
        <p:sp>
          <p:nvSpPr>
            <p:cNvPr id="5" name="object 5"/>
            <p:cNvSpPr/>
            <p:nvPr/>
          </p:nvSpPr>
          <p:spPr>
            <a:xfrm>
              <a:off x="3973067" y="1429511"/>
              <a:ext cx="4750435" cy="3048000"/>
            </a:xfrm>
            <a:custGeom>
              <a:avLst/>
              <a:gdLst/>
              <a:ahLst/>
              <a:cxnLst/>
              <a:rect l="l" t="t" r="r" b="b"/>
              <a:pathLst>
                <a:path w="4750434" h="3048000">
                  <a:moveTo>
                    <a:pt x="4750308" y="0"/>
                  </a:moveTo>
                  <a:lnTo>
                    <a:pt x="0" y="0"/>
                  </a:lnTo>
                  <a:lnTo>
                    <a:pt x="0" y="3048000"/>
                  </a:lnTo>
                  <a:lnTo>
                    <a:pt x="4750308" y="3048000"/>
                  </a:lnTo>
                  <a:lnTo>
                    <a:pt x="4750308" y="0"/>
                  </a:lnTo>
                  <a:close/>
                </a:path>
              </a:pathLst>
            </a:custGeom>
            <a:solidFill>
              <a:srgbClr val="2B2B2B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973067" y="1129283"/>
              <a:ext cx="1685925" cy="300355"/>
            </a:xfrm>
            <a:custGeom>
              <a:avLst/>
              <a:gdLst/>
              <a:ahLst/>
              <a:cxnLst/>
              <a:rect l="l" t="t" r="r" b="b"/>
              <a:pathLst>
                <a:path w="1685925" h="300355">
                  <a:moveTo>
                    <a:pt x="1685543" y="0"/>
                  </a:moveTo>
                  <a:lnTo>
                    <a:pt x="0" y="0"/>
                  </a:lnTo>
                  <a:lnTo>
                    <a:pt x="0" y="300227"/>
                  </a:lnTo>
                  <a:lnTo>
                    <a:pt x="1685543" y="300227"/>
                  </a:lnTo>
                  <a:lnTo>
                    <a:pt x="1685543" y="0"/>
                  </a:lnTo>
                  <a:close/>
                </a:path>
              </a:pathLst>
            </a:custGeom>
            <a:solidFill>
              <a:srgbClr val="0000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03256" y="1537208"/>
            <a:ext cx="212005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3" dirty="0">
                <a:solidFill>
                  <a:srgbClr val="FFFFFF"/>
                </a:solidFill>
                <a:latin typeface="Noto Sans"/>
                <a:cs typeface="Noto Sans"/>
              </a:rPr>
              <a:t>pod-definition.yaml</a:t>
            </a:r>
            <a:endParaRPr>
              <a:latin typeface="Noto Sans"/>
              <a:cs typeface="Noto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04992" y="4588929"/>
            <a:ext cx="1225125" cy="1202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3"/>
              </a:lnSpc>
            </a:pP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env:</a:t>
            </a:r>
            <a:endParaRPr sz="1600">
              <a:latin typeface="Courier New"/>
              <a:cs typeface="Courier New"/>
            </a:endParaRPr>
          </a:p>
          <a:p>
            <a:pPr marL="489361" indent="-246374"/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- </a:t>
            </a: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name:  </a:t>
            </a:r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v</a:t>
            </a:r>
            <a:r>
              <a:rPr sz="1600" b="1" spc="13" dirty="0">
                <a:solidFill>
                  <a:srgbClr val="CC7831"/>
                </a:solidFill>
                <a:latin typeface="Courier New"/>
                <a:cs typeface="Courier New"/>
              </a:rPr>
              <a:t>a</a:t>
            </a:r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l</a:t>
            </a:r>
            <a:r>
              <a:rPr sz="1600" b="1" spc="13" dirty="0">
                <a:solidFill>
                  <a:srgbClr val="CC7831"/>
                </a:solidFill>
                <a:latin typeface="Courier New"/>
                <a:cs typeface="Courier New"/>
              </a:rPr>
              <a:t>u</a:t>
            </a:r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e:</a:t>
            </a:r>
            <a:endParaRPr sz="1600">
              <a:latin typeface="Courier New"/>
              <a:cs typeface="Courier New"/>
            </a:endParaRPr>
          </a:p>
          <a:p>
            <a:pPr marL="489361" indent="-246374"/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- </a:t>
            </a: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name:  </a:t>
            </a:r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v</a:t>
            </a:r>
            <a:r>
              <a:rPr sz="1600" b="1" spc="13" dirty="0">
                <a:solidFill>
                  <a:srgbClr val="CC7831"/>
                </a:solidFill>
                <a:latin typeface="Courier New"/>
                <a:cs typeface="Courier New"/>
              </a:rPr>
              <a:t>a</a:t>
            </a:r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l</a:t>
            </a:r>
            <a:r>
              <a:rPr sz="1600" b="1" spc="13" dirty="0">
                <a:solidFill>
                  <a:srgbClr val="CC7831"/>
                </a:solidFill>
                <a:latin typeface="Courier New"/>
                <a:cs typeface="Courier New"/>
              </a:rPr>
              <a:t>u</a:t>
            </a:r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e: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82429" y="331247"/>
            <a:ext cx="343916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27" dirty="0"/>
              <a:t>Conf</a:t>
            </a:r>
            <a:r>
              <a:rPr spc="47" dirty="0"/>
              <a:t>i</a:t>
            </a:r>
            <a:r>
              <a:rPr spc="167" dirty="0"/>
              <a:t>gMaps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86128" y="1546352"/>
            <a:ext cx="1380067" cy="325729"/>
          </a:xfrm>
          <a:prstGeom prst="rect">
            <a:avLst/>
          </a:prstGeom>
          <a:solidFill>
            <a:srgbClr val="000000">
              <a:alpha val="50195"/>
            </a:srgbClr>
          </a:solidFill>
        </p:spPr>
        <p:txBody>
          <a:bodyPr vert="horz" wrap="square" lIns="0" tIns="48259" rIns="0" bIns="0" rtlCol="0">
            <a:spAutoFit/>
          </a:bodyPr>
          <a:lstStyle/>
          <a:p>
            <a:pPr marL="121917">
              <a:spcBef>
                <a:spcPts val="379"/>
              </a:spcBef>
            </a:pPr>
            <a:r>
              <a:rPr spc="-20" dirty="0">
                <a:solidFill>
                  <a:srgbClr val="FFFFFF"/>
                </a:solidFill>
                <a:latin typeface="Noto Sans"/>
                <a:cs typeface="Noto Sans"/>
              </a:rPr>
              <a:t>ConfigMap</a:t>
            </a:r>
            <a:endParaRPr>
              <a:latin typeface="Noto Sans"/>
              <a:cs typeface="Noto San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70000" y="5080000"/>
            <a:ext cx="1083733" cy="1087120"/>
          </a:xfrm>
          <a:custGeom>
            <a:avLst/>
            <a:gdLst/>
            <a:ahLst/>
            <a:cxnLst/>
            <a:rect l="l" t="t" r="r" b="b"/>
            <a:pathLst>
              <a:path w="812800" h="815339">
                <a:moveTo>
                  <a:pt x="812292" y="404444"/>
                </a:moveTo>
                <a:lnTo>
                  <a:pt x="809078" y="354076"/>
                </a:lnTo>
                <a:lnTo>
                  <a:pt x="799668" y="305028"/>
                </a:lnTo>
                <a:lnTo>
                  <a:pt x="784326" y="257759"/>
                </a:lnTo>
                <a:lnTo>
                  <a:pt x="763346" y="212750"/>
                </a:lnTo>
                <a:lnTo>
                  <a:pt x="752983" y="196126"/>
                </a:lnTo>
                <a:lnTo>
                  <a:pt x="752983" y="408520"/>
                </a:lnTo>
                <a:lnTo>
                  <a:pt x="749808" y="455612"/>
                </a:lnTo>
                <a:lnTo>
                  <a:pt x="740562" y="500786"/>
                </a:lnTo>
                <a:lnTo>
                  <a:pt x="725678" y="543648"/>
                </a:lnTo>
                <a:lnTo>
                  <a:pt x="705561" y="583768"/>
                </a:lnTo>
                <a:lnTo>
                  <a:pt x="680618" y="620737"/>
                </a:lnTo>
                <a:lnTo>
                  <a:pt x="651281" y="654138"/>
                </a:lnTo>
                <a:lnTo>
                  <a:pt x="617956" y="683539"/>
                </a:lnTo>
                <a:lnTo>
                  <a:pt x="581063" y="708533"/>
                </a:lnTo>
                <a:lnTo>
                  <a:pt x="541020" y="728700"/>
                </a:lnTo>
                <a:lnTo>
                  <a:pt x="498246" y="743623"/>
                </a:lnTo>
                <a:lnTo>
                  <a:pt x="453136" y="752881"/>
                </a:lnTo>
                <a:lnTo>
                  <a:pt x="406146" y="756056"/>
                </a:lnTo>
                <a:lnTo>
                  <a:pt x="359143" y="752881"/>
                </a:lnTo>
                <a:lnTo>
                  <a:pt x="314045" y="743623"/>
                </a:lnTo>
                <a:lnTo>
                  <a:pt x="271272" y="728700"/>
                </a:lnTo>
                <a:lnTo>
                  <a:pt x="231228" y="708533"/>
                </a:lnTo>
                <a:lnTo>
                  <a:pt x="194322" y="683539"/>
                </a:lnTo>
                <a:lnTo>
                  <a:pt x="160997" y="654138"/>
                </a:lnTo>
                <a:lnTo>
                  <a:pt x="141782" y="632282"/>
                </a:lnTo>
                <a:lnTo>
                  <a:pt x="141782" y="654177"/>
                </a:lnTo>
                <a:lnTo>
                  <a:pt x="86664" y="642239"/>
                </a:lnTo>
                <a:lnTo>
                  <a:pt x="61506" y="603364"/>
                </a:lnTo>
                <a:lnTo>
                  <a:pt x="41135" y="561835"/>
                </a:lnTo>
                <a:lnTo>
                  <a:pt x="25679" y="518185"/>
                </a:lnTo>
                <a:lnTo>
                  <a:pt x="15303" y="472935"/>
                </a:lnTo>
                <a:lnTo>
                  <a:pt x="10121" y="426593"/>
                </a:lnTo>
                <a:lnTo>
                  <a:pt x="43878" y="424891"/>
                </a:lnTo>
                <a:lnTo>
                  <a:pt x="50330" y="476135"/>
                </a:lnTo>
                <a:lnTo>
                  <a:pt x="63512" y="525424"/>
                </a:lnTo>
                <a:lnTo>
                  <a:pt x="83248" y="572008"/>
                </a:lnTo>
                <a:lnTo>
                  <a:pt x="109397" y="615175"/>
                </a:lnTo>
                <a:lnTo>
                  <a:pt x="120510" y="628573"/>
                </a:lnTo>
                <a:lnTo>
                  <a:pt x="120624" y="628726"/>
                </a:lnTo>
                <a:lnTo>
                  <a:pt x="121094" y="629285"/>
                </a:lnTo>
                <a:lnTo>
                  <a:pt x="141782" y="654177"/>
                </a:lnTo>
                <a:lnTo>
                  <a:pt x="141782" y="632282"/>
                </a:lnTo>
                <a:lnTo>
                  <a:pt x="106692" y="583768"/>
                </a:lnTo>
                <a:lnTo>
                  <a:pt x="86563" y="543648"/>
                </a:lnTo>
                <a:lnTo>
                  <a:pt x="71666" y="500786"/>
                </a:lnTo>
                <a:lnTo>
                  <a:pt x="62420" y="455612"/>
                </a:lnTo>
                <a:lnTo>
                  <a:pt x="59258" y="408520"/>
                </a:lnTo>
                <a:lnTo>
                  <a:pt x="62420" y="361061"/>
                </a:lnTo>
                <a:lnTo>
                  <a:pt x="71666" y="315556"/>
                </a:lnTo>
                <a:lnTo>
                  <a:pt x="86563" y="272427"/>
                </a:lnTo>
                <a:lnTo>
                  <a:pt x="106692" y="232092"/>
                </a:lnTo>
                <a:lnTo>
                  <a:pt x="131648" y="194957"/>
                </a:lnTo>
                <a:lnTo>
                  <a:pt x="160985" y="161442"/>
                </a:lnTo>
                <a:lnTo>
                  <a:pt x="194322" y="131953"/>
                </a:lnTo>
                <a:lnTo>
                  <a:pt x="231228" y="106908"/>
                </a:lnTo>
                <a:lnTo>
                  <a:pt x="271272" y="86702"/>
                </a:lnTo>
                <a:lnTo>
                  <a:pt x="314045" y="71767"/>
                </a:lnTo>
                <a:lnTo>
                  <a:pt x="359143" y="62496"/>
                </a:lnTo>
                <a:lnTo>
                  <a:pt x="406146" y="59309"/>
                </a:lnTo>
                <a:lnTo>
                  <a:pt x="453136" y="62496"/>
                </a:lnTo>
                <a:lnTo>
                  <a:pt x="498246" y="71767"/>
                </a:lnTo>
                <a:lnTo>
                  <a:pt x="541020" y="86702"/>
                </a:lnTo>
                <a:lnTo>
                  <a:pt x="581063" y="106908"/>
                </a:lnTo>
                <a:lnTo>
                  <a:pt x="617956" y="131953"/>
                </a:lnTo>
                <a:lnTo>
                  <a:pt x="651281" y="161442"/>
                </a:lnTo>
                <a:lnTo>
                  <a:pt x="680618" y="194957"/>
                </a:lnTo>
                <a:lnTo>
                  <a:pt x="705561" y="232092"/>
                </a:lnTo>
                <a:lnTo>
                  <a:pt x="725678" y="272427"/>
                </a:lnTo>
                <a:lnTo>
                  <a:pt x="740562" y="315556"/>
                </a:lnTo>
                <a:lnTo>
                  <a:pt x="749808" y="361061"/>
                </a:lnTo>
                <a:lnTo>
                  <a:pt x="752983" y="408520"/>
                </a:lnTo>
                <a:lnTo>
                  <a:pt x="752983" y="196126"/>
                </a:lnTo>
                <a:lnTo>
                  <a:pt x="736955" y="170408"/>
                </a:lnTo>
                <a:lnTo>
                  <a:pt x="705612" y="131406"/>
                </a:lnTo>
                <a:lnTo>
                  <a:pt x="702170" y="128016"/>
                </a:lnTo>
                <a:lnTo>
                  <a:pt x="666813" y="159219"/>
                </a:lnTo>
                <a:lnTo>
                  <a:pt x="660603" y="152107"/>
                </a:lnTo>
                <a:lnTo>
                  <a:pt x="660069" y="151638"/>
                </a:lnTo>
                <a:lnTo>
                  <a:pt x="668756" y="143319"/>
                </a:lnTo>
                <a:lnTo>
                  <a:pt x="693420" y="119710"/>
                </a:lnTo>
                <a:lnTo>
                  <a:pt x="688327" y="114655"/>
                </a:lnTo>
                <a:lnTo>
                  <a:pt x="676529" y="104698"/>
                </a:lnTo>
                <a:lnTo>
                  <a:pt x="676529" y="119710"/>
                </a:lnTo>
                <a:lnTo>
                  <a:pt x="652907" y="143319"/>
                </a:lnTo>
                <a:lnTo>
                  <a:pt x="613448" y="110972"/>
                </a:lnTo>
                <a:lnTo>
                  <a:pt x="570420" y="84848"/>
                </a:lnTo>
                <a:lnTo>
                  <a:pt x="547408" y="75006"/>
                </a:lnTo>
                <a:lnTo>
                  <a:pt x="545985" y="74282"/>
                </a:lnTo>
                <a:lnTo>
                  <a:pt x="544525" y="73774"/>
                </a:lnTo>
                <a:lnTo>
                  <a:pt x="524294" y="65112"/>
                </a:lnTo>
                <a:lnTo>
                  <a:pt x="504850" y="59855"/>
                </a:lnTo>
                <a:lnTo>
                  <a:pt x="503313" y="59309"/>
                </a:lnTo>
                <a:lnTo>
                  <a:pt x="501586" y="58712"/>
                </a:lnTo>
                <a:lnTo>
                  <a:pt x="497624" y="57899"/>
                </a:lnTo>
                <a:lnTo>
                  <a:pt x="475602" y="51930"/>
                </a:lnTo>
                <a:lnTo>
                  <a:pt x="457822" y="49669"/>
                </a:lnTo>
                <a:lnTo>
                  <a:pt x="454825" y="49047"/>
                </a:lnTo>
                <a:lnTo>
                  <a:pt x="450773" y="48780"/>
                </a:lnTo>
                <a:lnTo>
                  <a:pt x="424815" y="45466"/>
                </a:lnTo>
                <a:lnTo>
                  <a:pt x="426466" y="11811"/>
                </a:lnTo>
                <a:lnTo>
                  <a:pt x="472567" y="17119"/>
                </a:lnTo>
                <a:lnTo>
                  <a:pt x="517588" y="27813"/>
                </a:lnTo>
                <a:lnTo>
                  <a:pt x="561022" y="43637"/>
                </a:lnTo>
                <a:lnTo>
                  <a:pt x="602322" y="64389"/>
                </a:lnTo>
                <a:lnTo>
                  <a:pt x="640994" y="89827"/>
                </a:lnTo>
                <a:lnTo>
                  <a:pt x="676529" y="119710"/>
                </a:lnTo>
                <a:lnTo>
                  <a:pt x="676529" y="104698"/>
                </a:lnTo>
                <a:lnTo>
                  <a:pt x="608990" y="55372"/>
                </a:lnTo>
                <a:lnTo>
                  <a:pt x="565023" y="33502"/>
                </a:lnTo>
                <a:lnTo>
                  <a:pt x="518795" y="17106"/>
                </a:lnTo>
                <a:lnTo>
                  <a:pt x="470801" y="6413"/>
                </a:lnTo>
                <a:lnTo>
                  <a:pt x="421513" y="1651"/>
                </a:lnTo>
                <a:lnTo>
                  <a:pt x="416433" y="0"/>
                </a:lnTo>
                <a:lnTo>
                  <a:pt x="413664" y="46240"/>
                </a:lnTo>
                <a:lnTo>
                  <a:pt x="406146" y="45720"/>
                </a:lnTo>
                <a:lnTo>
                  <a:pt x="405041" y="45796"/>
                </a:lnTo>
                <a:lnTo>
                  <a:pt x="403733" y="0"/>
                </a:lnTo>
                <a:lnTo>
                  <a:pt x="398653" y="0"/>
                </a:lnTo>
                <a:lnTo>
                  <a:pt x="348297" y="4648"/>
                </a:lnTo>
                <a:lnTo>
                  <a:pt x="299466" y="14998"/>
                </a:lnTo>
                <a:lnTo>
                  <a:pt x="252526" y="30873"/>
                </a:lnTo>
                <a:lnTo>
                  <a:pt x="207860" y="52108"/>
                </a:lnTo>
                <a:lnTo>
                  <a:pt x="165836" y="78486"/>
                </a:lnTo>
                <a:lnTo>
                  <a:pt x="126834" y="109829"/>
                </a:lnTo>
                <a:lnTo>
                  <a:pt x="123444" y="114896"/>
                </a:lnTo>
                <a:lnTo>
                  <a:pt x="155486" y="148170"/>
                </a:lnTo>
                <a:lnTo>
                  <a:pt x="151053" y="152107"/>
                </a:lnTo>
                <a:lnTo>
                  <a:pt x="120624" y="186969"/>
                </a:lnTo>
                <a:lnTo>
                  <a:pt x="94792" y="225552"/>
                </a:lnTo>
                <a:lnTo>
                  <a:pt x="73952" y="267449"/>
                </a:lnTo>
                <a:lnTo>
                  <a:pt x="58547" y="312191"/>
                </a:lnTo>
                <a:lnTo>
                  <a:pt x="48996" y="359359"/>
                </a:lnTo>
                <a:lnTo>
                  <a:pt x="45720" y="408520"/>
                </a:lnTo>
                <a:lnTo>
                  <a:pt x="46037" y="413308"/>
                </a:lnTo>
                <a:lnTo>
                  <a:pt x="0" y="414705"/>
                </a:lnTo>
                <a:lnTo>
                  <a:pt x="0" y="421500"/>
                </a:lnTo>
                <a:lnTo>
                  <a:pt x="4622" y="471106"/>
                </a:lnTo>
                <a:lnTo>
                  <a:pt x="15062" y="519379"/>
                </a:lnTo>
                <a:lnTo>
                  <a:pt x="31216" y="565873"/>
                </a:lnTo>
                <a:lnTo>
                  <a:pt x="53009" y="610095"/>
                </a:lnTo>
                <a:lnTo>
                  <a:pt x="80327" y="651573"/>
                </a:lnTo>
                <a:lnTo>
                  <a:pt x="113093" y="689851"/>
                </a:lnTo>
                <a:lnTo>
                  <a:pt x="116459" y="694944"/>
                </a:lnTo>
                <a:lnTo>
                  <a:pt x="134061" y="677964"/>
                </a:lnTo>
                <a:lnTo>
                  <a:pt x="150152" y="662444"/>
                </a:lnTo>
                <a:lnTo>
                  <a:pt x="151053" y="663460"/>
                </a:lnTo>
                <a:lnTo>
                  <a:pt x="157683" y="669340"/>
                </a:lnTo>
                <a:lnTo>
                  <a:pt x="124968" y="703580"/>
                </a:lnTo>
                <a:lnTo>
                  <a:pt x="130035" y="706970"/>
                </a:lnTo>
                <a:lnTo>
                  <a:pt x="168795" y="738987"/>
                </a:lnTo>
                <a:lnTo>
                  <a:pt x="210566" y="765556"/>
                </a:lnTo>
                <a:lnTo>
                  <a:pt x="254965" y="786561"/>
                </a:lnTo>
                <a:lnTo>
                  <a:pt x="301612" y="801928"/>
                </a:lnTo>
                <a:lnTo>
                  <a:pt x="350139" y="811555"/>
                </a:lnTo>
                <a:lnTo>
                  <a:pt x="400177" y="815340"/>
                </a:lnTo>
                <a:lnTo>
                  <a:pt x="405257" y="815340"/>
                </a:lnTo>
                <a:lnTo>
                  <a:pt x="406603" y="769594"/>
                </a:lnTo>
                <a:lnTo>
                  <a:pt x="454825" y="766305"/>
                </a:lnTo>
                <a:lnTo>
                  <a:pt x="501586" y="756653"/>
                </a:lnTo>
                <a:lnTo>
                  <a:pt x="503262" y="756056"/>
                </a:lnTo>
                <a:lnTo>
                  <a:pt x="545985" y="741095"/>
                </a:lnTo>
                <a:lnTo>
                  <a:pt x="587578" y="720090"/>
                </a:lnTo>
                <a:lnTo>
                  <a:pt x="625932" y="694055"/>
                </a:lnTo>
                <a:lnTo>
                  <a:pt x="660603" y="663460"/>
                </a:lnTo>
                <a:lnTo>
                  <a:pt x="669836" y="652957"/>
                </a:lnTo>
                <a:lnTo>
                  <a:pt x="703961" y="684276"/>
                </a:lnTo>
                <a:lnTo>
                  <a:pt x="707263" y="679183"/>
                </a:lnTo>
                <a:lnTo>
                  <a:pt x="738581" y="640130"/>
                </a:lnTo>
                <a:lnTo>
                  <a:pt x="764628" y="597916"/>
                </a:lnTo>
                <a:lnTo>
                  <a:pt x="785202" y="553059"/>
                </a:lnTo>
                <a:lnTo>
                  <a:pt x="800125" y="506082"/>
                </a:lnTo>
                <a:lnTo>
                  <a:pt x="809218" y="457517"/>
                </a:lnTo>
                <a:lnTo>
                  <a:pt x="812292" y="407847"/>
                </a:lnTo>
                <a:lnTo>
                  <a:pt x="812292" y="404444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3019552" y="5102352"/>
            <a:ext cx="1083733" cy="1087120"/>
          </a:xfrm>
          <a:custGeom>
            <a:avLst/>
            <a:gdLst/>
            <a:ahLst/>
            <a:cxnLst/>
            <a:rect l="l" t="t" r="r" b="b"/>
            <a:pathLst>
              <a:path w="812800" h="815339">
                <a:moveTo>
                  <a:pt x="812292" y="405968"/>
                </a:moveTo>
                <a:lnTo>
                  <a:pt x="809078" y="355600"/>
                </a:lnTo>
                <a:lnTo>
                  <a:pt x="799668" y="306552"/>
                </a:lnTo>
                <a:lnTo>
                  <a:pt x="784326" y="259283"/>
                </a:lnTo>
                <a:lnTo>
                  <a:pt x="763346" y="214274"/>
                </a:lnTo>
                <a:lnTo>
                  <a:pt x="752983" y="197650"/>
                </a:lnTo>
                <a:lnTo>
                  <a:pt x="752983" y="409282"/>
                </a:lnTo>
                <a:lnTo>
                  <a:pt x="749808" y="456463"/>
                </a:lnTo>
                <a:lnTo>
                  <a:pt x="740562" y="501738"/>
                </a:lnTo>
                <a:lnTo>
                  <a:pt x="725678" y="544690"/>
                </a:lnTo>
                <a:lnTo>
                  <a:pt x="705561" y="584898"/>
                </a:lnTo>
                <a:lnTo>
                  <a:pt x="680618" y="621944"/>
                </a:lnTo>
                <a:lnTo>
                  <a:pt x="651281" y="655408"/>
                </a:lnTo>
                <a:lnTo>
                  <a:pt x="617956" y="684885"/>
                </a:lnTo>
                <a:lnTo>
                  <a:pt x="581063" y="709930"/>
                </a:lnTo>
                <a:lnTo>
                  <a:pt x="541020" y="730135"/>
                </a:lnTo>
                <a:lnTo>
                  <a:pt x="498246" y="745096"/>
                </a:lnTo>
                <a:lnTo>
                  <a:pt x="453136" y="754380"/>
                </a:lnTo>
                <a:lnTo>
                  <a:pt x="406146" y="757555"/>
                </a:lnTo>
                <a:lnTo>
                  <a:pt x="359143" y="754380"/>
                </a:lnTo>
                <a:lnTo>
                  <a:pt x="314032" y="745096"/>
                </a:lnTo>
                <a:lnTo>
                  <a:pt x="271259" y="730135"/>
                </a:lnTo>
                <a:lnTo>
                  <a:pt x="231216" y="709930"/>
                </a:lnTo>
                <a:lnTo>
                  <a:pt x="194322" y="684885"/>
                </a:lnTo>
                <a:lnTo>
                  <a:pt x="160997" y="655408"/>
                </a:lnTo>
                <a:lnTo>
                  <a:pt x="141732" y="633437"/>
                </a:lnTo>
                <a:lnTo>
                  <a:pt x="141732" y="654405"/>
                </a:lnTo>
                <a:lnTo>
                  <a:pt x="86664" y="642531"/>
                </a:lnTo>
                <a:lnTo>
                  <a:pt x="61518" y="603859"/>
                </a:lnTo>
                <a:lnTo>
                  <a:pt x="41160" y="562559"/>
                </a:lnTo>
                <a:lnTo>
                  <a:pt x="25717" y="519137"/>
                </a:lnTo>
                <a:lnTo>
                  <a:pt x="15341" y="474129"/>
                </a:lnTo>
                <a:lnTo>
                  <a:pt x="10160" y="428040"/>
                </a:lnTo>
                <a:lnTo>
                  <a:pt x="43942" y="426351"/>
                </a:lnTo>
                <a:lnTo>
                  <a:pt x="50342" y="477316"/>
                </a:lnTo>
                <a:lnTo>
                  <a:pt x="63487" y="526338"/>
                </a:lnTo>
                <a:lnTo>
                  <a:pt x="83223" y="572681"/>
                </a:lnTo>
                <a:lnTo>
                  <a:pt x="109359" y="615607"/>
                </a:lnTo>
                <a:lnTo>
                  <a:pt x="117805" y="625741"/>
                </a:lnTo>
                <a:lnTo>
                  <a:pt x="120637" y="629945"/>
                </a:lnTo>
                <a:lnTo>
                  <a:pt x="135839" y="647357"/>
                </a:lnTo>
                <a:lnTo>
                  <a:pt x="141732" y="654405"/>
                </a:lnTo>
                <a:lnTo>
                  <a:pt x="141732" y="633437"/>
                </a:lnTo>
                <a:lnTo>
                  <a:pt x="106718" y="584898"/>
                </a:lnTo>
                <a:lnTo>
                  <a:pt x="86601" y="544690"/>
                </a:lnTo>
                <a:lnTo>
                  <a:pt x="71716" y="501738"/>
                </a:lnTo>
                <a:lnTo>
                  <a:pt x="62471" y="456463"/>
                </a:lnTo>
                <a:lnTo>
                  <a:pt x="59309" y="409282"/>
                </a:lnTo>
                <a:lnTo>
                  <a:pt x="62471" y="361721"/>
                </a:lnTo>
                <a:lnTo>
                  <a:pt x="71716" y="316115"/>
                </a:lnTo>
                <a:lnTo>
                  <a:pt x="86601" y="272897"/>
                </a:lnTo>
                <a:lnTo>
                  <a:pt x="106718" y="232473"/>
                </a:lnTo>
                <a:lnTo>
                  <a:pt x="131660" y="195262"/>
                </a:lnTo>
                <a:lnTo>
                  <a:pt x="160997" y="161671"/>
                </a:lnTo>
                <a:lnTo>
                  <a:pt x="194322" y="132118"/>
                </a:lnTo>
                <a:lnTo>
                  <a:pt x="231216" y="107010"/>
                </a:lnTo>
                <a:lnTo>
                  <a:pt x="271259" y="86766"/>
                </a:lnTo>
                <a:lnTo>
                  <a:pt x="314032" y="71793"/>
                </a:lnTo>
                <a:lnTo>
                  <a:pt x="359143" y="62496"/>
                </a:lnTo>
                <a:lnTo>
                  <a:pt x="406146" y="59309"/>
                </a:lnTo>
                <a:lnTo>
                  <a:pt x="453136" y="62496"/>
                </a:lnTo>
                <a:lnTo>
                  <a:pt x="498246" y="71793"/>
                </a:lnTo>
                <a:lnTo>
                  <a:pt x="541020" y="86766"/>
                </a:lnTo>
                <a:lnTo>
                  <a:pt x="581063" y="107010"/>
                </a:lnTo>
                <a:lnTo>
                  <a:pt x="617956" y="132118"/>
                </a:lnTo>
                <a:lnTo>
                  <a:pt x="651281" y="161671"/>
                </a:lnTo>
                <a:lnTo>
                  <a:pt x="680618" y="195262"/>
                </a:lnTo>
                <a:lnTo>
                  <a:pt x="705561" y="232473"/>
                </a:lnTo>
                <a:lnTo>
                  <a:pt x="725678" y="272897"/>
                </a:lnTo>
                <a:lnTo>
                  <a:pt x="740562" y="316115"/>
                </a:lnTo>
                <a:lnTo>
                  <a:pt x="749808" y="361721"/>
                </a:lnTo>
                <a:lnTo>
                  <a:pt x="752983" y="409282"/>
                </a:lnTo>
                <a:lnTo>
                  <a:pt x="752983" y="197650"/>
                </a:lnTo>
                <a:lnTo>
                  <a:pt x="736955" y="171932"/>
                </a:lnTo>
                <a:lnTo>
                  <a:pt x="705612" y="132930"/>
                </a:lnTo>
                <a:lnTo>
                  <a:pt x="702183" y="129540"/>
                </a:lnTo>
                <a:lnTo>
                  <a:pt x="667448" y="160185"/>
                </a:lnTo>
                <a:lnTo>
                  <a:pt x="660704" y="152476"/>
                </a:lnTo>
                <a:lnTo>
                  <a:pt x="668743" y="144703"/>
                </a:lnTo>
                <a:lnTo>
                  <a:pt x="693420" y="120865"/>
                </a:lnTo>
                <a:lnTo>
                  <a:pt x="688340" y="115760"/>
                </a:lnTo>
                <a:lnTo>
                  <a:pt x="676529" y="105702"/>
                </a:lnTo>
                <a:lnTo>
                  <a:pt x="676529" y="120865"/>
                </a:lnTo>
                <a:lnTo>
                  <a:pt x="652907" y="144703"/>
                </a:lnTo>
                <a:lnTo>
                  <a:pt x="639419" y="133553"/>
                </a:lnTo>
                <a:lnTo>
                  <a:pt x="625932" y="121577"/>
                </a:lnTo>
                <a:lnTo>
                  <a:pt x="620407" y="117830"/>
                </a:lnTo>
                <a:lnTo>
                  <a:pt x="613448" y="112052"/>
                </a:lnTo>
                <a:lnTo>
                  <a:pt x="598627" y="102984"/>
                </a:lnTo>
                <a:lnTo>
                  <a:pt x="587578" y="95440"/>
                </a:lnTo>
                <a:lnTo>
                  <a:pt x="580377" y="91795"/>
                </a:lnTo>
                <a:lnTo>
                  <a:pt x="570420" y="85686"/>
                </a:lnTo>
                <a:lnTo>
                  <a:pt x="556475" y="79679"/>
                </a:lnTo>
                <a:lnTo>
                  <a:pt x="545985" y="74345"/>
                </a:lnTo>
                <a:lnTo>
                  <a:pt x="536067" y="70866"/>
                </a:lnTo>
                <a:lnTo>
                  <a:pt x="524294" y="65773"/>
                </a:lnTo>
                <a:lnTo>
                  <a:pt x="512343" y="62522"/>
                </a:lnTo>
                <a:lnTo>
                  <a:pt x="503237" y="59309"/>
                </a:lnTo>
                <a:lnTo>
                  <a:pt x="501586" y="58737"/>
                </a:lnTo>
                <a:lnTo>
                  <a:pt x="488759" y="56083"/>
                </a:lnTo>
                <a:lnTo>
                  <a:pt x="475602" y="52489"/>
                </a:lnTo>
                <a:lnTo>
                  <a:pt x="464654" y="51092"/>
                </a:lnTo>
                <a:lnTo>
                  <a:pt x="454825" y="49047"/>
                </a:lnTo>
                <a:lnTo>
                  <a:pt x="441858" y="48171"/>
                </a:lnTo>
                <a:lnTo>
                  <a:pt x="424815" y="45974"/>
                </a:lnTo>
                <a:lnTo>
                  <a:pt x="426466" y="11938"/>
                </a:lnTo>
                <a:lnTo>
                  <a:pt x="472567" y="17284"/>
                </a:lnTo>
                <a:lnTo>
                  <a:pt x="517588" y="28067"/>
                </a:lnTo>
                <a:lnTo>
                  <a:pt x="561022" y="44056"/>
                </a:lnTo>
                <a:lnTo>
                  <a:pt x="602322" y="65011"/>
                </a:lnTo>
                <a:lnTo>
                  <a:pt x="640994" y="90690"/>
                </a:lnTo>
                <a:lnTo>
                  <a:pt x="676529" y="120865"/>
                </a:lnTo>
                <a:lnTo>
                  <a:pt x="676529" y="105702"/>
                </a:lnTo>
                <a:lnTo>
                  <a:pt x="608990" y="55930"/>
                </a:lnTo>
                <a:lnTo>
                  <a:pt x="565023" y="33832"/>
                </a:lnTo>
                <a:lnTo>
                  <a:pt x="518795" y="17259"/>
                </a:lnTo>
                <a:lnTo>
                  <a:pt x="470801" y="6451"/>
                </a:lnTo>
                <a:lnTo>
                  <a:pt x="421513" y="1651"/>
                </a:lnTo>
                <a:lnTo>
                  <a:pt x="416433" y="0"/>
                </a:lnTo>
                <a:lnTo>
                  <a:pt x="413689" y="46240"/>
                </a:lnTo>
                <a:lnTo>
                  <a:pt x="406146" y="45720"/>
                </a:lnTo>
                <a:lnTo>
                  <a:pt x="403504" y="45910"/>
                </a:lnTo>
                <a:lnTo>
                  <a:pt x="402209" y="0"/>
                </a:lnTo>
                <a:lnTo>
                  <a:pt x="397129" y="0"/>
                </a:lnTo>
                <a:lnTo>
                  <a:pt x="347078" y="4673"/>
                </a:lnTo>
                <a:lnTo>
                  <a:pt x="298526" y="15125"/>
                </a:lnTo>
                <a:lnTo>
                  <a:pt x="251853" y="31153"/>
                </a:lnTo>
                <a:lnTo>
                  <a:pt x="207429" y="52590"/>
                </a:lnTo>
                <a:lnTo>
                  <a:pt x="165646" y="79248"/>
                </a:lnTo>
                <a:lnTo>
                  <a:pt x="126873" y="110909"/>
                </a:lnTo>
                <a:lnTo>
                  <a:pt x="123444" y="116027"/>
                </a:lnTo>
                <a:lnTo>
                  <a:pt x="154774" y="149047"/>
                </a:lnTo>
                <a:lnTo>
                  <a:pt x="151066" y="152336"/>
                </a:lnTo>
                <a:lnTo>
                  <a:pt x="120637" y="187261"/>
                </a:lnTo>
                <a:lnTo>
                  <a:pt x="94792" y="225933"/>
                </a:lnTo>
                <a:lnTo>
                  <a:pt x="73952" y="267906"/>
                </a:lnTo>
                <a:lnTo>
                  <a:pt x="58547" y="312750"/>
                </a:lnTo>
                <a:lnTo>
                  <a:pt x="48996" y="360019"/>
                </a:lnTo>
                <a:lnTo>
                  <a:pt x="45720" y="409282"/>
                </a:lnTo>
                <a:lnTo>
                  <a:pt x="46088" y="414832"/>
                </a:lnTo>
                <a:lnTo>
                  <a:pt x="0" y="416217"/>
                </a:lnTo>
                <a:lnTo>
                  <a:pt x="0" y="422973"/>
                </a:lnTo>
                <a:lnTo>
                  <a:pt x="4635" y="472313"/>
                </a:lnTo>
                <a:lnTo>
                  <a:pt x="15074" y="520331"/>
                </a:lnTo>
                <a:lnTo>
                  <a:pt x="31216" y="566572"/>
                </a:lnTo>
                <a:lnTo>
                  <a:pt x="52984" y="610552"/>
                </a:lnTo>
                <a:lnTo>
                  <a:pt x="80276" y="651814"/>
                </a:lnTo>
                <a:lnTo>
                  <a:pt x="113030" y="689876"/>
                </a:lnTo>
                <a:lnTo>
                  <a:pt x="116459" y="694944"/>
                </a:lnTo>
                <a:lnTo>
                  <a:pt x="134061" y="678053"/>
                </a:lnTo>
                <a:lnTo>
                  <a:pt x="149631" y="663130"/>
                </a:lnTo>
                <a:lnTo>
                  <a:pt x="151053" y="664756"/>
                </a:lnTo>
                <a:lnTo>
                  <a:pt x="157022" y="670064"/>
                </a:lnTo>
                <a:lnTo>
                  <a:pt x="124968" y="703580"/>
                </a:lnTo>
                <a:lnTo>
                  <a:pt x="130048" y="706970"/>
                </a:lnTo>
                <a:lnTo>
                  <a:pt x="168808" y="738987"/>
                </a:lnTo>
                <a:lnTo>
                  <a:pt x="210578" y="765556"/>
                </a:lnTo>
                <a:lnTo>
                  <a:pt x="254965" y="786561"/>
                </a:lnTo>
                <a:lnTo>
                  <a:pt x="301599" y="801928"/>
                </a:lnTo>
                <a:lnTo>
                  <a:pt x="350126" y="811555"/>
                </a:lnTo>
                <a:lnTo>
                  <a:pt x="400177" y="815340"/>
                </a:lnTo>
                <a:lnTo>
                  <a:pt x="405257" y="815340"/>
                </a:lnTo>
                <a:lnTo>
                  <a:pt x="406552" y="771118"/>
                </a:lnTo>
                <a:lnTo>
                  <a:pt x="454825" y="767829"/>
                </a:lnTo>
                <a:lnTo>
                  <a:pt x="501586" y="758151"/>
                </a:lnTo>
                <a:lnTo>
                  <a:pt x="503262" y="757555"/>
                </a:lnTo>
                <a:lnTo>
                  <a:pt x="545985" y="742556"/>
                </a:lnTo>
                <a:lnTo>
                  <a:pt x="587578" y="721499"/>
                </a:lnTo>
                <a:lnTo>
                  <a:pt x="625932" y="695426"/>
                </a:lnTo>
                <a:lnTo>
                  <a:pt x="660603" y="664756"/>
                </a:lnTo>
                <a:lnTo>
                  <a:pt x="669709" y="654367"/>
                </a:lnTo>
                <a:lnTo>
                  <a:pt x="703961" y="685800"/>
                </a:lnTo>
                <a:lnTo>
                  <a:pt x="707263" y="680707"/>
                </a:lnTo>
                <a:lnTo>
                  <a:pt x="738581" y="641654"/>
                </a:lnTo>
                <a:lnTo>
                  <a:pt x="764628" y="599440"/>
                </a:lnTo>
                <a:lnTo>
                  <a:pt x="785202" y="554583"/>
                </a:lnTo>
                <a:lnTo>
                  <a:pt x="800125" y="507606"/>
                </a:lnTo>
                <a:lnTo>
                  <a:pt x="809218" y="459041"/>
                </a:lnTo>
                <a:lnTo>
                  <a:pt x="812292" y="409371"/>
                </a:lnTo>
                <a:lnTo>
                  <a:pt x="812292" y="405968"/>
                </a:lnTo>
                <a:close/>
              </a:path>
            </a:pathLst>
          </a:custGeom>
          <a:solidFill>
            <a:srgbClr val="39B54A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932012" y="5204493"/>
            <a:ext cx="1756833" cy="12251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8466" algn="ctr">
              <a:spcBef>
                <a:spcPts val="133"/>
              </a:spcBef>
            </a:pPr>
            <a:r>
              <a:rPr sz="4800" dirty="0">
                <a:solidFill>
                  <a:srgbClr val="1780C3"/>
                </a:solidFill>
                <a:latin typeface="Noto Sans"/>
                <a:cs typeface="Noto Sans"/>
              </a:rPr>
              <a:t>1</a:t>
            </a:r>
            <a:endParaRPr sz="4800">
              <a:latin typeface="Noto Sans"/>
              <a:cs typeface="Noto Sans"/>
            </a:endParaRPr>
          </a:p>
          <a:p>
            <a:pPr algn="ctr">
              <a:spcBef>
                <a:spcPts val="1920"/>
              </a:spcBef>
            </a:pPr>
            <a:r>
              <a:rPr sz="1467" spc="13" dirty="0">
                <a:latin typeface="Verdana"/>
                <a:cs typeface="Verdana"/>
              </a:rPr>
              <a:t>Create</a:t>
            </a:r>
            <a:r>
              <a:rPr sz="1467" spc="-220" dirty="0">
                <a:latin typeface="Verdana"/>
                <a:cs typeface="Verdana"/>
              </a:rPr>
              <a:t> </a:t>
            </a:r>
            <a:r>
              <a:rPr sz="1467" spc="53" dirty="0">
                <a:latin typeface="Verdana"/>
                <a:cs typeface="Verdana"/>
              </a:rPr>
              <a:t>ConfigMap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3943" y="5218311"/>
            <a:ext cx="1410547" cy="12380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4553" algn="ctr">
              <a:spcBef>
                <a:spcPts val="133"/>
              </a:spcBef>
            </a:pPr>
            <a:r>
              <a:rPr sz="4800" dirty="0">
                <a:solidFill>
                  <a:srgbClr val="39B54A"/>
                </a:solidFill>
                <a:latin typeface="Noto Sans"/>
                <a:cs typeface="Noto Sans"/>
              </a:rPr>
              <a:t>2</a:t>
            </a:r>
            <a:endParaRPr sz="4800">
              <a:latin typeface="Noto Sans"/>
              <a:cs typeface="Noto Sans"/>
            </a:endParaRPr>
          </a:p>
          <a:p>
            <a:pPr algn="ctr">
              <a:spcBef>
                <a:spcPts val="2000"/>
              </a:spcBef>
            </a:pPr>
            <a:r>
              <a:rPr sz="1467" spc="-20" dirty="0">
                <a:latin typeface="Verdana"/>
                <a:cs typeface="Verdana"/>
              </a:rPr>
              <a:t>Inject </a:t>
            </a:r>
            <a:r>
              <a:rPr sz="1467" spc="20" dirty="0">
                <a:latin typeface="Verdana"/>
                <a:cs typeface="Verdana"/>
              </a:rPr>
              <a:t>into</a:t>
            </a:r>
            <a:r>
              <a:rPr sz="1467" spc="-300" dirty="0">
                <a:latin typeface="Verdana"/>
                <a:cs typeface="Verdana"/>
              </a:rPr>
              <a:t> </a:t>
            </a:r>
            <a:r>
              <a:rPr sz="1467" spc="87" dirty="0">
                <a:latin typeface="Verdana"/>
                <a:cs typeface="Verdana"/>
              </a:rPr>
              <a:t>Pod</a:t>
            </a:r>
            <a:endParaRPr sz="1467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9424" y="1946655"/>
            <a:ext cx="2993813" cy="611279"/>
          </a:xfrm>
          <a:prstGeom prst="rect">
            <a:avLst/>
          </a:prstGeom>
          <a:solidFill>
            <a:srgbClr val="2B2B2B"/>
          </a:solidFill>
        </p:spPr>
        <p:txBody>
          <a:bodyPr vert="horz" wrap="square" lIns="0" tIns="46567" rIns="0" bIns="0" rtlCol="0">
            <a:spAutoFit/>
          </a:bodyPr>
          <a:lstStyle/>
          <a:p>
            <a:pPr marL="121070">
              <a:lnSpc>
                <a:spcPts val="2233"/>
              </a:lnSpc>
              <a:spcBef>
                <a:spcPts val="367"/>
              </a:spcBef>
            </a:pPr>
            <a:r>
              <a:rPr sz="1867" spc="-7" dirty="0">
                <a:solidFill>
                  <a:srgbClr val="876B96"/>
                </a:solidFill>
                <a:latin typeface="Courier New"/>
                <a:cs typeface="Courier New"/>
              </a:rPr>
              <a:t>APP_COLOR </a:t>
            </a:r>
            <a:r>
              <a:rPr sz="2700" spc="-9" baseline="-4115" dirty="0">
                <a:solidFill>
                  <a:srgbClr val="A6A6A6"/>
                </a:solidFill>
                <a:latin typeface="Noto Sans"/>
                <a:cs typeface="Noto Sans"/>
              </a:rPr>
              <a:t>:</a:t>
            </a:r>
            <a:r>
              <a:rPr sz="2700" spc="160" baseline="-4115" dirty="0">
                <a:solidFill>
                  <a:srgbClr val="A6A6A6"/>
                </a:solidFill>
                <a:latin typeface="Noto Sans"/>
                <a:cs typeface="Noto Sans"/>
              </a:rPr>
              <a:t> 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blue</a:t>
            </a:r>
            <a:endParaRPr sz="1867">
              <a:latin typeface="Courier New"/>
              <a:cs typeface="Courier New"/>
            </a:endParaRPr>
          </a:p>
          <a:p>
            <a:pPr marL="121070">
              <a:lnSpc>
                <a:spcPts val="2233"/>
              </a:lnSpc>
              <a:tabLst>
                <a:tab pos="1536662" algn="l"/>
              </a:tabLst>
            </a:pPr>
            <a:r>
              <a:rPr sz="1867" spc="-7" dirty="0">
                <a:solidFill>
                  <a:srgbClr val="876B96"/>
                </a:solidFill>
                <a:latin typeface="Courier New"/>
                <a:cs typeface="Courier New"/>
              </a:rPr>
              <a:t>APP_MODE</a:t>
            </a:r>
            <a:r>
              <a:rPr sz="1867" spc="-940" dirty="0">
                <a:solidFill>
                  <a:srgbClr val="876B96"/>
                </a:solidFill>
                <a:latin typeface="Courier New"/>
                <a:cs typeface="Courier New"/>
              </a:rPr>
              <a:t> </a:t>
            </a:r>
            <a:r>
              <a:rPr sz="2700" spc="-9" baseline="2057" dirty="0">
                <a:solidFill>
                  <a:srgbClr val="A6A6A6"/>
                </a:solidFill>
                <a:latin typeface="Noto Sans"/>
                <a:cs typeface="Noto Sans"/>
              </a:rPr>
              <a:t>:	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prod</a:t>
            </a:r>
            <a:endParaRPr sz="1867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48095" y="4531361"/>
            <a:ext cx="4856480" cy="1355513"/>
          </a:xfrm>
          <a:custGeom>
            <a:avLst/>
            <a:gdLst/>
            <a:ahLst/>
            <a:cxnLst/>
            <a:rect l="l" t="t" r="r" b="b"/>
            <a:pathLst>
              <a:path w="3642359" h="1016635">
                <a:moveTo>
                  <a:pt x="3642360" y="0"/>
                </a:moveTo>
                <a:lnTo>
                  <a:pt x="0" y="0"/>
                </a:lnTo>
                <a:lnTo>
                  <a:pt x="0" y="1016507"/>
                </a:lnTo>
                <a:lnTo>
                  <a:pt x="3642360" y="1016507"/>
                </a:lnTo>
                <a:lnTo>
                  <a:pt x="3642360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5403257" y="1946825"/>
            <a:ext cx="3716020" cy="339751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1969297">
              <a:spcBef>
                <a:spcPts val="133"/>
              </a:spcBef>
            </a:pP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apiVersion:</a:t>
            </a:r>
            <a:r>
              <a:rPr sz="1600" b="1" spc="-113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600" spc="13" dirty="0">
                <a:solidFill>
                  <a:srgbClr val="A9B7C5"/>
                </a:solidFill>
                <a:latin typeface="Courier New"/>
                <a:cs typeface="Courier New"/>
              </a:rPr>
              <a:t>v1  </a:t>
            </a:r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kind: </a:t>
            </a: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Pod  </a:t>
            </a: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metadata:</a:t>
            </a:r>
            <a:endParaRPr sz="1600" dirty="0">
              <a:latin typeface="Courier New"/>
              <a:cs typeface="Courier New"/>
            </a:endParaRPr>
          </a:p>
          <a:p>
            <a:pPr marL="260767"/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simple-webapp-color</a:t>
            </a:r>
            <a:endParaRPr sz="1600" dirty="0">
              <a:latin typeface="Courier New"/>
              <a:cs typeface="Courier New"/>
            </a:endParaRPr>
          </a:p>
          <a:p>
            <a:pPr marL="16933"/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spec:</a:t>
            </a:r>
            <a:endParaRPr sz="1600" dirty="0">
              <a:latin typeface="Courier New"/>
              <a:cs typeface="Courier New"/>
            </a:endParaRPr>
          </a:p>
          <a:p>
            <a:pPr marL="260767"/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containers:</a:t>
            </a:r>
            <a:endParaRPr sz="1600" dirty="0">
              <a:latin typeface="Courier New"/>
              <a:cs typeface="Courier New"/>
            </a:endParaRPr>
          </a:p>
          <a:p>
            <a:pPr marL="506294" marR="6773" indent="-246374"/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- </a:t>
            </a: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name: </a:t>
            </a: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simple-webapp-color </a:t>
            </a:r>
            <a:r>
              <a:rPr sz="160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image: </a:t>
            </a: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simple-webapp-color </a:t>
            </a:r>
            <a:r>
              <a:rPr sz="160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ports:</a:t>
            </a:r>
            <a:endParaRPr sz="1600" dirty="0">
              <a:latin typeface="Courier New"/>
              <a:cs typeface="Courier New"/>
            </a:endParaRPr>
          </a:p>
          <a:p>
            <a:pPr marL="751821"/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- </a:t>
            </a: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containerPort:</a:t>
            </a:r>
            <a:r>
              <a:rPr sz="1600" b="1" spc="-13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8080</a:t>
            </a:r>
            <a:endParaRPr sz="1600" dirty="0">
              <a:latin typeface="Courier New"/>
              <a:cs typeface="Courier New"/>
            </a:endParaRPr>
          </a:p>
          <a:p>
            <a:pPr marL="567252">
              <a:spcBef>
                <a:spcPts val="1367"/>
              </a:spcBef>
            </a:pP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envFrom:</a:t>
            </a:r>
            <a:endParaRPr sz="1600" dirty="0">
              <a:latin typeface="Courier New"/>
              <a:cs typeface="Courier New"/>
            </a:endParaRPr>
          </a:p>
          <a:p>
            <a:pPr marL="567252"/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-</a:t>
            </a:r>
            <a:r>
              <a:rPr sz="1600" spc="-13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configMapRef:</a:t>
            </a:r>
            <a:endParaRPr sz="1600" dirty="0">
              <a:latin typeface="Courier New"/>
              <a:cs typeface="Courier New"/>
            </a:endParaRPr>
          </a:p>
          <a:p>
            <a:pPr marL="1303834"/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600" b="1" spc="-33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app-config</a:t>
            </a:r>
            <a:endParaRPr sz="16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9574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547539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40" dirty="0"/>
              <a:t>Create</a:t>
            </a:r>
            <a:r>
              <a:rPr spc="-447" dirty="0"/>
              <a:t> </a:t>
            </a:r>
            <a:r>
              <a:rPr spc="140" dirty="0"/>
              <a:t>ConfigMaps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424" y="1946655"/>
            <a:ext cx="2993813" cy="615681"/>
          </a:xfrm>
          <a:prstGeom prst="rect">
            <a:avLst/>
          </a:prstGeom>
          <a:solidFill>
            <a:srgbClr val="2B2B2B"/>
          </a:solidFill>
        </p:spPr>
        <p:txBody>
          <a:bodyPr vert="horz" wrap="square" lIns="0" tIns="40640" rIns="0" bIns="0" rtlCol="0">
            <a:spAutoFit/>
          </a:bodyPr>
          <a:lstStyle/>
          <a:p>
            <a:pPr marL="121070" marR="733195">
              <a:spcBef>
                <a:spcPts val="320"/>
              </a:spcBef>
            </a:pP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APP_COLOR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r>
              <a:rPr sz="1867" spc="-12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blue  </a:t>
            </a: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APP_MODE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r>
              <a:rPr sz="1867" spc="-6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prod</a:t>
            </a:r>
            <a:endParaRPr sz="1867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8" y="1546352"/>
            <a:ext cx="1380067" cy="325729"/>
          </a:xfrm>
          <a:prstGeom prst="rect">
            <a:avLst/>
          </a:prstGeom>
          <a:solidFill>
            <a:srgbClr val="000000">
              <a:alpha val="50195"/>
            </a:srgbClr>
          </a:solidFill>
        </p:spPr>
        <p:txBody>
          <a:bodyPr vert="horz" wrap="square" lIns="0" tIns="48259" rIns="0" bIns="0" rtlCol="0">
            <a:spAutoFit/>
          </a:bodyPr>
          <a:lstStyle/>
          <a:p>
            <a:pPr marL="121917">
              <a:spcBef>
                <a:spcPts val="379"/>
              </a:spcBef>
            </a:pPr>
            <a:r>
              <a:rPr spc="-20" dirty="0">
                <a:solidFill>
                  <a:srgbClr val="FFFFFF"/>
                </a:solidFill>
                <a:latin typeface="Noto Sans"/>
                <a:cs typeface="Noto Sans"/>
              </a:rPr>
              <a:t>ConfigMap</a:t>
            </a:r>
            <a:endParaRPr>
              <a:latin typeface="Noto Sans"/>
              <a:cs typeface="Noto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08049" y="5175503"/>
            <a:ext cx="1081193" cy="1087120"/>
          </a:xfrm>
          <a:custGeom>
            <a:avLst/>
            <a:gdLst/>
            <a:ahLst/>
            <a:cxnLst/>
            <a:rect l="l" t="t" r="r" b="b"/>
            <a:pathLst>
              <a:path w="810894" h="815339">
                <a:moveTo>
                  <a:pt x="810768" y="404444"/>
                </a:moveTo>
                <a:lnTo>
                  <a:pt x="807554" y="354076"/>
                </a:lnTo>
                <a:lnTo>
                  <a:pt x="798144" y="305028"/>
                </a:lnTo>
                <a:lnTo>
                  <a:pt x="782802" y="257759"/>
                </a:lnTo>
                <a:lnTo>
                  <a:pt x="761822" y="212750"/>
                </a:lnTo>
                <a:lnTo>
                  <a:pt x="752983" y="198577"/>
                </a:lnTo>
                <a:lnTo>
                  <a:pt x="752983" y="407758"/>
                </a:lnTo>
                <a:lnTo>
                  <a:pt x="749795" y="454939"/>
                </a:lnTo>
                <a:lnTo>
                  <a:pt x="740537" y="500214"/>
                </a:lnTo>
                <a:lnTo>
                  <a:pt x="725614" y="543166"/>
                </a:lnTo>
                <a:lnTo>
                  <a:pt x="705446" y="583374"/>
                </a:lnTo>
                <a:lnTo>
                  <a:pt x="680453" y="620420"/>
                </a:lnTo>
                <a:lnTo>
                  <a:pt x="651040" y="653897"/>
                </a:lnTo>
                <a:lnTo>
                  <a:pt x="617639" y="683361"/>
                </a:lnTo>
                <a:lnTo>
                  <a:pt x="580669" y="708406"/>
                </a:lnTo>
                <a:lnTo>
                  <a:pt x="540537" y="728611"/>
                </a:lnTo>
                <a:lnTo>
                  <a:pt x="497662" y="743572"/>
                </a:lnTo>
                <a:lnTo>
                  <a:pt x="452475" y="752856"/>
                </a:lnTo>
                <a:lnTo>
                  <a:pt x="405384" y="756031"/>
                </a:lnTo>
                <a:lnTo>
                  <a:pt x="358279" y="752856"/>
                </a:lnTo>
                <a:lnTo>
                  <a:pt x="313093" y="743572"/>
                </a:lnTo>
                <a:lnTo>
                  <a:pt x="270217" y="728611"/>
                </a:lnTo>
                <a:lnTo>
                  <a:pt x="230085" y="708406"/>
                </a:lnTo>
                <a:lnTo>
                  <a:pt x="193116" y="683361"/>
                </a:lnTo>
                <a:lnTo>
                  <a:pt x="159715" y="653897"/>
                </a:lnTo>
                <a:lnTo>
                  <a:pt x="141732" y="633437"/>
                </a:lnTo>
                <a:lnTo>
                  <a:pt x="141732" y="654177"/>
                </a:lnTo>
                <a:lnTo>
                  <a:pt x="86664" y="642239"/>
                </a:lnTo>
                <a:lnTo>
                  <a:pt x="61518" y="603364"/>
                </a:lnTo>
                <a:lnTo>
                  <a:pt x="41160" y="561835"/>
                </a:lnTo>
                <a:lnTo>
                  <a:pt x="25717" y="518185"/>
                </a:lnTo>
                <a:lnTo>
                  <a:pt x="15341" y="472935"/>
                </a:lnTo>
                <a:lnTo>
                  <a:pt x="10160" y="426593"/>
                </a:lnTo>
                <a:lnTo>
                  <a:pt x="43942" y="424891"/>
                </a:lnTo>
                <a:lnTo>
                  <a:pt x="46964" y="449122"/>
                </a:lnTo>
                <a:lnTo>
                  <a:pt x="47472" y="456641"/>
                </a:lnTo>
                <a:lnTo>
                  <a:pt x="48590" y="462153"/>
                </a:lnTo>
                <a:lnTo>
                  <a:pt x="50342" y="476135"/>
                </a:lnTo>
                <a:lnTo>
                  <a:pt x="55041" y="493801"/>
                </a:lnTo>
                <a:lnTo>
                  <a:pt x="57048" y="503580"/>
                </a:lnTo>
                <a:lnTo>
                  <a:pt x="59715" y="511302"/>
                </a:lnTo>
                <a:lnTo>
                  <a:pt x="63487" y="525424"/>
                </a:lnTo>
                <a:lnTo>
                  <a:pt x="69621" y="539915"/>
                </a:lnTo>
                <a:lnTo>
                  <a:pt x="72478" y="548157"/>
                </a:lnTo>
                <a:lnTo>
                  <a:pt x="76669" y="556564"/>
                </a:lnTo>
                <a:lnTo>
                  <a:pt x="83223" y="572008"/>
                </a:lnTo>
                <a:lnTo>
                  <a:pt x="89966" y="583158"/>
                </a:lnTo>
                <a:lnTo>
                  <a:pt x="93357" y="589927"/>
                </a:lnTo>
                <a:lnTo>
                  <a:pt x="100533" y="600621"/>
                </a:lnTo>
                <a:lnTo>
                  <a:pt x="109359" y="615175"/>
                </a:lnTo>
                <a:lnTo>
                  <a:pt x="114477" y="621360"/>
                </a:lnTo>
                <a:lnTo>
                  <a:pt x="119240" y="628421"/>
                </a:lnTo>
                <a:lnTo>
                  <a:pt x="140474" y="652678"/>
                </a:lnTo>
                <a:lnTo>
                  <a:pt x="141732" y="654177"/>
                </a:lnTo>
                <a:lnTo>
                  <a:pt x="141732" y="633437"/>
                </a:lnTo>
                <a:lnTo>
                  <a:pt x="105308" y="583374"/>
                </a:lnTo>
                <a:lnTo>
                  <a:pt x="85140" y="543166"/>
                </a:lnTo>
                <a:lnTo>
                  <a:pt x="70218" y="500214"/>
                </a:lnTo>
                <a:lnTo>
                  <a:pt x="60960" y="454939"/>
                </a:lnTo>
                <a:lnTo>
                  <a:pt x="57785" y="407758"/>
                </a:lnTo>
                <a:lnTo>
                  <a:pt x="60960" y="360197"/>
                </a:lnTo>
                <a:lnTo>
                  <a:pt x="70218" y="314591"/>
                </a:lnTo>
                <a:lnTo>
                  <a:pt x="85140" y="271373"/>
                </a:lnTo>
                <a:lnTo>
                  <a:pt x="105308" y="230949"/>
                </a:lnTo>
                <a:lnTo>
                  <a:pt x="130302" y="193738"/>
                </a:lnTo>
                <a:lnTo>
                  <a:pt x="159715" y="160147"/>
                </a:lnTo>
                <a:lnTo>
                  <a:pt x="193116" y="130594"/>
                </a:lnTo>
                <a:lnTo>
                  <a:pt x="230085" y="105486"/>
                </a:lnTo>
                <a:lnTo>
                  <a:pt x="270217" y="85242"/>
                </a:lnTo>
                <a:lnTo>
                  <a:pt x="312254" y="70573"/>
                </a:lnTo>
                <a:lnTo>
                  <a:pt x="357085" y="61226"/>
                </a:lnTo>
                <a:lnTo>
                  <a:pt x="405384" y="57785"/>
                </a:lnTo>
                <a:lnTo>
                  <a:pt x="452475" y="60972"/>
                </a:lnTo>
                <a:lnTo>
                  <a:pt x="497662" y="70269"/>
                </a:lnTo>
                <a:lnTo>
                  <a:pt x="540537" y="85242"/>
                </a:lnTo>
                <a:lnTo>
                  <a:pt x="580669" y="105486"/>
                </a:lnTo>
                <a:lnTo>
                  <a:pt x="617639" y="130594"/>
                </a:lnTo>
                <a:lnTo>
                  <a:pt x="651040" y="160147"/>
                </a:lnTo>
                <a:lnTo>
                  <a:pt x="680453" y="193738"/>
                </a:lnTo>
                <a:lnTo>
                  <a:pt x="705446" y="230949"/>
                </a:lnTo>
                <a:lnTo>
                  <a:pt x="725614" y="271373"/>
                </a:lnTo>
                <a:lnTo>
                  <a:pt x="740537" y="314591"/>
                </a:lnTo>
                <a:lnTo>
                  <a:pt x="749795" y="360197"/>
                </a:lnTo>
                <a:lnTo>
                  <a:pt x="752983" y="407758"/>
                </a:lnTo>
                <a:lnTo>
                  <a:pt x="752983" y="198577"/>
                </a:lnTo>
                <a:lnTo>
                  <a:pt x="735431" y="170408"/>
                </a:lnTo>
                <a:lnTo>
                  <a:pt x="704088" y="131406"/>
                </a:lnTo>
                <a:lnTo>
                  <a:pt x="700659" y="128016"/>
                </a:lnTo>
                <a:lnTo>
                  <a:pt x="666648" y="158013"/>
                </a:lnTo>
                <a:lnTo>
                  <a:pt x="660615" y="151117"/>
                </a:lnTo>
                <a:lnTo>
                  <a:pt x="668756" y="143319"/>
                </a:lnTo>
                <a:lnTo>
                  <a:pt x="693420" y="119710"/>
                </a:lnTo>
                <a:lnTo>
                  <a:pt x="688340" y="114655"/>
                </a:lnTo>
                <a:lnTo>
                  <a:pt x="676529" y="104698"/>
                </a:lnTo>
                <a:lnTo>
                  <a:pt x="676529" y="119710"/>
                </a:lnTo>
                <a:lnTo>
                  <a:pt x="652907" y="143319"/>
                </a:lnTo>
                <a:lnTo>
                  <a:pt x="639254" y="132130"/>
                </a:lnTo>
                <a:lnTo>
                  <a:pt x="625614" y="120053"/>
                </a:lnTo>
                <a:lnTo>
                  <a:pt x="619213" y="115709"/>
                </a:lnTo>
                <a:lnTo>
                  <a:pt x="613448" y="110972"/>
                </a:lnTo>
                <a:lnTo>
                  <a:pt x="602437" y="104305"/>
                </a:lnTo>
                <a:lnTo>
                  <a:pt x="587184" y="93916"/>
                </a:lnTo>
                <a:lnTo>
                  <a:pt x="576084" y="88303"/>
                </a:lnTo>
                <a:lnTo>
                  <a:pt x="570420" y="84861"/>
                </a:lnTo>
                <a:lnTo>
                  <a:pt x="563143" y="81762"/>
                </a:lnTo>
                <a:lnTo>
                  <a:pt x="545503" y="72821"/>
                </a:lnTo>
                <a:lnTo>
                  <a:pt x="527405" y="66471"/>
                </a:lnTo>
                <a:lnTo>
                  <a:pt x="524294" y="65138"/>
                </a:lnTo>
                <a:lnTo>
                  <a:pt x="521335" y="64350"/>
                </a:lnTo>
                <a:lnTo>
                  <a:pt x="502666" y="57785"/>
                </a:lnTo>
                <a:lnTo>
                  <a:pt x="501015" y="57213"/>
                </a:lnTo>
                <a:lnTo>
                  <a:pt x="454152" y="47523"/>
                </a:lnTo>
                <a:lnTo>
                  <a:pt x="424815" y="45529"/>
                </a:lnTo>
                <a:lnTo>
                  <a:pt x="426466" y="11798"/>
                </a:lnTo>
                <a:lnTo>
                  <a:pt x="472605" y="17119"/>
                </a:lnTo>
                <a:lnTo>
                  <a:pt x="517588" y="27800"/>
                </a:lnTo>
                <a:lnTo>
                  <a:pt x="561022" y="43637"/>
                </a:lnTo>
                <a:lnTo>
                  <a:pt x="602322" y="64389"/>
                </a:lnTo>
                <a:lnTo>
                  <a:pt x="640994" y="89827"/>
                </a:lnTo>
                <a:lnTo>
                  <a:pt x="676529" y="119710"/>
                </a:lnTo>
                <a:lnTo>
                  <a:pt x="676529" y="104698"/>
                </a:lnTo>
                <a:lnTo>
                  <a:pt x="608990" y="55397"/>
                </a:lnTo>
                <a:lnTo>
                  <a:pt x="565023" y="33515"/>
                </a:lnTo>
                <a:lnTo>
                  <a:pt x="518756" y="17106"/>
                </a:lnTo>
                <a:lnTo>
                  <a:pt x="470801" y="6426"/>
                </a:lnTo>
                <a:lnTo>
                  <a:pt x="421513" y="1689"/>
                </a:lnTo>
                <a:lnTo>
                  <a:pt x="416433" y="0"/>
                </a:lnTo>
                <a:lnTo>
                  <a:pt x="413753" y="44767"/>
                </a:lnTo>
                <a:lnTo>
                  <a:pt x="405384" y="44196"/>
                </a:lnTo>
                <a:lnTo>
                  <a:pt x="403479" y="44335"/>
                </a:lnTo>
                <a:lnTo>
                  <a:pt x="402209" y="0"/>
                </a:lnTo>
                <a:lnTo>
                  <a:pt x="397129" y="0"/>
                </a:lnTo>
                <a:lnTo>
                  <a:pt x="347078" y="4622"/>
                </a:lnTo>
                <a:lnTo>
                  <a:pt x="298526" y="14960"/>
                </a:lnTo>
                <a:lnTo>
                  <a:pt x="251853" y="30848"/>
                </a:lnTo>
                <a:lnTo>
                  <a:pt x="207429" y="52070"/>
                </a:lnTo>
                <a:lnTo>
                  <a:pt x="165646" y="78460"/>
                </a:lnTo>
                <a:lnTo>
                  <a:pt x="126873" y="109829"/>
                </a:lnTo>
                <a:lnTo>
                  <a:pt x="123444" y="114896"/>
                </a:lnTo>
                <a:lnTo>
                  <a:pt x="154114" y="146913"/>
                </a:lnTo>
                <a:lnTo>
                  <a:pt x="149720" y="150812"/>
                </a:lnTo>
                <a:lnTo>
                  <a:pt x="119240" y="185737"/>
                </a:lnTo>
                <a:lnTo>
                  <a:pt x="93357" y="224409"/>
                </a:lnTo>
                <a:lnTo>
                  <a:pt x="72478" y="266382"/>
                </a:lnTo>
                <a:lnTo>
                  <a:pt x="57048" y="311226"/>
                </a:lnTo>
                <a:lnTo>
                  <a:pt x="47472" y="358495"/>
                </a:lnTo>
                <a:lnTo>
                  <a:pt x="44196" y="407758"/>
                </a:lnTo>
                <a:lnTo>
                  <a:pt x="44564" y="413346"/>
                </a:lnTo>
                <a:lnTo>
                  <a:pt x="0" y="414705"/>
                </a:lnTo>
                <a:lnTo>
                  <a:pt x="0" y="421500"/>
                </a:lnTo>
                <a:lnTo>
                  <a:pt x="4635" y="471106"/>
                </a:lnTo>
                <a:lnTo>
                  <a:pt x="15074" y="519379"/>
                </a:lnTo>
                <a:lnTo>
                  <a:pt x="31216" y="565873"/>
                </a:lnTo>
                <a:lnTo>
                  <a:pt x="52984" y="610095"/>
                </a:lnTo>
                <a:lnTo>
                  <a:pt x="80276" y="651573"/>
                </a:lnTo>
                <a:lnTo>
                  <a:pt x="113030" y="689851"/>
                </a:lnTo>
                <a:lnTo>
                  <a:pt x="116459" y="694944"/>
                </a:lnTo>
                <a:lnTo>
                  <a:pt x="134061" y="677964"/>
                </a:lnTo>
                <a:lnTo>
                  <a:pt x="149542" y="663028"/>
                </a:lnTo>
                <a:lnTo>
                  <a:pt x="149733" y="663232"/>
                </a:lnTo>
                <a:lnTo>
                  <a:pt x="157213" y="669861"/>
                </a:lnTo>
                <a:lnTo>
                  <a:pt x="124968" y="703580"/>
                </a:lnTo>
                <a:lnTo>
                  <a:pt x="130048" y="706970"/>
                </a:lnTo>
                <a:lnTo>
                  <a:pt x="168808" y="738987"/>
                </a:lnTo>
                <a:lnTo>
                  <a:pt x="210578" y="765556"/>
                </a:lnTo>
                <a:lnTo>
                  <a:pt x="254965" y="786561"/>
                </a:lnTo>
                <a:lnTo>
                  <a:pt x="301599" y="801928"/>
                </a:lnTo>
                <a:lnTo>
                  <a:pt x="350126" y="811555"/>
                </a:lnTo>
                <a:lnTo>
                  <a:pt x="400177" y="815340"/>
                </a:lnTo>
                <a:lnTo>
                  <a:pt x="405257" y="815340"/>
                </a:lnTo>
                <a:lnTo>
                  <a:pt x="406603" y="769543"/>
                </a:lnTo>
                <a:lnTo>
                  <a:pt x="454152" y="766305"/>
                </a:lnTo>
                <a:lnTo>
                  <a:pt x="501015" y="756627"/>
                </a:lnTo>
                <a:lnTo>
                  <a:pt x="502691" y="756031"/>
                </a:lnTo>
                <a:lnTo>
                  <a:pt x="545503" y="741032"/>
                </a:lnTo>
                <a:lnTo>
                  <a:pt x="587184" y="719975"/>
                </a:lnTo>
                <a:lnTo>
                  <a:pt x="625614" y="693902"/>
                </a:lnTo>
                <a:lnTo>
                  <a:pt x="660361" y="663232"/>
                </a:lnTo>
                <a:lnTo>
                  <a:pt x="668909" y="653503"/>
                </a:lnTo>
                <a:lnTo>
                  <a:pt x="702437" y="684276"/>
                </a:lnTo>
                <a:lnTo>
                  <a:pt x="705739" y="679183"/>
                </a:lnTo>
                <a:lnTo>
                  <a:pt x="737057" y="640130"/>
                </a:lnTo>
                <a:lnTo>
                  <a:pt x="763104" y="597916"/>
                </a:lnTo>
                <a:lnTo>
                  <a:pt x="783678" y="553059"/>
                </a:lnTo>
                <a:lnTo>
                  <a:pt x="798601" y="506082"/>
                </a:lnTo>
                <a:lnTo>
                  <a:pt x="807694" y="457517"/>
                </a:lnTo>
                <a:lnTo>
                  <a:pt x="810768" y="407847"/>
                </a:lnTo>
                <a:lnTo>
                  <a:pt x="810768" y="404444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568840" y="5299184"/>
            <a:ext cx="1756833" cy="12251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7620" algn="ctr">
              <a:spcBef>
                <a:spcPts val="133"/>
              </a:spcBef>
            </a:pPr>
            <a:r>
              <a:rPr sz="4800" dirty="0">
                <a:solidFill>
                  <a:srgbClr val="1780C3"/>
                </a:solidFill>
                <a:latin typeface="Noto Sans"/>
                <a:cs typeface="Noto Sans"/>
              </a:rPr>
              <a:t>1</a:t>
            </a:r>
            <a:endParaRPr sz="4800">
              <a:latin typeface="Noto Sans"/>
              <a:cs typeface="Noto Sans"/>
            </a:endParaRPr>
          </a:p>
          <a:p>
            <a:pPr algn="ctr">
              <a:spcBef>
                <a:spcPts val="1927"/>
              </a:spcBef>
            </a:pPr>
            <a:r>
              <a:rPr sz="1467" spc="13" dirty="0">
                <a:latin typeface="Verdana"/>
                <a:cs typeface="Verdana"/>
              </a:rPr>
              <a:t>Create</a:t>
            </a:r>
            <a:r>
              <a:rPr sz="1467" spc="-213" dirty="0">
                <a:latin typeface="Verdana"/>
                <a:cs typeface="Verdana"/>
              </a:rPr>
              <a:t> </a:t>
            </a:r>
            <a:r>
              <a:rPr sz="1467" spc="53" dirty="0">
                <a:latin typeface="Verdana"/>
                <a:cs typeface="Verdana"/>
              </a:rPr>
              <a:t>ConfigMap</a:t>
            </a:r>
            <a:endParaRPr sz="1467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99455" y="1723085"/>
            <a:ext cx="5834380" cy="522393"/>
            <a:chOff x="3974591" y="1292313"/>
            <a:chExt cx="4375785" cy="391795"/>
          </a:xfrm>
        </p:grpSpPr>
        <p:sp>
          <p:nvSpPr>
            <p:cNvPr id="9" name="object 9"/>
            <p:cNvSpPr/>
            <p:nvPr/>
          </p:nvSpPr>
          <p:spPr>
            <a:xfrm>
              <a:off x="3974591" y="1292313"/>
              <a:ext cx="4375404" cy="3673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131563" y="1301534"/>
              <a:ext cx="1981200" cy="38248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034027" y="1331976"/>
              <a:ext cx="4261485" cy="254635"/>
            </a:xfrm>
            <a:custGeom>
              <a:avLst/>
              <a:gdLst/>
              <a:ahLst/>
              <a:cxnLst/>
              <a:rect l="l" t="t" r="r" b="b"/>
              <a:pathLst>
                <a:path w="4261484" h="254634">
                  <a:moveTo>
                    <a:pt x="4261104" y="0"/>
                  </a:moveTo>
                  <a:lnTo>
                    <a:pt x="0" y="0"/>
                  </a:lnTo>
                  <a:lnTo>
                    <a:pt x="0" y="254508"/>
                  </a:lnTo>
                  <a:lnTo>
                    <a:pt x="4261104" y="254508"/>
                  </a:lnTo>
                  <a:lnTo>
                    <a:pt x="426110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78705" y="1775968"/>
            <a:ext cx="5681980" cy="261546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12412">
              <a:spcBef>
                <a:spcPts val="440"/>
              </a:spcBef>
            </a:pP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333" spc="120" dirty="0">
                <a:solidFill>
                  <a:srgbClr val="D9D9D9"/>
                </a:solidFill>
                <a:latin typeface="Arial"/>
                <a:cs typeface="Arial"/>
              </a:rPr>
              <a:t>create</a:t>
            </a: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53" dirty="0">
                <a:solidFill>
                  <a:srgbClr val="D9D9D9"/>
                </a:solidFill>
                <a:latin typeface="Arial"/>
                <a:cs typeface="Arial"/>
              </a:rPr>
              <a:t>configmap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99455" y="3895277"/>
            <a:ext cx="5834380" cy="522393"/>
            <a:chOff x="3974591" y="2921457"/>
            <a:chExt cx="4375785" cy="391795"/>
          </a:xfrm>
        </p:grpSpPr>
        <p:sp>
          <p:nvSpPr>
            <p:cNvPr id="14" name="object 14"/>
            <p:cNvSpPr/>
            <p:nvPr/>
          </p:nvSpPr>
          <p:spPr>
            <a:xfrm>
              <a:off x="3974591" y="2921457"/>
              <a:ext cx="4375404" cy="3658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4131563" y="2929077"/>
              <a:ext cx="1552956" cy="3840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4034027" y="2961131"/>
              <a:ext cx="4261485" cy="253365"/>
            </a:xfrm>
            <a:custGeom>
              <a:avLst/>
              <a:gdLst/>
              <a:ahLst/>
              <a:cxnLst/>
              <a:rect l="l" t="t" r="r" b="b"/>
              <a:pathLst>
                <a:path w="4261484" h="253364">
                  <a:moveTo>
                    <a:pt x="4261104" y="0"/>
                  </a:moveTo>
                  <a:lnTo>
                    <a:pt x="0" y="0"/>
                  </a:lnTo>
                  <a:lnTo>
                    <a:pt x="0" y="252983"/>
                  </a:lnTo>
                  <a:lnTo>
                    <a:pt x="4261104" y="252983"/>
                  </a:lnTo>
                  <a:lnTo>
                    <a:pt x="426110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988815" y="1757681"/>
            <a:ext cx="1625600" cy="369993"/>
            <a:chOff x="2991611" y="1318260"/>
            <a:chExt cx="1219200" cy="277495"/>
          </a:xfrm>
        </p:grpSpPr>
        <p:sp>
          <p:nvSpPr>
            <p:cNvPr id="18" name="object 18"/>
            <p:cNvSpPr/>
            <p:nvPr/>
          </p:nvSpPr>
          <p:spPr>
            <a:xfrm>
              <a:off x="4051116" y="1345557"/>
              <a:ext cx="160020" cy="204470"/>
            </a:xfrm>
            <a:custGeom>
              <a:avLst/>
              <a:gdLst/>
              <a:ahLst/>
              <a:cxnLst/>
              <a:rect l="l" t="t" r="r" b="b"/>
              <a:pathLst>
                <a:path w="160020" h="204469">
                  <a:moveTo>
                    <a:pt x="0" y="0"/>
                  </a:moveTo>
                  <a:lnTo>
                    <a:pt x="0" y="204209"/>
                  </a:lnTo>
                  <a:lnTo>
                    <a:pt x="159603" y="102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2991611" y="1338072"/>
              <a:ext cx="1010919" cy="257810"/>
            </a:xfrm>
            <a:custGeom>
              <a:avLst/>
              <a:gdLst/>
              <a:ahLst/>
              <a:cxnLst/>
              <a:rect l="l" t="t" r="r" b="b"/>
              <a:pathLst>
                <a:path w="1010920" h="257809">
                  <a:moveTo>
                    <a:pt x="967486" y="0"/>
                  </a:moveTo>
                  <a:lnTo>
                    <a:pt x="42925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214629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5" y="257555"/>
                  </a:lnTo>
                  <a:lnTo>
                    <a:pt x="967486" y="257555"/>
                  </a:lnTo>
                  <a:lnTo>
                    <a:pt x="984212" y="254188"/>
                  </a:lnTo>
                  <a:lnTo>
                    <a:pt x="997854" y="244998"/>
                  </a:lnTo>
                  <a:lnTo>
                    <a:pt x="1007044" y="231356"/>
                  </a:lnTo>
                  <a:lnTo>
                    <a:pt x="1010412" y="214629"/>
                  </a:lnTo>
                  <a:lnTo>
                    <a:pt x="1010412" y="42925"/>
                  </a:lnTo>
                  <a:lnTo>
                    <a:pt x="1007044" y="26199"/>
                  </a:lnTo>
                  <a:lnTo>
                    <a:pt x="997854" y="12557"/>
                  </a:lnTo>
                  <a:lnTo>
                    <a:pt x="984212" y="3367"/>
                  </a:lnTo>
                  <a:lnTo>
                    <a:pt x="967486" y="0"/>
                  </a:lnTo>
                  <a:close/>
                </a:path>
              </a:pathLst>
            </a:custGeom>
            <a:solidFill>
              <a:srgbClr val="A9086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2991611" y="1318260"/>
              <a:ext cx="1010919" cy="257810"/>
            </a:xfrm>
            <a:custGeom>
              <a:avLst/>
              <a:gdLst/>
              <a:ahLst/>
              <a:cxnLst/>
              <a:rect l="l" t="t" r="r" b="b"/>
              <a:pathLst>
                <a:path w="1010920" h="257809">
                  <a:moveTo>
                    <a:pt x="967486" y="0"/>
                  </a:moveTo>
                  <a:lnTo>
                    <a:pt x="42925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214629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5" y="257555"/>
                  </a:lnTo>
                  <a:lnTo>
                    <a:pt x="967486" y="257555"/>
                  </a:lnTo>
                  <a:lnTo>
                    <a:pt x="984212" y="254188"/>
                  </a:lnTo>
                  <a:lnTo>
                    <a:pt x="997854" y="244998"/>
                  </a:lnTo>
                  <a:lnTo>
                    <a:pt x="1007044" y="231356"/>
                  </a:lnTo>
                  <a:lnTo>
                    <a:pt x="1010412" y="214629"/>
                  </a:lnTo>
                  <a:lnTo>
                    <a:pt x="1010412" y="42925"/>
                  </a:lnTo>
                  <a:lnTo>
                    <a:pt x="1007044" y="26199"/>
                  </a:lnTo>
                  <a:lnTo>
                    <a:pt x="997854" y="12557"/>
                  </a:lnTo>
                  <a:lnTo>
                    <a:pt x="984212" y="3367"/>
                  </a:lnTo>
                  <a:lnTo>
                    <a:pt x="967486" y="0"/>
                  </a:lnTo>
                  <a:close/>
                </a:path>
              </a:pathLst>
            </a:custGeom>
            <a:solidFill>
              <a:srgbClr val="E10A8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78705" y="3948177"/>
            <a:ext cx="5681980" cy="260691"/>
          </a:xfrm>
          <a:prstGeom prst="rect">
            <a:avLst/>
          </a:prstGeom>
        </p:spPr>
        <p:txBody>
          <a:bodyPr vert="horz" wrap="square" lIns="0" tIns="55033" rIns="0" bIns="0" rtlCol="0">
            <a:spAutoFit/>
          </a:bodyPr>
          <a:lstStyle/>
          <a:p>
            <a:pPr marL="312412">
              <a:spcBef>
                <a:spcPts val="433"/>
              </a:spcBef>
            </a:pP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333" spc="120" dirty="0">
                <a:solidFill>
                  <a:srgbClr val="D9D9D9"/>
                </a:solidFill>
                <a:latin typeface="Arial"/>
                <a:cs typeface="Arial"/>
              </a:rPr>
              <a:t>create</a:t>
            </a:r>
            <a:r>
              <a:rPr sz="1333" spc="13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187" dirty="0">
                <a:solidFill>
                  <a:srgbClr val="D9D9D9"/>
                </a:solidFill>
                <a:latin typeface="Arial"/>
                <a:cs typeface="Arial"/>
              </a:rPr>
              <a:t>–f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988815" y="3948177"/>
            <a:ext cx="1625600" cy="369993"/>
            <a:chOff x="2991611" y="2961132"/>
            <a:chExt cx="1219200" cy="277495"/>
          </a:xfrm>
        </p:grpSpPr>
        <p:sp>
          <p:nvSpPr>
            <p:cNvPr id="23" name="object 23"/>
            <p:cNvSpPr/>
            <p:nvPr/>
          </p:nvSpPr>
          <p:spPr>
            <a:xfrm>
              <a:off x="4051116" y="2973361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2991611" y="2980944"/>
              <a:ext cx="962025" cy="257810"/>
            </a:xfrm>
            <a:custGeom>
              <a:avLst/>
              <a:gdLst/>
              <a:ahLst/>
              <a:cxnLst/>
              <a:rect l="l" t="t" r="r" b="b"/>
              <a:pathLst>
                <a:path w="962025" h="257810">
                  <a:moveTo>
                    <a:pt x="918717" y="0"/>
                  </a:moveTo>
                  <a:lnTo>
                    <a:pt x="42925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214630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5" y="257556"/>
                  </a:lnTo>
                  <a:lnTo>
                    <a:pt x="918717" y="257556"/>
                  </a:lnTo>
                  <a:lnTo>
                    <a:pt x="935444" y="254188"/>
                  </a:lnTo>
                  <a:lnTo>
                    <a:pt x="949086" y="244998"/>
                  </a:lnTo>
                  <a:lnTo>
                    <a:pt x="958276" y="231356"/>
                  </a:lnTo>
                  <a:lnTo>
                    <a:pt x="961643" y="214630"/>
                  </a:lnTo>
                  <a:lnTo>
                    <a:pt x="961643" y="42925"/>
                  </a:lnTo>
                  <a:lnTo>
                    <a:pt x="958276" y="26199"/>
                  </a:lnTo>
                  <a:lnTo>
                    <a:pt x="949086" y="12557"/>
                  </a:lnTo>
                  <a:lnTo>
                    <a:pt x="935444" y="3367"/>
                  </a:lnTo>
                  <a:lnTo>
                    <a:pt x="918717" y="0"/>
                  </a:lnTo>
                  <a:close/>
                </a:path>
              </a:pathLst>
            </a:custGeom>
            <a:solidFill>
              <a:srgbClr val="2B873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2991611" y="2961132"/>
              <a:ext cx="962025" cy="256540"/>
            </a:xfrm>
            <a:custGeom>
              <a:avLst/>
              <a:gdLst/>
              <a:ahLst/>
              <a:cxnLst/>
              <a:rect l="l" t="t" r="r" b="b"/>
              <a:pathLst>
                <a:path w="962025" h="256539">
                  <a:moveTo>
                    <a:pt x="918972" y="0"/>
                  </a:moveTo>
                  <a:lnTo>
                    <a:pt x="42671" y="0"/>
                  </a:lnTo>
                  <a:lnTo>
                    <a:pt x="26038" y="3345"/>
                  </a:lnTo>
                  <a:lnTo>
                    <a:pt x="12477" y="12477"/>
                  </a:lnTo>
                  <a:lnTo>
                    <a:pt x="3345" y="26038"/>
                  </a:lnTo>
                  <a:lnTo>
                    <a:pt x="0" y="42672"/>
                  </a:lnTo>
                  <a:lnTo>
                    <a:pt x="0" y="213360"/>
                  </a:lnTo>
                  <a:lnTo>
                    <a:pt x="3345" y="229993"/>
                  </a:lnTo>
                  <a:lnTo>
                    <a:pt x="12477" y="243554"/>
                  </a:lnTo>
                  <a:lnTo>
                    <a:pt x="26038" y="252686"/>
                  </a:lnTo>
                  <a:lnTo>
                    <a:pt x="42671" y="256031"/>
                  </a:lnTo>
                  <a:lnTo>
                    <a:pt x="918972" y="256031"/>
                  </a:lnTo>
                  <a:lnTo>
                    <a:pt x="935605" y="252686"/>
                  </a:lnTo>
                  <a:lnTo>
                    <a:pt x="949166" y="243554"/>
                  </a:lnTo>
                  <a:lnTo>
                    <a:pt x="958298" y="229993"/>
                  </a:lnTo>
                  <a:lnTo>
                    <a:pt x="961643" y="213360"/>
                  </a:lnTo>
                  <a:lnTo>
                    <a:pt x="961643" y="42672"/>
                  </a:lnTo>
                  <a:lnTo>
                    <a:pt x="958298" y="26038"/>
                  </a:lnTo>
                  <a:lnTo>
                    <a:pt x="949166" y="12477"/>
                  </a:lnTo>
                  <a:lnTo>
                    <a:pt x="935605" y="3345"/>
                  </a:lnTo>
                  <a:lnTo>
                    <a:pt x="918972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130039" y="4012861"/>
            <a:ext cx="99568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b="1" spc="-20" dirty="0">
                <a:solidFill>
                  <a:srgbClr val="FFFFFF"/>
                </a:solidFill>
                <a:latin typeface="Noto Sans"/>
                <a:cs typeface="Noto Sans"/>
              </a:rPr>
              <a:t>D</a:t>
            </a:r>
            <a:r>
              <a:rPr sz="1333" b="1" spc="-7" dirty="0">
                <a:solidFill>
                  <a:srgbClr val="FFFFFF"/>
                </a:solidFill>
                <a:latin typeface="Noto Sans"/>
                <a:cs typeface="Noto Sans"/>
              </a:rPr>
              <a:t>ec</a:t>
            </a:r>
            <a:r>
              <a:rPr sz="1333" b="1" spc="-13" dirty="0">
                <a:solidFill>
                  <a:srgbClr val="FFFFFF"/>
                </a:solidFill>
                <a:latin typeface="Noto Sans"/>
                <a:cs typeface="Noto Sans"/>
              </a:rPr>
              <a:t>l</a:t>
            </a:r>
            <a:r>
              <a:rPr sz="1333" b="1" spc="-7" dirty="0">
                <a:solidFill>
                  <a:srgbClr val="FFFFFF"/>
                </a:solidFill>
                <a:latin typeface="Noto Sans"/>
                <a:cs typeface="Noto Sans"/>
              </a:rPr>
              <a:t>arat</a:t>
            </a:r>
            <a:r>
              <a:rPr sz="1333" b="1" spc="-13" dirty="0">
                <a:solidFill>
                  <a:srgbClr val="FFFFFF"/>
                </a:solidFill>
                <a:latin typeface="Noto Sans"/>
                <a:cs typeface="Noto Sans"/>
              </a:rPr>
              <a:t>i</a:t>
            </a:r>
            <a:r>
              <a:rPr sz="1333" b="1" spc="-7" dirty="0">
                <a:solidFill>
                  <a:srgbClr val="FFFFFF"/>
                </a:solidFill>
                <a:latin typeface="Noto Sans"/>
                <a:cs typeface="Noto Sans"/>
              </a:rPr>
              <a:t>ve</a:t>
            </a:r>
            <a:endParaRPr sz="1333">
              <a:latin typeface="Noto Sans"/>
              <a:cs typeface="Noto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79486" y="1822026"/>
            <a:ext cx="960967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b="1" spc="-93" dirty="0">
                <a:solidFill>
                  <a:srgbClr val="FFFFFF"/>
                </a:solidFill>
                <a:latin typeface="Noto Sans"/>
                <a:cs typeface="Noto Sans"/>
              </a:rPr>
              <a:t>I</a:t>
            </a:r>
            <a:r>
              <a:rPr sz="1333" b="1" dirty="0">
                <a:solidFill>
                  <a:srgbClr val="FFFFFF"/>
                </a:solidFill>
                <a:latin typeface="Noto Sans"/>
                <a:cs typeface="Noto Sans"/>
              </a:rPr>
              <a:t>mp</a:t>
            </a:r>
            <a:r>
              <a:rPr sz="1333" b="1" spc="-7" dirty="0">
                <a:solidFill>
                  <a:srgbClr val="FFFFFF"/>
                </a:solidFill>
                <a:latin typeface="Noto Sans"/>
                <a:cs typeface="Noto Sans"/>
              </a:rPr>
              <a:t>erat</a:t>
            </a:r>
            <a:r>
              <a:rPr sz="1333" b="1" spc="-20" dirty="0">
                <a:solidFill>
                  <a:srgbClr val="FFFFFF"/>
                </a:solidFill>
                <a:latin typeface="Noto Sans"/>
                <a:cs typeface="Noto Sans"/>
              </a:rPr>
              <a:t>i</a:t>
            </a:r>
            <a:r>
              <a:rPr sz="1333" b="1" spc="-7" dirty="0">
                <a:solidFill>
                  <a:srgbClr val="FFFFFF"/>
                </a:solidFill>
                <a:latin typeface="Noto Sans"/>
                <a:cs typeface="Noto Sans"/>
              </a:rPr>
              <a:t>ve</a:t>
            </a:r>
            <a:endParaRPr sz="1333">
              <a:latin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60997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547539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40" dirty="0"/>
              <a:t>Create</a:t>
            </a:r>
            <a:r>
              <a:rPr spc="-447" dirty="0"/>
              <a:t> </a:t>
            </a:r>
            <a:r>
              <a:rPr spc="140" dirty="0"/>
              <a:t>ConfigMaps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424" y="1946655"/>
            <a:ext cx="2993813" cy="615681"/>
          </a:xfrm>
          <a:prstGeom prst="rect">
            <a:avLst/>
          </a:prstGeom>
          <a:solidFill>
            <a:srgbClr val="2B2B2B"/>
          </a:solidFill>
        </p:spPr>
        <p:txBody>
          <a:bodyPr vert="horz" wrap="square" lIns="0" tIns="40640" rIns="0" bIns="0" rtlCol="0">
            <a:spAutoFit/>
          </a:bodyPr>
          <a:lstStyle/>
          <a:p>
            <a:pPr marL="121070" marR="733195">
              <a:spcBef>
                <a:spcPts val="320"/>
              </a:spcBef>
            </a:pP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APP_COLOR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r>
              <a:rPr sz="1867" spc="-12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blue  </a:t>
            </a: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APP_MODE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r>
              <a:rPr sz="1867" spc="-6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prod</a:t>
            </a:r>
            <a:endParaRPr sz="1867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8" y="1546352"/>
            <a:ext cx="1380067" cy="325729"/>
          </a:xfrm>
          <a:prstGeom prst="rect">
            <a:avLst/>
          </a:prstGeom>
          <a:solidFill>
            <a:srgbClr val="000000">
              <a:alpha val="50195"/>
            </a:srgbClr>
          </a:solidFill>
        </p:spPr>
        <p:txBody>
          <a:bodyPr vert="horz" wrap="square" lIns="0" tIns="48259" rIns="0" bIns="0" rtlCol="0">
            <a:spAutoFit/>
          </a:bodyPr>
          <a:lstStyle/>
          <a:p>
            <a:pPr marL="121917">
              <a:spcBef>
                <a:spcPts val="379"/>
              </a:spcBef>
            </a:pPr>
            <a:r>
              <a:rPr spc="-20" dirty="0">
                <a:solidFill>
                  <a:srgbClr val="FFFFFF"/>
                </a:solidFill>
                <a:latin typeface="Noto Sans"/>
                <a:cs typeface="Noto Sans"/>
              </a:rPr>
              <a:t>ConfigMap</a:t>
            </a:r>
            <a:endParaRPr>
              <a:latin typeface="Noto Sans"/>
              <a:cs typeface="Noto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08049" y="5175503"/>
            <a:ext cx="1081193" cy="1087120"/>
          </a:xfrm>
          <a:custGeom>
            <a:avLst/>
            <a:gdLst/>
            <a:ahLst/>
            <a:cxnLst/>
            <a:rect l="l" t="t" r="r" b="b"/>
            <a:pathLst>
              <a:path w="810894" h="815339">
                <a:moveTo>
                  <a:pt x="810768" y="404444"/>
                </a:moveTo>
                <a:lnTo>
                  <a:pt x="807554" y="354076"/>
                </a:lnTo>
                <a:lnTo>
                  <a:pt x="798144" y="305028"/>
                </a:lnTo>
                <a:lnTo>
                  <a:pt x="782802" y="257759"/>
                </a:lnTo>
                <a:lnTo>
                  <a:pt x="761822" y="212750"/>
                </a:lnTo>
                <a:lnTo>
                  <a:pt x="752983" y="198577"/>
                </a:lnTo>
                <a:lnTo>
                  <a:pt x="752983" y="407758"/>
                </a:lnTo>
                <a:lnTo>
                  <a:pt x="749795" y="454939"/>
                </a:lnTo>
                <a:lnTo>
                  <a:pt x="740537" y="500214"/>
                </a:lnTo>
                <a:lnTo>
                  <a:pt x="725614" y="543166"/>
                </a:lnTo>
                <a:lnTo>
                  <a:pt x="705446" y="583374"/>
                </a:lnTo>
                <a:lnTo>
                  <a:pt x="680453" y="620420"/>
                </a:lnTo>
                <a:lnTo>
                  <a:pt x="651040" y="653897"/>
                </a:lnTo>
                <a:lnTo>
                  <a:pt x="617639" y="683361"/>
                </a:lnTo>
                <a:lnTo>
                  <a:pt x="580669" y="708406"/>
                </a:lnTo>
                <a:lnTo>
                  <a:pt x="540537" y="728611"/>
                </a:lnTo>
                <a:lnTo>
                  <a:pt x="497662" y="743572"/>
                </a:lnTo>
                <a:lnTo>
                  <a:pt x="452475" y="752856"/>
                </a:lnTo>
                <a:lnTo>
                  <a:pt x="405384" y="756031"/>
                </a:lnTo>
                <a:lnTo>
                  <a:pt x="358279" y="752856"/>
                </a:lnTo>
                <a:lnTo>
                  <a:pt x="313093" y="743572"/>
                </a:lnTo>
                <a:lnTo>
                  <a:pt x="270217" y="728611"/>
                </a:lnTo>
                <a:lnTo>
                  <a:pt x="230085" y="708406"/>
                </a:lnTo>
                <a:lnTo>
                  <a:pt x="193116" y="683361"/>
                </a:lnTo>
                <a:lnTo>
                  <a:pt x="159715" y="653897"/>
                </a:lnTo>
                <a:lnTo>
                  <a:pt x="141732" y="633437"/>
                </a:lnTo>
                <a:lnTo>
                  <a:pt x="141732" y="654177"/>
                </a:lnTo>
                <a:lnTo>
                  <a:pt x="86664" y="642239"/>
                </a:lnTo>
                <a:lnTo>
                  <a:pt x="61518" y="603364"/>
                </a:lnTo>
                <a:lnTo>
                  <a:pt x="41160" y="561835"/>
                </a:lnTo>
                <a:lnTo>
                  <a:pt x="25717" y="518185"/>
                </a:lnTo>
                <a:lnTo>
                  <a:pt x="15341" y="472935"/>
                </a:lnTo>
                <a:lnTo>
                  <a:pt x="10160" y="426593"/>
                </a:lnTo>
                <a:lnTo>
                  <a:pt x="43942" y="424891"/>
                </a:lnTo>
                <a:lnTo>
                  <a:pt x="46964" y="449122"/>
                </a:lnTo>
                <a:lnTo>
                  <a:pt x="47472" y="456641"/>
                </a:lnTo>
                <a:lnTo>
                  <a:pt x="48590" y="462153"/>
                </a:lnTo>
                <a:lnTo>
                  <a:pt x="50342" y="476135"/>
                </a:lnTo>
                <a:lnTo>
                  <a:pt x="55041" y="493801"/>
                </a:lnTo>
                <a:lnTo>
                  <a:pt x="57048" y="503580"/>
                </a:lnTo>
                <a:lnTo>
                  <a:pt x="59715" y="511302"/>
                </a:lnTo>
                <a:lnTo>
                  <a:pt x="63487" y="525424"/>
                </a:lnTo>
                <a:lnTo>
                  <a:pt x="69621" y="539915"/>
                </a:lnTo>
                <a:lnTo>
                  <a:pt x="72478" y="548157"/>
                </a:lnTo>
                <a:lnTo>
                  <a:pt x="76669" y="556564"/>
                </a:lnTo>
                <a:lnTo>
                  <a:pt x="83223" y="572008"/>
                </a:lnTo>
                <a:lnTo>
                  <a:pt x="89966" y="583158"/>
                </a:lnTo>
                <a:lnTo>
                  <a:pt x="93357" y="589927"/>
                </a:lnTo>
                <a:lnTo>
                  <a:pt x="100533" y="600621"/>
                </a:lnTo>
                <a:lnTo>
                  <a:pt x="109359" y="615175"/>
                </a:lnTo>
                <a:lnTo>
                  <a:pt x="114477" y="621360"/>
                </a:lnTo>
                <a:lnTo>
                  <a:pt x="119240" y="628421"/>
                </a:lnTo>
                <a:lnTo>
                  <a:pt x="140474" y="652678"/>
                </a:lnTo>
                <a:lnTo>
                  <a:pt x="141732" y="654177"/>
                </a:lnTo>
                <a:lnTo>
                  <a:pt x="141732" y="633437"/>
                </a:lnTo>
                <a:lnTo>
                  <a:pt x="105308" y="583374"/>
                </a:lnTo>
                <a:lnTo>
                  <a:pt x="85140" y="543166"/>
                </a:lnTo>
                <a:lnTo>
                  <a:pt x="70218" y="500214"/>
                </a:lnTo>
                <a:lnTo>
                  <a:pt x="60960" y="454939"/>
                </a:lnTo>
                <a:lnTo>
                  <a:pt x="57785" y="407758"/>
                </a:lnTo>
                <a:lnTo>
                  <a:pt x="60960" y="360197"/>
                </a:lnTo>
                <a:lnTo>
                  <a:pt x="70218" y="314591"/>
                </a:lnTo>
                <a:lnTo>
                  <a:pt x="85140" y="271373"/>
                </a:lnTo>
                <a:lnTo>
                  <a:pt x="105308" y="230949"/>
                </a:lnTo>
                <a:lnTo>
                  <a:pt x="130302" y="193738"/>
                </a:lnTo>
                <a:lnTo>
                  <a:pt x="159715" y="160147"/>
                </a:lnTo>
                <a:lnTo>
                  <a:pt x="193116" y="130594"/>
                </a:lnTo>
                <a:lnTo>
                  <a:pt x="230085" y="105486"/>
                </a:lnTo>
                <a:lnTo>
                  <a:pt x="270217" y="85242"/>
                </a:lnTo>
                <a:lnTo>
                  <a:pt x="312254" y="70573"/>
                </a:lnTo>
                <a:lnTo>
                  <a:pt x="357085" y="61226"/>
                </a:lnTo>
                <a:lnTo>
                  <a:pt x="405384" y="57785"/>
                </a:lnTo>
                <a:lnTo>
                  <a:pt x="452475" y="60972"/>
                </a:lnTo>
                <a:lnTo>
                  <a:pt x="497662" y="70269"/>
                </a:lnTo>
                <a:lnTo>
                  <a:pt x="540537" y="85242"/>
                </a:lnTo>
                <a:lnTo>
                  <a:pt x="580669" y="105486"/>
                </a:lnTo>
                <a:lnTo>
                  <a:pt x="617639" y="130594"/>
                </a:lnTo>
                <a:lnTo>
                  <a:pt x="651040" y="160147"/>
                </a:lnTo>
                <a:lnTo>
                  <a:pt x="680453" y="193738"/>
                </a:lnTo>
                <a:lnTo>
                  <a:pt x="705446" y="230949"/>
                </a:lnTo>
                <a:lnTo>
                  <a:pt x="725614" y="271373"/>
                </a:lnTo>
                <a:lnTo>
                  <a:pt x="740537" y="314591"/>
                </a:lnTo>
                <a:lnTo>
                  <a:pt x="749795" y="360197"/>
                </a:lnTo>
                <a:lnTo>
                  <a:pt x="752983" y="407758"/>
                </a:lnTo>
                <a:lnTo>
                  <a:pt x="752983" y="198577"/>
                </a:lnTo>
                <a:lnTo>
                  <a:pt x="735431" y="170408"/>
                </a:lnTo>
                <a:lnTo>
                  <a:pt x="704088" y="131406"/>
                </a:lnTo>
                <a:lnTo>
                  <a:pt x="700659" y="128016"/>
                </a:lnTo>
                <a:lnTo>
                  <a:pt x="666648" y="158013"/>
                </a:lnTo>
                <a:lnTo>
                  <a:pt x="660615" y="151117"/>
                </a:lnTo>
                <a:lnTo>
                  <a:pt x="668756" y="143319"/>
                </a:lnTo>
                <a:lnTo>
                  <a:pt x="693420" y="119710"/>
                </a:lnTo>
                <a:lnTo>
                  <a:pt x="688340" y="114655"/>
                </a:lnTo>
                <a:lnTo>
                  <a:pt x="676529" y="104698"/>
                </a:lnTo>
                <a:lnTo>
                  <a:pt x="676529" y="119710"/>
                </a:lnTo>
                <a:lnTo>
                  <a:pt x="652907" y="143319"/>
                </a:lnTo>
                <a:lnTo>
                  <a:pt x="639254" y="132130"/>
                </a:lnTo>
                <a:lnTo>
                  <a:pt x="625614" y="120053"/>
                </a:lnTo>
                <a:lnTo>
                  <a:pt x="619213" y="115709"/>
                </a:lnTo>
                <a:lnTo>
                  <a:pt x="613448" y="110972"/>
                </a:lnTo>
                <a:lnTo>
                  <a:pt x="602437" y="104305"/>
                </a:lnTo>
                <a:lnTo>
                  <a:pt x="587184" y="93916"/>
                </a:lnTo>
                <a:lnTo>
                  <a:pt x="576084" y="88303"/>
                </a:lnTo>
                <a:lnTo>
                  <a:pt x="570420" y="84861"/>
                </a:lnTo>
                <a:lnTo>
                  <a:pt x="563143" y="81762"/>
                </a:lnTo>
                <a:lnTo>
                  <a:pt x="545503" y="72821"/>
                </a:lnTo>
                <a:lnTo>
                  <a:pt x="527405" y="66471"/>
                </a:lnTo>
                <a:lnTo>
                  <a:pt x="524294" y="65138"/>
                </a:lnTo>
                <a:lnTo>
                  <a:pt x="521335" y="64350"/>
                </a:lnTo>
                <a:lnTo>
                  <a:pt x="502666" y="57785"/>
                </a:lnTo>
                <a:lnTo>
                  <a:pt x="501015" y="57213"/>
                </a:lnTo>
                <a:lnTo>
                  <a:pt x="454152" y="47523"/>
                </a:lnTo>
                <a:lnTo>
                  <a:pt x="424815" y="45529"/>
                </a:lnTo>
                <a:lnTo>
                  <a:pt x="426466" y="11798"/>
                </a:lnTo>
                <a:lnTo>
                  <a:pt x="472605" y="17119"/>
                </a:lnTo>
                <a:lnTo>
                  <a:pt x="517588" y="27800"/>
                </a:lnTo>
                <a:lnTo>
                  <a:pt x="561022" y="43637"/>
                </a:lnTo>
                <a:lnTo>
                  <a:pt x="602322" y="64389"/>
                </a:lnTo>
                <a:lnTo>
                  <a:pt x="640994" y="89827"/>
                </a:lnTo>
                <a:lnTo>
                  <a:pt x="676529" y="119710"/>
                </a:lnTo>
                <a:lnTo>
                  <a:pt x="676529" y="104698"/>
                </a:lnTo>
                <a:lnTo>
                  <a:pt x="608990" y="55397"/>
                </a:lnTo>
                <a:lnTo>
                  <a:pt x="565023" y="33515"/>
                </a:lnTo>
                <a:lnTo>
                  <a:pt x="518756" y="17106"/>
                </a:lnTo>
                <a:lnTo>
                  <a:pt x="470801" y="6426"/>
                </a:lnTo>
                <a:lnTo>
                  <a:pt x="421513" y="1689"/>
                </a:lnTo>
                <a:lnTo>
                  <a:pt x="416433" y="0"/>
                </a:lnTo>
                <a:lnTo>
                  <a:pt x="413753" y="44767"/>
                </a:lnTo>
                <a:lnTo>
                  <a:pt x="405384" y="44196"/>
                </a:lnTo>
                <a:lnTo>
                  <a:pt x="403479" y="44335"/>
                </a:lnTo>
                <a:lnTo>
                  <a:pt x="402209" y="0"/>
                </a:lnTo>
                <a:lnTo>
                  <a:pt x="397129" y="0"/>
                </a:lnTo>
                <a:lnTo>
                  <a:pt x="347078" y="4622"/>
                </a:lnTo>
                <a:lnTo>
                  <a:pt x="298526" y="14960"/>
                </a:lnTo>
                <a:lnTo>
                  <a:pt x="251853" y="30848"/>
                </a:lnTo>
                <a:lnTo>
                  <a:pt x="207429" y="52070"/>
                </a:lnTo>
                <a:lnTo>
                  <a:pt x="165646" y="78460"/>
                </a:lnTo>
                <a:lnTo>
                  <a:pt x="126873" y="109829"/>
                </a:lnTo>
                <a:lnTo>
                  <a:pt x="123444" y="114896"/>
                </a:lnTo>
                <a:lnTo>
                  <a:pt x="154114" y="146913"/>
                </a:lnTo>
                <a:lnTo>
                  <a:pt x="149720" y="150812"/>
                </a:lnTo>
                <a:lnTo>
                  <a:pt x="119240" y="185737"/>
                </a:lnTo>
                <a:lnTo>
                  <a:pt x="93357" y="224409"/>
                </a:lnTo>
                <a:lnTo>
                  <a:pt x="72478" y="266382"/>
                </a:lnTo>
                <a:lnTo>
                  <a:pt x="57048" y="311226"/>
                </a:lnTo>
                <a:lnTo>
                  <a:pt x="47472" y="358495"/>
                </a:lnTo>
                <a:lnTo>
                  <a:pt x="44196" y="407758"/>
                </a:lnTo>
                <a:lnTo>
                  <a:pt x="44564" y="413346"/>
                </a:lnTo>
                <a:lnTo>
                  <a:pt x="0" y="414705"/>
                </a:lnTo>
                <a:lnTo>
                  <a:pt x="0" y="421500"/>
                </a:lnTo>
                <a:lnTo>
                  <a:pt x="4635" y="471106"/>
                </a:lnTo>
                <a:lnTo>
                  <a:pt x="15074" y="519379"/>
                </a:lnTo>
                <a:lnTo>
                  <a:pt x="31216" y="565873"/>
                </a:lnTo>
                <a:lnTo>
                  <a:pt x="52984" y="610095"/>
                </a:lnTo>
                <a:lnTo>
                  <a:pt x="80276" y="651573"/>
                </a:lnTo>
                <a:lnTo>
                  <a:pt x="113030" y="689851"/>
                </a:lnTo>
                <a:lnTo>
                  <a:pt x="116459" y="694944"/>
                </a:lnTo>
                <a:lnTo>
                  <a:pt x="134061" y="677964"/>
                </a:lnTo>
                <a:lnTo>
                  <a:pt x="149542" y="663028"/>
                </a:lnTo>
                <a:lnTo>
                  <a:pt x="149733" y="663232"/>
                </a:lnTo>
                <a:lnTo>
                  <a:pt x="157213" y="669861"/>
                </a:lnTo>
                <a:lnTo>
                  <a:pt x="124968" y="703580"/>
                </a:lnTo>
                <a:lnTo>
                  <a:pt x="130048" y="706970"/>
                </a:lnTo>
                <a:lnTo>
                  <a:pt x="168808" y="738987"/>
                </a:lnTo>
                <a:lnTo>
                  <a:pt x="210578" y="765556"/>
                </a:lnTo>
                <a:lnTo>
                  <a:pt x="254965" y="786561"/>
                </a:lnTo>
                <a:lnTo>
                  <a:pt x="301599" y="801928"/>
                </a:lnTo>
                <a:lnTo>
                  <a:pt x="350126" y="811555"/>
                </a:lnTo>
                <a:lnTo>
                  <a:pt x="400177" y="815340"/>
                </a:lnTo>
                <a:lnTo>
                  <a:pt x="405257" y="815340"/>
                </a:lnTo>
                <a:lnTo>
                  <a:pt x="406603" y="769543"/>
                </a:lnTo>
                <a:lnTo>
                  <a:pt x="454152" y="766305"/>
                </a:lnTo>
                <a:lnTo>
                  <a:pt x="501015" y="756627"/>
                </a:lnTo>
                <a:lnTo>
                  <a:pt x="502691" y="756031"/>
                </a:lnTo>
                <a:lnTo>
                  <a:pt x="545503" y="741032"/>
                </a:lnTo>
                <a:lnTo>
                  <a:pt x="587184" y="719975"/>
                </a:lnTo>
                <a:lnTo>
                  <a:pt x="625614" y="693902"/>
                </a:lnTo>
                <a:lnTo>
                  <a:pt x="660361" y="663232"/>
                </a:lnTo>
                <a:lnTo>
                  <a:pt x="668909" y="653503"/>
                </a:lnTo>
                <a:lnTo>
                  <a:pt x="702437" y="684276"/>
                </a:lnTo>
                <a:lnTo>
                  <a:pt x="705739" y="679183"/>
                </a:lnTo>
                <a:lnTo>
                  <a:pt x="737057" y="640130"/>
                </a:lnTo>
                <a:lnTo>
                  <a:pt x="763104" y="597916"/>
                </a:lnTo>
                <a:lnTo>
                  <a:pt x="783678" y="553059"/>
                </a:lnTo>
                <a:lnTo>
                  <a:pt x="798601" y="506082"/>
                </a:lnTo>
                <a:lnTo>
                  <a:pt x="807694" y="457517"/>
                </a:lnTo>
                <a:lnTo>
                  <a:pt x="810768" y="407847"/>
                </a:lnTo>
                <a:lnTo>
                  <a:pt x="810768" y="404444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568840" y="5299184"/>
            <a:ext cx="1756833" cy="12251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7620" algn="ctr">
              <a:spcBef>
                <a:spcPts val="133"/>
              </a:spcBef>
            </a:pPr>
            <a:r>
              <a:rPr sz="4800" dirty="0">
                <a:solidFill>
                  <a:srgbClr val="1780C3"/>
                </a:solidFill>
                <a:latin typeface="Noto Sans"/>
                <a:cs typeface="Noto Sans"/>
              </a:rPr>
              <a:t>1</a:t>
            </a:r>
            <a:endParaRPr sz="4800">
              <a:latin typeface="Noto Sans"/>
              <a:cs typeface="Noto Sans"/>
            </a:endParaRPr>
          </a:p>
          <a:p>
            <a:pPr algn="ctr">
              <a:spcBef>
                <a:spcPts val="1927"/>
              </a:spcBef>
            </a:pPr>
            <a:r>
              <a:rPr sz="1467" spc="13" dirty="0">
                <a:latin typeface="Verdana"/>
                <a:cs typeface="Verdana"/>
              </a:rPr>
              <a:t>Create</a:t>
            </a:r>
            <a:r>
              <a:rPr sz="1467" spc="-213" dirty="0">
                <a:latin typeface="Verdana"/>
                <a:cs typeface="Verdana"/>
              </a:rPr>
              <a:t> </a:t>
            </a:r>
            <a:r>
              <a:rPr sz="1467" spc="53" dirty="0">
                <a:latin typeface="Verdana"/>
                <a:cs typeface="Verdana"/>
              </a:rPr>
              <a:t>ConfigMap</a:t>
            </a:r>
            <a:endParaRPr sz="1467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99455" y="1723085"/>
            <a:ext cx="5834380" cy="522393"/>
            <a:chOff x="3974591" y="1292313"/>
            <a:chExt cx="4375785" cy="391795"/>
          </a:xfrm>
        </p:grpSpPr>
        <p:sp>
          <p:nvSpPr>
            <p:cNvPr id="9" name="object 9"/>
            <p:cNvSpPr/>
            <p:nvPr/>
          </p:nvSpPr>
          <p:spPr>
            <a:xfrm>
              <a:off x="3974591" y="1292313"/>
              <a:ext cx="4375404" cy="3673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131563" y="1301534"/>
              <a:ext cx="1981200" cy="38248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034027" y="1331976"/>
              <a:ext cx="4261485" cy="254635"/>
            </a:xfrm>
            <a:custGeom>
              <a:avLst/>
              <a:gdLst/>
              <a:ahLst/>
              <a:cxnLst/>
              <a:rect l="l" t="t" r="r" b="b"/>
              <a:pathLst>
                <a:path w="4261484" h="254634">
                  <a:moveTo>
                    <a:pt x="4261104" y="0"/>
                  </a:moveTo>
                  <a:lnTo>
                    <a:pt x="0" y="0"/>
                  </a:lnTo>
                  <a:lnTo>
                    <a:pt x="0" y="254508"/>
                  </a:lnTo>
                  <a:lnTo>
                    <a:pt x="4261104" y="254508"/>
                  </a:lnTo>
                  <a:lnTo>
                    <a:pt x="426110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72608" y="1775968"/>
            <a:ext cx="5683673" cy="261546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18339">
              <a:spcBef>
                <a:spcPts val="440"/>
              </a:spcBef>
            </a:pP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333" spc="120" dirty="0">
                <a:solidFill>
                  <a:srgbClr val="D9D9D9"/>
                </a:solidFill>
                <a:latin typeface="Arial"/>
                <a:cs typeface="Arial"/>
              </a:rPr>
              <a:t>create</a:t>
            </a: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53" dirty="0">
                <a:solidFill>
                  <a:srgbClr val="D9D9D9"/>
                </a:solidFill>
                <a:latin typeface="Arial"/>
                <a:cs typeface="Arial"/>
              </a:rPr>
              <a:t>configmap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88815" y="1757681"/>
            <a:ext cx="1625600" cy="369993"/>
            <a:chOff x="2991611" y="1318260"/>
            <a:chExt cx="1219200" cy="277495"/>
          </a:xfrm>
        </p:grpSpPr>
        <p:sp>
          <p:nvSpPr>
            <p:cNvPr id="14" name="object 14"/>
            <p:cNvSpPr/>
            <p:nvPr/>
          </p:nvSpPr>
          <p:spPr>
            <a:xfrm>
              <a:off x="4051116" y="1345557"/>
              <a:ext cx="160020" cy="204470"/>
            </a:xfrm>
            <a:custGeom>
              <a:avLst/>
              <a:gdLst/>
              <a:ahLst/>
              <a:cxnLst/>
              <a:rect l="l" t="t" r="r" b="b"/>
              <a:pathLst>
                <a:path w="160020" h="204469">
                  <a:moveTo>
                    <a:pt x="0" y="0"/>
                  </a:moveTo>
                  <a:lnTo>
                    <a:pt x="0" y="204209"/>
                  </a:lnTo>
                  <a:lnTo>
                    <a:pt x="159603" y="102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991611" y="1338072"/>
              <a:ext cx="1010919" cy="257810"/>
            </a:xfrm>
            <a:custGeom>
              <a:avLst/>
              <a:gdLst/>
              <a:ahLst/>
              <a:cxnLst/>
              <a:rect l="l" t="t" r="r" b="b"/>
              <a:pathLst>
                <a:path w="1010920" h="257809">
                  <a:moveTo>
                    <a:pt x="967486" y="0"/>
                  </a:moveTo>
                  <a:lnTo>
                    <a:pt x="42925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214629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5" y="257555"/>
                  </a:lnTo>
                  <a:lnTo>
                    <a:pt x="967486" y="257555"/>
                  </a:lnTo>
                  <a:lnTo>
                    <a:pt x="984212" y="254188"/>
                  </a:lnTo>
                  <a:lnTo>
                    <a:pt x="997854" y="244998"/>
                  </a:lnTo>
                  <a:lnTo>
                    <a:pt x="1007044" y="231356"/>
                  </a:lnTo>
                  <a:lnTo>
                    <a:pt x="1010412" y="214629"/>
                  </a:lnTo>
                  <a:lnTo>
                    <a:pt x="1010412" y="42925"/>
                  </a:lnTo>
                  <a:lnTo>
                    <a:pt x="1007044" y="26199"/>
                  </a:lnTo>
                  <a:lnTo>
                    <a:pt x="997854" y="12557"/>
                  </a:lnTo>
                  <a:lnTo>
                    <a:pt x="984212" y="3367"/>
                  </a:lnTo>
                  <a:lnTo>
                    <a:pt x="967486" y="0"/>
                  </a:lnTo>
                  <a:close/>
                </a:path>
              </a:pathLst>
            </a:custGeom>
            <a:solidFill>
              <a:srgbClr val="A9086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991611" y="1318260"/>
              <a:ext cx="1010919" cy="257810"/>
            </a:xfrm>
            <a:custGeom>
              <a:avLst/>
              <a:gdLst/>
              <a:ahLst/>
              <a:cxnLst/>
              <a:rect l="l" t="t" r="r" b="b"/>
              <a:pathLst>
                <a:path w="1010920" h="257809">
                  <a:moveTo>
                    <a:pt x="967486" y="0"/>
                  </a:moveTo>
                  <a:lnTo>
                    <a:pt x="42925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214629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5" y="257555"/>
                  </a:lnTo>
                  <a:lnTo>
                    <a:pt x="967486" y="257555"/>
                  </a:lnTo>
                  <a:lnTo>
                    <a:pt x="984212" y="254188"/>
                  </a:lnTo>
                  <a:lnTo>
                    <a:pt x="997854" y="244998"/>
                  </a:lnTo>
                  <a:lnTo>
                    <a:pt x="1007044" y="231356"/>
                  </a:lnTo>
                  <a:lnTo>
                    <a:pt x="1010412" y="214629"/>
                  </a:lnTo>
                  <a:lnTo>
                    <a:pt x="1010412" y="42925"/>
                  </a:lnTo>
                  <a:lnTo>
                    <a:pt x="1007044" y="26199"/>
                  </a:lnTo>
                  <a:lnTo>
                    <a:pt x="997854" y="12557"/>
                  </a:lnTo>
                  <a:lnTo>
                    <a:pt x="984212" y="3367"/>
                  </a:lnTo>
                  <a:lnTo>
                    <a:pt x="967486" y="0"/>
                  </a:lnTo>
                  <a:close/>
                </a:path>
              </a:pathLst>
            </a:custGeom>
            <a:solidFill>
              <a:srgbClr val="E10A8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79486" y="1822026"/>
            <a:ext cx="960967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b="1" spc="-93" dirty="0">
                <a:solidFill>
                  <a:srgbClr val="FFFFFF"/>
                </a:solidFill>
                <a:latin typeface="Noto Sans"/>
                <a:cs typeface="Noto Sans"/>
              </a:rPr>
              <a:t>I</a:t>
            </a:r>
            <a:r>
              <a:rPr sz="1333" b="1" dirty="0">
                <a:solidFill>
                  <a:srgbClr val="FFFFFF"/>
                </a:solidFill>
                <a:latin typeface="Noto Sans"/>
                <a:cs typeface="Noto Sans"/>
              </a:rPr>
              <a:t>mp</a:t>
            </a:r>
            <a:r>
              <a:rPr sz="1333" b="1" spc="-7" dirty="0">
                <a:solidFill>
                  <a:srgbClr val="FFFFFF"/>
                </a:solidFill>
                <a:latin typeface="Noto Sans"/>
                <a:cs typeface="Noto Sans"/>
              </a:rPr>
              <a:t>erat</a:t>
            </a:r>
            <a:r>
              <a:rPr sz="1333" b="1" spc="-20" dirty="0">
                <a:solidFill>
                  <a:srgbClr val="FFFFFF"/>
                </a:solidFill>
                <a:latin typeface="Noto Sans"/>
                <a:cs typeface="Noto Sans"/>
              </a:rPr>
              <a:t>i</a:t>
            </a:r>
            <a:r>
              <a:rPr sz="1333" b="1" spc="-7" dirty="0">
                <a:solidFill>
                  <a:srgbClr val="FFFFFF"/>
                </a:solidFill>
                <a:latin typeface="Noto Sans"/>
                <a:cs typeface="Noto Sans"/>
              </a:rPr>
              <a:t>ve</a:t>
            </a:r>
            <a:endParaRPr sz="1333">
              <a:latin typeface="Noto Sans"/>
              <a:cs typeface="Noto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93361" y="2062429"/>
            <a:ext cx="5836073" cy="520700"/>
            <a:chOff x="3970020" y="1546821"/>
            <a:chExt cx="4377055" cy="390525"/>
          </a:xfrm>
        </p:grpSpPr>
        <p:sp>
          <p:nvSpPr>
            <p:cNvPr id="19" name="object 19"/>
            <p:cNvSpPr/>
            <p:nvPr/>
          </p:nvSpPr>
          <p:spPr>
            <a:xfrm>
              <a:off x="3970020" y="1546821"/>
              <a:ext cx="4376928" cy="367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405884" y="1556016"/>
              <a:ext cx="3197352" cy="3809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4029456" y="1586483"/>
              <a:ext cx="4262755" cy="254635"/>
            </a:xfrm>
            <a:custGeom>
              <a:avLst/>
              <a:gdLst/>
              <a:ahLst/>
              <a:cxnLst/>
              <a:rect l="l" t="t" r="r" b="b"/>
              <a:pathLst>
                <a:path w="4262755" h="254635">
                  <a:moveTo>
                    <a:pt x="4262628" y="0"/>
                  </a:moveTo>
                  <a:lnTo>
                    <a:pt x="0" y="0"/>
                  </a:lnTo>
                  <a:lnTo>
                    <a:pt x="0" y="254508"/>
                  </a:lnTo>
                  <a:lnTo>
                    <a:pt x="4262628" y="254508"/>
                  </a:lnTo>
                  <a:lnTo>
                    <a:pt x="42626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72608" y="2115312"/>
            <a:ext cx="5683673" cy="258126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684090">
              <a:spcBef>
                <a:spcPts val="413"/>
              </a:spcBef>
            </a:pPr>
            <a:r>
              <a:rPr sz="1333" spc="40" dirty="0">
                <a:solidFill>
                  <a:srgbClr val="D9D9D9"/>
                </a:solidFill>
                <a:latin typeface="Arial"/>
                <a:cs typeface="Arial"/>
              </a:rPr>
              <a:t>&lt;config-name&gt;</a:t>
            </a:r>
            <a:r>
              <a:rPr sz="1333" spc="34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113" dirty="0">
                <a:solidFill>
                  <a:srgbClr val="D9D9D9"/>
                </a:solidFill>
                <a:latin typeface="Arial"/>
                <a:cs typeface="Arial"/>
              </a:rPr>
              <a:t>--from-literal=&lt;key&gt;=&lt;value&gt;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93360" y="3058108"/>
            <a:ext cx="5840307" cy="1182792"/>
            <a:chOff x="3970020" y="2293581"/>
            <a:chExt cx="4380230" cy="887094"/>
          </a:xfrm>
        </p:grpSpPr>
        <p:sp>
          <p:nvSpPr>
            <p:cNvPr id="24" name="object 24"/>
            <p:cNvSpPr/>
            <p:nvPr/>
          </p:nvSpPr>
          <p:spPr>
            <a:xfrm>
              <a:off x="3974592" y="2293581"/>
              <a:ext cx="4375404" cy="3673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31564" y="2301189"/>
              <a:ext cx="2124456" cy="38409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4034028" y="2333244"/>
              <a:ext cx="4261485" cy="254635"/>
            </a:xfrm>
            <a:custGeom>
              <a:avLst/>
              <a:gdLst/>
              <a:ahLst/>
              <a:cxnLst/>
              <a:rect l="l" t="t" r="r" b="b"/>
              <a:pathLst>
                <a:path w="4261484" h="254635">
                  <a:moveTo>
                    <a:pt x="4261104" y="0"/>
                  </a:moveTo>
                  <a:lnTo>
                    <a:pt x="0" y="0"/>
                  </a:lnTo>
                  <a:lnTo>
                    <a:pt x="0" y="254507"/>
                  </a:lnTo>
                  <a:lnTo>
                    <a:pt x="4261104" y="254507"/>
                  </a:lnTo>
                  <a:lnTo>
                    <a:pt x="426110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4051116" y="2345473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3970020" y="2548077"/>
              <a:ext cx="4376928" cy="36581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4405884" y="2555760"/>
              <a:ext cx="3058667" cy="38098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4029456" y="2587752"/>
              <a:ext cx="4262755" cy="253365"/>
            </a:xfrm>
            <a:custGeom>
              <a:avLst/>
              <a:gdLst/>
              <a:ahLst/>
              <a:cxnLst/>
              <a:rect l="l" t="t" r="r" b="b"/>
              <a:pathLst>
                <a:path w="4262755" h="253364">
                  <a:moveTo>
                    <a:pt x="4262628" y="0"/>
                  </a:moveTo>
                  <a:lnTo>
                    <a:pt x="0" y="0"/>
                  </a:lnTo>
                  <a:lnTo>
                    <a:pt x="0" y="252984"/>
                  </a:lnTo>
                  <a:lnTo>
                    <a:pt x="4262628" y="252984"/>
                  </a:lnTo>
                  <a:lnTo>
                    <a:pt x="42626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3970020" y="2791917"/>
              <a:ext cx="4376928" cy="36581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173980" y="2799600"/>
              <a:ext cx="2150364" cy="3809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4029456" y="2831591"/>
              <a:ext cx="4262755" cy="253365"/>
            </a:xfrm>
            <a:custGeom>
              <a:avLst/>
              <a:gdLst/>
              <a:ahLst/>
              <a:cxnLst/>
              <a:rect l="l" t="t" r="r" b="b"/>
              <a:pathLst>
                <a:path w="4262755" h="253364">
                  <a:moveTo>
                    <a:pt x="4262628" y="0"/>
                  </a:moveTo>
                  <a:lnTo>
                    <a:pt x="0" y="0"/>
                  </a:lnTo>
                  <a:lnTo>
                    <a:pt x="0" y="252984"/>
                  </a:lnTo>
                  <a:lnTo>
                    <a:pt x="4262628" y="252984"/>
                  </a:lnTo>
                  <a:lnTo>
                    <a:pt x="42626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674698" y="3101126"/>
            <a:ext cx="4350172" cy="942010"/>
          </a:xfrm>
          <a:prstGeom prst="rect">
            <a:avLst/>
          </a:prstGeom>
        </p:spPr>
        <p:txBody>
          <a:bodyPr vert="horz" wrap="square" lIns="0" tIns="64347" rIns="0" bIns="0" rtlCol="0">
            <a:spAutoFit/>
          </a:bodyPr>
          <a:lstStyle/>
          <a:p>
            <a:pPr marL="16933">
              <a:spcBef>
                <a:spcPts val="507"/>
              </a:spcBef>
            </a:pP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333" spc="120" dirty="0">
                <a:solidFill>
                  <a:srgbClr val="D9D9D9"/>
                </a:solidFill>
                <a:latin typeface="Arial"/>
                <a:cs typeface="Arial"/>
              </a:rPr>
              <a:t>create </a:t>
            </a:r>
            <a:r>
              <a:rPr sz="1333" spc="53" dirty="0">
                <a:solidFill>
                  <a:srgbClr val="D9D9D9"/>
                </a:solidFill>
                <a:latin typeface="Arial"/>
                <a:cs typeface="Arial"/>
              </a:rPr>
              <a:t>configmap</a:t>
            </a:r>
            <a:r>
              <a:rPr sz="1333" spc="-8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367" dirty="0">
                <a:solidFill>
                  <a:srgbClr val="D9D9D9"/>
                </a:solidFill>
                <a:latin typeface="Arial"/>
                <a:cs typeface="Arial"/>
              </a:rPr>
              <a:t>\</a:t>
            </a:r>
            <a:endParaRPr sz="1333">
              <a:latin typeface="Arial"/>
              <a:cs typeface="Arial"/>
            </a:endParaRPr>
          </a:p>
          <a:p>
            <a:pPr marL="381837">
              <a:spcBef>
                <a:spcPts val="520"/>
              </a:spcBef>
            </a:pPr>
            <a:r>
              <a:rPr sz="1333" spc="100" dirty="0">
                <a:solidFill>
                  <a:srgbClr val="D9D9D9"/>
                </a:solidFill>
                <a:latin typeface="Arial"/>
                <a:cs typeface="Arial"/>
              </a:rPr>
              <a:t>app-config </a:t>
            </a:r>
            <a:r>
              <a:rPr sz="1333" spc="53" dirty="0">
                <a:solidFill>
                  <a:srgbClr val="D9D9D9"/>
                </a:solidFill>
                <a:latin typeface="Arial"/>
                <a:cs typeface="Arial"/>
              </a:rPr>
              <a:t>--from-literal=APP_COLOR=blue</a:t>
            </a:r>
            <a:r>
              <a:rPr sz="1333" spc="28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2800" spc="759" baseline="-3968" dirty="0">
                <a:solidFill>
                  <a:srgbClr val="D9D9D9"/>
                </a:solidFill>
                <a:latin typeface="Arial"/>
                <a:cs typeface="Arial"/>
              </a:rPr>
              <a:t>\</a:t>
            </a:r>
            <a:endParaRPr sz="2800" baseline="-3968">
              <a:latin typeface="Arial"/>
              <a:cs typeface="Arial"/>
            </a:endParaRPr>
          </a:p>
          <a:p>
            <a:pPr marL="1406278">
              <a:spcBef>
                <a:spcPts val="853"/>
              </a:spcBef>
            </a:pPr>
            <a:r>
              <a:rPr sz="1333" spc="60" dirty="0">
                <a:solidFill>
                  <a:srgbClr val="D9D9D9"/>
                </a:solidFill>
                <a:latin typeface="Arial"/>
                <a:cs typeface="Arial"/>
              </a:rPr>
              <a:t>--from-literal=APP_MOD=prod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313679" y="4793488"/>
            <a:ext cx="5834380" cy="522393"/>
            <a:chOff x="3985259" y="3595115"/>
            <a:chExt cx="4375785" cy="391795"/>
          </a:xfrm>
        </p:grpSpPr>
        <p:sp>
          <p:nvSpPr>
            <p:cNvPr id="36" name="object 36"/>
            <p:cNvSpPr/>
            <p:nvPr/>
          </p:nvSpPr>
          <p:spPr>
            <a:xfrm>
              <a:off x="3985259" y="3595115"/>
              <a:ext cx="4375403" cy="36581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4142231" y="3602735"/>
              <a:ext cx="1981200" cy="38409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4044695" y="3634739"/>
              <a:ext cx="4261485" cy="253365"/>
            </a:xfrm>
            <a:custGeom>
              <a:avLst/>
              <a:gdLst/>
              <a:ahLst/>
              <a:cxnLst/>
              <a:rect l="l" t="t" r="r" b="b"/>
              <a:pathLst>
                <a:path w="4261484" h="253364">
                  <a:moveTo>
                    <a:pt x="4261104" y="0"/>
                  </a:moveTo>
                  <a:lnTo>
                    <a:pt x="0" y="0"/>
                  </a:lnTo>
                  <a:lnTo>
                    <a:pt x="0" y="252984"/>
                  </a:lnTo>
                  <a:lnTo>
                    <a:pt x="4261104" y="252984"/>
                  </a:lnTo>
                  <a:lnTo>
                    <a:pt x="4261104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689261" y="4882556"/>
            <a:ext cx="2316480" cy="22307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333" spc="120" dirty="0">
                <a:solidFill>
                  <a:srgbClr val="D9D9D9"/>
                </a:solidFill>
                <a:latin typeface="Arial"/>
                <a:cs typeface="Arial"/>
              </a:rPr>
              <a:t>create</a:t>
            </a:r>
            <a:r>
              <a:rPr sz="1333" spc="10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53" dirty="0">
                <a:solidFill>
                  <a:srgbClr val="D9D9D9"/>
                </a:solidFill>
                <a:latin typeface="Arial"/>
                <a:cs typeface="Arial"/>
              </a:rPr>
              <a:t>configmap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319777" y="4862396"/>
            <a:ext cx="5836073" cy="789093"/>
            <a:chOff x="3989832" y="3646797"/>
            <a:chExt cx="4377055" cy="591820"/>
          </a:xfrm>
        </p:grpSpPr>
        <p:sp>
          <p:nvSpPr>
            <p:cNvPr id="41" name="object 41"/>
            <p:cNvSpPr/>
            <p:nvPr/>
          </p:nvSpPr>
          <p:spPr>
            <a:xfrm>
              <a:off x="4061784" y="3646797"/>
              <a:ext cx="160020" cy="204470"/>
            </a:xfrm>
            <a:custGeom>
              <a:avLst/>
              <a:gdLst/>
              <a:ahLst/>
              <a:cxnLst/>
              <a:rect l="l" t="t" r="r" b="b"/>
              <a:pathLst>
                <a:path w="160020" h="204470">
                  <a:moveTo>
                    <a:pt x="0" y="0"/>
                  </a:moveTo>
                  <a:lnTo>
                    <a:pt x="0" y="204209"/>
                  </a:lnTo>
                  <a:lnTo>
                    <a:pt x="159603" y="102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3989832" y="3848100"/>
              <a:ext cx="4376927" cy="367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4425696" y="3857244"/>
              <a:ext cx="3058668" cy="38098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4049268" y="3887724"/>
              <a:ext cx="4262755" cy="254635"/>
            </a:xfrm>
            <a:custGeom>
              <a:avLst/>
              <a:gdLst/>
              <a:ahLst/>
              <a:cxnLst/>
              <a:rect l="l" t="t" r="r" b="b"/>
              <a:pathLst>
                <a:path w="4262755" h="254635">
                  <a:moveTo>
                    <a:pt x="4262628" y="0"/>
                  </a:moveTo>
                  <a:lnTo>
                    <a:pt x="0" y="0"/>
                  </a:lnTo>
                  <a:lnTo>
                    <a:pt x="0" y="254507"/>
                  </a:lnTo>
                  <a:lnTo>
                    <a:pt x="4262628" y="254507"/>
                  </a:lnTo>
                  <a:lnTo>
                    <a:pt x="42626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066537" y="5220750"/>
            <a:ext cx="375666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spc="47" dirty="0">
                <a:solidFill>
                  <a:srgbClr val="D9D9D9"/>
                </a:solidFill>
                <a:latin typeface="Arial"/>
                <a:cs typeface="Arial"/>
              </a:rPr>
              <a:t>&lt;config-name&gt;</a:t>
            </a:r>
            <a:r>
              <a:rPr sz="1333" spc="36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173" dirty="0">
                <a:solidFill>
                  <a:srgbClr val="D9D9D9"/>
                </a:solidFill>
                <a:latin typeface="Arial"/>
                <a:cs typeface="Arial"/>
              </a:rPr>
              <a:t>--from-file=&lt;path-to-file&gt;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311648" y="5736336"/>
            <a:ext cx="5836073" cy="833120"/>
            <a:chOff x="3983735" y="4302252"/>
            <a:chExt cx="4377055" cy="624840"/>
          </a:xfrm>
        </p:grpSpPr>
        <p:sp>
          <p:nvSpPr>
            <p:cNvPr id="47" name="object 47"/>
            <p:cNvSpPr/>
            <p:nvPr/>
          </p:nvSpPr>
          <p:spPr>
            <a:xfrm>
              <a:off x="3983735" y="4302252"/>
              <a:ext cx="4376927" cy="367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4142231" y="4309872"/>
              <a:ext cx="2124456" cy="38409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4043171" y="4341876"/>
              <a:ext cx="4262755" cy="254635"/>
            </a:xfrm>
            <a:custGeom>
              <a:avLst/>
              <a:gdLst/>
              <a:ahLst/>
              <a:cxnLst/>
              <a:rect l="l" t="t" r="r" b="b"/>
              <a:pathLst>
                <a:path w="4262755" h="254635">
                  <a:moveTo>
                    <a:pt x="4262628" y="0"/>
                  </a:moveTo>
                  <a:lnTo>
                    <a:pt x="0" y="0"/>
                  </a:lnTo>
                  <a:lnTo>
                    <a:pt x="0" y="254508"/>
                  </a:lnTo>
                  <a:lnTo>
                    <a:pt x="4262628" y="254508"/>
                  </a:lnTo>
                  <a:lnTo>
                    <a:pt x="42626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0" name="object 50"/>
            <p:cNvSpPr/>
            <p:nvPr/>
          </p:nvSpPr>
          <p:spPr>
            <a:xfrm>
              <a:off x="4061784" y="4354105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1" name="object 51"/>
            <p:cNvSpPr/>
            <p:nvPr/>
          </p:nvSpPr>
          <p:spPr>
            <a:xfrm>
              <a:off x="3983735" y="4538472"/>
              <a:ext cx="4376927" cy="36581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4419599" y="4546092"/>
              <a:ext cx="3337559" cy="38098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3" name="object 53"/>
            <p:cNvSpPr/>
            <p:nvPr/>
          </p:nvSpPr>
          <p:spPr>
            <a:xfrm>
              <a:off x="4043171" y="4578096"/>
              <a:ext cx="4262755" cy="253365"/>
            </a:xfrm>
            <a:custGeom>
              <a:avLst/>
              <a:gdLst/>
              <a:ahLst/>
              <a:cxnLst/>
              <a:rect l="l" t="t" r="r" b="b"/>
              <a:pathLst>
                <a:path w="4262755" h="253364">
                  <a:moveTo>
                    <a:pt x="4262628" y="0"/>
                  </a:moveTo>
                  <a:lnTo>
                    <a:pt x="0" y="0"/>
                  </a:lnTo>
                  <a:lnTo>
                    <a:pt x="0" y="252983"/>
                  </a:lnTo>
                  <a:lnTo>
                    <a:pt x="4262628" y="252983"/>
                  </a:lnTo>
                  <a:lnTo>
                    <a:pt x="42626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688585" y="5716048"/>
            <a:ext cx="4496647" cy="655606"/>
          </a:xfrm>
          <a:prstGeom prst="rect">
            <a:avLst/>
          </a:prstGeom>
        </p:spPr>
        <p:txBody>
          <a:bodyPr vert="horz" wrap="square" lIns="0" tIns="128693" rIns="0" bIns="0" rtlCol="0">
            <a:spAutoFit/>
          </a:bodyPr>
          <a:lstStyle/>
          <a:p>
            <a:pPr marL="16933">
              <a:spcBef>
                <a:spcPts val="1013"/>
              </a:spcBef>
            </a:pP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333" spc="120" dirty="0">
                <a:solidFill>
                  <a:srgbClr val="D9D9D9"/>
                </a:solidFill>
                <a:latin typeface="Arial"/>
                <a:cs typeface="Arial"/>
              </a:rPr>
              <a:t>create </a:t>
            </a:r>
            <a:r>
              <a:rPr sz="1333" spc="53" dirty="0">
                <a:solidFill>
                  <a:srgbClr val="D9D9D9"/>
                </a:solidFill>
                <a:latin typeface="Arial"/>
                <a:cs typeface="Arial"/>
              </a:rPr>
              <a:t>configmap</a:t>
            </a:r>
            <a:r>
              <a:rPr sz="1333" spc="-8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367" dirty="0">
                <a:solidFill>
                  <a:srgbClr val="D9D9D9"/>
                </a:solidFill>
                <a:latin typeface="Arial"/>
                <a:cs typeface="Arial"/>
              </a:rPr>
              <a:t>\</a:t>
            </a:r>
            <a:endParaRPr sz="1333">
              <a:latin typeface="Arial"/>
              <a:cs typeface="Arial"/>
            </a:endParaRPr>
          </a:p>
          <a:p>
            <a:pPr marL="386070">
              <a:spcBef>
                <a:spcPts val="867"/>
              </a:spcBef>
            </a:pPr>
            <a:r>
              <a:rPr sz="1333" spc="100" dirty="0">
                <a:solidFill>
                  <a:srgbClr val="D9D9D9"/>
                </a:solidFill>
                <a:latin typeface="Arial"/>
                <a:cs typeface="Arial"/>
              </a:rPr>
              <a:t>app-config</a:t>
            </a:r>
            <a:r>
              <a:rPr sz="1333" spc="38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--from-file=app_config.properties</a:t>
            </a:r>
            <a:endParaRPr sz="1333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214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547539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40" dirty="0"/>
              <a:t>Create</a:t>
            </a:r>
            <a:r>
              <a:rPr spc="-447" dirty="0"/>
              <a:t> </a:t>
            </a:r>
            <a:r>
              <a:rPr spc="140" dirty="0"/>
              <a:t>ConfigMaps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424" y="1946655"/>
            <a:ext cx="2993813" cy="615681"/>
          </a:xfrm>
          <a:prstGeom prst="rect">
            <a:avLst/>
          </a:prstGeom>
          <a:solidFill>
            <a:srgbClr val="2B2B2B"/>
          </a:solidFill>
        </p:spPr>
        <p:txBody>
          <a:bodyPr vert="horz" wrap="square" lIns="0" tIns="40640" rIns="0" bIns="0" rtlCol="0">
            <a:spAutoFit/>
          </a:bodyPr>
          <a:lstStyle/>
          <a:p>
            <a:pPr marL="121070" marR="733195">
              <a:spcBef>
                <a:spcPts val="320"/>
              </a:spcBef>
            </a:pP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APP_COLOR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r>
              <a:rPr sz="1867" spc="-12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blue  </a:t>
            </a: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APP_MODE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r>
              <a:rPr sz="1867" spc="-6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prod</a:t>
            </a:r>
            <a:endParaRPr sz="1867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8" y="1546352"/>
            <a:ext cx="1380067" cy="325729"/>
          </a:xfrm>
          <a:prstGeom prst="rect">
            <a:avLst/>
          </a:prstGeom>
          <a:solidFill>
            <a:srgbClr val="000000">
              <a:alpha val="50195"/>
            </a:srgbClr>
          </a:solidFill>
        </p:spPr>
        <p:txBody>
          <a:bodyPr vert="horz" wrap="square" lIns="0" tIns="48259" rIns="0" bIns="0" rtlCol="0">
            <a:spAutoFit/>
          </a:bodyPr>
          <a:lstStyle/>
          <a:p>
            <a:pPr marL="121917">
              <a:spcBef>
                <a:spcPts val="379"/>
              </a:spcBef>
            </a:pPr>
            <a:r>
              <a:rPr spc="-20" dirty="0">
                <a:solidFill>
                  <a:srgbClr val="FFFFFF"/>
                </a:solidFill>
                <a:latin typeface="Noto Sans"/>
                <a:cs typeface="Noto Sans"/>
              </a:rPr>
              <a:t>ConfigMap</a:t>
            </a:r>
            <a:endParaRPr>
              <a:latin typeface="Noto Sans"/>
              <a:cs typeface="Noto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08049" y="5175503"/>
            <a:ext cx="1081193" cy="1087120"/>
          </a:xfrm>
          <a:custGeom>
            <a:avLst/>
            <a:gdLst/>
            <a:ahLst/>
            <a:cxnLst/>
            <a:rect l="l" t="t" r="r" b="b"/>
            <a:pathLst>
              <a:path w="810894" h="815339">
                <a:moveTo>
                  <a:pt x="810768" y="404444"/>
                </a:moveTo>
                <a:lnTo>
                  <a:pt x="807554" y="354076"/>
                </a:lnTo>
                <a:lnTo>
                  <a:pt x="798144" y="305028"/>
                </a:lnTo>
                <a:lnTo>
                  <a:pt x="782802" y="257759"/>
                </a:lnTo>
                <a:lnTo>
                  <a:pt x="761822" y="212750"/>
                </a:lnTo>
                <a:lnTo>
                  <a:pt x="752983" y="198577"/>
                </a:lnTo>
                <a:lnTo>
                  <a:pt x="752983" y="407758"/>
                </a:lnTo>
                <a:lnTo>
                  <a:pt x="749795" y="454939"/>
                </a:lnTo>
                <a:lnTo>
                  <a:pt x="740537" y="500214"/>
                </a:lnTo>
                <a:lnTo>
                  <a:pt x="725614" y="543166"/>
                </a:lnTo>
                <a:lnTo>
                  <a:pt x="705446" y="583374"/>
                </a:lnTo>
                <a:lnTo>
                  <a:pt x="680453" y="620420"/>
                </a:lnTo>
                <a:lnTo>
                  <a:pt x="651040" y="653897"/>
                </a:lnTo>
                <a:lnTo>
                  <a:pt x="617639" y="683361"/>
                </a:lnTo>
                <a:lnTo>
                  <a:pt x="580669" y="708406"/>
                </a:lnTo>
                <a:lnTo>
                  <a:pt x="540537" y="728611"/>
                </a:lnTo>
                <a:lnTo>
                  <a:pt x="497662" y="743572"/>
                </a:lnTo>
                <a:lnTo>
                  <a:pt x="452475" y="752856"/>
                </a:lnTo>
                <a:lnTo>
                  <a:pt x="405384" y="756031"/>
                </a:lnTo>
                <a:lnTo>
                  <a:pt x="358279" y="752856"/>
                </a:lnTo>
                <a:lnTo>
                  <a:pt x="313093" y="743572"/>
                </a:lnTo>
                <a:lnTo>
                  <a:pt x="270217" y="728611"/>
                </a:lnTo>
                <a:lnTo>
                  <a:pt x="230085" y="708406"/>
                </a:lnTo>
                <a:lnTo>
                  <a:pt x="193116" y="683361"/>
                </a:lnTo>
                <a:lnTo>
                  <a:pt x="159715" y="653897"/>
                </a:lnTo>
                <a:lnTo>
                  <a:pt x="141732" y="633437"/>
                </a:lnTo>
                <a:lnTo>
                  <a:pt x="141732" y="654177"/>
                </a:lnTo>
                <a:lnTo>
                  <a:pt x="86664" y="642239"/>
                </a:lnTo>
                <a:lnTo>
                  <a:pt x="61518" y="603364"/>
                </a:lnTo>
                <a:lnTo>
                  <a:pt x="41160" y="561835"/>
                </a:lnTo>
                <a:lnTo>
                  <a:pt x="25717" y="518185"/>
                </a:lnTo>
                <a:lnTo>
                  <a:pt x="15341" y="472935"/>
                </a:lnTo>
                <a:lnTo>
                  <a:pt x="10160" y="426593"/>
                </a:lnTo>
                <a:lnTo>
                  <a:pt x="43942" y="424891"/>
                </a:lnTo>
                <a:lnTo>
                  <a:pt x="46964" y="449122"/>
                </a:lnTo>
                <a:lnTo>
                  <a:pt x="47472" y="456641"/>
                </a:lnTo>
                <a:lnTo>
                  <a:pt x="48590" y="462153"/>
                </a:lnTo>
                <a:lnTo>
                  <a:pt x="50342" y="476135"/>
                </a:lnTo>
                <a:lnTo>
                  <a:pt x="55041" y="493801"/>
                </a:lnTo>
                <a:lnTo>
                  <a:pt x="57048" y="503580"/>
                </a:lnTo>
                <a:lnTo>
                  <a:pt x="59715" y="511302"/>
                </a:lnTo>
                <a:lnTo>
                  <a:pt x="63487" y="525424"/>
                </a:lnTo>
                <a:lnTo>
                  <a:pt x="69621" y="539915"/>
                </a:lnTo>
                <a:lnTo>
                  <a:pt x="72478" y="548157"/>
                </a:lnTo>
                <a:lnTo>
                  <a:pt x="76669" y="556564"/>
                </a:lnTo>
                <a:lnTo>
                  <a:pt x="83223" y="572008"/>
                </a:lnTo>
                <a:lnTo>
                  <a:pt x="89966" y="583158"/>
                </a:lnTo>
                <a:lnTo>
                  <a:pt x="93357" y="589927"/>
                </a:lnTo>
                <a:lnTo>
                  <a:pt x="100533" y="600621"/>
                </a:lnTo>
                <a:lnTo>
                  <a:pt x="109359" y="615175"/>
                </a:lnTo>
                <a:lnTo>
                  <a:pt x="114477" y="621360"/>
                </a:lnTo>
                <a:lnTo>
                  <a:pt x="119240" y="628421"/>
                </a:lnTo>
                <a:lnTo>
                  <a:pt x="140474" y="652678"/>
                </a:lnTo>
                <a:lnTo>
                  <a:pt x="141732" y="654177"/>
                </a:lnTo>
                <a:lnTo>
                  <a:pt x="141732" y="633437"/>
                </a:lnTo>
                <a:lnTo>
                  <a:pt x="105308" y="583374"/>
                </a:lnTo>
                <a:lnTo>
                  <a:pt x="85140" y="543166"/>
                </a:lnTo>
                <a:lnTo>
                  <a:pt x="70218" y="500214"/>
                </a:lnTo>
                <a:lnTo>
                  <a:pt x="60960" y="454939"/>
                </a:lnTo>
                <a:lnTo>
                  <a:pt x="57785" y="407758"/>
                </a:lnTo>
                <a:lnTo>
                  <a:pt x="60960" y="360197"/>
                </a:lnTo>
                <a:lnTo>
                  <a:pt x="70218" y="314591"/>
                </a:lnTo>
                <a:lnTo>
                  <a:pt x="85140" y="271373"/>
                </a:lnTo>
                <a:lnTo>
                  <a:pt x="105308" y="230949"/>
                </a:lnTo>
                <a:lnTo>
                  <a:pt x="130302" y="193738"/>
                </a:lnTo>
                <a:lnTo>
                  <a:pt x="159715" y="160147"/>
                </a:lnTo>
                <a:lnTo>
                  <a:pt x="193116" y="130594"/>
                </a:lnTo>
                <a:lnTo>
                  <a:pt x="230085" y="105486"/>
                </a:lnTo>
                <a:lnTo>
                  <a:pt x="270217" y="85242"/>
                </a:lnTo>
                <a:lnTo>
                  <a:pt x="312254" y="70573"/>
                </a:lnTo>
                <a:lnTo>
                  <a:pt x="357085" y="61226"/>
                </a:lnTo>
                <a:lnTo>
                  <a:pt x="405384" y="57785"/>
                </a:lnTo>
                <a:lnTo>
                  <a:pt x="452475" y="60972"/>
                </a:lnTo>
                <a:lnTo>
                  <a:pt x="497662" y="70269"/>
                </a:lnTo>
                <a:lnTo>
                  <a:pt x="540537" y="85242"/>
                </a:lnTo>
                <a:lnTo>
                  <a:pt x="580669" y="105486"/>
                </a:lnTo>
                <a:lnTo>
                  <a:pt x="617639" y="130594"/>
                </a:lnTo>
                <a:lnTo>
                  <a:pt x="651040" y="160147"/>
                </a:lnTo>
                <a:lnTo>
                  <a:pt x="680453" y="193738"/>
                </a:lnTo>
                <a:lnTo>
                  <a:pt x="705446" y="230949"/>
                </a:lnTo>
                <a:lnTo>
                  <a:pt x="725614" y="271373"/>
                </a:lnTo>
                <a:lnTo>
                  <a:pt x="740537" y="314591"/>
                </a:lnTo>
                <a:lnTo>
                  <a:pt x="749795" y="360197"/>
                </a:lnTo>
                <a:lnTo>
                  <a:pt x="752983" y="407758"/>
                </a:lnTo>
                <a:lnTo>
                  <a:pt x="752983" y="198577"/>
                </a:lnTo>
                <a:lnTo>
                  <a:pt x="735431" y="170408"/>
                </a:lnTo>
                <a:lnTo>
                  <a:pt x="704088" y="131406"/>
                </a:lnTo>
                <a:lnTo>
                  <a:pt x="700659" y="128016"/>
                </a:lnTo>
                <a:lnTo>
                  <a:pt x="666648" y="158013"/>
                </a:lnTo>
                <a:lnTo>
                  <a:pt x="660615" y="151117"/>
                </a:lnTo>
                <a:lnTo>
                  <a:pt x="668756" y="143319"/>
                </a:lnTo>
                <a:lnTo>
                  <a:pt x="693420" y="119710"/>
                </a:lnTo>
                <a:lnTo>
                  <a:pt x="688340" y="114655"/>
                </a:lnTo>
                <a:lnTo>
                  <a:pt x="676529" y="104698"/>
                </a:lnTo>
                <a:lnTo>
                  <a:pt x="676529" y="119710"/>
                </a:lnTo>
                <a:lnTo>
                  <a:pt x="652907" y="143319"/>
                </a:lnTo>
                <a:lnTo>
                  <a:pt x="639254" y="132130"/>
                </a:lnTo>
                <a:lnTo>
                  <a:pt x="625614" y="120053"/>
                </a:lnTo>
                <a:lnTo>
                  <a:pt x="619213" y="115709"/>
                </a:lnTo>
                <a:lnTo>
                  <a:pt x="613448" y="110972"/>
                </a:lnTo>
                <a:lnTo>
                  <a:pt x="602437" y="104305"/>
                </a:lnTo>
                <a:lnTo>
                  <a:pt x="587184" y="93916"/>
                </a:lnTo>
                <a:lnTo>
                  <a:pt x="576084" y="88303"/>
                </a:lnTo>
                <a:lnTo>
                  <a:pt x="570420" y="84861"/>
                </a:lnTo>
                <a:lnTo>
                  <a:pt x="563143" y="81762"/>
                </a:lnTo>
                <a:lnTo>
                  <a:pt x="545503" y="72821"/>
                </a:lnTo>
                <a:lnTo>
                  <a:pt x="527405" y="66471"/>
                </a:lnTo>
                <a:lnTo>
                  <a:pt x="524294" y="65138"/>
                </a:lnTo>
                <a:lnTo>
                  <a:pt x="521335" y="64350"/>
                </a:lnTo>
                <a:lnTo>
                  <a:pt x="502666" y="57785"/>
                </a:lnTo>
                <a:lnTo>
                  <a:pt x="501015" y="57213"/>
                </a:lnTo>
                <a:lnTo>
                  <a:pt x="454152" y="47523"/>
                </a:lnTo>
                <a:lnTo>
                  <a:pt x="424815" y="45529"/>
                </a:lnTo>
                <a:lnTo>
                  <a:pt x="426466" y="11798"/>
                </a:lnTo>
                <a:lnTo>
                  <a:pt x="472605" y="17119"/>
                </a:lnTo>
                <a:lnTo>
                  <a:pt x="517588" y="27800"/>
                </a:lnTo>
                <a:lnTo>
                  <a:pt x="561022" y="43637"/>
                </a:lnTo>
                <a:lnTo>
                  <a:pt x="602322" y="64389"/>
                </a:lnTo>
                <a:lnTo>
                  <a:pt x="640994" y="89827"/>
                </a:lnTo>
                <a:lnTo>
                  <a:pt x="676529" y="119710"/>
                </a:lnTo>
                <a:lnTo>
                  <a:pt x="676529" y="104698"/>
                </a:lnTo>
                <a:lnTo>
                  <a:pt x="608990" y="55397"/>
                </a:lnTo>
                <a:lnTo>
                  <a:pt x="565023" y="33515"/>
                </a:lnTo>
                <a:lnTo>
                  <a:pt x="518756" y="17106"/>
                </a:lnTo>
                <a:lnTo>
                  <a:pt x="470801" y="6426"/>
                </a:lnTo>
                <a:lnTo>
                  <a:pt x="421513" y="1689"/>
                </a:lnTo>
                <a:lnTo>
                  <a:pt x="416433" y="0"/>
                </a:lnTo>
                <a:lnTo>
                  <a:pt x="413753" y="44767"/>
                </a:lnTo>
                <a:lnTo>
                  <a:pt x="405384" y="44196"/>
                </a:lnTo>
                <a:lnTo>
                  <a:pt x="403479" y="44335"/>
                </a:lnTo>
                <a:lnTo>
                  <a:pt x="402209" y="0"/>
                </a:lnTo>
                <a:lnTo>
                  <a:pt x="397129" y="0"/>
                </a:lnTo>
                <a:lnTo>
                  <a:pt x="347078" y="4622"/>
                </a:lnTo>
                <a:lnTo>
                  <a:pt x="298526" y="14960"/>
                </a:lnTo>
                <a:lnTo>
                  <a:pt x="251853" y="30848"/>
                </a:lnTo>
                <a:lnTo>
                  <a:pt x="207429" y="52070"/>
                </a:lnTo>
                <a:lnTo>
                  <a:pt x="165646" y="78460"/>
                </a:lnTo>
                <a:lnTo>
                  <a:pt x="126873" y="109829"/>
                </a:lnTo>
                <a:lnTo>
                  <a:pt x="123444" y="114896"/>
                </a:lnTo>
                <a:lnTo>
                  <a:pt x="154114" y="146913"/>
                </a:lnTo>
                <a:lnTo>
                  <a:pt x="149720" y="150812"/>
                </a:lnTo>
                <a:lnTo>
                  <a:pt x="119240" y="185737"/>
                </a:lnTo>
                <a:lnTo>
                  <a:pt x="93357" y="224409"/>
                </a:lnTo>
                <a:lnTo>
                  <a:pt x="72478" y="266382"/>
                </a:lnTo>
                <a:lnTo>
                  <a:pt x="57048" y="311226"/>
                </a:lnTo>
                <a:lnTo>
                  <a:pt x="47472" y="358495"/>
                </a:lnTo>
                <a:lnTo>
                  <a:pt x="44196" y="407758"/>
                </a:lnTo>
                <a:lnTo>
                  <a:pt x="44564" y="413346"/>
                </a:lnTo>
                <a:lnTo>
                  <a:pt x="0" y="414705"/>
                </a:lnTo>
                <a:lnTo>
                  <a:pt x="0" y="421500"/>
                </a:lnTo>
                <a:lnTo>
                  <a:pt x="4635" y="471106"/>
                </a:lnTo>
                <a:lnTo>
                  <a:pt x="15074" y="519379"/>
                </a:lnTo>
                <a:lnTo>
                  <a:pt x="31216" y="565873"/>
                </a:lnTo>
                <a:lnTo>
                  <a:pt x="52984" y="610095"/>
                </a:lnTo>
                <a:lnTo>
                  <a:pt x="80276" y="651573"/>
                </a:lnTo>
                <a:lnTo>
                  <a:pt x="113030" y="689851"/>
                </a:lnTo>
                <a:lnTo>
                  <a:pt x="116459" y="694944"/>
                </a:lnTo>
                <a:lnTo>
                  <a:pt x="134061" y="677964"/>
                </a:lnTo>
                <a:lnTo>
                  <a:pt x="149542" y="663028"/>
                </a:lnTo>
                <a:lnTo>
                  <a:pt x="149733" y="663232"/>
                </a:lnTo>
                <a:lnTo>
                  <a:pt x="157213" y="669861"/>
                </a:lnTo>
                <a:lnTo>
                  <a:pt x="124968" y="703580"/>
                </a:lnTo>
                <a:lnTo>
                  <a:pt x="130048" y="706970"/>
                </a:lnTo>
                <a:lnTo>
                  <a:pt x="168808" y="738987"/>
                </a:lnTo>
                <a:lnTo>
                  <a:pt x="210578" y="765556"/>
                </a:lnTo>
                <a:lnTo>
                  <a:pt x="254965" y="786561"/>
                </a:lnTo>
                <a:lnTo>
                  <a:pt x="301599" y="801928"/>
                </a:lnTo>
                <a:lnTo>
                  <a:pt x="350126" y="811555"/>
                </a:lnTo>
                <a:lnTo>
                  <a:pt x="400177" y="815340"/>
                </a:lnTo>
                <a:lnTo>
                  <a:pt x="405257" y="815340"/>
                </a:lnTo>
                <a:lnTo>
                  <a:pt x="406603" y="769543"/>
                </a:lnTo>
                <a:lnTo>
                  <a:pt x="454152" y="766305"/>
                </a:lnTo>
                <a:lnTo>
                  <a:pt x="501015" y="756627"/>
                </a:lnTo>
                <a:lnTo>
                  <a:pt x="502691" y="756031"/>
                </a:lnTo>
                <a:lnTo>
                  <a:pt x="545503" y="741032"/>
                </a:lnTo>
                <a:lnTo>
                  <a:pt x="587184" y="719975"/>
                </a:lnTo>
                <a:lnTo>
                  <a:pt x="625614" y="693902"/>
                </a:lnTo>
                <a:lnTo>
                  <a:pt x="660361" y="663232"/>
                </a:lnTo>
                <a:lnTo>
                  <a:pt x="668909" y="653503"/>
                </a:lnTo>
                <a:lnTo>
                  <a:pt x="702437" y="684276"/>
                </a:lnTo>
                <a:lnTo>
                  <a:pt x="705739" y="679183"/>
                </a:lnTo>
                <a:lnTo>
                  <a:pt x="737057" y="640130"/>
                </a:lnTo>
                <a:lnTo>
                  <a:pt x="763104" y="597916"/>
                </a:lnTo>
                <a:lnTo>
                  <a:pt x="783678" y="553059"/>
                </a:lnTo>
                <a:lnTo>
                  <a:pt x="798601" y="506082"/>
                </a:lnTo>
                <a:lnTo>
                  <a:pt x="807694" y="457517"/>
                </a:lnTo>
                <a:lnTo>
                  <a:pt x="810768" y="407847"/>
                </a:lnTo>
                <a:lnTo>
                  <a:pt x="810768" y="404444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568840" y="5299184"/>
            <a:ext cx="1756833" cy="12251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7620" algn="ctr">
              <a:spcBef>
                <a:spcPts val="133"/>
              </a:spcBef>
            </a:pPr>
            <a:r>
              <a:rPr sz="4800" dirty="0">
                <a:solidFill>
                  <a:srgbClr val="1780C3"/>
                </a:solidFill>
                <a:latin typeface="Noto Sans"/>
                <a:cs typeface="Noto Sans"/>
              </a:rPr>
              <a:t>1</a:t>
            </a:r>
            <a:endParaRPr sz="4800">
              <a:latin typeface="Noto Sans"/>
              <a:cs typeface="Noto Sans"/>
            </a:endParaRPr>
          </a:p>
          <a:p>
            <a:pPr algn="ctr">
              <a:spcBef>
                <a:spcPts val="1927"/>
              </a:spcBef>
            </a:pPr>
            <a:r>
              <a:rPr sz="1467" spc="13" dirty="0">
                <a:latin typeface="Verdana"/>
                <a:cs typeface="Verdana"/>
              </a:rPr>
              <a:t>Create</a:t>
            </a:r>
            <a:r>
              <a:rPr sz="1467" spc="-213" dirty="0">
                <a:latin typeface="Verdana"/>
                <a:cs typeface="Verdana"/>
              </a:rPr>
              <a:t> </a:t>
            </a:r>
            <a:r>
              <a:rPr sz="1467" spc="53" dirty="0">
                <a:latin typeface="Verdana"/>
                <a:cs typeface="Verdana"/>
              </a:rPr>
              <a:t>ConfigMap</a:t>
            </a:r>
            <a:endParaRPr sz="1467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81169" y="1469069"/>
            <a:ext cx="5836073" cy="522393"/>
            <a:chOff x="3960876" y="1101801"/>
            <a:chExt cx="4377055" cy="391795"/>
          </a:xfrm>
        </p:grpSpPr>
        <p:sp>
          <p:nvSpPr>
            <p:cNvPr id="9" name="object 9"/>
            <p:cNvSpPr/>
            <p:nvPr/>
          </p:nvSpPr>
          <p:spPr>
            <a:xfrm>
              <a:off x="3960876" y="1101801"/>
              <a:ext cx="4376928" cy="3658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119372" y="1109421"/>
              <a:ext cx="1552955" cy="38409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020312" y="1141475"/>
              <a:ext cx="4262755" cy="253365"/>
            </a:xfrm>
            <a:custGeom>
              <a:avLst/>
              <a:gdLst/>
              <a:ahLst/>
              <a:cxnLst/>
              <a:rect l="l" t="t" r="r" b="b"/>
              <a:pathLst>
                <a:path w="4262755" h="253365">
                  <a:moveTo>
                    <a:pt x="4262628" y="0"/>
                  </a:moveTo>
                  <a:lnTo>
                    <a:pt x="0" y="0"/>
                  </a:lnTo>
                  <a:lnTo>
                    <a:pt x="0" y="252984"/>
                  </a:lnTo>
                  <a:lnTo>
                    <a:pt x="4262628" y="252984"/>
                  </a:lnTo>
                  <a:lnTo>
                    <a:pt x="42626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60416" y="1521967"/>
            <a:ext cx="5683673" cy="259837"/>
          </a:xfrm>
          <a:prstGeom prst="rect">
            <a:avLst/>
          </a:prstGeom>
        </p:spPr>
        <p:txBody>
          <a:bodyPr vert="horz" wrap="square" lIns="0" tIns="54187" rIns="0" bIns="0" rtlCol="0">
            <a:spAutoFit/>
          </a:bodyPr>
          <a:lstStyle/>
          <a:p>
            <a:pPr marL="314105">
              <a:spcBef>
                <a:spcPts val="427"/>
              </a:spcBef>
            </a:pP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333" spc="120" dirty="0">
                <a:solidFill>
                  <a:srgbClr val="D9D9D9"/>
                </a:solidFill>
                <a:latin typeface="Arial"/>
                <a:cs typeface="Arial"/>
              </a:rPr>
              <a:t>create</a:t>
            </a:r>
            <a:r>
              <a:rPr sz="1333" spc="13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180" dirty="0">
                <a:solidFill>
                  <a:srgbClr val="D9D9D9"/>
                </a:solidFill>
                <a:latin typeface="Arial"/>
                <a:cs typeface="Arial"/>
              </a:rPr>
              <a:t>–f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72560" y="1521968"/>
            <a:ext cx="1625600" cy="369993"/>
            <a:chOff x="2979420" y="1141475"/>
            <a:chExt cx="1219200" cy="277495"/>
          </a:xfrm>
        </p:grpSpPr>
        <p:sp>
          <p:nvSpPr>
            <p:cNvPr id="14" name="object 14"/>
            <p:cNvSpPr/>
            <p:nvPr/>
          </p:nvSpPr>
          <p:spPr>
            <a:xfrm>
              <a:off x="4038924" y="1153705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40">
                  <a:moveTo>
                    <a:pt x="0" y="0"/>
                  </a:moveTo>
                  <a:lnTo>
                    <a:pt x="0" y="205385"/>
                  </a:lnTo>
                  <a:lnTo>
                    <a:pt x="159603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80C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979420" y="1161287"/>
              <a:ext cx="960119" cy="257810"/>
            </a:xfrm>
            <a:custGeom>
              <a:avLst/>
              <a:gdLst/>
              <a:ahLst/>
              <a:cxnLst/>
              <a:rect l="l" t="t" r="r" b="b"/>
              <a:pathLst>
                <a:path w="960120" h="257809">
                  <a:moveTo>
                    <a:pt x="917194" y="0"/>
                  </a:moveTo>
                  <a:lnTo>
                    <a:pt x="42925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214629"/>
                  </a:lnTo>
                  <a:lnTo>
                    <a:pt x="3367" y="231356"/>
                  </a:lnTo>
                  <a:lnTo>
                    <a:pt x="12557" y="244998"/>
                  </a:lnTo>
                  <a:lnTo>
                    <a:pt x="26199" y="254188"/>
                  </a:lnTo>
                  <a:lnTo>
                    <a:pt x="42925" y="257556"/>
                  </a:lnTo>
                  <a:lnTo>
                    <a:pt x="917194" y="257556"/>
                  </a:lnTo>
                  <a:lnTo>
                    <a:pt x="933920" y="254188"/>
                  </a:lnTo>
                  <a:lnTo>
                    <a:pt x="947562" y="244998"/>
                  </a:lnTo>
                  <a:lnTo>
                    <a:pt x="956752" y="231356"/>
                  </a:lnTo>
                  <a:lnTo>
                    <a:pt x="960119" y="214629"/>
                  </a:lnTo>
                  <a:lnTo>
                    <a:pt x="960119" y="42925"/>
                  </a:lnTo>
                  <a:lnTo>
                    <a:pt x="956752" y="26199"/>
                  </a:lnTo>
                  <a:lnTo>
                    <a:pt x="947562" y="12557"/>
                  </a:lnTo>
                  <a:lnTo>
                    <a:pt x="933920" y="3367"/>
                  </a:lnTo>
                  <a:lnTo>
                    <a:pt x="917194" y="0"/>
                  </a:lnTo>
                  <a:close/>
                </a:path>
              </a:pathLst>
            </a:custGeom>
            <a:solidFill>
              <a:srgbClr val="2B873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979420" y="1141475"/>
              <a:ext cx="960119" cy="256540"/>
            </a:xfrm>
            <a:custGeom>
              <a:avLst/>
              <a:gdLst/>
              <a:ahLst/>
              <a:cxnLst/>
              <a:rect l="l" t="t" r="r" b="b"/>
              <a:pathLst>
                <a:path w="960120" h="256540">
                  <a:moveTo>
                    <a:pt x="917447" y="0"/>
                  </a:moveTo>
                  <a:lnTo>
                    <a:pt x="42672" y="0"/>
                  </a:lnTo>
                  <a:lnTo>
                    <a:pt x="26038" y="3345"/>
                  </a:lnTo>
                  <a:lnTo>
                    <a:pt x="12477" y="12477"/>
                  </a:lnTo>
                  <a:lnTo>
                    <a:pt x="3345" y="26038"/>
                  </a:lnTo>
                  <a:lnTo>
                    <a:pt x="0" y="42672"/>
                  </a:lnTo>
                  <a:lnTo>
                    <a:pt x="0" y="213360"/>
                  </a:lnTo>
                  <a:lnTo>
                    <a:pt x="3345" y="229993"/>
                  </a:lnTo>
                  <a:lnTo>
                    <a:pt x="12477" y="243554"/>
                  </a:lnTo>
                  <a:lnTo>
                    <a:pt x="26038" y="252686"/>
                  </a:lnTo>
                  <a:lnTo>
                    <a:pt x="42672" y="256032"/>
                  </a:lnTo>
                  <a:lnTo>
                    <a:pt x="917447" y="256032"/>
                  </a:lnTo>
                  <a:lnTo>
                    <a:pt x="934081" y="252686"/>
                  </a:lnTo>
                  <a:lnTo>
                    <a:pt x="947642" y="243554"/>
                  </a:lnTo>
                  <a:lnTo>
                    <a:pt x="956774" y="229993"/>
                  </a:lnTo>
                  <a:lnTo>
                    <a:pt x="960119" y="213360"/>
                  </a:lnTo>
                  <a:lnTo>
                    <a:pt x="960119" y="42672"/>
                  </a:lnTo>
                  <a:lnTo>
                    <a:pt x="956774" y="26038"/>
                  </a:lnTo>
                  <a:lnTo>
                    <a:pt x="947642" y="12477"/>
                  </a:lnTo>
                  <a:lnTo>
                    <a:pt x="934081" y="3345"/>
                  </a:lnTo>
                  <a:lnTo>
                    <a:pt x="917447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13276" y="1585975"/>
            <a:ext cx="99568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b="1" spc="-20" dirty="0">
                <a:solidFill>
                  <a:srgbClr val="FFFFFF"/>
                </a:solidFill>
                <a:latin typeface="Noto Sans"/>
                <a:cs typeface="Noto Sans"/>
              </a:rPr>
              <a:t>D</a:t>
            </a:r>
            <a:r>
              <a:rPr sz="1333" b="1" spc="-7" dirty="0">
                <a:solidFill>
                  <a:srgbClr val="FFFFFF"/>
                </a:solidFill>
                <a:latin typeface="Noto Sans"/>
                <a:cs typeface="Noto Sans"/>
              </a:rPr>
              <a:t>ec</a:t>
            </a:r>
            <a:r>
              <a:rPr sz="1333" b="1" spc="-13" dirty="0">
                <a:solidFill>
                  <a:srgbClr val="FFFFFF"/>
                </a:solidFill>
                <a:latin typeface="Noto Sans"/>
                <a:cs typeface="Noto Sans"/>
              </a:rPr>
              <a:t>l</a:t>
            </a:r>
            <a:r>
              <a:rPr sz="1333" b="1" spc="-7" dirty="0">
                <a:solidFill>
                  <a:srgbClr val="FFFFFF"/>
                </a:solidFill>
                <a:latin typeface="Noto Sans"/>
                <a:cs typeface="Noto Sans"/>
              </a:rPr>
              <a:t>arat</a:t>
            </a:r>
            <a:r>
              <a:rPr sz="1333" b="1" spc="-13" dirty="0">
                <a:solidFill>
                  <a:srgbClr val="FFFFFF"/>
                </a:solidFill>
                <a:latin typeface="Noto Sans"/>
                <a:cs typeface="Noto Sans"/>
              </a:rPr>
              <a:t>i</a:t>
            </a:r>
            <a:r>
              <a:rPr sz="1333" b="1" spc="-7" dirty="0">
                <a:solidFill>
                  <a:srgbClr val="FFFFFF"/>
                </a:solidFill>
                <a:latin typeface="Noto Sans"/>
                <a:cs typeface="Noto Sans"/>
              </a:rPr>
              <a:t>ve</a:t>
            </a:r>
            <a:endParaRPr sz="1333">
              <a:latin typeface="Noto Sans"/>
              <a:cs typeface="Noto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60415" y="2367281"/>
            <a:ext cx="1957493" cy="324875"/>
          </a:xfrm>
          <a:prstGeom prst="rect">
            <a:avLst/>
          </a:prstGeom>
          <a:solidFill>
            <a:srgbClr val="000000">
              <a:alpha val="50195"/>
            </a:srgbClr>
          </a:solidFill>
        </p:spPr>
        <p:txBody>
          <a:bodyPr vert="horz" wrap="square" lIns="0" tIns="47413" rIns="0" bIns="0" rtlCol="0">
            <a:spAutoFit/>
          </a:bodyPr>
          <a:lstStyle/>
          <a:p>
            <a:pPr marL="121070">
              <a:spcBef>
                <a:spcPts val="373"/>
              </a:spcBef>
            </a:pPr>
            <a:r>
              <a:rPr spc="-20" dirty="0">
                <a:solidFill>
                  <a:srgbClr val="FFFFFF"/>
                </a:solidFill>
                <a:latin typeface="Noto Sans"/>
                <a:cs typeface="Noto Sans"/>
              </a:rPr>
              <a:t>config-map.yaml</a:t>
            </a:r>
            <a:endParaRPr>
              <a:latin typeface="Noto Sans"/>
              <a:cs typeface="Noto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60415" y="2767584"/>
            <a:ext cx="6226387" cy="2071615"/>
          </a:xfrm>
          <a:prstGeom prst="rect">
            <a:avLst/>
          </a:prstGeom>
          <a:solidFill>
            <a:srgbClr val="2B2B2B"/>
          </a:solidFill>
        </p:spPr>
        <p:txBody>
          <a:bodyPr vert="horz" wrap="square" lIns="0" tIns="26247" rIns="0" bIns="0" rtlCol="0">
            <a:spAutoFit/>
          </a:bodyPr>
          <a:lstStyle/>
          <a:p>
            <a:pPr marL="121070" marR="3964841">
              <a:spcBef>
                <a:spcPts val="207"/>
              </a:spcBef>
            </a:pP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apiVersion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 </a:t>
            </a:r>
            <a:r>
              <a:rPr sz="2800" spc="-9" baseline="-3968" dirty="0">
                <a:solidFill>
                  <a:srgbClr val="A9B7C5"/>
                </a:solidFill>
                <a:latin typeface="Courier New"/>
                <a:cs typeface="Courier New"/>
              </a:rPr>
              <a:t>v1  </a:t>
            </a:r>
            <a:r>
              <a:rPr sz="2800" spc="-9" baseline="3968" dirty="0">
                <a:solidFill>
                  <a:srgbClr val="9776AA"/>
                </a:solidFill>
                <a:latin typeface="Courier New"/>
                <a:cs typeface="Courier New"/>
              </a:rPr>
              <a:t>kind</a:t>
            </a:r>
            <a:r>
              <a:rPr sz="2800" spc="-9" baseline="3968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r>
              <a:rPr sz="2800" spc="-200" baseline="3968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ConfigMap  </a:t>
            </a: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metadata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endParaRPr sz="1867" dirty="0">
              <a:latin typeface="Courier New"/>
              <a:cs typeface="Courier New"/>
            </a:endParaRPr>
          </a:p>
          <a:p>
            <a:pPr marL="121070" marR="3512732" indent="309026">
              <a:lnSpc>
                <a:spcPts val="1920"/>
              </a:lnSpc>
              <a:spcBef>
                <a:spcPts val="660"/>
              </a:spcBef>
            </a:pP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name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 </a:t>
            </a:r>
            <a:r>
              <a:rPr sz="1867" spc="-13" dirty="0">
                <a:solidFill>
                  <a:srgbClr val="A9B7C5"/>
                </a:solidFill>
                <a:latin typeface="Courier New"/>
                <a:cs typeface="Courier New"/>
              </a:rPr>
              <a:t>app-config  </a:t>
            </a: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data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endParaRPr sz="1867" dirty="0">
              <a:latin typeface="Courier New"/>
              <a:cs typeface="Courier New"/>
            </a:endParaRPr>
          </a:p>
          <a:p>
            <a:pPr marL="411470" marR="3675288">
              <a:lnSpc>
                <a:spcPct val="101400"/>
              </a:lnSpc>
              <a:spcBef>
                <a:spcPts val="227"/>
              </a:spcBef>
            </a:pP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APP_COLOR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r>
              <a:rPr sz="1867" spc="-127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blue  </a:t>
            </a:r>
            <a:r>
              <a:rPr sz="1867" spc="-7" dirty="0">
                <a:solidFill>
                  <a:srgbClr val="9776AA"/>
                </a:solidFill>
                <a:latin typeface="Courier New"/>
                <a:cs typeface="Courier New"/>
              </a:rPr>
              <a:t>APP_MODE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r>
              <a:rPr sz="1867" spc="-6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A9B7C5"/>
                </a:solidFill>
                <a:latin typeface="Courier New"/>
                <a:cs typeface="Courier New"/>
              </a:rPr>
              <a:t>prod</a:t>
            </a:r>
            <a:endParaRPr sz="1867" dirty="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311648" y="5736337"/>
            <a:ext cx="5836073" cy="522393"/>
            <a:chOff x="3983735" y="4302252"/>
            <a:chExt cx="4377055" cy="391795"/>
          </a:xfrm>
        </p:grpSpPr>
        <p:sp>
          <p:nvSpPr>
            <p:cNvPr id="21" name="object 21"/>
            <p:cNvSpPr/>
            <p:nvPr/>
          </p:nvSpPr>
          <p:spPr>
            <a:xfrm>
              <a:off x="3983735" y="4302252"/>
              <a:ext cx="4376927" cy="3673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4142231" y="4309872"/>
              <a:ext cx="2624327" cy="3840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4043171" y="4341876"/>
              <a:ext cx="4262755" cy="254635"/>
            </a:xfrm>
            <a:custGeom>
              <a:avLst/>
              <a:gdLst/>
              <a:ahLst/>
              <a:cxnLst/>
              <a:rect l="l" t="t" r="r" b="b"/>
              <a:pathLst>
                <a:path w="4262755" h="254635">
                  <a:moveTo>
                    <a:pt x="4262628" y="0"/>
                  </a:moveTo>
                  <a:lnTo>
                    <a:pt x="0" y="0"/>
                  </a:lnTo>
                  <a:lnTo>
                    <a:pt x="0" y="254508"/>
                  </a:lnTo>
                  <a:lnTo>
                    <a:pt x="4262628" y="254508"/>
                  </a:lnTo>
                  <a:lnTo>
                    <a:pt x="426262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90896" y="5789169"/>
            <a:ext cx="5683673" cy="261546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14105">
              <a:spcBef>
                <a:spcPts val="440"/>
              </a:spcBef>
            </a:pP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333" spc="120" dirty="0">
                <a:solidFill>
                  <a:srgbClr val="D9D9D9"/>
                </a:solidFill>
                <a:latin typeface="Arial"/>
                <a:cs typeface="Arial"/>
              </a:rPr>
              <a:t>create </a:t>
            </a:r>
            <a:r>
              <a:rPr sz="1333" spc="180" dirty="0">
                <a:solidFill>
                  <a:srgbClr val="D9D9D9"/>
                </a:solidFill>
                <a:latin typeface="Arial"/>
                <a:cs typeface="Arial"/>
              </a:rPr>
              <a:t>–f</a:t>
            </a:r>
            <a:r>
              <a:rPr sz="1333" spc="-93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87" dirty="0">
                <a:solidFill>
                  <a:srgbClr val="D9D9D9"/>
                </a:solidFill>
                <a:latin typeface="Arial"/>
                <a:cs typeface="Arial"/>
              </a:rPr>
              <a:t>config-map.yaml</a:t>
            </a:r>
            <a:endParaRPr sz="1333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15712" y="5805473"/>
            <a:ext cx="213360" cy="274320"/>
          </a:xfrm>
          <a:custGeom>
            <a:avLst/>
            <a:gdLst/>
            <a:ahLst/>
            <a:cxnLst/>
            <a:rect l="l" t="t" r="r" b="b"/>
            <a:pathLst>
              <a:path w="160020" h="205739">
                <a:moveTo>
                  <a:pt x="0" y="0"/>
                </a:moveTo>
                <a:lnTo>
                  <a:pt x="0" y="205385"/>
                </a:lnTo>
                <a:lnTo>
                  <a:pt x="159603" y="102697"/>
                </a:lnTo>
                <a:lnTo>
                  <a:pt x="0" y="0"/>
                </a:lnTo>
                <a:close/>
              </a:path>
            </a:pathLst>
          </a:custGeom>
          <a:solidFill>
            <a:srgbClr val="39B54A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4172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30" y="331247"/>
            <a:ext cx="499279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40" dirty="0"/>
              <a:t>View</a:t>
            </a:r>
            <a:r>
              <a:rPr spc="-433" dirty="0"/>
              <a:t> </a:t>
            </a:r>
            <a:r>
              <a:rPr spc="140" dirty="0"/>
              <a:t>ConfigMaps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45745" y="1877517"/>
            <a:ext cx="5834380" cy="522393"/>
            <a:chOff x="559308" y="1408137"/>
            <a:chExt cx="4375785" cy="391795"/>
          </a:xfrm>
        </p:grpSpPr>
        <p:sp>
          <p:nvSpPr>
            <p:cNvPr id="5" name="object 5"/>
            <p:cNvSpPr/>
            <p:nvPr/>
          </p:nvSpPr>
          <p:spPr>
            <a:xfrm>
              <a:off x="559308" y="1408137"/>
              <a:ext cx="4375404" cy="3673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716280" y="1415745"/>
              <a:ext cx="1839468" cy="38409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618744" y="1447799"/>
              <a:ext cx="4261485" cy="248920"/>
            </a:xfrm>
            <a:custGeom>
              <a:avLst/>
              <a:gdLst/>
              <a:ahLst/>
              <a:cxnLst/>
              <a:rect l="l" t="t" r="r" b="b"/>
              <a:pathLst>
                <a:path w="4261485" h="248919">
                  <a:moveTo>
                    <a:pt x="0" y="248412"/>
                  </a:moveTo>
                  <a:lnTo>
                    <a:pt x="4261104" y="248412"/>
                  </a:lnTo>
                  <a:lnTo>
                    <a:pt x="4261104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20580" y="1967144"/>
            <a:ext cx="2126827" cy="22307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333" spc="120" dirty="0">
                <a:solidFill>
                  <a:srgbClr val="D9D9D9"/>
                </a:solidFill>
                <a:latin typeface="Arial"/>
                <a:cs typeface="Arial"/>
              </a:rPr>
              <a:t>get</a:t>
            </a:r>
            <a:r>
              <a:rPr sz="1333" spc="47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333" spc="60" dirty="0">
                <a:solidFill>
                  <a:srgbClr val="D9D9D9"/>
                </a:solidFill>
                <a:latin typeface="Arial"/>
                <a:cs typeface="Arial"/>
              </a:rPr>
              <a:t>configmaps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6864" y="1946706"/>
            <a:ext cx="5698067" cy="857673"/>
            <a:chOff x="612648" y="1460029"/>
            <a:chExt cx="4273550" cy="643255"/>
          </a:xfrm>
        </p:grpSpPr>
        <p:sp>
          <p:nvSpPr>
            <p:cNvPr id="10" name="object 10"/>
            <p:cNvSpPr/>
            <p:nvPr/>
          </p:nvSpPr>
          <p:spPr>
            <a:xfrm>
              <a:off x="637049" y="1460029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39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18744" y="1696212"/>
              <a:ext cx="4261485" cy="401320"/>
            </a:xfrm>
            <a:custGeom>
              <a:avLst/>
              <a:gdLst/>
              <a:ahLst/>
              <a:cxnLst/>
              <a:rect l="l" t="t" r="r" b="b"/>
              <a:pathLst>
                <a:path w="4261485" h="401319">
                  <a:moveTo>
                    <a:pt x="4261104" y="0"/>
                  </a:moveTo>
                  <a:lnTo>
                    <a:pt x="0" y="0"/>
                  </a:lnTo>
                  <a:lnTo>
                    <a:pt x="0" y="400812"/>
                  </a:lnTo>
                  <a:lnTo>
                    <a:pt x="4261104" y="400812"/>
                  </a:lnTo>
                  <a:lnTo>
                    <a:pt x="42611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18744" y="1696212"/>
              <a:ext cx="4261485" cy="401320"/>
            </a:xfrm>
            <a:custGeom>
              <a:avLst/>
              <a:gdLst/>
              <a:ahLst/>
              <a:cxnLst/>
              <a:rect l="l" t="t" r="r" b="b"/>
              <a:pathLst>
                <a:path w="4261485" h="401319">
                  <a:moveTo>
                    <a:pt x="0" y="400812"/>
                  </a:moveTo>
                  <a:lnTo>
                    <a:pt x="4261104" y="400812"/>
                  </a:lnTo>
                  <a:lnTo>
                    <a:pt x="4261104" y="0"/>
                  </a:lnTo>
                  <a:lnTo>
                    <a:pt x="0" y="0"/>
                  </a:lnTo>
                  <a:lnTo>
                    <a:pt x="0" y="40081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9573" y="2298361"/>
            <a:ext cx="1619673" cy="42648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  <a:tabLst>
                <a:tab pos="1229328" algn="l"/>
              </a:tabLst>
            </a:pPr>
            <a:r>
              <a:rPr sz="1333" spc="-233" dirty="0">
                <a:solidFill>
                  <a:srgbClr val="FFFFFF"/>
                </a:solidFill>
                <a:latin typeface="Arial"/>
                <a:cs typeface="Arial"/>
              </a:rPr>
              <a:t>NAME	</a:t>
            </a:r>
            <a:r>
              <a:rPr sz="1333" spc="-247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333" spc="-140" dirty="0">
                <a:solidFill>
                  <a:srgbClr val="FFFFFF"/>
                </a:solidFill>
                <a:latin typeface="Arial"/>
                <a:cs typeface="Arial"/>
              </a:rPr>
              <a:t>ATA</a:t>
            </a:r>
            <a:endParaRPr sz="1333">
              <a:latin typeface="Arial"/>
              <a:cs typeface="Arial"/>
            </a:endParaRPr>
          </a:p>
          <a:p>
            <a:pPr marL="16933">
              <a:tabLst>
                <a:tab pos="1228483" algn="l"/>
              </a:tabLst>
            </a:pPr>
            <a:r>
              <a:rPr sz="1333" spc="107" dirty="0">
                <a:solidFill>
                  <a:srgbClr val="FFFFFF"/>
                </a:solidFill>
                <a:latin typeface="Arial"/>
                <a:cs typeface="Arial"/>
              </a:rPr>
              <a:t>app-config	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3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68514" y="2298360"/>
            <a:ext cx="317500" cy="42648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9472">
              <a:spcBef>
                <a:spcPts val="127"/>
              </a:spcBef>
            </a:pPr>
            <a:r>
              <a:rPr sz="1333" spc="-213" dirty="0">
                <a:solidFill>
                  <a:srgbClr val="FFFFFF"/>
                </a:solidFill>
                <a:latin typeface="Arial"/>
                <a:cs typeface="Arial"/>
              </a:rPr>
              <a:t>AGE</a:t>
            </a:r>
            <a:endParaRPr sz="1333">
              <a:latin typeface="Arial"/>
              <a:cs typeface="Arial"/>
            </a:endParaRPr>
          </a:p>
          <a:p>
            <a:pPr marL="16933"/>
            <a:r>
              <a:rPr sz="1333" spc="20" dirty="0">
                <a:solidFill>
                  <a:srgbClr val="FFFFFF"/>
                </a:solidFill>
                <a:latin typeface="Arial"/>
                <a:cs typeface="Arial"/>
              </a:rPr>
              <a:t>3s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5745" y="3098749"/>
            <a:ext cx="5834380" cy="522393"/>
            <a:chOff x="559308" y="2324061"/>
            <a:chExt cx="4375785" cy="391795"/>
          </a:xfrm>
        </p:grpSpPr>
        <p:sp>
          <p:nvSpPr>
            <p:cNvPr id="16" name="object 16"/>
            <p:cNvSpPr/>
            <p:nvPr/>
          </p:nvSpPr>
          <p:spPr>
            <a:xfrm>
              <a:off x="559308" y="2324061"/>
              <a:ext cx="4375404" cy="3673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716280" y="2331669"/>
              <a:ext cx="2196084" cy="3840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18744" y="2363723"/>
              <a:ext cx="4261485" cy="248920"/>
            </a:xfrm>
            <a:custGeom>
              <a:avLst/>
              <a:gdLst/>
              <a:ahLst/>
              <a:cxnLst/>
              <a:rect l="l" t="t" r="r" b="b"/>
              <a:pathLst>
                <a:path w="4261485" h="248919">
                  <a:moveTo>
                    <a:pt x="0" y="248412"/>
                  </a:moveTo>
                  <a:lnTo>
                    <a:pt x="4261104" y="248412"/>
                  </a:lnTo>
                  <a:lnTo>
                    <a:pt x="4261104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16864" y="3151631"/>
            <a:ext cx="5698067" cy="260691"/>
          </a:xfrm>
          <a:prstGeom prst="rect">
            <a:avLst/>
          </a:prstGeom>
        </p:spPr>
        <p:txBody>
          <a:bodyPr vert="horz" wrap="square" lIns="0" tIns="55033" rIns="0" bIns="0" rtlCol="0">
            <a:spAutoFit/>
          </a:bodyPr>
          <a:lstStyle/>
          <a:p>
            <a:pPr marL="320031">
              <a:spcBef>
                <a:spcPts val="433"/>
              </a:spcBef>
            </a:pPr>
            <a:r>
              <a:rPr sz="1333" spc="140" dirty="0">
                <a:solidFill>
                  <a:srgbClr val="D9D9D9"/>
                </a:solidFill>
                <a:latin typeface="Arial"/>
                <a:cs typeface="Arial"/>
              </a:rPr>
              <a:t>kubectl </a:t>
            </a:r>
            <a:r>
              <a:rPr sz="1333" spc="113" dirty="0">
                <a:solidFill>
                  <a:srgbClr val="D9D9D9"/>
                </a:solidFill>
                <a:latin typeface="Arial"/>
                <a:cs typeface="Arial"/>
              </a:rPr>
              <a:t>describe </a:t>
            </a:r>
            <a:r>
              <a:rPr sz="1333" spc="60" dirty="0">
                <a:solidFill>
                  <a:srgbClr val="D9D9D9"/>
                </a:solidFill>
                <a:latin typeface="Arial"/>
                <a:cs typeface="Arial"/>
              </a:rPr>
              <a:t>configmaps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16864" y="3167938"/>
            <a:ext cx="5698067" cy="3318933"/>
            <a:chOff x="612648" y="2375953"/>
            <a:chExt cx="4273550" cy="2489200"/>
          </a:xfrm>
        </p:grpSpPr>
        <p:sp>
          <p:nvSpPr>
            <p:cNvPr id="21" name="object 21"/>
            <p:cNvSpPr/>
            <p:nvPr/>
          </p:nvSpPr>
          <p:spPr>
            <a:xfrm>
              <a:off x="637049" y="2375953"/>
              <a:ext cx="158750" cy="205740"/>
            </a:xfrm>
            <a:custGeom>
              <a:avLst/>
              <a:gdLst/>
              <a:ahLst/>
              <a:cxnLst/>
              <a:rect l="l" t="t" r="r" b="b"/>
              <a:pathLst>
                <a:path w="158750" h="205739">
                  <a:moveTo>
                    <a:pt x="0" y="0"/>
                  </a:moveTo>
                  <a:lnTo>
                    <a:pt x="0" y="205385"/>
                  </a:lnTo>
                  <a:lnTo>
                    <a:pt x="158690" y="102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B54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18744" y="2612136"/>
              <a:ext cx="4261485" cy="2246630"/>
            </a:xfrm>
            <a:custGeom>
              <a:avLst/>
              <a:gdLst/>
              <a:ahLst/>
              <a:cxnLst/>
              <a:rect l="l" t="t" r="r" b="b"/>
              <a:pathLst>
                <a:path w="4261485" h="2246629">
                  <a:moveTo>
                    <a:pt x="4261104" y="0"/>
                  </a:moveTo>
                  <a:lnTo>
                    <a:pt x="0" y="0"/>
                  </a:lnTo>
                  <a:lnTo>
                    <a:pt x="0" y="2246376"/>
                  </a:lnTo>
                  <a:lnTo>
                    <a:pt x="4261104" y="2246376"/>
                  </a:lnTo>
                  <a:lnTo>
                    <a:pt x="42611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618744" y="2612136"/>
              <a:ext cx="4261485" cy="2246630"/>
            </a:xfrm>
            <a:custGeom>
              <a:avLst/>
              <a:gdLst/>
              <a:ahLst/>
              <a:cxnLst/>
              <a:rect l="l" t="t" r="r" b="b"/>
              <a:pathLst>
                <a:path w="4261485" h="2246629">
                  <a:moveTo>
                    <a:pt x="0" y="2246376"/>
                  </a:moveTo>
                  <a:lnTo>
                    <a:pt x="4261104" y="2246376"/>
                  </a:lnTo>
                  <a:lnTo>
                    <a:pt x="4261104" y="0"/>
                  </a:lnTo>
                  <a:lnTo>
                    <a:pt x="0" y="0"/>
                  </a:lnTo>
                  <a:lnTo>
                    <a:pt x="0" y="224637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709879" y="3965009"/>
              <a:ext cx="280670" cy="457200"/>
            </a:xfrm>
            <a:custGeom>
              <a:avLst/>
              <a:gdLst/>
              <a:ahLst/>
              <a:cxnLst/>
              <a:rect l="l" t="t" r="r" b="b"/>
              <a:pathLst>
                <a:path w="280669" h="457200">
                  <a:moveTo>
                    <a:pt x="0" y="0"/>
                  </a:moveTo>
                  <a:lnTo>
                    <a:pt x="280416" y="0"/>
                  </a:lnTo>
                </a:path>
                <a:path w="280669" h="457200">
                  <a:moveTo>
                    <a:pt x="0" y="457199"/>
                  </a:moveTo>
                  <a:lnTo>
                    <a:pt x="280416" y="457199"/>
                  </a:lnTo>
                </a:path>
              </a:pathLst>
            </a:custGeom>
            <a:ln w="10129">
              <a:solidFill>
                <a:srgbClr val="FEFEFE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16864" y="3482847"/>
            <a:ext cx="5698067" cy="2963161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129537" marR="3323084">
              <a:spcBef>
                <a:spcPts val="413"/>
              </a:spcBef>
              <a:tabLst>
                <a:tab pos="1433371" algn="l"/>
              </a:tabLst>
            </a:pPr>
            <a:r>
              <a:rPr sz="1333" spc="-60" dirty="0">
                <a:solidFill>
                  <a:srgbClr val="FFFFFF"/>
                </a:solidFill>
                <a:latin typeface="Arial"/>
                <a:cs typeface="Arial"/>
              </a:rPr>
              <a:t>Name:	</a:t>
            </a:r>
            <a:r>
              <a:rPr sz="1333" spc="-3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ap</a:t>
            </a:r>
            <a:r>
              <a:rPr sz="1333" spc="-7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333" spc="28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333" spc="6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333" spc="-27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333" spc="339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333" spc="433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g  </a:t>
            </a:r>
            <a:r>
              <a:rPr sz="1333" spc="-20" dirty="0">
                <a:solidFill>
                  <a:srgbClr val="FFFFFF"/>
                </a:solidFill>
                <a:latin typeface="Arial"/>
                <a:cs typeface="Arial"/>
              </a:rPr>
              <a:t>Namespace:	</a:t>
            </a:r>
            <a:r>
              <a:rPr sz="1333" spc="152" dirty="0">
                <a:solidFill>
                  <a:srgbClr val="FFFFFF"/>
                </a:solidFill>
                <a:latin typeface="Arial"/>
                <a:cs typeface="Arial"/>
              </a:rPr>
              <a:t>default  </a:t>
            </a:r>
            <a:r>
              <a:rPr sz="1333" spc="113" dirty="0">
                <a:solidFill>
                  <a:srgbClr val="FFFFFF"/>
                </a:solidFill>
                <a:latin typeface="Arial"/>
                <a:cs typeface="Arial"/>
              </a:rPr>
              <a:t>Labels:	</a:t>
            </a:r>
            <a:r>
              <a:rPr sz="1333" spc="-27" dirty="0">
                <a:solidFill>
                  <a:srgbClr val="FFFFFF"/>
                </a:solidFill>
                <a:latin typeface="Arial"/>
                <a:cs typeface="Arial"/>
              </a:rPr>
              <a:t>&lt;none&gt;  </a:t>
            </a:r>
            <a:r>
              <a:rPr sz="1333" spc="107" dirty="0">
                <a:solidFill>
                  <a:srgbClr val="FFFFFF"/>
                </a:solidFill>
                <a:latin typeface="Arial"/>
                <a:cs typeface="Arial"/>
              </a:rPr>
              <a:t>Annotations:	</a:t>
            </a:r>
            <a:r>
              <a:rPr sz="1333" spc="-27" dirty="0">
                <a:solidFill>
                  <a:srgbClr val="FFFFFF"/>
                </a:solidFill>
                <a:latin typeface="Arial"/>
                <a:cs typeface="Arial"/>
              </a:rPr>
              <a:t>&lt;none&gt;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73"/>
              </a:spcBef>
            </a:pPr>
            <a:endParaRPr sz="1333">
              <a:latin typeface="Arial"/>
              <a:cs typeface="Arial"/>
            </a:endParaRPr>
          </a:p>
          <a:p>
            <a:pPr marL="129537"/>
            <a:r>
              <a:rPr sz="1333" spc="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333">
              <a:latin typeface="Arial"/>
              <a:cs typeface="Arial"/>
            </a:endParaRPr>
          </a:p>
          <a:p>
            <a:pPr marL="129537" marR="4624378"/>
            <a:r>
              <a:rPr sz="1333" spc="-53" dirty="0">
                <a:solidFill>
                  <a:srgbClr val="FFFFFF"/>
                </a:solidFill>
                <a:latin typeface="Arial"/>
                <a:cs typeface="Arial"/>
              </a:rPr>
              <a:t>====  </a:t>
            </a:r>
            <a:r>
              <a:rPr sz="1333" spc="-167" dirty="0">
                <a:solidFill>
                  <a:srgbClr val="FFFFFF"/>
                </a:solidFill>
                <a:latin typeface="Arial"/>
                <a:cs typeface="Arial"/>
              </a:rPr>
              <a:t>APP_COL</a:t>
            </a:r>
            <a:r>
              <a:rPr sz="1333" spc="-213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333" spc="60" dirty="0">
                <a:solidFill>
                  <a:srgbClr val="FFFFFF"/>
                </a:solidFill>
                <a:latin typeface="Arial"/>
                <a:cs typeface="Arial"/>
              </a:rPr>
              <a:t>R: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1333">
              <a:latin typeface="Arial"/>
              <a:cs typeface="Arial"/>
            </a:endParaRPr>
          </a:p>
          <a:p>
            <a:pPr marL="129537" marR="4719202"/>
            <a:r>
              <a:rPr sz="1333" spc="93" dirty="0">
                <a:solidFill>
                  <a:srgbClr val="FFFFFF"/>
                </a:solidFill>
                <a:latin typeface="Arial"/>
                <a:cs typeface="Arial"/>
              </a:rPr>
              <a:t>blue  </a:t>
            </a:r>
            <a:r>
              <a:rPr sz="1333" spc="-200" dirty="0">
                <a:solidFill>
                  <a:srgbClr val="FFFFFF"/>
                </a:solidFill>
                <a:latin typeface="Arial"/>
                <a:cs typeface="Arial"/>
              </a:rPr>
              <a:t>APP_MOD</a:t>
            </a:r>
            <a:r>
              <a:rPr sz="1333" spc="-207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333" spc="353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1333">
              <a:latin typeface="Arial"/>
              <a:cs typeface="Arial"/>
            </a:endParaRPr>
          </a:p>
          <a:p>
            <a:pPr marL="129537"/>
            <a:r>
              <a:rPr sz="1333" spc="60" dirty="0">
                <a:solidFill>
                  <a:srgbClr val="FFFFFF"/>
                </a:solidFill>
                <a:latin typeface="Arial"/>
                <a:cs typeface="Arial"/>
              </a:rPr>
              <a:t>prod</a:t>
            </a:r>
            <a:endParaRPr sz="1333">
              <a:latin typeface="Arial"/>
              <a:cs typeface="Arial"/>
            </a:endParaRPr>
          </a:p>
          <a:p>
            <a:pPr marL="129537">
              <a:tabLst>
                <a:tab pos="968562" algn="l"/>
              </a:tabLst>
            </a:pPr>
            <a:r>
              <a:rPr sz="1333" spc="93" dirty="0">
                <a:solidFill>
                  <a:srgbClr val="FFFFFF"/>
                </a:solidFill>
                <a:latin typeface="Arial"/>
                <a:cs typeface="Arial"/>
              </a:rPr>
              <a:t>Events:	</a:t>
            </a:r>
            <a:r>
              <a:rPr sz="1333" spc="-27" dirty="0">
                <a:solidFill>
                  <a:srgbClr val="FFFFFF"/>
                </a:solidFill>
                <a:latin typeface="Arial"/>
                <a:cs typeface="Arial"/>
              </a:rPr>
              <a:t>&lt;none&gt;</a:t>
            </a:r>
            <a:endParaRPr sz="1333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78252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007" y="526287"/>
            <a:ext cx="98213" cy="423333"/>
          </a:xfrm>
          <a:custGeom>
            <a:avLst/>
            <a:gdLst/>
            <a:ahLst/>
            <a:cxnLst/>
            <a:rect l="l" t="t" r="r" b="b"/>
            <a:pathLst>
              <a:path w="73659" h="317500">
                <a:moveTo>
                  <a:pt x="73151" y="0"/>
                </a:moveTo>
                <a:lnTo>
                  <a:pt x="0" y="0"/>
                </a:lnTo>
                <a:lnTo>
                  <a:pt x="0" y="316991"/>
                </a:lnTo>
                <a:lnTo>
                  <a:pt x="73151" y="316991"/>
                </a:lnTo>
                <a:lnTo>
                  <a:pt x="73151" y="0"/>
                </a:lnTo>
                <a:close/>
              </a:path>
            </a:pathLst>
          </a:custGeom>
          <a:solidFill>
            <a:srgbClr val="1780C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429" y="331247"/>
            <a:ext cx="53848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160" dirty="0"/>
              <a:t>ConfigMap </a:t>
            </a:r>
            <a:r>
              <a:rPr spc="27" dirty="0"/>
              <a:t>in</a:t>
            </a:r>
            <a:r>
              <a:rPr spc="-920" dirty="0"/>
              <a:t> </a:t>
            </a:r>
            <a:r>
              <a:rPr spc="173" dirty="0"/>
              <a:t>Pods</a:t>
            </a:r>
          </a:p>
        </p:txBody>
      </p:sp>
      <p:sp>
        <p:nvSpPr>
          <p:cNvPr id="4" name="object 4"/>
          <p:cNvSpPr/>
          <p:nvPr/>
        </p:nvSpPr>
        <p:spPr>
          <a:xfrm>
            <a:off x="776225" y="1519937"/>
            <a:ext cx="5094393" cy="1231900"/>
          </a:xfrm>
          <a:custGeom>
            <a:avLst/>
            <a:gdLst/>
            <a:ahLst/>
            <a:cxnLst/>
            <a:rect l="l" t="t" r="r" b="b"/>
            <a:pathLst>
              <a:path w="3820795" h="923925">
                <a:moveTo>
                  <a:pt x="3820667" y="0"/>
                </a:moveTo>
                <a:lnTo>
                  <a:pt x="0" y="0"/>
                </a:lnTo>
                <a:lnTo>
                  <a:pt x="0" y="923544"/>
                </a:lnTo>
                <a:lnTo>
                  <a:pt x="3820667" y="923544"/>
                </a:lnTo>
                <a:lnTo>
                  <a:pt x="3820667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776225" y="1519936"/>
            <a:ext cx="5094393" cy="781410"/>
          </a:xfrm>
          <a:prstGeom prst="rect">
            <a:avLst/>
          </a:prstGeom>
        </p:spPr>
        <p:txBody>
          <a:bodyPr vert="horz" wrap="square" lIns="0" tIns="42333" rIns="0" bIns="0" rtlCol="0">
            <a:spAutoFit/>
          </a:bodyPr>
          <a:lstStyle/>
          <a:p>
            <a:pPr marL="122764">
              <a:spcBef>
                <a:spcPts val="333"/>
              </a:spcBef>
            </a:pP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envFrom:</a:t>
            </a:r>
            <a:endParaRPr sz="1600">
              <a:latin typeface="Courier New"/>
              <a:cs typeface="Courier New"/>
            </a:endParaRPr>
          </a:p>
          <a:p>
            <a:pPr marL="366598">
              <a:spcBef>
                <a:spcPts val="7"/>
              </a:spcBef>
            </a:pP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-</a:t>
            </a:r>
            <a:r>
              <a:rPr sz="1600" spc="7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configMapRef:</a:t>
            </a:r>
            <a:endParaRPr sz="1600">
              <a:latin typeface="Courier New"/>
              <a:cs typeface="Courier New"/>
            </a:endParaRPr>
          </a:p>
          <a:p>
            <a:pPr marL="1104026"/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600" b="1" spc="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app-config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94001" y="3137407"/>
            <a:ext cx="5092700" cy="1601893"/>
          </a:xfrm>
          <a:custGeom>
            <a:avLst/>
            <a:gdLst/>
            <a:ahLst/>
            <a:cxnLst/>
            <a:rect l="l" t="t" r="r" b="b"/>
            <a:pathLst>
              <a:path w="3819525" h="1201420">
                <a:moveTo>
                  <a:pt x="3819144" y="0"/>
                </a:moveTo>
                <a:lnTo>
                  <a:pt x="0" y="0"/>
                </a:lnTo>
                <a:lnTo>
                  <a:pt x="0" y="1200912"/>
                </a:lnTo>
                <a:lnTo>
                  <a:pt x="3819144" y="1200912"/>
                </a:lnTo>
                <a:lnTo>
                  <a:pt x="3819144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2794001" y="3137407"/>
            <a:ext cx="5092700" cy="152349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1070">
              <a:spcBef>
                <a:spcPts val="360"/>
              </a:spcBef>
            </a:pP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env:</a:t>
            </a:r>
            <a:endParaRPr sz="1600">
              <a:latin typeface="Courier New"/>
              <a:cs typeface="Courier New"/>
            </a:endParaRPr>
          </a:p>
          <a:p>
            <a:pPr marL="364904"/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- </a:t>
            </a: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600" b="1" spc="13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APP_COLOR</a:t>
            </a:r>
            <a:endParaRPr sz="1600">
              <a:latin typeface="Courier New"/>
              <a:cs typeface="Courier New"/>
            </a:endParaRPr>
          </a:p>
          <a:p>
            <a:pPr marL="610430"/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valueFrom:</a:t>
            </a:r>
            <a:endParaRPr sz="1600">
              <a:latin typeface="Courier New"/>
              <a:cs typeface="Courier New"/>
            </a:endParaRPr>
          </a:p>
          <a:p>
            <a:pPr marL="1102331" marR="2015863" indent="-246374">
              <a:spcBef>
                <a:spcPts val="7"/>
              </a:spcBef>
            </a:pP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configMapKeyRef:  </a:t>
            </a:r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600" b="1" spc="-73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app-config</a:t>
            </a:r>
            <a:endParaRPr sz="1600">
              <a:latin typeface="Courier New"/>
              <a:cs typeface="Courier New"/>
            </a:endParaRPr>
          </a:p>
          <a:p>
            <a:pPr marL="1102331">
              <a:spcBef>
                <a:spcPts val="27"/>
              </a:spcBef>
            </a:pP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key: </a:t>
            </a: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APP_COLOR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6225" y="5000752"/>
            <a:ext cx="5094393" cy="1292859"/>
          </a:xfrm>
          <a:custGeom>
            <a:avLst/>
            <a:gdLst/>
            <a:ahLst/>
            <a:cxnLst/>
            <a:rect l="l" t="t" r="r" b="b"/>
            <a:pathLst>
              <a:path w="3820795" h="969645">
                <a:moveTo>
                  <a:pt x="3820667" y="0"/>
                </a:moveTo>
                <a:lnTo>
                  <a:pt x="0" y="0"/>
                </a:lnTo>
                <a:lnTo>
                  <a:pt x="0" y="969264"/>
                </a:lnTo>
                <a:lnTo>
                  <a:pt x="3820667" y="969264"/>
                </a:lnTo>
                <a:lnTo>
                  <a:pt x="3820667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776225" y="5000752"/>
            <a:ext cx="5094393" cy="1049860"/>
          </a:xfrm>
          <a:prstGeom prst="rect">
            <a:avLst/>
          </a:prstGeom>
        </p:spPr>
        <p:txBody>
          <a:bodyPr vert="horz" wrap="square" lIns="0" tIns="64347" rIns="0" bIns="0" rtlCol="0">
            <a:spAutoFit/>
          </a:bodyPr>
          <a:lstStyle/>
          <a:p>
            <a:pPr marL="122764">
              <a:spcBef>
                <a:spcPts val="507"/>
              </a:spcBef>
            </a:pPr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volumes:</a:t>
            </a:r>
            <a:endParaRPr sz="1600">
              <a:latin typeface="Courier New"/>
              <a:cs typeface="Courier New"/>
            </a:endParaRPr>
          </a:p>
          <a:p>
            <a:pPr marL="122764"/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- </a:t>
            </a: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600" b="1" spc="-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app-config-volume</a:t>
            </a:r>
            <a:endParaRPr sz="1600">
              <a:latin typeface="Courier New"/>
              <a:cs typeface="Courier New"/>
            </a:endParaRPr>
          </a:p>
          <a:p>
            <a:pPr marL="366598"/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configMap:</a:t>
            </a:r>
            <a:endParaRPr sz="1600">
              <a:latin typeface="Courier New"/>
              <a:cs typeface="Courier New"/>
            </a:endParaRPr>
          </a:p>
          <a:p>
            <a:pPr marL="612125">
              <a:spcBef>
                <a:spcPts val="7"/>
              </a:spcBef>
            </a:pPr>
            <a:r>
              <a:rPr sz="1600" b="1" dirty="0">
                <a:solidFill>
                  <a:srgbClr val="CC7831"/>
                </a:solidFill>
                <a:latin typeface="Courier New"/>
                <a:cs typeface="Courier New"/>
              </a:rPr>
              <a:t>name:</a:t>
            </a:r>
            <a:r>
              <a:rPr sz="1600" b="1" spc="7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A9B7C5"/>
                </a:solidFill>
                <a:latin typeface="Courier New"/>
                <a:cs typeface="Courier New"/>
              </a:rPr>
              <a:t>app-config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6225" y="3137407"/>
            <a:ext cx="2186940" cy="1601893"/>
          </a:xfrm>
          <a:custGeom>
            <a:avLst/>
            <a:gdLst/>
            <a:ahLst/>
            <a:cxnLst/>
            <a:rect l="l" t="t" r="r" b="b"/>
            <a:pathLst>
              <a:path w="1640205" h="1201420">
                <a:moveTo>
                  <a:pt x="1519174" y="0"/>
                </a:moveTo>
                <a:lnTo>
                  <a:pt x="0" y="0"/>
                </a:lnTo>
                <a:lnTo>
                  <a:pt x="0" y="1200912"/>
                </a:lnTo>
                <a:lnTo>
                  <a:pt x="1519174" y="1200912"/>
                </a:lnTo>
                <a:lnTo>
                  <a:pt x="1519174" y="705993"/>
                </a:lnTo>
                <a:lnTo>
                  <a:pt x="1639824" y="600456"/>
                </a:lnTo>
                <a:lnTo>
                  <a:pt x="1519174" y="494919"/>
                </a:lnTo>
                <a:lnTo>
                  <a:pt x="1519174" y="0"/>
                </a:lnTo>
                <a:close/>
              </a:path>
            </a:pathLst>
          </a:custGeom>
          <a:solidFill>
            <a:srgbClr val="1780C3">
              <a:alpha val="92939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1218116" y="3771053"/>
            <a:ext cx="1302173" cy="57195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20" dirty="0">
                <a:solidFill>
                  <a:srgbClr val="FFFFFF"/>
                </a:solidFill>
                <a:latin typeface="Noto Sans"/>
                <a:cs typeface="Noto Sans"/>
              </a:rPr>
              <a:t>SINGLE</a:t>
            </a:r>
            <a:r>
              <a:rPr spc="-133" dirty="0">
                <a:solidFill>
                  <a:srgbClr val="FFFFFF"/>
                </a:solidFill>
                <a:latin typeface="Noto Sans"/>
                <a:cs typeface="Noto Sans"/>
              </a:rPr>
              <a:t> </a:t>
            </a:r>
            <a:r>
              <a:rPr spc="-13" dirty="0">
                <a:solidFill>
                  <a:srgbClr val="FFFFFF"/>
                </a:solidFill>
                <a:latin typeface="Noto Sans"/>
                <a:cs typeface="Noto Sans"/>
              </a:rPr>
              <a:t>ENV</a:t>
            </a:r>
            <a:endParaRPr>
              <a:latin typeface="Noto Sans"/>
              <a:cs typeface="Noto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01792" y="5000752"/>
            <a:ext cx="2184400" cy="1292859"/>
          </a:xfrm>
          <a:custGeom>
            <a:avLst/>
            <a:gdLst/>
            <a:ahLst/>
            <a:cxnLst/>
            <a:rect l="l" t="t" r="r" b="b"/>
            <a:pathLst>
              <a:path w="1638300" h="969645">
                <a:moveTo>
                  <a:pt x="1638300" y="0"/>
                </a:moveTo>
                <a:lnTo>
                  <a:pt x="120650" y="0"/>
                </a:lnTo>
                <a:lnTo>
                  <a:pt x="120650" y="399427"/>
                </a:lnTo>
                <a:lnTo>
                  <a:pt x="0" y="484632"/>
                </a:lnTo>
                <a:lnTo>
                  <a:pt x="120650" y="569836"/>
                </a:lnTo>
                <a:lnTo>
                  <a:pt x="120650" y="969264"/>
                </a:lnTo>
                <a:lnTo>
                  <a:pt x="1638300" y="969264"/>
                </a:lnTo>
                <a:lnTo>
                  <a:pt x="1638300" y="0"/>
                </a:lnTo>
                <a:close/>
              </a:path>
            </a:pathLst>
          </a:custGeom>
          <a:solidFill>
            <a:srgbClr val="39B54A">
              <a:alpha val="92939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6311562" y="5480440"/>
            <a:ext cx="966893" cy="57195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3" dirty="0">
                <a:solidFill>
                  <a:srgbClr val="FFFFFF"/>
                </a:solidFill>
                <a:latin typeface="Noto Sans"/>
                <a:cs typeface="Noto Sans"/>
              </a:rPr>
              <a:t>VOLUME</a:t>
            </a:r>
            <a:endParaRPr>
              <a:latin typeface="Noto Sans"/>
              <a:cs typeface="Noto San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01792" y="1503681"/>
            <a:ext cx="2184400" cy="1264073"/>
          </a:xfrm>
          <a:custGeom>
            <a:avLst/>
            <a:gdLst/>
            <a:ahLst/>
            <a:cxnLst/>
            <a:rect l="l" t="t" r="r" b="b"/>
            <a:pathLst>
              <a:path w="1638300" h="948055">
                <a:moveTo>
                  <a:pt x="1638300" y="0"/>
                </a:moveTo>
                <a:lnTo>
                  <a:pt x="120650" y="0"/>
                </a:lnTo>
                <a:lnTo>
                  <a:pt x="120650" y="390651"/>
                </a:lnTo>
                <a:lnTo>
                  <a:pt x="0" y="473963"/>
                </a:lnTo>
                <a:lnTo>
                  <a:pt x="120650" y="557276"/>
                </a:lnTo>
                <a:lnTo>
                  <a:pt x="120650" y="947927"/>
                </a:lnTo>
                <a:lnTo>
                  <a:pt x="1638300" y="947927"/>
                </a:lnTo>
                <a:lnTo>
                  <a:pt x="1638300" y="0"/>
                </a:lnTo>
                <a:close/>
              </a:path>
            </a:pathLst>
          </a:custGeom>
          <a:solidFill>
            <a:srgbClr val="E10A87">
              <a:alpha val="92939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6559465" y="1967993"/>
            <a:ext cx="471593" cy="57195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3" dirty="0">
                <a:solidFill>
                  <a:srgbClr val="FFFFFF"/>
                </a:solidFill>
                <a:latin typeface="Noto Sans"/>
                <a:cs typeface="Noto Sans"/>
              </a:rPr>
              <a:t>ENV</a:t>
            </a:r>
            <a:endParaRPr>
              <a:latin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22742746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Namespaces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2971" y="1825625"/>
            <a:ext cx="57660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535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Namespace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7275" y="2222788"/>
            <a:ext cx="60744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8296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145" y="355889"/>
            <a:ext cx="10515600" cy="1325563"/>
          </a:xfrm>
        </p:spPr>
        <p:txBody>
          <a:bodyPr/>
          <a:lstStyle/>
          <a:p>
            <a:r>
              <a:rPr lang="en-US" dirty="0" smtClean="0"/>
              <a:t>Ingress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812" y="3282373"/>
            <a:ext cx="5667952" cy="3575627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88818" y="1548535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 </a:t>
            </a:r>
            <a:r>
              <a:rPr lang="en-US" b="1" dirty="0">
                <a:solidFill>
                  <a:srgbClr val="202124"/>
                </a:solidFill>
                <a:latin typeface="arial" panose="020B0604020202020204" pitchFamily="34" charset="0"/>
              </a:rPr>
              <a:t>Ingress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 is an API object that defines the traffic routing rules (e.g. load balancing, SSL termination, path-based routing, protocol), </a:t>
            </a:r>
            <a:r>
              <a:rPr lang="en-US" dirty="0" smtClean="0">
                <a:solidFill>
                  <a:srgbClr val="202124"/>
                </a:solidFill>
                <a:latin typeface="arial" panose="020B0604020202020204" pitchFamily="34" charset="0"/>
              </a:rPr>
              <a:t>whereas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4155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Ingress 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0944"/>
            <a:ext cx="10515600" cy="5297055"/>
          </a:xfrm>
        </p:spPr>
        <p:txBody>
          <a:bodyPr>
            <a:normAutofit/>
          </a:bodyPr>
          <a:lstStyle/>
          <a:p>
            <a:r>
              <a:rPr lang="en-US" dirty="0"/>
              <a:t>A Kubernetes Ingress controller is a specialized load balancer for Kubernetes environments. </a:t>
            </a:r>
          </a:p>
          <a:p>
            <a:r>
              <a:rPr lang="en-US" dirty="0" smtClean="0"/>
              <a:t> </a:t>
            </a:r>
            <a:r>
              <a:rPr lang="en-US" dirty="0"/>
              <a:t>Are configured using the Kubernetes API to deploy objects called “Ingress Resources” Monitor the pods running in Kubernetes and automatically update the load‑balancing rules when pods are added </a:t>
            </a:r>
            <a:r>
              <a:rPr lang="en-US" dirty="0" smtClean="0"/>
              <a:t>or </a:t>
            </a:r>
            <a:r>
              <a:rPr lang="en-US" dirty="0"/>
              <a:t>removed from a </a:t>
            </a:r>
            <a:r>
              <a:rPr lang="en-US" dirty="0" smtClean="0"/>
              <a:t>service.</a:t>
            </a:r>
          </a:p>
          <a:p>
            <a:r>
              <a:rPr lang="en-US" b="1" dirty="0" smtClean="0">
                <a:solidFill>
                  <a:srgbClr val="202124"/>
                </a:solidFill>
                <a:latin typeface="arial" panose="020B0604020202020204" pitchFamily="34" charset="0"/>
              </a:rPr>
              <a:t>Ingress </a:t>
            </a:r>
            <a:r>
              <a:rPr lang="en-US" b="1" dirty="0">
                <a:solidFill>
                  <a:srgbClr val="202124"/>
                </a:solidFill>
                <a:latin typeface="arial" panose="020B0604020202020204" pitchFamily="34" charset="0"/>
              </a:rPr>
              <a:t>Controller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 is the component responsible for fulfilling those </a:t>
            </a:r>
            <a:r>
              <a:rPr lang="en-US" dirty="0" smtClean="0">
                <a:solidFill>
                  <a:srgbClr val="202124"/>
                </a:solidFill>
                <a:latin typeface="arial" panose="020B0604020202020204" pitchFamily="34" charset="0"/>
              </a:rPr>
              <a:t>requests of ingress</a:t>
            </a:r>
          </a:p>
          <a:p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An </a:t>
            </a:r>
            <a:r>
              <a:rPr lang="en-US" b="1" dirty="0">
                <a:solidFill>
                  <a:srgbClr val="202124"/>
                </a:solidFill>
                <a:latin typeface="arial" panose="020B0604020202020204" pitchFamily="34" charset="0"/>
              </a:rPr>
              <a:t>ingress controller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 is responsible for reading the </a:t>
            </a:r>
            <a:r>
              <a:rPr lang="en-US" b="1" dirty="0">
                <a:solidFill>
                  <a:srgbClr val="202124"/>
                </a:solidFill>
                <a:latin typeface="arial" panose="020B0604020202020204" pitchFamily="34" charset="0"/>
              </a:rPr>
              <a:t>Ingress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 Resource information and processing that data accordingly.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9476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Kubernetes API Primitives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7128"/>
            <a:ext cx="10515600" cy="49506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Kubernetes </a:t>
            </a:r>
            <a:r>
              <a:rPr lang="en-US" dirty="0"/>
              <a:t>API primitive, also known as Kubernetes objects, are the basic building blocks of any application running in Kubernetes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200" b="1" dirty="0"/>
              <a:t>Examples:</a:t>
            </a:r>
          </a:p>
          <a:p>
            <a:pPr marL="0" indent="0">
              <a:buNone/>
            </a:pPr>
            <a:r>
              <a:rPr lang="en-US" sz="2200" dirty="0" smtClean="0"/>
              <a:t>Pod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Node</a:t>
            </a:r>
          </a:p>
          <a:p>
            <a:pPr marL="0" indent="0">
              <a:buNone/>
            </a:pPr>
            <a:r>
              <a:rPr lang="en-US" sz="2200" dirty="0"/>
              <a:t>Service</a:t>
            </a:r>
          </a:p>
          <a:p>
            <a:pPr marL="0" indent="0">
              <a:buNone/>
            </a:pPr>
            <a:r>
              <a:rPr lang="en-US" sz="2200" dirty="0" smtClean="0"/>
              <a:t>Service Account</a:t>
            </a:r>
            <a:endParaRPr lang="en-US" sz="2200" dirty="0"/>
          </a:p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r>
              <a:rPr lang="en-US" sz="2200" b="1" dirty="0" smtClean="0"/>
              <a:t>Two </a:t>
            </a:r>
            <a:r>
              <a:rPr lang="en-US" sz="2200" b="1" dirty="0"/>
              <a:t>primary members</a:t>
            </a:r>
          </a:p>
          <a:p>
            <a:pPr marL="0" indent="0">
              <a:buNone/>
            </a:pPr>
            <a:r>
              <a:rPr lang="en-US" sz="2200" dirty="0" smtClean="0"/>
              <a:t>Spec</a:t>
            </a:r>
            <a:r>
              <a:rPr lang="en-US" sz="2200" dirty="0"/>
              <a:t>, desired state</a:t>
            </a:r>
          </a:p>
          <a:p>
            <a:pPr marL="0" indent="0">
              <a:buNone/>
            </a:pPr>
            <a:r>
              <a:rPr lang="en-US" sz="2200" dirty="0"/>
              <a:t>Status, current state</a:t>
            </a:r>
          </a:p>
        </p:txBody>
      </p:sp>
    </p:spTree>
    <p:extLst>
      <p:ext uri="{BB962C8B-B14F-4D97-AF65-F5344CB8AC3E}">
        <p14:creationId xmlns:p14="http://schemas.microsoft.com/office/powerpoint/2010/main" val="13235818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Kubernetes API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The Kubernetes API is the front end of the Kubernetes control plane and is how users interact with their Kubernetes cluster.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API (application programming interface) server determines if a request is valid and then processes it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essence, the API is the interface used to manage, create, and configure Kubernetes clusters.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It's </a:t>
            </a:r>
            <a:r>
              <a:rPr lang="en-US" sz="2400" dirty="0"/>
              <a:t>how the users, external components, and parts of your cluster all communicate with each other.</a:t>
            </a:r>
          </a:p>
        </p:txBody>
      </p:sp>
    </p:spTree>
    <p:extLst>
      <p:ext uri="{BB962C8B-B14F-4D97-AF65-F5344CB8AC3E}">
        <p14:creationId xmlns:p14="http://schemas.microsoft.com/office/powerpoint/2010/main" val="14331893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How API Works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core of Kubernetes' control plane is the API server.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API server exposes an HTTP API that lets end users, different parts of your cluster, and external components communicate with one another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Kubernetes API lets you query and manipulate the state of API objects in Kubernetes (for example: Pods, Namespaces, </a:t>
            </a:r>
            <a:r>
              <a:rPr lang="en-US" sz="2400" dirty="0" err="1"/>
              <a:t>ConfigMaps</a:t>
            </a:r>
            <a:r>
              <a:rPr lang="en-US" sz="2400" dirty="0"/>
              <a:t>, and Events</a:t>
            </a:r>
            <a:r>
              <a:rPr lang="en-US" sz="2400" dirty="0" smtClean="0"/>
              <a:t>).</a:t>
            </a:r>
          </a:p>
          <a:p>
            <a:endParaRPr lang="en-US" sz="2400" dirty="0" smtClean="0"/>
          </a:p>
          <a:p>
            <a:r>
              <a:rPr lang="en-US" sz="2400" dirty="0" smtClean="0"/>
              <a:t>Most </a:t>
            </a:r>
            <a:r>
              <a:rPr lang="en-US" sz="2400" dirty="0"/>
              <a:t>operations can be performed through the </a:t>
            </a:r>
            <a:r>
              <a:rPr lang="en-US" sz="2400" dirty="0" err="1"/>
              <a:t>kubectl</a:t>
            </a:r>
            <a:r>
              <a:rPr lang="en-US" sz="2400" dirty="0"/>
              <a:t> command-line interface or other command-line tools, such as </a:t>
            </a:r>
            <a:r>
              <a:rPr lang="en-US" sz="2400" dirty="0" err="1"/>
              <a:t>kubeadm</a:t>
            </a:r>
            <a:r>
              <a:rPr lang="en-US" sz="2400" dirty="0"/>
              <a:t>, which in turn use the API. </a:t>
            </a:r>
          </a:p>
        </p:txBody>
      </p:sp>
    </p:spTree>
    <p:extLst>
      <p:ext uri="{BB962C8B-B14F-4D97-AF65-F5344CB8AC3E}">
        <p14:creationId xmlns:p14="http://schemas.microsoft.com/office/powerpoint/2010/main" val="15160295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API Versioning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6364"/>
            <a:ext cx="10515600" cy="48860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 smtClean="0"/>
              <a:t>Three tiers of </a:t>
            </a:r>
            <a:r>
              <a:rPr lang="en-US" sz="2600" dirty="0" err="1" smtClean="0"/>
              <a:t>api</a:t>
            </a:r>
            <a:r>
              <a:rPr lang="en-US" sz="2600" dirty="0" smtClean="0"/>
              <a:t> maturity levels also referenced within the object apiVersion.</a:t>
            </a:r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000" b="1" dirty="0" smtClean="0"/>
              <a:t>Alpha</a:t>
            </a:r>
          </a:p>
          <a:p>
            <a:pPr marL="0" indent="0">
              <a:buNone/>
            </a:pPr>
            <a:r>
              <a:rPr lang="en-US" sz="2000" dirty="0" smtClean="0"/>
              <a:t>The software may contains bugs</a:t>
            </a:r>
          </a:p>
          <a:p>
            <a:pPr marL="0" indent="0">
              <a:buNone/>
            </a:pPr>
            <a:r>
              <a:rPr lang="en-US" sz="2000" dirty="0" smtClean="0"/>
              <a:t>Enabling a feature may expose bugs </a:t>
            </a:r>
          </a:p>
          <a:p>
            <a:pPr marL="0" indent="0">
              <a:buNone/>
            </a:pPr>
            <a:r>
              <a:rPr lang="en-US" sz="2000" dirty="0" smtClean="0"/>
              <a:t>Support for a feature may be dropped at any time without notice</a:t>
            </a:r>
          </a:p>
          <a:p>
            <a:pPr marL="0" indent="0">
              <a:buNone/>
            </a:pPr>
            <a:r>
              <a:rPr lang="en-US" sz="2000" b="1" dirty="0" smtClean="0"/>
              <a:t>Beta </a:t>
            </a:r>
          </a:p>
          <a:p>
            <a:pPr marL="0" indent="0">
              <a:buNone/>
            </a:pPr>
            <a:r>
              <a:rPr lang="en-US" sz="2000" dirty="0" smtClean="0"/>
              <a:t>The software is well tested </a:t>
            </a:r>
          </a:p>
          <a:p>
            <a:pPr marL="0" indent="0">
              <a:buNone/>
            </a:pPr>
            <a:r>
              <a:rPr lang="en-US" sz="2000" dirty="0" smtClean="0"/>
              <a:t>Enabling feature is considered safe</a:t>
            </a:r>
          </a:p>
          <a:p>
            <a:pPr marL="0" indent="0">
              <a:buNone/>
            </a:pPr>
            <a:r>
              <a:rPr lang="en-US" sz="2000" dirty="0" smtClean="0"/>
              <a:t>The support for a feature will not be dropped, though details may change </a:t>
            </a:r>
          </a:p>
          <a:p>
            <a:pPr marL="0" indent="0">
              <a:buNone/>
            </a:pPr>
            <a:r>
              <a:rPr lang="en-US" sz="2000" b="1" dirty="0" smtClean="0"/>
              <a:t>Stable</a:t>
            </a:r>
          </a:p>
          <a:p>
            <a:pPr marL="0" indent="0">
              <a:buNone/>
            </a:pPr>
            <a:r>
              <a:rPr lang="en-US" sz="2000" dirty="0" smtClean="0"/>
              <a:t>Released, stable and </a:t>
            </a:r>
            <a:r>
              <a:rPr lang="en-US" sz="2000" dirty="0" err="1" smtClean="0"/>
              <a:t>api</a:t>
            </a:r>
            <a:r>
              <a:rPr lang="en-US" sz="2000" dirty="0" smtClean="0"/>
              <a:t> schema will not change </a:t>
            </a:r>
          </a:p>
          <a:p>
            <a:pPr marL="0" indent="0">
              <a:buNone/>
            </a:pPr>
            <a:r>
              <a:rPr lang="en-US" sz="2000" dirty="0" smtClean="0"/>
              <a:t>The stable versions of feature appear in released software for many subsequent versions.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385196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Objects are a persistent entity that represent the desired state of the object within the cluster.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All objects must have </a:t>
            </a:r>
          </a:p>
          <a:p>
            <a:pPr marL="0" indent="0">
              <a:buNone/>
            </a:pPr>
            <a:r>
              <a:rPr lang="en-US" sz="2000" dirty="0" smtClean="0"/>
              <a:t>apiVersion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Kind </a:t>
            </a:r>
          </a:p>
          <a:p>
            <a:pPr marL="0" indent="0">
              <a:buNone/>
            </a:pPr>
            <a:r>
              <a:rPr lang="en-US" sz="2000" dirty="0" smtClean="0"/>
              <a:t>Metadata</a:t>
            </a:r>
          </a:p>
          <a:p>
            <a:pPr marL="0" indent="0">
              <a:buNone/>
            </a:pPr>
            <a:r>
              <a:rPr lang="en-US" sz="2000" dirty="0" smtClean="0"/>
              <a:t>Spec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apiVersion: v1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kind: Pod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metadata: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  name: 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</a:rPr>
              <a:t>memory-demo</a:t>
            </a:r>
            <a:endParaRPr lang="en-US" sz="18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spec: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</a:rPr>
              <a:t>  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containers: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- name: memory-demo-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</a:rPr>
              <a:t>ctr</a:t>
            </a:r>
            <a:endParaRPr lang="en-US" sz="18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</a:rPr>
              <a:t>  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image: </a:t>
            </a:r>
            <a:r>
              <a:rPr lang="en-US" sz="1800" dirty="0" err="1" smtClean="0">
                <a:solidFill>
                  <a:schemeClr val="accent2">
                    <a:lumMod val="75000"/>
                  </a:schemeClr>
                </a:solidFill>
              </a:rPr>
              <a:t>polinux</a:t>
            </a:r>
            <a:endParaRPr lang="en-US" sz="1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7823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Object </a:t>
            </a:r>
            <a:r>
              <a:rPr lang="en-US" sz="3600" b="1" dirty="0"/>
              <a:t>M</a:t>
            </a:r>
            <a:r>
              <a:rPr lang="en-US" sz="3600" b="1" dirty="0" smtClean="0"/>
              <a:t>odel requirement 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/>
              <a:t>apiVersion </a:t>
            </a:r>
            <a:r>
              <a:rPr lang="en-US" dirty="0"/>
              <a:t>- Which version of the Kubernetes API you're using to create this object</a:t>
            </a:r>
          </a:p>
          <a:p>
            <a:pPr lvl="1"/>
            <a:endParaRPr lang="en-US" b="1" dirty="0" smtClean="0"/>
          </a:p>
          <a:p>
            <a:pPr lvl="1"/>
            <a:r>
              <a:rPr lang="en-US" b="1" dirty="0" smtClean="0"/>
              <a:t>kind</a:t>
            </a:r>
            <a:r>
              <a:rPr lang="en-US" dirty="0" smtClean="0"/>
              <a:t> </a:t>
            </a:r>
            <a:r>
              <a:rPr lang="en-US" dirty="0"/>
              <a:t>- What kind of object you want to create</a:t>
            </a:r>
          </a:p>
          <a:p>
            <a:pPr lvl="1"/>
            <a:endParaRPr lang="en-US" b="1" dirty="0" smtClean="0"/>
          </a:p>
          <a:p>
            <a:pPr lvl="1"/>
            <a:r>
              <a:rPr lang="en-US" b="1" dirty="0" smtClean="0"/>
              <a:t>metadata</a:t>
            </a:r>
            <a:r>
              <a:rPr lang="en-US" dirty="0" smtClean="0"/>
              <a:t> </a:t>
            </a:r>
            <a:r>
              <a:rPr lang="en-US" dirty="0"/>
              <a:t>- Data that helps uniquely identify the object, including a name string, UID, and optional </a:t>
            </a:r>
            <a:r>
              <a:rPr lang="en-US" dirty="0" smtClean="0"/>
              <a:t>namespace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r>
              <a:rPr lang="en-US" b="1" dirty="0" smtClean="0"/>
              <a:t>spec</a:t>
            </a:r>
            <a:r>
              <a:rPr lang="en-US" dirty="0" smtClean="0"/>
              <a:t> </a:t>
            </a:r>
            <a:r>
              <a:rPr lang="en-US" dirty="0"/>
              <a:t>- What state you desire for the </a:t>
            </a:r>
            <a:r>
              <a:rPr lang="en-US" dirty="0" smtClean="0"/>
              <a:t>object. The </a:t>
            </a:r>
            <a:r>
              <a:rPr lang="en-US" dirty="0"/>
              <a:t>precise format of the object spec is different for every Kubernetes object, and contains nested fields specific to that object.</a:t>
            </a:r>
          </a:p>
        </p:txBody>
      </p:sp>
    </p:spTree>
    <p:extLst>
      <p:ext uri="{BB962C8B-B14F-4D97-AF65-F5344CB8AC3E}">
        <p14:creationId xmlns:p14="http://schemas.microsoft.com/office/powerpoint/2010/main" val="5506170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Object expression YAML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F</a:t>
            </a:r>
            <a:r>
              <a:rPr lang="en-US" sz="2400" dirty="0" smtClean="0"/>
              <a:t>iles or other representations of kubernetes objects are generally represented in YAML.</a:t>
            </a:r>
          </a:p>
          <a:p>
            <a:pPr marL="0" indent="0">
              <a:buNone/>
            </a:pPr>
            <a:r>
              <a:rPr lang="en-US" sz="2400" dirty="0" smtClean="0"/>
              <a:t>A </a:t>
            </a:r>
            <a:r>
              <a:rPr lang="en-US" sz="2400" i="1" dirty="0" smtClean="0"/>
              <a:t>human friendly </a:t>
            </a:r>
            <a:r>
              <a:rPr lang="en-US" sz="2400" dirty="0" smtClean="0"/>
              <a:t>data serialization standard</a:t>
            </a:r>
          </a:p>
          <a:p>
            <a:pPr marL="0" indent="0">
              <a:buNone/>
            </a:pPr>
            <a:r>
              <a:rPr lang="en-US" sz="2400" dirty="0" smtClean="0"/>
              <a:t>User white space alignment to denote ownership 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Three</a:t>
            </a:r>
            <a:r>
              <a:rPr lang="en-US" sz="2400" dirty="0" smtClean="0"/>
              <a:t> </a:t>
            </a:r>
            <a:r>
              <a:rPr lang="en-US" sz="2400" b="1" dirty="0" smtClean="0"/>
              <a:t>basic data types:                                                   </a:t>
            </a:r>
          </a:p>
          <a:p>
            <a:pPr marL="0" indent="0">
              <a:buNone/>
            </a:pPr>
            <a:r>
              <a:rPr lang="en-US" sz="2000" dirty="0" smtClean="0"/>
              <a:t>Mappings : hash or dictionary</a:t>
            </a:r>
          </a:p>
          <a:p>
            <a:pPr marL="0" indent="0">
              <a:buNone/>
            </a:pPr>
            <a:r>
              <a:rPr lang="en-US" sz="2000" dirty="0" smtClean="0"/>
              <a:t>Sequences: array or list </a:t>
            </a:r>
          </a:p>
          <a:p>
            <a:pPr marL="0" indent="0">
              <a:buNone/>
            </a:pPr>
            <a:r>
              <a:rPr lang="en-US" sz="2000" dirty="0" smtClean="0"/>
              <a:t>Scalars: string, number, Boolean </a:t>
            </a:r>
            <a:r>
              <a:rPr lang="en-US" sz="2000" dirty="0" err="1" smtClean="0"/>
              <a:t>etc</a:t>
            </a:r>
            <a:r>
              <a:rPr lang="en-US" sz="2000" dirty="0" smtClean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611212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Object expression YAML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ApiVersion: v1   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  scalar</a:t>
            </a:r>
            <a:endParaRPr lang="en-US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Kind: Pod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Metadata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     name: test     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 Mapping Hash Dictionary </a:t>
            </a:r>
            <a:endParaRPr lang="en-US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Spec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    containers:    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 Sequence array list </a:t>
            </a:r>
            <a:endParaRPr lang="en-US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         name: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          image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84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3489</Words>
  <Application>Microsoft Office PowerPoint</Application>
  <PresentationFormat>Widescreen</PresentationFormat>
  <Paragraphs>1038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9" baseType="lpstr">
      <vt:lpstr>Arial</vt:lpstr>
      <vt:lpstr>Arial</vt:lpstr>
      <vt:lpstr>Arial Black</vt:lpstr>
      <vt:lpstr>Calibri</vt:lpstr>
      <vt:lpstr>Calibri Light</vt:lpstr>
      <vt:lpstr>Courier New</vt:lpstr>
      <vt:lpstr>Noto Sans</vt:lpstr>
      <vt:lpstr>Times New Roman</vt:lpstr>
      <vt:lpstr>Verdana</vt:lpstr>
      <vt:lpstr>Wingdings</vt:lpstr>
      <vt:lpstr>Office Theme</vt:lpstr>
      <vt:lpstr>PowerPoint Presentation</vt:lpstr>
      <vt:lpstr>Objectives</vt:lpstr>
      <vt:lpstr>Ask</vt:lpstr>
      <vt:lpstr>Purpose</vt:lpstr>
      <vt:lpstr>Hosting Production Applications</vt:lpstr>
      <vt:lpstr>Cloud or OnPrem?</vt:lpstr>
      <vt:lpstr>Storage</vt:lpstr>
      <vt:lpstr>Nodes</vt:lpstr>
      <vt:lpstr>Master &amp; Worker Nodes </vt:lpstr>
      <vt:lpstr>PowerPoint Presentation</vt:lpstr>
      <vt:lpstr>KUBEADM</vt:lpstr>
      <vt:lpstr>PowerPoint Presentation</vt:lpstr>
      <vt:lpstr>Turnkey Solutions</vt:lpstr>
      <vt:lpstr>Hosted Solutions</vt:lpstr>
      <vt:lpstr>Networking Solution</vt:lpstr>
      <vt:lpstr>Our Design</vt:lpstr>
      <vt:lpstr>Getting Started</vt:lpstr>
      <vt:lpstr>etcd.service</vt:lpstr>
      <vt:lpstr>ETCDCTL</vt:lpstr>
      <vt:lpstr>Number of Nodes</vt:lpstr>
      <vt:lpstr>Kubernetes  Release Binaries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Our Design</vt:lpstr>
      <vt:lpstr>Install Worker  Nodes</vt:lpstr>
      <vt:lpstr>Our Design</vt:lpstr>
      <vt:lpstr>TLS Bootstrap  Kubelet</vt:lpstr>
      <vt:lpstr>Our Design</vt:lpstr>
      <vt:lpstr>system:bootstrappers</vt:lpstr>
      <vt:lpstr>PowerPoint Presentation</vt:lpstr>
      <vt:lpstr>PowerPoint Presentation</vt:lpstr>
      <vt:lpstr>PowerPoint Presentation</vt:lpstr>
      <vt:lpstr>Server Certs</vt:lpstr>
      <vt:lpstr>Node end-to-end  Tests</vt:lpstr>
      <vt:lpstr>Test - Manual</vt:lpstr>
      <vt:lpstr>Test - Manual</vt:lpstr>
      <vt:lpstr>Test - Manual</vt:lpstr>
      <vt:lpstr>Test - Manual</vt:lpstr>
      <vt:lpstr>Test - Manual</vt:lpstr>
      <vt:lpstr>Test - Manual</vt:lpstr>
      <vt:lpstr>kubetest</vt:lpstr>
      <vt:lpstr>kubetest - Tests</vt:lpstr>
      <vt:lpstr>kubetest - Tests</vt:lpstr>
      <vt:lpstr>kubetest - Tests</vt:lpstr>
      <vt:lpstr>Kubernetes Test-Infra</vt:lpstr>
      <vt:lpstr>Kubetest - Tests</vt:lpstr>
      <vt:lpstr>Kubetest - Tests</vt:lpstr>
      <vt:lpstr>Kubetest - Time</vt:lpstr>
      <vt:lpstr>PowerPoint Presentation</vt:lpstr>
      <vt:lpstr>Run &amp; Analyze  E2E Tests</vt:lpstr>
      <vt:lpstr>kubetest- Run</vt:lpstr>
      <vt:lpstr>kubetest- Run</vt:lpstr>
      <vt:lpstr>PowerPoint Presentation</vt:lpstr>
      <vt:lpstr>Replication Controller </vt:lpstr>
      <vt:lpstr>kubectl</vt:lpstr>
      <vt:lpstr>ConfigMaps</vt:lpstr>
      <vt:lpstr>ConfigMaps</vt:lpstr>
      <vt:lpstr>Create ConfigMaps</vt:lpstr>
      <vt:lpstr>Create ConfigMaps</vt:lpstr>
      <vt:lpstr>Create ConfigMaps</vt:lpstr>
      <vt:lpstr>View ConfigMaps</vt:lpstr>
      <vt:lpstr>ConfigMap in Pods</vt:lpstr>
      <vt:lpstr>Namespaces </vt:lpstr>
      <vt:lpstr>Namespace </vt:lpstr>
      <vt:lpstr>Ingress </vt:lpstr>
      <vt:lpstr>Ingress Controller</vt:lpstr>
      <vt:lpstr>Kubernetes API Primitives</vt:lpstr>
      <vt:lpstr>Kubernetes API</vt:lpstr>
      <vt:lpstr>How API Works</vt:lpstr>
      <vt:lpstr>API Versioning</vt:lpstr>
      <vt:lpstr>Object model</vt:lpstr>
      <vt:lpstr>Object Model requirement </vt:lpstr>
      <vt:lpstr>Object expression YAML</vt:lpstr>
      <vt:lpstr>Object expression YAML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Mahendra J S</dc:creator>
  <cp:lastModifiedBy>Mahendra J S</cp:lastModifiedBy>
  <cp:revision>39</cp:revision>
  <dcterms:created xsi:type="dcterms:W3CDTF">2021-06-12T04:57:30Z</dcterms:created>
  <dcterms:modified xsi:type="dcterms:W3CDTF">2021-08-25T09:13:54Z</dcterms:modified>
</cp:coreProperties>
</file>